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xls" ContentType="application/vnd.ms-excel"/>
  <Default Extension="rels" ContentType="application/vnd.openxmlformats-package.relationships+xml"/>
  <Default Extension="jpeg" ContentType="image/jpeg"/>
  <Default Extension="emf" ContentType="image/x-emf"/>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s/slide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2.xml" ContentType="application/vnd.openxmlformats-officedocument.presentationml.slideLayout+xml"/>
  <Override PartName="/ppt/slideLayouts/slideLayout15.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tags/tag17.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4.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14.xml" ContentType="application/vnd.openxmlformats-officedocument.presentationml.tags+xml"/>
  <Override PartName="/ppt/tags/tag19.xml" ContentType="application/vnd.openxmlformats-officedocument.presentationml.tags+xml"/>
  <Override PartName="/ppt/tags/tag18.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3.xml" ContentType="application/vnd.openxmlformats-officedocument.presentationml.tags+xml"/>
  <Override PartName="/ppt/tags/tag20.xml" ContentType="application/vnd.openxmlformats-officedocument.presentationml.tags+xml"/>
  <Override PartName="/ppt/tags/tag1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5.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62" r:id="rId2"/>
    <p:sldId id="261" r:id="rId3"/>
    <p:sldId id="263" r:id="rId4"/>
    <p:sldId id="266" r:id="rId5"/>
    <p:sldId id="282" r:id="rId6"/>
    <p:sldId id="275" r:id="rId7"/>
    <p:sldId id="260" r:id="rId8"/>
    <p:sldId id="283" r:id="rId9"/>
    <p:sldId id="284" r:id="rId10"/>
    <p:sldId id="285" r:id="rId11"/>
    <p:sldId id="276" r:id="rId12"/>
    <p:sldId id="288" r:id="rId13"/>
    <p:sldId id="289" r:id="rId14"/>
    <p:sldId id="26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883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notesViewPr>
    <p:cSldViewPr>
      <p:cViewPr varScale="1">
        <p:scale>
          <a:sx n="84" d="100"/>
          <a:sy n="84" d="100"/>
        </p:scale>
        <p:origin x="-1968" y="-7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5C75CA-0579-4D19-97DA-6F90E2FF23BE}" type="datetimeFigureOut">
              <a:rPr lang="en-US" smtClean="0"/>
              <a:pPr/>
              <a:t>2/6/2014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92A475-BD67-4E74-931B-CDA8D117BC17}" type="slidenum">
              <a:rPr lang="en-US" smtClean="0"/>
              <a:pPr/>
              <a:t>‹#›</a:t>
            </a:fld>
            <a:endParaRPr lang="en-US"/>
          </a:p>
        </p:txBody>
      </p:sp>
    </p:spTree>
    <p:extLst>
      <p:ext uri="{BB962C8B-B14F-4D97-AF65-F5344CB8AC3E}">
        <p14:creationId xmlns:p14="http://schemas.microsoft.com/office/powerpoint/2010/main" xmlns="" val="341818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5.jpe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emf"/><Relationship Id="rId5" Type="http://schemas.openxmlformats.org/officeDocument/2006/relationships/image" Target="../media/image3.jpe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tags" Target="../tags/tag6.xml"/><Relationship Id="rId7"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1.vml"/><Relationship Id="rId6" Type="http://schemas.openxmlformats.org/officeDocument/2006/relationships/tags" Target="../tags/tag9.xml"/><Relationship Id="rId11" Type="http://schemas.openxmlformats.org/officeDocument/2006/relationships/image" Target="../media/image5.jpeg"/><Relationship Id="rId5" Type="http://schemas.openxmlformats.org/officeDocument/2006/relationships/tags" Target="../tags/tag8.xml"/><Relationship Id="rId10" Type="http://schemas.openxmlformats.org/officeDocument/2006/relationships/image" Target="../media/image4.emf"/><Relationship Id="rId4" Type="http://schemas.openxmlformats.org/officeDocument/2006/relationships/tags" Target="../tags/tag7.xml"/><Relationship Id="rId9" Type="http://schemas.openxmlformats.org/officeDocument/2006/relationships/oleObject" Target="../embeddings/oleObject1.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oleObject" Target="../embeddings/oleObject2.bin"/><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image" Target="../media/image8.jpeg"/><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9.jpe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7.jpe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8.xml"/><Relationship Id="rId7" Type="http://schemas.openxmlformats.org/officeDocument/2006/relationships/oleObject" Target="../embeddings/oleObject4.bin"/><Relationship Id="rId2" Type="http://schemas.openxmlformats.org/officeDocument/2006/relationships/tags" Target="../tags/tag17.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0.xml"/><Relationship Id="rId4"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50000">
              <a:schemeClr val="accent2"/>
            </a:gs>
            <a:gs pos="50000">
              <a:schemeClr val="accent1">
                <a:tint val="44500"/>
                <a:satMod val="160000"/>
              </a:schemeClr>
            </a:gs>
            <a:gs pos="100000">
              <a:schemeClr val="accent1">
                <a:tint val="23500"/>
                <a:satMod val="160000"/>
              </a:schemeClr>
            </a:gs>
          </a:gsLst>
          <a:lin ang="2700000" scaled="0"/>
        </a:gradFill>
        <a:effectLst/>
      </p:bgPr>
    </p:bg>
    <p:spTree>
      <p:nvGrpSpPr>
        <p:cNvPr id="1" name=""/>
        <p:cNvGrpSpPr/>
        <p:nvPr/>
      </p:nvGrpSpPr>
      <p:grpSpPr>
        <a:xfrm>
          <a:off x="0" y="0"/>
          <a:ext cx="0" cy="0"/>
          <a:chOff x="0" y="0"/>
          <a:chExt cx="0" cy="0"/>
        </a:xfrm>
      </p:grpSpPr>
      <p:pic>
        <p:nvPicPr>
          <p:cNvPr id="9" name="Picture 8" descr="shutterstock_78324328.jpg"/>
          <p:cNvPicPr>
            <a:picLocks noChangeAspect="1"/>
          </p:cNvPicPr>
          <p:nvPr userDrawn="1"/>
        </p:nvPicPr>
        <p:blipFill>
          <a:blip r:embed="rId5" cstate="print"/>
          <a:stretch>
            <a:fillRect/>
          </a:stretch>
        </p:blipFill>
        <p:spPr>
          <a:xfrm>
            <a:off x="0" y="1188720"/>
            <a:ext cx="9144000" cy="5669280"/>
          </a:xfrm>
          <a:prstGeom prst="rect">
            <a:avLst/>
          </a:prstGeom>
        </p:spPr>
      </p:pic>
      <p:sp>
        <p:nvSpPr>
          <p:cNvPr id="16" name="Rectangle 15"/>
          <p:cNvSpPr/>
          <p:nvPr userDrawn="1">
            <p:custDataLst>
              <p:tags r:id="rId1"/>
            </p:custDataLst>
          </p:nvPr>
        </p:nvSpPr>
        <p:spPr>
          <a:xfrm>
            <a:off x="0" y="6400876"/>
            <a:ext cx="9144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solidFill>
                <a:prstClr val="white"/>
              </a:solidFill>
            </a:endParaRPr>
          </a:p>
        </p:txBody>
      </p:sp>
      <p:sp>
        <p:nvSpPr>
          <p:cNvPr id="17" name="Rectangle 7"/>
          <p:cNvSpPr/>
          <p:nvPr userDrawn="1">
            <p:custDataLst>
              <p:tags r:id="rId2"/>
            </p:custDataLst>
          </p:nvPr>
        </p:nvSpPr>
        <p:spPr bwMode="auto">
          <a:xfrm>
            <a:off x="-2050" y="1"/>
            <a:ext cx="9146052" cy="247668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pic>
        <p:nvPicPr>
          <p:cNvPr id="22" name="Picture 104" descr="C:\Users\UserSim\Desktop\Capgemini\moto.emf"/>
          <p:cNvPicPr>
            <a:picLocks noChangeAspect="1" noChangeArrowheads="1"/>
          </p:cNvPicPr>
          <p:nvPr userDrawn="1">
            <p:custDataLst>
              <p:tags r:id="rId3"/>
            </p:custDataLst>
          </p:nvPr>
        </p:nvPicPr>
        <p:blipFill>
          <a:blip r:embed="rId6" cstate="email"/>
          <a:srcRect/>
          <a:stretch>
            <a:fillRect/>
          </a:stretch>
        </p:blipFill>
        <p:spPr bwMode="auto">
          <a:xfrm>
            <a:off x="5807790" y="6520697"/>
            <a:ext cx="3001425" cy="239021"/>
          </a:xfrm>
          <a:prstGeom prst="rect">
            <a:avLst/>
          </a:prstGeom>
          <a:noFill/>
        </p:spPr>
      </p:pic>
      <p:pic>
        <p:nvPicPr>
          <p:cNvPr id="23" name="Picture 22" descr="capgemini_rgb.jpg"/>
          <p:cNvPicPr>
            <a:picLocks noChangeAspect="1"/>
          </p:cNvPicPr>
          <p:nvPr userDrawn="1"/>
        </p:nvPicPr>
        <p:blipFill>
          <a:blip r:embed="rId7" cstate="print"/>
          <a:stretch>
            <a:fillRect/>
          </a:stretch>
        </p:blipFill>
        <p:spPr>
          <a:xfrm>
            <a:off x="643211" y="514697"/>
            <a:ext cx="3136080" cy="958698"/>
          </a:xfrm>
          <a:prstGeom prst="rect">
            <a:avLst/>
          </a:prstGeom>
        </p:spPr>
      </p:pic>
      <p:sp>
        <p:nvSpPr>
          <p:cNvPr id="2" name="Title 1"/>
          <p:cNvSpPr>
            <a:spLocks noGrp="1"/>
          </p:cNvSpPr>
          <p:nvPr>
            <p:ph type="ctrTitle"/>
          </p:nvPr>
        </p:nvSpPr>
        <p:spPr>
          <a:xfrm>
            <a:off x="0" y="2476689"/>
            <a:ext cx="4876800" cy="1965770"/>
          </a:xfrm>
        </p:spPr>
        <p:txBody>
          <a:bodyPr lIns="228600"/>
          <a:lstStyle>
            <a:lvl1pPr>
              <a:defRPr sz="2800"/>
            </a:lvl1pPr>
          </a:lstStyle>
          <a:p>
            <a:r>
              <a:rPr lang="en-US" smtClean="0"/>
              <a:t>Click to edit Master title style</a:t>
            </a:r>
            <a:endParaRPr lang="en-US" dirty="0"/>
          </a:p>
        </p:txBody>
      </p:sp>
      <p:sp>
        <p:nvSpPr>
          <p:cNvPr id="3" name="Subtitle 2"/>
          <p:cNvSpPr>
            <a:spLocks noGrp="1"/>
          </p:cNvSpPr>
          <p:nvPr>
            <p:ph type="subTitle" idx="1"/>
          </p:nvPr>
        </p:nvSpPr>
        <p:spPr>
          <a:xfrm>
            <a:off x="0" y="4442459"/>
            <a:ext cx="4876800" cy="914400"/>
          </a:xfrm>
        </p:spPr>
        <p:txBody>
          <a:bodyPr lIns="228600" rIns="0">
            <a:noAutofit/>
          </a:bodyPr>
          <a:lstStyle>
            <a:lvl1pPr marL="0" indent="0" algn="l">
              <a:buNone/>
              <a:defRPr sz="20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xmlns="" val="78076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10" name="Image 9" descr="test5.jpg"/>
          <p:cNvPicPr>
            <a:picLocks noChangeAspect="1"/>
          </p:cNvPicPr>
          <p:nvPr userDrawn="1"/>
        </p:nvPicPr>
        <p:blipFill>
          <a:blip r:embed="rId8" cstate="print"/>
          <a:srcRect l="278" r="761"/>
          <a:stretch>
            <a:fillRect/>
          </a:stretch>
        </p:blipFill>
        <p:spPr>
          <a:xfrm>
            <a:off x="0" y="1039369"/>
            <a:ext cx="9144000" cy="5420808"/>
          </a:xfrm>
          <a:prstGeom prst="rect">
            <a:avLst/>
          </a:prstGeom>
          <a:noFill/>
          <a:ln>
            <a:noFill/>
          </a:ln>
        </p:spPr>
      </p:pic>
      <p:graphicFrame>
        <p:nvGraphicFramePr>
          <p:cNvPr id="4" name="Object 3" hidden="1"/>
          <p:cNvGraphicFramePr>
            <a:graphicFrameLocks noChangeAspect="1"/>
          </p:cNvGraphicFramePr>
          <p:nvPr/>
        </p:nvGraphicFramePr>
        <p:xfrm>
          <a:off x="1" y="1"/>
          <a:ext cx="146539" cy="158750"/>
        </p:xfrm>
        <a:graphic>
          <a:graphicData uri="http://schemas.openxmlformats.org/presentationml/2006/ole">
            <p:oleObj spid="_x0000_s6151" name="think-cell Slide" r:id="rId9" imgW="360" imgH="360" progId="">
              <p:embed/>
            </p:oleObj>
          </a:graphicData>
        </a:graphic>
      </p:graphicFrame>
      <p:sp>
        <p:nvSpPr>
          <p:cNvPr id="16" name="Title 1"/>
          <p:cNvSpPr>
            <a:spLocks noGrp="1"/>
          </p:cNvSpPr>
          <p:nvPr>
            <p:ph type="title" hasCustomPrompt="1"/>
            <p:custDataLst>
              <p:tags r:id="rId2"/>
            </p:custDataLst>
          </p:nvPr>
        </p:nvSpPr>
        <p:spPr>
          <a:xfrm>
            <a:off x="3514524" y="1968822"/>
            <a:ext cx="5629477" cy="2414915"/>
          </a:xfrm>
          <a:effectLst>
            <a:outerShdw blurRad="50800" dist="38100" dir="2700000" algn="tl" rotWithShape="0">
              <a:prstClr val="black">
                <a:alpha val="40000"/>
              </a:prstClr>
            </a:outerShdw>
          </a:effectLst>
        </p:spPr>
        <p:txBody>
          <a:bodyPr vert="horz" lIns="36000" tIns="36000" rIns="360000" bIns="36000" rtlCol="0" anchor="ctr">
            <a:noAutofit/>
          </a:bodyPr>
          <a:lstStyle>
            <a:lvl1pPr algn="r" defTabSz="995690" rtl="0" eaLnBrk="1" latinLnBrk="0" hangingPunct="1">
              <a:spcBef>
                <a:spcPct val="0"/>
              </a:spcBef>
              <a:buNone/>
              <a:defRPr lang="en-US" sz="2800" b="1" kern="1200" dirty="0">
                <a:solidFill>
                  <a:schemeClr val="bg1"/>
                </a:solidFill>
                <a:effectLst>
                  <a:outerShdw blurRad="38100" dist="38100" dir="2700000" algn="tl">
                    <a:srgbClr val="000000">
                      <a:alpha val="43137"/>
                    </a:srgbClr>
                  </a:outerShdw>
                </a:effectLst>
                <a:latin typeface="+mj-lt"/>
                <a:ea typeface="+mj-ea"/>
                <a:cs typeface="+mj-cs"/>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17" name="Text Placeholder 8"/>
          <p:cNvSpPr>
            <a:spLocks noGrp="1"/>
          </p:cNvSpPr>
          <p:nvPr>
            <p:ph type="body" sz="quarter" idx="10" hasCustomPrompt="1"/>
            <p:custDataLst>
              <p:tags r:id="rId3"/>
            </p:custDataLst>
          </p:nvPr>
        </p:nvSpPr>
        <p:spPr>
          <a:xfrm>
            <a:off x="4394204" y="4609876"/>
            <a:ext cx="4749801" cy="1806302"/>
          </a:xfrm>
          <a:effectLst>
            <a:outerShdw blurRad="50800" dist="38100" dir="2700000" algn="tl" rotWithShape="0">
              <a:prstClr val="black">
                <a:alpha val="40000"/>
              </a:prstClr>
            </a:outerShdw>
          </a:effectLst>
        </p:spPr>
        <p:txBody>
          <a:bodyPr vert="horz" lIns="36000" tIns="36000" rIns="360000" bIns="36000" rtlCol="0">
            <a:noAutofit/>
          </a:bodyPr>
          <a:lstStyle>
            <a:lvl1pPr marL="0" indent="0" algn="r" defTabSz="995690" rtl="0" eaLnBrk="1" latinLnBrk="0" hangingPunct="1">
              <a:spcBef>
                <a:spcPts val="0"/>
              </a:spcBef>
              <a:buFontTx/>
              <a:buNone/>
              <a:defRPr lang="fr-FR" sz="2400" b="0" kern="1200" baseline="0" smtClean="0">
                <a:solidFill>
                  <a:schemeClr val="bg1"/>
                </a:solidFill>
                <a:effectLst>
                  <a:outerShdw blurRad="38100" dist="38100" dir="2700000" algn="tl">
                    <a:srgbClr val="000000">
                      <a:alpha val="43137"/>
                    </a:srgbClr>
                  </a:outerShdw>
                </a:effectLst>
                <a:latin typeface="+mn-lt"/>
                <a:ea typeface="+mn-ea"/>
                <a:cs typeface="+mn-cs"/>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
        <p:nvSpPr>
          <p:cNvPr id="21" name="Rectangle 7"/>
          <p:cNvSpPr/>
          <p:nvPr userDrawn="1">
            <p:custDataLst>
              <p:tags r:id="rId4"/>
            </p:custDataLst>
          </p:nvPr>
        </p:nvSpPr>
        <p:spPr bwMode="auto">
          <a:xfrm>
            <a:off x="-1892" y="6"/>
            <a:ext cx="9145895"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sp>
        <p:nvSpPr>
          <p:cNvPr id="11" name="Rectangle 10"/>
          <p:cNvSpPr/>
          <p:nvPr userDrawn="1">
            <p:custDataLst>
              <p:tags r:id="rId5"/>
            </p:custDataLst>
          </p:nvPr>
        </p:nvSpPr>
        <p:spPr>
          <a:xfrm>
            <a:off x="0" y="6400876"/>
            <a:ext cx="9144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solidFill>
                <a:prstClr val="white"/>
              </a:solidFill>
            </a:endParaRPr>
          </a:p>
        </p:txBody>
      </p:sp>
      <p:pic>
        <p:nvPicPr>
          <p:cNvPr id="12" name="Picture 104" descr="C:\Users\UserSim\Desktop\Capgemini\moto.emf"/>
          <p:cNvPicPr>
            <a:picLocks noChangeAspect="1" noChangeArrowheads="1"/>
          </p:cNvPicPr>
          <p:nvPr userDrawn="1">
            <p:custDataLst>
              <p:tags r:id="rId6"/>
            </p:custDataLst>
          </p:nvPr>
        </p:nvPicPr>
        <p:blipFill>
          <a:blip r:embed="rId10" cstate="email"/>
          <a:srcRect/>
          <a:stretch>
            <a:fillRect/>
          </a:stretch>
        </p:blipFill>
        <p:spPr bwMode="auto">
          <a:xfrm>
            <a:off x="5807790" y="6520697"/>
            <a:ext cx="3001425" cy="239021"/>
          </a:xfrm>
          <a:prstGeom prst="rect">
            <a:avLst/>
          </a:prstGeom>
          <a:noFill/>
        </p:spPr>
      </p:pic>
      <p:pic>
        <p:nvPicPr>
          <p:cNvPr id="13" name="Picture 12" descr="capgemini_rgb.jpg"/>
          <p:cNvPicPr>
            <a:picLocks noChangeAspect="1"/>
          </p:cNvPicPr>
          <p:nvPr userDrawn="1"/>
        </p:nvPicPr>
        <p:blipFill>
          <a:blip r:embed="rId11" cstate="print"/>
          <a:stretch>
            <a:fillRect/>
          </a:stretch>
        </p:blipFill>
        <p:spPr>
          <a:xfrm>
            <a:off x="643211" y="514697"/>
            <a:ext cx="3136080" cy="958698"/>
          </a:xfrm>
          <a:prstGeom prst="rect">
            <a:avLst/>
          </a:prstGeom>
        </p:spPr>
      </p:pic>
    </p:spTree>
    <p:extLst>
      <p:ext uri="{BB962C8B-B14F-4D97-AF65-F5344CB8AC3E}">
        <p14:creationId xmlns:p14="http://schemas.microsoft.com/office/powerpoint/2010/main" xmlns="" val="1011628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Agenda">
    <p:spTree>
      <p:nvGrpSpPr>
        <p:cNvPr id="1" name=""/>
        <p:cNvGrpSpPr/>
        <p:nvPr/>
      </p:nvGrpSpPr>
      <p:grpSpPr>
        <a:xfrm>
          <a:off x="0" y="0"/>
          <a:ext cx="0" cy="0"/>
          <a:chOff x="0" y="0"/>
          <a:chExt cx="0" cy="0"/>
        </a:xfrm>
      </p:grpSpPr>
      <p:pic>
        <p:nvPicPr>
          <p:cNvPr id="9" name="Image 8" descr="test3.jpg"/>
          <p:cNvPicPr>
            <a:picLocks noChangeAspect="1"/>
          </p:cNvPicPr>
          <p:nvPr userDrawn="1"/>
        </p:nvPicPr>
        <p:blipFill>
          <a:blip r:embed="rId6" cstate="print"/>
          <a:srcRect l="120" t="188" r="380" b="564"/>
          <a:stretch>
            <a:fillRect/>
          </a:stretch>
        </p:blipFill>
        <p:spPr>
          <a:xfrm>
            <a:off x="0" y="0"/>
            <a:ext cx="9144000" cy="6353298"/>
          </a:xfrm>
          <a:prstGeom prst="rect">
            <a:avLst/>
          </a:prstGeom>
        </p:spPr>
      </p:pic>
      <p:graphicFrame>
        <p:nvGraphicFramePr>
          <p:cNvPr id="7" name="Object 6" hidden="1"/>
          <p:cNvGraphicFramePr>
            <a:graphicFrameLocks noChangeAspect="1"/>
          </p:cNvGraphicFramePr>
          <p:nvPr/>
        </p:nvGraphicFramePr>
        <p:xfrm>
          <a:off x="1" y="1"/>
          <a:ext cx="146539"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2"/>
            </p:custDataLst>
          </p:nvPr>
        </p:nvSpPr>
        <p:spPr/>
        <p:txBody>
          <a:bodyPr/>
          <a:lstStyle>
            <a:lvl1pPr>
              <a:defRPr>
                <a:solidFill>
                  <a:schemeClr val="tx1"/>
                </a:solidFill>
              </a:defRPr>
            </a:lvl1pPr>
          </a:lstStyle>
          <a:p>
            <a:r>
              <a:rPr lang="en-US" dirty="0" smtClean="0"/>
              <a:t>Click to edit Master title style</a:t>
            </a:r>
            <a:endParaRPr lang="en-US" dirty="0"/>
          </a:p>
        </p:txBody>
      </p:sp>
      <p:sp>
        <p:nvSpPr>
          <p:cNvPr id="6" name="Espace réservé du contenu 5"/>
          <p:cNvSpPr>
            <a:spLocks noGrp="1"/>
          </p:cNvSpPr>
          <p:nvPr>
            <p:ph sz="quarter" idx="10" hasCustomPrompt="1"/>
            <p:custDataLst>
              <p:tags r:id="rId3"/>
            </p:custDataLst>
          </p:nvPr>
        </p:nvSpPr>
        <p:spPr>
          <a:xfrm>
            <a:off x="298605" y="1501983"/>
            <a:ext cx="6283987" cy="246221"/>
          </a:xfrm>
        </p:spPr>
        <p:txBody>
          <a:bodyPr/>
          <a:lstStyle>
            <a:lvl1pPr>
              <a:defRPr>
                <a:solidFill>
                  <a:srgbClr val="000000"/>
                </a:solidFill>
              </a:defRPr>
            </a:lvl1pPr>
          </a:lstStyle>
          <a:p>
            <a:pPr lvl="0"/>
            <a:r>
              <a:rPr lang="en-US" noProof="0" dirty="0" smtClean="0"/>
              <a:t>Click to edit Master text style</a:t>
            </a:r>
          </a:p>
        </p:txBody>
      </p:sp>
      <p:sp>
        <p:nvSpPr>
          <p:cNvPr id="10" name="Freeform 4"/>
          <p:cNvSpPr>
            <a:spLocks/>
          </p:cNvSpPr>
          <p:nvPr userDrawn="1">
            <p:custDataLst>
              <p:tags r:id="rId4"/>
            </p:custDataLst>
          </p:nvPr>
        </p:nvSpPr>
        <p:spPr bwMode="auto">
          <a:xfrm>
            <a:off x="6" y="504955"/>
            <a:ext cx="9143999" cy="67211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prstClr val="black"/>
              </a:solidFill>
            </a:endParaRPr>
          </a:p>
        </p:txBody>
      </p:sp>
    </p:spTree>
    <p:extLst>
      <p:ext uri="{BB962C8B-B14F-4D97-AF65-F5344CB8AC3E}">
        <p14:creationId xmlns:p14="http://schemas.microsoft.com/office/powerpoint/2010/main" xmlns="" val="2376381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Lead Line &amp;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8823960" cy="822960"/>
          </a:xfrm>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320040" y="1171980"/>
            <a:ext cx="8503920" cy="1384995"/>
          </a:xfrm>
          <a:noFill/>
          <a:ln w="9525" algn="ctr">
            <a:noFill/>
            <a:miter lim="800000"/>
            <a:headEnd/>
            <a:tailEnd/>
          </a:ln>
          <a:effectLst/>
        </p:spPr>
        <p:txBody>
          <a:bodyPr vert="horz" wrap="square" lIns="0" tIns="0" rIns="0" bIns="0" numCol="1" anchor="t" anchorCtr="0" compatLnSpc="1">
            <a:prstTxWarp prst="textNoShape">
              <a:avLst/>
            </a:prstTxWarp>
            <a:spAutoFit/>
          </a:bodyPr>
          <a:lstStyle>
            <a:lvl1pPr marL="0" indent="0" algn="l" defTabSz="914400" rtl="0" eaLnBrk="0" fontAlgn="base" latinLnBrk="0" hangingPunct="0">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0" fontAlgn="base" latinLnBrk="0" hangingPunct="0">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569913" indent="-228600" algn="l" defTabSz="914400" rtl="0" eaLnBrk="0" fontAlgn="base" latinLnBrk="0" hangingPunct="0">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795338"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1031875"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050533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233363" indent="-233363">
              <a:defRPr lang="en-US" sz="1600" b="0" kern="1200" dirty="0" smtClean="0">
                <a:solidFill>
                  <a:schemeClr val="tx1"/>
                </a:solidFill>
                <a:latin typeface="Arial" pitchFamily="34" charset="0"/>
                <a:ea typeface="+mn-ea"/>
                <a:cs typeface="Arial" pitchFamily="34" charset="0"/>
              </a:defRPr>
            </a:lvl1pPr>
            <a:lvl2pPr marL="457200" indent="-223838">
              <a:defRPr lang="en-US" sz="1600" b="0" kern="1200" dirty="0" smtClean="0">
                <a:solidFill>
                  <a:schemeClr val="tx1"/>
                </a:solidFill>
                <a:latin typeface="Arial" pitchFamily="34" charset="0"/>
                <a:ea typeface="+mn-ea"/>
                <a:cs typeface="Arial" pitchFamily="34" charset="0"/>
              </a:defRPr>
            </a:lvl2pPr>
            <a:lvl3pPr>
              <a:defRPr lang="en-US" sz="1400" b="0" kern="1200" dirty="0" smtClean="0">
                <a:solidFill>
                  <a:schemeClr val="tx1"/>
                </a:solidFill>
                <a:latin typeface="Arial" pitchFamily="34" charset="0"/>
                <a:ea typeface="+mn-ea"/>
                <a:cs typeface="Arial" pitchFamily="34" charset="0"/>
              </a:defRPr>
            </a:lvl3pPr>
            <a:lvl4pPr>
              <a:defRPr lang="en-US" sz="1200" b="0" kern="1200" dirty="0" smtClean="0">
                <a:solidFill>
                  <a:schemeClr val="tx1"/>
                </a:solidFill>
                <a:latin typeface="Arial" pitchFamily="34" charset="0"/>
                <a:ea typeface="+mn-ea"/>
                <a:cs typeface="Arial" pitchFamily="34" charset="0"/>
              </a:defRPr>
            </a:lvl4pPr>
            <a:lvl5pPr>
              <a:defRPr lang="en-US" sz="1200" b="0" kern="1200" dirty="0">
                <a:solidFill>
                  <a:schemeClr val="tx1"/>
                </a:solidFill>
                <a:latin typeface="Arial" pitchFamily="34" charset="0"/>
                <a:ea typeface="+mn-ea"/>
                <a:cs typeface="Arial" pitchFamily="34" charset="0"/>
              </a:defRPr>
            </a:lvl5pPr>
          </a:lstStyle>
          <a:p>
            <a:pPr marL="233363" lvl="0" indent="-233363" algn="l" defTabSz="914400" rtl="0" eaLnBrk="1" fontAlgn="base" latinLnBrk="0" hangingPunct="1">
              <a:spcBef>
                <a:spcPct val="0"/>
              </a:spcBef>
              <a:spcAft>
                <a:spcPts val="600"/>
              </a:spcAft>
              <a:buClr>
                <a:schemeClr val="accent2"/>
              </a:buClr>
              <a:buFont typeface="Wingdings" pitchFamily="2" charset="2"/>
              <a:buChar char="§"/>
            </a:pPr>
            <a:r>
              <a:rPr lang="en-US" smtClean="0"/>
              <a:t>Click to edit Master text styles</a:t>
            </a:r>
          </a:p>
          <a:p>
            <a:pPr marL="233363" lvl="1" indent="-233363" algn="l" defTabSz="914400" rtl="0" eaLnBrk="1" fontAlgn="base" latinLnBrk="0" hangingPunct="1">
              <a:spcBef>
                <a:spcPct val="0"/>
              </a:spcBef>
              <a:spcAft>
                <a:spcPts val="600"/>
              </a:spcAft>
              <a:buClr>
                <a:schemeClr val="accent2"/>
              </a:buClr>
              <a:buFont typeface="Wingdings" pitchFamily="2" charset="2"/>
              <a:buChar char="§"/>
            </a:pPr>
            <a:r>
              <a:rPr lang="en-US" smtClean="0"/>
              <a:t>Second level</a:t>
            </a:r>
          </a:p>
          <a:p>
            <a:pPr marL="233363" lvl="2" indent="-233363" algn="l" defTabSz="914400" rtl="0" eaLnBrk="1" fontAlgn="base" latinLnBrk="0" hangingPunct="1">
              <a:spcBef>
                <a:spcPct val="0"/>
              </a:spcBef>
              <a:spcAft>
                <a:spcPts val="600"/>
              </a:spcAft>
              <a:buClr>
                <a:schemeClr val="accent2"/>
              </a:buClr>
              <a:buFont typeface="Wingdings" pitchFamily="2" charset="2"/>
              <a:buChar char="§"/>
            </a:pPr>
            <a:r>
              <a:rPr lang="en-US" smtClean="0"/>
              <a:t>Third level</a:t>
            </a:r>
          </a:p>
          <a:p>
            <a:pPr marL="233363" lvl="3"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Fourth level</a:t>
            </a:r>
          </a:p>
          <a:p>
            <a:pPr marL="233363" lvl="4"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Fifth level</a:t>
            </a:r>
            <a:endParaRPr lang="en-US" dirty="0"/>
          </a:p>
        </p:txBody>
      </p:sp>
    </p:spTree>
    <p:extLst>
      <p:ext uri="{BB962C8B-B14F-4D97-AF65-F5344CB8AC3E}">
        <p14:creationId xmlns:p14="http://schemas.microsoft.com/office/powerpoint/2010/main" xmlns="" val="624975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solidFill>
        <a:effectLst/>
      </p:bgPr>
    </p:bg>
    <p:spTree>
      <p:nvGrpSpPr>
        <p:cNvPr id="1" name=""/>
        <p:cNvGrpSpPr/>
        <p:nvPr/>
      </p:nvGrpSpPr>
      <p:grpSpPr>
        <a:xfrm>
          <a:off x="0" y="0"/>
          <a:ext cx="0" cy="0"/>
          <a:chOff x="0" y="0"/>
          <a:chExt cx="0" cy="0"/>
        </a:xfrm>
      </p:grpSpPr>
      <p:pic>
        <p:nvPicPr>
          <p:cNvPr id="19" name="Picture 18" descr="88893642.jpg"/>
          <p:cNvPicPr>
            <a:picLocks noChangeAspect="1"/>
          </p:cNvPicPr>
          <p:nvPr userDrawn="1"/>
        </p:nvPicPr>
        <p:blipFill>
          <a:blip r:embed="rId4" cstate="print"/>
          <a:srcRect/>
          <a:stretch>
            <a:fillRect/>
          </a:stretch>
        </p:blipFill>
        <p:spPr>
          <a:xfrm>
            <a:off x="0" y="1"/>
            <a:ext cx="9144000" cy="6661118"/>
          </a:xfrm>
          <a:prstGeom prst="rect">
            <a:avLst/>
          </a:prstGeom>
        </p:spPr>
      </p:pic>
      <p:sp>
        <p:nvSpPr>
          <p:cNvPr id="17" name="Rectangle 7"/>
          <p:cNvSpPr/>
          <p:nvPr userDrawn="1">
            <p:custDataLst>
              <p:tags r:id="rId1"/>
            </p:custDataLst>
          </p:nvPr>
        </p:nvSpPr>
        <p:spPr bwMode="auto">
          <a:xfrm flipV="1">
            <a:off x="-1084" y="3384917"/>
            <a:ext cx="9145087"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sp>
        <p:nvSpPr>
          <p:cNvPr id="18" name="Titre 1"/>
          <p:cNvSpPr>
            <a:spLocks noGrp="1"/>
          </p:cNvSpPr>
          <p:nvPr>
            <p:ph type="title" hasCustomPrompt="1"/>
            <p:custDataLst>
              <p:tags r:id="rId2"/>
            </p:custDataLst>
          </p:nvPr>
        </p:nvSpPr>
        <p:spPr>
          <a:xfrm>
            <a:off x="0" y="4699001"/>
            <a:ext cx="9144000" cy="899319"/>
          </a:xfrm>
          <a:prstGeom prst="rect">
            <a:avLst/>
          </a:prstGeom>
        </p:spPr>
        <p:txBody>
          <a:bodyPr vert="horz" lIns="826470" tIns="33059" rIns="66118" bIns="33059" rtlCol="0" anchor="ctr" anchorCtr="0">
            <a:noAutofit/>
          </a:bodyPr>
          <a:lstStyle>
            <a:lvl1pPr algn="l" defTabSz="914342" rtl="0" eaLnBrk="1" latinLnBrk="0" hangingPunct="1">
              <a:spcBef>
                <a:spcPct val="0"/>
              </a:spcBef>
              <a:buNone/>
              <a:defRPr lang="en-US" sz="3600" b="0" kern="1200" cap="none" baseline="0" dirty="0" smtClean="0">
                <a:solidFill>
                  <a:schemeClr val="tx1"/>
                </a:solidFill>
                <a:latin typeface="Arial" pitchFamily="34" charset="0"/>
                <a:ea typeface="+mj-ea"/>
                <a:cs typeface="Arial" pitchFamily="34" charset="0"/>
              </a:defRPr>
            </a:lvl1pPr>
          </a:lstStyle>
          <a:p>
            <a:pPr lvl="0"/>
            <a:r>
              <a:rPr lang="en-US" noProof="0" dirty="0" smtClean="0"/>
              <a:t>Click to edit Master text style</a:t>
            </a:r>
          </a:p>
        </p:txBody>
      </p:sp>
      <p:sp>
        <p:nvSpPr>
          <p:cNvPr id="6" name="Text Placeholder 5"/>
          <p:cNvSpPr>
            <a:spLocks noGrp="1"/>
          </p:cNvSpPr>
          <p:nvPr>
            <p:ph type="body" sz="quarter" idx="10"/>
          </p:nvPr>
        </p:nvSpPr>
        <p:spPr>
          <a:xfrm>
            <a:off x="863602" y="5598322"/>
            <a:ext cx="7556500" cy="307777"/>
          </a:xfrm>
        </p:spPr>
        <p:txBody>
          <a:bodyPr/>
          <a:lstStyle>
            <a:lvl1pPr marL="0" indent="0">
              <a:buNone/>
              <a:defRPr sz="2000"/>
            </a:lvl1pPr>
            <a:lvl2pPr>
              <a:buNone/>
              <a:defRPr/>
            </a:lvl2pPr>
            <a:lvl3pPr>
              <a:buNone/>
              <a:defRPr/>
            </a:lvl3pPr>
            <a:lvl4pPr>
              <a:buNone/>
              <a:defRPr/>
            </a:lvl4pPr>
            <a:lvl5pPr>
              <a:buNone/>
              <a:defRPr/>
            </a:lvl5pPr>
          </a:lstStyle>
          <a:p>
            <a:pPr lvl="0"/>
            <a:r>
              <a:rPr lang="en-US" smtClean="0"/>
              <a:t>Click to edit Master text styles</a:t>
            </a:r>
          </a:p>
        </p:txBody>
      </p:sp>
    </p:spTree>
    <p:extLst>
      <p:ext uri="{BB962C8B-B14F-4D97-AF65-F5344CB8AC3E}">
        <p14:creationId xmlns:p14="http://schemas.microsoft.com/office/powerpoint/2010/main" xmlns="" val="3782997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6" name="Image 5" descr="test5.jpg"/>
          <p:cNvPicPr>
            <a:picLocks noChangeAspect="1"/>
          </p:cNvPicPr>
          <p:nvPr userDrawn="1"/>
        </p:nvPicPr>
        <p:blipFill>
          <a:blip r:embed="rId5" cstate="print"/>
          <a:srcRect l="240" t="179" r="380" b="511"/>
          <a:stretch>
            <a:fillRect/>
          </a:stretch>
        </p:blipFill>
        <p:spPr>
          <a:xfrm>
            <a:off x="0" y="1050622"/>
            <a:ext cx="9144000" cy="5807378"/>
          </a:xfrm>
          <a:prstGeom prst="rect">
            <a:avLst/>
          </a:prstGeom>
        </p:spPr>
      </p:pic>
      <p:graphicFrame>
        <p:nvGraphicFramePr>
          <p:cNvPr id="5" name="Object 4" hidden="1"/>
          <p:cNvGraphicFramePr>
            <a:graphicFrameLocks noChangeAspect="1"/>
          </p:cNvGraphicFramePr>
          <p:nvPr/>
        </p:nvGraphicFramePr>
        <p:xfrm>
          <a:off x="1" y="1"/>
          <a:ext cx="146539" cy="158750"/>
        </p:xfrm>
        <a:graphic>
          <a:graphicData uri="http://schemas.openxmlformats.org/presentationml/2006/ole">
            <p:oleObj spid="_x0000_s4103" name="think-cell Slide" r:id="rId6" imgW="360" imgH="360" progId="">
              <p:embed/>
            </p:oleObj>
          </a:graphicData>
        </a:graphic>
      </p:graphicFrame>
      <p:sp>
        <p:nvSpPr>
          <p:cNvPr id="4" name="Rectangle 7"/>
          <p:cNvSpPr/>
          <p:nvPr userDrawn="1">
            <p:custDataLst>
              <p:tags r:id="rId2"/>
            </p:custDataLst>
          </p:nvPr>
        </p:nvSpPr>
        <p:spPr bwMode="auto">
          <a:xfrm>
            <a:off x="-1894" y="0"/>
            <a:ext cx="9146339"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sp>
        <p:nvSpPr>
          <p:cNvPr id="2" name="Titre 1"/>
          <p:cNvSpPr>
            <a:spLocks noGrp="1"/>
          </p:cNvSpPr>
          <p:nvPr>
            <p:ph type="title" hasCustomPrompt="1"/>
            <p:custDataLst>
              <p:tags r:id="rId3"/>
            </p:custDataLst>
          </p:nvPr>
        </p:nvSpPr>
        <p:spPr>
          <a:xfrm>
            <a:off x="0" y="705190"/>
            <a:ext cx="9144000" cy="1143240"/>
          </a:xfrm>
          <a:prstGeom prst="rect">
            <a:avLst/>
          </a:prstGeom>
        </p:spPr>
        <p:txBody>
          <a:bodyPr lIns="330588" tIns="33059" rIns="33059" bIns="33059" anchor="ctr" anchorCtr="0"/>
          <a:lstStyle>
            <a:lvl1pPr algn="l">
              <a:defRPr sz="3600" b="0">
                <a:solidFill>
                  <a:schemeClr val="tx1"/>
                </a:solidFill>
                <a:latin typeface="Arial" pitchFamily="34" charset="0"/>
                <a:cs typeface="Arial" pitchFamily="34" charset="0"/>
              </a:defRPr>
            </a:lvl1pPr>
          </a:lstStyle>
          <a:p>
            <a:pPr lvl="0"/>
            <a:r>
              <a:rPr lang="en-US" noProof="0" dirty="0" smtClean="0"/>
              <a:t>Click to edit Master text style</a:t>
            </a:r>
          </a:p>
        </p:txBody>
      </p:sp>
      <p:sp>
        <p:nvSpPr>
          <p:cNvPr id="8" name="Text Placeholder 7"/>
          <p:cNvSpPr>
            <a:spLocks noGrp="1"/>
          </p:cNvSpPr>
          <p:nvPr>
            <p:ph type="body" sz="quarter" idx="10"/>
          </p:nvPr>
        </p:nvSpPr>
        <p:spPr>
          <a:xfrm>
            <a:off x="336549" y="1847853"/>
            <a:ext cx="7258051" cy="307777"/>
          </a:xfrm>
        </p:spPr>
        <p:txBody>
          <a:bodyPr/>
          <a:lstStyle>
            <a:lvl1pPr marL="0" indent="0">
              <a:buNone/>
              <a:defRPr sz="2000"/>
            </a:lvl1pPr>
            <a:lvl2pPr>
              <a:buNone/>
              <a:defRPr/>
            </a:lvl2pPr>
            <a:lvl3pPr>
              <a:buNone/>
              <a:defRPr/>
            </a:lvl3pPr>
            <a:lvl4pPr>
              <a:buNone/>
              <a:defRPr/>
            </a:lvl4pPr>
            <a:lvl5pPr>
              <a:buNone/>
              <a:defRPr/>
            </a:lvl5pPr>
          </a:lstStyle>
          <a:p>
            <a:pPr lvl="0"/>
            <a:r>
              <a:rPr lang="en-US" smtClean="0"/>
              <a:t>Click to edit Master text styles</a:t>
            </a:r>
          </a:p>
        </p:txBody>
      </p:sp>
    </p:spTree>
    <p:extLst>
      <p:ext uri="{BB962C8B-B14F-4D97-AF65-F5344CB8AC3E}">
        <p14:creationId xmlns:p14="http://schemas.microsoft.com/office/powerpoint/2010/main" xmlns="" val="324327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8823960" cy="82296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20040" y="1197738"/>
            <a:ext cx="4114800" cy="1384995"/>
          </a:xfr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half" idx="12"/>
          </p:nvPr>
        </p:nvSpPr>
        <p:spPr>
          <a:xfrm>
            <a:off x="4709160" y="1197738"/>
            <a:ext cx="4114800" cy="1384995"/>
          </a:xfr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60155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0040" y="2026014"/>
            <a:ext cx="4114800" cy="3417862"/>
          </a:xfrm>
          <a:solidFill>
            <a:schemeClr val="bg1"/>
          </a:solidFill>
          <a:ln w="12700" algn="ctr">
            <a:solidFill>
              <a:schemeClr val="accent2"/>
            </a:solidFill>
            <a:miter lim="800000"/>
            <a:headEnd/>
            <a:tailEnd/>
          </a:ln>
          <a:effectLst/>
        </p:spPr>
        <p:txBody>
          <a:bodyPr vert="horz" wrap="square" lIns="91440" tIns="45720" rIns="91440" bIns="45720" numCol="1" rtlCol="0" anchor="t" anchorCtr="0" compatLnSpc="1">
            <a:prstTxWarp prst="textNoShape">
              <a:avLst/>
            </a:prstTxWarp>
            <a:noAutofit/>
          </a:bodyPr>
          <a:lstStyle>
            <a:lvl1pPr algn="l" rtl="0" eaLnBrk="1" fontAlgn="base" latinLnBrk="0" hangingPunct="1">
              <a:spcBef>
                <a:spcPct val="0"/>
              </a:spcBef>
              <a:spcAft>
                <a:spcPct val="50000"/>
              </a:spcAft>
              <a:buClr>
                <a:schemeClr val="accent2"/>
              </a:buClr>
              <a:defRPr lang="en-US" sz="1400" b="1" kern="1200" dirty="0" smtClean="0">
                <a:solidFill>
                  <a:schemeClr val="tx1"/>
                </a:solidFill>
                <a:latin typeface="Arial" pitchFamily="34" charset="0"/>
                <a:ea typeface="+mn-ea"/>
                <a:cs typeface="Arial" pitchFamily="34" charset="0"/>
              </a:defRPr>
            </a:lvl1pPr>
            <a:lvl2pPr algn="l" rtl="0" eaLnBrk="1" fontAlgn="base" latinLnBrk="0" hangingPunct="1">
              <a:spcBef>
                <a:spcPct val="0"/>
              </a:spcBef>
              <a:spcAft>
                <a:spcPct val="50000"/>
              </a:spcAft>
              <a:buClr>
                <a:schemeClr val="accent2"/>
              </a:buClr>
              <a:defRPr lang="en-US" sz="1200" b="0" kern="1200" dirty="0" smtClean="0">
                <a:solidFill>
                  <a:schemeClr val="tx1"/>
                </a:solidFill>
                <a:latin typeface="Arial" pitchFamily="34" charset="0"/>
                <a:ea typeface="+mn-ea"/>
                <a:cs typeface="Arial" pitchFamily="34" charset="0"/>
              </a:defRPr>
            </a:lvl2pPr>
            <a:lvl3pPr marL="460375" indent="-228600" algn="l" rtl="0" eaLnBrk="1" fontAlgn="base" latinLnBrk="0" hangingPunct="1">
              <a:spcBef>
                <a:spcPct val="0"/>
              </a:spcBef>
              <a:spcAft>
                <a:spcPct val="50000"/>
              </a:spcAft>
              <a:buClr>
                <a:schemeClr val="accent2"/>
              </a:buClr>
              <a:defRPr lang="en-US" sz="1100" b="0" kern="1200" dirty="0" smtClean="0">
                <a:solidFill>
                  <a:schemeClr val="tx1"/>
                </a:solidFill>
                <a:latin typeface="Arial" pitchFamily="34" charset="0"/>
                <a:ea typeface="+mn-ea"/>
                <a:cs typeface="Arial" pitchFamily="34" charset="0"/>
              </a:defRPr>
            </a:lvl3pPr>
            <a:lvl4pPr marL="685800"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4pPr>
            <a:lvl5pPr marL="911225"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5pPr>
            <a:lvl6pPr>
              <a:defRPr sz="1600"/>
            </a:lvl6pPr>
            <a:lvl7pPr>
              <a:defRPr sz="1600"/>
            </a:lvl7pPr>
            <a:lvl8pPr>
              <a:defRPr sz="1600"/>
            </a:lvl8pPr>
            <a:lvl9pPr>
              <a:defRPr sz="1600"/>
            </a:lvl9pPr>
          </a:lstStyle>
          <a:p>
            <a:pPr marL="0" lvl="0" indent="0" algn="l" defTabSz="914400" rtl="0" eaLnBrk="1" fontAlgn="base" latinLnBrk="0" hangingPunct="1">
              <a:spcBef>
                <a:spcPct val="0"/>
              </a:spcBef>
              <a:spcAft>
                <a:spcPct val="50000"/>
              </a:spcAft>
              <a:buClr>
                <a:schemeClr val="accent2"/>
              </a:buClr>
              <a:buFont typeface="Arial" pitchFamily="34" charset="0"/>
              <a:buNone/>
            </a:pPr>
            <a:r>
              <a:rPr lang="en-US" smtClean="0"/>
              <a:t>Click to edit Master text styles</a:t>
            </a:r>
          </a:p>
          <a:p>
            <a:pPr marL="0" lvl="1" indent="0" algn="l" defTabSz="914400" rtl="0" eaLnBrk="1" fontAlgn="base" latinLnBrk="0" hangingPunct="1">
              <a:spcBef>
                <a:spcPct val="0"/>
              </a:spcBef>
              <a:spcAft>
                <a:spcPct val="50000"/>
              </a:spcAft>
              <a:buClr>
                <a:schemeClr val="accent2"/>
              </a:buClr>
              <a:buFont typeface="Arial" pitchFamily="34" charset="0"/>
              <a:buNone/>
            </a:pPr>
            <a:r>
              <a:rPr lang="en-US" smtClean="0"/>
              <a:t>Second level</a:t>
            </a:r>
          </a:p>
          <a:p>
            <a:pPr marL="0" lvl="2" indent="0" algn="l" defTabSz="914400" rtl="0" eaLnBrk="1" fontAlgn="base" latinLnBrk="0" hangingPunct="1">
              <a:spcBef>
                <a:spcPct val="0"/>
              </a:spcBef>
              <a:spcAft>
                <a:spcPct val="50000"/>
              </a:spcAft>
              <a:buClr>
                <a:schemeClr val="accent2"/>
              </a:buClr>
              <a:buFont typeface="Arial" pitchFamily="34" charset="0"/>
              <a:buNone/>
            </a:pPr>
            <a:r>
              <a:rPr lang="en-US" smtClean="0"/>
              <a:t>Third level</a:t>
            </a:r>
          </a:p>
          <a:p>
            <a:pPr marL="0" lvl="3" indent="0" algn="l" defTabSz="914400" rtl="0" eaLnBrk="1" fontAlgn="base" latinLnBrk="0" hangingPunct="1">
              <a:spcBef>
                <a:spcPct val="0"/>
              </a:spcBef>
              <a:spcAft>
                <a:spcPct val="50000"/>
              </a:spcAft>
              <a:buClr>
                <a:schemeClr val="accent2"/>
              </a:buClr>
              <a:buFont typeface="Arial" pitchFamily="34" charset="0"/>
              <a:buNone/>
            </a:pPr>
            <a:r>
              <a:rPr lang="en-US" smtClean="0"/>
              <a:t>Fourth level</a:t>
            </a:r>
          </a:p>
          <a:p>
            <a:pPr marL="0" lvl="4" indent="0" algn="l" defTabSz="914400" rtl="0" eaLnBrk="1" fontAlgn="base" latinLnBrk="0" hangingPunct="1">
              <a:spcBef>
                <a:spcPct val="0"/>
              </a:spcBef>
              <a:spcAft>
                <a:spcPct val="50000"/>
              </a:spcAft>
              <a:buClr>
                <a:schemeClr val="accent2"/>
              </a:buClr>
              <a:buFont typeface="Arial" pitchFamily="34" charset="0"/>
              <a:buNone/>
            </a:pPr>
            <a:r>
              <a:rPr lang="en-US" smtClean="0"/>
              <a:t>Fifth level</a:t>
            </a:r>
            <a:endParaRPr lang="en-US" dirty="0"/>
          </a:p>
        </p:txBody>
      </p:sp>
      <p:sp>
        <p:nvSpPr>
          <p:cNvPr id="6" name="Content Placeholder 5"/>
          <p:cNvSpPr>
            <a:spLocks noGrp="1"/>
          </p:cNvSpPr>
          <p:nvPr>
            <p:ph sz="quarter" idx="4"/>
          </p:nvPr>
        </p:nvSpPr>
        <p:spPr>
          <a:xfrm>
            <a:off x="4709160" y="2026014"/>
            <a:ext cx="4114800" cy="3417862"/>
          </a:xfrm>
          <a:solidFill>
            <a:schemeClr val="bg1"/>
          </a:solidFill>
          <a:ln w="12700" algn="ctr">
            <a:solidFill>
              <a:schemeClr val="accent2"/>
            </a:solidFill>
            <a:miter lim="800000"/>
            <a:headEnd/>
            <a:tailEnd/>
          </a:ln>
          <a:effectLst/>
        </p:spPr>
        <p:txBody>
          <a:bodyPr vert="horz" wrap="square" lIns="91440" tIns="45720" rIns="91440" bIns="45720" numCol="1" rtlCol="0" anchor="t" anchorCtr="0" compatLnSpc="1">
            <a:prstTxWarp prst="textNoShape">
              <a:avLst/>
            </a:prstTxWarp>
            <a:noAutofit/>
          </a:bodyPr>
          <a:lstStyle>
            <a:lvl1pPr algn="l" rtl="0" eaLnBrk="1" fontAlgn="base" latinLnBrk="0" hangingPunct="1">
              <a:spcBef>
                <a:spcPct val="0"/>
              </a:spcBef>
              <a:spcAft>
                <a:spcPct val="50000"/>
              </a:spcAft>
              <a:buClr>
                <a:schemeClr val="accent2"/>
              </a:buClr>
              <a:defRPr lang="en-US" sz="1400" b="1" kern="1200" dirty="0" smtClean="0">
                <a:solidFill>
                  <a:schemeClr val="tx1"/>
                </a:solidFill>
                <a:latin typeface="Arial" pitchFamily="34" charset="0"/>
                <a:ea typeface="+mn-ea"/>
                <a:cs typeface="Arial" pitchFamily="34" charset="0"/>
              </a:defRPr>
            </a:lvl1pPr>
            <a:lvl2pPr algn="l" rtl="0" eaLnBrk="1" fontAlgn="base" latinLnBrk="0" hangingPunct="1">
              <a:spcBef>
                <a:spcPct val="0"/>
              </a:spcBef>
              <a:spcAft>
                <a:spcPct val="50000"/>
              </a:spcAft>
              <a:buClr>
                <a:schemeClr val="accent2"/>
              </a:buClr>
              <a:defRPr lang="en-US" sz="1200" b="0" kern="1200" dirty="0" smtClean="0">
                <a:solidFill>
                  <a:schemeClr val="tx1"/>
                </a:solidFill>
                <a:latin typeface="Arial" pitchFamily="34" charset="0"/>
                <a:ea typeface="+mn-ea"/>
                <a:cs typeface="Arial" pitchFamily="34" charset="0"/>
              </a:defRPr>
            </a:lvl2pPr>
            <a:lvl3pPr marL="460375" indent="-228600" algn="l" rtl="0" eaLnBrk="1" fontAlgn="base" latinLnBrk="0" hangingPunct="1">
              <a:spcBef>
                <a:spcPct val="0"/>
              </a:spcBef>
              <a:spcAft>
                <a:spcPct val="50000"/>
              </a:spcAft>
              <a:buClr>
                <a:schemeClr val="accent2"/>
              </a:buClr>
              <a:defRPr lang="en-US" sz="1100" b="0" kern="1200" dirty="0" smtClean="0">
                <a:solidFill>
                  <a:schemeClr val="tx1"/>
                </a:solidFill>
                <a:latin typeface="Arial" pitchFamily="34" charset="0"/>
                <a:ea typeface="+mn-ea"/>
                <a:cs typeface="Arial" pitchFamily="34" charset="0"/>
              </a:defRPr>
            </a:lvl3pPr>
            <a:lvl4pPr marL="685800"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4pPr>
            <a:lvl5pPr marL="911225"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5pPr>
            <a:lvl6pPr>
              <a:defRPr sz="1600"/>
            </a:lvl6pPr>
            <a:lvl7pPr>
              <a:defRPr sz="1600"/>
            </a:lvl7pPr>
            <a:lvl8pPr>
              <a:defRPr sz="1600"/>
            </a:lvl8pPr>
            <a:lvl9pPr>
              <a:defRPr sz="1600"/>
            </a:lvl9pPr>
          </a:lstStyle>
          <a:p>
            <a:pPr marL="0" lvl="0" indent="0" algn="l" defTabSz="914400" rtl="0" eaLnBrk="1" fontAlgn="base" latinLnBrk="0" hangingPunct="1">
              <a:spcBef>
                <a:spcPct val="0"/>
              </a:spcBef>
              <a:spcAft>
                <a:spcPct val="50000"/>
              </a:spcAft>
              <a:buClr>
                <a:schemeClr val="accent2"/>
              </a:buClr>
              <a:buFont typeface="Arial" pitchFamily="34" charset="0"/>
              <a:buNone/>
            </a:pPr>
            <a:r>
              <a:rPr lang="en-US" smtClean="0"/>
              <a:t>Click to edit Master text styles</a:t>
            </a:r>
          </a:p>
          <a:p>
            <a:pPr marL="0" lvl="1" indent="0" algn="l" defTabSz="914400" rtl="0" eaLnBrk="1" fontAlgn="base" latinLnBrk="0" hangingPunct="1">
              <a:spcBef>
                <a:spcPct val="0"/>
              </a:spcBef>
              <a:spcAft>
                <a:spcPct val="50000"/>
              </a:spcAft>
              <a:buClr>
                <a:schemeClr val="accent2"/>
              </a:buClr>
              <a:buFont typeface="Arial" pitchFamily="34" charset="0"/>
              <a:buNone/>
            </a:pPr>
            <a:r>
              <a:rPr lang="en-US" smtClean="0"/>
              <a:t>Second level</a:t>
            </a:r>
          </a:p>
          <a:p>
            <a:pPr marL="0" lvl="2" indent="0" algn="l" defTabSz="914400" rtl="0" eaLnBrk="1" fontAlgn="base" latinLnBrk="0" hangingPunct="1">
              <a:spcBef>
                <a:spcPct val="0"/>
              </a:spcBef>
              <a:spcAft>
                <a:spcPct val="50000"/>
              </a:spcAft>
              <a:buClr>
                <a:schemeClr val="accent2"/>
              </a:buClr>
              <a:buFont typeface="Arial" pitchFamily="34" charset="0"/>
              <a:buNone/>
            </a:pPr>
            <a:r>
              <a:rPr lang="en-US" smtClean="0"/>
              <a:t>Third level</a:t>
            </a:r>
          </a:p>
          <a:p>
            <a:pPr marL="0" lvl="3" indent="0" algn="l" defTabSz="914400" rtl="0" eaLnBrk="1" fontAlgn="base" latinLnBrk="0" hangingPunct="1">
              <a:spcBef>
                <a:spcPct val="0"/>
              </a:spcBef>
              <a:spcAft>
                <a:spcPct val="50000"/>
              </a:spcAft>
              <a:buClr>
                <a:schemeClr val="accent2"/>
              </a:buClr>
              <a:buFont typeface="Arial" pitchFamily="34" charset="0"/>
              <a:buNone/>
            </a:pPr>
            <a:r>
              <a:rPr lang="en-US" smtClean="0"/>
              <a:t>Fourth level</a:t>
            </a:r>
          </a:p>
          <a:p>
            <a:pPr marL="0" lvl="4" indent="0" algn="l" defTabSz="914400" rtl="0" eaLnBrk="1" fontAlgn="base" latinLnBrk="0" hangingPunct="1">
              <a:spcBef>
                <a:spcPct val="0"/>
              </a:spcBef>
              <a:spcAft>
                <a:spcPct val="50000"/>
              </a:spcAft>
              <a:buClr>
                <a:schemeClr val="accent2"/>
              </a:buClr>
              <a:buFont typeface="Arial" pitchFamily="34" charset="0"/>
              <a:buNone/>
            </a:pPr>
            <a:r>
              <a:rPr lang="en-US" smtClean="0"/>
              <a:t>Fifth level</a:t>
            </a:r>
            <a:endParaRPr lang="en-US" dirty="0"/>
          </a:p>
        </p:txBody>
      </p:sp>
      <p:sp>
        <p:nvSpPr>
          <p:cNvPr id="2" name="Title 1"/>
          <p:cNvSpPr>
            <a:spLocks noGrp="1"/>
          </p:cNvSpPr>
          <p:nvPr>
            <p:ph type="title"/>
          </p:nvPr>
        </p:nvSpPr>
        <p:spPr>
          <a:xfrm>
            <a:off x="0" y="25263"/>
            <a:ext cx="8823960" cy="82296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20040" y="1471315"/>
            <a:ext cx="4114800" cy="548640"/>
          </a:xfrm>
          <a:gradFill flip="none" rotWithShape="1">
            <a:gsLst>
              <a:gs pos="75000">
                <a:schemeClr val="accent2"/>
              </a:gs>
              <a:gs pos="100000">
                <a:schemeClr val="accent4"/>
              </a:gs>
            </a:gsLst>
            <a:lin ang="16200000" scaled="1"/>
            <a:tileRect/>
          </a:gradFill>
          <a:ln w="12700">
            <a:solidFill>
              <a:schemeClr val="accent2"/>
            </a:solidFill>
          </a:ln>
        </p:spPr>
        <p:txBody>
          <a:bodyPr lIns="91440" tIns="91440" rIns="91440" bIns="91440" anchor="ctr" anchorCtr="0">
            <a:noAutofit/>
          </a:bodyPr>
          <a:lstStyle>
            <a:lvl1pPr marL="0" indent="0" algn="ctr">
              <a:buNone/>
              <a:defRPr sz="14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709160" y="1471315"/>
            <a:ext cx="4114800" cy="548640"/>
          </a:xfrm>
          <a:gradFill flip="none" rotWithShape="1">
            <a:gsLst>
              <a:gs pos="75000">
                <a:schemeClr val="accent2"/>
              </a:gs>
              <a:gs pos="100000">
                <a:schemeClr val="accent4"/>
              </a:gs>
            </a:gsLst>
            <a:lin ang="16200000" scaled="1"/>
            <a:tileRect/>
          </a:gradFill>
          <a:ln w="12700">
            <a:solidFill>
              <a:schemeClr val="accent2"/>
            </a:solidFill>
          </a:ln>
        </p:spPr>
        <p:txBody>
          <a:bodyPr lIns="91440" tIns="91440" rIns="91440" bIns="91440" anchor="ctr" anchorCtr="0">
            <a:noAutofit/>
          </a:bodyPr>
          <a:lstStyle>
            <a:lvl1pPr marL="0" indent="0" algn="ctr">
              <a:buNone/>
              <a:defRPr sz="14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extLst>
      <p:ext uri="{BB962C8B-B14F-4D97-AF65-F5344CB8AC3E}">
        <p14:creationId xmlns:p14="http://schemas.microsoft.com/office/powerpoint/2010/main" xmlns="" val="2786576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xmlns="" val="1074975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99920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0"/>
            <a:ext cx="3008313" cy="1162050"/>
          </a:xfrm>
        </p:spPr>
        <p:txBody>
          <a:bodyPr anchor="b"/>
          <a:lstStyle>
            <a:lvl1pPr algn="l">
              <a:defRPr sz="2200" b="1"/>
            </a:lvl1pPr>
          </a:lstStyle>
          <a:p>
            <a:r>
              <a:rPr lang="en-US" smtClean="0"/>
              <a:t>Click to edit Master title style</a:t>
            </a:r>
            <a:endParaRPr lang="en-US" dirty="0"/>
          </a:p>
        </p:txBody>
      </p:sp>
      <p:sp>
        <p:nvSpPr>
          <p:cNvPr id="3" name="Content Placeholder 2"/>
          <p:cNvSpPr>
            <a:spLocks noGrp="1"/>
          </p:cNvSpPr>
          <p:nvPr>
            <p:ph idx="1"/>
          </p:nvPr>
        </p:nvSpPr>
        <p:spPr>
          <a:xfrm>
            <a:off x="3575054" y="273054"/>
            <a:ext cx="5111751" cy="5853113"/>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5" y="1573621"/>
            <a:ext cx="3008313" cy="477054"/>
          </a:xfrm>
        </p:spPr>
        <p:txBody>
          <a:bodyPr/>
          <a:lstStyle>
            <a:lvl1pPr marL="0" indent="0">
              <a:buNone/>
              <a:defRPr sz="1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a:p>
            <a:pPr lvl="1"/>
            <a:r>
              <a:rPr lang="en-US" smtClean="0"/>
              <a:t>Second level</a:t>
            </a:r>
          </a:p>
        </p:txBody>
      </p:sp>
      <p:pic>
        <p:nvPicPr>
          <p:cNvPr id="8" name="Picture 4" descr="capgemini_rgb-[Converted]"/>
          <p:cNvPicPr>
            <a:picLocks noChangeAspect="1" noChangeArrowheads="1"/>
          </p:cNvPicPr>
          <p:nvPr userDrawn="1"/>
        </p:nvPicPr>
        <p:blipFill>
          <a:blip r:embed="rId2" cstate="print"/>
          <a:srcRect/>
          <a:stretch>
            <a:fillRect/>
          </a:stretch>
        </p:blipFill>
        <p:spPr bwMode="gray">
          <a:xfrm>
            <a:off x="273049" y="6451604"/>
            <a:ext cx="1289051" cy="301625"/>
          </a:xfrm>
          <a:prstGeom prst="rect">
            <a:avLst/>
          </a:prstGeom>
          <a:noFill/>
          <a:ln w="9525">
            <a:noFill/>
            <a:miter lim="800000"/>
            <a:headEnd/>
            <a:tailEnd/>
          </a:ln>
        </p:spPr>
      </p:pic>
      <p:sp>
        <p:nvSpPr>
          <p:cNvPr id="9" name="Text Box 5"/>
          <p:cNvSpPr txBox="1">
            <a:spLocks noChangeArrowheads="1"/>
          </p:cNvSpPr>
          <p:nvPr userDrawn="1"/>
        </p:nvSpPr>
        <p:spPr bwMode="gray">
          <a:xfrm>
            <a:off x="1571625" y="6491288"/>
            <a:ext cx="1311578" cy="223138"/>
          </a:xfrm>
          <a:prstGeom prst="rect">
            <a:avLst/>
          </a:prstGeom>
          <a:noFill/>
          <a:ln w="19050">
            <a:noFill/>
            <a:miter lim="800000"/>
            <a:headEnd/>
            <a:tailEnd/>
          </a:ln>
          <a:effectLst/>
        </p:spPr>
        <p:txBody>
          <a:bodyPr wrap="none">
            <a:spAutoFit/>
          </a:bodyPr>
          <a:lstStyle/>
          <a:p>
            <a:pPr eaLnBrk="0" hangingPunct="0">
              <a:lnSpc>
                <a:spcPct val="85000"/>
              </a:lnSpc>
            </a:pPr>
            <a:r>
              <a:rPr lang="en-US" sz="1000" dirty="0">
                <a:solidFill>
                  <a:srgbClr val="969696"/>
                </a:solidFill>
              </a:rPr>
              <a:t>In collaboration with</a:t>
            </a:r>
          </a:p>
        </p:txBody>
      </p:sp>
      <p:sp>
        <p:nvSpPr>
          <p:cNvPr id="10" name="Rectangle 6"/>
          <p:cNvSpPr>
            <a:spLocks noChangeArrowheads="1"/>
          </p:cNvSpPr>
          <p:nvPr userDrawn="1"/>
        </p:nvSpPr>
        <p:spPr bwMode="gray">
          <a:xfrm>
            <a:off x="2927353" y="6400804"/>
            <a:ext cx="1020763" cy="403225"/>
          </a:xfrm>
          <a:prstGeom prst="rect">
            <a:avLst/>
          </a:prstGeom>
          <a:noFill/>
          <a:ln w="19050">
            <a:solidFill>
              <a:srgbClr val="B2B2B2"/>
            </a:solidFill>
            <a:prstDash val="sysDot"/>
            <a:miter lim="800000"/>
            <a:headEnd/>
            <a:tailEnd/>
          </a:ln>
          <a:effectLst/>
        </p:spPr>
        <p:txBody>
          <a:bodyPr wrap="none" anchor="ctr"/>
          <a:lstStyle/>
          <a:p>
            <a:r>
              <a:rPr lang="en-US" sz="1000" dirty="0">
                <a:solidFill>
                  <a:srgbClr val="969696"/>
                </a:solidFill>
              </a:rPr>
              <a:t>Client or</a:t>
            </a:r>
            <a:br>
              <a:rPr lang="en-US" sz="1000" dirty="0">
                <a:solidFill>
                  <a:srgbClr val="969696"/>
                </a:solidFill>
              </a:rPr>
            </a:br>
            <a:r>
              <a:rPr lang="en-US" sz="1000" dirty="0">
                <a:solidFill>
                  <a:srgbClr val="969696"/>
                </a:solidFill>
              </a:rPr>
              <a:t>Partner logo</a:t>
            </a:r>
          </a:p>
        </p:txBody>
      </p:sp>
      <p:sp>
        <p:nvSpPr>
          <p:cNvPr id="11" name="Line 7"/>
          <p:cNvSpPr>
            <a:spLocks noChangeShapeType="1"/>
          </p:cNvSpPr>
          <p:nvPr userDrawn="1"/>
        </p:nvSpPr>
        <p:spPr bwMode="gray">
          <a:xfrm>
            <a:off x="8691563" y="6500813"/>
            <a:ext cx="0" cy="239712"/>
          </a:xfrm>
          <a:prstGeom prst="line">
            <a:avLst/>
          </a:prstGeom>
          <a:noFill/>
          <a:ln w="9525">
            <a:solidFill>
              <a:srgbClr val="969696"/>
            </a:solidFill>
            <a:round/>
            <a:headEnd/>
            <a:tailEnd/>
          </a:ln>
          <a:effectLst/>
        </p:spPr>
        <p:txBody>
          <a:bodyPr wrap="none" anchor="ctr"/>
          <a:lstStyle/>
          <a:p>
            <a:endParaRPr lang="en-US" dirty="0">
              <a:solidFill>
                <a:prstClr val="black"/>
              </a:solidFill>
            </a:endParaRPr>
          </a:p>
        </p:txBody>
      </p:sp>
      <p:sp>
        <p:nvSpPr>
          <p:cNvPr id="12" name="Text Box 8"/>
          <p:cNvSpPr txBox="1">
            <a:spLocks noChangeArrowheads="1"/>
          </p:cNvSpPr>
          <p:nvPr userDrawn="1"/>
        </p:nvSpPr>
        <p:spPr bwMode="gray">
          <a:xfrm>
            <a:off x="8691564" y="6499225"/>
            <a:ext cx="452437" cy="242888"/>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800">
                <a:solidFill>
                  <a:srgbClr val="969696"/>
                </a:solidFill>
                <a:latin typeface="Arial Narrow" pitchFamily="34" charset="0"/>
              </a:rPr>
              <a:pPr eaLnBrk="0" hangingPunct="0">
                <a:lnSpc>
                  <a:spcPct val="85000"/>
                </a:lnSpc>
              </a:pPr>
              <a:t>‹#›</a:t>
            </a:fld>
            <a:endParaRPr lang="en-US" sz="800" dirty="0">
              <a:solidFill>
                <a:srgbClr val="969696"/>
              </a:solidFill>
              <a:latin typeface="Arial Narrow" pitchFamily="34" charset="0"/>
            </a:endParaRPr>
          </a:p>
        </p:txBody>
      </p:sp>
      <p:sp>
        <p:nvSpPr>
          <p:cNvPr id="13" name="Text Box 9"/>
          <p:cNvSpPr txBox="1">
            <a:spLocks noChangeArrowheads="1"/>
          </p:cNvSpPr>
          <p:nvPr userDrawn="1"/>
        </p:nvSpPr>
        <p:spPr bwMode="gray">
          <a:xfrm>
            <a:off x="4106865" y="6484938"/>
            <a:ext cx="4551363" cy="275460"/>
          </a:xfrm>
          <a:prstGeom prst="rect">
            <a:avLst/>
          </a:prstGeom>
          <a:noFill/>
          <a:ln w="12700" algn="ctr">
            <a:noFill/>
            <a:miter lim="800000"/>
            <a:headEnd/>
            <a:tailEnd type="none" w="lg" len="lg"/>
          </a:ln>
          <a:effectLst/>
        </p:spPr>
        <p:txBody>
          <a:bodyPr>
            <a:spAutoFit/>
          </a:bodyPr>
          <a:lstStyle/>
          <a:p>
            <a:pPr algn="r" eaLnBrk="0" hangingPunct="0">
              <a:lnSpc>
                <a:spcPct val="85000"/>
              </a:lnSpc>
            </a:pPr>
            <a:r>
              <a:rPr lang="en-US" sz="800" dirty="0">
                <a:solidFill>
                  <a:srgbClr val="969696"/>
                </a:solidFill>
                <a:latin typeface="Arial Narrow" pitchFamily="34" charset="0"/>
              </a:rPr>
              <a:t>DOCUMENT TITLE</a:t>
            </a:r>
          </a:p>
          <a:p>
            <a:pPr algn="r" eaLnBrk="0" hangingPunct="0">
              <a:lnSpc>
                <a:spcPct val="85000"/>
              </a:lnSpc>
            </a:pPr>
            <a:r>
              <a:rPr lang="en-US" sz="600" dirty="0" smtClean="0">
                <a:solidFill>
                  <a:srgbClr val="969696"/>
                </a:solidFill>
                <a:latin typeface="Arial Narrow" pitchFamily="34" charset="0"/>
              </a:rPr>
              <a:t>The information contained in this document is proprietary. Copyright © 2011 Capgemini. All rights reserved.</a:t>
            </a:r>
            <a:endParaRPr lang="en-US" sz="600" dirty="0">
              <a:solidFill>
                <a:srgbClr val="969696"/>
              </a:solidFill>
              <a:latin typeface="Arial Narrow" pitchFamily="34" charset="0"/>
            </a:endParaRPr>
          </a:p>
        </p:txBody>
      </p:sp>
      <p:cxnSp>
        <p:nvCxnSpPr>
          <p:cNvPr id="16" name="Straight Connector 15"/>
          <p:cNvCxnSpPr/>
          <p:nvPr userDrawn="1"/>
        </p:nvCxnSpPr>
        <p:spPr>
          <a:xfrm rot="5400000">
            <a:off x="524707" y="3164094"/>
            <a:ext cx="5987940" cy="15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47226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201486"/>
            <a:ext cx="5486400" cy="49244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21544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Placeholder 1"/>
          <p:cNvSpPr>
            <a:spLocks noGrp="1"/>
          </p:cNvSpPr>
          <p:nvPr>
            <p:ph type="title"/>
          </p:nvPr>
        </p:nvSpPr>
        <p:spPr>
          <a:xfrm>
            <a:off x="320040" y="25263"/>
            <a:ext cx="8503920" cy="822960"/>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bodyPr>
          <a:lstStyle/>
          <a:p>
            <a:r>
              <a:rPr lang="en-US" smtClean="0"/>
              <a:t>Click to edit Master title style</a:t>
            </a:r>
            <a:endParaRPr lang="en-US" dirty="0"/>
          </a:p>
        </p:txBody>
      </p:sp>
    </p:spTree>
    <p:extLst>
      <p:ext uri="{BB962C8B-B14F-4D97-AF65-F5344CB8AC3E}">
        <p14:creationId xmlns:p14="http://schemas.microsoft.com/office/powerpoint/2010/main" xmlns="" val="241634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7438972" y="1005844"/>
            <a:ext cx="1384995" cy="518230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28677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5" name="Text Box 5"/>
          <p:cNvSpPr txBox="1">
            <a:spLocks noChangeArrowheads="1"/>
          </p:cNvSpPr>
          <p:nvPr userDrawn="1"/>
        </p:nvSpPr>
        <p:spPr bwMode="gray">
          <a:xfrm rot="5400000">
            <a:off x="-381606" y="2135545"/>
            <a:ext cx="1311578" cy="223138"/>
          </a:xfrm>
          <a:prstGeom prst="rect">
            <a:avLst/>
          </a:prstGeom>
          <a:noFill/>
          <a:ln w="19050">
            <a:noFill/>
            <a:miter lim="800000"/>
            <a:headEnd/>
            <a:tailEnd/>
          </a:ln>
          <a:effectLst/>
        </p:spPr>
        <p:txBody>
          <a:bodyPr wrap="none">
            <a:spAutoFit/>
          </a:bodyPr>
          <a:lstStyle/>
          <a:p>
            <a:pPr eaLnBrk="0" hangingPunct="0">
              <a:lnSpc>
                <a:spcPct val="85000"/>
              </a:lnSpc>
            </a:pPr>
            <a:r>
              <a:rPr lang="en-US" sz="1000" dirty="0">
                <a:solidFill>
                  <a:srgbClr val="969696"/>
                </a:solidFill>
              </a:rPr>
              <a:t>In collaboration with</a:t>
            </a:r>
          </a:p>
        </p:txBody>
      </p:sp>
      <p:sp>
        <p:nvSpPr>
          <p:cNvPr id="16" name="Rectangle 6"/>
          <p:cNvSpPr>
            <a:spLocks noChangeArrowheads="1"/>
          </p:cNvSpPr>
          <p:nvPr userDrawn="1"/>
        </p:nvSpPr>
        <p:spPr bwMode="gray">
          <a:xfrm rot="5400000">
            <a:off x="-236198" y="3261531"/>
            <a:ext cx="1020763" cy="403225"/>
          </a:xfrm>
          <a:prstGeom prst="rect">
            <a:avLst/>
          </a:prstGeom>
          <a:noFill/>
          <a:ln w="19050">
            <a:solidFill>
              <a:srgbClr val="B2B2B2"/>
            </a:solidFill>
            <a:prstDash val="sysDot"/>
            <a:miter lim="800000"/>
            <a:headEnd/>
            <a:tailEnd/>
          </a:ln>
          <a:effectLst/>
        </p:spPr>
        <p:txBody>
          <a:bodyPr wrap="none" anchor="ctr"/>
          <a:lstStyle/>
          <a:p>
            <a:r>
              <a:rPr lang="en-US" sz="1000" dirty="0">
                <a:solidFill>
                  <a:srgbClr val="969696"/>
                </a:solidFill>
              </a:rPr>
              <a:t>Client or</a:t>
            </a:r>
            <a:br>
              <a:rPr lang="en-US" sz="1000" dirty="0">
                <a:solidFill>
                  <a:srgbClr val="969696"/>
                </a:solidFill>
              </a:rPr>
            </a:br>
            <a:r>
              <a:rPr lang="en-US" sz="1000" dirty="0">
                <a:solidFill>
                  <a:srgbClr val="969696"/>
                </a:solidFill>
              </a:rPr>
              <a:t>Partner logo</a:t>
            </a:r>
          </a:p>
        </p:txBody>
      </p:sp>
      <p:sp>
        <p:nvSpPr>
          <p:cNvPr id="17" name="Line 7"/>
          <p:cNvSpPr>
            <a:spLocks noChangeShapeType="1"/>
          </p:cNvSpPr>
          <p:nvPr userDrawn="1"/>
        </p:nvSpPr>
        <p:spPr bwMode="gray">
          <a:xfrm rot="5400000">
            <a:off x="274183" y="6303903"/>
            <a:ext cx="0" cy="239712"/>
          </a:xfrm>
          <a:prstGeom prst="line">
            <a:avLst/>
          </a:prstGeom>
          <a:noFill/>
          <a:ln w="9525">
            <a:solidFill>
              <a:srgbClr val="969696"/>
            </a:solidFill>
            <a:round/>
            <a:headEnd/>
            <a:tailEnd/>
          </a:ln>
          <a:effectLst/>
        </p:spPr>
        <p:txBody>
          <a:bodyPr wrap="none" anchor="ctr"/>
          <a:lstStyle/>
          <a:p>
            <a:endParaRPr lang="en-US" dirty="0">
              <a:solidFill>
                <a:prstClr val="black"/>
              </a:solidFill>
            </a:endParaRPr>
          </a:p>
        </p:txBody>
      </p:sp>
      <p:sp>
        <p:nvSpPr>
          <p:cNvPr id="18" name="Text Box 8"/>
          <p:cNvSpPr txBox="1">
            <a:spLocks noChangeArrowheads="1"/>
          </p:cNvSpPr>
          <p:nvPr userDrawn="1"/>
        </p:nvSpPr>
        <p:spPr bwMode="gray">
          <a:xfrm rot="5400000">
            <a:off x="47970" y="6528534"/>
            <a:ext cx="452437" cy="242888"/>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800">
                <a:solidFill>
                  <a:srgbClr val="969696"/>
                </a:solidFill>
                <a:latin typeface="Arial Narrow" pitchFamily="34" charset="0"/>
              </a:rPr>
              <a:pPr eaLnBrk="0" hangingPunct="0">
                <a:lnSpc>
                  <a:spcPct val="85000"/>
                </a:lnSpc>
              </a:pPr>
              <a:t>‹#›</a:t>
            </a:fld>
            <a:endParaRPr lang="en-US" sz="800" dirty="0">
              <a:solidFill>
                <a:srgbClr val="969696"/>
              </a:solidFill>
              <a:latin typeface="Arial Narrow" pitchFamily="34" charset="0"/>
            </a:endParaRPr>
          </a:p>
        </p:txBody>
      </p:sp>
      <p:sp>
        <p:nvSpPr>
          <p:cNvPr id="19" name="Text Box 9"/>
          <p:cNvSpPr txBox="1">
            <a:spLocks noChangeArrowheads="1"/>
          </p:cNvSpPr>
          <p:nvPr userDrawn="1"/>
        </p:nvSpPr>
        <p:spPr bwMode="gray">
          <a:xfrm rot="5400000">
            <a:off x="-666777" y="5272491"/>
            <a:ext cx="1881922" cy="353943"/>
          </a:xfrm>
          <a:prstGeom prst="rect">
            <a:avLst/>
          </a:prstGeom>
          <a:noFill/>
          <a:ln w="12700" algn="ctr">
            <a:noFill/>
            <a:miter lim="800000"/>
            <a:headEnd/>
            <a:tailEnd type="none" w="lg" len="lg"/>
          </a:ln>
          <a:effectLst/>
        </p:spPr>
        <p:txBody>
          <a:bodyPr wrap="square">
            <a:spAutoFit/>
          </a:bodyPr>
          <a:lstStyle/>
          <a:p>
            <a:pPr algn="r" eaLnBrk="0" hangingPunct="0">
              <a:lnSpc>
                <a:spcPct val="85000"/>
              </a:lnSpc>
            </a:pPr>
            <a:r>
              <a:rPr lang="en-US" sz="800" dirty="0">
                <a:solidFill>
                  <a:srgbClr val="969696"/>
                </a:solidFill>
                <a:latin typeface="Arial Narrow" pitchFamily="34" charset="0"/>
              </a:rPr>
              <a:t>DOCUMENT TITLE</a:t>
            </a:r>
          </a:p>
          <a:p>
            <a:pPr algn="r" eaLnBrk="0" hangingPunct="0">
              <a:lnSpc>
                <a:spcPct val="85000"/>
              </a:lnSpc>
            </a:pPr>
            <a:r>
              <a:rPr lang="en-US" sz="600" dirty="0" smtClean="0">
                <a:solidFill>
                  <a:srgbClr val="969696"/>
                </a:solidFill>
                <a:latin typeface="Arial Narrow" pitchFamily="34" charset="0"/>
              </a:rPr>
              <a:t>The information contained in this document is proprietary. Copyright © 2012 Capgemini. All rights reserved.</a:t>
            </a:r>
            <a:endParaRPr lang="en-US" sz="600" dirty="0">
              <a:solidFill>
                <a:srgbClr val="969696"/>
              </a:solidFill>
              <a:latin typeface="Arial Narrow" pitchFamily="34" charset="0"/>
            </a:endParaRPr>
          </a:p>
        </p:txBody>
      </p:sp>
      <p:sp>
        <p:nvSpPr>
          <p:cNvPr id="2" name="Vertical Title 1"/>
          <p:cNvSpPr>
            <a:spLocks noGrp="1"/>
          </p:cNvSpPr>
          <p:nvPr userDrawn="1">
            <p:ph type="title" orient="vert"/>
          </p:nvPr>
        </p:nvSpPr>
        <p:spPr>
          <a:xfrm>
            <a:off x="8144560" y="274640"/>
            <a:ext cx="925033" cy="6285819"/>
          </a:xfrm>
        </p:spPr>
        <p:txBody>
          <a:bodyPr vert="eaVert"/>
          <a:lstStyle/>
          <a:p>
            <a:r>
              <a:rPr lang="en-US" smtClean="0"/>
              <a:t>Click to edit Master title style</a:t>
            </a:r>
            <a:endParaRPr lang="en-US" dirty="0"/>
          </a:p>
        </p:txBody>
      </p:sp>
      <p:sp>
        <p:nvSpPr>
          <p:cNvPr id="3" name="Vertical Text Placeholder 2"/>
          <p:cNvSpPr>
            <a:spLocks noGrp="1"/>
          </p:cNvSpPr>
          <p:nvPr userDrawn="1">
            <p:ph type="body" orient="vert" idx="1"/>
          </p:nvPr>
        </p:nvSpPr>
        <p:spPr>
          <a:xfrm>
            <a:off x="6586955" y="274640"/>
            <a:ext cx="1384995" cy="628581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grpSp>
        <p:nvGrpSpPr>
          <p:cNvPr id="13" name="Group 12"/>
          <p:cNvGrpSpPr/>
          <p:nvPr userDrawn="1"/>
        </p:nvGrpSpPr>
        <p:grpSpPr>
          <a:xfrm>
            <a:off x="8069941" y="1589"/>
            <a:ext cx="1" cy="6858000"/>
            <a:chOff x="8069935" y="1589"/>
            <a:chExt cx="1" cy="6858000"/>
          </a:xfrm>
        </p:grpSpPr>
        <p:sp>
          <p:nvSpPr>
            <p:cNvPr id="8" name="Line 12"/>
            <p:cNvSpPr>
              <a:spLocks noChangeShapeType="1"/>
            </p:cNvSpPr>
            <p:nvPr userDrawn="1"/>
          </p:nvSpPr>
          <p:spPr bwMode="gray">
            <a:xfrm rot="5400000">
              <a:off x="4640935" y="3430589"/>
              <a:ext cx="6858000" cy="0"/>
            </a:xfrm>
            <a:prstGeom prst="line">
              <a:avLst/>
            </a:prstGeom>
            <a:noFill/>
            <a:ln w="9525">
              <a:solidFill>
                <a:schemeClr val="bg2"/>
              </a:solidFill>
              <a:round/>
              <a:headEnd/>
              <a:tailEnd/>
            </a:ln>
            <a:effectLst/>
          </p:spPr>
          <p:txBody>
            <a:bodyPr wrap="none" anchor="ctr"/>
            <a:lstStyle/>
            <a:p>
              <a:endParaRPr lang="en-US" dirty="0">
                <a:solidFill>
                  <a:prstClr val="black"/>
                </a:solidFill>
              </a:endParaRPr>
            </a:p>
          </p:txBody>
        </p:sp>
        <p:sp>
          <p:nvSpPr>
            <p:cNvPr id="9" name="Line 13"/>
            <p:cNvSpPr>
              <a:spLocks noChangeShapeType="1"/>
            </p:cNvSpPr>
            <p:nvPr userDrawn="1"/>
          </p:nvSpPr>
          <p:spPr bwMode="gray">
            <a:xfrm rot="5400000">
              <a:off x="6861848" y="1482726"/>
              <a:ext cx="2416175" cy="0"/>
            </a:xfrm>
            <a:prstGeom prst="line">
              <a:avLst/>
            </a:prstGeom>
            <a:noFill/>
            <a:ln w="28575">
              <a:solidFill>
                <a:schemeClr val="bg2"/>
              </a:solidFill>
              <a:round/>
              <a:headEnd/>
              <a:tailEnd/>
            </a:ln>
            <a:effectLst/>
          </p:spPr>
          <p:txBody>
            <a:bodyPr wrap="none" anchor="ctr"/>
            <a:lstStyle/>
            <a:p>
              <a:endParaRPr lang="en-US" dirty="0">
                <a:solidFill>
                  <a:prstClr val="black"/>
                </a:solidFill>
              </a:endParaRPr>
            </a:p>
          </p:txBody>
        </p:sp>
      </p:grpSp>
      <p:pic>
        <p:nvPicPr>
          <p:cNvPr id="14" name="Picture 4" descr="capgemini_rgb-[Converted]"/>
          <p:cNvPicPr>
            <a:picLocks noChangeAspect="1" noChangeArrowheads="1"/>
          </p:cNvPicPr>
          <p:nvPr userDrawn="1"/>
        </p:nvPicPr>
        <p:blipFill>
          <a:blip r:embed="rId2" cstate="print"/>
          <a:srcRect/>
          <a:stretch>
            <a:fillRect/>
          </a:stretch>
        </p:blipFill>
        <p:spPr bwMode="gray">
          <a:xfrm rot="5400000">
            <a:off x="-370341" y="768355"/>
            <a:ext cx="1289050" cy="301625"/>
          </a:xfrm>
          <a:prstGeom prst="rect">
            <a:avLst/>
          </a:prstGeom>
          <a:noFill/>
          <a:ln w="9525">
            <a:noFill/>
            <a:miter lim="800000"/>
            <a:headEnd/>
            <a:tailEnd/>
          </a:ln>
        </p:spPr>
      </p:pic>
    </p:spTree>
    <p:extLst>
      <p:ext uri="{BB962C8B-B14F-4D97-AF65-F5344CB8AC3E}">
        <p14:creationId xmlns:p14="http://schemas.microsoft.com/office/powerpoint/2010/main" xmlns="" val="3346163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nvGraphicFramePr>
        <p:xfrm>
          <a:off x="4" y="5"/>
          <a:ext cx="135749" cy="143985"/>
        </p:xfrm>
        <a:graphic>
          <a:graphicData uri="http://schemas.openxmlformats.org/presentationml/2006/ole">
            <p:oleObj spid="_x0000_s3079" name="think-cell Slide" r:id="rId7" imgW="360" imgH="360" progId="">
              <p:embed/>
            </p:oleObj>
          </a:graphicData>
        </a:graphic>
      </p:graphicFrame>
      <p:grpSp>
        <p:nvGrpSpPr>
          <p:cNvPr id="2" name="Group 351"/>
          <p:cNvGrpSpPr/>
          <p:nvPr userDrawn="1">
            <p:custDataLst>
              <p:tags r:id="rId2"/>
            </p:custDataLst>
          </p:nvPr>
        </p:nvGrpSpPr>
        <p:grpSpPr>
          <a:xfrm>
            <a:off x="5337167" y="3258545"/>
            <a:ext cx="3416820" cy="2118522"/>
            <a:chOff x="5511798" y="3584333"/>
            <a:chExt cx="4818106" cy="2816468"/>
          </a:xfrm>
        </p:grpSpPr>
        <p:grpSp>
          <p:nvGrpSpPr>
            <p:cNvPr id="3" name="Group 54"/>
            <p:cNvGrpSpPr/>
            <p:nvPr userDrawn="1">
              <p:custDataLst>
                <p:tags r:id="rId4"/>
              </p:custDataLst>
            </p:nvPr>
          </p:nvGrpSpPr>
          <p:grpSpPr>
            <a:xfrm>
              <a:off x="5511798" y="3584333"/>
              <a:ext cx="4818106" cy="2816468"/>
              <a:chOff x="-6346822" y="2366960"/>
              <a:chExt cx="5613397" cy="3281360"/>
            </a:xfrm>
          </p:grpSpPr>
          <p:grpSp>
            <p:nvGrpSpPr>
              <p:cNvPr id="4" name="Group 205"/>
              <p:cNvGrpSpPr>
                <a:grpSpLocks/>
              </p:cNvGrpSpPr>
              <p:nvPr/>
            </p:nvGrpSpPr>
            <p:grpSpPr bwMode="auto">
              <a:xfrm>
                <a:off x="-6170610" y="2416173"/>
                <a:ext cx="5135561" cy="3197223"/>
                <a:chOff x="-3887" y="1522"/>
                <a:chExt cx="3235" cy="2014"/>
              </a:xfrm>
            </p:grpSpPr>
            <p:sp>
              <p:nvSpPr>
                <p:cNvPr id="135" name="Freeform 5"/>
                <p:cNvSpPr>
                  <a:spLocks noEditPoints="1"/>
                </p:cNvSpPr>
                <p:nvPr/>
              </p:nvSpPr>
              <p:spPr bwMode="auto">
                <a:xfrm>
                  <a:off x="-2017" y="3069"/>
                  <a:ext cx="137" cy="3"/>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6" name="Freeform 6"/>
                <p:cNvSpPr>
                  <a:spLocks/>
                </p:cNvSpPr>
                <p:nvPr/>
              </p:nvSpPr>
              <p:spPr bwMode="auto">
                <a:xfrm>
                  <a:off x="-2718" y="2861"/>
                  <a:ext cx="12" cy="2"/>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7" name="Freeform 7"/>
                <p:cNvSpPr>
                  <a:spLocks/>
                </p:cNvSpPr>
                <p:nvPr/>
              </p:nvSpPr>
              <p:spPr bwMode="auto">
                <a:xfrm>
                  <a:off x="-1028" y="2861"/>
                  <a:ext cx="1" cy="2"/>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8" name="Freeform 8"/>
                <p:cNvSpPr>
                  <a:spLocks noEditPoints="1"/>
                </p:cNvSpPr>
                <p:nvPr/>
              </p:nvSpPr>
              <p:spPr bwMode="auto">
                <a:xfrm>
                  <a:off x="-2197" y="2223"/>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9" name="Freeform 9"/>
                <p:cNvSpPr>
                  <a:spLocks noEditPoints="1"/>
                </p:cNvSpPr>
                <p:nvPr/>
              </p:nvSpPr>
              <p:spPr bwMode="auto">
                <a:xfrm>
                  <a:off x="-3755" y="2223"/>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0" name="Freeform 10"/>
                <p:cNvSpPr>
                  <a:spLocks noEditPoints="1"/>
                </p:cNvSpPr>
                <p:nvPr/>
              </p:nvSpPr>
              <p:spPr bwMode="auto">
                <a:xfrm>
                  <a:off x="-2264" y="1681"/>
                  <a:ext cx="1070" cy="2"/>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1" name="Freeform 11"/>
                <p:cNvSpPr>
                  <a:spLocks noEditPoints="1"/>
                </p:cNvSpPr>
                <p:nvPr/>
              </p:nvSpPr>
              <p:spPr bwMode="auto">
                <a:xfrm>
                  <a:off x="-3518" y="1681"/>
                  <a:ext cx="530" cy="2"/>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2" name="Freeform 12"/>
                <p:cNvSpPr>
                  <a:spLocks/>
                </p:cNvSpPr>
                <p:nvPr/>
              </p:nvSpPr>
              <p:spPr bwMode="auto">
                <a:xfrm>
                  <a:off x="-1232" y="1986"/>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3" name="Freeform 13"/>
                <p:cNvSpPr>
                  <a:spLocks/>
                </p:cNvSpPr>
                <p:nvPr/>
              </p:nvSpPr>
              <p:spPr bwMode="auto">
                <a:xfrm>
                  <a:off x="-1116" y="2223"/>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4" name="Freeform 14"/>
                <p:cNvSpPr>
                  <a:spLocks noEditPoints="1"/>
                </p:cNvSpPr>
                <p:nvPr/>
              </p:nvSpPr>
              <p:spPr bwMode="auto">
                <a:xfrm>
                  <a:off x="-1104" y="2259"/>
                  <a:ext cx="171" cy="1017"/>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5" name="Freeform 15"/>
                <p:cNvSpPr>
                  <a:spLocks/>
                </p:cNvSpPr>
                <p:nvPr/>
              </p:nvSpPr>
              <p:spPr bwMode="auto">
                <a:xfrm>
                  <a:off x="-981" y="3069"/>
                  <a:ext cx="7" cy="3"/>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6" name="Freeform 16"/>
                <p:cNvSpPr>
                  <a:spLocks/>
                </p:cNvSpPr>
                <p:nvPr/>
              </p:nvSpPr>
              <p:spPr bwMode="auto">
                <a:xfrm>
                  <a:off x="-1028" y="2861"/>
                  <a:ext cx="5"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7" name="Freeform 17"/>
                <p:cNvSpPr>
                  <a:spLocks noEditPoints="1"/>
                </p:cNvSpPr>
                <p:nvPr/>
              </p:nvSpPr>
              <p:spPr bwMode="auto">
                <a:xfrm>
                  <a:off x="-1750" y="1524"/>
                  <a:ext cx="843" cy="1830"/>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8"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9" name="Freeform 19"/>
                <p:cNvSpPr>
                  <a:spLocks/>
                </p:cNvSpPr>
                <p:nvPr/>
              </p:nvSpPr>
              <p:spPr bwMode="auto">
                <a:xfrm>
                  <a:off x="-1499" y="1681"/>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0" name="Freeform 20"/>
                <p:cNvSpPr>
                  <a:spLocks noEditPoints="1"/>
                </p:cNvSpPr>
                <p:nvPr/>
              </p:nvSpPr>
              <p:spPr bwMode="auto">
                <a:xfrm>
                  <a:off x="-2619" y="2809"/>
                  <a:ext cx="178" cy="2"/>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1" name="Freeform 21"/>
                <p:cNvSpPr>
                  <a:spLocks noEditPoints="1"/>
                </p:cNvSpPr>
                <p:nvPr/>
              </p:nvSpPr>
              <p:spPr bwMode="auto">
                <a:xfrm>
                  <a:off x="-2619" y="2809"/>
                  <a:ext cx="178" cy="2"/>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2" name="Freeform 22"/>
                <p:cNvSpPr>
                  <a:spLocks/>
                </p:cNvSpPr>
                <p:nvPr/>
              </p:nvSpPr>
              <p:spPr bwMode="auto">
                <a:xfrm>
                  <a:off x="-1033" y="2809"/>
                  <a:ext cx="5" cy="2"/>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3" name="Freeform 23"/>
                <p:cNvSpPr>
                  <a:spLocks/>
                </p:cNvSpPr>
                <p:nvPr/>
              </p:nvSpPr>
              <p:spPr bwMode="auto">
                <a:xfrm>
                  <a:off x="-938"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4" name="Freeform 24"/>
                <p:cNvSpPr>
                  <a:spLocks noEditPoints="1"/>
                </p:cNvSpPr>
                <p:nvPr/>
              </p:nvSpPr>
              <p:spPr bwMode="auto">
                <a:xfrm>
                  <a:off x="-3887" y="3351"/>
                  <a:ext cx="395" cy="1"/>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5" name="Freeform 25"/>
                <p:cNvSpPr>
                  <a:spLocks noEditPoints="1"/>
                </p:cNvSpPr>
                <p:nvPr/>
              </p:nvSpPr>
              <p:spPr bwMode="auto">
                <a:xfrm>
                  <a:off x="-2903" y="3354"/>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6" name="Freeform 26"/>
                <p:cNvSpPr>
                  <a:spLocks noEditPoints="1"/>
                </p:cNvSpPr>
                <p:nvPr/>
              </p:nvSpPr>
              <p:spPr bwMode="auto">
                <a:xfrm>
                  <a:off x="-2020" y="3354"/>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7" name="Freeform 27"/>
                <p:cNvSpPr>
                  <a:spLocks/>
                </p:cNvSpPr>
                <p:nvPr/>
              </p:nvSpPr>
              <p:spPr bwMode="auto">
                <a:xfrm>
                  <a:off x="-912" y="3354"/>
                  <a:ext cx="2"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8" name="Freeform 28"/>
                <p:cNvSpPr>
                  <a:spLocks/>
                </p:cNvSpPr>
                <p:nvPr/>
              </p:nvSpPr>
              <p:spPr bwMode="auto">
                <a:xfrm>
                  <a:off x="-808" y="3356"/>
                  <a:ext cx="2" cy="1"/>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9" name="Freeform 29"/>
                <p:cNvSpPr>
                  <a:spLocks/>
                </p:cNvSpPr>
                <p:nvPr/>
              </p:nvSpPr>
              <p:spPr bwMode="auto">
                <a:xfrm>
                  <a:off x="-1049"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0" name="Freeform 30"/>
                <p:cNvSpPr>
                  <a:spLocks/>
                </p:cNvSpPr>
                <p:nvPr/>
              </p:nvSpPr>
              <p:spPr bwMode="auto">
                <a:xfrm>
                  <a:off x="-110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1" name="Freeform 31"/>
                <p:cNvSpPr>
                  <a:spLocks/>
                </p:cNvSpPr>
                <p:nvPr/>
              </p:nvSpPr>
              <p:spPr bwMode="auto">
                <a:xfrm>
                  <a:off x="-2382" y="1986"/>
                  <a:ext cx="92"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2" name="Freeform 32"/>
                <p:cNvSpPr>
                  <a:spLocks/>
                </p:cNvSpPr>
                <p:nvPr/>
              </p:nvSpPr>
              <p:spPr bwMode="auto">
                <a:xfrm>
                  <a:off x="-2370" y="2223"/>
                  <a:ext cx="2"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3" name="Freeform 33"/>
                <p:cNvSpPr>
                  <a:spLocks noEditPoints="1"/>
                </p:cNvSpPr>
                <p:nvPr/>
              </p:nvSpPr>
              <p:spPr bwMode="auto">
                <a:xfrm>
                  <a:off x="-2417" y="1522"/>
                  <a:ext cx="416"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4" name="Freeform 34"/>
                <p:cNvSpPr>
                  <a:spLocks/>
                </p:cNvSpPr>
                <p:nvPr/>
              </p:nvSpPr>
              <p:spPr bwMode="auto">
                <a:xfrm>
                  <a:off x="-2211" y="1754"/>
                  <a:ext cx="7"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5" name="Freeform 35"/>
                <p:cNvSpPr>
                  <a:spLocks/>
                </p:cNvSpPr>
                <p:nvPr/>
              </p:nvSpPr>
              <p:spPr bwMode="auto">
                <a:xfrm>
                  <a:off x="-2417"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6"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7" name="Freeform 37"/>
                <p:cNvSpPr>
                  <a:spLocks noEditPoints="1"/>
                </p:cNvSpPr>
                <p:nvPr/>
              </p:nvSpPr>
              <p:spPr bwMode="auto">
                <a:xfrm>
                  <a:off x="-2202" y="1986"/>
                  <a:ext cx="54"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8" name="Freeform 38"/>
                <p:cNvSpPr>
                  <a:spLocks/>
                </p:cNvSpPr>
                <p:nvPr/>
              </p:nvSpPr>
              <p:spPr bwMode="auto">
                <a:xfrm>
                  <a:off x="-2197" y="2223"/>
                  <a:ext cx="4"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9" name="Freeform 39"/>
                <p:cNvSpPr>
                  <a:spLocks noEditPoints="1"/>
                </p:cNvSpPr>
                <p:nvPr/>
              </p:nvSpPr>
              <p:spPr bwMode="auto">
                <a:xfrm>
                  <a:off x="-2223" y="2259"/>
                  <a:ext cx="85" cy="1017"/>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0" name="Freeform 40"/>
                <p:cNvSpPr>
                  <a:spLocks/>
                </p:cNvSpPr>
                <p:nvPr/>
              </p:nvSpPr>
              <p:spPr bwMode="auto">
                <a:xfrm>
                  <a:off x="-2171" y="3069"/>
                  <a:ext cx="5" cy="3"/>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1" name="Freeform 41"/>
                <p:cNvSpPr>
                  <a:spLocks/>
                </p:cNvSpPr>
                <p:nvPr/>
              </p:nvSpPr>
              <p:spPr bwMode="auto">
                <a:xfrm>
                  <a:off x="-2207"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2" name="Freeform 42"/>
                <p:cNvSpPr>
                  <a:spLocks noEditPoints="1"/>
                </p:cNvSpPr>
                <p:nvPr/>
              </p:nvSpPr>
              <p:spPr bwMode="auto">
                <a:xfrm>
                  <a:off x="-2152" y="1522"/>
                  <a:ext cx="182" cy="1832"/>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3"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4" name="Freeform 44"/>
                <p:cNvSpPr>
                  <a:spLocks/>
                </p:cNvSpPr>
                <p:nvPr/>
              </p:nvSpPr>
              <p:spPr bwMode="auto">
                <a:xfrm>
                  <a:off x="-2211"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5" name="Freeform 45"/>
                <p:cNvSpPr>
                  <a:spLocks/>
                </p:cNvSpPr>
                <p:nvPr/>
              </p:nvSpPr>
              <p:spPr bwMode="auto">
                <a:xfrm>
                  <a:off x="-214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6" name="Freeform 46"/>
                <p:cNvSpPr>
                  <a:spLocks/>
                </p:cNvSpPr>
                <p:nvPr/>
              </p:nvSpPr>
              <p:spPr bwMode="auto">
                <a:xfrm>
                  <a:off x="-2129" y="3356"/>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7" name="Freeform 47"/>
                <p:cNvSpPr>
                  <a:spLocks/>
                </p:cNvSpPr>
                <p:nvPr/>
              </p:nvSpPr>
              <p:spPr bwMode="auto">
                <a:xfrm>
                  <a:off x="-2129" y="33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8"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9" name="Freeform 49"/>
                <p:cNvSpPr>
                  <a:spLocks/>
                </p:cNvSpPr>
                <p:nvPr/>
              </p:nvSpPr>
              <p:spPr bwMode="auto">
                <a:xfrm>
                  <a:off x="-220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0" name="Freeform 50"/>
                <p:cNvSpPr>
                  <a:spLocks/>
                </p:cNvSpPr>
                <p:nvPr/>
              </p:nvSpPr>
              <p:spPr bwMode="auto">
                <a:xfrm>
                  <a:off x="-2020" y="1986"/>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1" name="Freeform 51"/>
                <p:cNvSpPr>
                  <a:spLocks/>
                </p:cNvSpPr>
                <p:nvPr/>
              </p:nvSpPr>
              <p:spPr bwMode="auto">
                <a:xfrm>
                  <a:off x="-2017"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2" name="Freeform 52"/>
                <p:cNvSpPr>
                  <a:spLocks noEditPoints="1"/>
                </p:cNvSpPr>
                <p:nvPr/>
              </p:nvSpPr>
              <p:spPr bwMode="auto">
                <a:xfrm>
                  <a:off x="-2029" y="2259"/>
                  <a:ext cx="14" cy="1017"/>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3" name="Freeform 53"/>
                <p:cNvSpPr>
                  <a:spLocks/>
                </p:cNvSpPr>
                <p:nvPr/>
              </p:nvSpPr>
              <p:spPr bwMode="auto">
                <a:xfrm>
                  <a:off x="-2022" y="3069"/>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4" name="Freeform 54"/>
                <p:cNvSpPr>
                  <a:spLocks/>
                </p:cNvSpPr>
                <p:nvPr/>
              </p:nvSpPr>
              <p:spPr bwMode="auto">
                <a:xfrm>
                  <a:off x="-2027" y="2861"/>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5" name="Freeform 55"/>
                <p:cNvSpPr>
                  <a:spLocks noEditPoints="1"/>
                </p:cNvSpPr>
                <p:nvPr/>
              </p:nvSpPr>
              <p:spPr bwMode="auto">
                <a:xfrm>
                  <a:off x="-2024" y="1522"/>
                  <a:ext cx="92" cy="1832"/>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6" name="Freeform 56"/>
                <p:cNvSpPr>
                  <a:spLocks/>
                </p:cNvSpPr>
                <p:nvPr/>
              </p:nvSpPr>
              <p:spPr bwMode="auto">
                <a:xfrm>
                  <a:off x="-1984"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7" name="Freeform 57"/>
                <p:cNvSpPr>
                  <a:spLocks/>
                </p:cNvSpPr>
                <p:nvPr/>
              </p:nvSpPr>
              <p:spPr bwMode="auto">
                <a:xfrm>
                  <a:off x="-2027"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8" name="Freeform 58"/>
                <p:cNvSpPr>
                  <a:spLocks/>
                </p:cNvSpPr>
                <p:nvPr/>
              </p:nvSpPr>
              <p:spPr bwMode="auto">
                <a:xfrm>
                  <a:off x="-2024"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9" name="Freeform 59"/>
                <p:cNvSpPr>
                  <a:spLocks/>
                </p:cNvSpPr>
                <p:nvPr/>
              </p:nvSpPr>
              <p:spPr bwMode="auto">
                <a:xfrm>
                  <a:off x="-2027" y="3356"/>
                  <a:ext cx="7" cy="36"/>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0" name="Freeform 60"/>
                <p:cNvSpPr>
                  <a:spLocks/>
                </p:cNvSpPr>
                <p:nvPr/>
              </p:nvSpPr>
              <p:spPr bwMode="auto">
                <a:xfrm>
                  <a:off x="-2024"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1"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2" name="Freeform 62"/>
                <p:cNvSpPr>
                  <a:spLocks/>
                </p:cNvSpPr>
                <p:nvPr/>
              </p:nvSpPr>
              <p:spPr bwMode="auto">
                <a:xfrm>
                  <a:off x="-2020"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3" name="Freeform 63"/>
                <p:cNvSpPr>
                  <a:spLocks/>
                </p:cNvSpPr>
                <p:nvPr/>
              </p:nvSpPr>
              <p:spPr bwMode="auto">
                <a:xfrm>
                  <a:off x="-1840" y="1986"/>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4" name="Freeform 64"/>
                <p:cNvSpPr>
                  <a:spLocks/>
                </p:cNvSpPr>
                <p:nvPr/>
              </p:nvSpPr>
              <p:spPr bwMode="auto">
                <a:xfrm>
                  <a:off x="-1830" y="2223"/>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5" name="Freeform 65"/>
                <p:cNvSpPr>
                  <a:spLocks noEditPoints="1"/>
                </p:cNvSpPr>
                <p:nvPr/>
              </p:nvSpPr>
              <p:spPr bwMode="auto">
                <a:xfrm>
                  <a:off x="-1911" y="2259"/>
                  <a:ext cx="83" cy="1017"/>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6" name="Freeform 66"/>
                <p:cNvSpPr>
                  <a:spLocks/>
                </p:cNvSpPr>
                <p:nvPr/>
              </p:nvSpPr>
              <p:spPr bwMode="auto">
                <a:xfrm>
                  <a:off x="-1880"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7" name="Freeform 67"/>
                <p:cNvSpPr>
                  <a:spLocks noEditPoints="1"/>
                </p:cNvSpPr>
                <p:nvPr/>
              </p:nvSpPr>
              <p:spPr bwMode="auto">
                <a:xfrm>
                  <a:off x="-1935" y="1522"/>
                  <a:ext cx="100" cy="1832"/>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8"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9" name="Freeform 69"/>
                <p:cNvSpPr>
                  <a:spLocks/>
                </p:cNvSpPr>
                <p:nvPr/>
              </p:nvSpPr>
              <p:spPr bwMode="auto">
                <a:xfrm>
                  <a:off x="-1868"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0" name="Freeform 70"/>
                <p:cNvSpPr>
                  <a:spLocks/>
                </p:cNvSpPr>
                <p:nvPr/>
              </p:nvSpPr>
              <p:spPr bwMode="auto">
                <a:xfrm>
                  <a:off x="-1842"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1" name="Freeform 71"/>
                <p:cNvSpPr>
                  <a:spLocks/>
                </p:cNvSpPr>
                <p:nvPr/>
              </p:nvSpPr>
              <p:spPr bwMode="auto">
                <a:xfrm>
                  <a:off x="-1911"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2" name="Freeform 72"/>
                <p:cNvSpPr>
                  <a:spLocks/>
                </p:cNvSpPr>
                <p:nvPr/>
              </p:nvSpPr>
              <p:spPr bwMode="auto">
                <a:xfrm>
                  <a:off x="-1946" y="3354"/>
                  <a:ext cx="16" cy="38"/>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3" name="Freeform 73"/>
                <p:cNvSpPr>
                  <a:spLocks/>
                </p:cNvSpPr>
                <p:nvPr/>
              </p:nvSpPr>
              <p:spPr bwMode="auto">
                <a:xfrm>
                  <a:off x="-1935" y="3354"/>
                  <a:ext cx="8"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4"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5"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6" name="Freeform 76"/>
                <p:cNvSpPr>
                  <a:spLocks noEditPoints="1"/>
                </p:cNvSpPr>
                <p:nvPr/>
              </p:nvSpPr>
              <p:spPr bwMode="auto">
                <a:xfrm>
                  <a:off x="-1665" y="1683"/>
                  <a:ext cx="237"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7" name="Freeform 77"/>
                <p:cNvSpPr>
                  <a:spLocks/>
                </p:cNvSpPr>
                <p:nvPr/>
              </p:nvSpPr>
              <p:spPr bwMode="auto">
                <a:xfrm>
                  <a:off x="-1615" y="1754"/>
                  <a:ext cx="5"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8" name="Freeform 78"/>
                <p:cNvSpPr>
                  <a:spLocks/>
                </p:cNvSpPr>
                <p:nvPr/>
              </p:nvSpPr>
              <p:spPr bwMode="auto">
                <a:xfrm>
                  <a:off x="-1667" y="1681"/>
                  <a:ext cx="5" cy="2"/>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9" name="Freeform 79"/>
                <p:cNvSpPr>
                  <a:spLocks/>
                </p:cNvSpPr>
                <p:nvPr/>
              </p:nvSpPr>
              <p:spPr bwMode="auto">
                <a:xfrm>
                  <a:off x="-1430" y="2498"/>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0" name="Freeform 80"/>
                <p:cNvSpPr>
                  <a:spLocks/>
                </p:cNvSpPr>
                <p:nvPr/>
              </p:nvSpPr>
              <p:spPr bwMode="auto">
                <a:xfrm>
                  <a:off x="-1459"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1" name="Freeform 81"/>
                <p:cNvSpPr>
                  <a:spLocks/>
                </p:cNvSpPr>
                <p:nvPr/>
              </p:nvSpPr>
              <p:spPr bwMode="auto">
                <a:xfrm>
                  <a:off x="-1376" y="1986"/>
                  <a:ext cx="99"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2" name="Freeform 82"/>
                <p:cNvSpPr>
                  <a:spLocks/>
                </p:cNvSpPr>
                <p:nvPr/>
              </p:nvSpPr>
              <p:spPr bwMode="auto">
                <a:xfrm>
                  <a:off x="-1288"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3" name="Freeform 83"/>
                <p:cNvSpPr>
                  <a:spLocks noEditPoints="1"/>
                </p:cNvSpPr>
                <p:nvPr/>
              </p:nvSpPr>
              <p:spPr bwMode="auto">
                <a:xfrm>
                  <a:off x="-1281" y="2259"/>
                  <a:ext cx="232" cy="1017"/>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4" name="Freeform 84"/>
                <p:cNvSpPr>
                  <a:spLocks/>
                </p:cNvSpPr>
                <p:nvPr/>
              </p:nvSpPr>
              <p:spPr bwMode="auto">
                <a:xfrm>
                  <a:off x="-1120" y="3069"/>
                  <a:ext cx="4"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5" name="Freeform 85"/>
                <p:cNvSpPr>
                  <a:spLocks/>
                </p:cNvSpPr>
                <p:nvPr/>
              </p:nvSpPr>
              <p:spPr bwMode="auto">
                <a:xfrm>
                  <a:off x="-1196" y="2861"/>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6" name="Freeform 86"/>
                <p:cNvSpPr>
                  <a:spLocks noEditPoints="1"/>
                </p:cNvSpPr>
                <p:nvPr/>
              </p:nvSpPr>
              <p:spPr bwMode="auto">
                <a:xfrm>
                  <a:off x="-1774" y="1524"/>
                  <a:ext cx="765" cy="1830"/>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7"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8" name="Rectangle 88"/>
                <p:cNvSpPr>
                  <a:spLocks noChangeArrowheads="1"/>
                </p:cNvSpPr>
                <p:nvPr/>
              </p:nvSpPr>
              <p:spPr bwMode="auto">
                <a:xfrm>
                  <a:off x="-1575" y="1683"/>
                  <a:ext cx="1" cy="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9" name="Freeform 89"/>
                <p:cNvSpPr>
                  <a:spLocks/>
                </p:cNvSpPr>
                <p:nvPr/>
              </p:nvSpPr>
              <p:spPr bwMode="auto">
                <a:xfrm>
                  <a:off x="-1575" y="1683"/>
                  <a:ext cx="1" cy="1"/>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0" name="Freeform 90"/>
                <p:cNvSpPr>
                  <a:spLocks/>
                </p:cNvSpPr>
                <p:nvPr/>
              </p:nvSpPr>
              <p:spPr bwMode="auto">
                <a:xfrm>
                  <a:off x="-1210"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1" name="Freeform 91"/>
                <p:cNvSpPr>
                  <a:spLocks/>
                </p:cNvSpPr>
                <p:nvPr/>
              </p:nvSpPr>
              <p:spPr bwMode="auto">
                <a:xfrm>
                  <a:off x="-1056" y="3276"/>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2" name="Freeform 92"/>
                <p:cNvSpPr>
                  <a:spLocks/>
                </p:cNvSpPr>
                <p:nvPr/>
              </p:nvSpPr>
              <p:spPr bwMode="auto">
                <a:xfrm>
                  <a:off x="-1014" y="3356"/>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3" name="Freeform 93"/>
                <p:cNvSpPr>
                  <a:spLocks/>
                </p:cNvSpPr>
                <p:nvPr/>
              </p:nvSpPr>
              <p:spPr bwMode="auto">
                <a:xfrm>
                  <a:off x="-1014" y="3354"/>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4"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5" name="Freeform 95"/>
                <p:cNvSpPr>
                  <a:spLocks/>
                </p:cNvSpPr>
                <p:nvPr/>
              </p:nvSpPr>
              <p:spPr bwMode="auto">
                <a:xfrm>
                  <a:off x="-1281"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6" name="Freeform 96"/>
                <p:cNvSpPr>
                  <a:spLocks noEditPoints="1"/>
                </p:cNvSpPr>
                <p:nvPr/>
              </p:nvSpPr>
              <p:spPr bwMode="auto">
                <a:xfrm>
                  <a:off x="-1636" y="1524"/>
                  <a:ext cx="819" cy="458"/>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7" name="Freeform 97"/>
                <p:cNvSpPr>
                  <a:spLocks/>
                </p:cNvSpPr>
                <p:nvPr/>
              </p:nvSpPr>
              <p:spPr bwMode="auto">
                <a:xfrm>
                  <a:off x="-1071" y="1754"/>
                  <a:ext cx="10"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8" name="Freeform 98"/>
                <p:cNvSpPr>
                  <a:spLocks/>
                </p:cNvSpPr>
                <p:nvPr/>
              </p:nvSpPr>
              <p:spPr bwMode="auto">
                <a:xfrm>
                  <a:off x="-1206" y="1681"/>
                  <a:ext cx="10" cy="2"/>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9" name="Freeform 99"/>
                <p:cNvSpPr>
                  <a:spLocks/>
                </p:cNvSpPr>
                <p:nvPr/>
              </p:nvSpPr>
              <p:spPr bwMode="auto">
                <a:xfrm>
                  <a:off x="-955" y="1986"/>
                  <a:ext cx="216"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0" name="Freeform 100"/>
                <p:cNvSpPr>
                  <a:spLocks/>
                </p:cNvSpPr>
                <p:nvPr/>
              </p:nvSpPr>
              <p:spPr bwMode="auto">
                <a:xfrm>
                  <a:off x="-761" y="2223"/>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1" name="Freeform 101"/>
                <p:cNvSpPr>
                  <a:spLocks noEditPoints="1"/>
                </p:cNvSpPr>
                <p:nvPr/>
              </p:nvSpPr>
              <p:spPr bwMode="auto">
                <a:xfrm>
                  <a:off x="-742" y="2259"/>
                  <a:ext cx="90" cy="1017"/>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2" name="Freeform 102"/>
                <p:cNvSpPr>
                  <a:spLocks/>
                </p:cNvSpPr>
                <p:nvPr/>
              </p:nvSpPr>
              <p:spPr bwMode="auto">
                <a:xfrm>
                  <a:off x="-68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3" name="Freeform 103"/>
                <p:cNvSpPr>
                  <a:spLocks/>
                </p:cNvSpPr>
                <p:nvPr/>
              </p:nvSpPr>
              <p:spPr bwMode="auto">
                <a:xfrm>
                  <a:off x="-659"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4" name="Freeform 104"/>
                <p:cNvSpPr>
                  <a:spLocks noEditPoints="1"/>
                </p:cNvSpPr>
                <p:nvPr/>
              </p:nvSpPr>
              <p:spPr bwMode="auto">
                <a:xfrm>
                  <a:off x="-1681" y="1524"/>
                  <a:ext cx="989" cy="1875"/>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5"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6" name="Freeform 106"/>
                <p:cNvSpPr>
                  <a:spLocks/>
                </p:cNvSpPr>
                <p:nvPr/>
              </p:nvSpPr>
              <p:spPr bwMode="auto">
                <a:xfrm>
                  <a:off x="-1298" y="1681"/>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7" name="Freeform 107"/>
                <p:cNvSpPr>
                  <a:spLocks/>
                </p:cNvSpPr>
                <p:nvPr/>
              </p:nvSpPr>
              <p:spPr bwMode="auto">
                <a:xfrm>
                  <a:off x="-656"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8" name="Freeform 108"/>
                <p:cNvSpPr>
                  <a:spLocks/>
                </p:cNvSpPr>
                <p:nvPr/>
              </p:nvSpPr>
              <p:spPr bwMode="auto">
                <a:xfrm>
                  <a:off x="-697"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9" name="Freeform 109"/>
                <p:cNvSpPr>
                  <a:spLocks/>
                </p:cNvSpPr>
                <p:nvPr/>
              </p:nvSpPr>
              <p:spPr bwMode="auto">
                <a:xfrm>
                  <a:off x="-711" y="3354"/>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0"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1" name="Freeform 111"/>
                <p:cNvSpPr>
                  <a:spLocks/>
                </p:cNvSpPr>
                <p:nvPr/>
              </p:nvSpPr>
              <p:spPr bwMode="auto">
                <a:xfrm>
                  <a:off x="-744" y="2256"/>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2" name="Freeform 112"/>
                <p:cNvSpPr>
                  <a:spLocks noEditPoints="1"/>
                </p:cNvSpPr>
                <p:nvPr/>
              </p:nvSpPr>
              <p:spPr bwMode="auto">
                <a:xfrm>
                  <a:off x="-1099" y="1986"/>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3" name="Freeform 113"/>
                <p:cNvSpPr>
                  <a:spLocks/>
                </p:cNvSpPr>
                <p:nvPr/>
              </p:nvSpPr>
              <p:spPr bwMode="auto">
                <a:xfrm>
                  <a:off x="-943" y="2223"/>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4" name="Freeform 114"/>
                <p:cNvSpPr>
                  <a:spLocks noEditPoints="1"/>
                </p:cNvSpPr>
                <p:nvPr/>
              </p:nvSpPr>
              <p:spPr bwMode="auto">
                <a:xfrm>
                  <a:off x="-924" y="2259"/>
                  <a:ext cx="109" cy="1017"/>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5" name="Freeform 115"/>
                <p:cNvSpPr>
                  <a:spLocks/>
                </p:cNvSpPr>
                <p:nvPr/>
              </p:nvSpPr>
              <p:spPr bwMode="auto">
                <a:xfrm>
                  <a:off x="-836"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6" name="Freeform 116"/>
                <p:cNvSpPr>
                  <a:spLocks noEditPoints="1"/>
                </p:cNvSpPr>
                <p:nvPr/>
              </p:nvSpPr>
              <p:spPr bwMode="auto">
                <a:xfrm>
                  <a:off x="-1712" y="1524"/>
                  <a:ext cx="906" cy="1832"/>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7" name="Freeform 117"/>
                <p:cNvSpPr>
                  <a:spLocks/>
                </p:cNvSpPr>
                <p:nvPr/>
              </p:nvSpPr>
              <p:spPr bwMode="auto">
                <a:xfrm>
                  <a:off x="-1298" y="1754"/>
                  <a:ext cx="10"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8" name="Freeform 118"/>
                <p:cNvSpPr>
                  <a:spLocks/>
                </p:cNvSpPr>
                <p:nvPr/>
              </p:nvSpPr>
              <p:spPr bwMode="auto">
                <a:xfrm>
                  <a:off x="-843"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9"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0" name="Freeform 120"/>
                <p:cNvSpPr>
                  <a:spLocks/>
                </p:cNvSpPr>
                <p:nvPr/>
              </p:nvSpPr>
              <p:spPr bwMode="auto">
                <a:xfrm>
                  <a:off x="-810" y="3356"/>
                  <a:ext cx="2" cy="1"/>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1" name="Freeform 121"/>
                <p:cNvSpPr>
                  <a:spLocks/>
                </p:cNvSpPr>
                <p:nvPr/>
              </p:nvSpPr>
              <p:spPr bwMode="auto">
                <a:xfrm>
                  <a:off x="-810" y="3354"/>
                  <a:ext cx="4"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2"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3" name="Freeform 123"/>
                <p:cNvSpPr>
                  <a:spLocks/>
                </p:cNvSpPr>
                <p:nvPr/>
              </p:nvSpPr>
              <p:spPr bwMode="auto">
                <a:xfrm>
                  <a:off x="-92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4" name="Freeform 124"/>
                <p:cNvSpPr>
                  <a:spLocks noEditPoints="1"/>
                </p:cNvSpPr>
                <p:nvPr/>
              </p:nvSpPr>
              <p:spPr bwMode="auto">
                <a:xfrm>
                  <a:off x="-2699" y="2451"/>
                  <a:ext cx="106" cy="825"/>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5" name="Freeform 125"/>
                <p:cNvSpPr>
                  <a:spLocks/>
                </p:cNvSpPr>
                <p:nvPr/>
              </p:nvSpPr>
              <p:spPr bwMode="auto">
                <a:xfrm>
                  <a:off x="-2666" y="3069"/>
                  <a:ext cx="7" cy="3"/>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6" name="Freeform 126"/>
                <p:cNvSpPr>
                  <a:spLocks/>
                </p:cNvSpPr>
                <p:nvPr/>
              </p:nvSpPr>
              <p:spPr bwMode="auto">
                <a:xfrm>
                  <a:off x="-2796" y="3278"/>
                  <a:ext cx="102" cy="258"/>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7" name="Freeform 127"/>
                <p:cNvSpPr>
                  <a:spLocks/>
                </p:cNvSpPr>
                <p:nvPr/>
              </p:nvSpPr>
              <p:spPr bwMode="auto">
                <a:xfrm>
                  <a:off x="-2623" y="2809"/>
                  <a:ext cx="4" cy="2"/>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8" name="Freeform 128"/>
                <p:cNvSpPr>
                  <a:spLocks/>
                </p:cNvSpPr>
                <p:nvPr/>
              </p:nvSpPr>
              <p:spPr bwMode="auto">
                <a:xfrm>
                  <a:off x="-2701" y="3276"/>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9" name="Freeform 129"/>
                <p:cNvSpPr>
                  <a:spLocks/>
                </p:cNvSpPr>
                <p:nvPr/>
              </p:nvSpPr>
              <p:spPr bwMode="auto">
                <a:xfrm>
                  <a:off x="-2718" y="3354"/>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0" name="Freeform 130"/>
                <p:cNvSpPr>
                  <a:spLocks/>
                </p:cNvSpPr>
                <p:nvPr/>
              </p:nvSpPr>
              <p:spPr bwMode="auto">
                <a:xfrm>
                  <a:off x="-2602"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1" name="Freeform 131"/>
                <p:cNvSpPr>
                  <a:spLocks noEditPoints="1"/>
                </p:cNvSpPr>
                <p:nvPr/>
              </p:nvSpPr>
              <p:spPr bwMode="auto">
                <a:xfrm>
                  <a:off x="-3769" y="1986"/>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2" name="Freeform 132"/>
                <p:cNvSpPr>
                  <a:spLocks/>
                </p:cNvSpPr>
                <p:nvPr/>
              </p:nvSpPr>
              <p:spPr bwMode="auto">
                <a:xfrm>
                  <a:off x="-3759"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3"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4" name="Freeform 134"/>
                <p:cNvSpPr>
                  <a:spLocks/>
                </p:cNvSpPr>
                <p:nvPr/>
              </p:nvSpPr>
              <p:spPr bwMode="auto">
                <a:xfrm>
                  <a:off x="-3565"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5" name="Freeform 135"/>
                <p:cNvSpPr>
                  <a:spLocks/>
                </p:cNvSpPr>
                <p:nvPr/>
              </p:nvSpPr>
              <p:spPr bwMode="auto">
                <a:xfrm>
                  <a:off x="-3513" y="1681"/>
                  <a:ext cx="7" cy="2"/>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6" name="Freeform 136"/>
                <p:cNvSpPr>
                  <a:spLocks noEditPoints="1"/>
                </p:cNvSpPr>
                <p:nvPr/>
              </p:nvSpPr>
              <p:spPr bwMode="auto">
                <a:xfrm>
                  <a:off x="-3800" y="2259"/>
                  <a:ext cx="36" cy="1017"/>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7" name="Freeform 137"/>
                <p:cNvSpPr>
                  <a:spLocks/>
                </p:cNvSpPr>
                <p:nvPr/>
              </p:nvSpPr>
              <p:spPr bwMode="auto">
                <a:xfrm>
                  <a:off x="-379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8" name="Freeform 138"/>
                <p:cNvSpPr>
                  <a:spLocks/>
                </p:cNvSpPr>
                <p:nvPr/>
              </p:nvSpPr>
              <p:spPr bwMode="auto">
                <a:xfrm>
                  <a:off x="-3797" y="2861"/>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9" name="Freeform 139"/>
                <p:cNvSpPr>
                  <a:spLocks/>
                </p:cNvSpPr>
                <p:nvPr/>
              </p:nvSpPr>
              <p:spPr bwMode="auto">
                <a:xfrm>
                  <a:off x="-3793" y="3278"/>
                  <a:ext cx="15" cy="244"/>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0" name="Freeform 140"/>
                <p:cNvSpPr>
                  <a:spLocks/>
                </p:cNvSpPr>
                <p:nvPr/>
              </p:nvSpPr>
              <p:spPr bwMode="auto">
                <a:xfrm>
                  <a:off x="-3797" y="2809"/>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1"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2" name="Freeform 142"/>
                <p:cNvSpPr>
                  <a:spLocks/>
                </p:cNvSpPr>
                <p:nvPr/>
              </p:nvSpPr>
              <p:spPr bwMode="auto">
                <a:xfrm>
                  <a:off x="-3790"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3" name="Freeform 143"/>
                <p:cNvSpPr>
                  <a:spLocks/>
                </p:cNvSpPr>
                <p:nvPr/>
              </p:nvSpPr>
              <p:spPr bwMode="auto">
                <a:xfrm>
                  <a:off x="-38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4" name="Freeform 144"/>
                <p:cNvSpPr>
                  <a:spLocks/>
                </p:cNvSpPr>
                <p:nvPr/>
              </p:nvSpPr>
              <p:spPr bwMode="auto">
                <a:xfrm>
                  <a:off x="-3769" y="2256"/>
                  <a:ext cx="7"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5" name="Freeform 145"/>
                <p:cNvSpPr>
                  <a:spLocks noEditPoints="1"/>
                </p:cNvSpPr>
                <p:nvPr/>
              </p:nvSpPr>
              <p:spPr bwMode="auto">
                <a:xfrm>
                  <a:off x="-3669" y="1986"/>
                  <a:ext cx="168" cy="1290"/>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6" name="Freeform 146"/>
                <p:cNvSpPr>
                  <a:spLocks/>
                </p:cNvSpPr>
                <p:nvPr/>
              </p:nvSpPr>
              <p:spPr bwMode="auto">
                <a:xfrm>
                  <a:off x="-3641"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7" name="Freeform 147"/>
                <p:cNvSpPr>
                  <a:spLocks/>
                </p:cNvSpPr>
                <p:nvPr/>
              </p:nvSpPr>
              <p:spPr bwMode="auto">
                <a:xfrm>
                  <a:off x="-3606" y="2861"/>
                  <a:ext cx="1" cy="2"/>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8"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9" name="Freeform 149"/>
                <p:cNvSpPr>
                  <a:spLocks/>
                </p:cNvSpPr>
                <p:nvPr/>
              </p:nvSpPr>
              <p:spPr bwMode="auto">
                <a:xfrm>
                  <a:off x="-3440"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0" name="Freeform 150"/>
                <p:cNvSpPr>
                  <a:spLocks/>
                </p:cNvSpPr>
                <p:nvPr/>
              </p:nvSpPr>
              <p:spPr bwMode="auto">
                <a:xfrm>
                  <a:off x="-3608"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1" name="Freeform 151"/>
                <p:cNvSpPr>
                  <a:spLocks/>
                </p:cNvSpPr>
                <p:nvPr/>
              </p:nvSpPr>
              <p:spPr bwMode="auto">
                <a:xfrm>
                  <a:off x="-3672"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2" name="Freeform 152"/>
                <p:cNvSpPr>
                  <a:spLocks/>
                </p:cNvSpPr>
                <p:nvPr/>
              </p:nvSpPr>
              <p:spPr bwMode="auto">
                <a:xfrm>
                  <a:off x="-3688" y="3351"/>
                  <a:ext cx="4"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3" name="Freeform 153"/>
                <p:cNvSpPr>
                  <a:spLocks/>
                </p:cNvSpPr>
                <p:nvPr/>
              </p:nvSpPr>
              <p:spPr bwMode="auto">
                <a:xfrm>
                  <a:off x="-36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4" name="Freeform 154"/>
                <p:cNvSpPr>
                  <a:spLocks/>
                </p:cNvSpPr>
                <p:nvPr/>
              </p:nvSpPr>
              <p:spPr bwMode="auto">
                <a:xfrm>
                  <a:off x="-35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5" name="Freeform 155"/>
                <p:cNvSpPr>
                  <a:spLocks noEditPoints="1"/>
                </p:cNvSpPr>
                <p:nvPr/>
              </p:nvSpPr>
              <p:spPr bwMode="auto">
                <a:xfrm>
                  <a:off x="-3395" y="1986"/>
                  <a:ext cx="45"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6" name="Freeform 156"/>
                <p:cNvSpPr>
                  <a:spLocks/>
                </p:cNvSpPr>
                <p:nvPr/>
              </p:nvSpPr>
              <p:spPr bwMode="auto">
                <a:xfrm>
                  <a:off x="-3393"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7" name="Freeform 157"/>
                <p:cNvSpPr>
                  <a:spLocks noEditPoints="1"/>
                </p:cNvSpPr>
                <p:nvPr/>
              </p:nvSpPr>
              <p:spPr bwMode="auto">
                <a:xfrm>
                  <a:off x="-3355" y="1522"/>
                  <a:ext cx="119"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8" name="Freeform 158"/>
                <p:cNvSpPr>
                  <a:spLocks/>
                </p:cNvSpPr>
                <p:nvPr/>
              </p:nvSpPr>
              <p:spPr bwMode="auto">
                <a:xfrm>
                  <a:off x="-3333"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9" name="Freeform 159"/>
                <p:cNvSpPr>
                  <a:spLocks/>
                </p:cNvSpPr>
                <p:nvPr/>
              </p:nvSpPr>
              <p:spPr bwMode="auto">
                <a:xfrm>
                  <a:off x="-3314"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0" name="Freeform 160"/>
                <p:cNvSpPr>
                  <a:spLocks noEditPoints="1"/>
                </p:cNvSpPr>
                <p:nvPr/>
              </p:nvSpPr>
              <p:spPr bwMode="auto">
                <a:xfrm>
                  <a:off x="-3556" y="2259"/>
                  <a:ext cx="166" cy="1017"/>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1" name="Freeform 161"/>
                <p:cNvSpPr>
                  <a:spLocks/>
                </p:cNvSpPr>
                <p:nvPr/>
              </p:nvSpPr>
              <p:spPr bwMode="auto">
                <a:xfrm>
                  <a:off x="-3494"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2" name="Freeform 162"/>
                <p:cNvSpPr>
                  <a:spLocks/>
                </p:cNvSpPr>
                <p:nvPr/>
              </p:nvSpPr>
              <p:spPr bwMode="auto">
                <a:xfrm>
                  <a:off x="-3433"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3" name="Freeform 163"/>
                <p:cNvSpPr>
                  <a:spLocks noEditPoints="1"/>
                </p:cNvSpPr>
                <p:nvPr/>
              </p:nvSpPr>
              <p:spPr bwMode="auto">
                <a:xfrm>
                  <a:off x="-3629" y="3278"/>
                  <a:ext cx="76" cy="154"/>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4" name="Freeform 164"/>
                <p:cNvSpPr>
                  <a:spLocks/>
                </p:cNvSpPr>
                <p:nvPr/>
              </p:nvSpPr>
              <p:spPr bwMode="auto">
                <a:xfrm>
                  <a:off x="-3421"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5" name="Freeform 165"/>
                <p:cNvSpPr>
                  <a:spLocks/>
                </p:cNvSpPr>
                <p:nvPr/>
              </p:nvSpPr>
              <p:spPr bwMode="auto">
                <a:xfrm>
                  <a:off x="-3558"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6" name="Freeform 166"/>
                <p:cNvSpPr>
                  <a:spLocks/>
                </p:cNvSpPr>
                <p:nvPr/>
              </p:nvSpPr>
              <p:spPr bwMode="auto">
                <a:xfrm>
                  <a:off x="-3589"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7" name="Freeform 167"/>
                <p:cNvSpPr>
                  <a:spLocks/>
                </p:cNvSpPr>
                <p:nvPr/>
              </p:nvSpPr>
              <p:spPr bwMode="auto">
                <a:xfrm>
                  <a:off x="-34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8"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9" name="Freeform 169"/>
                <p:cNvSpPr>
                  <a:spLocks/>
                </p:cNvSpPr>
                <p:nvPr/>
              </p:nvSpPr>
              <p:spPr bwMode="auto">
                <a:xfrm>
                  <a:off x="-3201" y="1986"/>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0" name="Freeform 170"/>
                <p:cNvSpPr>
                  <a:spLocks/>
                </p:cNvSpPr>
                <p:nvPr/>
              </p:nvSpPr>
              <p:spPr bwMode="auto">
                <a:xfrm>
                  <a:off x="-3201" y="2223"/>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1" name="Freeform 171"/>
                <p:cNvSpPr>
                  <a:spLocks noEditPoints="1"/>
                </p:cNvSpPr>
                <p:nvPr/>
              </p:nvSpPr>
              <p:spPr bwMode="auto">
                <a:xfrm>
                  <a:off x="-3203" y="1524"/>
                  <a:ext cx="7"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2" name="Freeform 172"/>
                <p:cNvSpPr>
                  <a:spLocks/>
                </p:cNvSpPr>
                <p:nvPr/>
              </p:nvSpPr>
              <p:spPr bwMode="auto">
                <a:xfrm>
                  <a:off x="-3203" y="1754"/>
                  <a:ext cx="2"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3" name="Freeform 173"/>
                <p:cNvSpPr>
                  <a:spLocks/>
                </p:cNvSpPr>
                <p:nvPr/>
              </p:nvSpPr>
              <p:spPr bwMode="auto">
                <a:xfrm>
                  <a:off x="-3198"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4" name="Freeform 174"/>
                <p:cNvSpPr>
                  <a:spLocks/>
                </p:cNvSpPr>
                <p:nvPr/>
              </p:nvSpPr>
              <p:spPr bwMode="auto">
                <a:xfrm>
                  <a:off x="-3201"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5" name="Freeform 175"/>
                <p:cNvSpPr>
                  <a:spLocks noEditPoints="1"/>
                </p:cNvSpPr>
                <p:nvPr/>
              </p:nvSpPr>
              <p:spPr bwMode="auto">
                <a:xfrm>
                  <a:off x="-3161" y="1524"/>
                  <a:ext cx="152" cy="732"/>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6"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7" name="Freeform 177"/>
                <p:cNvSpPr>
                  <a:spLocks/>
                </p:cNvSpPr>
                <p:nvPr/>
              </p:nvSpPr>
              <p:spPr bwMode="auto">
                <a:xfrm>
                  <a:off x="-3116" y="1681"/>
                  <a:ext cx="5" cy="2"/>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8" name="Line 178"/>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9" name="Line 179"/>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0" name="Freeform 180"/>
                <p:cNvSpPr>
                  <a:spLocks noEditPoints="1"/>
                </p:cNvSpPr>
                <p:nvPr/>
              </p:nvSpPr>
              <p:spPr bwMode="auto">
                <a:xfrm>
                  <a:off x="-3014" y="2259"/>
                  <a:ext cx="92" cy="1017"/>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1" name="Freeform 181"/>
                <p:cNvSpPr>
                  <a:spLocks/>
                </p:cNvSpPr>
                <p:nvPr/>
              </p:nvSpPr>
              <p:spPr bwMode="auto">
                <a:xfrm>
                  <a:off x="-2957"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2" name="Freeform 182"/>
                <p:cNvSpPr>
                  <a:spLocks/>
                </p:cNvSpPr>
                <p:nvPr/>
              </p:nvSpPr>
              <p:spPr bwMode="auto">
                <a:xfrm>
                  <a:off x="-2988"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3" name="Freeform 183"/>
                <p:cNvSpPr>
                  <a:spLocks/>
                </p:cNvSpPr>
                <p:nvPr/>
              </p:nvSpPr>
              <p:spPr bwMode="auto">
                <a:xfrm>
                  <a:off x="-2926" y="3278"/>
                  <a:ext cx="23" cy="76"/>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4" name="Freeform 184"/>
                <p:cNvSpPr>
                  <a:spLocks/>
                </p:cNvSpPr>
                <p:nvPr/>
              </p:nvSpPr>
              <p:spPr bwMode="auto">
                <a:xfrm>
                  <a:off x="-2995"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5" name="Freeform 185"/>
                <p:cNvSpPr>
                  <a:spLocks/>
                </p:cNvSpPr>
                <p:nvPr/>
              </p:nvSpPr>
              <p:spPr bwMode="auto">
                <a:xfrm>
                  <a:off x="-2926" y="3276"/>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6" name="Freeform 186"/>
                <p:cNvSpPr>
                  <a:spLocks/>
                </p:cNvSpPr>
                <p:nvPr/>
              </p:nvSpPr>
              <p:spPr bwMode="auto">
                <a:xfrm>
                  <a:off x="-2907" y="3356"/>
                  <a:ext cx="19"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7" name="Freeform 187"/>
                <p:cNvSpPr>
                  <a:spLocks/>
                </p:cNvSpPr>
                <p:nvPr/>
              </p:nvSpPr>
              <p:spPr bwMode="auto">
                <a:xfrm>
                  <a:off x="-2907" y="3354"/>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8"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9"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0" name="Freeform 190"/>
                <p:cNvSpPr>
                  <a:spLocks/>
                </p:cNvSpPr>
                <p:nvPr/>
              </p:nvSpPr>
              <p:spPr bwMode="auto">
                <a:xfrm>
                  <a:off x="-2903" y="1986"/>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1" name="Freeform 191"/>
                <p:cNvSpPr>
                  <a:spLocks/>
                </p:cNvSpPr>
                <p:nvPr/>
              </p:nvSpPr>
              <p:spPr bwMode="auto">
                <a:xfrm>
                  <a:off x="-2832"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2" name="Freeform 192"/>
                <p:cNvSpPr>
                  <a:spLocks noEditPoints="1"/>
                </p:cNvSpPr>
                <p:nvPr/>
              </p:nvSpPr>
              <p:spPr bwMode="auto">
                <a:xfrm>
                  <a:off x="-3113" y="1522"/>
                  <a:ext cx="215"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3" name="Freeform 193"/>
                <p:cNvSpPr>
                  <a:spLocks/>
                </p:cNvSpPr>
                <p:nvPr/>
              </p:nvSpPr>
              <p:spPr bwMode="auto">
                <a:xfrm>
                  <a:off x="-2962" y="1754"/>
                  <a:ext cx="7"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4" name="Freeform 194"/>
                <p:cNvSpPr>
                  <a:spLocks/>
                </p:cNvSpPr>
                <p:nvPr/>
              </p:nvSpPr>
              <p:spPr bwMode="auto">
                <a:xfrm>
                  <a:off x="-2990" y="1681"/>
                  <a:ext cx="2" cy="2"/>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5" name="Freeform 195"/>
                <p:cNvSpPr>
                  <a:spLocks/>
                </p:cNvSpPr>
                <p:nvPr/>
              </p:nvSpPr>
              <p:spPr bwMode="auto">
                <a:xfrm>
                  <a:off x="-2995" y="1681"/>
                  <a:ext cx="5" cy="2"/>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6" name="Freeform 196"/>
                <p:cNvSpPr>
                  <a:spLocks noEditPoints="1"/>
                </p:cNvSpPr>
                <p:nvPr/>
              </p:nvSpPr>
              <p:spPr bwMode="auto">
                <a:xfrm>
                  <a:off x="-2824" y="2259"/>
                  <a:ext cx="26" cy="1017"/>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7" name="Freeform 197"/>
                <p:cNvSpPr>
                  <a:spLocks/>
                </p:cNvSpPr>
                <p:nvPr/>
              </p:nvSpPr>
              <p:spPr bwMode="auto">
                <a:xfrm>
                  <a:off x="-2810" y="3069"/>
                  <a:ext cx="4" cy="3"/>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8" name="Freeform 198"/>
                <p:cNvSpPr>
                  <a:spLocks/>
                </p:cNvSpPr>
                <p:nvPr/>
              </p:nvSpPr>
              <p:spPr bwMode="auto">
                <a:xfrm>
                  <a:off x="-2810" y="3278"/>
                  <a:ext cx="4" cy="76"/>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9" name="Freeform 199"/>
                <p:cNvSpPr>
                  <a:spLocks/>
                </p:cNvSpPr>
                <p:nvPr/>
              </p:nvSpPr>
              <p:spPr bwMode="auto">
                <a:xfrm>
                  <a:off x="-2803"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0" name="Freeform 200"/>
                <p:cNvSpPr>
                  <a:spLocks/>
                </p:cNvSpPr>
                <p:nvPr/>
              </p:nvSpPr>
              <p:spPr bwMode="auto">
                <a:xfrm>
                  <a:off x="-2810"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1" name="Freeform 201"/>
                <p:cNvSpPr>
                  <a:spLocks/>
                </p:cNvSpPr>
                <p:nvPr/>
              </p:nvSpPr>
              <p:spPr bwMode="auto">
                <a:xfrm>
                  <a:off x="-2810" y="3356"/>
                  <a:ext cx="4"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2" name="Freeform 202"/>
                <p:cNvSpPr>
                  <a:spLocks/>
                </p:cNvSpPr>
                <p:nvPr/>
              </p:nvSpPr>
              <p:spPr bwMode="auto">
                <a:xfrm>
                  <a:off x="-2810"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3"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4" name="Freeform 204"/>
                <p:cNvSpPr>
                  <a:spLocks/>
                </p:cNvSpPr>
                <p:nvPr/>
              </p:nvSpPr>
              <p:spPr bwMode="auto">
                <a:xfrm>
                  <a:off x="-2824"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sp>
            <p:nvSpPr>
              <p:cNvPr id="41" name="Freeform 206"/>
              <p:cNvSpPr>
                <a:spLocks/>
              </p:cNvSpPr>
              <p:nvPr/>
            </p:nvSpPr>
            <p:spPr bwMode="auto">
              <a:xfrm>
                <a:off x="-4870447" y="2416173"/>
                <a:ext cx="349249" cy="368300"/>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2" name="Freeform 207"/>
              <p:cNvSpPr>
                <a:spLocks/>
              </p:cNvSpPr>
              <p:nvPr/>
            </p:nvSpPr>
            <p:spPr bwMode="auto">
              <a:xfrm>
                <a:off x="-4608511" y="2671760"/>
                <a:ext cx="4762" cy="1587"/>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3" name="Freeform 208"/>
              <p:cNvSpPr>
                <a:spLocks/>
              </p:cNvSpPr>
              <p:nvPr/>
            </p:nvSpPr>
            <p:spPr bwMode="auto">
              <a:xfrm>
                <a:off x="-4818061" y="2419348"/>
                <a:ext cx="481013" cy="365125"/>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4" name="Freeform 209"/>
              <p:cNvSpPr>
                <a:spLocks/>
              </p:cNvSpPr>
              <p:nvPr/>
            </p:nvSpPr>
            <p:spPr bwMode="auto">
              <a:xfrm>
                <a:off x="-4435474" y="2668584"/>
                <a:ext cx="4762" cy="3175"/>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5" name="Freeform 210"/>
              <p:cNvSpPr>
                <a:spLocks noEditPoints="1"/>
              </p:cNvSpPr>
              <p:nvPr/>
            </p:nvSpPr>
            <p:spPr bwMode="auto">
              <a:xfrm>
                <a:off x="-2679699" y="3152772"/>
                <a:ext cx="71438" cy="428625"/>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6" name="Freeform 211"/>
              <p:cNvSpPr>
                <a:spLocks/>
              </p:cNvSpPr>
              <p:nvPr/>
            </p:nvSpPr>
            <p:spPr bwMode="auto">
              <a:xfrm>
                <a:off x="-2624136" y="3529009"/>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7" name="Freeform 212"/>
              <p:cNvSpPr>
                <a:spLocks noEditPoints="1"/>
              </p:cNvSpPr>
              <p:nvPr/>
            </p:nvSpPr>
            <p:spPr bwMode="auto">
              <a:xfrm>
                <a:off x="-2811462" y="3586159"/>
                <a:ext cx="233364" cy="1614486"/>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8" name="Freeform 213"/>
              <p:cNvSpPr>
                <a:spLocks/>
              </p:cNvSpPr>
              <p:nvPr/>
            </p:nvSpPr>
            <p:spPr bwMode="auto">
              <a:xfrm>
                <a:off x="-2703512" y="4872033"/>
                <a:ext cx="7937" cy="4762"/>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9" name="Freeform 214"/>
              <p:cNvSpPr>
                <a:spLocks noEditPoints="1"/>
              </p:cNvSpPr>
              <p:nvPr/>
            </p:nvSpPr>
            <p:spPr bwMode="auto">
              <a:xfrm>
                <a:off x="-2954336" y="2419348"/>
                <a:ext cx="280987" cy="2954335"/>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0" name="Freeform 215"/>
              <p:cNvSpPr>
                <a:spLocks/>
              </p:cNvSpPr>
              <p:nvPr/>
            </p:nvSpPr>
            <p:spPr bwMode="auto">
              <a:xfrm>
                <a:off x="-2778124" y="2784471"/>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1" name="Freeform 216"/>
              <p:cNvSpPr>
                <a:spLocks/>
              </p:cNvSpPr>
              <p:nvPr/>
            </p:nvSpPr>
            <p:spPr bwMode="auto">
              <a:xfrm>
                <a:off x="-2613024" y="4459284"/>
                <a:ext cx="11114"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2" name="Freeform 217"/>
              <p:cNvSpPr>
                <a:spLocks/>
              </p:cNvSpPr>
              <p:nvPr/>
            </p:nvSpPr>
            <p:spPr bwMode="auto">
              <a:xfrm>
                <a:off x="-2816223" y="5200645"/>
                <a:ext cx="12700"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3" name="Freeform 218"/>
              <p:cNvSpPr>
                <a:spLocks/>
              </p:cNvSpPr>
              <p:nvPr/>
            </p:nvSpPr>
            <p:spPr bwMode="auto">
              <a:xfrm>
                <a:off x="-2874962" y="5324470"/>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4" name="Freeform 219"/>
              <p:cNvSpPr>
                <a:spLocks/>
              </p:cNvSpPr>
              <p:nvPr/>
            </p:nvSpPr>
            <p:spPr bwMode="auto">
              <a:xfrm>
                <a:off x="-2590798" y="3965572"/>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5" name="Freeform 220"/>
              <p:cNvSpPr>
                <a:spLocks/>
              </p:cNvSpPr>
              <p:nvPr/>
            </p:nvSpPr>
            <p:spPr bwMode="auto">
              <a:xfrm>
                <a:off x="-2616199" y="3581397"/>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6" name="Freeform 221"/>
              <p:cNvSpPr>
                <a:spLocks/>
              </p:cNvSpPr>
              <p:nvPr/>
            </p:nvSpPr>
            <p:spPr bwMode="auto">
              <a:xfrm>
                <a:off x="-5802311" y="3149597"/>
                <a:ext cx="11114" cy="3175"/>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7" name="Freeform 222"/>
              <p:cNvSpPr>
                <a:spLocks/>
              </p:cNvSpPr>
              <p:nvPr/>
            </p:nvSpPr>
            <p:spPr bwMode="auto">
              <a:xfrm>
                <a:off x="-5565772"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8" name="Freeform 223"/>
              <p:cNvSpPr>
                <a:spLocks/>
              </p:cNvSpPr>
              <p:nvPr/>
            </p:nvSpPr>
            <p:spPr bwMode="auto">
              <a:xfrm>
                <a:off x="-532606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9" name="Freeform 224"/>
              <p:cNvSpPr>
                <a:spLocks/>
              </p:cNvSpPr>
              <p:nvPr/>
            </p:nvSpPr>
            <p:spPr bwMode="auto">
              <a:xfrm>
                <a:off x="-5081586" y="3149597"/>
                <a:ext cx="4762" cy="3175"/>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0" name="Freeform 225"/>
              <p:cNvSpPr>
                <a:spLocks/>
              </p:cNvSpPr>
              <p:nvPr/>
            </p:nvSpPr>
            <p:spPr bwMode="auto">
              <a:xfrm>
                <a:off x="-48371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1" name="Freeform 226"/>
              <p:cNvSpPr>
                <a:spLocks/>
              </p:cNvSpPr>
              <p:nvPr/>
            </p:nvSpPr>
            <p:spPr bwMode="auto">
              <a:xfrm>
                <a:off x="-46085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2" name="Freeform 227"/>
              <p:cNvSpPr>
                <a:spLocks/>
              </p:cNvSpPr>
              <p:nvPr/>
            </p:nvSpPr>
            <p:spPr bwMode="auto">
              <a:xfrm>
                <a:off x="-1955799"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3" name="Freeform 228"/>
              <p:cNvSpPr>
                <a:spLocks/>
              </p:cNvSpPr>
              <p:nvPr/>
            </p:nvSpPr>
            <p:spPr bwMode="auto">
              <a:xfrm>
                <a:off x="-3641723"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4" name="Freeform 229"/>
              <p:cNvSpPr>
                <a:spLocks/>
              </p:cNvSpPr>
              <p:nvPr/>
            </p:nvSpPr>
            <p:spPr bwMode="auto">
              <a:xfrm>
                <a:off x="-3421062" y="3149597"/>
                <a:ext cx="11114" cy="3175"/>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5" name="Freeform 230"/>
              <p:cNvSpPr>
                <a:spLocks/>
              </p:cNvSpPr>
              <p:nvPr/>
            </p:nvSpPr>
            <p:spPr bwMode="auto">
              <a:xfrm>
                <a:off x="-3171824" y="3149597"/>
                <a:ext cx="6350" cy="3175"/>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6" name="Freeform 231"/>
              <p:cNvSpPr>
                <a:spLocks/>
              </p:cNvSpPr>
              <p:nvPr/>
            </p:nvSpPr>
            <p:spPr bwMode="auto">
              <a:xfrm>
                <a:off x="-2920998"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7" name="Freeform 232"/>
              <p:cNvSpPr>
                <a:spLocks/>
              </p:cNvSpPr>
              <p:nvPr/>
            </p:nvSpPr>
            <p:spPr bwMode="auto">
              <a:xfrm>
                <a:off x="-2398712" y="3149597"/>
                <a:ext cx="4762"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8" name="Freeform 233"/>
              <p:cNvSpPr>
                <a:spLocks/>
              </p:cNvSpPr>
              <p:nvPr/>
            </p:nvSpPr>
            <p:spPr bwMode="auto">
              <a:xfrm>
                <a:off x="-2187574"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9" name="Freeform 234"/>
              <p:cNvSpPr>
                <a:spLocks/>
              </p:cNvSpPr>
              <p:nvPr/>
            </p:nvSpPr>
            <p:spPr bwMode="auto">
              <a:xfrm>
                <a:off x="-1516062" y="3149597"/>
                <a:ext cx="11114" cy="3175"/>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0" name="Freeform 235"/>
              <p:cNvSpPr>
                <a:spLocks/>
              </p:cNvSpPr>
              <p:nvPr/>
            </p:nvSpPr>
            <p:spPr bwMode="auto">
              <a:xfrm>
                <a:off x="-1747838"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1" name="Freeform 236"/>
              <p:cNvSpPr>
                <a:spLocks/>
              </p:cNvSpPr>
              <p:nvPr/>
            </p:nvSpPr>
            <p:spPr bwMode="auto">
              <a:xfrm>
                <a:off x="-2679699"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2"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3" name="Freeform 238"/>
              <p:cNvSpPr>
                <a:spLocks noEditPoints="1"/>
              </p:cNvSpPr>
              <p:nvPr/>
            </p:nvSpPr>
            <p:spPr bwMode="auto">
              <a:xfrm>
                <a:off x="-4911722" y="4872033"/>
                <a:ext cx="915988" cy="4762"/>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4" name="Freeform 239"/>
              <p:cNvSpPr>
                <a:spLocks noEditPoints="1"/>
              </p:cNvSpPr>
              <p:nvPr/>
            </p:nvSpPr>
            <p:spPr bwMode="auto">
              <a:xfrm>
                <a:off x="-3671886" y="4872033"/>
                <a:ext cx="1171574" cy="4762"/>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5" name="Freeform 240"/>
              <p:cNvSpPr>
                <a:spLocks noEditPoints="1"/>
              </p:cNvSpPr>
              <p:nvPr/>
            </p:nvSpPr>
            <p:spPr bwMode="auto">
              <a:xfrm>
                <a:off x="-2071686" y="4872033"/>
                <a:ext cx="1239838" cy="4762"/>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6" name="Freeform 241"/>
              <p:cNvSpPr>
                <a:spLocks noEditPoints="1"/>
              </p:cNvSpPr>
              <p:nvPr/>
            </p:nvSpPr>
            <p:spPr bwMode="auto">
              <a:xfrm>
                <a:off x="-6246811" y="4872033"/>
                <a:ext cx="920750" cy="4762"/>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7" name="Freeform 242"/>
              <p:cNvSpPr>
                <a:spLocks/>
              </p:cNvSpPr>
              <p:nvPr/>
            </p:nvSpPr>
            <p:spPr bwMode="auto">
              <a:xfrm>
                <a:off x="-5021261" y="4541833"/>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8" name="Freeform 243"/>
              <p:cNvSpPr>
                <a:spLocks noEditPoints="1"/>
              </p:cNvSpPr>
              <p:nvPr/>
            </p:nvSpPr>
            <p:spPr bwMode="auto">
              <a:xfrm>
                <a:off x="-3781423" y="4541833"/>
                <a:ext cx="1409699" cy="3175"/>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9" name="Freeform 244"/>
              <p:cNvSpPr>
                <a:spLocks/>
              </p:cNvSpPr>
              <p:nvPr/>
            </p:nvSpPr>
            <p:spPr bwMode="auto">
              <a:xfrm>
                <a:off x="-2176461" y="4541833"/>
                <a:ext cx="1587" cy="3175"/>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0" name="Freeform 245"/>
              <p:cNvSpPr>
                <a:spLocks/>
              </p:cNvSpPr>
              <p:nvPr/>
            </p:nvSpPr>
            <p:spPr bwMode="auto">
              <a:xfrm>
                <a:off x="-6310310" y="4541833"/>
                <a:ext cx="4762" cy="3175"/>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1" name="Freeform 246"/>
              <p:cNvSpPr>
                <a:spLocks noEditPoints="1"/>
              </p:cNvSpPr>
              <p:nvPr/>
            </p:nvSpPr>
            <p:spPr bwMode="auto">
              <a:xfrm>
                <a:off x="-4062411" y="3529009"/>
                <a:ext cx="3133723" cy="4762"/>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2" name="Freeform 247"/>
              <p:cNvSpPr>
                <a:spLocks noEditPoints="1"/>
              </p:cNvSpPr>
              <p:nvPr/>
            </p:nvSpPr>
            <p:spPr bwMode="auto">
              <a:xfrm>
                <a:off x="-6246811" y="3529009"/>
                <a:ext cx="2044699" cy="4762"/>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3" name="Freeform 248"/>
              <p:cNvSpPr>
                <a:spLocks/>
              </p:cNvSpPr>
              <p:nvPr/>
            </p:nvSpPr>
            <p:spPr bwMode="auto">
              <a:xfrm>
                <a:off x="-3690937" y="2784472"/>
                <a:ext cx="7937" cy="3175"/>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4" name="Freeform 249"/>
              <p:cNvSpPr>
                <a:spLocks noEditPoints="1"/>
              </p:cNvSpPr>
              <p:nvPr/>
            </p:nvSpPr>
            <p:spPr bwMode="auto">
              <a:xfrm>
                <a:off x="-5837235" y="2784472"/>
                <a:ext cx="1316037" cy="3175"/>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5" name="Freeform 250"/>
              <p:cNvSpPr>
                <a:spLocks/>
              </p:cNvSpPr>
              <p:nvPr/>
            </p:nvSpPr>
            <p:spPr bwMode="auto">
              <a:xfrm>
                <a:off x="-3671886"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6" name="Freeform 251"/>
              <p:cNvSpPr>
                <a:spLocks/>
              </p:cNvSpPr>
              <p:nvPr/>
            </p:nvSpPr>
            <p:spPr bwMode="auto">
              <a:xfrm>
                <a:off x="-1308099" y="3146422"/>
                <a:ext cx="6350" cy="3175"/>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7" name="Freeform 252"/>
              <p:cNvSpPr>
                <a:spLocks/>
              </p:cNvSpPr>
              <p:nvPr/>
            </p:nvSpPr>
            <p:spPr bwMode="auto">
              <a:xfrm>
                <a:off x="-5738810"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8" name="Freeform 253"/>
              <p:cNvSpPr>
                <a:spLocks noEditPoints="1"/>
              </p:cNvSpPr>
              <p:nvPr/>
            </p:nvSpPr>
            <p:spPr bwMode="auto">
              <a:xfrm>
                <a:off x="-5035547" y="4459284"/>
                <a:ext cx="1163637" cy="3175"/>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9" name="Freeform 254"/>
              <p:cNvSpPr>
                <a:spLocks noEditPoints="1"/>
              </p:cNvSpPr>
              <p:nvPr/>
            </p:nvSpPr>
            <p:spPr bwMode="auto">
              <a:xfrm>
                <a:off x="-3795710" y="4459284"/>
                <a:ext cx="1449387" cy="3175"/>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0" name="Freeform 255"/>
              <p:cNvSpPr>
                <a:spLocks noEditPoints="1"/>
              </p:cNvSpPr>
              <p:nvPr/>
            </p:nvSpPr>
            <p:spPr bwMode="auto">
              <a:xfrm>
                <a:off x="-2198687" y="4459284"/>
                <a:ext cx="1435100" cy="3175"/>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1" name="Freeform 256"/>
              <p:cNvSpPr>
                <a:spLocks noEditPoints="1"/>
              </p:cNvSpPr>
              <p:nvPr/>
            </p:nvSpPr>
            <p:spPr bwMode="auto">
              <a:xfrm>
                <a:off x="-6316660" y="4459284"/>
                <a:ext cx="1168399" cy="3175"/>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2" name="Freeform 257"/>
              <p:cNvSpPr>
                <a:spLocks noEditPoints="1"/>
              </p:cNvSpPr>
              <p:nvPr/>
            </p:nvSpPr>
            <p:spPr bwMode="auto">
              <a:xfrm>
                <a:off x="-6211885" y="5200645"/>
                <a:ext cx="747713" cy="3175"/>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3" name="Freeform 258"/>
              <p:cNvSpPr>
                <a:spLocks noEditPoints="1"/>
              </p:cNvSpPr>
              <p:nvPr/>
            </p:nvSpPr>
            <p:spPr bwMode="auto">
              <a:xfrm>
                <a:off x="-4837110" y="5200645"/>
                <a:ext cx="739774" cy="3175"/>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4" name="Freeform 259"/>
              <p:cNvSpPr>
                <a:spLocks noEditPoints="1"/>
              </p:cNvSpPr>
              <p:nvPr/>
            </p:nvSpPr>
            <p:spPr bwMode="auto">
              <a:xfrm>
                <a:off x="-3594098" y="5200645"/>
                <a:ext cx="928687" cy="3175"/>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5" name="Freeform 260"/>
              <p:cNvSpPr>
                <a:spLocks noEditPoints="1"/>
              </p:cNvSpPr>
              <p:nvPr/>
            </p:nvSpPr>
            <p:spPr bwMode="auto">
              <a:xfrm>
                <a:off x="-1879599" y="5200645"/>
                <a:ext cx="968374" cy="3175"/>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6" name="Freeform 261"/>
              <p:cNvSpPr>
                <a:spLocks noEditPoints="1"/>
              </p:cNvSpPr>
              <p:nvPr/>
            </p:nvSpPr>
            <p:spPr bwMode="auto">
              <a:xfrm>
                <a:off x="-6175372" y="5319708"/>
                <a:ext cx="631824" cy="1587"/>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7" name="Freeform 262"/>
              <p:cNvSpPr>
                <a:spLocks noEditPoints="1"/>
              </p:cNvSpPr>
              <p:nvPr/>
            </p:nvSpPr>
            <p:spPr bwMode="auto">
              <a:xfrm>
                <a:off x="-4779960" y="5324470"/>
                <a:ext cx="627063" cy="3175"/>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8" name="Freeform 263"/>
              <p:cNvSpPr>
                <a:spLocks noEditPoints="1"/>
              </p:cNvSpPr>
              <p:nvPr/>
            </p:nvSpPr>
            <p:spPr bwMode="auto">
              <a:xfrm>
                <a:off x="-3536948" y="5324470"/>
                <a:ext cx="792163" cy="3175"/>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9" name="Freeform 264"/>
              <p:cNvSpPr>
                <a:spLocks/>
              </p:cNvSpPr>
              <p:nvPr/>
            </p:nvSpPr>
            <p:spPr bwMode="auto">
              <a:xfrm>
                <a:off x="-1766887" y="5324470"/>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0" name="Freeform 265"/>
              <p:cNvSpPr>
                <a:spLocks noEditPoints="1"/>
              </p:cNvSpPr>
              <p:nvPr/>
            </p:nvSpPr>
            <p:spPr bwMode="auto">
              <a:xfrm>
                <a:off x="-6343647" y="3965572"/>
                <a:ext cx="5591173" cy="4762"/>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1" name="Freeform 266"/>
              <p:cNvSpPr>
                <a:spLocks noEditPoints="1"/>
              </p:cNvSpPr>
              <p:nvPr/>
            </p:nvSpPr>
            <p:spPr bwMode="auto">
              <a:xfrm>
                <a:off x="-6264273" y="3581397"/>
                <a:ext cx="2073274" cy="4762"/>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2" name="Freeform 267"/>
              <p:cNvSpPr>
                <a:spLocks noEditPoints="1"/>
              </p:cNvSpPr>
              <p:nvPr/>
            </p:nvSpPr>
            <p:spPr bwMode="auto">
              <a:xfrm>
                <a:off x="-4078287" y="3581397"/>
                <a:ext cx="3182937" cy="4762"/>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3" name="Freeform 268"/>
              <p:cNvSpPr>
                <a:spLocks/>
              </p:cNvSpPr>
              <p:nvPr/>
            </p:nvSpPr>
            <p:spPr bwMode="auto">
              <a:xfrm>
                <a:off x="-3833811" y="4089396"/>
                <a:ext cx="3175" cy="1587"/>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4" name="Freeform 269"/>
              <p:cNvSpPr>
                <a:spLocks/>
              </p:cNvSpPr>
              <p:nvPr/>
            </p:nvSpPr>
            <p:spPr bwMode="auto">
              <a:xfrm>
                <a:off x="-2270125" y="4044946"/>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5" name="Freeform 270"/>
              <p:cNvSpPr>
                <a:spLocks/>
              </p:cNvSpPr>
              <p:nvPr/>
            </p:nvSpPr>
            <p:spPr bwMode="auto">
              <a:xfrm>
                <a:off x="-1301749" y="3146422"/>
                <a:ext cx="7937" cy="3175"/>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6" name="Freeform 271"/>
              <p:cNvSpPr>
                <a:spLocks/>
              </p:cNvSpPr>
              <p:nvPr/>
            </p:nvSpPr>
            <p:spPr bwMode="auto">
              <a:xfrm>
                <a:off x="-4138612" y="3890960"/>
                <a:ext cx="7937" cy="3175"/>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7" name="Freeform 272"/>
              <p:cNvSpPr>
                <a:spLocks/>
              </p:cNvSpPr>
              <p:nvPr/>
            </p:nvSpPr>
            <p:spPr bwMode="auto">
              <a:xfrm>
                <a:off x="-5076823" y="4003671"/>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8" name="Freeform 273"/>
              <p:cNvSpPr>
                <a:spLocks/>
              </p:cNvSpPr>
              <p:nvPr/>
            </p:nvSpPr>
            <p:spPr bwMode="auto">
              <a:xfrm>
                <a:off x="-4529137" y="2784471"/>
                <a:ext cx="7937" cy="3175"/>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9" name="Freeform 274"/>
              <p:cNvSpPr>
                <a:spLocks/>
              </p:cNvSpPr>
              <p:nvPr/>
            </p:nvSpPr>
            <p:spPr bwMode="auto">
              <a:xfrm>
                <a:off x="-4524373" y="2784471"/>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0" name="Freeform 275"/>
              <p:cNvSpPr>
                <a:spLocks/>
              </p:cNvSpPr>
              <p:nvPr/>
            </p:nvSpPr>
            <p:spPr bwMode="auto">
              <a:xfrm>
                <a:off x="-4341811" y="2784471"/>
                <a:ext cx="4762" cy="3175"/>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1" name="Freeform 276"/>
              <p:cNvSpPr>
                <a:spLocks noEditPoints="1"/>
              </p:cNvSpPr>
              <p:nvPr/>
            </p:nvSpPr>
            <p:spPr bwMode="auto">
              <a:xfrm>
                <a:off x="-6035672" y="3149597"/>
                <a:ext cx="1660524" cy="3175"/>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2" name="Freeform 277"/>
              <p:cNvSpPr>
                <a:spLocks/>
              </p:cNvSpPr>
              <p:nvPr/>
            </p:nvSpPr>
            <p:spPr bwMode="auto">
              <a:xfrm>
                <a:off x="-1304924" y="3149597"/>
                <a:ext cx="7937" cy="3175"/>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3" name="Freeform 278"/>
              <p:cNvSpPr>
                <a:spLocks/>
              </p:cNvSpPr>
              <p:nvPr/>
            </p:nvSpPr>
            <p:spPr bwMode="auto">
              <a:xfrm>
                <a:off x="-1301749" y="3149597"/>
                <a:ext cx="4762" cy="1587"/>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4" name="Freeform 279"/>
              <p:cNvSpPr>
                <a:spLocks/>
              </p:cNvSpPr>
              <p:nvPr/>
            </p:nvSpPr>
            <p:spPr bwMode="auto">
              <a:xfrm>
                <a:off x="-3871911" y="3149597"/>
                <a:ext cx="4762" cy="3175"/>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5" name="Freeform 280"/>
              <p:cNvSpPr>
                <a:spLocks/>
              </p:cNvSpPr>
              <p:nvPr/>
            </p:nvSpPr>
            <p:spPr bwMode="auto">
              <a:xfrm>
                <a:off x="-5675310" y="2592385"/>
                <a:ext cx="1612899" cy="2509835"/>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6" name="Freeform 281"/>
              <p:cNvSpPr>
                <a:spLocks/>
              </p:cNvSpPr>
              <p:nvPr/>
            </p:nvSpPr>
            <p:spPr bwMode="auto">
              <a:xfrm>
                <a:off x="-5010148" y="2547935"/>
                <a:ext cx="230187" cy="18732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7" name="Freeform 282"/>
              <p:cNvSpPr>
                <a:spLocks/>
              </p:cNvSpPr>
              <p:nvPr/>
            </p:nvSpPr>
            <p:spPr bwMode="auto">
              <a:xfrm>
                <a:off x="-4938711" y="2427285"/>
                <a:ext cx="384175" cy="342899"/>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8" name="Freeform 283"/>
              <p:cNvSpPr>
                <a:spLocks/>
              </p:cNvSpPr>
              <p:nvPr/>
            </p:nvSpPr>
            <p:spPr bwMode="auto">
              <a:xfrm>
                <a:off x="-3748087" y="2501897"/>
                <a:ext cx="2044700" cy="2208211"/>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9" name="Freeform 284"/>
              <p:cNvSpPr>
                <a:spLocks/>
              </p:cNvSpPr>
              <p:nvPr/>
            </p:nvSpPr>
            <p:spPr bwMode="auto">
              <a:xfrm>
                <a:off x="-3751262" y="2446334"/>
                <a:ext cx="508000" cy="323850"/>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0" name="Freeform 285"/>
              <p:cNvSpPr>
                <a:spLocks/>
              </p:cNvSpPr>
              <p:nvPr/>
            </p:nvSpPr>
            <p:spPr bwMode="auto">
              <a:xfrm>
                <a:off x="-1827212" y="3863971"/>
                <a:ext cx="150813" cy="225425"/>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1" name="Freeform 286"/>
              <p:cNvSpPr>
                <a:spLocks/>
              </p:cNvSpPr>
              <p:nvPr/>
            </p:nvSpPr>
            <p:spPr bwMode="auto">
              <a:xfrm>
                <a:off x="-2038349" y="3898895"/>
                <a:ext cx="180975" cy="250825"/>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2" name="Freeform 287"/>
              <p:cNvSpPr>
                <a:spLocks/>
              </p:cNvSpPr>
              <p:nvPr/>
            </p:nvSpPr>
            <p:spPr bwMode="auto">
              <a:xfrm>
                <a:off x="-1485900" y="4025896"/>
                <a:ext cx="304799" cy="200025"/>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3" name="Freeform 288"/>
              <p:cNvSpPr>
                <a:spLocks/>
              </p:cNvSpPr>
              <p:nvPr/>
            </p:nvSpPr>
            <p:spPr bwMode="auto">
              <a:xfrm>
                <a:off x="-1711326" y="4251321"/>
                <a:ext cx="574674" cy="568324"/>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4" name="Freeform 289"/>
              <p:cNvSpPr>
                <a:spLocks/>
              </p:cNvSpPr>
              <p:nvPr/>
            </p:nvSpPr>
            <p:spPr bwMode="auto">
              <a:xfrm>
                <a:off x="-5230812" y="2525710"/>
                <a:ext cx="52388" cy="47625"/>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5" name="Freeform 290"/>
              <p:cNvSpPr>
                <a:spLocks/>
              </p:cNvSpPr>
              <p:nvPr/>
            </p:nvSpPr>
            <p:spPr bwMode="auto">
              <a:xfrm>
                <a:off x="-5172075" y="2559047"/>
                <a:ext cx="87313" cy="55562"/>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6" name="Freeform 291"/>
              <p:cNvSpPr>
                <a:spLocks/>
              </p:cNvSpPr>
              <p:nvPr/>
            </p:nvSpPr>
            <p:spPr bwMode="auto">
              <a:xfrm>
                <a:off x="-5029199" y="2419349"/>
                <a:ext cx="79374" cy="90487"/>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7" name="Freeform 292"/>
              <p:cNvSpPr>
                <a:spLocks/>
              </p:cNvSpPr>
              <p:nvPr/>
            </p:nvSpPr>
            <p:spPr bwMode="auto">
              <a:xfrm>
                <a:off x="-5054600" y="2554285"/>
                <a:ext cx="112712" cy="128587"/>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8" name="Freeform 293"/>
              <p:cNvSpPr>
                <a:spLocks/>
              </p:cNvSpPr>
              <p:nvPr/>
            </p:nvSpPr>
            <p:spPr bwMode="auto">
              <a:xfrm>
                <a:off x="-5126037" y="2482848"/>
                <a:ext cx="52388" cy="60325"/>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9" name="Freeform 294"/>
              <p:cNvSpPr>
                <a:spLocks/>
              </p:cNvSpPr>
              <p:nvPr/>
            </p:nvSpPr>
            <p:spPr bwMode="auto">
              <a:xfrm>
                <a:off x="-4845050" y="3506786"/>
                <a:ext cx="117475" cy="98425"/>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0" name="Freeform 295"/>
              <p:cNvSpPr>
                <a:spLocks/>
              </p:cNvSpPr>
              <p:nvPr/>
            </p:nvSpPr>
            <p:spPr bwMode="auto">
              <a:xfrm>
                <a:off x="-4454525" y="2663823"/>
                <a:ext cx="95250" cy="57150"/>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1" name="Freeform 296"/>
              <p:cNvSpPr>
                <a:spLocks/>
              </p:cNvSpPr>
              <p:nvPr/>
            </p:nvSpPr>
            <p:spPr bwMode="auto">
              <a:xfrm>
                <a:off x="-3432175" y="2822573"/>
                <a:ext cx="87313" cy="165100"/>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2" name="Freeform 297"/>
              <p:cNvSpPr>
                <a:spLocks/>
              </p:cNvSpPr>
              <p:nvPr/>
            </p:nvSpPr>
            <p:spPr bwMode="auto">
              <a:xfrm>
                <a:off x="-3487738" y="2889248"/>
                <a:ext cx="66675" cy="65087"/>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3" name="Freeform 298"/>
              <p:cNvSpPr>
                <a:spLocks/>
              </p:cNvSpPr>
              <p:nvPr/>
            </p:nvSpPr>
            <p:spPr bwMode="auto">
              <a:xfrm>
                <a:off x="-5084763" y="2419350"/>
                <a:ext cx="7937" cy="158432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4" name="Freeform 299"/>
              <p:cNvSpPr>
                <a:spLocks/>
              </p:cNvSpPr>
              <p:nvPr/>
            </p:nvSpPr>
            <p:spPr bwMode="auto">
              <a:xfrm>
                <a:off x="-2901950" y="2419351"/>
                <a:ext cx="646113" cy="1647825"/>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grpSp>
          <p:nvGrpSpPr>
            <p:cNvPr id="5" name="Group 21"/>
            <p:cNvGrpSpPr/>
            <p:nvPr userDrawn="1">
              <p:custDataLst>
                <p:tags r:id="rId5"/>
              </p:custDataLst>
            </p:nvPr>
          </p:nvGrpSpPr>
          <p:grpSpPr>
            <a:xfrm>
              <a:off x="6450012" y="3926681"/>
              <a:ext cx="3425033" cy="1653383"/>
              <a:chOff x="6450011" y="3926681"/>
              <a:chExt cx="3425034" cy="1653383"/>
            </a:xfrm>
          </p:grpSpPr>
          <p:sp>
            <p:nvSpPr>
              <p:cNvPr id="8" name="Oval 22"/>
              <p:cNvSpPr/>
              <p:nvPr/>
            </p:nvSpPr>
            <p:spPr>
              <a:xfrm>
                <a:off x="6821486" y="40433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9" name="Oval 23"/>
              <p:cNvSpPr/>
              <p:nvPr/>
            </p:nvSpPr>
            <p:spPr>
              <a:xfrm>
                <a:off x="6450011" y="428386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0" name="Oval 24"/>
              <p:cNvSpPr/>
              <p:nvPr/>
            </p:nvSpPr>
            <p:spPr>
              <a:xfrm>
                <a:off x="6528592" y="45005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1" name="Oval 25"/>
              <p:cNvSpPr/>
              <p:nvPr/>
            </p:nvSpPr>
            <p:spPr>
              <a:xfrm>
                <a:off x="6685755" y="46815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2" name="Oval 26"/>
              <p:cNvSpPr/>
              <p:nvPr/>
            </p:nvSpPr>
            <p:spPr>
              <a:xfrm>
                <a:off x="7235824" y="51506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3" name="Oval 27"/>
              <p:cNvSpPr/>
              <p:nvPr/>
            </p:nvSpPr>
            <p:spPr>
              <a:xfrm>
                <a:off x="6969124" y="548401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4" name="Oval 28"/>
              <p:cNvSpPr/>
              <p:nvPr/>
            </p:nvSpPr>
            <p:spPr>
              <a:xfrm>
                <a:off x="7121524" y="552450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5" name="Oval 29"/>
              <p:cNvSpPr/>
              <p:nvPr/>
            </p:nvSpPr>
            <p:spPr>
              <a:xfrm>
                <a:off x="9819481" y="547687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6" name="Oval 30"/>
              <p:cNvSpPr/>
              <p:nvPr/>
            </p:nvSpPr>
            <p:spPr>
              <a:xfrm>
                <a:off x="9271793" y="4964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7" name="Oval 31"/>
              <p:cNvSpPr/>
              <p:nvPr/>
            </p:nvSpPr>
            <p:spPr>
              <a:xfrm>
                <a:off x="9324181" y="46982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8" name="Oval 32"/>
              <p:cNvSpPr/>
              <p:nvPr/>
            </p:nvSpPr>
            <p:spPr>
              <a:xfrm>
                <a:off x="9409906" y="47267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9" name="Oval 33"/>
              <p:cNvSpPr/>
              <p:nvPr/>
            </p:nvSpPr>
            <p:spPr>
              <a:xfrm>
                <a:off x="9419431" y="458866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0" name="Oval 34"/>
              <p:cNvSpPr/>
              <p:nvPr/>
            </p:nvSpPr>
            <p:spPr>
              <a:xfrm>
                <a:off x="9095581" y="44005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1" name="Oval 35"/>
              <p:cNvSpPr/>
              <p:nvPr/>
            </p:nvSpPr>
            <p:spPr>
              <a:xfrm>
                <a:off x="8933656" y="46839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2" name="Oval 36"/>
              <p:cNvSpPr/>
              <p:nvPr/>
            </p:nvSpPr>
            <p:spPr>
              <a:xfrm>
                <a:off x="8600281" y="454818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3" name="Oval 37"/>
              <p:cNvSpPr/>
              <p:nvPr/>
            </p:nvSpPr>
            <p:spPr>
              <a:xfrm>
                <a:off x="8612187" y="4674394"/>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4" name="Oval 38"/>
              <p:cNvSpPr/>
              <p:nvPr/>
            </p:nvSpPr>
            <p:spPr>
              <a:xfrm>
                <a:off x="8369300" y="43791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5" name="Oval 39"/>
              <p:cNvSpPr/>
              <p:nvPr/>
            </p:nvSpPr>
            <p:spPr>
              <a:xfrm>
                <a:off x="7845425" y="44386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6" name="Oval 40"/>
              <p:cNvSpPr/>
              <p:nvPr/>
            </p:nvSpPr>
            <p:spPr>
              <a:xfrm>
                <a:off x="7914482"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7" name="Oval 41"/>
              <p:cNvSpPr/>
              <p:nvPr/>
            </p:nvSpPr>
            <p:spPr>
              <a:xfrm>
                <a:off x="7983538"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8" name="Oval 42"/>
              <p:cNvSpPr/>
              <p:nvPr/>
            </p:nvSpPr>
            <p:spPr>
              <a:xfrm>
                <a:off x="8052595" y="417433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9" name="Oval 43"/>
              <p:cNvSpPr/>
              <p:nvPr/>
            </p:nvSpPr>
            <p:spPr>
              <a:xfrm>
                <a:off x="8031163" y="40481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0" name="Oval 44"/>
              <p:cNvSpPr/>
              <p:nvPr/>
            </p:nvSpPr>
            <p:spPr>
              <a:xfrm>
                <a:off x="8138320" y="39266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1" name="Oval 45"/>
              <p:cNvSpPr/>
              <p:nvPr/>
            </p:nvSpPr>
            <p:spPr>
              <a:xfrm>
                <a:off x="8212138" y="39671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2" name="Oval 46"/>
              <p:cNvSpPr/>
              <p:nvPr/>
            </p:nvSpPr>
            <p:spPr>
              <a:xfrm>
                <a:off x="8145463" y="40338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3" name="Oval 47"/>
              <p:cNvSpPr/>
              <p:nvPr/>
            </p:nvSpPr>
            <p:spPr>
              <a:xfrm>
                <a:off x="8085932" y="41243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4" name="Oval 48"/>
              <p:cNvSpPr/>
              <p:nvPr/>
            </p:nvSpPr>
            <p:spPr>
              <a:xfrm>
                <a:off x="8150226" y="41171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5" name="Oval 49"/>
              <p:cNvSpPr/>
              <p:nvPr/>
            </p:nvSpPr>
            <p:spPr>
              <a:xfrm>
                <a:off x="8204995" y="41481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6" name="Oval 50"/>
              <p:cNvSpPr/>
              <p:nvPr/>
            </p:nvSpPr>
            <p:spPr>
              <a:xfrm>
                <a:off x="8240713" y="41981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7" name="Oval 51"/>
              <p:cNvSpPr/>
              <p:nvPr/>
            </p:nvSpPr>
            <p:spPr>
              <a:xfrm>
                <a:off x="8243095"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8" name="Oval 52"/>
              <p:cNvSpPr/>
              <p:nvPr/>
            </p:nvSpPr>
            <p:spPr>
              <a:xfrm>
                <a:off x="8171657" y="42767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9" name="Oval 53"/>
              <p:cNvSpPr/>
              <p:nvPr/>
            </p:nvSpPr>
            <p:spPr>
              <a:xfrm>
                <a:off x="8128795" y="4202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grpSp>
      </p:grpSp>
      <p:sp>
        <p:nvSpPr>
          <p:cNvPr id="335" name="Rectangle 9"/>
          <p:cNvSpPr>
            <a:spLocks noChangeArrowheads="1"/>
          </p:cNvSpPr>
          <p:nvPr userDrawn="1">
            <p:custDataLst>
              <p:tags r:id="rId3"/>
            </p:custDataLst>
          </p:nvPr>
        </p:nvSpPr>
        <p:spPr bwMode="gray">
          <a:xfrm>
            <a:off x="1031967" y="3617155"/>
            <a:ext cx="393216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algn="just" defTabSz="1042966">
              <a:defRPr/>
            </a:pPr>
            <a:r>
              <a:rPr lang="en-US" b="1" dirty="0" smtClean="0">
                <a:solidFill>
                  <a:prstClr val="white"/>
                </a:solidFill>
                <a:cs typeface="Arial"/>
              </a:rPr>
              <a:t>About Capgemini</a:t>
            </a:r>
            <a:endParaRPr lang="en-US" sz="1000" dirty="0" smtClean="0">
              <a:solidFill>
                <a:prstClr val="white"/>
              </a:solidFill>
              <a:cs typeface="Arial" pitchFamily="34" charset="0"/>
            </a:endParaRPr>
          </a:p>
          <a:p>
            <a:pPr algn="just"/>
            <a:endParaRPr lang="en-US" sz="1000" dirty="0" smtClean="0">
              <a:solidFill>
                <a:prstClr val="white"/>
              </a:solidFill>
              <a:cs typeface="Arial" pitchFamily="34" charset="0"/>
            </a:endParaRPr>
          </a:p>
          <a:p>
            <a:pPr algn="just"/>
            <a:r>
              <a:rPr lang="en-US" sz="1000" dirty="0" smtClean="0">
                <a:solidFill>
                  <a:prstClr val="white"/>
                </a:solidFill>
                <a:cs typeface="Arial" pitchFamily="34" charset="0"/>
              </a:rPr>
              <a:t>With more than 125,000 </a:t>
            </a:r>
            <a:r>
              <a:rPr lang="en-US" sz="1000" dirty="0">
                <a:solidFill>
                  <a:prstClr val="white"/>
                </a:solidFill>
                <a:cs typeface="Arial" pitchFamily="34" charset="0"/>
              </a:rPr>
              <a:t>people in </a:t>
            </a:r>
            <a:r>
              <a:rPr lang="en-US" sz="1000" dirty="0" smtClean="0">
                <a:solidFill>
                  <a:prstClr val="white"/>
                </a:solidFill>
                <a:cs typeface="Arial" pitchFamily="34" charset="0"/>
              </a:rPr>
              <a:t>44 </a:t>
            </a:r>
            <a:r>
              <a:rPr lang="en-US" sz="1000" dirty="0">
                <a:solidFill>
                  <a:prstClr val="white"/>
                </a:solidFill>
                <a:cs typeface="Arial" pitchFamily="34" charset="0"/>
              </a:rPr>
              <a:t>countries, Capgemini is one of the world's foremost providers of consulting, technology and outsourcing services. The Group reported </a:t>
            </a:r>
            <a:r>
              <a:rPr lang="en-US" sz="1000" dirty="0" smtClean="0">
                <a:solidFill>
                  <a:prstClr val="white"/>
                </a:solidFill>
                <a:cs typeface="Arial" pitchFamily="34" charset="0"/>
              </a:rPr>
              <a:t>2012 </a:t>
            </a:r>
            <a:r>
              <a:rPr lang="en-US" sz="1000" dirty="0">
                <a:solidFill>
                  <a:prstClr val="white"/>
                </a:solidFill>
                <a:cs typeface="Arial" pitchFamily="34" charset="0"/>
              </a:rPr>
              <a:t>global revenues of EUR </a:t>
            </a:r>
            <a:r>
              <a:rPr lang="en-US" sz="1000" dirty="0" smtClean="0">
                <a:solidFill>
                  <a:prstClr val="white"/>
                </a:solidFill>
                <a:cs typeface="Arial" pitchFamily="34" charset="0"/>
              </a:rPr>
              <a:t>10.3 billion (approximately $13.5 billion USD).</a:t>
            </a:r>
            <a:endParaRPr lang="en-US" sz="1000" dirty="0">
              <a:solidFill>
                <a:prstClr val="white"/>
              </a:solidFill>
              <a:cs typeface="Arial" pitchFamily="34" charset="0"/>
            </a:endParaRPr>
          </a:p>
          <a:p>
            <a:pPr algn="just"/>
            <a:r>
              <a:rPr lang="en-US" sz="1000" dirty="0">
                <a:solidFill>
                  <a:prstClr val="white"/>
                </a:solidFill>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Experience</a:t>
            </a:r>
            <a:r>
              <a:rPr lang="en-US" sz="1000" baseline="30000" dirty="0">
                <a:solidFill>
                  <a:prstClr val="white"/>
                </a:solidFill>
                <a:cs typeface="Arial" pitchFamily="34" charset="0"/>
              </a:rPr>
              <a:t>TM</a:t>
            </a:r>
            <a:r>
              <a:rPr lang="en-US" sz="1000" dirty="0">
                <a:solidFill>
                  <a:prstClr val="white"/>
                </a:solidFill>
                <a:cs typeface="Arial" pitchFamily="34" charset="0"/>
              </a:rPr>
              <a:t>, and draws on Rightshore</a:t>
            </a:r>
            <a:r>
              <a:rPr lang="en-US" sz="1000" b="1" baseline="30000" dirty="0">
                <a:solidFill>
                  <a:prstClr val="white"/>
                </a:solidFill>
                <a:cs typeface="Arial" pitchFamily="34" charset="0"/>
              </a:rPr>
              <a:t> ®</a:t>
            </a:r>
            <a:r>
              <a:rPr lang="en-US" sz="1000" dirty="0">
                <a:solidFill>
                  <a:prstClr val="white"/>
                </a:solidFill>
                <a:cs typeface="Arial" pitchFamily="34" charset="0"/>
              </a:rPr>
              <a:t>, its worldwide delivery model</a:t>
            </a:r>
            <a:r>
              <a:rPr lang="en-US" sz="1000" dirty="0" smtClean="0">
                <a:solidFill>
                  <a:prstClr val="white"/>
                </a:solidFill>
                <a:cs typeface="Arial" pitchFamily="34" charset="0"/>
              </a:rPr>
              <a:t>.</a:t>
            </a:r>
            <a:endParaRPr lang="en-US" sz="1000" dirty="0">
              <a:solidFill>
                <a:prstClr val="white"/>
              </a:solidFill>
              <a:cs typeface="Arial" pitchFamily="34" charset="0"/>
            </a:endParaRPr>
          </a:p>
          <a:p>
            <a:pPr algn="just"/>
            <a:endParaRPr lang="en-US" sz="1050" dirty="0">
              <a:solidFill>
                <a:prstClr val="white"/>
              </a:solidFill>
              <a:cs typeface="Arial" pitchFamily="34" charset="0"/>
            </a:endParaRPr>
          </a:p>
          <a:p>
            <a:pPr algn="just"/>
            <a:r>
              <a:rPr lang="en-US" sz="900" i="1" dirty="0">
                <a:solidFill>
                  <a:prstClr val="white"/>
                </a:solidFill>
                <a:cs typeface="Arial" pitchFamily="34" charset="0"/>
              </a:rPr>
              <a:t>Rightshore</a:t>
            </a:r>
            <a:r>
              <a:rPr lang="en-US" sz="900" i="1" baseline="30000" dirty="0">
                <a:solidFill>
                  <a:prstClr val="white"/>
                </a:solidFill>
                <a:cs typeface="Arial" pitchFamily="34" charset="0"/>
              </a:rPr>
              <a:t>®</a:t>
            </a:r>
            <a:r>
              <a:rPr lang="en-US" sz="900" i="1" dirty="0">
                <a:solidFill>
                  <a:prstClr val="white"/>
                </a:solidFill>
                <a:cs typeface="Arial" pitchFamily="34" charset="0"/>
              </a:rPr>
              <a:t> is a trademark belonging to Capgemini</a:t>
            </a:r>
            <a:endParaRPr lang="en-US" sz="900" b="1" kern="0" noProof="1">
              <a:solidFill>
                <a:prstClr val="white"/>
              </a:solidFill>
              <a:cs typeface="Arial" pitchFamily="34" charset="0"/>
            </a:endParaRPr>
          </a:p>
        </p:txBody>
      </p:sp>
      <p:pic>
        <p:nvPicPr>
          <p:cNvPr id="338" name="Image 337" descr="CBE_Label_ppt.png"/>
          <p:cNvPicPr>
            <a:picLocks noChangeAspect="1"/>
          </p:cNvPicPr>
          <p:nvPr userDrawn="1"/>
        </p:nvPicPr>
        <p:blipFill>
          <a:blip r:embed="rId8" cstate="print"/>
          <a:stretch>
            <a:fillRect/>
          </a:stretch>
        </p:blipFill>
        <p:spPr>
          <a:xfrm>
            <a:off x="775577" y="3468297"/>
            <a:ext cx="519571" cy="523727"/>
          </a:xfrm>
          <a:prstGeom prst="rect">
            <a:avLst/>
          </a:prstGeom>
          <a:noFill/>
          <a:ln>
            <a:noFill/>
          </a:ln>
        </p:spPr>
      </p:pic>
    </p:spTree>
    <p:extLst>
      <p:ext uri="{BB962C8B-B14F-4D97-AF65-F5344CB8AC3E}">
        <p14:creationId xmlns:p14="http://schemas.microsoft.com/office/powerpoint/2010/main" xmlns="" val="3486781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92531"/>
            <a:stretch/>
          </p:blipFill>
          <p:spPr bwMode="auto">
            <a:xfrm rot="16200000">
              <a:off x="4419601" y="-4419601"/>
              <a:ext cx="304800" cy="914400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t="96227"/>
            <a:stretch/>
          </p:blipFill>
          <p:spPr bwMode="auto">
            <a:xfrm>
              <a:off x="-1" y="6599208"/>
              <a:ext cx="9144001" cy="258792"/>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p14="http://schemas.microsoft.com/office/powerpoint/2010/main" xmlns="" val="3928383842"/>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92531"/>
            <a:stretch/>
          </p:blipFill>
          <p:spPr bwMode="auto">
            <a:xfrm rot="16200000">
              <a:off x="4419601" y="-4419601"/>
              <a:ext cx="304800" cy="914400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t="96227"/>
            <a:stretch/>
          </p:blipFill>
          <p:spPr bwMode="auto">
            <a:xfrm>
              <a:off x="-1" y="6599208"/>
              <a:ext cx="9144001" cy="258792"/>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p14="http://schemas.microsoft.com/office/powerpoint/2010/main" xmlns="" val="259640365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92531"/>
            <a:stretch/>
          </p:blipFill>
          <p:spPr bwMode="auto">
            <a:xfrm rot="16200000">
              <a:off x="4419601" y="-4419601"/>
              <a:ext cx="304800" cy="914400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t="96227"/>
            <a:stretch/>
          </p:blipFill>
          <p:spPr bwMode="auto">
            <a:xfrm>
              <a:off x="-1" y="6599208"/>
              <a:ext cx="9144001" cy="258792"/>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p14="http://schemas.microsoft.com/office/powerpoint/2010/main" xmlns="" val="126409418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92531"/>
            <a:stretch/>
          </p:blipFill>
          <p:spPr bwMode="auto">
            <a:xfrm rot="16200000">
              <a:off x="4419601" y="-4419601"/>
              <a:ext cx="304800" cy="914400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t="96227"/>
            <a:stretch/>
          </p:blipFill>
          <p:spPr bwMode="auto">
            <a:xfrm>
              <a:off x="-1" y="6599208"/>
              <a:ext cx="9144001" cy="258792"/>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p14="http://schemas.microsoft.com/office/powerpoint/2010/main" xmlns="" val="280700005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r>
              <a:rPr lang="en-US" dirty="0" smtClean="0"/>
              <a:t>Click to edit Master title style</a:t>
            </a:r>
            <a:endParaRPr lang="en-US" dirty="0"/>
          </a:p>
        </p:txBody>
      </p:sp>
      <p:sp>
        <p:nvSpPr>
          <p:cNvPr id="3" name="Text Placeholder 2"/>
          <p:cNvSpPr>
            <a:spLocks noGrp="1"/>
          </p:cNvSpPr>
          <p:nvPr>
            <p:ph type="body" idx="1"/>
          </p:nvPr>
        </p:nvSpPr>
        <p:spPr>
          <a:xfrm>
            <a:off x="320040" y="1234218"/>
            <a:ext cx="8503920" cy="138499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marL="233363" lvl="0" indent="-233363" algn="l" defTabSz="914400" rtl="0" eaLnBrk="1" fontAlgn="base" latinLnBrk="0" hangingPunct="1">
              <a:spcBef>
                <a:spcPct val="0"/>
              </a:spcBef>
              <a:spcAft>
                <a:spcPts val="600"/>
              </a:spcAft>
              <a:buClr>
                <a:schemeClr val="accent2"/>
              </a:buClr>
              <a:buFont typeface="Wingdings" pitchFamily="2" charset="2"/>
              <a:buChar char="§"/>
            </a:pPr>
            <a:r>
              <a:rPr lang="en-US" smtClean="0"/>
              <a:t>Click to edit Master text styles</a:t>
            </a:r>
          </a:p>
          <a:p>
            <a:pPr marL="233363" lvl="1" indent="-233363" algn="l" defTabSz="914400" rtl="0" eaLnBrk="1" fontAlgn="base" latinLnBrk="0" hangingPunct="1">
              <a:spcBef>
                <a:spcPct val="0"/>
              </a:spcBef>
              <a:spcAft>
                <a:spcPts val="600"/>
              </a:spcAft>
              <a:buClr>
                <a:schemeClr val="accent2"/>
              </a:buClr>
              <a:buFont typeface="Wingdings" pitchFamily="2" charset="2"/>
              <a:buChar char="§"/>
            </a:pPr>
            <a:r>
              <a:rPr lang="en-US" smtClean="0"/>
              <a:t>Second level</a:t>
            </a:r>
          </a:p>
          <a:p>
            <a:pPr marL="233363" lvl="2" indent="-233363" algn="l" defTabSz="914400" rtl="0" eaLnBrk="1" fontAlgn="base" latinLnBrk="0" hangingPunct="1">
              <a:spcBef>
                <a:spcPct val="0"/>
              </a:spcBef>
              <a:spcAft>
                <a:spcPts val="600"/>
              </a:spcAft>
              <a:buClr>
                <a:schemeClr val="accent2"/>
              </a:buClr>
              <a:buFont typeface="Wingdings" pitchFamily="2" charset="2"/>
              <a:buChar char="§"/>
            </a:pPr>
            <a:r>
              <a:rPr lang="en-US" smtClean="0"/>
              <a:t>Third level</a:t>
            </a:r>
          </a:p>
          <a:p>
            <a:pPr marL="233363" lvl="3"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Fourth level</a:t>
            </a:r>
          </a:p>
          <a:p>
            <a:pPr marL="233363" lvl="4"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Fifth level</a:t>
            </a:r>
            <a:endParaRPr lang="en-US" dirty="0"/>
          </a:p>
        </p:txBody>
      </p:sp>
      <p:pic>
        <p:nvPicPr>
          <p:cNvPr id="11" name="Picture 4" descr="capgemini_rgb-[Converted]"/>
          <p:cNvPicPr>
            <a:picLocks noChangeAspect="1" noChangeArrowheads="1"/>
          </p:cNvPicPr>
          <p:nvPr/>
        </p:nvPicPr>
        <p:blipFill>
          <a:blip r:embed="rId23" cstate="print"/>
          <a:srcRect/>
          <a:stretch>
            <a:fillRect/>
          </a:stretch>
        </p:blipFill>
        <p:spPr bwMode="gray">
          <a:xfrm>
            <a:off x="273049" y="6451604"/>
            <a:ext cx="1289051" cy="301625"/>
          </a:xfrm>
          <a:prstGeom prst="rect">
            <a:avLst/>
          </a:prstGeom>
          <a:noFill/>
          <a:ln w="9525">
            <a:noFill/>
            <a:miter lim="800000"/>
            <a:headEnd/>
            <a:tailEnd/>
          </a:ln>
        </p:spPr>
      </p:pic>
      <p:sp>
        <p:nvSpPr>
          <p:cNvPr id="12" name="Text Box 5"/>
          <p:cNvSpPr txBox="1">
            <a:spLocks noChangeArrowheads="1"/>
          </p:cNvSpPr>
          <p:nvPr/>
        </p:nvSpPr>
        <p:spPr bwMode="gray">
          <a:xfrm>
            <a:off x="1571625" y="6491288"/>
            <a:ext cx="1311578" cy="223138"/>
          </a:xfrm>
          <a:prstGeom prst="rect">
            <a:avLst/>
          </a:prstGeom>
          <a:noFill/>
          <a:ln w="19050">
            <a:noFill/>
            <a:miter lim="800000"/>
            <a:headEnd/>
            <a:tailEnd/>
          </a:ln>
          <a:effectLst/>
        </p:spPr>
        <p:txBody>
          <a:bodyPr wrap="none">
            <a:spAutoFit/>
          </a:bodyPr>
          <a:lstStyle/>
          <a:p>
            <a:pPr eaLnBrk="0" hangingPunct="0">
              <a:lnSpc>
                <a:spcPct val="85000"/>
              </a:lnSpc>
            </a:pPr>
            <a:r>
              <a:rPr lang="en-US" sz="1000" dirty="0">
                <a:solidFill>
                  <a:srgbClr val="969696"/>
                </a:solidFill>
              </a:rPr>
              <a:t>In collaboration with</a:t>
            </a:r>
          </a:p>
        </p:txBody>
      </p:sp>
      <p:sp>
        <p:nvSpPr>
          <p:cNvPr id="14" name="Line 7"/>
          <p:cNvSpPr>
            <a:spLocks noChangeShapeType="1"/>
          </p:cNvSpPr>
          <p:nvPr/>
        </p:nvSpPr>
        <p:spPr bwMode="gray">
          <a:xfrm>
            <a:off x="8691563" y="6500813"/>
            <a:ext cx="0" cy="239712"/>
          </a:xfrm>
          <a:prstGeom prst="line">
            <a:avLst/>
          </a:prstGeom>
          <a:noFill/>
          <a:ln w="9525">
            <a:solidFill>
              <a:srgbClr val="969696"/>
            </a:solidFill>
            <a:round/>
            <a:headEnd/>
            <a:tailEnd/>
          </a:ln>
          <a:effectLst/>
        </p:spPr>
        <p:txBody>
          <a:bodyPr wrap="none" anchor="ctr"/>
          <a:lstStyle/>
          <a:p>
            <a:endParaRPr lang="en-US" dirty="0">
              <a:solidFill>
                <a:srgbClr val="969696"/>
              </a:solidFill>
            </a:endParaRPr>
          </a:p>
        </p:txBody>
      </p:sp>
      <p:sp>
        <p:nvSpPr>
          <p:cNvPr id="15" name="Text Box 8"/>
          <p:cNvSpPr txBox="1">
            <a:spLocks noChangeArrowheads="1"/>
          </p:cNvSpPr>
          <p:nvPr/>
        </p:nvSpPr>
        <p:spPr bwMode="gray">
          <a:xfrm>
            <a:off x="8691564" y="6499225"/>
            <a:ext cx="452437" cy="242888"/>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800">
                <a:solidFill>
                  <a:srgbClr val="969696"/>
                </a:solidFill>
                <a:latin typeface="Arial Narrow" pitchFamily="34" charset="0"/>
              </a:rPr>
              <a:pPr eaLnBrk="0" hangingPunct="0">
                <a:lnSpc>
                  <a:spcPct val="85000"/>
                </a:lnSpc>
              </a:pPr>
              <a:t>‹#›</a:t>
            </a:fld>
            <a:endParaRPr lang="en-US" sz="800" dirty="0">
              <a:solidFill>
                <a:srgbClr val="969696"/>
              </a:solidFill>
              <a:latin typeface="Arial Narrow" pitchFamily="34" charset="0"/>
            </a:endParaRPr>
          </a:p>
        </p:txBody>
      </p:sp>
      <p:sp>
        <p:nvSpPr>
          <p:cNvPr id="16" name="Text Box 9"/>
          <p:cNvSpPr txBox="1">
            <a:spLocks noChangeArrowheads="1"/>
          </p:cNvSpPr>
          <p:nvPr/>
        </p:nvSpPr>
        <p:spPr bwMode="gray">
          <a:xfrm>
            <a:off x="4106865" y="6548438"/>
            <a:ext cx="4551363" cy="170816"/>
          </a:xfrm>
          <a:prstGeom prst="rect">
            <a:avLst/>
          </a:prstGeom>
          <a:noFill/>
          <a:ln w="12700" algn="ctr">
            <a:noFill/>
            <a:miter lim="800000"/>
            <a:headEnd/>
            <a:tailEnd type="none" w="lg" len="lg"/>
          </a:ln>
          <a:effectLst/>
        </p:spPr>
        <p:txBody>
          <a:bodyPr>
            <a:spAutoFit/>
          </a:bodyPr>
          <a:lstStyle/>
          <a:p>
            <a:pPr algn="r" eaLnBrk="0" hangingPunct="0">
              <a:lnSpc>
                <a:spcPct val="85000"/>
              </a:lnSpc>
            </a:pPr>
            <a:r>
              <a:rPr lang="en-US" sz="600" dirty="0" smtClean="0">
                <a:solidFill>
                  <a:srgbClr val="969696"/>
                </a:solidFill>
                <a:latin typeface="Arial Narrow" pitchFamily="34" charset="0"/>
              </a:rPr>
              <a:t>The information contained in this document is proprietary. Copyright © 2013 Capgemini. All rights reserved.</a:t>
            </a:r>
            <a:endParaRPr lang="en-US" sz="600" dirty="0">
              <a:solidFill>
                <a:srgbClr val="969696"/>
              </a:solidFill>
              <a:latin typeface="Arial Narrow" pitchFamily="34" charset="0"/>
            </a:endParaRPr>
          </a:p>
        </p:txBody>
      </p:sp>
      <p:sp>
        <p:nvSpPr>
          <p:cNvPr id="13" name="Freeform 4"/>
          <p:cNvSpPr>
            <a:spLocks/>
          </p:cNvSpPr>
          <p:nvPr>
            <p:custDataLst>
              <p:tags r:id="rId22"/>
            </p:custDataLst>
          </p:nvPr>
        </p:nvSpPr>
        <p:spPr bwMode="auto">
          <a:xfrm>
            <a:off x="-3012" y="289055"/>
            <a:ext cx="9147011" cy="704005"/>
          </a:xfrm>
          <a:custGeom>
            <a:avLst/>
            <a:gdLst>
              <a:gd name="connsiteX0" fmla="*/ 9509 w 10000"/>
              <a:gd name="connsiteY0" fmla="*/ 4537 h 10000"/>
              <a:gd name="connsiteX1" fmla="*/ 972 w 10000"/>
              <a:gd name="connsiteY1" fmla="*/ 4537 h 10000"/>
              <a:gd name="connsiteX2" fmla="*/ 484 w 10000"/>
              <a:gd name="connsiteY2" fmla="*/ 9122 h 10000"/>
              <a:gd name="connsiteX3" fmla="*/ 0 w 10000"/>
              <a:gd name="connsiteY3" fmla="*/ 4537 h 10000"/>
              <a:gd name="connsiteX4" fmla="*/ 484 w 10000"/>
              <a:gd name="connsiteY4" fmla="*/ 10000 h 10000"/>
              <a:gd name="connsiteX5" fmla="*/ 972 w 10000"/>
              <a:gd name="connsiteY5" fmla="*/ 5463 h 10000"/>
              <a:gd name="connsiteX6" fmla="*/ 9509 w 10000"/>
              <a:gd name="connsiteY6" fmla="*/ 5463 h 10000"/>
              <a:gd name="connsiteX7" fmla="*/ 10000 w 10000"/>
              <a:gd name="connsiteY7" fmla="*/ 927 h 10000"/>
              <a:gd name="connsiteX8" fmla="*/ 10000 w 10000"/>
              <a:gd name="connsiteY8" fmla="*/ 0 h 10000"/>
              <a:gd name="connsiteX9" fmla="*/ 9509 w 10000"/>
              <a:gd name="connsiteY9" fmla="*/ 4537 h 10000"/>
              <a:gd name="connsiteX0" fmla="*/ 9106 w 9597"/>
              <a:gd name="connsiteY0" fmla="*/ 4537 h 10610"/>
              <a:gd name="connsiteX1" fmla="*/ 569 w 9597"/>
              <a:gd name="connsiteY1" fmla="*/ 4537 h 10610"/>
              <a:gd name="connsiteX2" fmla="*/ 81 w 9597"/>
              <a:gd name="connsiteY2" fmla="*/ 9122 h 10610"/>
              <a:gd name="connsiteX3" fmla="*/ 81 w 9597"/>
              <a:gd name="connsiteY3" fmla="*/ 10000 h 10610"/>
              <a:gd name="connsiteX4" fmla="*/ 569 w 9597"/>
              <a:gd name="connsiteY4" fmla="*/ 5463 h 10610"/>
              <a:gd name="connsiteX5" fmla="*/ 9106 w 9597"/>
              <a:gd name="connsiteY5" fmla="*/ 5463 h 10610"/>
              <a:gd name="connsiteX6" fmla="*/ 9597 w 9597"/>
              <a:gd name="connsiteY6" fmla="*/ 927 h 10610"/>
              <a:gd name="connsiteX7" fmla="*/ 9597 w 9597"/>
              <a:gd name="connsiteY7" fmla="*/ 0 h 10610"/>
              <a:gd name="connsiteX8" fmla="*/ 9106 w 9597"/>
              <a:gd name="connsiteY8" fmla="*/ 4537 h 10610"/>
              <a:gd name="connsiteX0" fmla="*/ 9488 w 10000"/>
              <a:gd name="connsiteY0" fmla="*/ 4276 h 10000"/>
              <a:gd name="connsiteX1" fmla="*/ 593 w 10000"/>
              <a:gd name="connsiteY1" fmla="*/ 4276 h 10000"/>
              <a:gd name="connsiteX2" fmla="*/ 84 w 10000"/>
              <a:gd name="connsiteY2" fmla="*/ 8598 h 10000"/>
              <a:gd name="connsiteX3" fmla="*/ 84 w 10000"/>
              <a:gd name="connsiteY3" fmla="*/ 9425 h 10000"/>
              <a:gd name="connsiteX4" fmla="*/ 593 w 10000"/>
              <a:gd name="connsiteY4" fmla="*/ 5149 h 10000"/>
              <a:gd name="connsiteX5" fmla="*/ 9488 w 10000"/>
              <a:gd name="connsiteY5" fmla="*/ 5149 h 10000"/>
              <a:gd name="connsiteX6" fmla="*/ 10000 w 10000"/>
              <a:gd name="connsiteY6" fmla="*/ 874 h 10000"/>
              <a:gd name="connsiteX7" fmla="*/ 10000 w 10000"/>
              <a:gd name="connsiteY7" fmla="*/ 0 h 10000"/>
              <a:gd name="connsiteX8" fmla="*/ 9488 w 10000"/>
              <a:gd name="connsiteY8" fmla="*/ 4276 h 10000"/>
              <a:gd name="connsiteX0" fmla="*/ 9407 w 9919"/>
              <a:gd name="connsiteY0" fmla="*/ 4276 h 9425"/>
              <a:gd name="connsiteX1" fmla="*/ 512 w 9919"/>
              <a:gd name="connsiteY1" fmla="*/ 4276 h 9425"/>
              <a:gd name="connsiteX2" fmla="*/ 3 w 9919"/>
              <a:gd name="connsiteY2" fmla="*/ 8598 h 9425"/>
              <a:gd name="connsiteX3" fmla="*/ 3 w 9919"/>
              <a:gd name="connsiteY3" fmla="*/ 9425 h 9425"/>
              <a:gd name="connsiteX4" fmla="*/ 512 w 9919"/>
              <a:gd name="connsiteY4" fmla="*/ 5149 h 9425"/>
              <a:gd name="connsiteX5" fmla="*/ 9407 w 9919"/>
              <a:gd name="connsiteY5" fmla="*/ 5149 h 9425"/>
              <a:gd name="connsiteX6" fmla="*/ 9919 w 9919"/>
              <a:gd name="connsiteY6" fmla="*/ 874 h 9425"/>
              <a:gd name="connsiteX7" fmla="*/ 9919 w 9919"/>
              <a:gd name="connsiteY7" fmla="*/ 0 h 9425"/>
              <a:gd name="connsiteX8" fmla="*/ 9407 w 9919"/>
              <a:gd name="connsiteY8" fmla="*/ 4276 h 9425"/>
              <a:gd name="connsiteX0" fmla="*/ 9481 w 9997"/>
              <a:gd name="connsiteY0" fmla="*/ 4537 h 10000"/>
              <a:gd name="connsiteX1" fmla="*/ 513 w 9997"/>
              <a:gd name="connsiteY1" fmla="*/ 4537 h 10000"/>
              <a:gd name="connsiteX2" fmla="*/ 0 w 9997"/>
              <a:gd name="connsiteY2" fmla="*/ 10000 h 10000"/>
              <a:gd name="connsiteX3" fmla="*/ 0 w 9997"/>
              <a:gd name="connsiteY3" fmla="*/ 10000 h 10000"/>
              <a:gd name="connsiteX4" fmla="*/ 513 w 9997"/>
              <a:gd name="connsiteY4" fmla="*/ 5463 h 10000"/>
              <a:gd name="connsiteX5" fmla="*/ 9481 w 9997"/>
              <a:gd name="connsiteY5" fmla="*/ 5463 h 10000"/>
              <a:gd name="connsiteX6" fmla="*/ 9997 w 9997"/>
              <a:gd name="connsiteY6" fmla="*/ 927 h 10000"/>
              <a:gd name="connsiteX7" fmla="*/ 9997 w 9997"/>
              <a:gd name="connsiteY7" fmla="*/ 0 h 10000"/>
              <a:gd name="connsiteX8" fmla="*/ 9481 w 9997"/>
              <a:gd name="connsiteY8" fmla="*/ 4537 h 10000"/>
              <a:gd name="connsiteX0" fmla="*/ 9487 w 10003"/>
              <a:gd name="connsiteY0" fmla="*/ 4537 h 10000"/>
              <a:gd name="connsiteX1" fmla="*/ 516 w 10003"/>
              <a:gd name="connsiteY1" fmla="*/ 4537 h 10000"/>
              <a:gd name="connsiteX2" fmla="*/ 3 w 10003"/>
              <a:gd name="connsiteY2" fmla="*/ 10000 h 10000"/>
              <a:gd name="connsiteX3" fmla="*/ 3 w 10003"/>
              <a:gd name="connsiteY3" fmla="*/ 10000 h 10000"/>
              <a:gd name="connsiteX4" fmla="*/ 516 w 10003"/>
              <a:gd name="connsiteY4" fmla="*/ 5463 h 10000"/>
              <a:gd name="connsiteX5" fmla="*/ 9487 w 10003"/>
              <a:gd name="connsiteY5" fmla="*/ 5463 h 10000"/>
              <a:gd name="connsiteX6" fmla="*/ 10003 w 10003"/>
              <a:gd name="connsiteY6" fmla="*/ 927 h 10000"/>
              <a:gd name="connsiteX7" fmla="*/ 10003 w 10003"/>
              <a:gd name="connsiteY7" fmla="*/ 0 h 10000"/>
              <a:gd name="connsiteX8" fmla="*/ 9487 w 10003"/>
              <a:gd name="connsiteY8" fmla="*/ 453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3" h="10000">
                <a:moveTo>
                  <a:pt x="9487" y="4537"/>
                </a:moveTo>
                <a:lnTo>
                  <a:pt x="516" y="4537"/>
                </a:lnTo>
                <a:cubicBezTo>
                  <a:pt x="112" y="4537"/>
                  <a:pt x="0" y="9367"/>
                  <a:pt x="3" y="10000"/>
                </a:cubicBezTo>
                <a:lnTo>
                  <a:pt x="3" y="10000"/>
                </a:lnTo>
                <a:cubicBezTo>
                  <a:pt x="3" y="10000"/>
                  <a:pt x="112" y="5463"/>
                  <a:pt x="516" y="5463"/>
                </a:cubicBezTo>
                <a:lnTo>
                  <a:pt x="9487" y="5463"/>
                </a:lnTo>
                <a:cubicBezTo>
                  <a:pt x="9892" y="5463"/>
                  <a:pt x="10003" y="927"/>
                  <a:pt x="10003" y="927"/>
                </a:cubicBezTo>
                <a:lnTo>
                  <a:pt x="10003" y="0"/>
                </a:lnTo>
                <a:cubicBezTo>
                  <a:pt x="10003" y="0"/>
                  <a:pt x="9892" y="4537"/>
                  <a:pt x="9487" y="4537"/>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prstClr val="black"/>
              </a:solidFill>
            </a:endParaRPr>
          </a:p>
        </p:txBody>
      </p:sp>
      <p:pic>
        <p:nvPicPr>
          <p:cNvPr id="19" name="Picture 18" descr="CECOLRSM"/>
          <p:cNvPicPr/>
          <p:nvPr/>
        </p:nvPicPr>
        <p:blipFill>
          <a:blip r:embed="rId24" cstate="print"/>
          <a:srcRect/>
          <a:stretch>
            <a:fillRect/>
          </a:stretch>
        </p:blipFill>
        <p:spPr bwMode="auto">
          <a:xfrm>
            <a:off x="2883204" y="6455907"/>
            <a:ext cx="1587197" cy="338909"/>
          </a:xfrm>
          <a:prstGeom prst="rect">
            <a:avLst/>
          </a:prstGeom>
          <a:noFill/>
          <a:ln w="9525">
            <a:noFill/>
            <a:miter lim="800000"/>
            <a:headEnd/>
            <a:tailEnd/>
          </a:ln>
        </p:spPr>
      </p:pic>
    </p:spTree>
    <p:extLst>
      <p:ext uri="{BB962C8B-B14F-4D97-AF65-F5344CB8AC3E}">
        <p14:creationId xmlns:p14="http://schemas.microsoft.com/office/powerpoint/2010/main" xmlns="" val="4252366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fontAlgn="base" latinLnBrk="0" hangingPunct="1">
        <a:spcBef>
          <a:spcPct val="0"/>
        </a:spcBef>
        <a:spcAft>
          <a:spcPct val="0"/>
        </a:spcAft>
        <a:buNone/>
        <a:defRPr lang="en-US" sz="2200" b="1" kern="1200" dirty="0">
          <a:solidFill>
            <a:schemeClr val="tx1"/>
          </a:solidFill>
          <a:latin typeface="Arial" pitchFamily="34" charset="0"/>
          <a:ea typeface="+mj-ea"/>
          <a:cs typeface="Arial" pitchFamily="34" charset="0"/>
        </a:defRPr>
      </a:lvl1pPr>
    </p:titleStyle>
    <p:bodyStyle>
      <a:lvl1pPr marL="342900" indent="-342900"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1pPr>
      <a:lvl2pPr marL="742950" indent="-285750" algn="l" defTabSz="914400" rtl="0" eaLnBrk="1" fontAlgn="base" latinLnBrk="0" hangingPunct="1">
        <a:spcBef>
          <a:spcPct val="0"/>
        </a:spcBef>
        <a:spcAft>
          <a:spcPts val="600"/>
        </a:spcAft>
        <a:buClr>
          <a:schemeClr val="accent2"/>
        </a:buClr>
        <a:buFont typeface="Arial" pitchFamily="34" charset="0"/>
        <a:buChar char="–"/>
        <a:defRPr lang="en-US" sz="1600" b="0" kern="1200" dirty="0" smtClean="0">
          <a:solidFill>
            <a:schemeClr val="tx1"/>
          </a:solidFill>
          <a:latin typeface="Arial" pitchFamily="34" charset="0"/>
          <a:ea typeface="+mn-ea"/>
          <a:cs typeface="Arial" pitchFamily="34" charset="0"/>
        </a:defRPr>
      </a:lvl2pPr>
      <a:lvl3pPr marL="1025525" indent="-2286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1317625" indent="-228600" algn="l" defTabSz="914400"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1541463" indent="-22860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package" Target="../embeddings/Microsoft_Office_Excel_Worksheet1.xlsx"/><Relationship Id="rId4" Type="http://schemas.openxmlformats.org/officeDocument/2006/relationships/oleObject" Target="../embeddings/Microsoft_Office_Excel_97-2003_Worksheet1.xls"/></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Office_Excel_Worksheet2.xlsx"/><Relationship Id="rId2" Type="http://schemas.openxmlformats.org/officeDocument/2006/relationships/slideLayout" Target="../slideLayouts/slideLayout4.xml"/><Relationship Id="rId1" Type="http://schemas.openxmlformats.org/officeDocument/2006/relationships/vmlDrawing" Target="../drawings/vmlDrawing6.v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Post-Cutover to Interval Billing Deep Dive </a:t>
            </a:r>
            <a:r>
              <a:rPr lang="en-US" dirty="0"/>
              <a:t>Workshop</a:t>
            </a:r>
          </a:p>
        </p:txBody>
      </p:sp>
      <p:sp>
        <p:nvSpPr>
          <p:cNvPr id="3" name="Subtitle 2"/>
          <p:cNvSpPr>
            <a:spLocks noGrp="1"/>
          </p:cNvSpPr>
          <p:nvPr>
            <p:ph type="subTitle" idx="1"/>
          </p:nvPr>
        </p:nvSpPr>
        <p:spPr/>
        <p:txBody>
          <a:bodyPr/>
          <a:lstStyle/>
          <a:p>
            <a:r>
              <a:rPr lang="en-US" dirty="0" smtClean="0"/>
              <a:t>02/06/2014</a:t>
            </a:r>
            <a:endParaRPr lang="en-US" dirty="0"/>
          </a:p>
        </p:txBody>
      </p:sp>
    </p:spTree>
    <p:extLst>
      <p:ext uri="{BB962C8B-B14F-4D97-AF65-F5344CB8AC3E}">
        <p14:creationId xmlns:p14="http://schemas.microsoft.com/office/powerpoint/2010/main" xmlns="" val="4171208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a:buNone/>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Agenda</a:t>
            </a:r>
          </a:p>
        </p:txBody>
      </p:sp>
      <p:sp>
        <p:nvSpPr>
          <p:cNvPr id="4" name="Content Placeholder 2"/>
          <p:cNvSpPr txBox="1">
            <a:spLocks/>
          </p:cNvSpPr>
          <p:nvPr/>
        </p:nvSpPr>
        <p:spPr>
          <a:xfrm>
            <a:off x="304800" y="914400"/>
            <a:ext cx="8229600" cy="5059363"/>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rmAutofit/>
          </a:bodyPr>
          <a:lstStyle/>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Opening Remarks</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Who's Here</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Review Previous Workshop Outcomes </a:t>
            </a:r>
          </a:p>
          <a:p>
            <a:pPr lvl="2" indent="-223838" fontAlgn="base">
              <a:spcBef>
                <a:spcPct val="0"/>
              </a:spcBef>
              <a:spcAft>
                <a:spcPts val="600"/>
              </a:spcAft>
              <a:buClr>
                <a:schemeClr val="accent2"/>
              </a:buClr>
              <a:buFont typeface="Arial" pitchFamily="34" charset="0"/>
              <a:buChar char="–"/>
            </a:pPr>
            <a:r>
              <a:rPr lang="en-US" sz="2000" dirty="0" smtClean="0">
                <a:solidFill>
                  <a:srgbClr val="0070C0"/>
                </a:solidFill>
                <a:latin typeface="Arial" pitchFamily="34" charset="0"/>
                <a:cs typeface="Arial" pitchFamily="34" charset="0"/>
              </a:rPr>
              <a:t>Review of VEE in MDM Requirements for Interval Reads</a:t>
            </a:r>
            <a:endPar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endParaRP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Process Drill Downs</a:t>
            </a:r>
          </a:p>
          <a:p>
            <a:pPr lvl="2" indent="-223838" fontAlgn="base">
              <a:spcBef>
                <a:spcPct val="0"/>
              </a:spcBef>
              <a:spcAft>
                <a:spcPts val="600"/>
              </a:spcAft>
              <a:buClr>
                <a:schemeClr val="accent2"/>
              </a:buClr>
              <a:buFont typeface="Arial" pitchFamily="34" charset="0"/>
              <a:buChar char="–"/>
            </a:pPr>
            <a:r>
              <a:rPr lang="en-US" sz="2000" dirty="0" smtClean="0">
                <a:solidFill>
                  <a:srgbClr val="0070C0"/>
                </a:solidFill>
                <a:latin typeface="Arial" pitchFamily="34" charset="0"/>
                <a:cs typeface="Arial" pitchFamily="34" charset="0"/>
              </a:rPr>
              <a:t>Interval Billing Lifecycle VACD</a:t>
            </a:r>
            <a:endPar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endParaRPr>
          </a:p>
          <a:p>
            <a:pPr lvl="2" indent="-223838" fontAlgn="base">
              <a:spcBef>
                <a:spcPct val="0"/>
              </a:spcBef>
              <a:spcAft>
                <a:spcPts val="600"/>
              </a:spcAft>
              <a:buClr>
                <a:schemeClr val="accent2"/>
              </a:buClr>
              <a:buFont typeface="Arial" pitchFamily="34" charset="0"/>
              <a:buChar char="–"/>
            </a:pPr>
            <a:r>
              <a:rPr lang="en-US" sz="2000" dirty="0" smtClean="0">
                <a:solidFill>
                  <a:srgbClr val="0070C0"/>
                </a:solidFill>
                <a:latin typeface="Arial" pitchFamily="34" charset="0"/>
                <a:cs typeface="Arial" pitchFamily="34" charset="0"/>
              </a:rPr>
              <a:t>VEE in MDM</a:t>
            </a:r>
          </a:p>
          <a:p>
            <a:pPr lvl="2" indent="-223838" fontAlgn="base">
              <a:spcBef>
                <a:spcPct val="0"/>
              </a:spcBef>
              <a:spcAft>
                <a:spcPts val="600"/>
              </a:spcAft>
              <a:buClr>
                <a:schemeClr val="accent2"/>
              </a:buClr>
              <a:buFont typeface="Arial" pitchFamily="34" charset="0"/>
              <a:buChar cha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Communication Problems</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Analytics/ Business Reporting &amp; Performance Expectations</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Requirements Captured</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Review Action Items </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Participants Needed for Next Workshop</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Wrap Up and Next Steps </a:t>
            </a:r>
            <a:endParaRPr kumimoji="0" lang="en-US" sz="2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36047908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Deep Dive Attendees</a:t>
            </a:r>
          </a:p>
        </p:txBody>
      </p:sp>
      <p:pic>
        <p:nvPicPr>
          <p:cNvPr id="50177" name="Picture 1"/>
          <p:cNvPicPr>
            <a:picLocks noChangeAspect="1" noChangeArrowheads="1"/>
          </p:cNvPicPr>
          <p:nvPr/>
        </p:nvPicPr>
        <p:blipFill>
          <a:blip r:embed="rId2" cstate="print"/>
          <a:srcRect/>
          <a:stretch>
            <a:fillRect/>
          </a:stretch>
        </p:blipFill>
        <p:spPr bwMode="auto">
          <a:xfrm>
            <a:off x="381000" y="914400"/>
            <a:ext cx="4038600" cy="5374376"/>
          </a:xfrm>
          <a:prstGeom prst="rect">
            <a:avLst/>
          </a:prstGeom>
          <a:noFill/>
          <a:ln w="9525">
            <a:noFill/>
            <a:miter lim="800000"/>
            <a:headEnd/>
            <a:tailEnd/>
          </a:ln>
        </p:spPr>
      </p:pic>
      <p:pic>
        <p:nvPicPr>
          <p:cNvPr id="50178" name="Picture 2"/>
          <p:cNvPicPr>
            <a:picLocks noChangeAspect="1" noChangeArrowheads="1"/>
          </p:cNvPicPr>
          <p:nvPr/>
        </p:nvPicPr>
        <p:blipFill>
          <a:blip r:embed="rId3" cstate="print"/>
          <a:srcRect/>
          <a:stretch>
            <a:fillRect/>
          </a:stretch>
        </p:blipFill>
        <p:spPr bwMode="auto">
          <a:xfrm>
            <a:off x="4648200" y="228600"/>
            <a:ext cx="4191000" cy="6172200"/>
          </a:xfrm>
          <a:prstGeom prst="rect">
            <a:avLst/>
          </a:prstGeom>
          <a:noFill/>
          <a:ln w="9525">
            <a:noFill/>
            <a:miter lim="800000"/>
            <a:headEnd/>
            <a:tailEnd/>
          </a:ln>
        </p:spPr>
      </p:pic>
    </p:spTree>
    <p:extLst>
      <p:ext uri="{BB962C8B-B14F-4D97-AF65-F5344CB8AC3E}">
        <p14:creationId xmlns:p14="http://schemas.microsoft.com/office/powerpoint/2010/main" xmlns="" val="9892874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a typeface="+mn-ea"/>
                <a:cs typeface="+mn-cs"/>
              </a:rPr>
              <a:t>High Level In-Scope Considerations</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a typeface="+mn-ea"/>
              <a:cs typeface="+mn-cs"/>
            </a:endParaRPr>
          </a:p>
        </p:txBody>
      </p:sp>
      <p:sp>
        <p:nvSpPr>
          <p:cNvPr id="5" name="Content Placeholder 5"/>
          <p:cNvSpPr txBox="1">
            <a:spLocks/>
          </p:cNvSpPr>
          <p:nvPr/>
        </p:nvSpPr>
        <p:spPr>
          <a:xfrm>
            <a:off x="457200" y="838200"/>
            <a:ext cx="8229600" cy="5638800"/>
          </a:xfrm>
          <a:prstGeom prst="rect">
            <a:avLst/>
          </a:prstGeom>
        </p:spPr>
        <p:txBody>
          <a:bodyPr>
            <a:normAutofit fontScale="70000" lnSpcReduction="20000"/>
          </a:bodyPr>
          <a:lstStyle/>
          <a:p>
            <a:pPr>
              <a:buSzPts val="1300"/>
              <a:buFont typeface="Wingdings"/>
              <a:buChar char="§"/>
            </a:pPr>
            <a:r>
              <a:rPr lang="en-US" altLang="ja-JP" b="1" dirty="0" smtClean="0">
                <a:solidFill>
                  <a:srgbClr val="FF0000"/>
                </a:solidFill>
                <a:latin typeface="Calibri"/>
              </a:rPr>
              <a:t>Interval Reads </a:t>
            </a:r>
            <a:r>
              <a:rPr lang="en-US" altLang="ja-JP" b="1" dirty="0" smtClean="0">
                <a:solidFill>
                  <a:srgbClr val="000000"/>
                </a:solidFill>
                <a:latin typeface="Calibri"/>
              </a:rPr>
              <a:t>–</a:t>
            </a:r>
            <a:r>
              <a:rPr lang="ja-JP" altLang="en-US" b="1" smtClean="0">
                <a:solidFill>
                  <a:srgbClr val="000000"/>
                </a:solidFill>
                <a:latin typeface="Calibri"/>
              </a:rPr>
              <a:t> </a:t>
            </a:r>
            <a:r>
              <a:rPr lang="en-US" altLang="ja-JP" b="1" dirty="0" smtClean="0">
                <a:solidFill>
                  <a:srgbClr val="000000"/>
                </a:solidFill>
                <a:latin typeface="Calibri"/>
              </a:rPr>
              <a:t>Residential and C&amp;I</a:t>
            </a:r>
            <a:r>
              <a:rPr lang="ja-JP" altLang="en-US" b="1" smtClean="0">
                <a:solidFill>
                  <a:srgbClr val="000000"/>
                </a:solidFill>
                <a:latin typeface="Calibri"/>
              </a:rPr>
              <a:t> </a:t>
            </a:r>
            <a:r>
              <a:rPr lang="en-US" altLang="ja-JP" b="1" dirty="0" smtClean="0">
                <a:solidFill>
                  <a:srgbClr val="000000"/>
                </a:solidFill>
                <a:latin typeface="Calibri"/>
              </a:rPr>
              <a:t>(Commercial &amp; Industrial)</a:t>
            </a:r>
            <a:endParaRPr lang="ja-JP" altLang="en-US" b="1" smtClean="0">
              <a:solidFill>
                <a:srgbClr val="000000"/>
              </a:solidFill>
              <a:latin typeface="Calibri"/>
            </a:endParaRPr>
          </a:p>
          <a:p>
            <a:pPr lvl="1">
              <a:buSzPts val="1300"/>
              <a:buFont typeface="Arial"/>
              <a:buChar char="–"/>
            </a:pPr>
            <a:r>
              <a:rPr lang="en-US" altLang="ja-JP" dirty="0" smtClean="0">
                <a:solidFill>
                  <a:srgbClr val="000000"/>
                </a:solidFill>
                <a:latin typeface="Calibri"/>
              </a:rPr>
              <a:t>Consumption vs. Index </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Max Demand</a:t>
            </a:r>
            <a:r>
              <a:rPr lang="ja-JP" altLang="en-US" smtClean="0">
                <a:solidFill>
                  <a:srgbClr val="FF0000"/>
                </a:solidFill>
                <a:latin typeface="Calibri"/>
              </a:rPr>
              <a:t> </a:t>
            </a:r>
            <a:r>
              <a:rPr lang="en-US" altLang="ja-JP" dirty="0" smtClean="0">
                <a:solidFill>
                  <a:srgbClr val="FF0000"/>
                </a:solidFill>
                <a:latin typeface="Calibri"/>
              </a:rPr>
              <a:t>(Interval)</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Power Factor</a:t>
            </a:r>
            <a:r>
              <a:rPr lang="ja-JP" altLang="en-US" smtClean="0">
                <a:solidFill>
                  <a:srgbClr val="000000"/>
                </a:solidFill>
                <a:latin typeface="Calibri"/>
              </a:rPr>
              <a:t> </a:t>
            </a:r>
            <a:r>
              <a:rPr lang="en-US" altLang="ja-JP" dirty="0" smtClean="0">
                <a:solidFill>
                  <a:srgbClr val="FF0000"/>
                </a:solidFill>
                <a:latin typeface="Calibri"/>
              </a:rPr>
              <a:t>(Interval)</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It was noted that all residential and commercial &amp; industrial customers that have intervals stored in MDM have AMI meters</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It was noted that only max demand and power factor will move to interval reads for billing</a:t>
            </a:r>
            <a:endParaRPr lang="ja-JP" altLang="en-US" smtClean="0">
              <a:solidFill>
                <a:srgbClr val="000000"/>
              </a:solidFill>
              <a:latin typeface="Calibri"/>
            </a:endParaRPr>
          </a:p>
          <a:p>
            <a:pPr lvl="2">
              <a:buSzPts val="1300"/>
              <a:buFont typeface="Arial"/>
              <a:buChar char="–"/>
            </a:pPr>
            <a:r>
              <a:rPr lang="en-US" altLang="ja-JP" dirty="0" smtClean="0">
                <a:solidFill>
                  <a:srgbClr val="000000"/>
                </a:solidFill>
                <a:latin typeface="Calibri"/>
              </a:rPr>
              <a:t>No residential customers will use interval billing in </a:t>
            </a:r>
            <a:r>
              <a:rPr lang="en-US" altLang="ja-JP" dirty="0" smtClean="0">
                <a:solidFill>
                  <a:srgbClr val="FF0000"/>
                </a:solidFill>
                <a:latin typeface="Calibri"/>
              </a:rPr>
              <a:t>R4</a:t>
            </a:r>
            <a:r>
              <a:rPr lang="ja-JP" altLang="en-US" smtClean="0">
                <a:solidFill>
                  <a:srgbClr val="FF0000"/>
                </a:solidFill>
                <a:latin typeface="Calibri"/>
              </a:rPr>
              <a:t> </a:t>
            </a:r>
            <a:r>
              <a:rPr lang="en-US" altLang="ja-JP" dirty="0" smtClean="0">
                <a:solidFill>
                  <a:srgbClr val="FF0000"/>
                </a:solidFill>
                <a:latin typeface="Calibri"/>
              </a:rPr>
              <a:t>(it is anticipated that interval consumption reads for Residential will be covered in R5 when Time Of Day rates will be introduced)</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Any customer with AMI meters will have interval reads</a:t>
            </a:r>
            <a:endParaRPr lang="ja-JP" altLang="en-US" smtClean="0">
              <a:solidFill>
                <a:srgbClr val="000000"/>
              </a:solidFill>
              <a:latin typeface="Calibri"/>
            </a:endParaRPr>
          </a:p>
          <a:p>
            <a:pPr lvl="2">
              <a:buSzPts val="1300"/>
              <a:buFont typeface="Arial"/>
              <a:buChar char="–"/>
            </a:pPr>
            <a:r>
              <a:rPr lang="en-US" altLang="ja-JP" dirty="0" smtClean="0">
                <a:solidFill>
                  <a:srgbClr val="000000"/>
                </a:solidFill>
                <a:latin typeface="Calibri"/>
              </a:rPr>
              <a:t>Single Phase meters are on 60 minute intervals</a:t>
            </a:r>
            <a:r>
              <a:rPr lang="ja-JP" altLang="en-US" smtClean="0">
                <a:solidFill>
                  <a:srgbClr val="000000"/>
                </a:solidFill>
                <a:latin typeface="Calibri"/>
              </a:rPr>
              <a:t> </a:t>
            </a:r>
            <a:r>
              <a:rPr lang="en-US" altLang="ja-JP" dirty="0" smtClean="0">
                <a:solidFill>
                  <a:srgbClr val="FF0000"/>
                </a:solidFill>
                <a:latin typeface="Calibri"/>
              </a:rPr>
              <a:t>(with a select group on 15-minute intervals) –</a:t>
            </a:r>
            <a:r>
              <a:rPr lang="ja-JP" altLang="en-US" smtClean="0">
                <a:solidFill>
                  <a:srgbClr val="FF0000"/>
                </a:solidFill>
                <a:latin typeface="Calibri"/>
              </a:rPr>
              <a:t> </a:t>
            </a:r>
            <a:r>
              <a:rPr lang="en-US" altLang="ja-JP" dirty="0" smtClean="0">
                <a:solidFill>
                  <a:srgbClr val="FF0000"/>
                </a:solidFill>
                <a:latin typeface="Calibri"/>
              </a:rPr>
              <a:t>C&amp;I only for R4</a:t>
            </a:r>
            <a:endParaRPr lang="ja-JP" altLang="en-US" smtClean="0">
              <a:solidFill>
                <a:srgbClr val="FF0000"/>
              </a:solidFill>
              <a:latin typeface="Calibri"/>
            </a:endParaRPr>
          </a:p>
          <a:p>
            <a:pPr lvl="2">
              <a:buSzPts val="1300"/>
              <a:buFont typeface="Arial"/>
              <a:buChar char="–"/>
            </a:pPr>
            <a:r>
              <a:rPr lang="en-US" altLang="ja-JP" dirty="0" smtClean="0">
                <a:solidFill>
                  <a:srgbClr val="000000"/>
                </a:solidFill>
                <a:latin typeface="Calibri"/>
              </a:rPr>
              <a:t>Polyphase meters are on 15 minute intervals</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Read Rate Analysis</a:t>
            </a:r>
            <a:endParaRPr lang="ja-JP" altLang="en-US" smtClean="0">
              <a:solidFill>
                <a:srgbClr val="000000"/>
              </a:solidFill>
              <a:latin typeface="Calibri"/>
            </a:endParaRPr>
          </a:p>
          <a:p>
            <a:pPr lvl="2">
              <a:buSzPts val="1300"/>
              <a:buFont typeface="Arial"/>
              <a:buChar char="–"/>
            </a:pPr>
            <a:r>
              <a:rPr lang="en-US" altLang="ja-JP" dirty="0" smtClean="0">
                <a:solidFill>
                  <a:srgbClr val="FF0000"/>
                </a:solidFill>
                <a:latin typeface="Calibri"/>
              </a:rPr>
              <a:t>Special Non-Billing (i.e. Read-Only)</a:t>
            </a:r>
            <a:r>
              <a:rPr lang="ja-JP" altLang="en-US" smtClean="0">
                <a:solidFill>
                  <a:srgbClr val="FF0000"/>
                </a:solidFill>
                <a:latin typeface="Calibri"/>
              </a:rPr>
              <a:t> </a:t>
            </a:r>
            <a:r>
              <a:rPr lang="en-US" altLang="ja-JP" dirty="0" smtClean="0">
                <a:solidFill>
                  <a:srgbClr val="FF0000"/>
                </a:solidFill>
                <a:latin typeface="Calibri"/>
              </a:rPr>
              <a:t>meter reads are taken for Rate Analysis</a:t>
            </a:r>
            <a:endParaRPr lang="ja-JP" altLang="en-US" smtClean="0">
              <a:solidFill>
                <a:srgbClr val="FF0000"/>
              </a:solidFill>
              <a:latin typeface="Calibri"/>
            </a:endParaRPr>
          </a:p>
          <a:p>
            <a:pPr lvl="2">
              <a:buSzPts val="1300"/>
              <a:buFont typeface="Arial"/>
              <a:buChar char="–"/>
            </a:pPr>
            <a:r>
              <a:rPr lang="en-US" altLang="ja-JP" dirty="0" smtClean="0">
                <a:solidFill>
                  <a:srgbClr val="000000"/>
                </a:solidFill>
                <a:latin typeface="Calibri"/>
              </a:rPr>
              <a:t>Both max demand and power factor </a:t>
            </a:r>
            <a:r>
              <a:rPr lang="en-US" altLang="ja-JP" dirty="0" smtClean="0">
                <a:solidFill>
                  <a:srgbClr val="FF0000"/>
                </a:solidFill>
                <a:latin typeface="Calibri"/>
              </a:rPr>
              <a:t>based reads</a:t>
            </a:r>
            <a:r>
              <a:rPr lang="ja-JP" altLang="en-US" smtClean="0">
                <a:solidFill>
                  <a:srgbClr val="000000"/>
                </a:solidFill>
                <a:latin typeface="Calibri"/>
              </a:rPr>
              <a:t> </a:t>
            </a:r>
            <a:r>
              <a:rPr lang="en-US" altLang="ja-JP" dirty="0" smtClean="0">
                <a:solidFill>
                  <a:srgbClr val="000000"/>
                </a:solidFill>
                <a:latin typeface="Calibri"/>
              </a:rPr>
              <a:t>are used for rate comparison and analysis</a:t>
            </a:r>
            <a:endParaRPr lang="ja-JP" altLang="en-US" smtClean="0">
              <a:solidFill>
                <a:srgbClr val="000000"/>
              </a:solidFill>
              <a:latin typeface="Calibri"/>
            </a:endParaRPr>
          </a:p>
          <a:p>
            <a:pPr lvl="2">
              <a:buSzPts val="1300"/>
              <a:buFont typeface="Arial"/>
              <a:buChar char="–"/>
            </a:pPr>
            <a:r>
              <a:rPr lang="en-US" altLang="ja-JP" dirty="0" smtClean="0">
                <a:solidFill>
                  <a:srgbClr val="FF0000"/>
                </a:solidFill>
                <a:latin typeface="Calibri"/>
              </a:rPr>
              <a:t>This analysis helps determine if customer need to move to a new rate category (e.g. GS to GSD)</a:t>
            </a:r>
            <a:endParaRPr lang="ja-JP" altLang="en-US" smtClean="0">
              <a:solidFill>
                <a:srgbClr val="FF0000"/>
              </a:solidFill>
              <a:latin typeface="Calibri"/>
            </a:endParaRPr>
          </a:p>
          <a:p>
            <a:pPr lvl="2">
              <a:buSzPts val="1300"/>
              <a:buFont typeface="Arial"/>
              <a:buChar char="–"/>
            </a:pPr>
            <a:r>
              <a:rPr lang="en-US" altLang="ja-JP" dirty="0" smtClean="0">
                <a:solidFill>
                  <a:srgbClr val="FF0000"/>
                </a:solidFill>
                <a:latin typeface="Calibri"/>
              </a:rPr>
              <a:t>ACTION: A </a:t>
            </a:r>
            <a:r>
              <a:rPr lang="en-US" altLang="ja-JP" dirty="0" smtClean="0">
                <a:solidFill>
                  <a:srgbClr val="FF0000"/>
                </a:solidFill>
                <a:latin typeface="Calibri"/>
              </a:rPr>
              <a:t>focus</a:t>
            </a:r>
            <a:r>
              <a:rPr lang="ja-JP" altLang="en-US" smtClean="0">
                <a:solidFill>
                  <a:srgbClr val="FF0000"/>
                </a:solidFill>
                <a:latin typeface="Calibri"/>
              </a:rPr>
              <a:t> </a:t>
            </a:r>
            <a:r>
              <a:rPr lang="en-US" altLang="ja-JP" dirty="0" smtClean="0">
                <a:solidFill>
                  <a:srgbClr val="FF0000"/>
                </a:solidFill>
                <a:latin typeface="Calibri"/>
              </a:rPr>
              <a:t>group meeting will be arranged to look at the changes around</a:t>
            </a:r>
            <a:r>
              <a:rPr lang="ja-JP" altLang="en-US" smtClean="0">
                <a:solidFill>
                  <a:srgbClr val="FF0000"/>
                </a:solidFill>
                <a:latin typeface="Calibri"/>
              </a:rPr>
              <a:t> </a:t>
            </a:r>
            <a:r>
              <a:rPr lang="en-US" altLang="ja-JP" dirty="0" smtClean="0">
                <a:solidFill>
                  <a:srgbClr val="FF0000"/>
                </a:solidFill>
                <a:latin typeface="Calibri"/>
              </a:rPr>
              <a:t>this analysis</a:t>
            </a:r>
            <a:r>
              <a:rPr lang="ja-JP" altLang="en-US" smtClean="0">
                <a:solidFill>
                  <a:srgbClr val="FF0000"/>
                </a:solidFill>
                <a:latin typeface="Calibri"/>
              </a:rPr>
              <a:t> </a:t>
            </a:r>
            <a:r>
              <a:rPr lang="en-US" altLang="ja-JP" dirty="0" smtClean="0">
                <a:solidFill>
                  <a:srgbClr val="FF0000"/>
                </a:solidFill>
                <a:latin typeface="Calibri"/>
              </a:rPr>
              <a:t>involving interval reads now available</a:t>
            </a:r>
            <a:endParaRPr lang="ja-JP" altLang="en-US" smtClean="0">
              <a:solidFill>
                <a:srgbClr val="FF0000"/>
              </a:solidFill>
              <a:latin typeface="Calibri"/>
            </a:endParaRPr>
          </a:p>
          <a:p>
            <a:pPr>
              <a:buSzPts val="1300"/>
              <a:buFont typeface="Wingdings"/>
              <a:buChar char="§"/>
            </a:pPr>
            <a:r>
              <a:rPr lang="en-US" altLang="ja-JP" b="1" dirty="0" smtClean="0">
                <a:solidFill>
                  <a:srgbClr val="FF0000"/>
                </a:solidFill>
                <a:latin typeface="Calibri"/>
              </a:rPr>
              <a:t>Direct Load Control </a:t>
            </a:r>
            <a:r>
              <a:rPr lang="en-US" altLang="ja-JP" b="1" dirty="0" smtClean="0">
                <a:solidFill>
                  <a:srgbClr val="000000"/>
                </a:solidFill>
                <a:latin typeface="Calibri"/>
              </a:rPr>
              <a:t>- Residential and Small Business</a:t>
            </a:r>
            <a:endParaRPr lang="ja-JP" altLang="en-US" b="1" smtClean="0">
              <a:solidFill>
                <a:srgbClr val="000000"/>
              </a:solidFill>
              <a:latin typeface="Calibri"/>
            </a:endParaRPr>
          </a:p>
          <a:p>
            <a:pPr lvl="1">
              <a:buSzPts val="1300"/>
              <a:buFont typeface="Arial"/>
              <a:buChar char="–"/>
            </a:pPr>
            <a:r>
              <a:rPr lang="en-US" altLang="ja-JP" dirty="0" smtClean="0">
                <a:solidFill>
                  <a:srgbClr val="000000"/>
                </a:solidFill>
                <a:latin typeface="Calibri"/>
              </a:rPr>
              <a:t>Currently load control customers are on an index rate</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Interval billing is available to customers who bill OTA and any customer that signs up for a program requiring interval billing</a:t>
            </a:r>
            <a:endParaRPr lang="ja-JP" altLang="en-US" smtClean="0">
              <a:solidFill>
                <a:srgbClr val="000000"/>
              </a:solidFill>
              <a:latin typeface="Calibri"/>
            </a:endParaRPr>
          </a:p>
          <a:p>
            <a:pPr lvl="2">
              <a:buSzPts val="1300"/>
              <a:buFont typeface="Arial"/>
              <a:buChar char="–"/>
            </a:pPr>
            <a:r>
              <a:rPr lang="en-US" altLang="ja-JP" dirty="0" smtClean="0">
                <a:solidFill>
                  <a:srgbClr val="000000"/>
                </a:solidFill>
                <a:latin typeface="Calibri"/>
              </a:rPr>
              <a:t>For the future, 15 minute intervals will be needed in R5</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Meter Reading &amp; VEE</a:t>
            </a:r>
            <a:endParaRPr lang="ja-JP" altLang="en-US" b="1" smtClean="0">
              <a:solidFill>
                <a:srgbClr val="FF0000"/>
              </a:solidFill>
              <a:latin typeface="Calibri"/>
            </a:endParaRPr>
          </a:p>
          <a:p>
            <a:pPr lvl="1">
              <a:buSzPts val="1300"/>
              <a:buFont typeface="Arial"/>
              <a:buChar char="–"/>
            </a:pPr>
            <a:r>
              <a:rPr lang="en-US" altLang="ja-JP" dirty="0" smtClean="0">
                <a:solidFill>
                  <a:srgbClr val="000000"/>
                </a:solidFill>
                <a:latin typeface="Calibri"/>
              </a:rPr>
              <a:t>This will be required for interval OTA billing</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Gap Fill &amp; Estimation</a:t>
            </a:r>
            <a:endParaRPr lang="ja-JP" altLang="en-US" b="1" smtClean="0">
              <a:solidFill>
                <a:srgbClr val="FF0000"/>
              </a:solidFill>
              <a:latin typeface="Calibri"/>
            </a:endParaRPr>
          </a:p>
          <a:p>
            <a:pPr lvl="1">
              <a:buSzPts val="1300"/>
              <a:buFont typeface="Arial"/>
              <a:buChar char="–"/>
            </a:pPr>
            <a:r>
              <a:rPr lang="en-US" altLang="ja-JP" dirty="0" smtClean="0">
                <a:solidFill>
                  <a:srgbClr val="000000"/>
                </a:solidFill>
                <a:latin typeface="Calibri"/>
              </a:rPr>
              <a:t>This will be required for interval OTA billing</a:t>
            </a:r>
            <a:endParaRPr lang="ja-JP" altLang="en-US" smtClean="0">
              <a:solidFill>
                <a:srgbClr val="000000"/>
              </a:solidFill>
              <a:latin typeface="Calibri"/>
            </a:endParaRPr>
          </a:p>
          <a:p>
            <a:pPr lvl="2">
              <a:buSzPts val="1300"/>
              <a:buFont typeface="Arial"/>
              <a:buChar char="–"/>
            </a:pPr>
            <a:r>
              <a:rPr lang="en-US" altLang="ja-JP" dirty="0" smtClean="0">
                <a:solidFill>
                  <a:srgbClr val="000000"/>
                </a:solidFill>
                <a:latin typeface="Calibri"/>
              </a:rPr>
              <a:t>This needs to be explored further with the MV90 customers</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Customer Enrollment </a:t>
            </a:r>
            <a:r>
              <a:rPr lang="ja-JP" altLang="en-US" b="1" smtClean="0">
                <a:solidFill>
                  <a:srgbClr val="000000"/>
                </a:solidFill>
                <a:latin typeface="Calibri"/>
              </a:rPr>
              <a:t> </a:t>
            </a:r>
            <a:r>
              <a:rPr lang="en-US" altLang="ja-JP" b="1" dirty="0" smtClean="0">
                <a:solidFill>
                  <a:srgbClr val="000000"/>
                </a:solidFill>
                <a:latin typeface="Calibri"/>
              </a:rPr>
              <a:t>-  C&amp;I</a:t>
            </a:r>
            <a:endParaRPr lang="ja-JP" altLang="en-US" b="1" smtClean="0">
              <a:solidFill>
                <a:srgbClr val="000000"/>
              </a:solidFill>
              <a:latin typeface="Calibri"/>
            </a:endParaRPr>
          </a:p>
          <a:p>
            <a:pPr lvl="1">
              <a:buSzPts val="1300"/>
              <a:buFont typeface="Arial"/>
              <a:buChar char="–"/>
            </a:pPr>
            <a:r>
              <a:rPr lang="en-US" altLang="ja-JP" dirty="0" smtClean="0">
                <a:solidFill>
                  <a:srgbClr val="000000"/>
                </a:solidFill>
                <a:latin typeface="Calibri"/>
              </a:rPr>
              <a:t>Max demand</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Power Factor</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Opt-Out </a:t>
            </a:r>
            <a:r>
              <a:rPr lang="en-US" altLang="ja-JP" b="1" dirty="0" smtClean="0">
                <a:solidFill>
                  <a:srgbClr val="000000"/>
                </a:solidFill>
                <a:latin typeface="Calibri"/>
              </a:rPr>
              <a:t>- Residential and C&amp;I</a:t>
            </a:r>
            <a:endParaRPr lang="ja-JP" altLang="en-US" b="1" smtClean="0">
              <a:solidFill>
                <a:srgbClr val="000000"/>
              </a:solidFill>
              <a:latin typeface="Calibri"/>
            </a:endParaRPr>
          </a:p>
          <a:p>
            <a:pPr lvl="1">
              <a:buSzPts val="1300"/>
              <a:buFont typeface="Arial"/>
              <a:buChar char="–"/>
            </a:pPr>
            <a:r>
              <a:rPr lang="en-US" altLang="ja-JP" dirty="0" smtClean="0">
                <a:solidFill>
                  <a:srgbClr val="000000"/>
                </a:solidFill>
                <a:latin typeface="Calibri"/>
              </a:rPr>
              <a:t>Need to consider process for going back to manual reads</a:t>
            </a:r>
            <a:r>
              <a:rPr lang="ja-JP" altLang="en-US" smtClean="0">
                <a:solidFill>
                  <a:srgbClr val="000000"/>
                </a:solidFill>
                <a:latin typeface="Calibri"/>
              </a:rPr>
              <a:t> </a:t>
            </a:r>
            <a:r>
              <a:rPr lang="en-US" altLang="ja-JP" dirty="0" smtClean="0">
                <a:solidFill>
                  <a:srgbClr val="FF0000"/>
                </a:solidFill>
                <a:latin typeface="Calibri"/>
              </a:rPr>
              <a:t>and legacy meter for an existing AMI (interval) meter</a:t>
            </a:r>
            <a:endParaRPr lang="ja-JP" altLang="en-US" smtClean="0">
              <a:solidFill>
                <a:srgbClr val="FF0000"/>
              </a:solidFill>
              <a:latin typeface="Calibri"/>
            </a:endParaRPr>
          </a:p>
          <a:p>
            <a:pPr lvl="1">
              <a:buSzPts val="1300"/>
              <a:buFont typeface="Arial"/>
              <a:buChar char="–"/>
            </a:pPr>
            <a:r>
              <a:rPr lang="en-US" altLang="ja-JP" dirty="0" smtClean="0">
                <a:latin typeface="Calibri"/>
              </a:rPr>
              <a:t>Need to upload </a:t>
            </a:r>
            <a:r>
              <a:rPr lang="en-US" altLang="ja-JP" dirty="0" smtClean="0">
                <a:solidFill>
                  <a:srgbClr val="000000"/>
                </a:solidFill>
                <a:latin typeface="Calibri"/>
              </a:rPr>
              <a:t>interval meter data before swap</a:t>
            </a:r>
            <a:endParaRPr lang="ja-JP" altLang="en-US" smtClean="0">
              <a:solidFill>
                <a:srgbClr val="000000"/>
              </a:solidFill>
              <a:latin typeface="Calibri"/>
            </a:endParaRPr>
          </a:p>
        </p:txBody>
      </p:sp>
    </p:spTree>
    <p:extLst>
      <p:ext uri="{BB962C8B-B14F-4D97-AF65-F5344CB8AC3E}">
        <p14:creationId xmlns:p14="http://schemas.microsoft.com/office/powerpoint/2010/main" xmlns="" val="20990565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a typeface="+mn-ea"/>
                <a:cs typeface="+mn-cs"/>
              </a:rPr>
              <a:t>High Level In-Scope Considerations</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a typeface="+mn-ea"/>
              <a:cs typeface="+mn-cs"/>
            </a:endParaRPr>
          </a:p>
        </p:txBody>
      </p:sp>
      <p:sp>
        <p:nvSpPr>
          <p:cNvPr id="4" name="Content Placeholder 2"/>
          <p:cNvSpPr txBox="1">
            <a:spLocks/>
          </p:cNvSpPr>
          <p:nvPr/>
        </p:nvSpPr>
        <p:spPr>
          <a:xfrm>
            <a:off x="457200" y="838200"/>
            <a:ext cx="8229600" cy="5257800"/>
          </a:xfrm>
          <a:prstGeom prst="rect">
            <a:avLst/>
          </a:prstGeom>
        </p:spPr>
        <p:txBody>
          <a:bodyPr>
            <a:normAutofit fontScale="92500" lnSpcReduction="20000"/>
          </a:bodyPr>
          <a:lstStyle/>
          <a:p>
            <a:pPr>
              <a:buSzPts val="1300"/>
              <a:buFont typeface="Wingdings"/>
              <a:buChar char="§"/>
            </a:pPr>
            <a:r>
              <a:rPr lang="en-US" altLang="ja-JP" b="1" dirty="0" smtClean="0">
                <a:solidFill>
                  <a:srgbClr val="FF0000"/>
                </a:solidFill>
                <a:latin typeface="Calibri"/>
              </a:rPr>
              <a:t>Billing Preparation &amp; Presentment </a:t>
            </a:r>
            <a:r>
              <a:rPr lang="en-US" altLang="ja-JP" b="1" dirty="0" smtClean="0">
                <a:solidFill>
                  <a:srgbClr val="000000"/>
                </a:solidFill>
                <a:latin typeface="Calibri"/>
              </a:rPr>
              <a:t>-</a:t>
            </a:r>
            <a:r>
              <a:rPr lang="ja-JP" altLang="en-US" b="1" smtClean="0">
                <a:solidFill>
                  <a:srgbClr val="FF0000"/>
                </a:solidFill>
                <a:latin typeface="Calibri"/>
              </a:rPr>
              <a:t> </a:t>
            </a:r>
            <a:r>
              <a:rPr lang="en-US" altLang="ja-JP" b="1" dirty="0" smtClean="0">
                <a:solidFill>
                  <a:srgbClr val="000000"/>
                </a:solidFill>
                <a:latin typeface="Calibri"/>
              </a:rPr>
              <a:t>Residential and C&amp;I</a:t>
            </a:r>
            <a:endParaRPr lang="ja-JP" altLang="en-US" b="1" smtClean="0">
              <a:solidFill>
                <a:srgbClr val="000000"/>
              </a:solidFill>
              <a:latin typeface="Calibri"/>
            </a:endParaRPr>
          </a:p>
          <a:p>
            <a:pPr lvl="1">
              <a:buSzPts val="1100"/>
              <a:buFont typeface="Arial"/>
              <a:buChar char="–"/>
            </a:pPr>
            <a:r>
              <a:rPr lang="en-US" altLang="ja-JP" dirty="0" smtClean="0">
                <a:solidFill>
                  <a:srgbClr val="000000"/>
                </a:solidFill>
                <a:latin typeface="Calibri"/>
              </a:rPr>
              <a:t>Index reads and usage currently billed</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Move to interval now involves recorded estimated/actual/total</a:t>
            </a:r>
            <a:r>
              <a:rPr lang="ja-JP" altLang="en-US" smtClean="0">
                <a:solidFill>
                  <a:srgbClr val="000000"/>
                </a:solidFill>
                <a:latin typeface="Calibri"/>
              </a:rPr>
              <a:t> </a:t>
            </a:r>
            <a:r>
              <a:rPr lang="en-US" altLang="ja-JP" dirty="0" smtClean="0">
                <a:solidFill>
                  <a:srgbClr val="000000"/>
                </a:solidFill>
                <a:latin typeface="Calibri"/>
              </a:rPr>
              <a:t>data</a:t>
            </a:r>
            <a:endParaRPr lang="ja-JP" altLang="en-US" smtClean="0">
              <a:solidFill>
                <a:srgbClr val="000000"/>
              </a:solidFill>
              <a:latin typeface="Calibri"/>
            </a:endParaRPr>
          </a:p>
          <a:p>
            <a:pPr lvl="2">
              <a:buSzPts val="1100"/>
              <a:buFont typeface="Arial"/>
              <a:buChar char="–"/>
            </a:pPr>
            <a:r>
              <a:rPr lang="en-US" altLang="ja-JP" dirty="0" smtClean="0">
                <a:solidFill>
                  <a:srgbClr val="0070C0"/>
                </a:solidFill>
                <a:latin typeface="Calibri"/>
              </a:rPr>
              <a:t>What constitutes estimated </a:t>
            </a:r>
            <a:r>
              <a:rPr lang="en-US" altLang="ja-JP" dirty="0" smtClean="0">
                <a:solidFill>
                  <a:srgbClr val="0070C0"/>
                </a:solidFill>
                <a:latin typeface="Calibri"/>
              </a:rPr>
              <a:t>vs. </a:t>
            </a:r>
            <a:r>
              <a:rPr lang="en-US" altLang="ja-JP" dirty="0" smtClean="0">
                <a:solidFill>
                  <a:srgbClr val="0070C0"/>
                </a:solidFill>
                <a:latin typeface="Calibri"/>
              </a:rPr>
              <a:t>actual interval?</a:t>
            </a:r>
            <a:r>
              <a:rPr lang="ja-JP" altLang="en-US" smtClean="0">
                <a:solidFill>
                  <a:srgbClr val="0070C0"/>
                </a:solidFill>
                <a:latin typeface="Calibri"/>
              </a:rPr>
              <a:t> </a:t>
            </a:r>
          </a:p>
          <a:p>
            <a:pPr lvl="2">
              <a:buSzPts val="1100"/>
              <a:buFont typeface="Arial"/>
              <a:buChar char="–"/>
            </a:pPr>
            <a:r>
              <a:rPr lang="en-US" altLang="ja-JP" dirty="0" smtClean="0">
                <a:solidFill>
                  <a:srgbClr val="0070C0"/>
                </a:solidFill>
                <a:latin typeface="Calibri"/>
              </a:rPr>
              <a:t>How to present information on the bill and how to show the differences?</a:t>
            </a:r>
            <a:endParaRPr lang="ja-JP" altLang="en-US" smtClean="0">
              <a:solidFill>
                <a:srgbClr val="0070C0"/>
              </a:solidFill>
              <a:latin typeface="Calibri"/>
            </a:endParaRPr>
          </a:p>
          <a:p>
            <a:pPr lvl="2">
              <a:buSzPts val="1100"/>
              <a:buFont typeface="Arial"/>
              <a:buChar char="–"/>
            </a:pPr>
            <a:r>
              <a:rPr lang="en-US" altLang="ja-JP" dirty="0" smtClean="0">
                <a:solidFill>
                  <a:srgbClr val="0070C0"/>
                </a:solidFill>
                <a:latin typeface="Calibri"/>
              </a:rPr>
              <a:t>Non MV90 customers on AMI intervals –</a:t>
            </a:r>
            <a:r>
              <a:rPr lang="ja-JP" altLang="en-US" smtClean="0">
                <a:solidFill>
                  <a:srgbClr val="0070C0"/>
                </a:solidFill>
                <a:latin typeface="Calibri"/>
              </a:rPr>
              <a:t> </a:t>
            </a:r>
            <a:r>
              <a:rPr lang="en-US" altLang="ja-JP" dirty="0" smtClean="0">
                <a:solidFill>
                  <a:srgbClr val="0070C0"/>
                </a:solidFill>
                <a:latin typeface="Calibri"/>
              </a:rPr>
              <a:t>what to do with those customers?</a:t>
            </a:r>
            <a:endParaRPr lang="ja-JP" altLang="en-US" smtClean="0">
              <a:solidFill>
                <a:srgbClr val="0070C0"/>
              </a:solidFill>
              <a:latin typeface="Calibri"/>
            </a:endParaRPr>
          </a:p>
          <a:p>
            <a:pPr lvl="2">
              <a:buSzPts val="1100"/>
              <a:buFont typeface="Arial"/>
              <a:buChar char="–"/>
            </a:pPr>
            <a:r>
              <a:rPr lang="en-US" altLang="ja-JP" dirty="0" smtClean="0">
                <a:solidFill>
                  <a:srgbClr val="0070C0"/>
                </a:solidFill>
                <a:latin typeface="Calibri"/>
              </a:rPr>
              <a:t>Index is presented with line items showing total and estimated meter reads and graphic of historical usage</a:t>
            </a:r>
            <a:endParaRPr lang="ja-JP" altLang="en-US" smtClean="0">
              <a:solidFill>
                <a:srgbClr val="0070C0"/>
              </a:solidFill>
              <a:latin typeface="Calibri"/>
            </a:endParaRPr>
          </a:p>
          <a:p>
            <a:pPr lvl="1">
              <a:buSzPts val="1100"/>
              <a:buFont typeface="Arial"/>
              <a:buChar char="–"/>
            </a:pPr>
            <a:r>
              <a:rPr lang="en-US" altLang="ja-JP" dirty="0" smtClean="0">
                <a:solidFill>
                  <a:srgbClr val="000000"/>
                </a:solidFill>
                <a:latin typeface="Calibri"/>
              </a:rPr>
              <a:t>Do we still need to show index (like MV90)?</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Do we need to show actual, estimated and total recorded consumption on the invoice (like we do with MV90</a:t>
            </a:r>
            <a:r>
              <a:rPr lang="ja-JP" altLang="en-US" smtClean="0">
                <a:solidFill>
                  <a:srgbClr val="000000"/>
                </a:solidFill>
                <a:latin typeface="Calibri"/>
              </a:rPr>
              <a:t> </a:t>
            </a:r>
            <a:r>
              <a:rPr lang="en-US" altLang="ja-JP" dirty="0" smtClean="0">
                <a:solidFill>
                  <a:srgbClr val="000000"/>
                </a:solidFill>
                <a:latin typeface="Calibri"/>
              </a:rPr>
              <a:t>customers)?</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Billing Determinants  &amp;</a:t>
            </a:r>
            <a:r>
              <a:rPr lang="ja-JP" altLang="en-US" b="1" smtClean="0">
                <a:solidFill>
                  <a:srgbClr val="FF0000"/>
                </a:solidFill>
                <a:latin typeface="Calibri"/>
              </a:rPr>
              <a:t> </a:t>
            </a:r>
            <a:r>
              <a:rPr lang="en-US" altLang="ja-JP" b="1" dirty="0" smtClean="0">
                <a:solidFill>
                  <a:srgbClr val="FF0000"/>
                </a:solidFill>
                <a:latin typeface="Calibri"/>
              </a:rPr>
              <a:t>Validations </a:t>
            </a:r>
            <a:r>
              <a:rPr lang="en-US" altLang="ja-JP" b="1" dirty="0" smtClean="0">
                <a:solidFill>
                  <a:srgbClr val="000000"/>
                </a:solidFill>
                <a:latin typeface="Calibri"/>
              </a:rPr>
              <a:t>- Residential and C&amp;I</a:t>
            </a:r>
            <a:endParaRPr lang="ja-JP" altLang="en-US" b="1" smtClean="0">
              <a:solidFill>
                <a:srgbClr val="000000"/>
              </a:solidFill>
              <a:latin typeface="Calibri"/>
            </a:endParaRPr>
          </a:p>
          <a:p>
            <a:pPr lvl="1">
              <a:buSzPts val="1100"/>
              <a:buFont typeface="Arial"/>
              <a:buChar char="–"/>
            </a:pPr>
            <a:r>
              <a:rPr lang="en-US" altLang="ja-JP" dirty="0" smtClean="0">
                <a:solidFill>
                  <a:srgbClr val="000000"/>
                </a:solidFill>
                <a:latin typeface="Calibri"/>
              </a:rPr>
              <a:t>Recorded usage vs. index</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MDM uses index reads to compare against  recorded intervals</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Is gap-fill switched off in OWCE and MDM?</a:t>
            </a:r>
            <a:r>
              <a:rPr lang="ja-JP" altLang="en-US" smtClean="0">
                <a:solidFill>
                  <a:srgbClr val="000000"/>
                </a:solidFill>
                <a:latin typeface="Calibri"/>
              </a:rPr>
              <a:t> </a:t>
            </a:r>
            <a:r>
              <a:rPr lang="en-US" altLang="ja-JP" dirty="0" smtClean="0">
                <a:solidFill>
                  <a:srgbClr val="FF0000"/>
                </a:solidFill>
                <a:latin typeface="Calibri"/>
              </a:rPr>
              <a:t>Need to explore</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Customer Billing Enquiry </a:t>
            </a:r>
            <a:r>
              <a:rPr lang="en-US" altLang="ja-JP" b="1" dirty="0" smtClean="0">
                <a:solidFill>
                  <a:srgbClr val="000000"/>
                </a:solidFill>
                <a:latin typeface="Calibri"/>
              </a:rPr>
              <a:t>- Residential and C&amp;I</a:t>
            </a:r>
            <a:endParaRPr lang="ja-JP" altLang="en-US" b="1" smtClean="0">
              <a:solidFill>
                <a:srgbClr val="000000"/>
              </a:solidFill>
              <a:latin typeface="Calibri"/>
            </a:endParaRPr>
          </a:p>
          <a:p>
            <a:pPr lvl="1">
              <a:buSzPts val="1100"/>
              <a:buFont typeface="Arial"/>
              <a:buChar char="–"/>
            </a:pPr>
            <a:r>
              <a:rPr lang="en-US" altLang="ja-JP" dirty="0" smtClean="0">
                <a:solidFill>
                  <a:srgbClr val="000000"/>
                </a:solidFill>
                <a:latin typeface="Calibri"/>
              </a:rPr>
              <a:t>Need to explore customer enquiry process for potential changes</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AMI Meter Deployment (Cutover) –</a:t>
            </a:r>
            <a:r>
              <a:rPr lang="ja-JP" altLang="en-US" b="1" smtClean="0">
                <a:solidFill>
                  <a:srgbClr val="FF0000"/>
                </a:solidFill>
                <a:latin typeface="Calibri"/>
              </a:rPr>
              <a:t> </a:t>
            </a:r>
            <a:r>
              <a:rPr lang="en-US" altLang="ja-JP" b="1" dirty="0" smtClean="0">
                <a:solidFill>
                  <a:srgbClr val="FF0000"/>
                </a:solidFill>
                <a:latin typeface="Calibri"/>
              </a:rPr>
              <a:t>NOW BACK IN SCOPE</a:t>
            </a:r>
            <a:endParaRPr lang="ja-JP" altLang="en-US" b="1" smtClean="0">
              <a:solidFill>
                <a:srgbClr val="FF0000"/>
              </a:solidFill>
              <a:latin typeface="Calibri"/>
            </a:endParaRPr>
          </a:p>
          <a:p>
            <a:pPr lvl="1">
              <a:buSzPts val="1100"/>
              <a:buFont typeface="Arial"/>
              <a:buChar char="–"/>
            </a:pPr>
            <a:r>
              <a:rPr lang="en-US" altLang="ja-JP" dirty="0" smtClean="0">
                <a:solidFill>
                  <a:srgbClr val="000000"/>
                </a:solidFill>
                <a:latin typeface="Calibri"/>
              </a:rPr>
              <a:t>Transition from Index-based</a:t>
            </a:r>
            <a:r>
              <a:rPr lang="ja-JP" altLang="en-US" smtClean="0">
                <a:solidFill>
                  <a:srgbClr val="000000"/>
                </a:solidFill>
                <a:latin typeface="Calibri"/>
              </a:rPr>
              <a:t> </a:t>
            </a:r>
            <a:r>
              <a:rPr lang="en-US" altLang="ja-JP" dirty="0" smtClean="0">
                <a:solidFill>
                  <a:srgbClr val="000000"/>
                </a:solidFill>
                <a:latin typeface="Calibri"/>
              </a:rPr>
              <a:t>reads  vs. new interval</a:t>
            </a:r>
            <a:r>
              <a:rPr lang="ja-JP" altLang="en-US" smtClean="0">
                <a:solidFill>
                  <a:srgbClr val="000000"/>
                </a:solidFill>
                <a:latin typeface="Calibri"/>
              </a:rPr>
              <a:t> </a:t>
            </a:r>
            <a:r>
              <a:rPr lang="en-US" altLang="ja-JP" dirty="0" smtClean="0">
                <a:solidFill>
                  <a:srgbClr val="000000"/>
                </a:solidFill>
                <a:latin typeface="Calibri"/>
              </a:rPr>
              <a:t>reads for read verification</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Validating kWh registers </a:t>
            </a:r>
            <a:r>
              <a:rPr lang="ja-JP" altLang="en-US" smtClean="0">
                <a:solidFill>
                  <a:srgbClr val="000000"/>
                </a:solidFill>
                <a:latin typeface="Calibri"/>
              </a:rPr>
              <a:t> </a:t>
            </a:r>
            <a:r>
              <a:rPr lang="en-US" altLang="ja-JP" dirty="0" smtClean="0">
                <a:solidFill>
                  <a:srgbClr val="000000"/>
                </a:solidFill>
                <a:latin typeface="Calibri"/>
              </a:rPr>
              <a:t>(changes to CARS)</a:t>
            </a:r>
            <a:endParaRPr lang="ja-JP" altLang="en-US" smtClean="0">
              <a:solidFill>
                <a:srgbClr val="000000"/>
              </a:solidFill>
              <a:latin typeface="Calibri"/>
            </a:endParaRPr>
          </a:p>
          <a:p>
            <a:pPr>
              <a:buClr>
                <a:srgbClr val="FF0000"/>
              </a:buClr>
              <a:buFont typeface="Wingdings"/>
              <a:buChar char="§"/>
            </a:pPr>
            <a:r>
              <a:rPr lang="en-US" altLang="ja-JP" b="1" dirty="0" smtClean="0">
                <a:solidFill>
                  <a:srgbClr val="FF0000"/>
                </a:solidFill>
                <a:latin typeface="Calibri"/>
              </a:rPr>
              <a:t>Cancel/Re-Bill</a:t>
            </a:r>
            <a:r>
              <a:rPr lang="ja-JP" altLang="en-US" b="1" smtClean="0">
                <a:solidFill>
                  <a:srgbClr val="FF0000"/>
                </a:solidFill>
                <a:latin typeface="Calibri"/>
              </a:rPr>
              <a:t> </a:t>
            </a:r>
            <a:r>
              <a:rPr lang="en-US" altLang="ja-JP" b="1" dirty="0" smtClean="0">
                <a:solidFill>
                  <a:srgbClr val="FF0000"/>
                </a:solidFill>
                <a:latin typeface="Calibri"/>
              </a:rPr>
              <a:t>(aka. Reverse/Re-Bill)</a:t>
            </a:r>
            <a:endParaRPr lang="ja-JP" altLang="en-US" b="1" smtClean="0">
              <a:solidFill>
                <a:srgbClr val="000000"/>
              </a:solidFill>
              <a:latin typeface="Calibri"/>
            </a:endParaRPr>
          </a:p>
          <a:p>
            <a:pPr lvl="1">
              <a:buSzPts val="1300"/>
              <a:buFont typeface="Arial"/>
              <a:buChar char="–"/>
            </a:pPr>
            <a:r>
              <a:rPr lang="ja-JP" altLang="en-US" smtClean="0">
                <a:solidFill>
                  <a:srgbClr val="000000"/>
                </a:solidFill>
                <a:latin typeface="Calibri"/>
              </a:rPr>
              <a:t> </a:t>
            </a:r>
            <a:r>
              <a:rPr lang="en-US" altLang="ja-JP" dirty="0" smtClean="0">
                <a:solidFill>
                  <a:srgbClr val="000000"/>
                </a:solidFill>
                <a:latin typeface="Calibri"/>
              </a:rPr>
              <a:t>Residential and C&amp;I –</a:t>
            </a:r>
            <a:r>
              <a:rPr lang="ja-JP" altLang="en-US" smtClean="0">
                <a:solidFill>
                  <a:srgbClr val="000000"/>
                </a:solidFill>
                <a:latin typeface="Calibri"/>
              </a:rPr>
              <a:t> </a:t>
            </a:r>
            <a:r>
              <a:rPr lang="en-US" altLang="ja-JP" dirty="0" smtClean="0">
                <a:solidFill>
                  <a:srgbClr val="000000"/>
                </a:solidFill>
                <a:latin typeface="Calibri"/>
              </a:rPr>
              <a:t>IN SCOPE</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No Process Change</a:t>
            </a:r>
            <a:endParaRPr lang="ja-JP" altLang="en-US" smtClean="0">
              <a:solidFill>
                <a:srgbClr val="000000"/>
              </a:solidFill>
              <a:latin typeface="Calibri"/>
            </a:endParaRPr>
          </a:p>
          <a:p>
            <a:pPr marL="342900" marR="0" lvl="0" indent="-342900" algn="l" defTabSz="914400" rtl="0" eaLnBrk="1" fontAlgn="base" latinLnBrk="0" hangingPunct="1">
              <a:lnSpc>
                <a:spcPct val="100000"/>
              </a:lnSpc>
              <a:spcBef>
                <a:spcPct val="0"/>
              </a:spcBef>
              <a:spcAft>
                <a:spcPts val="600"/>
              </a:spcAft>
              <a:buClr>
                <a:schemeClr val="accent2"/>
              </a:buClr>
              <a:buSzTx/>
              <a:buFont typeface="Wingdings" pitchFamily="2" charset="2"/>
              <a:buChar char="§"/>
              <a:tabLst/>
              <a:defRPr/>
            </a:pPr>
            <a:endParaRPr kumimoji="0" lang="en-US" sz="14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20990565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 y="25264"/>
            <a:ext cx="8823957" cy="531950"/>
          </a:xfrm>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a typeface="+mn-ea"/>
                <a:cs typeface="+mn-cs"/>
              </a:rPr>
              <a:t>Out of Scope for This Workshop</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n-lt"/>
              <a:ea typeface="+mn-ea"/>
              <a:cs typeface="+mn-cs"/>
            </a:endParaRPr>
          </a:p>
        </p:txBody>
      </p:sp>
      <p:sp>
        <p:nvSpPr>
          <p:cNvPr id="7" name="Content Placeholder 2"/>
          <p:cNvSpPr txBox="1">
            <a:spLocks/>
          </p:cNvSpPr>
          <p:nvPr/>
        </p:nvSpPr>
        <p:spPr>
          <a:xfrm>
            <a:off x="457200" y="838200"/>
            <a:ext cx="8229600" cy="5562600"/>
          </a:xfrm>
          <a:prstGeom prst="rect">
            <a:avLst/>
          </a:prstGeom>
        </p:spPr>
        <p:txBody>
          <a:bodyPr>
            <a:normAutofit fontScale="85000" lnSpcReduction="20000"/>
          </a:bodyPr>
          <a:lstStyle/>
          <a:p>
            <a:pPr>
              <a:buSzPts val="1300"/>
              <a:buFont typeface="Wingdings"/>
              <a:buChar char="§"/>
            </a:pPr>
            <a:r>
              <a:rPr lang="en-US" altLang="ja-JP" dirty="0" smtClean="0">
                <a:solidFill>
                  <a:srgbClr val="000000"/>
                </a:solidFill>
                <a:latin typeface="Calibri"/>
              </a:rPr>
              <a:t>Gas Metering</a:t>
            </a:r>
            <a:r>
              <a:rPr lang="ja-JP" altLang="en-US" smtClean="0">
                <a:solidFill>
                  <a:srgbClr val="000000"/>
                </a:solidFill>
                <a:latin typeface="Calibri"/>
              </a:rPr>
              <a:t> </a:t>
            </a:r>
            <a:r>
              <a:rPr lang="en-US" altLang="ja-JP" dirty="0" smtClean="0">
                <a:solidFill>
                  <a:srgbClr val="000000"/>
                </a:solidFill>
                <a:latin typeface="Calibri"/>
              </a:rPr>
              <a:t>&amp; Estimation</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Customer Enrollment &amp; Outreach Channels for DLA &amp; DPP</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Electric or Gas Register Billing</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Customer Selects Due Date (for Bill)</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TOU</a:t>
            </a:r>
            <a:r>
              <a:rPr lang="ja-JP" altLang="en-US" b="1" smtClean="0">
                <a:solidFill>
                  <a:srgbClr val="000000"/>
                </a:solidFill>
                <a:latin typeface="Calibri"/>
              </a:rPr>
              <a:t> </a:t>
            </a:r>
            <a:r>
              <a:rPr lang="en-US" altLang="ja-JP" b="1" dirty="0" smtClean="0">
                <a:solidFill>
                  <a:srgbClr val="000000"/>
                </a:solidFill>
                <a:latin typeface="Calibri"/>
              </a:rPr>
              <a:t>–</a:t>
            </a:r>
            <a:r>
              <a:rPr lang="ja-JP" altLang="en-US" b="1" smtClean="0">
                <a:solidFill>
                  <a:srgbClr val="000000"/>
                </a:solidFill>
                <a:latin typeface="Calibri"/>
              </a:rPr>
              <a:t> </a:t>
            </a:r>
            <a:r>
              <a:rPr lang="en-US" altLang="ja-JP" b="1" dirty="0" smtClean="0">
                <a:solidFill>
                  <a:srgbClr val="000000"/>
                </a:solidFill>
                <a:latin typeface="Calibri"/>
              </a:rPr>
              <a:t>Residential and C&amp;I</a:t>
            </a:r>
            <a:endParaRPr lang="ja-JP" altLang="en-US" b="1" smtClean="0">
              <a:solidFill>
                <a:srgbClr val="000000"/>
              </a:solidFill>
              <a:latin typeface="Calibri"/>
            </a:endParaRPr>
          </a:p>
          <a:p>
            <a:pPr lvl="1">
              <a:buSzPts val="1300"/>
              <a:buFont typeface="Arial"/>
              <a:buChar char="–"/>
            </a:pPr>
            <a:r>
              <a:rPr lang="en-US" altLang="ja-JP" dirty="0" smtClean="0">
                <a:solidFill>
                  <a:srgbClr val="000000"/>
                </a:solidFill>
                <a:latin typeface="Calibri"/>
              </a:rPr>
              <a:t>On/Off peak or High/Med/Low</a:t>
            </a:r>
            <a:endParaRPr lang="ja-JP" altLang="en-US" smtClean="0">
              <a:solidFill>
                <a:srgbClr val="000000"/>
              </a:solidFill>
              <a:latin typeface="Calibri"/>
            </a:endParaRPr>
          </a:p>
          <a:p>
            <a:pPr>
              <a:buSzPts val="1300"/>
              <a:buFont typeface="Wingdings"/>
              <a:buChar char="§"/>
            </a:pPr>
            <a:r>
              <a:rPr lang="en-US" altLang="ja-JP" b="1" dirty="0" smtClean="0">
                <a:solidFill>
                  <a:srgbClr val="FF0000"/>
                </a:solidFill>
                <a:latin typeface="Calibri"/>
              </a:rPr>
              <a:t>Consumer Portal </a:t>
            </a:r>
            <a:r>
              <a:rPr lang="en-US" altLang="ja-JP" b="1" dirty="0" smtClean="0">
                <a:solidFill>
                  <a:srgbClr val="000000"/>
                </a:solidFill>
                <a:latin typeface="Calibri"/>
              </a:rPr>
              <a:t>- Residential and C&amp;I</a:t>
            </a:r>
            <a:r>
              <a:rPr lang="ja-JP" altLang="en-US" b="1" smtClean="0">
                <a:solidFill>
                  <a:srgbClr val="000000"/>
                </a:solidFill>
                <a:latin typeface="Calibri"/>
              </a:rPr>
              <a:t> </a:t>
            </a:r>
            <a:r>
              <a:rPr lang="en-US" altLang="ja-JP" b="1" dirty="0" smtClean="0">
                <a:solidFill>
                  <a:srgbClr val="000000"/>
                </a:solidFill>
                <a:latin typeface="Calibri"/>
              </a:rPr>
              <a:t>–</a:t>
            </a:r>
            <a:r>
              <a:rPr lang="ja-JP" altLang="en-US" b="1" smtClean="0">
                <a:solidFill>
                  <a:srgbClr val="000000"/>
                </a:solidFill>
                <a:latin typeface="Calibri"/>
              </a:rPr>
              <a:t> </a:t>
            </a:r>
          </a:p>
          <a:p>
            <a:pPr lvl="1">
              <a:buSzPts val="1300"/>
              <a:buFont typeface="Arial"/>
              <a:buChar char="–"/>
            </a:pPr>
            <a:r>
              <a:rPr lang="en-US" altLang="ja-JP" dirty="0" smtClean="0">
                <a:solidFill>
                  <a:srgbClr val="000000"/>
                </a:solidFill>
                <a:latin typeface="Calibri"/>
              </a:rPr>
              <a:t>It was decided to have an offline conversation with Zach Pakkala to discuss further details</a:t>
            </a:r>
            <a:endParaRPr lang="ja-JP" altLang="en-US" smtClean="0">
              <a:solidFill>
                <a:srgbClr val="000000"/>
              </a:solidFill>
              <a:latin typeface="Calibri"/>
            </a:endParaRPr>
          </a:p>
          <a:p>
            <a:pPr lvl="1">
              <a:buSzPts val="1300"/>
              <a:buFont typeface="Arial"/>
              <a:buChar char="–"/>
            </a:pPr>
            <a:r>
              <a:rPr lang="en-US" altLang="ja-JP" dirty="0" smtClean="0">
                <a:solidFill>
                  <a:srgbClr val="000000"/>
                </a:solidFill>
                <a:latin typeface="Calibri"/>
              </a:rPr>
              <a:t>Index rate customers still get interval view on portal</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PayGo Program</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Data Recovery in the HE</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Meter Reading Schedule</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Theft Detection (impacting Billing)</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Outage Management (impacting Billing)</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Remote Turn-On/Offs (impacting Billing)</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Net Metering (impacting Billing)</a:t>
            </a:r>
            <a:r>
              <a:rPr lang="ja-JP" altLang="en-US" smtClean="0">
                <a:solidFill>
                  <a:srgbClr val="000000"/>
                </a:solidFill>
                <a:latin typeface="Calibri"/>
              </a:rPr>
              <a:t> </a:t>
            </a:r>
          </a:p>
          <a:p>
            <a:pPr lvl="1">
              <a:buClr>
                <a:srgbClr val="000000"/>
              </a:buClr>
              <a:buFont typeface="Wingdings"/>
              <a:buChar char="§"/>
            </a:pPr>
            <a:r>
              <a:rPr lang="en-US" altLang="ja-JP" dirty="0" smtClean="0">
                <a:solidFill>
                  <a:srgbClr val="000000"/>
                </a:solidFill>
                <a:latin typeface="Calibri"/>
              </a:rPr>
              <a:t>Needs 15 min interval</a:t>
            </a:r>
            <a:r>
              <a:rPr lang="ja-JP" altLang="en-US" smtClean="0">
                <a:solidFill>
                  <a:srgbClr val="000000"/>
                </a:solidFill>
                <a:latin typeface="Calibri"/>
              </a:rPr>
              <a:t> </a:t>
            </a:r>
            <a:r>
              <a:rPr lang="en-US" altLang="ja-JP" dirty="0" smtClean="0">
                <a:solidFill>
                  <a:srgbClr val="000000"/>
                </a:solidFill>
                <a:latin typeface="Calibri"/>
              </a:rPr>
              <a:t>reads</a:t>
            </a:r>
            <a:endParaRPr lang="ja-JP" altLang="en-US" smtClean="0">
              <a:solidFill>
                <a:srgbClr val="000000"/>
              </a:solidFill>
              <a:latin typeface="Calibri"/>
            </a:endParaRPr>
          </a:p>
          <a:p>
            <a:pPr>
              <a:buClr>
                <a:srgbClr val="000000"/>
              </a:buClr>
              <a:buFont typeface="Wingdings"/>
              <a:buChar char="§"/>
            </a:pPr>
            <a:r>
              <a:rPr lang="en-US" altLang="ja-JP" dirty="0" smtClean="0">
                <a:solidFill>
                  <a:srgbClr val="000000"/>
                </a:solidFill>
                <a:latin typeface="Calibri"/>
              </a:rPr>
              <a:t>PEV </a:t>
            </a:r>
            <a:r>
              <a:rPr lang="ja-JP" altLang="en-US" smtClean="0">
                <a:solidFill>
                  <a:srgbClr val="000000"/>
                </a:solidFill>
                <a:latin typeface="Calibri"/>
              </a:rPr>
              <a:t> </a:t>
            </a:r>
            <a:r>
              <a:rPr lang="en-US" altLang="ja-JP" dirty="0" smtClean="0">
                <a:solidFill>
                  <a:srgbClr val="000000"/>
                </a:solidFill>
                <a:latin typeface="Calibri"/>
              </a:rPr>
              <a:t>(Plug-In Electric Vehicle)</a:t>
            </a:r>
            <a:endParaRPr lang="ja-JP" altLang="en-US" smtClean="0">
              <a:solidFill>
                <a:srgbClr val="000000"/>
              </a:solidFill>
              <a:latin typeface="Calibri"/>
            </a:endParaRPr>
          </a:p>
          <a:p>
            <a:pPr>
              <a:buSzPts val="1300"/>
              <a:buFont typeface="Wingdings"/>
              <a:buChar char="§"/>
            </a:pPr>
            <a:r>
              <a:rPr lang="en-US" altLang="ja-JP" dirty="0" smtClean="0">
                <a:solidFill>
                  <a:srgbClr val="000000"/>
                </a:solidFill>
                <a:latin typeface="Calibri"/>
              </a:rPr>
              <a:t>ODR (On Demand Read)</a:t>
            </a:r>
            <a:r>
              <a:rPr lang="ja-JP" altLang="en-US" smtClean="0">
                <a:solidFill>
                  <a:srgbClr val="000000"/>
                </a:solidFill>
                <a:latin typeface="Calibri"/>
              </a:rPr>
              <a:t> </a:t>
            </a:r>
            <a:r>
              <a:rPr lang="en-US" altLang="ja-JP" dirty="0" smtClean="0">
                <a:solidFill>
                  <a:srgbClr val="000000"/>
                </a:solidFill>
                <a:latin typeface="Calibri"/>
              </a:rPr>
              <a:t>will always be index</a:t>
            </a:r>
            <a:r>
              <a:rPr lang="ja-JP" altLang="en-US" smtClean="0">
                <a:solidFill>
                  <a:srgbClr val="000000"/>
                </a:solidFill>
                <a:latin typeface="Calibri"/>
              </a:rPr>
              <a:t> </a:t>
            </a:r>
            <a:r>
              <a:rPr lang="en-US" altLang="ja-JP" dirty="0" smtClean="0">
                <a:solidFill>
                  <a:srgbClr val="000000"/>
                </a:solidFill>
                <a:latin typeface="Calibri"/>
              </a:rPr>
              <a:t>based</a:t>
            </a:r>
            <a:endParaRPr lang="ja-JP" altLang="en-US" smtClean="0">
              <a:solidFill>
                <a:srgbClr val="000000"/>
              </a:solidFill>
              <a:latin typeface="Calibri"/>
            </a:endParaRPr>
          </a:p>
          <a:p>
            <a:pPr>
              <a:buClr>
                <a:srgbClr val="FF0000"/>
              </a:buClr>
              <a:buFont typeface="Wingdings"/>
              <a:buChar char="§"/>
            </a:pPr>
            <a:r>
              <a:rPr lang="en-US" altLang="ja-JP" b="1" dirty="0" smtClean="0">
                <a:solidFill>
                  <a:srgbClr val="FF0000"/>
                </a:solidFill>
                <a:latin typeface="Calibri"/>
              </a:rPr>
              <a:t>Customer Selection </a:t>
            </a:r>
            <a:r>
              <a:rPr lang="en-US" altLang="ja-JP" b="1" dirty="0" smtClean="0">
                <a:solidFill>
                  <a:srgbClr val="000000"/>
                </a:solidFill>
                <a:latin typeface="Calibri"/>
              </a:rPr>
              <a:t>- Residential and C&amp;I</a:t>
            </a:r>
            <a:endParaRPr lang="ja-JP" altLang="en-US" b="1" smtClean="0">
              <a:solidFill>
                <a:srgbClr val="000000"/>
              </a:solidFill>
              <a:latin typeface="Calibri"/>
            </a:endParaRPr>
          </a:p>
          <a:p>
            <a:pPr lvl="1">
              <a:buSzPts val="1100"/>
              <a:buFont typeface="Arial"/>
              <a:buChar char="–"/>
            </a:pPr>
            <a:r>
              <a:rPr lang="en-US" altLang="ja-JP" dirty="0" smtClean="0">
                <a:solidFill>
                  <a:srgbClr val="000000"/>
                </a:solidFill>
                <a:latin typeface="Calibri"/>
              </a:rPr>
              <a:t>Only for programs that require interval data</a:t>
            </a:r>
            <a:endParaRPr lang="ja-JP" altLang="en-US" smtClean="0">
              <a:solidFill>
                <a:srgbClr val="000000"/>
              </a:solidFill>
              <a:latin typeface="Calibri"/>
            </a:endParaRPr>
          </a:p>
          <a:p>
            <a:pPr lvl="1">
              <a:buSzPts val="1100"/>
              <a:buFont typeface="Arial"/>
              <a:buChar char="–"/>
            </a:pPr>
            <a:r>
              <a:rPr lang="en-US" altLang="ja-JP" dirty="0" smtClean="0">
                <a:solidFill>
                  <a:srgbClr val="FF0000"/>
                </a:solidFill>
                <a:latin typeface="Calibri"/>
              </a:rPr>
              <a:t>R4 will only focus on C&amp;I customers</a:t>
            </a:r>
            <a:endParaRPr lang="ja-JP" altLang="en-US" smtClean="0">
              <a:solidFill>
                <a:srgbClr val="FF0000"/>
              </a:solidFill>
              <a:latin typeface="Calibri"/>
            </a:endParaRPr>
          </a:p>
          <a:p>
            <a:pPr>
              <a:buClr>
                <a:srgbClr val="FF0000"/>
              </a:buClr>
              <a:buFont typeface="Wingdings"/>
              <a:buChar char="§"/>
            </a:pPr>
            <a:r>
              <a:rPr lang="en-US" altLang="ja-JP" b="1" dirty="0" smtClean="0">
                <a:solidFill>
                  <a:srgbClr val="FF0000"/>
                </a:solidFill>
                <a:latin typeface="Calibri"/>
              </a:rPr>
              <a:t>Customer Migration </a:t>
            </a:r>
            <a:r>
              <a:rPr lang="en-US" altLang="ja-JP" b="1" dirty="0" smtClean="0">
                <a:solidFill>
                  <a:srgbClr val="000000"/>
                </a:solidFill>
                <a:latin typeface="Calibri"/>
              </a:rPr>
              <a:t>- Residential and C&amp;I</a:t>
            </a:r>
            <a:endParaRPr lang="ja-JP" altLang="en-US" b="1" smtClean="0">
              <a:solidFill>
                <a:srgbClr val="000000"/>
              </a:solidFill>
              <a:latin typeface="Calibri"/>
            </a:endParaRPr>
          </a:p>
          <a:p>
            <a:pPr lvl="1">
              <a:buSzPts val="1100"/>
              <a:buFont typeface="Arial"/>
              <a:buChar char="–"/>
            </a:pPr>
            <a:r>
              <a:rPr lang="en-US" altLang="ja-JP" dirty="0" smtClean="0">
                <a:solidFill>
                  <a:srgbClr val="000000"/>
                </a:solidFill>
                <a:latin typeface="Calibri"/>
              </a:rPr>
              <a:t>Cutover for max demand/power factor from manual to interval OTA</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Moving residential from index OTA to interval  OTA based on program enrolled</a:t>
            </a:r>
            <a:endParaRPr lang="ja-JP" altLang="en-US" smtClean="0">
              <a:solidFill>
                <a:srgbClr val="000000"/>
              </a:solidFill>
              <a:latin typeface="Calibri"/>
            </a:endParaRPr>
          </a:p>
          <a:p>
            <a:pPr lvl="1">
              <a:buSzPts val="1100"/>
              <a:buFont typeface="Arial"/>
              <a:buChar char="–"/>
            </a:pPr>
            <a:r>
              <a:rPr lang="en-US" altLang="ja-JP" dirty="0" smtClean="0">
                <a:solidFill>
                  <a:srgbClr val="000000"/>
                </a:solidFill>
                <a:latin typeface="Calibri"/>
              </a:rPr>
              <a:t>AMI Meter Deployment (Cutover/Route Closure/HQ Turnover)</a:t>
            </a:r>
            <a:endParaRPr lang="ja-JP" altLang="en-US" smtClean="0">
              <a:solidFill>
                <a:srgbClr val="000000"/>
              </a:solidFill>
              <a:latin typeface="Calibri"/>
            </a:endParaRPr>
          </a:p>
          <a:p>
            <a:pPr lvl="1">
              <a:buSzPts val="1100"/>
              <a:buFont typeface="Arial"/>
              <a:buChar char="–"/>
            </a:pPr>
            <a:r>
              <a:rPr lang="en-US" altLang="ja-JP" dirty="0" smtClean="0">
                <a:solidFill>
                  <a:srgbClr val="FF0000"/>
                </a:solidFill>
                <a:latin typeface="Calibri"/>
              </a:rPr>
              <a:t>R4 will only focus on C&amp;I customers</a:t>
            </a:r>
            <a:endParaRPr lang="ja-JP" altLang="en-US" smtClean="0">
              <a:solidFill>
                <a:srgbClr val="FF0000"/>
              </a:solidFill>
              <a:latin typeface="Calibri"/>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Scope Assumptions for Post-Cutover to IB– R4</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5" name="Content Placeholder 5"/>
          <p:cNvSpPr txBox="1">
            <a:spLocks/>
          </p:cNvSpPr>
          <p:nvPr/>
        </p:nvSpPr>
        <p:spPr>
          <a:xfrm>
            <a:off x="457200" y="838200"/>
            <a:ext cx="8229600" cy="5562600"/>
          </a:xfrm>
          <a:prstGeom prst="rect">
            <a:avLst/>
          </a:prstGeom>
        </p:spPr>
        <p:txBody>
          <a:bodyPr>
            <a:noAutofit/>
          </a:bodyPr>
          <a:lstStyle/>
          <a:p>
            <a:pPr marL="457200" marR="0" lvl="0" indent="-457200" algn="l" defTabSz="914400" rtl="0" eaLnBrk="1" fontAlgn="base" latinLnBrk="0" hangingPunct="1">
              <a:lnSpc>
                <a:spcPct val="100000"/>
              </a:lnSpc>
              <a:spcBef>
                <a:spcPct val="0"/>
              </a:spcBef>
              <a:spcAft>
                <a:spcPts val="600"/>
              </a:spcAft>
              <a:buClr>
                <a:schemeClr val="accent2"/>
              </a:buClr>
              <a:buSzTx/>
              <a:buFont typeface="+mj-lt"/>
              <a:buAutoNum type="arabicPeriod"/>
              <a:tabLst/>
              <a:defRPr/>
            </a:pPr>
            <a:r>
              <a:rPr kumimoji="0" lang="en-US" sz="2000" b="1" i="0" u="none" strike="noStrike" kern="1200" cap="none" spc="0" normalizeH="0" baseline="0" noProof="0" dirty="0" smtClean="0">
                <a:ln>
                  <a:noFill/>
                </a:ln>
                <a:solidFill>
                  <a:srgbClr val="002060"/>
                </a:solidFill>
                <a:effectLst/>
                <a:uLnTx/>
                <a:uFillTx/>
                <a:latin typeface="Arial" pitchFamily="34" charset="0"/>
                <a:ea typeface="+mn-ea"/>
                <a:cs typeface="Arial" pitchFamily="34" charset="0"/>
              </a:rPr>
              <a:t>Effected Population &amp; Rate Considerations</a:t>
            </a:r>
          </a:p>
          <a:p>
            <a:pPr marL="342900" indent="-342900">
              <a:buClr>
                <a:srgbClr val="000000"/>
              </a:buClr>
              <a:buFont typeface="+mj-lt"/>
              <a:buAutoNum type="alphaLcParenR"/>
            </a:pPr>
            <a:r>
              <a:rPr lang="en-US" altLang="ja-JP" sz="1400" dirty="0" smtClean="0">
                <a:solidFill>
                  <a:srgbClr val="000000"/>
                </a:solidFill>
                <a:latin typeface="Calibri"/>
              </a:rPr>
              <a:t>Small commercial customers are </a:t>
            </a:r>
            <a:r>
              <a:rPr lang="ja-JP" altLang="en-US" sz="1400" smtClean="0">
                <a:solidFill>
                  <a:srgbClr val="000000"/>
                </a:solidFill>
                <a:latin typeface="Calibri"/>
              </a:rPr>
              <a:t> </a:t>
            </a:r>
            <a:r>
              <a:rPr lang="en-US" altLang="ja-JP" sz="1400" dirty="0" smtClean="0">
                <a:solidFill>
                  <a:srgbClr val="000000"/>
                </a:solidFill>
                <a:latin typeface="Calibri"/>
              </a:rPr>
              <a:t>GS</a:t>
            </a:r>
            <a:r>
              <a:rPr lang="ja-JP" altLang="en-US" sz="1400" smtClean="0">
                <a:solidFill>
                  <a:srgbClr val="000000"/>
                </a:solidFill>
                <a:latin typeface="Calibri"/>
              </a:rPr>
              <a:t> </a:t>
            </a:r>
            <a:r>
              <a:rPr lang="en-US" altLang="ja-JP" sz="1400" dirty="0" smtClean="0">
                <a:solidFill>
                  <a:srgbClr val="000000"/>
                </a:solidFill>
                <a:latin typeface="Calibri"/>
              </a:rPr>
              <a:t>and GSD and customer choice rates</a:t>
            </a:r>
            <a:endParaRPr lang="ja-JP" altLang="en-US" sz="1400" smtClean="0">
              <a:solidFill>
                <a:srgbClr val="000000"/>
              </a:solidFill>
              <a:latin typeface="Calibri"/>
            </a:endParaRPr>
          </a:p>
          <a:p>
            <a:pPr marL="342900" indent="-342900">
              <a:buClr>
                <a:srgbClr val="000000"/>
              </a:buClr>
              <a:buFont typeface="+mj-lt"/>
              <a:buAutoNum type="alphaLcParenR"/>
            </a:pPr>
            <a:r>
              <a:rPr lang="en-US" altLang="ja-JP" sz="1400" dirty="0" smtClean="0">
                <a:solidFill>
                  <a:srgbClr val="000000"/>
                </a:solidFill>
                <a:latin typeface="Calibri"/>
              </a:rPr>
              <a:t>Large commercial customers are GP, GPD and</a:t>
            </a:r>
            <a:r>
              <a:rPr lang="ja-JP" altLang="en-US" sz="1400" smtClean="0">
                <a:solidFill>
                  <a:srgbClr val="000000"/>
                </a:solidFill>
                <a:latin typeface="Calibri"/>
              </a:rPr>
              <a:t> </a:t>
            </a:r>
            <a:r>
              <a:rPr lang="en-US" altLang="ja-JP" sz="1400" dirty="0" smtClean="0">
                <a:solidFill>
                  <a:srgbClr val="000000"/>
                </a:solidFill>
                <a:latin typeface="Calibri"/>
              </a:rPr>
              <a:t>customer choice rates (generally billed off MV90</a:t>
            </a:r>
            <a:r>
              <a:rPr lang="ja-JP" altLang="en-US" sz="1400" smtClean="0">
                <a:solidFill>
                  <a:srgbClr val="000000"/>
                </a:solidFill>
                <a:latin typeface="Calibri"/>
              </a:rPr>
              <a:t> </a:t>
            </a:r>
            <a:r>
              <a:rPr lang="en-US" altLang="ja-JP" sz="1400" dirty="0" smtClean="0">
                <a:solidFill>
                  <a:srgbClr val="000000"/>
                </a:solidFill>
                <a:latin typeface="Calibri"/>
              </a:rPr>
              <a:t>metering) </a:t>
            </a:r>
            <a:endParaRPr lang="ja-JP" altLang="en-US" sz="1400" smtClean="0">
              <a:solidFill>
                <a:srgbClr val="000000"/>
              </a:solidFill>
              <a:latin typeface="Calibri"/>
            </a:endParaRPr>
          </a:p>
          <a:p>
            <a:pPr marL="342900" indent="-342900">
              <a:buClr>
                <a:srgbClr val="FF0000"/>
              </a:buClr>
              <a:buFont typeface="+mj-lt"/>
              <a:buAutoNum type="alphaLcParenR"/>
            </a:pPr>
            <a:r>
              <a:rPr lang="en-US" altLang="ja-JP" sz="1400" b="1" dirty="0" smtClean="0">
                <a:solidFill>
                  <a:srgbClr val="FF0000"/>
                </a:solidFill>
                <a:latin typeface="Calibri"/>
              </a:rPr>
              <a:t>Are there any other rates to consider?</a:t>
            </a:r>
            <a:endParaRPr lang="ja-JP" altLang="en-US" sz="1400" b="1" smtClean="0">
              <a:solidFill>
                <a:srgbClr val="FF0000"/>
              </a:solidFill>
              <a:latin typeface="Calibri"/>
            </a:endParaRPr>
          </a:p>
          <a:p>
            <a:pPr marL="800100" lvl="1" indent="-342900">
              <a:buFont typeface="+mj-lt"/>
              <a:buAutoNum type="alphaLcParenR"/>
            </a:pPr>
            <a:r>
              <a:rPr lang="en-US" altLang="ja-JP" sz="1400" b="1" dirty="0" smtClean="0">
                <a:solidFill>
                  <a:srgbClr val="FF0000"/>
                </a:solidFill>
                <a:latin typeface="Calibri"/>
              </a:rPr>
              <a:t>Response: Rate</a:t>
            </a:r>
            <a:r>
              <a:rPr lang="ja-JP" altLang="en-US" sz="1400" b="1" smtClean="0">
                <a:solidFill>
                  <a:srgbClr val="FF0000"/>
                </a:solidFill>
                <a:latin typeface="Calibri"/>
              </a:rPr>
              <a:t> </a:t>
            </a:r>
            <a:r>
              <a:rPr lang="en-US" altLang="ja-JP" sz="1400" b="1" dirty="0" smtClean="0">
                <a:solidFill>
                  <a:srgbClr val="FF0000"/>
                </a:solidFill>
                <a:latin typeface="Calibri"/>
              </a:rPr>
              <a:t>analysis for customers who request rate comparisons</a:t>
            </a:r>
          </a:p>
          <a:p>
            <a:pPr marL="342900" indent="-342900">
              <a:buClr>
                <a:srgbClr val="000000"/>
              </a:buClr>
              <a:buFont typeface="+mj-lt"/>
              <a:buAutoNum type="alphaLcParenR"/>
            </a:pPr>
            <a:r>
              <a:rPr lang="en-US" altLang="ja-JP" sz="1400" dirty="0" smtClean="0">
                <a:solidFill>
                  <a:srgbClr val="000000"/>
                </a:solidFill>
                <a:latin typeface="Calibri"/>
              </a:rPr>
              <a:t>There are 9,000</a:t>
            </a:r>
            <a:r>
              <a:rPr lang="ja-JP" altLang="en-US" sz="1400" smtClean="0">
                <a:solidFill>
                  <a:srgbClr val="000000"/>
                </a:solidFill>
                <a:latin typeface="Calibri"/>
              </a:rPr>
              <a:t> </a:t>
            </a:r>
            <a:r>
              <a:rPr lang="en-US" altLang="ja-JP" sz="1400" dirty="0" smtClean="0">
                <a:solidFill>
                  <a:srgbClr val="000000"/>
                </a:solidFill>
                <a:latin typeface="Calibri"/>
              </a:rPr>
              <a:t>single phase meters (residential) single phase billed on a demand tariff;  Do we plan on having the 9,000</a:t>
            </a:r>
            <a:r>
              <a:rPr lang="ja-JP" altLang="en-US" sz="1400" smtClean="0">
                <a:solidFill>
                  <a:srgbClr val="000000"/>
                </a:solidFill>
                <a:latin typeface="Calibri"/>
              </a:rPr>
              <a:t> </a:t>
            </a:r>
            <a:r>
              <a:rPr lang="en-US" altLang="ja-JP" sz="1400" dirty="0" smtClean="0">
                <a:solidFill>
                  <a:srgbClr val="000000"/>
                </a:solidFill>
                <a:latin typeface="Calibri"/>
              </a:rPr>
              <a:t>meters pre-programmed for Interval OTA?</a:t>
            </a:r>
            <a:r>
              <a:rPr lang="ja-JP" altLang="en-US" sz="1400" smtClean="0">
                <a:solidFill>
                  <a:srgbClr val="000000"/>
                </a:solidFill>
                <a:latin typeface="Calibri"/>
              </a:rPr>
              <a:t> </a:t>
            </a:r>
          </a:p>
          <a:p>
            <a:pPr marL="342900" indent="-342900">
              <a:buClr>
                <a:srgbClr val="000000"/>
              </a:buClr>
              <a:buFont typeface="+mj-lt"/>
              <a:buAutoNum type="alphaLcParenR"/>
            </a:pPr>
            <a:r>
              <a:rPr lang="en-US" altLang="ja-JP" sz="1400" dirty="0" smtClean="0">
                <a:solidFill>
                  <a:srgbClr val="000000"/>
                </a:solidFill>
                <a:latin typeface="Calibri"/>
              </a:rPr>
              <a:t>Complex billing determination is more complicated for </a:t>
            </a:r>
            <a:r>
              <a:rPr lang="en-US" altLang="ja-JP" sz="1400" dirty="0" smtClean="0">
                <a:solidFill>
                  <a:srgbClr val="000000"/>
                </a:solidFill>
                <a:latin typeface="Calibri"/>
              </a:rPr>
              <a:t>Commercial </a:t>
            </a:r>
            <a:r>
              <a:rPr lang="en-US" altLang="ja-JP" sz="1400" dirty="0" smtClean="0">
                <a:solidFill>
                  <a:srgbClr val="000000"/>
                </a:solidFill>
                <a:latin typeface="Calibri"/>
              </a:rPr>
              <a:t>&amp;</a:t>
            </a:r>
            <a:r>
              <a:rPr lang="ja-JP" altLang="en-US" sz="1400" smtClean="0">
                <a:solidFill>
                  <a:srgbClr val="000000"/>
                </a:solidFill>
                <a:latin typeface="Calibri"/>
              </a:rPr>
              <a:t> </a:t>
            </a:r>
            <a:r>
              <a:rPr lang="en-US" altLang="ja-JP" sz="1400" dirty="0" err="1" smtClean="0">
                <a:solidFill>
                  <a:srgbClr val="000000"/>
                </a:solidFill>
                <a:latin typeface="Calibri"/>
              </a:rPr>
              <a:t>Iindustrial</a:t>
            </a:r>
            <a:r>
              <a:rPr lang="en-US" altLang="ja-JP" sz="1400" dirty="0" smtClean="0">
                <a:solidFill>
                  <a:srgbClr val="000000"/>
                </a:solidFill>
                <a:latin typeface="Calibri"/>
              </a:rPr>
              <a:t> (C&amp;I) customers </a:t>
            </a:r>
            <a:endParaRPr lang="ja-JP" altLang="en-US" sz="1400" smtClean="0">
              <a:solidFill>
                <a:srgbClr val="000000"/>
              </a:solidFill>
              <a:latin typeface="Calibri"/>
            </a:endParaRPr>
          </a:p>
          <a:p>
            <a:pPr marL="342900" indent="-342900">
              <a:buClr>
                <a:srgbClr val="FF0000"/>
              </a:buClr>
              <a:buFont typeface="+mj-lt"/>
              <a:buAutoNum type="alphaLcParenR"/>
            </a:pPr>
            <a:r>
              <a:rPr lang="en-US" altLang="ja-JP" sz="1400" b="1" dirty="0" smtClean="0">
                <a:solidFill>
                  <a:srgbClr val="FF0000"/>
                </a:solidFill>
                <a:latin typeface="Calibri"/>
              </a:rPr>
              <a:t>What are we targeting for these C&amp;I customers -  i.e. </a:t>
            </a:r>
            <a:r>
              <a:rPr lang="ja-JP" altLang="en-US" sz="1400" b="1" smtClean="0">
                <a:solidFill>
                  <a:srgbClr val="FF0000"/>
                </a:solidFill>
                <a:latin typeface="Calibri"/>
              </a:rPr>
              <a:t> </a:t>
            </a:r>
            <a:r>
              <a:rPr lang="en-US" altLang="ja-JP" sz="1400" b="1" dirty="0" smtClean="0">
                <a:solidFill>
                  <a:srgbClr val="FF0000"/>
                </a:solidFill>
                <a:latin typeface="Calibri"/>
              </a:rPr>
              <a:t>MV90 or SAP EDM + real-time pricing?</a:t>
            </a:r>
            <a:r>
              <a:rPr lang="ja-JP" altLang="en-US" sz="1400" b="1" smtClean="0">
                <a:solidFill>
                  <a:srgbClr val="FF0000"/>
                </a:solidFill>
                <a:latin typeface="Calibri"/>
              </a:rPr>
              <a:t>  </a:t>
            </a:r>
            <a:r>
              <a:rPr lang="en-US" altLang="ja-JP" sz="1400" b="1" dirty="0" smtClean="0">
                <a:solidFill>
                  <a:srgbClr val="000000"/>
                </a:solidFill>
                <a:latin typeface="Calibri"/>
              </a:rPr>
              <a:t>This may translate to an increase in degree of difficulty!!!</a:t>
            </a:r>
            <a:endParaRPr lang="ja-JP" altLang="en-US" sz="1400" b="1" smtClean="0">
              <a:solidFill>
                <a:srgbClr val="FF0000"/>
              </a:solidFill>
              <a:latin typeface="Calibri"/>
            </a:endParaRPr>
          </a:p>
          <a:p>
            <a:pPr marL="800100" lvl="1" indent="-342900">
              <a:buClr>
                <a:srgbClr val="FF0000"/>
              </a:buClr>
              <a:buFont typeface="+mj-lt"/>
              <a:buAutoNum type="alphaLcParenR"/>
            </a:pPr>
            <a:r>
              <a:rPr lang="en-US" altLang="ja-JP" sz="1400" b="1" dirty="0" smtClean="0">
                <a:solidFill>
                  <a:srgbClr val="FF0000"/>
                </a:solidFill>
                <a:latin typeface="Calibri"/>
              </a:rPr>
              <a:t>ACTION: This is a question for the BP Policy</a:t>
            </a:r>
            <a:r>
              <a:rPr lang="ja-JP" altLang="en-US" sz="1400" b="1" smtClean="0">
                <a:solidFill>
                  <a:srgbClr val="FF0000"/>
                </a:solidFill>
                <a:latin typeface="Calibri"/>
              </a:rPr>
              <a:t> </a:t>
            </a:r>
            <a:r>
              <a:rPr lang="en-US" altLang="ja-JP" sz="1400" b="1" dirty="0" smtClean="0">
                <a:solidFill>
                  <a:srgbClr val="FF0000"/>
                </a:solidFill>
                <a:latin typeface="Calibri"/>
              </a:rPr>
              <a:t>Meeting.</a:t>
            </a:r>
            <a:endParaRPr lang="ja-JP" altLang="en-US" sz="1400" b="1" smtClean="0">
              <a:solidFill>
                <a:srgbClr val="FF0000"/>
              </a:solidFill>
              <a:latin typeface="Calibri"/>
            </a:endParaRPr>
          </a:p>
          <a:p>
            <a:pPr marL="342900" indent="-342900">
              <a:buClr>
                <a:srgbClr val="000000"/>
              </a:buClr>
              <a:buFont typeface="+mj-lt"/>
              <a:buAutoNum type="alphaLcParenR"/>
            </a:pPr>
            <a:r>
              <a:rPr lang="en-US" altLang="ja-JP" sz="1400" dirty="0" smtClean="0">
                <a:solidFill>
                  <a:srgbClr val="000000"/>
                </a:solidFill>
                <a:latin typeface="Calibri"/>
              </a:rPr>
              <a:t>Eliminating MV90 to replace with IEE-MDM may not happen, but objective is to minimize MV90 ; Anticipate low volume for “gas”</a:t>
            </a:r>
            <a:r>
              <a:rPr lang="ja-JP" altLang="en-US" sz="1400" smtClean="0">
                <a:solidFill>
                  <a:srgbClr val="000000"/>
                </a:solidFill>
                <a:latin typeface="Calibri"/>
              </a:rPr>
              <a:t> </a:t>
            </a:r>
            <a:r>
              <a:rPr lang="en-US" altLang="ja-JP" sz="1400" dirty="0" smtClean="0">
                <a:solidFill>
                  <a:srgbClr val="000000"/>
                </a:solidFill>
                <a:latin typeface="Calibri"/>
              </a:rPr>
              <a:t>functions, high revenue customers and security issues will keep MV90 from being completely eliminated</a:t>
            </a:r>
            <a:endParaRPr lang="ja-JP" altLang="en-US" sz="1400" smtClean="0">
              <a:solidFill>
                <a:srgbClr val="000000"/>
              </a:solidFill>
              <a:latin typeface="Calibri"/>
            </a:endParaRPr>
          </a:p>
          <a:p>
            <a:pPr marL="342900" indent="-342900">
              <a:buClr>
                <a:srgbClr val="000000"/>
              </a:buClr>
              <a:buFont typeface="+mj-lt"/>
              <a:buAutoNum type="alphaLcParenR"/>
            </a:pPr>
            <a:r>
              <a:rPr lang="en-US" altLang="ja-JP" sz="1400" dirty="0" smtClean="0">
                <a:solidFill>
                  <a:srgbClr val="000000"/>
                </a:solidFill>
                <a:latin typeface="Calibri"/>
              </a:rPr>
              <a:t>Changes to functional groups require a meter swap (OTA </a:t>
            </a:r>
            <a:r>
              <a:rPr lang="en-US" altLang="ja-JP" sz="1400" dirty="0" err="1" smtClean="0">
                <a:solidFill>
                  <a:srgbClr val="000000"/>
                </a:solidFill>
                <a:latin typeface="Calibri"/>
              </a:rPr>
              <a:t>config</a:t>
            </a:r>
            <a:r>
              <a:rPr lang="en-US" altLang="ja-JP" sz="1400" dirty="0" smtClean="0">
                <a:solidFill>
                  <a:srgbClr val="000000"/>
                </a:solidFill>
                <a:latin typeface="Calibri"/>
              </a:rPr>
              <a:t> group/function -- Meter program)</a:t>
            </a:r>
            <a:endParaRPr lang="ja-JP" altLang="en-US" sz="1400" smtClean="0">
              <a:solidFill>
                <a:srgbClr val="000000"/>
              </a:solidFill>
              <a:latin typeface="Calibri"/>
            </a:endParaRPr>
          </a:p>
          <a:p>
            <a:pPr marL="342900" indent="-342900">
              <a:buClr>
                <a:srgbClr val="000000"/>
              </a:buClr>
              <a:buFont typeface="+mj-lt"/>
              <a:buAutoNum type="alphaLcParenR"/>
            </a:pPr>
            <a:r>
              <a:rPr lang="en-US" altLang="ja-JP" sz="1400" dirty="0" smtClean="0">
                <a:solidFill>
                  <a:srgbClr val="000000"/>
                </a:solidFill>
                <a:latin typeface="Calibri"/>
              </a:rPr>
              <a:t>Changes are required to the technical master data within both SAP and IEE support the interval billing process, namely the creation (ties to install/remove/replace processes), allocation to the register, and replication of interval “profiles”</a:t>
            </a:r>
            <a:endParaRPr lang="ja-JP" altLang="en-US" sz="1400" smtClean="0">
              <a:solidFill>
                <a:srgbClr val="000000"/>
              </a:solidFill>
              <a:latin typeface="Calibri"/>
            </a:endParaRPr>
          </a:p>
          <a:p>
            <a:pPr marL="342900" indent="-342900">
              <a:buClr>
                <a:srgbClr val="FF0000"/>
              </a:buClr>
              <a:buFont typeface="+mj-lt"/>
              <a:buAutoNum type="alphaLcParenR"/>
            </a:pPr>
            <a:r>
              <a:rPr lang="en-US" altLang="ja-JP" sz="1400" b="1" dirty="0" smtClean="0">
                <a:solidFill>
                  <a:srgbClr val="FF0000"/>
                </a:solidFill>
                <a:latin typeface="Calibri"/>
              </a:rPr>
              <a:t>How do we handle the change of rate meter configurations?</a:t>
            </a:r>
            <a:endParaRPr lang="ja-JP" altLang="en-US" sz="1400" b="1" smtClean="0">
              <a:solidFill>
                <a:srgbClr val="FF0000"/>
              </a:solidFill>
              <a:latin typeface="Calibri"/>
            </a:endParaRPr>
          </a:p>
          <a:p>
            <a:pPr marL="342900" indent="-342900">
              <a:buClr>
                <a:srgbClr val="FF0000"/>
              </a:buClr>
              <a:buFont typeface="+mj-lt"/>
              <a:buAutoNum type="alphaLcParenR"/>
            </a:pPr>
            <a:r>
              <a:rPr lang="en-US" altLang="ja-JP" sz="1400" b="1" dirty="0" smtClean="0">
                <a:solidFill>
                  <a:srgbClr val="FF0000"/>
                </a:solidFill>
                <a:latin typeface="Calibri"/>
              </a:rPr>
              <a:t>What is the rate assignment</a:t>
            </a:r>
            <a:r>
              <a:rPr lang="ja-JP" altLang="en-US" sz="1400" b="1" smtClean="0">
                <a:solidFill>
                  <a:srgbClr val="FF0000"/>
                </a:solidFill>
                <a:latin typeface="Calibri"/>
              </a:rPr>
              <a:t> </a:t>
            </a:r>
            <a:r>
              <a:rPr lang="en-US" altLang="ja-JP" sz="1400" b="1" dirty="0" smtClean="0">
                <a:solidFill>
                  <a:srgbClr val="FF0000"/>
                </a:solidFill>
                <a:latin typeface="Calibri"/>
              </a:rPr>
              <a:t>process</a:t>
            </a:r>
            <a:r>
              <a:rPr lang="ja-JP" altLang="en-US" sz="1400" b="1" smtClean="0">
                <a:solidFill>
                  <a:srgbClr val="FF0000"/>
                </a:solidFill>
                <a:latin typeface="Calibri"/>
              </a:rPr>
              <a:t> </a:t>
            </a:r>
            <a:r>
              <a:rPr lang="en-US" altLang="ja-JP" sz="1400" b="1" dirty="0" smtClean="0">
                <a:solidFill>
                  <a:srgbClr val="FF0000"/>
                </a:solidFill>
                <a:latin typeface="Calibri"/>
              </a:rPr>
              <a:t>for move-in/move-out</a:t>
            </a:r>
            <a:r>
              <a:rPr lang="ja-JP" altLang="en-US" sz="1400" b="1" smtClean="0">
                <a:solidFill>
                  <a:srgbClr val="FF0000"/>
                </a:solidFill>
                <a:latin typeface="Calibri"/>
              </a:rPr>
              <a:t> </a:t>
            </a:r>
            <a:r>
              <a:rPr lang="en-US" altLang="ja-JP" sz="1400" b="1" dirty="0" smtClean="0">
                <a:solidFill>
                  <a:srgbClr val="FF0000"/>
                </a:solidFill>
                <a:latin typeface="Calibri"/>
              </a:rPr>
              <a:t>situations?</a:t>
            </a:r>
            <a:r>
              <a:rPr kumimoji="0" lang="en-US" sz="36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t/>
            </a:r>
            <a:br>
              <a:rPr kumimoji="0" lang="en-US" sz="36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br>
            <a:endParaRPr kumimoji="0" lang="en-US" sz="36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3914910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Scope Assumptions for Post-Cutover to IB– R4</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6" name="Content Placeholder 5"/>
          <p:cNvSpPr txBox="1">
            <a:spLocks/>
          </p:cNvSpPr>
          <p:nvPr/>
        </p:nvSpPr>
        <p:spPr>
          <a:xfrm>
            <a:off x="457200" y="914400"/>
            <a:ext cx="8229600" cy="5715000"/>
          </a:xfrm>
          <a:prstGeom prst="rect">
            <a:avLst/>
          </a:prstGeom>
        </p:spPr>
        <p:txBody>
          <a:bodyPr>
            <a:noAutofit/>
          </a:bodyPr>
          <a:lstStyle/>
          <a:p>
            <a:pPr marL="342900" marR="0" lvl="0" indent="-342900" algn="l" defTabSz="914400" rtl="0" eaLnBrk="1" fontAlgn="base" latinLnBrk="0" hangingPunct="1">
              <a:lnSpc>
                <a:spcPct val="100000"/>
              </a:lnSpc>
              <a:spcBef>
                <a:spcPct val="0"/>
              </a:spcBef>
              <a:spcAft>
                <a:spcPts val="600"/>
              </a:spcAft>
              <a:buClr>
                <a:schemeClr val="accent2"/>
              </a:buClr>
              <a:buSzTx/>
              <a:buFont typeface="+mj-lt"/>
              <a:buAutoNum type="arabicPeriod" startAt="2"/>
              <a:tabLst/>
              <a:defRPr/>
            </a:pPr>
            <a:r>
              <a:rPr kumimoji="0" lang="en-US" sz="1800" b="1" i="0" u="none" strike="noStrike" kern="1200" cap="none" spc="0" normalizeH="0" baseline="0" noProof="0" dirty="0" smtClean="0">
                <a:ln>
                  <a:noFill/>
                </a:ln>
                <a:solidFill>
                  <a:srgbClr val="002060"/>
                </a:solidFill>
                <a:effectLst/>
                <a:uLnTx/>
                <a:uFillTx/>
                <a:latin typeface="Arial" pitchFamily="34" charset="0"/>
                <a:ea typeface="+mn-ea"/>
                <a:cs typeface="Arial" pitchFamily="34" charset="0"/>
              </a:rPr>
              <a:t>Interval Data Needs</a:t>
            </a:r>
          </a:p>
          <a:p>
            <a:pPr marL="342900" indent="-342900">
              <a:buClr>
                <a:srgbClr val="002060"/>
              </a:buClr>
              <a:buFont typeface="+mj-lt"/>
              <a:buAutoNum type="alphaLcParenR"/>
            </a:pPr>
            <a:r>
              <a:rPr lang="en-US" altLang="ja-JP" sz="1400" dirty="0" smtClean="0">
                <a:solidFill>
                  <a:srgbClr val="002060"/>
                </a:solidFill>
                <a:latin typeface="Calibri"/>
              </a:rPr>
              <a:t>Business Rule</a:t>
            </a:r>
            <a:r>
              <a:rPr lang="en-US" altLang="ja-JP" sz="1400" dirty="0" smtClean="0">
                <a:solidFill>
                  <a:srgbClr val="000000"/>
                </a:solidFill>
                <a:latin typeface="Calibri"/>
              </a:rPr>
              <a:t>: Interval Data will be stored</a:t>
            </a:r>
            <a:r>
              <a:rPr lang="ja-JP" altLang="en-US" sz="1400" smtClean="0">
                <a:solidFill>
                  <a:srgbClr val="000000"/>
                </a:solidFill>
                <a:latin typeface="Calibri"/>
              </a:rPr>
              <a:t> </a:t>
            </a:r>
            <a:r>
              <a:rPr lang="en-US" altLang="ja-JP" sz="1400" dirty="0" smtClean="0">
                <a:solidFill>
                  <a:srgbClr val="000000"/>
                </a:solidFill>
                <a:latin typeface="Calibri"/>
              </a:rPr>
              <a:t>in the MDM for 84 months</a:t>
            </a:r>
            <a:endParaRPr lang="ja-JP" altLang="en-US" sz="1400" smtClean="0">
              <a:solidFill>
                <a:srgbClr val="000000"/>
              </a:solidFill>
              <a:latin typeface="Calibri"/>
            </a:endParaRPr>
          </a:p>
          <a:p>
            <a:pPr marL="857250" lvl="1" indent="-400050">
              <a:buClr>
                <a:srgbClr val="002060"/>
              </a:buClr>
              <a:buFont typeface="+mj-lt"/>
              <a:buAutoNum type="romanLcPeriod"/>
            </a:pPr>
            <a:r>
              <a:rPr lang="en-US" altLang="ja-JP" sz="1400" dirty="0" smtClean="0">
                <a:solidFill>
                  <a:srgbClr val="002060"/>
                </a:solidFill>
                <a:latin typeface="Calibri"/>
              </a:rPr>
              <a:t>Discussion on timeframe of how long to store data in the MDM</a:t>
            </a:r>
            <a:endParaRPr lang="ja-JP" altLang="en-US" sz="1400" smtClean="0">
              <a:solidFill>
                <a:srgbClr val="000000"/>
              </a:solidFill>
              <a:latin typeface="Calibri"/>
            </a:endParaRPr>
          </a:p>
          <a:p>
            <a:pPr marL="1257300" lvl="2" indent="-342900">
              <a:buClr>
                <a:srgbClr val="002060"/>
              </a:buClr>
              <a:buFont typeface="+mj-lt"/>
              <a:buAutoNum type="arabicPeriod"/>
            </a:pPr>
            <a:r>
              <a:rPr lang="en-US" altLang="ja-JP" sz="1400" dirty="0" smtClean="0">
                <a:solidFill>
                  <a:srgbClr val="002060"/>
                </a:solidFill>
                <a:latin typeface="Calibri"/>
              </a:rPr>
              <a:t>How often do you need access to the data? Is it for Archive or immediate access?</a:t>
            </a:r>
            <a:endParaRPr lang="ja-JP" altLang="en-US" sz="1400" smtClean="0">
              <a:solidFill>
                <a:srgbClr val="000000"/>
              </a:solidFill>
              <a:latin typeface="Calibri"/>
            </a:endParaRPr>
          </a:p>
          <a:p>
            <a:pPr marL="1714500" lvl="3" indent="-342900">
              <a:buClr>
                <a:srgbClr val="002060"/>
              </a:buClr>
              <a:buFont typeface="+mj-lt"/>
              <a:buAutoNum type="alphaLcParenR"/>
            </a:pPr>
            <a:r>
              <a:rPr lang="en-US" altLang="ja-JP" sz="1400" dirty="0" smtClean="0">
                <a:solidFill>
                  <a:srgbClr val="002060"/>
                </a:solidFill>
                <a:latin typeface="Calibri"/>
              </a:rPr>
              <a:t>Response: 3-year billing for real-time access</a:t>
            </a:r>
            <a:endParaRPr lang="ja-JP" altLang="en-US" sz="1400" smtClean="0">
              <a:solidFill>
                <a:srgbClr val="000000"/>
              </a:solidFill>
              <a:latin typeface="Calibri"/>
            </a:endParaRPr>
          </a:p>
          <a:p>
            <a:pPr marL="1257300" lvl="2" indent="-342900">
              <a:buClr>
                <a:srgbClr val="002060"/>
              </a:buClr>
              <a:buFont typeface="+mj-lt"/>
              <a:buAutoNum type="arabicPeriod"/>
            </a:pPr>
            <a:r>
              <a:rPr lang="en-US" altLang="ja-JP" sz="1400" dirty="0" smtClean="0">
                <a:solidFill>
                  <a:srgbClr val="002060"/>
                </a:solidFill>
                <a:latin typeface="Calibri"/>
              </a:rPr>
              <a:t>NOTE: 3 years is not to be acknowledged as the</a:t>
            </a:r>
            <a:r>
              <a:rPr lang="ja-JP" altLang="en-US" sz="1400" smtClean="0">
                <a:solidFill>
                  <a:srgbClr val="002060"/>
                </a:solidFill>
                <a:latin typeface="Calibri"/>
              </a:rPr>
              <a:t> </a:t>
            </a:r>
            <a:r>
              <a:rPr lang="en-US" altLang="ja-JP" sz="1400" dirty="0" smtClean="0">
                <a:solidFill>
                  <a:srgbClr val="002060"/>
                </a:solidFill>
                <a:latin typeface="Calibri"/>
              </a:rPr>
              <a:t>corporate storage policy</a:t>
            </a:r>
            <a:endParaRPr lang="ja-JP" altLang="en-US" sz="1400" smtClean="0">
              <a:solidFill>
                <a:srgbClr val="000000"/>
              </a:solidFill>
              <a:latin typeface="Calibri"/>
            </a:endParaRPr>
          </a:p>
          <a:p>
            <a:pPr marL="342900" indent="-342900">
              <a:buClr>
                <a:srgbClr val="000000"/>
              </a:buClr>
              <a:buFont typeface="+mj-lt"/>
              <a:buAutoNum type="alphaLcParenR"/>
            </a:pPr>
            <a:r>
              <a:rPr lang="en-US" altLang="ja-JP" sz="1400" dirty="0" smtClean="0">
                <a:solidFill>
                  <a:srgbClr val="000000"/>
                </a:solidFill>
                <a:latin typeface="Calibri"/>
              </a:rPr>
              <a:t>60-Minute intervals for </a:t>
            </a:r>
            <a:r>
              <a:rPr lang="en-US" altLang="ja-JP" sz="1400" dirty="0" err="1" smtClean="0">
                <a:solidFill>
                  <a:srgbClr val="000000"/>
                </a:solidFill>
                <a:latin typeface="Calibri"/>
              </a:rPr>
              <a:t>Residentials</a:t>
            </a:r>
            <a:r>
              <a:rPr lang="en-US" altLang="ja-JP" sz="1400" dirty="0" smtClean="0">
                <a:solidFill>
                  <a:srgbClr val="000000"/>
                </a:solidFill>
                <a:latin typeface="Calibri"/>
              </a:rPr>
              <a:t>; 60 or 15 -minute for Commercial</a:t>
            </a:r>
            <a:r>
              <a:rPr lang="ja-JP" altLang="en-US" sz="1400" smtClean="0">
                <a:solidFill>
                  <a:srgbClr val="000000"/>
                </a:solidFill>
                <a:latin typeface="Calibri"/>
              </a:rPr>
              <a:t> </a:t>
            </a:r>
            <a:r>
              <a:rPr lang="en-US" altLang="ja-JP" sz="1400" dirty="0" smtClean="0">
                <a:solidFill>
                  <a:srgbClr val="000000"/>
                </a:solidFill>
                <a:latin typeface="Calibri"/>
              </a:rPr>
              <a:t>&amp; Industrials not billing on demand</a:t>
            </a:r>
            <a:endParaRPr lang="ja-JP" altLang="en-US" sz="1400" smtClean="0">
              <a:solidFill>
                <a:srgbClr val="000000"/>
              </a:solidFill>
              <a:latin typeface="Calibri"/>
            </a:endParaRPr>
          </a:p>
          <a:p>
            <a:pPr marL="857250" lvl="1" indent="-400050">
              <a:buClr>
                <a:srgbClr val="000000"/>
              </a:buClr>
              <a:buFont typeface="+mj-lt"/>
              <a:buAutoNum type="romanLcPeriod"/>
            </a:pPr>
            <a:r>
              <a:rPr lang="en-US" altLang="ja-JP" sz="1400" dirty="0" smtClean="0">
                <a:solidFill>
                  <a:srgbClr val="000000"/>
                </a:solidFill>
                <a:latin typeface="Calibri"/>
              </a:rPr>
              <a:t>Single Phase meters used for some C &amp; I customers will use a 15 minute interval</a:t>
            </a:r>
            <a:endParaRPr lang="ja-JP" altLang="en-US" sz="1400" smtClean="0">
              <a:solidFill>
                <a:srgbClr val="000000"/>
              </a:solidFill>
              <a:latin typeface="Calibri"/>
            </a:endParaRPr>
          </a:p>
          <a:p>
            <a:pPr marL="857250" lvl="1" indent="-400050">
              <a:buClr>
                <a:srgbClr val="000000"/>
              </a:buClr>
              <a:buFont typeface="+mj-lt"/>
              <a:buAutoNum type="romanLcPeriod"/>
            </a:pPr>
            <a:r>
              <a:rPr lang="en-US" altLang="ja-JP" sz="1400" dirty="0" smtClean="0">
                <a:solidFill>
                  <a:srgbClr val="000000"/>
                </a:solidFill>
                <a:latin typeface="Calibri"/>
              </a:rPr>
              <a:t>9K customers use GSD</a:t>
            </a:r>
            <a:endParaRPr lang="ja-JP" altLang="en-US" sz="1400" smtClean="0">
              <a:solidFill>
                <a:srgbClr val="000000"/>
              </a:solidFill>
              <a:latin typeface="Calibri"/>
            </a:endParaRPr>
          </a:p>
          <a:p>
            <a:pPr marL="857250" lvl="1" indent="-400050">
              <a:buClr>
                <a:srgbClr val="000000"/>
              </a:buClr>
              <a:buFont typeface="+mj-lt"/>
              <a:buAutoNum type="romanLcPeriod"/>
            </a:pPr>
            <a:r>
              <a:rPr lang="en-US" altLang="ja-JP" sz="1400" dirty="0" smtClean="0">
                <a:solidFill>
                  <a:srgbClr val="000000"/>
                </a:solidFill>
                <a:latin typeface="Calibri"/>
              </a:rPr>
              <a:t>60 minute intervals CANNOT be used for Demand Billing</a:t>
            </a:r>
            <a:endParaRPr lang="ja-JP" altLang="en-US" sz="1400" smtClean="0">
              <a:solidFill>
                <a:srgbClr val="000000"/>
              </a:solidFill>
              <a:latin typeface="Calibri"/>
            </a:endParaRPr>
          </a:p>
          <a:p>
            <a:pPr marL="857250" lvl="1" indent="-400050">
              <a:buClr>
                <a:srgbClr val="000000"/>
              </a:buClr>
              <a:buFont typeface="+mj-lt"/>
              <a:buAutoNum type="romanLcPeriod"/>
            </a:pPr>
            <a:r>
              <a:rPr lang="en-US" altLang="ja-JP" sz="1400" dirty="0" smtClean="0">
                <a:solidFill>
                  <a:srgbClr val="000000"/>
                </a:solidFill>
                <a:latin typeface="Calibri"/>
              </a:rPr>
              <a:t>Can we use 60-min for rate analysis?</a:t>
            </a:r>
            <a:endParaRPr lang="ja-JP" altLang="en-US" sz="1400" smtClean="0">
              <a:solidFill>
                <a:srgbClr val="000000"/>
              </a:solidFill>
              <a:latin typeface="Calibri"/>
            </a:endParaRPr>
          </a:p>
          <a:p>
            <a:pPr marL="1257300" lvl="2" indent="-342900">
              <a:buClr>
                <a:srgbClr val="000000"/>
              </a:buClr>
              <a:buFont typeface="+mj-lt"/>
              <a:buAutoNum type="arabicPeriod"/>
            </a:pPr>
            <a:r>
              <a:rPr lang="en-US" altLang="ja-JP" sz="1400" dirty="0" smtClean="0">
                <a:solidFill>
                  <a:srgbClr val="000000"/>
                </a:solidFill>
                <a:latin typeface="Calibri"/>
              </a:rPr>
              <a:t>Response: Currently</a:t>
            </a:r>
            <a:r>
              <a:rPr lang="ja-JP" altLang="en-US" sz="1400" smtClean="0">
                <a:solidFill>
                  <a:srgbClr val="000000"/>
                </a:solidFill>
                <a:latin typeface="Calibri"/>
              </a:rPr>
              <a:t> </a:t>
            </a:r>
            <a:r>
              <a:rPr lang="en-US" altLang="ja-JP" sz="1400" dirty="0" smtClean="0">
                <a:solidFill>
                  <a:srgbClr val="000000"/>
                </a:solidFill>
                <a:latin typeface="Calibri"/>
              </a:rPr>
              <a:t>rate analysis is performed monthly, therefore 60 minutes will be sufficient</a:t>
            </a:r>
            <a:endParaRPr lang="ja-JP" altLang="en-US" sz="1400" smtClean="0">
              <a:solidFill>
                <a:srgbClr val="000000"/>
              </a:solidFill>
              <a:latin typeface="Calibri"/>
            </a:endParaRPr>
          </a:p>
          <a:p>
            <a:pPr marL="1714500" lvl="3" indent="-342900">
              <a:buClr>
                <a:srgbClr val="000000"/>
              </a:buClr>
              <a:buFont typeface="+mj-lt"/>
              <a:buAutoNum type="alphaLcParenR"/>
            </a:pPr>
            <a:r>
              <a:rPr lang="en-US" altLang="ja-JP" sz="1400" dirty="0" smtClean="0">
                <a:solidFill>
                  <a:srgbClr val="000000"/>
                </a:solidFill>
                <a:latin typeface="Calibri"/>
              </a:rPr>
              <a:t>Is this in Grid Director, SAP or ACT?</a:t>
            </a:r>
            <a:endParaRPr lang="ja-JP" altLang="en-US" sz="1400" smtClean="0">
              <a:solidFill>
                <a:srgbClr val="000000"/>
              </a:solidFill>
              <a:latin typeface="Calibri"/>
            </a:endParaRPr>
          </a:p>
          <a:p>
            <a:pPr marL="342900" indent="-342900">
              <a:buClr>
                <a:srgbClr val="000000"/>
              </a:buClr>
              <a:buFont typeface="+mj-lt"/>
              <a:buAutoNum type="alphaLcParenR"/>
            </a:pPr>
            <a:r>
              <a:rPr lang="en-US" altLang="ja-JP" sz="1400" dirty="0" smtClean="0">
                <a:solidFill>
                  <a:srgbClr val="000000"/>
                </a:solidFill>
                <a:latin typeface="Calibri"/>
              </a:rPr>
              <a:t>15 minute intervals for Commercial</a:t>
            </a:r>
            <a:r>
              <a:rPr lang="ja-JP" altLang="en-US" sz="1400" smtClean="0">
                <a:solidFill>
                  <a:srgbClr val="000000"/>
                </a:solidFill>
                <a:latin typeface="Calibri"/>
              </a:rPr>
              <a:t> </a:t>
            </a:r>
            <a:r>
              <a:rPr lang="en-US" altLang="ja-JP" sz="1400" dirty="0" smtClean="0">
                <a:solidFill>
                  <a:srgbClr val="000000"/>
                </a:solidFill>
                <a:latin typeface="Calibri"/>
              </a:rPr>
              <a:t>&amp; Industrials required for demand based rate categories (i.e. max demand or power factor billing)</a:t>
            </a:r>
            <a:endParaRPr lang="ja-JP" altLang="en-US" sz="1400" smtClean="0">
              <a:solidFill>
                <a:srgbClr val="000000"/>
              </a:solidFill>
              <a:latin typeface="Calibri"/>
            </a:endParaRPr>
          </a:p>
          <a:p>
            <a:pPr marL="342900" indent="-342900">
              <a:buClr>
                <a:srgbClr val="FF0000"/>
              </a:buClr>
              <a:buFont typeface="+mj-lt"/>
              <a:buAutoNum type="alphaLcParenR"/>
            </a:pPr>
            <a:r>
              <a:rPr lang="en-US" altLang="ja-JP" sz="1400" b="1" dirty="0" smtClean="0">
                <a:solidFill>
                  <a:srgbClr val="FF0000"/>
                </a:solidFill>
                <a:latin typeface="Calibri"/>
              </a:rPr>
              <a:t>Are we officially going to send demand and </a:t>
            </a:r>
            <a:r>
              <a:rPr lang="en-US" altLang="ja-JP" sz="1400" b="1" dirty="0" err="1" smtClean="0">
                <a:solidFill>
                  <a:srgbClr val="FF0000"/>
                </a:solidFill>
                <a:latin typeface="Calibri"/>
              </a:rPr>
              <a:t>kVARh</a:t>
            </a:r>
            <a:r>
              <a:rPr lang="en-US" altLang="ja-JP" sz="1400" b="1" dirty="0" smtClean="0">
                <a:solidFill>
                  <a:srgbClr val="FF0000"/>
                </a:solidFill>
                <a:latin typeface="Calibri"/>
              </a:rPr>
              <a:t> reads for ALL C&amp;I accounts?</a:t>
            </a:r>
            <a:r>
              <a:rPr lang="ja-JP" altLang="en-US" sz="1400" b="1" smtClean="0">
                <a:solidFill>
                  <a:srgbClr val="FF0000"/>
                </a:solidFill>
                <a:latin typeface="Calibri"/>
              </a:rPr>
              <a:t> </a:t>
            </a:r>
          </a:p>
          <a:p>
            <a:pPr marL="857250" lvl="1" indent="-400050">
              <a:buClr>
                <a:srgbClr val="FF0000"/>
              </a:buClr>
              <a:buFont typeface="+mj-lt"/>
              <a:buAutoNum type="romanLcPeriod"/>
            </a:pPr>
            <a:r>
              <a:rPr lang="en-US" altLang="ja-JP" sz="1400" b="1" dirty="0" smtClean="0">
                <a:solidFill>
                  <a:srgbClr val="FF0000"/>
                </a:solidFill>
                <a:latin typeface="Calibri"/>
              </a:rPr>
              <a:t>Needs to be clarified based on further rates analysis</a:t>
            </a:r>
            <a:endParaRPr lang="ja-JP" altLang="en-US" sz="1400" b="1" smtClean="0">
              <a:solidFill>
                <a:srgbClr val="FF0000"/>
              </a:solidFill>
              <a:latin typeface="Calibri"/>
            </a:endParaRPr>
          </a:p>
          <a:p>
            <a:pPr marL="342900" indent="-342900">
              <a:buClr>
                <a:srgbClr val="002060"/>
              </a:buClr>
              <a:buFont typeface="+mj-lt"/>
              <a:buAutoNum type="alphaLcParenR"/>
            </a:pPr>
            <a:r>
              <a:rPr lang="en-US" altLang="ja-JP" sz="1400" dirty="0" smtClean="0">
                <a:solidFill>
                  <a:srgbClr val="002060"/>
                </a:solidFill>
                <a:latin typeface="Calibri"/>
              </a:rPr>
              <a:t>Business Rule</a:t>
            </a:r>
            <a:r>
              <a:rPr lang="en-US" altLang="ja-JP" sz="1400" dirty="0" smtClean="0">
                <a:solidFill>
                  <a:srgbClr val="000000"/>
                </a:solidFill>
                <a:latin typeface="Calibri"/>
              </a:rPr>
              <a:t>: Nothing less than 15-minute intervals for any customer, unless special category created</a:t>
            </a:r>
            <a:endParaRPr lang="ja-JP" altLang="en-US" sz="1400" smtClean="0">
              <a:solidFill>
                <a:srgbClr val="000000"/>
              </a:solidFill>
              <a:latin typeface="Calibri"/>
            </a:endParaRPr>
          </a:p>
          <a:p>
            <a:pPr marL="342900" indent="-342900">
              <a:buClr>
                <a:srgbClr val="002060"/>
              </a:buClr>
              <a:buFont typeface="+mj-lt"/>
              <a:buAutoNum type="alphaLcParenR"/>
            </a:pPr>
            <a:r>
              <a:rPr lang="en-US" altLang="ja-JP" sz="1400" dirty="0" smtClean="0">
                <a:solidFill>
                  <a:srgbClr val="002060"/>
                </a:solidFill>
                <a:latin typeface="Calibri"/>
              </a:rPr>
              <a:t>Business Rule: There are limitations of up to 7 meter registers in the </a:t>
            </a:r>
            <a:r>
              <a:rPr lang="en-US" altLang="ja-JP" sz="1400" dirty="0" err="1" smtClean="0">
                <a:solidFill>
                  <a:srgbClr val="002060"/>
                </a:solidFill>
                <a:latin typeface="Calibri"/>
              </a:rPr>
              <a:t>Openway</a:t>
            </a:r>
            <a:r>
              <a:rPr lang="en-US" altLang="ja-JP" sz="1400" dirty="0" smtClean="0">
                <a:solidFill>
                  <a:srgbClr val="002060"/>
                </a:solidFill>
                <a:latin typeface="Calibri"/>
              </a:rPr>
              <a:t> HE</a:t>
            </a:r>
            <a:endParaRPr lang="ja-JP" altLang="en-US" sz="1400" b="1" smtClean="0">
              <a:solidFill>
                <a:srgbClr val="002060"/>
              </a:solidFill>
              <a:latin typeface="Calibri"/>
            </a:endParaRPr>
          </a:p>
          <a:p>
            <a:pPr marL="857250" lvl="1" indent="-400050">
              <a:buClr>
                <a:srgbClr val="002060"/>
              </a:buClr>
              <a:buFont typeface="+mj-lt"/>
              <a:buAutoNum type="romanLcPeriod"/>
            </a:pPr>
            <a:r>
              <a:rPr lang="en-US" altLang="ja-JP" sz="1400" dirty="0" smtClean="0">
                <a:solidFill>
                  <a:srgbClr val="002060"/>
                </a:solidFill>
                <a:latin typeface="Calibri"/>
              </a:rPr>
              <a:t>NOTE: Not all registers are needed</a:t>
            </a:r>
            <a:r>
              <a:rPr kumimoji="0" lang="en-US" sz="20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t/>
            </a:r>
            <a:br>
              <a:rPr kumimoji="0" lang="en-US" sz="20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br>
            <a:endParaRPr kumimoji="0" lang="en-US" sz="20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3914910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Scope Assumptions for Post-Cutover to IB– R4</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6" name="Content Placeholder 5"/>
          <p:cNvSpPr txBox="1">
            <a:spLocks/>
          </p:cNvSpPr>
          <p:nvPr/>
        </p:nvSpPr>
        <p:spPr>
          <a:xfrm>
            <a:off x="457200" y="838200"/>
            <a:ext cx="8229600" cy="5715000"/>
          </a:xfrm>
          <a:prstGeom prst="rect">
            <a:avLst/>
          </a:prstGeom>
        </p:spPr>
        <p:txBody>
          <a:bodyPr>
            <a:noAutofit/>
          </a:bodyPr>
          <a:lstStyle/>
          <a:p>
            <a:pPr marL="342900" marR="0" lvl="0" indent="-342900" algn="l" defTabSz="914400" rtl="0" eaLnBrk="1" fontAlgn="base" latinLnBrk="0" hangingPunct="1">
              <a:lnSpc>
                <a:spcPct val="100000"/>
              </a:lnSpc>
              <a:spcBef>
                <a:spcPct val="0"/>
              </a:spcBef>
              <a:spcAft>
                <a:spcPts val="600"/>
              </a:spcAft>
              <a:buClr>
                <a:schemeClr val="accent2"/>
              </a:buClr>
              <a:buSzTx/>
              <a:buFont typeface="+mj-lt"/>
              <a:buAutoNum type="arabicPeriod" startAt="3"/>
              <a:tabLst/>
              <a:defRPr/>
            </a:pPr>
            <a:r>
              <a:rPr kumimoji="0" lang="en-US" sz="1800" b="1" i="0" u="none" strike="noStrike" kern="1200" cap="none" spc="0" normalizeH="0" baseline="0" noProof="0" dirty="0" smtClean="0">
                <a:ln>
                  <a:noFill/>
                </a:ln>
                <a:solidFill>
                  <a:srgbClr val="002060"/>
                </a:solidFill>
                <a:effectLst/>
                <a:uLnTx/>
                <a:uFillTx/>
                <a:latin typeface="Arial" pitchFamily="34" charset="0"/>
                <a:ea typeface="+mn-ea"/>
                <a:cs typeface="Arial" pitchFamily="34" charset="0"/>
              </a:rPr>
              <a:t>Validation &amp; Verification</a:t>
            </a:r>
          </a:p>
          <a:p>
            <a:pPr marL="342900" indent="-342900">
              <a:buClr>
                <a:srgbClr val="FF0000"/>
              </a:buClr>
              <a:buFont typeface="+mj-lt"/>
              <a:buAutoNum type="alphaLcParenR"/>
            </a:pPr>
            <a:r>
              <a:rPr lang="en-US" altLang="ja-JP" b="1" dirty="0" smtClean="0">
                <a:solidFill>
                  <a:srgbClr val="FF0000"/>
                </a:solidFill>
                <a:latin typeface="Calibri"/>
              </a:rPr>
              <a:t>Does MDM know the difference</a:t>
            </a:r>
            <a:r>
              <a:rPr lang="ja-JP" altLang="en-US" b="1" smtClean="0">
                <a:solidFill>
                  <a:srgbClr val="FF0000"/>
                </a:solidFill>
                <a:latin typeface="Calibri"/>
              </a:rPr>
              <a:t> </a:t>
            </a:r>
            <a:r>
              <a:rPr lang="en-US" altLang="ja-JP" b="1" dirty="0" smtClean="0">
                <a:solidFill>
                  <a:srgbClr val="FF0000"/>
                </a:solidFill>
                <a:latin typeface="Calibri"/>
              </a:rPr>
              <a:t>between missing read and a corrupt read?</a:t>
            </a:r>
            <a:endParaRPr lang="ja-JP" altLang="en-US" b="1" smtClean="0">
              <a:solidFill>
                <a:srgbClr val="FF0000"/>
              </a:solidFill>
              <a:latin typeface="Calibri"/>
            </a:endParaRPr>
          </a:p>
          <a:p>
            <a:pPr marL="342900" indent="-342900">
              <a:buClr>
                <a:srgbClr val="FF0000"/>
              </a:buClr>
              <a:buFont typeface="+mj-lt"/>
              <a:buAutoNum type="alphaLcParenR"/>
            </a:pPr>
            <a:r>
              <a:rPr lang="en-US" altLang="ja-JP" b="1" dirty="0" smtClean="0">
                <a:solidFill>
                  <a:srgbClr val="FF0000"/>
                </a:solidFill>
                <a:latin typeface="Calibri"/>
              </a:rPr>
              <a:t>Interval limitation in MDMS  implies 4 validations types for single phase and 20 for </a:t>
            </a:r>
            <a:r>
              <a:rPr lang="en-US" altLang="ja-JP" b="1" dirty="0" err="1" smtClean="0">
                <a:solidFill>
                  <a:srgbClr val="FF0000"/>
                </a:solidFill>
                <a:latin typeface="Calibri"/>
              </a:rPr>
              <a:t>polyphase</a:t>
            </a:r>
            <a:r>
              <a:rPr lang="en-US" altLang="ja-JP" b="1" dirty="0" smtClean="0">
                <a:solidFill>
                  <a:srgbClr val="FF0000"/>
                </a:solidFill>
                <a:latin typeface="Calibri"/>
              </a:rPr>
              <a:t> ( GE)</a:t>
            </a:r>
            <a:r>
              <a:rPr lang="ja-JP" altLang="en-US" b="1" smtClean="0">
                <a:solidFill>
                  <a:srgbClr val="FF0000"/>
                </a:solidFill>
                <a:latin typeface="Calibri"/>
              </a:rPr>
              <a:t> </a:t>
            </a:r>
            <a:r>
              <a:rPr lang="en-US" altLang="ja-JP" b="1" dirty="0" smtClean="0">
                <a:solidFill>
                  <a:srgbClr val="FF0000"/>
                </a:solidFill>
                <a:latin typeface="Calibri"/>
              </a:rPr>
              <a:t>???</a:t>
            </a:r>
            <a:endParaRPr lang="ja-JP" altLang="en-US" b="1" smtClean="0">
              <a:solidFill>
                <a:srgbClr val="FF0000"/>
              </a:solidFill>
              <a:latin typeface="Calibri"/>
            </a:endParaRPr>
          </a:p>
          <a:p>
            <a:pPr marL="342900" indent="-342900">
              <a:buClr>
                <a:srgbClr val="000000"/>
              </a:buClr>
              <a:buFont typeface="+mj-lt"/>
              <a:buAutoNum type="alphaLcParenR"/>
            </a:pPr>
            <a:r>
              <a:rPr lang="en-US" altLang="ja-JP" dirty="0" smtClean="0">
                <a:solidFill>
                  <a:srgbClr val="000000"/>
                </a:solidFill>
                <a:latin typeface="Calibri"/>
              </a:rPr>
              <a:t>ITRON recommends</a:t>
            </a:r>
            <a:r>
              <a:rPr lang="ja-JP" altLang="en-US" smtClean="0">
                <a:solidFill>
                  <a:srgbClr val="000000"/>
                </a:solidFill>
                <a:latin typeface="Calibri"/>
              </a:rPr>
              <a:t> </a:t>
            </a:r>
            <a:r>
              <a:rPr lang="en-US" altLang="ja-JP" dirty="0" smtClean="0">
                <a:solidFill>
                  <a:srgbClr val="000000"/>
                </a:solidFill>
                <a:latin typeface="Calibri"/>
              </a:rPr>
              <a:t>using a limited number of validations</a:t>
            </a:r>
            <a:r>
              <a:rPr lang="ja-JP" altLang="en-US" smtClean="0">
                <a:solidFill>
                  <a:srgbClr val="000000"/>
                </a:solidFill>
                <a:latin typeface="Calibri"/>
              </a:rPr>
              <a:t> </a:t>
            </a:r>
            <a:r>
              <a:rPr lang="en-US" altLang="ja-JP" dirty="0" smtClean="0">
                <a:solidFill>
                  <a:srgbClr val="000000"/>
                </a:solidFill>
                <a:latin typeface="Calibri"/>
              </a:rPr>
              <a:t>for R4 based on the number of resources currently available within MDM; hence few validation checks were selected</a:t>
            </a:r>
            <a:endParaRPr lang="ja-JP" altLang="en-US" smtClean="0">
              <a:solidFill>
                <a:srgbClr val="000000"/>
              </a:solidFill>
              <a:latin typeface="Calibri"/>
            </a:endParaRPr>
          </a:p>
          <a:p>
            <a:pPr marL="857250" lvl="1" indent="-400050">
              <a:buClr>
                <a:srgbClr val="000000"/>
              </a:buClr>
              <a:buFont typeface="+mj-lt"/>
              <a:buAutoNum type="romanLcPeriod"/>
            </a:pPr>
            <a:r>
              <a:rPr lang="en-US" altLang="ja-JP" dirty="0" smtClean="0">
                <a:solidFill>
                  <a:srgbClr val="000000"/>
                </a:solidFill>
                <a:latin typeface="Calibri"/>
              </a:rPr>
              <a:t>Discussed that the existing models must comply with the current MV90 Calculations –</a:t>
            </a:r>
            <a:r>
              <a:rPr lang="ja-JP" altLang="en-US" smtClean="0">
                <a:solidFill>
                  <a:srgbClr val="000000"/>
                </a:solidFill>
                <a:latin typeface="Calibri"/>
              </a:rPr>
              <a:t> </a:t>
            </a:r>
            <a:r>
              <a:rPr lang="en-US" altLang="ja-JP" dirty="0" smtClean="0">
                <a:solidFill>
                  <a:srgbClr val="000000"/>
                </a:solidFill>
                <a:latin typeface="Calibri"/>
              </a:rPr>
              <a:t>Compliance (MPSC)</a:t>
            </a:r>
            <a:endParaRPr lang="ja-JP" altLang="en-US" smtClean="0">
              <a:solidFill>
                <a:srgbClr val="000000"/>
              </a:solidFill>
              <a:latin typeface="Calibri"/>
            </a:endParaRPr>
          </a:p>
          <a:p>
            <a:pPr marL="342900" indent="-342900">
              <a:buClr>
                <a:srgbClr val="000000"/>
              </a:buClr>
              <a:buFont typeface="+mj-lt"/>
              <a:buAutoNum type="alphaLcParenR"/>
            </a:pPr>
            <a:r>
              <a:rPr lang="en-US" altLang="ja-JP" dirty="0" smtClean="0">
                <a:solidFill>
                  <a:srgbClr val="000000"/>
                </a:solidFill>
                <a:latin typeface="Calibri"/>
              </a:rPr>
              <a:t>High/Low MAY be done –</a:t>
            </a:r>
            <a:r>
              <a:rPr lang="ja-JP" altLang="en-US" smtClean="0">
                <a:solidFill>
                  <a:srgbClr val="000000"/>
                </a:solidFill>
                <a:latin typeface="Calibri"/>
              </a:rPr>
              <a:t> </a:t>
            </a:r>
            <a:r>
              <a:rPr lang="en-US" altLang="ja-JP" b="1" dirty="0" smtClean="0">
                <a:solidFill>
                  <a:srgbClr val="000000"/>
                </a:solidFill>
                <a:latin typeface="Calibri"/>
              </a:rPr>
              <a:t>but</a:t>
            </a:r>
            <a:r>
              <a:rPr lang="ja-JP" altLang="en-US" b="1" smtClean="0">
                <a:solidFill>
                  <a:srgbClr val="000000"/>
                </a:solidFill>
                <a:latin typeface="Calibri"/>
              </a:rPr>
              <a:t> </a:t>
            </a:r>
            <a:r>
              <a:rPr lang="en-US" altLang="ja-JP" b="1" dirty="0" smtClean="0">
                <a:solidFill>
                  <a:srgbClr val="000000"/>
                </a:solidFill>
                <a:latin typeface="Calibri"/>
              </a:rPr>
              <a:t>decision is not yet final!</a:t>
            </a:r>
            <a:endParaRPr lang="ja-JP" altLang="en-US" b="1" smtClean="0">
              <a:solidFill>
                <a:srgbClr val="000000"/>
              </a:solidFill>
              <a:latin typeface="Calibri"/>
            </a:endParaRPr>
          </a:p>
          <a:p>
            <a:pPr marL="342900" indent="-342900">
              <a:buClr>
                <a:srgbClr val="FF0000"/>
              </a:buClr>
              <a:buFont typeface="+mj-lt"/>
              <a:buAutoNum type="alphaLcParenR"/>
            </a:pPr>
            <a:r>
              <a:rPr lang="en-US" altLang="ja-JP" b="1" dirty="0" smtClean="0">
                <a:solidFill>
                  <a:srgbClr val="FF0000"/>
                </a:solidFill>
                <a:latin typeface="Calibri"/>
              </a:rPr>
              <a:t>Is there a conflict that may exist with the validation rules within SAP and those of MDM? </a:t>
            </a:r>
            <a:endParaRPr lang="ja-JP" altLang="en-US" b="1" smtClean="0">
              <a:solidFill>
                <a:srgbClr val="FF0000"/>
              </a:solidFill>
              <a:latin typeface="Calibri"/>
            </a:endParaRPr>
          </a:p>
          <a:p>
            <a:pPr marL="342900" indent="-342900">
              <a:buClr>
                <a:srgbClr val="000000"/>
              </a:buClr>
              <a:buFont typeface="+mj-lt"/>
              <a:buAutoNum type="alphaLcParenR"/>
            </a:pPr>
            <a:r>
              <a:rPr lang="en-US" altLang="ja-JP" dirty="0" smtClean="0">
                <a:solidFill>
                  <a:srgbClr val="000000"/>
                </a:solidFill>
                <a:latin typeface="Calibri"/>
              </a:rPr>
              <a:t>Best way to handle this is not to turn on power outage</a:t>
            </a:r>
            <a:r>
              <a:rPr lang="ja-JP" altLang="en-US" smtClean="0">
                <a:solidFill>
                  <a:srgbClr val="000000"/>
                </a:solidFill>
                <a:latin typeface="Calibri"/>
              </a:rPr>
              <a:t> </a:t>
            </a:r>
            <a:r>
              <a:rPr lang="en-US" altLang="ja-JP" dirty="0" smtClean="0">
                <a:solidFill>
                  <a:srgbClr val="000000"/>
                </a:solidFill>
                <a:latin typeface="Calibri"/>
              </a:rPr>
              <a:t>–</a:t>
            </a:r>
            <a:r>
              <a:rPr lang="ja-JP" altLang="en-US" smtClean="0">
                <a:solidFill>
                  <a:srgbClr val="000000"/>
                </a:solidFill>
                <a:latin typeface="Calibri"/>
              </a:rPr>
              <a:t> </a:t>
            </a:r>
            <a:r>
              <a:rPr lang="en-US" altLang="ja-JP" b="1" dirty="0" smtClean="0">
                <a:solidFill>
                  <a:srgbClr val="000000"/>
                </a:solidFill>
                <a:latin typeface="Calibri"/>
              </a:rPr>
              <a:t>Would like to make sure we can utilize outage notification for ALL meters that can talk to us</a:t>
            </a:r>
            <a:endParaRPr lang="ja-JP" altLang="en-US" b="1" smtClean="0">
              <a:solidFill>
                <a:srgbClr val="000000"/>
              </a:solidFill>
              <a:latin typeface="Calibri"/>
            </a:endParaRPr>
          </a:p>
          <a:p>
            <a:pPr marL="857250" lvl="1" indent="-400050">
              <a:buClr>
                <a:srgbClr val="000000"/>
              </a:buClr>
              <a:buFont typeface="+mj-lt"/>
              <a:buAutoNum type="romanLcPeriod"/>
            </a:pPr>
            <a:r>
              <a:rPr lang="en-US" altLang="ja-JP" b="1" dirty="0" smtClean="0">
                <a:solidFill>
                  <a:srgbClr val="000000"/>
                </a:solidFill>
                <a:latin typeface="Calibri"/>
              </a:rPr>
              <a:t>Response: IEE puts a status on the intervals</a:t>
            </a:r>
            <a:endParaRPr lang="ja-JP" altLang="en-US" b="1" smtClean="0">
              <a:solidFill>
                <a:srgbClr val="000000"/>
              </a:solidFill>
              <a:latin typeface="Calibri"/>
            </a:endParaRPr>
          </a:p>
          <a:p>
            <a:pPr marL="342900" indent="-342900">
              <a:buClr>
                <a:srgbClr val="000000"/>
              </a:buClr>
              <a:buFont typeface="+mj-lt"/>
              <a:buAutoNum type="alphaLcParenR"/>
            </a:pPr>
            <a:r>
              <a:rPr lang="en-US" altLang="ja-JP" dirty="0" smtClean="0">
                <a:solidFill>
                  <a:srgbClr val="000000"/>
                </a:solidFill>
                <a:latin typeface="Calibri"/>
              </a:rPr>
              <a:t>Gap-fill interrogation (an extension of VEE), will need to be turned on</a:t>
            </a:r>
            <a:r>
              <a:rPr lang="ja-JP" altLang="en-US" smtClean="0">
                <a:solidFill>
                  <a:srgbClr val="000000"/>
                </a:solidFill>
                <a:latin typeface="Calibri"/>
              </a:rPr>
              <a:t> </a:t>
            </a:r>
            <a:r>
              <a:rPr lang="en-US" altLang="ja-JP" dirty="0" smtClean="0">
                <a:solidFill>
                  <a:srgbClr val="000000"/>
                </a:solidFill>
                <a:latin typeface="Calibri"/>
              </a:rPr>
              <a:t>for interval billing</a:t>
            </a:r>
            <a:endParaRPr lang="ja-JP" altLang="en-US" smtClean="0">
              <a:solidFill>
                <a:srgbClr val="000000"/>
              </a:solidFill>
              <a:latin typeface="Calibri"/>
            </a:endParaRPr>
          </a:p>
          <a:p>
            <a:pPr marL="342900" indent="-342900">
              <a:buClr>
                <a:srgbClr val="000000"/>
              </a:buClr>
              <a:buFont typeface="+mj-lt"/>
              <a:buAutoNum type="alphaLcParenR"/>
            </a:pPr>
            <a:r>
              <a:rPr lang="en-US" altLang="ja-JP" dirty="0" smtClean="0">
                <a:latin typeface="Calibri"/>
              </a:rPr>
              <a:t>What does Consumers do with meters that have stopped communicating?</a:t>
            </a:r>
            <a:endParaRPr lang="ja-JP" altLang="en-US" smtClean="0">
              <a:latin typeface="Calibri"/>
            </a:endParaRPr>
          </a:p>
          <a:p>
            <a:pPr marL="857250" lvl="1" indent="-400050">
              <a:buClr>
                <a:srgbClr val="000000"/>
              </a:buClr>
              <a:buFont typeface="+mj-lt"/>
              <a:buAutoNum type="romanLcPeriod"/>
            </a:pPr>
            <a:r>
              <a:rPr lang="en-US" altLang="ja-JP" dirty="0" smtClean="0">
                <a:latin typeface="Calibri"/>
              </a:rPr>
              <a:t>Response: There needs to be a backup plan for collecting intervals (Field Tools?)</a:t>
            </a:r>
            <a:endParaRPr lang="ja-JP" altLang="en-US" smtClean="0">
              <a:latin typeface="Calibri"/>
            </a:endParaRPr>
          </a:p>
          <a:p>
            <a:pPr marL="800100" marR="0" lvl="1" indent="-342900" algn="l" defTabSz="914400" rtl="0" eaLnBrk="1" fontAlgn="base" latinLnBrk="0" hangingPunct="1">
              <a:lnSpc>
                <a:spcPct val="100000"/>
              </a:lnSpc>
              <a:spcBef>
                <a:spcPct val="0"/>
              </a:spcBef>
              <a:spcAft>
                <a:spcPts val="600"/>
              </a:spcAft>
              <a:buClr>
                <a:schemeClr val="accent2"/>
              </a:buClr>
              <a:buSzTx/>
              <a:buFont typeface="+mj-lt"/>
              <a:buAutoNum type="alphaLcPeriod"/>
              <a:tabLst/>
              <a:defRPr/>
            </a:pPr>
            <a:r>
              <a:rPr kumimoji="0" lang="en-US" sz="20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t/>
            </a:r>
            <a:br>
              <a:rPr kumimoji="0" lang="en-US" sz="20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br>
            <a:endParaRPr kumimoji="0" lang="en-US" sz="2000" b="1"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391491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Scope Assumptions for Post-Cutover to IB– R4</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6" name="Content Placeholder 5"/>
          <p:cNvSpPr txBox="1">
            <a:spLocks/>
          </p:cNvSpPr>
          <p:nvPr/>
        </p:nvSpPr>
        <p:spPr>
          <a:xfrm>
            <a:off x="457200" y="762000"/>
            <a:ext cx="8229600" cy="5562600"/>
          </a:xfrm>
          <a:prstGeom prst="rect">
            <a:avLst/>
          </a:prstGeom>
        </p:spPr>
        <p:txBody>
          <a:bodyPr>
            <a:noAutofit/>
          </a:bodyPr>
          <a:lstStyle/>
          <a:p>
            <a:pPr marL="514350" marR="0" lvl="0" indent="-514350" algn="l" defTabSz="914400" rtl="0" eaLnBrk="1" fontAlgn="base" latinLnBrk="0" hangingPunct="1">
              <a:lnSpc>
                <a:spcPct val="100000"/>
              </a:lnSpc>
              <a:spcBef>
                <a:spcPct val="0"/>
              </a:spcBef>
              <a:spcAft>
                <a:spcPts val="600"/>
              </a:spcAft>
              <a:buClr>
                <a:schemeClr val="accent2"/>
              </a:buClr>
              <a:buSzTx/>
              <a:buFont typeface="+mj-lt"/>
              <a:buAutoNum type="arabicPeriod" startAt="4"/>
              <a:tabLst/>
              <a:defRPr/>
            </a:pPr>
            <a:r>
              <a:rPr kumimoji="0" lang="en-US" sz="2800" b="1" i="0" u="none" strike="noStrike" kern="1200" cap="none" spc="0" normalizeH="0" baseline="0" noProof="0" dirty="0" smtClean="0">
                <a:ln>
                  <a:noFill/>
                </a:ln>
                <a:solidFill>
                  <a:srgbClr val="002060"/>
                </a:solidFill>
                <a:effectLst/>
                <a:uLnTx/>
                <a:uFillTx/>
                <a:latin typeface="Arial" pitchFamily="34" charset="0"/>
                <a:ea typeface="+mn-ea"/>
                <a:cs typeface="Arial" pitchFamily="34" charset="0"/>
              </a:rPr>
              <a:t>Billing Determinants &amp; Rate Considerations</a:t>
            </a:r>
          </a:p>
          <a:p>
            <a:pPr marL="342900" indent="-342900">
              <a:buClr>
                <a:srgbClr val="000000"/>
              </a:buClr>
              <a:buFont typeface="+mj-lt"/>
              <a:buAutoNum type="alphaLcParenR"/>
            </a:pPr>
            <a:r>
              <a:rPr lang="en-US" altLang="ja-JP" dirty="0" smtClean="0">
                <a:solidFill>
                  <a:srgbClr val="000000"/>
                </a:solidFill>
                <a:latin typeface="Calibri"/>
              </a:rPr>
              <a:t>Appropriate SAP and IEE rate configuration changes may be needed, development of formulas are required to allow for interval billing determinant requests</a:t>
            </a:r>
            <a:endParaRPr lang="ja-JP" altLang="en-US" smtClean="0">
              <a:solidFill>
                <a:srgbClr val="000000"/>
              </a:solidFill>
              <a:latin typeface="Calibri"/>
            </a:endParaRPr>
          </a:p>
          <a:p>
            <a:pPr marL="342900" indent="-342900">
              <a:buClr>
                <a:srgbClr val="000000"/>
              </a:buClr>
              <a:buFont typeface="+mj-lt"/>
              <a:buAutoNum type="alphaLcParenR"/>
            </a:pPr>
            <a:r>
              <a:rPr lang="en-US" altLang="ja-JP" dirty="0" smtClean="0">
                <a:solidFill>
                  <a:srgbClr val="000000"/>
                </a:solidFill>
                <a:latin typeface="Calibri"/>
              </a:rPr>
              <a:t>The existing deployed meters have register channels that are pre-programmed according to the current TOU time periods and thereby Consumers Energy has some flexibility with respect to how many TOU rate categories are migrated over to using interval data as part of the billing calculations  (NOTE: TOU is in R5)</a:t>
            </a:r>
            <a:endParaRPr lang="ja-JP" altLang="en-US" smtClean="0">
              <a:solidFill>
                <a:srgbClr val="000000"/>
              </a:solidFill>
              <a:latin typeface="Calibri"/>
            </a:endParaRPr>
          </a:p>
          <a:p>
            <a:pPr marL="342900" indent="-342900">
              <a:buClr>
                <a:srgbClr val="000000"/>
              </a:buClr>
              <a:buFont typeface="+mj-lt"/>
              <a:buAutoNum type="alphaLcParenR"/>
            </a:pPr>
            <a:r>
              <a:rPr lang="en-US" altLang="ja-JP" b="1" dirty="0" smtClean="0">
                <a:solidFill>
                  <a:srgbClr val="000000"/>
                </a:solidFill>
                <a:latin typeface="Calibri"/>
              </a:rPr>
              <a:t>Complex billing determination is performed in MDMS with distinct determinants back to SAP billing system (for interval billing)</a:t>
            </a:r>
            <a:r>
              <a:rPr lang="ja-JP" altLang="en-US" b="1" smtClean="0">
                <a:solidFill>
                  <a:srgbClr val="FF0000"/>
                </a:solidFill>
                <a:latin typeface="Calibri"/>
              </a:rPr>
              <a:t>  </a:t>
            </a:r>
            <a:r>
              <a:rPr lang="en-US" altLang="ja-JP" b="1" dirty="0" smtClean="0">
                <a:solidFill>
                  <a:srgbClr val="FF0000"/>
                </a:solidFill>
                <a:latin typeface="Calibri"/>
              </a:rPr>
              <a:t>Why is this only for residential customers?  </a:t>
            </a:r>
            <a:endParaRPr lang="ja-JP" altLang="en-US" b="1" smtClean="0">
              <a:solidFill>
                <a:srgbClr val="FF0000"/>
              </a:solidFill>
              <a:latin typeface="Calibri"/>
            </a:endParaRPr>
          </a:p>
        </p:txBody>
      </p:sp>
    </p:spTree>
    <p:extLst>
      <p:ext uri="{BB962C8B-B14F-4D97-AF65-F5344CB8AC3E}">
        <p14:creationId xmlns:p14="http://schemas.microsoft.com/office/powerpoint/2010/main" xmlns="" val="3914910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Out of Scope Assumptions for Post-Cutover</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6" name="Content Placeholder 2"/>
          <p:cNvSpPr txBox="1">
            <a:spLocks/>
          </p:cNvSpPr>
          <p:nvPr/>
        </p:nvSpPr>
        <p:spPr>
          <a:xfrm>
            <a:off x="381000" y="685800"/>
            <a:ext cx="8229600" cy="5867400"/>
          </a:xfrm>
          <a:prstGeom prst="rect">
            <a:avLst/>
          </a:prstGeom>
        </p:spPr>
        <p:txBody>
          <a:bodyPr/>
          <a:lstStyle/>
          <a:p>
            <a:pPr>
              <a:buSzPts val="1600"/>
              <a:buFont typeface="Wingdings"/>
              <a:buChar char="§"/>
            </a:pPr>
            <a:r>
              <a:rPr lang="en-US" altLang="ja-JP" sz="1200" dirty="0" smtClean="0">
                <a:solidFill>
                  <a:srgbClr val="000000"/>
                </a:solidFill>
                <a:latin typeface="Calibri"/>
              </a:rPr>
              <a:t>Time of use </a:t>
            </a:r>
            <a:r>
              <a:rPr lang="ja-JP" altLang="en-US" sz="1200" smtClean="0">
                <a:solidFill>
                  <a:srgbClr val="000000"/>
                </a:solidFill>
                <a:latin typeface="Calibri"/>
              </a:rPr>
              <a:t> </a:t>
            </a:r>
            <a:r>
              <a:rPr lang="en-US" altLang="ja-JP" sz="1200" dirty="0" smtClean="0">
                <a:solidFill>
                  <a:srgbClr val="000000"/>
                </a:solidFill>
                <a:latin typeface="Calibri"/>
              </a:rPr>
              <a:t>is supported through on/off registers </a:t>
            </a:r>
            <a:endParaRPr lang="ja-JP" altLang="en-US" sz="1200" smtClean="0">
              <a:solidFill>
                <a:srgbClr val="000000"/>
              </a:solidFill>
              <a:latin typeface="Calibri"/>
            </a:endParaRPr>
          </a:p>
          <a:p>
            <a:pPr lvl="1">
              <a:buSzPts val="1600"/>
              <a:buFont typeface="Wingdings"/>
              <a:buChar char="§"/>
            </a:pPr>
            <a:r>
              <a:rPr lang="en-US" altLang="ja-JP" sz="1200" dirty="0" smtClean="0">
                <a:solidFill>
                  <a:srgbClr val="000000"/>
                </a:solidFill>
                <a:latin typeface="Calibri"/>
              </a:rPr>
              <a:t>Clarified Time of Use is for C &amp; I customers</a:t>
            </a:r>
            <a:endParaRPr lang="ja-JP" altLang="en-US" sz="1200" smtClean="0">
              <a:solidFill>
                <a:srgbClr val="000000"/>
              </a:solidFill>
              <a:latin typeface="Calibri"/>
            </a:endParaRPr>
          </a:p>
          <a:p>
            <a:pPr lvl="1">
              <a:buSzPts val="1600"/>
              <a:buFont typeface="Wingdings"/>
              <a:buChar char="§"/>
            </a:pPr>
            <a:r>
              <a:rPr lang="en-US" altLang="ja-JP" sz="1200" dirty="0" smtClean="0">
                <a:solidFill>
                  <a:srgbClr val="000000"/>
                </a:solidFill>
                <a:latin typeface="Calibri"/>
              </a:rPr>
              <a:t>Clarified Time of Day is for residential customers</a:t>
            </a:r>
            <a:endParaRPr lang="ja-JP" altLang="en-US" sz="1200" smtClean="0">
              <a:solidFill>
                <a:srgbClr val="000000"/>
              </a:solidFill>
              <a:latin typeface="Calibri"/>
            </a:endParaRPr>
          </a:p>
          <a:p>
            <a:pPr lvl="2">
              <a:buSzPts val="1400"/>
              <a:buFont typeface="Arial"/>
              <a:buChar char="–"/>
            </a:pPr>
            <a:r>
              <a:rPr lang="en-US" altLang="ja-JP" sz="1200" dirty="0" smtClean="0">
                <a:solidFill>
                  <a:srgbClr val="000000"/>
                </a:solidFill>
                <a:latin typeface="Calibri"/>
              </a:rPr>
              <a:t>R5 Multiple TOUs scheduled, based on the rate  (On-peak, mid-peak, off-peak) will be through</a:t>
            </a:r>
            <a:r>
              <a:rPr lang="ja-JP" altLang="en-US" sz="1200" smtClean="0">
                <a:solidFill>
                  <a:srgbClr val="000000"/>
                </a:solidFill>
                <a:latin typeface="Calibri"/>
              </a:rPr>
              <a:t> </a:t>
            </a:r>
            <a:r>
              <a:rPr lang="en-US" altLang="ja-JP" sz="1200" dirty="0" smtClean="0">
                <a:solidFill>
                  <a:srgbClr val="000000"/>
                </a:solidFill>
                <a:latin typeface="Calibri"/>
              </a:rPr>
              <a:t>different registers</a:t>
            </a:r>
            <a:endParaRPr lang="ja-JP" altLang="en-US" sz="1200" smtClean="0">
              <a:solidFill>
                <a:srgbClr val="000000"/>
              </a:solidFill>
              <a:latin typeface="Calibri"/>
            </a:endParaRPr>
          </a:p>
          <a:p>
            <a:pPr>
              <a:buSzPts val="1600"/>
              <a:buFont typeface="Wingdings"/>
              <a:buChar char="§"/>
            </a:pPr>
            <a:r>
              <a:rPr lang="en-US" altLang="ja-JP" sz="1200" dirty="0" smtClean="0">
                <a:solidFill>
                  <a:srgbClr val="000000"/>
                </a:solidFill>
                <a:latin typeface="Calibri"/>
              </a:rPr>
              <a:t>Gas communications module won</a:t>
            </a:r>
            <a:r>
              <a:rPr lang="ja-JP" altLang="en-US" sz="1200" smtClean="0">
                <a:solidFill>
                  <a:srgbClr val="000000"/>
                </a:solidFill>
                <a:latin typeface="Calibri"/>
              </a:rPr>
              <a:t>’</a:t>
            </a:r>
            <a:r>
              <a:rPr lang="en-US" altLang="ja-JP" sz="1200" dirty="0" smtClean="0">
                <a:solidFill>
                  <a:srgbClr val="000000"/>
                </a:solidFill>
                <a:latin typeface="Calibri"/>
              </a:rPr>
              <a:t>t be deployed until Q3 2014</a:t>
            </a:r>
            <a:r>
              <a:rPr lang="ja-JP" altLang="en-US" sz="1200" smtClean="0">
                <a:solidFill>
                  <a:srgbClr val="000000"/>
                </a:solidFill>
                <a:latin typeface="Calibri"/>
              </a:rPr>
              <a:t> </a:t>
            </a:r>
            <a:r>
              <a:rPr lang="en-US" altLang="ja-JP" sz="1200" dirty="0" smtClean="0">
                <a:solidFill>
                  <a:srgbClr val="000000"/>
                </a:solidFill>
                <a:latin typeface="Calibri"/>
              </a:rPr>
              <a:t>and this is with </a:t>
            </a:r>
            <a:r>
              <a:rPr lang="en-US" altLang="ja-JP" sz="1200" dirty="0" err="1" smtClean="0">
                <a:solidFill>
                  <a:srgbClr val="000000"/>
                </a:solidFill>
                <a:latin typeface="Calibri"/>
              </a:rPr>
              <a:t>Centron</a:t>
            </a:r>
            <a:r>
              <a:rPr lang="en-US" altLang="ja-JP" sz="1200" dirty="0" smtClean="0">
                <a:solidFill>
                  <a:srgbClr val="000000"/>
                </a:solidFill>
                <a:latin typeface="Calibri"/>
              </a:rPr>
              <a:t> via </a:t>
            </a:r>
            <a:r>
              <a:rPr lang="en-US" altLang="ja-JP" sz="1200" dirty="0" err="1" smtClean="0">
                <a:solidFill>
                  <a:srgbClr val="000000"/>
                </a:solidFill>
                <a:latin typeface="Calibri"/>
              </a:rPr>
              <a:t>Openway</a:t>
            </a:r>
            <a:r>
              <a:rPr lang="en-US" altLang="ja-JP" sz="1200" dirty="0" smtClean="0">
                <a:solidFill>
                  <a:srgbClr val="000000"/>
                </a:solidFill>
                <a:latin typeface="Calibri"/>
              </a:rPr>
              <a:t> and assuming not through TMS</a:t>
            </a:r>
            <a:endParaRPr lang="ja-JP" altLang="en-US" sz="1200" smtClean="0">
              <a:solidFill>
                <a:srgbClr val="000000"/>
              </a:solidFill>
              <a:latin typeface="Calibri"/>
            </a:endParaRPr>
          </a:p>
          <a:p>
            <a:pPr>
              <a:buSzPts val="1600"/>
              <a:buFont typeface="Wingdings"/>
              <a:buChar char="§"/>
            </a:pPr>
            <a:r>
              <a:rPr lang="en-US" altLang="ja-JP" sz="1200" b="1" dirty="0" smtClean="0">
                <a:solidFill>
                  <a:srgbClr val="002060"/>
                </a:solidFill>
                <a:latin typeface="Calibri"/>
              </a:rPr>
              <a:t>Customer Selection Considerations</a:t>
            </a:r>
            <a:endParaRPr lang="ja-JP" altLang="en-US" sz="1200" b="1" smtClean="0">
              <a:solidFill>
                <a:srgbClr val="002060"/>
              </a:solidFill>
              <a:latin typeface="Calibri"/>
            </a:endParaRPr>
          </a:p>
          <a:p>
            <a:pPr lvl="1">
              <a:buSzPts val="1600"/>
              <a:buFont typeface="Wingdings"/>
              <a:buChar char="§"/>
            </a:pPr>
            <a:r>
              <a:rPr lang="en-US" altLang="ja-JP" sz="1200" dirty="0" smtClean="0">
                <a:latin typeface="Calibri"/>
              </a:rPr>
              <a:t>Rate Codes</a:t>
            </a:r>
            <a:endParaRPr lang="ja-JP" altLang="en-US" sz="1200" smtClean="0">
              <a:latin typeface="Calibri"/>
            </a:endParaRPr>
          </a:p>
          <a:p>
            <a:pPr lvl="2">
              <a:buSzPts val="1600"/>
              <a:buFont typeface="Wingdings"/>
              <a:buChar char="§"/>
            </a:pPr>
            <a:r>
              <a:rPr lang="en-US" altLang="ja-JP" sz="1200" dirty="0" smtClean="0">
                <a:latin typeface="Calibri"/>
              </a:rPr>
              <a:t>TOD –</a:t>
            </a:r>
            <a:r>
              <a:rPr lang="ja-JP" altLang="en-US" sz="1200" smtClean="0">
                <a:latin typeface="Calibri"/>
              </a:rPr>
              <a:t> </a:t>
            </a:r>
            <a:r>
              <a:rPr lang="en-US" altLang="ja-JP" sz="1200" dirty="0" smtClean="0">
                <a:latin typeface="Calibri"/>
              </a:rPr>
              <a:t>Time of Day</a:t>
            </a:r>
            <a:r>
              <a:rPr lang="ja-JP" altLang="en-US" sz="1200" smtClean="0">
                <a:latin typeface="Calibri"/>
              </a:rPr>
              <a:t> </a:t>
            </a:r>
            <a:r>
              <a:rPr lang="en-US" altLang="ja-JP" sz="1200" dirty="0" smtClean="0">
                <a:latin typeface="Calibri"/>
              </a:rPr>
              <a:t>is for R5</a:t>
            </a:r>
            <a:r>
              <a:rPr lang="ja-JP" altLang="en-US" sz="1200" smtClean="0">
                <a:latin typeface="Calibri"/>
              </a:rPr>
              <a:t> </a:t>
            </a:r>
          </a:p>
          <a:p>
            <a:pPr lvl="2">
              <a:buSzPts val="1600"/>
              <a:buFont typeface="Wingdings"/>
              <a:buChar char="§"/>
            </a:pPr>
            <a:r>
              <a:rPr lang="en-US" altLang="ja-JP" sz="1200" dirty="0" smtClean="0">
                <a:latin typeface="Calibri"/>
              </a:rPr>
              <a:t>TOU –</a:t>
            </a:r>
            <a:r>
              <a:rPr lang="ja-JP" altLang="en-US" sz="1200" smtClean="0">
                <a:latin typeface="Calibri"/>
              </a:rPr>
              <a:t> </a:t>
            </a:r>
            <a:r>
              <a:rPr lang="en-US" altLang="ja-JP" sz="1200" dirty="0" smtClean="0">
                <a:latin typeface="Calibri"/>
              </a:rPr>
              <a:t>Time of Use (Total Monthly Category) is for R4</a:t>
            </a:r>
            <a:endParaRPr lang="ja-JP" altLang="en-US" sz="1200" smtClean="0">
              <a:latin typeface="Calibri"/>
            </a:endParaRPr>
          </a:p>
          <a:p>
            <a:pPr lvl="1">
              <a:buSzPts val="1600"/>
              <a:buFont typeface="Wingdings"/>
              <a:buChar char="§"/>
            </a:pPr>
            <a:r>
              <a:rPr lang="en-US" altLang="ja-JP" sz="1200" b="1" dirty="0" smtClean="0">
                <a:solidFill>
                  <a:srgbClr val="002060"/>
                </a:solidFill>
                <a:latin typeface="Calibri"/>
              </a:rPr>
              <a:t>Interval Demand Eligibility Rules</a:t>
            </a:r>
            <a:endParaRPr lang="ja-JP" altLang="en-US" sz="1200" b="1" smtClean="0">
              <a:solidFill>
                <a:srgbClr val="002060"/>
              </a:solidFill>
              <a:latin typeface="Calibri"/>
            </a:endParaRPr>
          </a:p>
          <a:p>
            <a:pPr lvl="2">
              <a:buSzPts val="1600"/>
              <a:buFont typeface="Wingdings"/>
              <a:buChar char="§"/>
            </a:pPr>
            <a:r>
              <a:rPr lang="en-US" altLang="ja-JP" sz="1200" dirty="0" smtClean="0">
                <a:solidFill>
                  <a:srgbClr val="000000"/>
                </a:solidFill>
                <a:latin typeface="Calibri"/>
              </a:rPr>
              <a:t>Customer has a value added need for it</a:t>
            </a:r>
            <a:endParaRPr lang="ja-JP" altLang="en-US" sz="1200" smtClean="0">
              <a:solidFill>
                <a:srgbClr val="000000"/>
              </a:solidFill>
              <a:latin typeface="Calibri"/>
            </a:endParaRPr>
          </a:p>
          <a:p>
            <a:pPr lvl="2">
              <a:buSzPts val="1600"/>
              <a:buFont typeface="Wingdings"/>
              <a:buChar char="§"/>
            </a:pPr>
            <a:r>
              <a:rPr lang="en-US" altLang="ja-JP" sz="1200" dirty="0" smtClean="0">
                <a:solidFill>
                  <a:srgbClr val="000000"/>
                </a:solidFill>
                <a:latin typeface="Calibri"/>
              </a:rPr>
              <a:t>Meter type available</a:t>
            </a:r>
            <a:endParaRPr lang="ja-JP" altLang="en-US" sz="1200" smtClean="0">
              <a:solidFill>
                <a:srgbClr val="000000"/>
              </a:solidFill>
              <a:latin typeface="Calibri"/>
            </a:endParaRPr>
          </a:p>
          <a:p>
            <a:pPr lvl="1">
              <a:buSzPts val="1600"/>
              <a:buFont typeface="Wingdings"/>
              <a:buChar char="§"/>
            </a:pPr>
            <a:r>
              <a:rPr lang="en-US" altLang="ja-JP" sz="1200" b="1" dirty="0" smtClean="0">
                <a:solidFill>
                  <a:srgbClr val="002060"/>
                </a:solidFill>
                <a:latin typeface="Calibri"/>
              </a:rPr>
              <a:t>Interval Consumption Only Eligibility Rules</a:t>
            </a:r>
            <a:endParaRPr lang="ja-JP" altLang="en-US" sz="1200" b="1" smtClean="0">
              <a:solidFill>
                <a:srgbClr val="002060"/>
              </a:solidFill>
              <a:latin typeface="Calibri"/>
            </a:endParaRPr>
          </a:p>
          <a:p>
            <a:pPr lvl="2">
              <a:buSzPts val="1600"/>
              <a:buFont typeface="Wingdings"/>
              <a:buChar char="§"/>
            </a:pPr>
            <a:r>
              <a:rPr lang="en-US" altLang="ja-JP" sz="1200" dirty="0" smtClean="0">
                <a:solidFill>
                  <a:srgbClr val="000000"/>
                </a:solidFill>
                <a:latin typeface="Calibri"/>
              </a:rPr>
              <a:t>Customer has a value added need for it</a:t>
            </a:r>
            <a:endParaRPr lang="ja-JP" altLang="en-US" sz="1200" smtClean="0">
              <a:solidFill>
                <a:srgbClr val="000000"/>
              </a:solidFill>
              <a:latin typeface="Calibri"/>
            </a:endParaRPr>
          </a:p>
          <a:p>
            <a:pPr lvl="2">
              <a:buSzPts val="1600"/>
              <a:buFont typeface="Wingdings"/>
              <a:buChar char="§"/>
            </a:pPr>
            <a:r>
              <a:rPr lang="en-US" altLang="ja-JP" sz="1200" dirty="0" smtClean="0">
                <a:solidFill>
                  <a:srgbClr val="000000"/>
                </a:solidFill>
                <a:latin typeface="Calibri"/>
              </a:rPr>
              <a:t>Meter type available</a:t>
            </a:r>
            <a:endParaRPr lang="ja-JP" altLang="en-US" sz="1200" smtClean="0">
              <a:solidFill>
                <a:srgbClr val="000000"/>
              </a:solidFill>
              <a:latin typeface="Calibri"/>
            </a:endParaRPr>
          </a:p>
          <a:p>
            <a:pPr lvl="1">
              <a:buSzPts val="1600"/>
              <a:buFont typeface="Wingdings"/>
              <a:buChar char="§"/>
            </a:pPr>
            <a:r>
              <a:rPr lang="en-US" altLang="ja-JP" sz="1200" b="1" dirty="0" smtClean="0">
                <a:solidFill>
                  <a:srgbClr val="002060"/>
                </a:solidFill>
                <a:latin typeface="Calibri"/>
              </a:rPr>
              <a:t>Customer Segmentation</a:t>
            </a:r>
            <a:endParaRPr lang="ja-JP" altLang="en-US" sz="1200" b="1" smtClean="0">
              <a:solidFill>
                <a:srgbClr val="002060"/>
              </a:solidFill>
              <a:latin typeface="Calibri"/>
            </a:endParaRPr>
          </a:p>
          <a:p>
            <a:pPr lvl="1">
              <a:buSzPts val="1600"/>
              <a:buFont typeface="Wingdings"/>
              <a:buChar char="§"/>
            </a:pPr>
            <a:r>
              <a:rPr lang="en-US" altLang="ja-JP" sz="1200" b="1" dirty="0" smtClean="0">
                <a:solidFill>
                  <a:srgbClr val="002060"/>
                </a:solidFill>
                <a:latin typeface="Calibri"/>
              </a:rPr>
              <a:t>Customer Acquisition Process</a:t>
            </a:r>
            <a:endParaRPr lang="ja-JP" altLang="en-US" sz="1200" b="1" smtClean="0">
              <a:solidFill>
                <a:srgbClr val="002060"/>
              </a:solidFill>
              <a:latin typeface="Calibri"/>
            </a:endParaRPr>
          </a:p>
          <a:p>
            <a:pPr lvl="1">
              <a:buSzPts val="1600"/>
              <a:buFont typeface="Wingdings"/>
              <a:buChar char="§"/>
            </a:pPr>
            <a:r>
              <a:rPr lang="en-US" altLang="ja-JP" sz="1200" b="1" dirty="0" smtClean="0">
                <a:solidFill>
                  <a:srgbClr val="FF0000"/>
                </a:solidFill>
                <a:latin typeface="Calibri"/>
              </a:rPr>
              <a:t>Outreach</a:t>
            </a:r>
            <a:endParaRPr lang="ja-JP" altLang="en-US" sz="1200" b="1" smtClean="0">
              <a:solidFill>
                <a:srgbClr val="FF0000"/>
              </a:solidFill>
              <a:latin typeface="Calibri"/>
            </a:endParaRPr>
          </a:p>
          <a:p>
            <a:pPr lvl="1">
              <a:buSzPts val="1600"/>
              <a:buFont typeface="Wingdings"/>
              <a:buChar char="§"/>
            </a:pPr>
            <a:r>
              <a:rPr lang="en-US" altLang="ja-JP" sz="1200" dirty="0" smtClean="0">
                <a:solidFill>
                  <a:srgbClr val="000000"/>
                </a:solidFill>
                <a:latin typeface="Calibri"/>
              </a:rPr>
              <a:t>Qualification</a:t>
            </a:r>
            <a:endParaRPr lang="ja-JP" altLang="en-US" sz="1200" smtClean="0">
              <a:solidFill>
                <a:srgbClr val="000000"/>
              </a:solidFill>
              <a:latin typeface="Calibri"/>
            </a:endParaRPr>
          </a:p>
          <a:p>
            <a:pPr lvl="1">
              <a:buSzPts val="1600"/>
              <a:buFont typeface="Wingdings"/>
              <a:buChar char="§"/>
            </a:pPr>
            <a:r>
              <a:rPr lang="en-US" altLang="ja-JP" sz="1200" b="1" dirty="0" smtClean="0">
                <a:solidFill>
                  <a:srgbClr val="FF0000"/>
                </a:solidFill>
                <a:latin typeface="Calibri"/>
              </a:rPr>
              <a:t>Conversion/Migration</a:t>
            </a:r>
            <a:endParaRPr lang="ja-JP" altLang="en-US" sz="1200" b="1" smtClean="0">
              <a:solidFill>
                <a:srgbClr val="FF0000"/>
              </a:solidFill>
              <a:latin typeface="Calibri"/>
            </a:endParaRPr>
          </a:p>
          <a:p>
            <a:pPr lvl="1">
              <a:buSzPts val="1600"/>
              <a:buFont typeface="Wingdings"/>
              <a:buChar char="§"/>
            </a:pPr>
            <a:r>
              <a:rPr lang="en-US" altLang="ja-JP" sz="1200" dirty="0" smtClean="0">
                <a:solidFill>
                  <a:srgbClr val="000000"/>
                </a:solidFill>
                <a:latin typeface="Calibri"/>
              </a:rPr>
              <a:t>Retention</a:t>
            </a:r>
            <a:endParaRPr lang="ja-JP" altLang="en-US" sz="1200" smtClean="0">
              <a:solidFill>
                <a:srgbClr val="000000"/>
              </a:solidFill>
              <a:latin typeface="Calibri"/>
            </a:endParaRPr>
          </a:p>
          <a:p>
            <a:endParaRPr lang="ja-JP" altLang="en-US" sz="1200" smtClean="0">
              <a:solidFill>
                <a:srgbClr val="000000"/>
              </a:solidFill>
              <a:latin typeface="Calibri"/>
            </a:endParaRPr>
          </a:p>
          <a:p>
            <a:pPr>
              <a:buSzPts val="1600"/>
              <a:buFont typeface="Wingdings"/>
              <a:buChar char="§"/>
            </a:pPr>
            <a:r>
              <a:rPr lang="en-US" altLang="ja-JP" sz="1200" b="1" dirty="0" smtClean="0">
                <a:solidFill>
                  <a:srgbClr val="002060"/>
                </a:solidFill>
                <a:latin typeface="Calibri"/>
              </a:rPr>
              <a:t>Customer Migration Considerations</a:t>
            </a:r>
            <a:endParaRPr lang="ja-JP" altLang="en-US" sz="1200" b="1" smtClean="0">
              <a:solidFill>
                <a:srgbClr val="002060"/>
              </a:solidFill>
              <a:latin typeface="Calibri"/>
            </a:endParaRPr>
          </a:p>
          <a:p>
            <a:pPr lvl="1">
              <a:buSzPts val="1600"/>
              <a:buFont typeface="Wingdings"/>
              <a:buChar char="§"/>
            </a:pPr>
            <a:r>
              <a:rPr lang="en-US" altLang="ja-JP" sz="1200" b="1" dirty="0" smtClean="0">
                <a:solidFill>
                  <a:srgbClr val="000000"/>
                </a:solidFill>
                <a:latin typeface="Calibri"/>
              </a:rPr>
              <a:t>Cutover Targets </a:t>
            </a:r>
            <a:endParaRPr lang="ja-JP" altLang="en-US" sz="1200" b="1" smtClean="0">
              <a:solidFill>
                <a:srgbClr val="000000"/>
              </a:solidFill>
              <a:latin typeface="Calibri"/>
            </a:endParaRPr>
          </a:p>
          <a:p>
            <a:pPr lvl="2">
              <a:buSzPts val="1600"/>
              <a:buFont typeface="Wingdings"/>
              <a:buChar char="§"/>
            </a:pPr>
            <a:r>
              <a:rPr lang="en-US" altLang="ja-JP" sz="1200" dirty="0" smtClean="0">
                <a:solidFill>
                  <a:srgbClr val="000000"/>
                </a:solidFill>
                <a:latin typeface="Calibri"/>
              </a:rPr>
              <a:t>Less important than validation and strong communication targets </a:t>
            </a:r>
            <a:endParaRPr lang="ja-JP" altLang="en-US" sz="1200" smtClean="0">
              <a:solidFill>
                <a:srgbClr val="000000"/>
              </a:solidFill>
              <a:latin typeface="Calibri"/>
            </a:endParaRPr>
          </a:p>
          <a:p>
            <a:pPr lvl="1">
              <a:buSzPts val="1600"/>
              <a:buFont typeface="Wingdings"/>
              <a:buChar char="§"/>
            </a:pPr>
            <a:r>
              <a:rPr lang="en-US" altLang="ja-JP" sz="1200" b="1" dirty="0" smtClean="0">
                <a:solidFill>
                  <a:srgbClr val="000000"/>
                </a:solidFill>
                <a:latin typeface="Calibri"/>
              </a:rPr>
              <a:t>Enrollment Wave Calendar</a:t>
            </a:r>
            <a:endParaRPr lang="ja-JP" altLang="en-US" sz="1200" b="1" smtClean="0">
              <a:solidFill>
                <a:srgbClr val="000000"/>
              </a:solidFill>
              <a:latin typeface="Calibri"/>
            </a:endParaRPr>
          </a:p>
          <a:p>
            <a:pPr lvl="2">
              <a:buSzPts val="1600"/>
              <a:buFont typeface="Wingdings"/>
              <a:buChar char="§"/>
            </a:pPr>
            <a:r>
              <a:rPr lang="en-US" altLang="ja-JP" sz="1200" dirty="0" smtClean="0">
                <a:solidFill>
                  <a:srgbClr val="000000"/>
                </a:solidFill>
                <a:latin typeface="Calibri"/>
              </a:rPr>
              <a:t>Not sure this has been defined yet</a:t>
            </a:r>
            <a:endParaRPr lang="ja-JP" altLang="en-US" sz="1200" smtClean="0">
              <a:solidFill>
                <a:srgbClr val="000000"/>
              </a:solidFill>
              <a:latin typeface="Calibri"/>
            </a:endParaRPr>
          </a:p>
          <a:p>
            <a:pPr lvl="1">
              <a:buSzPts val="1600"/>
              <a:buFont typeface="Wingdings"/>
              <a:buChar char="§"/>
            </a:pPr>
            <a:r>
              <a:rPr lang="en-US" altLang="ja-JP" sz="1200" b="1" dirty="0" smtClean="0">
                <a:solidFill>
                  <a:srgbClr val="000000"/>
                </a:solidFill>
                <a:latin typeface="Calibri"/>
              </a:rPr>
              <a:t>Enrolled Meter Counts by Headquarter/MRU</a:t>
            </a:r>
            <a:endParaRPr lang="ja-JP" altLang="en-US" sz="1200" b="1" smtClean="0">
              <a:solidFill>
                <a:srgbClr val="000000"/>
              </a:solidFill>
              <a:latin typeface="Calibri"/>
            </a:endParaRPr>
          </a:p>
          <a:p>
            <a:pPr lvl="2">
              <a:buSzPts val="1600"/>
              <a:buFont typeface="Wingdings"/>
              <a:buChar char="§"/>
            </a:pPr>
            <a:r>
              <a:rPr lang="en-US" altLang="ja-JP" sz="1200" dirty="0" smtClean="0">
                <a:solidFill>
                  <a:srgbClr val="000000"/>
                </a:solidFill>
                <a:latin typeface="Calibri"/>
              </a:rPr>
              <a:t>Validation met –</a:t>
            </a:r>
            <a:r>
              <a:rPr lang="ja-JP" altLang="en-US" sz="1200" smtClean="0">
                <a:solidFill>
                  <a:srgbClr val="000000"/>
                </a:solidFill>
                <a:latin typeface="Calibri"/>
              </a:rPr>
              <a:t> </a:t>
            </a:r>
            <a:r>
              <a:rPr lang="en-US" altLang="ja-JP" sz="1200" dirty="0" smtClean="0">
                <a:solidFill>
                  <a:srgbClr val="000000"/>
                </a:solidFill>
                <a:latin typeface="Calibri"/>
              </a:rPr>
              <a:t>1 month or 2 months?</a:t>
            </a:r>
            <a:endParaRPr lang="ja-JP" altLang="en-US" sz="1200" smtClean="0">
              <a:solidFill>
                <a:srgbClr val="000000"/>
              </a:solidFill>
              <a:latin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kumimoji="0" lang="en-US" sz="2800" b="1" i="0" u="none" strike="noStrike" kern="1200" cap="none" spc="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rPr>
              <a:t>VACD Model/Process Models</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graphicFrame>
        <p:nvGraphicFramePr>
          <p:cNvPr id="5" name="Object 4"/>
          <p:cNvGraphicFramePr>
            <a:graphicFrameLocks noChangeAspect="1"/>
          </p:cNvGraphicFramePr>
          <p:nvPr/>
        </p:nvGraphicFramePr>
        <p:xfrm>
          <a:off x="1066800" y="2895600"/>
          <a:ext cx="1535289" cy="1295400"/>
        </p:xfrm>
        <a:graphic>
          <a:graphicData uri="http://schemas.openxmlformats.org/presentationml/2006/ole">
            <p:oleObj spid="_x0000_s53252" name="Acrobat Document" showAsIcon="1" r:id="rId3" imgW="914400" imgH="771480" progId="AcroExch.Document.7">
              <p:embed/>
            </p:oleObj>
          </a:graphicData>
        </a:graphic>
      </p:graphicFrame>
      <p:graphicFrame>
        <p:nvGraphicFramePr>
          <p:cNvPr id="7" name="Object 6"/>
          <p:cNvGraphicFramePr>
            <a:graphicFrameLocks noChangeAspect="1"/>
          </p:cNvGraphicFramePr>
          <p:nvPr/>
        </p:nvGraphicFramePr>
        <p:xfrm>
          <a:off x="838200" y="1143000"/>
          <a:ext cx="1535289" cy="1295400"/>
        </p:xfrm>
        <a:graphic>
          <a:graphicData uri="http://schemas.openxmlformats.org/presentationml/2006/ole">
            <p:oleObj spid="_x0000_s53253" name="Worksheet" showAsIcon="1" r:id="rId4" imgW="914400" imgH="771480" progId="Excel.Sheet.8">
              <p:embed/>
            </p:oleObj>
          </a:graphicData>
        </a:graphic>
      </p:graphicFrame>
      <p:graphicFrame>
        <p:nvGraphicFramePr>
          <p:cNvPr id="6" name="Object 5"/>
          <p:cNvGraphicFramePr>
            <a:graphicFrameLocks noChangeAspect="1"/>
          </p:cNvGraphicFramePr>
          <p:nvPr/>
        </p:nvGraphicFramePr>
        <p:xfrm>
          <a:off x="3657600" y="2819400"/>
          <a:ext cx="1752600" cy="1478756"/>
        </p:xfrm>
        <a:graphic>
          <a:graphicData uri="http://schemas.openxmlformats.org/presentationml/2006/ole">
            <p:oleObj spid="_x0000_s53254" name="Worksheet" showAsIcon="1" r:id="rId5" imgW="914400" imgH="771480" progId="Excel.Sheet.12">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kumimoji="0" lang="en-US" sz="2800" b="1" i="0" u="none" strike="noStrike" kern="1200" cap="none" spc="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rPr>
              <a:t>Requirements</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graphicFrame>
        <p:nvGraphicFramePr>
          <p:cNvPr id="5" name="Object 4"/>
          <p:cNvGraphicFramePr>
            <a:graphicFrameLocks noChangeAspect="1"/>
          </p:cNvGraphicFramePr>
          <p:nvPr/>
        </p:nvGraphicFramePr>
        <p:xfrm>
          <a:off x="609600" y="990600"/>
          <a:ext cx="2057400" cy="1735931"/>
        </p:xfrm>
        <a:graphic>
          <a:graphicData uri="http://schemas.openxmlformats.org/presentationml/2006/ole">
            <p:oleObj spid="_x0000_s72706" name="Worksheet" showAsIcon="1" r:id="rId3" imgW="914400" imgH="771480" progId="Excel.Sheet.12">
              <p:embed/>
            </p:oleObj>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 y="25264"/>
            <a:ext cx="8823957" cy="531950"/>
          </a:xfrm>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Action Items</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7" name="Content Placeholder 6"/>
          <p:cNvGraphicFramePr>
            <a:graphicFrameLocks/>
          </p:cNvGraphicFramePr>
          <p:nvPr/>
        </p:nvGraphicFramePr>
        <p:xfrm>
          <a:off x="304800" y="762000"/>
          <a:ext cx="8458200" cy="5475414"/>
        </p:xfrm>
        <a:graphic>
          <a:graphicData uri="http://schemas.openxmlformats.org/drawingml/2006/table">
            <a:tbl>
              <a:tblPr firstRow="1" bandRow="1">
                <a:tableStyleId>{2D5ABB26-0587-4C30-8999-92F81FD0307C}</a:tableStyleId>
              </a:tblPr>
              <a:tblGrid>
                <a:gridCol w="3886200"/>
                <a:gridCol w="650470"/>
                <a:gridCol w="768928"/>
                <a:gridCol w="714202"/>
                <a:gridCol w="2438400"/>
              </a:tblGrid>
              <a:tr h="493333">
                <a:tc>
                  <a:txBody>
                    <a:bodyPr/>
                    <a:lstStyle/>
                    <a:p>
                      <a:pPr algn="ctr"/>
                      <a:r>
                        <a:rPr lang="en-US" sz="1200" b="1" dirty="0" smtClean="0"/>
                        <a:t>What</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Due Date</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Status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Owner</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Comments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38134">
                <a:tc>
                  <a:txBody>
                    <a:bodyPr/>
                    <a:lstStyle/>
                    <a:p>
                      <a:pPr marL="0" marR="0"/>
                      <a:r>
                        <a:rPr lang="en-US" sz="1000">
                          <a:latin typeface="Calibri"/>
                          <a:ea typeface="Times New Roman"/>
                          <a:cs typeface="Calibri"/>
                        </a:rPr>
                        <a:t>Discuss difference between the MDM’s ability to pull the current month maximum demand vs. the need for an on-peak demand (GSD rate categories all utilize the current month maximum demand (need to verify case of the 60% clause)</a:t>
                      </a:r>
                      <a:endParaRPr lang="en-US" sz="1100">
                        <a:latin typeface="Calibri"/>
                        <a:ea typeface="Times New Roman"/>
                        <a:cs typeface="Times New Roman"/>
                      </a:endParaRPr>
                    </a:p>
                  </a:txBody>
                  <a:tcPr marL="73025" marR="7302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1000">
                        <a:latin typeface="Calibri"/>
                        <a:ea typeface="MS Mincho"/>
                        <a:cs typeface="Calibri"/>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Closed</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000">
                        <a:latin typeface="Calibri"/>
                        <a:ea typeface="MS Mincho"/>
                        <a:cs typeface="Calibri"/>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No on peak demand needed </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87791">
                <a:tc>
                  <a:txBody>
                    <a:bodyPr/>
                    <a:lstStyle/>
                    <a:p>
                      <a:pPr marL="0" marR="0" fontAlgn="b"/>
                      <a:r>
                        <a:rPr lang="en-US" sz="1000">
                          <a:latin typeface="Calibri"/>
                          <a:ea typeface="Times New Roman"/>
                          <a:cs typeface="Calibri"/>
                        </a:rPr>
                        <a:t>Need to have a detailed architectural discussion around what “complex” billing determinants will be calculated by the MDM.  We have invested over 15,000 hours (rough estimate) in the complex EDM billing configurations in SAP. There are significant doubts that the MDM can replicate these determinants.  Need to also review direction of adding such significant replication of effort when we have other options.</a:t>
                      </a:r>
                      <a:endParaRPr lang="en-US" sz="1100">
                        <a:latin typeface="Calibri"/>
                        <a:ea typeface="Times New Roman"/>
                        <a:cs typeface="Times New Roman"/>
                      </a:endParaRPr>
                    </a:p>
                  </a:txBody>
                  <a:tcPr marL="73025" marR="7302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1000">
                        <a:latin typeface="Calibri"/>
                        <a:ea typeface="MS Mincho"/>
                        <a:cs typeface="Calibri"/>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Defer</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FF0000"/>
                          </a:solidFill>
                          <a:latin typeface="Calibri"/>
                          <a:ea typeface="MS Mincho"/>
                          <a:cs typeface="Calibri"/>
                        </a:rPr>
                        <a:t>SE Core Team</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spcBef>
                          <a:spcPts val="0"/>
                        </a:spcBef>
                        <a:spcAft>
                          <a:spcPts val="0"/>
                        </a:spcAft>
                      </a:pPr>
                      <a:r>
                        <a:rPr lang="en-US" sz="1000">
                          <a:solidFill>
                            <a:srgbClr val="FF0000"/>
                          </a:solidFill>
                          <a:latin typeface="Calibri"/>
                          <a:ea typeface="MS Mincho"/>
                          <a:cs typeface="Calibri"/>
                        </a:rPr>
                        <a:t>Moved to BP Policy Meeting Discussion</a:t>
                      </a:r>
                      <a:endParaRPr lang="en-US" sz="1100">
                        <a:latin typeface="Calibri"/>
                        <a:ea typeface="Times New Roman"/>
                        <a:cs typeface="Times New Roman"/>
                      </a:endParaRPr>
                    </a:p>
                  </a:txBody>
                  <a:tcPr marL="73025" marR="7302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4629">
                <a:tc>
                  <a:txBody>
                    <a:bodyPr/>
                    <a:lstStyle/>
                    <a:p>
                      <a:pPr marL="0" marR="0" fontAlgn="b"/>
                      <a:r>
                        <a:rPr lang="en-US" sz="1000">
                          <a:latin typeface="Calibri"/>
                          <a:ea typeface="Times New Roman"/>
                          <a:cs typeface="Calibri"/>
                        </a:rPr>
                        <a:t>What happens in the case where the MDM doesn’t have anchor reads, and there are missing intervals?  How is the ending index going to be generated?</a:t>
                      </a:r>
                      <a:endParaRPr lang="en-US" sz="1100">
                        <a:latin typeface="Calibri"/>
                        <a:ea typeface="Times New Roman"/>
                        <a:cs typeface="Times New Roman"/>
                      </a:endParaRPr>
                    </a:p>
                  </a:txBody>
                  <a:tcPr marL="73025" marR="7302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2/7/2014</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Open</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Pete Hirth, Cheryl Reimer, Tim Wallbaum</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MDM will estimate the missing interval. </a:t>
                      </a:r>
                      <a:endParaRPr lang="en-US" sz="900">
                        <a:latin typeface="Arial"/>
                        <a:ea typeface="MS Mincho"/>
                        <a:cs typeface="Times New Roman"/>
                      </a:endParaRPr>
                    </a:p>
                    <a:p>
                      <a:pPr marL="0" marR="0">
                        <a:spcBef>
                          <a:spcPts val="0"/>
                        </a:spcBef>
                        <a:spcAft>
                          <a:spcPts val="0"/>
                        </a:spcAft>
                      </a:pPr>
                      <a:r>
                        <a:rPr lang="en-US" sz="1000">
                          <a:latin typeface="Calibri"/>
                          <a:ea typeface="MS Mincho"/>
                          <a:cs typeface="Calibri"/>
                        </a:rPr>
                        <a:t>How will the 3-day window work with interval billing?</a:t>
                      </a:r>
                      <a:endParaRPr lang="en-US" sz="900">
                        <a:latin typeface="Arial"/>
                        <a:ea typeface="MS Mincho"/>
                        <a:cs typeface="Times New Roman"/>
                      </a:endParaRPr>
                    </a:p>
                  </a:txBody>
                  <a:tcPr marL="73025" marR="7302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4629">
                <a:tc>
                  <a:txBody>
                    <a:bodyPr/>
                    <a:lstStyle/>
                    <a:p>
                      <a:pPr marL="0" marR="0" fontAlgn="b"/>
                      <a:r>
                        <a:rPr lang="en-US" sz="1000">
                          <a:latin typeface="Calibri"/>
                          <a:ea typeface="Times New Roman"/>
                          <a:cs typeface="Calibri"/>
                        </a:rPr>
                        <a:t>Need to discuss the need for EDM profiles for true interval billing.  This is not necessary for R4, but it is my understanding that it is a requirement for R5? </a:t>
                      </a:r>
                      <a:endParaRPr lang="en-US" sz="1100">
                        <a:latin typeface="Calibri"/>
                        <a:ea typeface="Times New Roman"/>
                        <a:cs typeface="Times New Roman"/>
                      </a:endParaRPr>
                    </a:p>
                  </a:txBody>
                  <a:tcPr marL="73025" marR="73025" marT="18415" marB="1841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2/7/2014</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Open</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Zach Pakkala</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spcBef>
                          <a:spcPts val="0"/>
                        </a:spcBef>
                        <a:spcAft>
                          <a:spcPts val="0"/>
                        </a:spcAft>
                      </a:pPr>
                      <a:r>
                        <a:rPr lang="en-US" sz="1000">
                          <a:latin typeface="Calibri"/>
                          <a:ea typeface="MS Mincho"/>
                          <a:cs typeface="Calibri"/>
                        </a:rPr>
                        <a:t>Related to MV90 </a:t>
                      </a:r>
                      <a:r>
                        <a:rPr lang="en-US" sz="1000">
                          <a:latin typeface="Calibri"/>
                          <a:ea typeface="MS Mincho"/>
                          <a:cs typeface="Calibri"/>
                          <a:sym typeface="Wingdings"/>
                        </a:rPr>
                        <a:t></a:t>
                      </a:r>
                      <a:r>
                        <a:rPr lang="en-US" sz="1000">
                          <a:latin typeface="Calibri"/>
                          <a:ea typeface="MS Mincho"/>
                          <a:cs typeface="Calibri"/>
                        </a:rPr>
                        <a:t> SAP/MDM configuration</a:t>
                      </a:r>
                      <a:endParaRPr lang="en-US" sz="1100">
                        <a:latin typeface="Calibri"/>
                        <a:ea typeface="Times New Roman"/>
                        <a:cs typeface="Times New Roman"/>
                      </a:endParaRPr>
                    </a:p>
                    <a:p>
                      <a:pPr marL="0" marR="0" fontAlgn="b">
                        <a:spcBef>
                          <a:spcPts val="0"/>
                        </a:spcBef>
                        <a:spcAft>
                          <a:spcPts val="0"/>
                        </a:spcAft>
                      </a:pPr>
                      <a:r>
                        <a:rPr lang="en-US" sz="1000">
                          <a:latin typeface="Calibri"/>
                          <a:ea typeface="MS Mincho"/>
                          <a:cs typeface="Calibri"/>
                        </a:rPr>
                        <a:t>IEE needs rates table for this change</a:t>
                      </a:r>
                      <a:endParaRPr lang="en-US" sz="1100">
                        <a:latin typeface="Calibri"/>
                        <a:ea typeface="Times New Roman"/>
                        <a:cs typeface="Times New Roman"/>
                      </a:endParaRPr>
                    </a:p>
                  </a:txBody>
                  <a:tcPr marL="73025" marR="7302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4629">
                <a:tc>
                  <a:txBody>
                    <a:bodyPr/>
                    <a:lstStyle/>
                    <a:p>
                      <a:pPr marL="0" marR="0" fontAlgn="b">
                        <a:spcBef>
                          <a:spcPts val="0"/>
                        </a:spcBef>
                        <a:spcAft>
                          <a:spcPts val="0"/>
                        </a:spcAft>
                      </a:pPr>
                      <a:r>
                        <a:rPr lang="en-US" sz="1000">
                          <a:latin typeface="Calibri"/>
                          <a:ea typeface="MS Mincho"/>
                          <a:cs typeface="Calibri"/>
                        </a:rPr>
                        <a:t>Should Grid Director be considered for Rate Analysis?</a:t>
                      </a:r>
                      <a:endParaRPr lang="en-US" sz="1100">
                        <a:latin typeface="Calibri"/>
                        <a:ea typeface="Times New Roman"/>
                        <a:cs typeface="Times New Roman"/>
                      </a:endParaRPr>
                    </a:p>
                  </a:txBody>
                  <a:tcPr marL="73025" marR="7302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2/7/2014</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Open</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Dave Koerkel</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What data needs to be stored in both single phase and polyphase? </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64629">
                <a:tc>
                  <a:txBody>
                    <a:bodyPr/>
                    <a:lstStyle/>
                    <a:p>
                      <a:pPr marL="0" marR="0" fontAlgn="b">
                        <a:spcBef>
                          <a:spcPts val="0"/>
                        </a:spcBef>
                        <a:spcAft>
                          <a:spcPts val="0"/>
                        </a:spcAft>
                      </a:pPr>
                      <a:r>
                        <a:rPr lang="en-US" sz="1000">
                          <a:latin typeface="Calibri"/>
                          <a:ea typeface="MS Mincho"/>
                          <a:cs typeface="Calibri"/>
                        </a:rPr>
                        <a:t>Performance tests: Test the OTA meter progress change: 60 min to 15 min.</a:t>
                      </a:r>
                      <a:endParaRPr lang="en-US" sz="1100">
                        <a:latin typeface="Calibri"/>
                        <a:ea typeface="Times New Roman"/>
                        <a:cs typeface="Times New Roman"/>
                      </a:endParaRPr>
                    </a:p>
                  </a:txBody>
                  <a:tcPr marL="73025" marR="73025" marT="18415" marB="184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latin typeface="Calibri"/>
                          <a:ea typeface="MS Mincho"/>
                          <a:cs typeface="Calibri"/>
                        </a:rPr>
                        <a:t>2/7/2014</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Open</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latin typeface="Calibri"/>
                          <a:ea typeface="MS Mincho"/>
                          <a:cs typeface="Calibri"/>
                        </a:rPr>
                        <a:t>Jack Hobbick</a:t>
                      </a:r>
                      <a:endParaRPr lang="en-US" sz="90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dirty="0">
                          <a:latin typeface="Calibri"/>
                          <a:ea typeface="MS Mincho"/>
                          <a:cs typeface="Calibri"/>
                        </a:rPr>
                        <a:t>Collecting requirements for performance tests </a:t>
                      </a:r>
                      <a:endParaRPr lang="en-US" sz="900" dirty="0">
                        <a:latin typeface="Arial"/>
                        <a:ea typeface="MS Mincho"/>
                        <a:cs typeface="Times New Roman"/>
                      </a:endParaRPr>
                    </a:p>
                    <a:p>
                      <a:pPr marL="0" marR="0">
                        <a:spcBef>
                          <a:spcPts val="0"/>
                        </a:spcBef>
                        <a:spcAft>
                          <a:spcPts val="0"/>
                        </a:spcAft>
                      </a:pPr>
                      <a:r>
                        <a:rPr lang="en-US" sz="1000" dirty="0">
                          <a:latin typeface="Calibri"/>
                          <a:ea typeface="MS Mincho"/>
                          <a:cs typeface="Calibri"/>
                        </a:rPr>
                        <a:t>New Installer/Rate Change</a:t>
                      </a:r>
                      <a:endParaRPr lang="en-US" sz="900" dirty="0">
                        <a:latin typeface="Arial"/>
                        <a:ea typeface="MS Mincho"/>
                        <a:cs typeface="Times New Roman"/>
                      </a:endParaRPr>
                    </a:p>
                  </a:txBody>
                  <a:tcPr marL="73025" marR="73025" marT="18415" marB="18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i7vUGXTBfkqiTxbV6Ty_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Wk8PWFUdk0KvXkyaGZ3bk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heme/theme1.xml><?xml version="1.0" encoding="utf-8"?>
<a:theme xmlns:a="http://schemas.openxmlformats.org/drawingml/2006/main" name="Capgemini_NA_PowerPoint_Template_2012_from website">
  <a:themeElements>
    <a:clrScheme name="Custom 7">
      <a:dk1>
        <a:sysClr val="windowText" lastClr="000000"/>
      </a:dk1>
      <a:lt1>
        <a:sysClr val="window" lastClr="FFFFFF"/>
      </a:lt1>
      <a:dk2>
        <a:srgbClr val="969696"/>
      </a:dk2>
      <a:lt2>
        <a:srgbClr val="C0C0C0"/>
      </a:lt2>
      <a:accent1>
        <a:srgbClr val="263147"/>
      </a:accent1>
      <a:accent2>
        <a:srgbClr val="009ACC"/>
      </a:accent2>
      <a:accent3>
        <a:srgbClr val="6A9529"/>
      </a:accent3>
      <a:accent4>
        <a:srgbClr val="40B3D6"/>
      </a:accent4>
      <a:accent5>
        <a:srgbClr val="E47E1A"/>
      </a:accent5>
      <a:accent6>
        <a:srgbClr val="7FCCE3"/>
      </a:accent6>
      <a:hlink>
        <a:srgbClr val="AC2B37"/>
      </a:hlink>
      <a:folHlink>
        <a:srgbClr val="762C7C"/>
      </a:folHlink>
    </a:clrScheme>
    <a:fontScheme name="Capgemini_NA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200" dirty="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spcAft>
            <a:spcPts val="600"/>
          </a:spcAft>
          <a:defRPr sz="1200" dirty="0" err="1"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ategory xmlns="a2cd792c-1aa2-43e4-ae5e-610c10e798fd">Handouts</Category>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F6CC3C5CBBF654CAA7F00415AFE1931" ma:contentTypeVersion="2" ma:contentTypeDescription="Create a new document." ma:contentTypeScope="" ma:versionID="b4dd3b1847cea746ff7fc3a2529d1032">
  <xsd:schema xmlns:xsd="http://www.w3.org/2001/XMLSchema" xmlns:xs="http://www.w3.org/2001/XMLSchema" xmlns:p="http://schemas.microsoft.com/office/2006/metadata/properties" xmlns:ns2="a2cd792c-1aa2-43e4-ae5e-610c10e798fd" targetNamespace="http://schemas.microsoft.com/office/2006/metadata/properties" ma:root="true" ma:fieldsID="755421809e48029078662c839207e927" ns2:_="">
    <xsd:import namespace="a2cd792c-1aa2-43e4-ae5e-610c10e798fd"/>
    <xsd:element name="properties">
      <xsd:complexType>
        <xsd:sequence>
          <xsd:element name="documentManagement">
            <xsd:complexType>
              <xsd:all>
                <xsd:element ref="ns2: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cd792c-1aa2-43e4-ae5e-610c10e798fd" elementFormDefault="qualified">
    <xsd:import namespace="http://schemas.microsoft.com/office/2006/documentManagement/types"/>
    <xsd:import namespace="http://schemas.microsoft.com/office/infopath/2007/PartnerControls"/>
    <xsd:element name="Category" ma:index="8" nillable="true" ma:displayName="Category" ma:format="Dropdown" ma:internalName="Category">
      <xsd:simpleType>
        <xsd:restriction base="dms:Choice">
          <xsd:enumeration value="Meeting Minutes"/>
          <xsd:enumeration value="BPD"/>
          <xsd:enumeration value="Aris"/>
          <xsd:enumeration value="Handout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5EF4B3-AFB6-4AEA-AFE9-4B38E1DE86FF}"/>
</file>

<file path=customXml/itemProps2.xml><?xml version="1.0" encoding="utf-8"?>
<ds:datastoreItem xmlns:ds="http://schemas.openxmlformats.org/officeDocument/2006/customXml" ds:itemID="{9E9C0920-E727-4941-B452-97017679132A}"/>
</file>

<file path=customXml/itemProps3.xml><?xml version="1.0" encoding="utf-8"?>
<ds:datastoreItem xmlns:ds="http://schemas.openxmlformats.org/officeDocument/2006/customXml" ds:itemID="{5F235448-10E7-457A-80AE-110F0B948F08}"/>
</file>

<file path=docProps/app.xml><?xml version="1.0" encoding="utf-8"?>
<Properties xmlns="http://schemas.openxmlformats.org/officeDocument/2006/extended-properties" xmlns:vt="http://schemas.openxmlformats.org/officeDocument/2006/docPropsVTypes">
  <TotalTime>2950</TotalTime>
  <Words>1977</Words>
  <Application>Microsoft Office PowerPoint</Application>
  <PresentationFormat>On-screen Show (4:3)</PresentationFormat>
  <Paragraphs>220</Paragraphs>
  <Slides>14</Slides>
  <Notes>0</Notes>
  <HiddenSlides>0</HiddenSlides>
  <MMClips>0</MMClips>
  <ScaleCrop>false</ScaleCrop>
  <HeadingPairs>
    <vt:vector size="6" baseType="variant">
      <vt:variant>
        <vt:lpstr>Theme</vt:lpstr>
      </vt:variant>
      <vt:variant>
        <vt:i4>1</vt:i4>
      </vt:variant>
      <vt:variant>
        <vt:lpstr>Embedded OLE Servers</vt:lpstr>
      </vt:variant>
      <vt:variant>
        <vt:i4>4</vt:i4>
      </vt:variant>
      <vt:variant>
        <vt:lpstr>Slide Titles</vt:lpstr>
      </vt:variant>
      <vt:variant>
        <vt:i4>14</vt:i4>
      </vt:variant>
    </vt:vector>
  </HeadingPairs>
  <TitlesOfParts>
    <vt:vector size="19" baseType="lpstr">
      <vt:lpstr>Capgemini_NA_PowerPoint_Template_2012_from website</vt:lpstr>
      <vt:lpstr>think-cell Slide</vt:lpstr>
      <vt:lpstr>Acrobat Document</vt:lpstr>
      <vt:lpstr>Worksheet</vt:lpstr>
      <vt:lpstr>Microsoft Office Excel Worksheet</vt:lpstr>
      <vt:lpstr>Post-Cutover to Interval Billing Deep Dive Workshop</vt:lpstr>
      <vt:lpstr>Slide 2</vt:lpstr>
      <vt:lpstr>Slide 3</vt:lpstr>
      <vt:lpstr>High Level In-Scope Considerations</vt:lpstr>
      <vt:lpstr>High Level In-Scope Considerations</vt:lpstr>
      <vt:lpstr>Out of Scope for This Workshop</vt:lpstr>
      <vt:lpstr>Slide 7</vt:lpstr>
      <vt:lpstr>Slide 8</vt:lpstr>
      <vt:lpstr>Slide 9</vt:lpstr>
      <vt:lpstr>Slide 10</vt:lpstr>
      <vt:lpstr>Slide 11</vt:lpstr>
      <vt:lpstr>Slide 12</vt:lpstr>
      <vt:lpstr>Slide 13</vt:lpstr>
      <vt:lpstr>Action Items</vt:lpstr>
    </vt:vector>
  </TitlesOfParts>
  <Company>Capgemini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Set</dc:title>
  <dc:creator>mfaibish</dc:creator>
  <cp:lastModifiedBy>mfaibish</cp:lastModifiedBy>
  <cp:revision>93</cp:revision>
  <dcterms:created xsi:type="dcterms:W3CDTF">2013-12-02T21:02:07Z</dcterms:created>
  <dcterms:modified xsi:type="dcterms:W3CDTF">2014-02-06T17:18:46Z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0x0101004F6CC3C5CBBF654CAA7F00415AFE1931</vt:lpwstr>
  </property>
</Properties>
</file>