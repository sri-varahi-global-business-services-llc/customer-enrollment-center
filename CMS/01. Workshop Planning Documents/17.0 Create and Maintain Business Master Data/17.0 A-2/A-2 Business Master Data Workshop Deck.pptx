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FFF0_1996B2E2.xml" ContentType="application/vnd.ms-powerpoint.comments+xml"/>
  <Override PartName="/ppt/comments/modernComment_11C_5FAB239F.xml" ContentType="application/vnd.ms-powerpoint.comments+xml"/>
  <Override PartName="/ppt/comments/modernComment_11B_9EC8F32F.xml" ContentType="application/vnd.ms-powerpoint.comments+xml"/>
  <Override PartName="/ppt/comments/modernComment_123_6609176F.xml" ContentType="application/vnd.ms-powerpoint.comments+xml"/>
  <Override PartName="/ppt/comments/modernComment_11E_FBFAB5B3.xml" ContentType="application/vnd.ms-powerpoint.comments+xml"/>
  <Override PartName="/ppt/comments/modernComment_131_2DAF2EB8.xml" ContentType="application/vnd.ms-powerpoint.comments+xml"/>
  <Override PartName="/ppt/comments/modernComment_120_4A7B5DA3.xml" ContentType="application/vnd.ms-powerpoint.comments+xml"/>
  <Override PartName="/ppt/comments/modernComment_121_B30AEBD6.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7FFFFFFE_878C95C.xml" ContentType="application/vnd.ms-powerpoint.comments+xml"/>
  <Override PartName="/ppt/comments/modernComment_11A_1E4CE9D1.xml" ContentType="application/vnd.ms-powerpoint.comments+xml"/>
  <Override PartName="/ppt/comments/modernComment_7FFFFFFF_36DBBC60.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685" r:id="rId6"/>
  </p:sldMasterIdLst>
  <p:notesMasterIdLst>
    <p:notesMasterId r:id="rId83"/>
  </p:notesMasterIdLst>
  <p:sldIdLst>
    <p:sldId id="268" r:id="rId7"/>
    <p:sldId id="313" r:id="rId8"/>
    <p:sldId id="2147483632" r:id="rId9"/>
    <p:sldId id="295" r:id="rId10"/>
    <p:sldId id="2147483637" r:id="rId11"/>
    <p:sldId id="2147483638" r:id="rId12"/>
    <p:sldId id="312" r:id="rId13"/>
    <p:sldId id="285" r:id="rId14"/>
    <p:sldId id="284" r:id="rId15"/>
    <p:sldId id="304" r:id="rId16"/>
    <p:sldId id="281" r:id="rId17"/>
    <p:sldId id="283" r:id="rId18"/>
    <p:sldId id="291" r:id="rId19"/>
    <p:sldId id="298" r:id="rId20"/>
    <p:sldId id="286" r:id="rId21"/>
    <p:sldId id="305" r:id="rId22"/>
    <p:sldId id="288" r:id="rId23"/>
    <p:sldId id="307" r:id="rId24"/>
    <p:sldId id="289" r:id="rId25"/>
    <p:sldId id="306" r:id="rId26"/>
    <p:sldId id="290" r:id="rId27"/>
    <p:sldId id="308" r:id="rId28"/>
    <p:sldId id="309" r:id="rId29"/>
    <p:sldId id="315" r:id="rId30"/>
    <p:sldId id="310" r:id="rId31"/>
    <p:sldId id="316" r:id="rId32"/>
    <p:sldId id="311" r:id="rId33"/>
    <p:sldId id="314" r:id="rId34"/>
    <p:sldId id="280" r:id="rId35"/>
    <p:sldId id="264" r:id="rId36"/>
    <p:sldId id="276" r:id="rId37"/>
    <p:sldId id="277" r:id="rId38"/>
    <p:sldId id="2147483639" r:id="rId39"/>
    <p:sldId id="279" r:id="rId40"/>
    <p:sldId id="259" r:id="rId41"/>
    <p:sldId id="2147483640" r:id="rId42"/>
    <p:sldId id="275" r:id="rId43"/>
    <p:sldId id="261" r:id="rId44"/>
    <p:sldId id="2147483641" r:id="rId45"/>
    <p:sldId id="270" r:id="rId46"/>
    <p:sldId id="271" r:id="rId47"/>
    <p:sldId id="317" r:id="rId48"/>
    <p:sldId id="318" r:id="rId49"/>
    <p:sldId id="319" r:id="rId50"/>
    <p:sldId id="301" r:id="rId51"/>
    <p:sldId id="302" r:id="rId52"/>
    <p:sldId id="303" r:id="rId53"/>
    <p:sldId id="273" r:id="rId54"/>
    <p:sldId id="274" r:id="rId55"/>
    <p:sldId id="256" r:id="rId56"/>
    <p:sldId id="262" r:id="rId57"/>
    <p:sldId id="257" r:id="rId58"/>
    <p:sldId id="2147482861" r:id="rId59"/>
    <p:sldId id="269" r:id="rId60"/>
    <p:sldId id="287" r:id="rId61"/>
    <p:sldId id="293" r:id="rId62"/>
    <p:sldId id="267" r:id="rId63"/>
    <p:sldId id="258" r:id="rId64"/>
    <p:sldId id="294" r:id="rId65"/>
    <p:sldId id="2147483645" r:id="rId66"/>
    <p:sldId id="260" r:id="rId67"/>
    <p:sldId id="2147483635" r:id="rId68"/>
    <p:sldId id="2147483642" r:id="rId69"/>
    <p:sldId id="263" r:id="rId70"/>
    <p:sldId id="296" r:id="rId71"/>
    <p:sldId id="300" r:id="rId72"/>
    <p:sldId id="278" r:id="rId73"/>
    <p:sldId id="297" r:id="rId74"/>
    <p:sldId id="2147483646" r:id="rId75"/>
    <p:sldId id="272" r:id="rId76"/>
    <p:sldId id="265" r:id="rId77"/>
    <p:sldId id="266" r:id="rId78"/>
    <p:sldId id="292" r:id="rId79"/>
    <p:sldId id="299" r:id="rId80"/>
    <p:sldId id="282" r:id="rId81"/>
    <p:sldId id="2147483647"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C56B50B-91B3-483C-BE05-FE0EDD9856A7}">
          <p14:sldIdLst>
            <p14:sldId id="268"/>
            <p14:sldId id="313"/>
            <p14:sldId id="2147483632"/>
            <p14:sldId id="295"/>
            <p14:sldId id="2147483637"/>
            <p14:sldId id="2147483638"/>
            <p14:sldId id="312"/>
            <p14:sldId id="285"/>
            <p14:sldId id="284"/>
            <p14:sldId id="304"/>
            <p14:sldId id="281"/>
            <p14:sldId id="283"/>
            <p14:sldId id="291"/>
            <p14:sldId id="298"/>
            <p14:sldId id="286"/>
            <p14:sldId id="305"/>
            <p14:sldId id="288"/>
            <p14:sldId id="307"/>
            <p14:sldId id="289"/>
            <p14:sldId id="306"/>
            <p14:sldId id="290"/>
            <p14:sldId id="308"/>
            <p14:sldId id="309"/>
            <p14:sldId id="315"/>
            <p14:sldId id="310"/>
            <p14:sldId id="316"/>
            <p14:sldId id="311"/>
            <p14:sldId id="314"/>
            <p14:sldId id="280"/>
            <p14:sldId id="264"/>
            <p14:sldId id="276"/>
            <p14:sldId id="277"/>
            <p14:sldId id="2147483639"/>
            <p14:sldId id="279"/>
            <p14:sldId id="259"/>
            <p14:sldId id="2147483640"/>
            <p14:sldId id="275"/>
            <p14:sldId id="261"/>
            <p14:sldId id="2147483641"/>
            <p14:sldId id="270"/>
            <p14:sldId id="271"/>
            <p14:sldId id="317"/>
            <p14:sldId id="318"/>
            <p14:sldId id="319"/>
            <p14:sldId id="301"/>
            <p14:sldId id="302"/>
            <p14:sldId id="303"/>
            <p14:sldId id="273"/>
            <p14:sldId id="274"/>
            <p14:sldId id="256"/>
            <p14:sldId id="262"/>
            <p14:sldId id="257"/>
            <p14:sldId id="2147482861"/>
          </p14:sldIdLst>
        </p14:section>
        <p14:section name="Graveyard" id="{6A0FE7CB-C75F-47F8-8DB4-A309BCF33C4C}">
          <p14:sldIdLst>
            <p14:sldId id="269"/>
            <p14:sldId id="287"/>
            <p14:sldId id="293"/>
            <p14:sldId id="267"/>
            <p14:sldId id="258"/>
            <p14:sldId id="294"/>
            <p14:sldId id="2147483645"/>
            <p14:sldId id="260"/>
            <p14:sldId id="2147483635"/>
            <p14:sldId id="2147483642"/>
            <p14:sldId id="263"/>
            <p14:sldId id="296"/>
            <p14:sldId id="300"/>
            <p14:sldId id="278"/>
            <p14:sldId id="297"/>
            <p14:sldId id="2147483646"/>
            <p14:sldId id="272"/>
            <p14:sldId id="265"/>
            <p14:sldId id="266"/>
            <p14:sldId id="292"/>
            <p14:sldId id="299"/>
            <p14:sldId id="282"/>
            <p14:sldId id="214748364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054E2A-988F-FF15-C981-8B792429B072}" name="DAWN M PETTENGILL" initials="DP" userId="S::DAWN.PETTENGILL@cmsenergy.com::6c3e7221-c014-41df-9963-eb44707bad46" providerId="AD"/>
  <p188:author id="{DE9ACA47-3EA9-04A0-C6C5-013CFC6955FC}" name="Jose Diaz" initials="JD" userId="S::jose.diaz@cmsenergy.com::517cb5ef-6fb8-49bc-8303-535c95eee28f" providerId="AD"/>
  <p188:author id="{63114D57-0809-584E-AAB2-61DBCC96837E}" name="Shibu Devapalan Prabha" initials="SD" userId="S::Shibu.DevapalanPrabha@cmsenergy.com::183e8b0d-c241-4499-bcd3-c8d01511828f" providerId="AD"/>
  <p188:author id="{F71F5868-14A0-AE0D-85D4-64A03FE904D8}" name="Taylor Ilov" initials="" userId="S::Taylor.Ilov@ibm.com::43dc5e75-7824-4f8d-a1aa-508c4d2ae3d7" providerId="AD"/>
  <p188:author id="{213F0180-4E89-B86B-F6E1-E03B7518BAE5}" name="Taylor Ilov" initials="TI" userId="S::taylor.ilov@ibm.com::43dc5e75-7824-4f8d-a1aa-508c4d2ae3d7" providerId="AD"/>
  <p188:author id="{55932883-5CB1-84AB-7BEE-79D4FF9FD896}" name="DAWN M PETTENGILL" initials="DP" userId="S::dawn.pettengill@cmsenergy.com::6c3e7221-c014-41df-9963-eb44707bad46" providerId="AD"/>
  <p188:author id="{06E22CA2-C0F8-AC46-CA2A-3E2B1B6644D3}" name="Taylor Ilov" initials="TI" userId="S::taylor.ilov@cmsenergy.com::b3e8fa34-e639-4d12-a6dc-5e3032b39fb7" providerId="AD"/>
  <p188:author id="{501AB7E2-9689-D00B-6C95-3A5D410786DE}" name="Jose Diaz" initials="JD" userId="S::jose.diaz2@ibm.com::9b29bd53-f7fb-41c2-aeba-4f48f8f2c2bf"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264" y="-5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presProps" Target="presProps.xml"/><Relationship Id="rId89" Type="http://schemas.microsoft.com/office/2018/10/relationships/authors" Target="author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1.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tableStyles" Target="tableStyles.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Ilov" userId="S::taylor.ilov@cmsenergy.com::b3e8fa34-e639-4d12-a6dc-5e3032b39fb7" providerId="AD" clId="Web-{AD026362-C5EB-7B4E-5456-76D393D85E52}"/>
    <pc:docChg chg="addSld modSld modSection">
      <pc:chgData name="Taylor Ilov" userId="S::taylor.ilov@cmsenergy.com::b3e8fa34-e639-4d12-a6dc-5e3032b39fb7" providerId="AD" clId="Web-{AD026362-C5EB-7B4E-5456-76D393D85E52}" dt="2026-06-11T02:08:57.526" v="1730"/>
      <pc:docMkLst>
        <pc:docMk/>
      </pc:docMkLst>
      <pc:sldChg chg="delSp modSp">
        <pc:chgData name="Taylor Ilov" userId="S::taylor.ilov@cmsenergy.com::b3e8fa34-e639-4d12-a6dc-5e3032b39fb7" providerId="AD" clId="Web-{AD026362-C5EB-7B4E-5456-76D393D85E52}" dt="2026-06-11T02:04:22.461" v="1587"/>
        <pc:sldMkLst>
          <pc:docMk/>
          <pc:sldMk cId="2218206800" sldId="271"/>
        </pc:sldMkLst>
        <pc:spChg chg="mod">
          <ac:chgData name="Taylor Ilov" userId="S::taylor.ilov@cmsenergy.com::b3e8fa34-e639-4d12-a6dc-5e3032b39fb7" providerId="AD" clId="Web-{AD026362-C5EB-7B4E-5456-76D393D85E52}" dt="2026-06-11T01:45:00.063" v="897" actId="1076"/>
          <ac:spMkLst>
            <pc:docMk/>
            <pc:sldMk cId="2218206800" sldId="271"/>
            <ac:spMk id="2" creationId="{FADA383F-4927-0444-587E-4284181D7C5E}"/>
          </ac:spMkLst>
        </pc:spChg>
        <pc:graphicFrameChg chg="mod modGraphic">
          <ac:chgData name="Taylor Ilov" userId="S::taylor.ilov@cmsenergy.com::b3e8fa34-e639-4d12-a6dc-5e3032b39fb7" providerId="AD" clId="Web-{AD026362-C5EB-7B4E-5456-76D393D85E52}" dt="2026-06-11T02:04:22.461" v="1587"/>
          <ac:graphicFrameMkLst>
            <pc:docMk/>
            <pc:sldMk cId="2218206800" sldId="271"/>
            <ac:graphicFrameMk id="8" creationId="{EBD8FAA2-4B6C-BC4B-328F-08ECDE8FD127}"/>
          </ac:graphicFrameMkLst>
        </pc:graphicFrameChg>
      </pc:sldChg>
      <pc:sldChg chg="addSp delSp modSp">
        <pc:chgData name="Taylor Ilov" userId="S::taylor.ilov@cmsenergy.com::b3e8fa34-e639-4d12-a6dc-5e3032b39fb7" providerId="AD" clId="Web-{AD026362-C5EB-7B4E-5456-76D393D85E52}" dt="2026-06-11T02:01:49.492" v="1476"/>
        <pc:sldMkLst>
          <pc:docMk/>
          <pc:sldMk cId="67856684" sldId="317"/>
        </pc:sldMkLst>
        <pc:spChg chg="add mod">
          <ac:chgData name="Taylor Ilov" userId="S::taylor.ilov@cmsenergy.com::b3e8fa34-e639-4d12-a6dc-5e3032b39fb7" providerId="AD" clId="Web-{AD026362-C5EB-7B4E-5456-76D393D85E52}" dt="2026-06-11T01:50:56.175" v="1161"/>
          <ac:spMkLst>
            <pc:docMk/>
            <pc:sldMk cId="67856684" sldId="317"/>
            <ac:spMk id="12" creationId="{EC14DE4A-8AC4-677E-8FC2-42B2A0FC074D}"/>
          </ac:spMkLst>
        </pc:spChg>
        <pc:graphicFrameChg chg="mod modGraphic">
          <ac:chgData name="Taylor Ilov" userId="S::taylor.ilov@cmsenergy.com::b3e8fa34-e639-4d12-a6dc-5e3032b39fb7" providerId="AD" clId="Web-{AD026362-C5EB-7B4E-5456-76D393D85E52}" dt="2026-06-11T02:01:49.492" v="1476"/>
          <ac:graphicFrameMkLst>
            <pc:docMk/>
            <pc:sldMk cId="67856684" sldId="317"/>
            <ac:graphicFrameMk id="8" creationId="{9BEA02E7-1985-B3EF-410E-1BE82D25E3A6}"/>
          </ac:graphicFrameMkLst>
        </pc:graphicFrameChg>
      </pc:sldChg>
      <pc:sldChg chg="addSp delSp modSp new">
        <pc:chgData name="Taylor Ilov" userId="S::taylor.ilov@cmsenergy.com::b3e8fa34-e639-4d12-a6dc-5e3032b39fb7" providerId="AD" clId="Web-{AD026362-C5EB-7B4E-5456-76D393D85E52}" dt="2026-06-11T02:04:29.180" v="1589"/>
        <pc:sldMkLst>
          <pc:docMk/>
          <pc:sldMk cId="1084695136" sldId="318"/>
        </pc:sldMkLst>
        <pc:spChg chg="add mod">
          <ac:chgData name="Taylor Ilov" userId="S::taylor.ilov@cmsenergy.com::b3e8fa34-e639-4d12-a6dc-5e3032b39fb7" providerId="AD" clId="Web-{AD026362-C5EB-7B4E-5456-76D393D85E52}" dt="2026-06-11T01:56:21.240" v="1313" actId="1076"/>
          <ac:spMkLst>
            <pc:docMk/>
            <pc:sldMk cId="1084695136" sldId="318"/>
            <ac:spMk id="11" creationId="{7D2E227F-D7FB-E7F0-AC62-68738BAE4D17}"/>
          </ac:spMkLst>
        </pc:spChg>
        <pc:graphicFrameChg chg="add mod modGraphic">
          <ac:chgData name="Taylor Ilov" userId="S::taylor.ilov@cmsenergy.com::b3e8fa34-e639-4d12-a6dc-5e3032b39fb7" providerId="AD" clId="Web-{AD026362-C5EB-7B4E-5456-76D393D85E52}" dt="2026-06-11T02:04:29.180" v="1589"/>
          <ac:graphicFrameMkLst>
            <pc:docMk/>
            <pc:sldMk cId="1084695136" sldId="318"/>
            <ac:graphicFrameMk id="5" creationId="{18D72A52-2CC5-A991-4D0C-8D75FB0412A7}"/>
          </ac:graphicFrameMkLst>
        </pc:graphicFrameChg>
      </pc:sldChg>
      <pc:sldChg chg="addSp delSp modSp add replId">
        <pc:chgData name="Taylor Ilov" userId="S::taylor.ilov@cmsenergy.com::b3e8fa34-e639-4d12-a6dc-5e3032b39fb7" providerId="AD" clId="Web-{AD026362-C5EB-7B4E-5456-76D393D85E52}" dt="2026-06-11T02:08:57.526" v="1730"/>
        <pc:sldMkLst>
          <pc:docMk/>
          <pc:sldMk cId="3836521027" sldId="319"/>
        </pc:sldMkLst>
        <pc:spChg chg="add mod">
          <ac:chgData name="Taylor Ilov" userId="S::taylor.ilov@cmsenergy.com::b3e8fa34-e639-4d12-a6dc-5e3032b39fb7" providerId="AD" clId="Web-{AD026362-C5EB-7B4E-5456-76D393D85E52}" dt="2026-06-11T02:03:53.055" v="1566"/>
          <ac:spMkLst>
            <pc:docMk/>
            <pc:sldMk cId="3836521027" sldId="319"/>
            <ac:spMk id="15" creationId="{0BA21E64-F654-F836-3B6F-56916C705022}"/>
          </ac:spMkLst>
        </pc:spChg>
        <pc:graphicFrameChg chg="add del mod modGraphic">
          <ac:chgData name="Taylor Ilov" userId="S::taylor.ilov@cmsenergy.com::b3e8fa34-e639-4d12-a6dc-5e3032b39fb7" providerId="AD" clId="Web-{AD026362-C5EB-7B4E-5456-76D393D85E52}" dt="2026-06-11T02:08:57.526" v="1730"/>
          <ac:graphicFrameMkLst>
            <pc:docMk/>
            <pc:sldMk cId="3836521027" sldId="319"/>
            <ac:graphicFrameMk id="2" creationId="{EF52571B-A263-7961-7822-4D44E9B39149}"/>
          </ac:graphicFrameMkLst>
        </pc:graphicFrameChg>
      </pc:sldChg>
      <pc:sldChg chg="modSp">
        <pc:chgData name="Taylor Ilov" userId="S::taylor.ilov@cmsenergy.com::b3e8fa34-e639-4d12-a6dc-5e3032b39fb7" providerId="AD" clId="Web-{AD026362-C5EB-7B4E-5456-76D393D85E52}" dt="2026-06-10T18:59:35.845" v="27" actId="20577"/>
        <pc:sldMkLst>
          <pc:docMk/>
          <pc:sldMk cId="2545389575" sldId="2147483641"/>
        </pc:sldMkLst>
        <pc:spChg chg="mod">
          <ac:chgData name="Taylor Ilov" userId="S::taylor.ilov@cmsenergy.com::b3e8fa34-e639-4d12-a6dc-5e3032b39fb7" providerId="AD" clId="Web-{AD026362-C5EB-7B4E-5456-76D393D85E52}" dt="2026-06-10T18:59:35.845" v="27" actId="20577"/>
          <ac:spMkLst>
            <pc:docMk/>
            <pc:sldMk cId="2545389575" sldId="2147483641"/>
            <ac:spMk id="4" creationId="{5B50B024-5B2C-73D1-0F65-38C1CBB14B5B}"/>
          </ac:spMkLst>
        </pc:spChg>
      </pc:sldChg>
    </pc:docChg>
  </pc:docChgLst>
  <pc:docChgLst>
    <pc:chgData name="Jose Diaz" userId="S::jose.diaz@cmsenergy.com::517cb5ef-6fb8-49bc-8303-535c95eee28f" providerId="AD" clId="Web-{ACFCD162-5ED8-A7BE-C523-5713667C0A99}"/>
    <pc:docChg chg="addSld modSld modSection">
      <pc:chgData name="Jose Diaz" userId="S::jose.diaz@cmsenergy.com::517cb5ef-6fb8-49bc-8303-535c95eee28f" providerId="AD" clId="Web-{ACFCD162-5ED8-A7BE-C523-5713667C0A99}" dt="2026-05-27T23:30:26.674" v="363" actId="20577"/>
      <pc:docMkLst>
        <pc:docMk/>
      </pc:docMkLst>
      <pc:sldChg chg="addSp delSp modSp">
        <pc:chgData name="Jose Diaz" userId="S::jose.diaz@cmsenergy.com::517cb5ef-6fb8-49bc-8303-535c95eee28f" providerId="AD" clId="Web-{ACFCD162-5ED8-A7BE-C523-5713667C0A99}" dt="2026-05-27T21:01:38.017" v="11" actId="20577"/>
        <pc:sldMkLst>
          <pc:docMk/>
          <pc:sldMk cId="2997917959" sldId="309"/>
        </pc:sldMkLst>
        <pc:spChg chg="mod">
          <ac:chgData name="Jose Diaz" userId="S::jose.diaz@cmsenergy.com::517cb5ef-6fb8-49bc-8303-535c95eee28f" providerId="AD" clId="Web-{ACFCD162-5ED8-A7BE-C523-5713667C0A99}" dt="2026-05-27T21:01:38.017" v="11" actId="20577"/>
          <ac:spMkLst>
            <pc:docMk/>
            <pc:sldMk cId="2997917959" sldId="309"/>
            <ac:spMk id="8" creationId="{7718E67A-C7F6-3A95-B9FB-ED0DAAB13EC0}"/>
          </ac:spMkLst>
        </pc:spChg>
        <pc:picChg chg="add mod">
          <ac:chgData name="Jose Diaz" userId="S::jose.diaz@cmsenergy.com::517cb5ef-6fb8-49bc-8303-535c95eee28f" providerId="AD" clId="Web-{ACFCD162-5ED8-A7BE-C523-5713667C0A99}" dt="2026-05-27T20:56:33.562" v="4" actId="14100"/>
          <ac:picMkLst>
            <pc:docMk/>
            <pc:sldMk cId="2997917959" sldId="309"/>
            <ac:picMk id="2" creationId="{5CBAA8F3-4A38-87FF-7F1C-31B78E7CC356}"/>
          </ac:picMkLst>
        </pc:picChg>
        <pc:picChg chg="add mod">
          <ac:chgData name="Jose Diaz" userId="S::jose.diaz@cmsenergy.com::517cb5ef-6fb8-49bc-8303-535c95eee28f" providerId="AD" clId="Web-{ACFCD162-5ED8-A7BE-C523-5713667C0A99}" dt="2026-05-27T20:57:35.921" v="7" actId="14100"/>
          <ac:picMkLst>
            <pc:docMk/>
            <pc:sldMk cId="2997917959" sldId="309"/>
            <ac:picMk id="4" creationId="{2CCE0FE8-7458-188B-4B18-B40B8F12CD3F}"/>
          </ac:picMkLst>
        </pc:picChg>
      </pc:sldChg>
      <pc:sldChg chg="addSp delSp modSp add replId">
        <pc:chgData name="Jose Diaz" userId="S::jose.diaz@cmsenergy.com::517cb5ef-6fb8-49bc-8303-535c95eee28f" providerId="AD" clId="Web-{ACFCD162-5ED8-A7BE-C523-5713667C0A99}" dt="2026-05-27T21:28:09.900" v="236" actId="14100"/>
        <pc:sldMkLst>
          <pc:docMk/>
          <pc:sldMk cId="249968545" sldId="310"/>
        </pc:sldMkLst>
        <pc:spChg chg="mod">
          <ac:chgData name="Jose Diaz" userId="S::jose.diaz@cmsenergy.com::517cb5ef-6fb8-49bc-8303-535c95eee28f" providerId="AD" clId="Web-{ACFCD162-5ED8-A7BE-C523-5713667C0A99}" dt="2026-05-27T21:06:14.049" v="23" actId="20577"/>
          <ac:spMkLst>
            <pc:docMk/>
            <pc:sldMk cId="249968545" sldId="310"/>
            <ac:spMk id="3" creationId="{C2DE872E-7A5A-574D-61BA-32B53E6604C7}"/>
          </ac:spMkLst>
        </pc:spChg>
        <pc:spChg chg="mod">
          <ac:chgData name="Jose Diaz" userId="S::jose.diaz@cmsenergy.com::517cb5ef-6fb8-49bc-8303-535c95eee28f" providerId="AD" clId="Web-{ACFCD162-5ED8-A7BE-C523-5713667C0A99}" dt="2026-05-27T21:23:04.383" v="234" actId="1076"/>
          <ac:spMkLst>
            <pc:docMk/>
            <pc:sldMk cId="249968545" sldId="310"/>
            <ac:spMk id="8" creationId="{0BBE7A8B-CFB7-4B82-BAC7-44ACB9C88CED}"/>
          </ac:spMkLst>
        </pc:spChg>
        <pc:picChg chg="add mod">
          <ac:chgData name="Jose Diaz" userId="S::jose.diaz@cmsenergy.com::517cb5ef-6fb8-49bc-8303-535c95eee28f" providerId="AD" clId="Web-{ACFCD162-5ED8-A7BE-C523-5713667C0A99}" dt="2026-05-27T21:28:09.900" v="236" actId="14100"/>
          <ac:picMkLst>
            <pc:docMk/>
            <pc:sldMk cId="249968545" sldId="310"/>
            <ac:picMk id="5" creationId="{AEEBD69F-D7B9-3E03-E8DF-7FF438A4BF08}"/>
          </ac:picMkLst>
        </pc:picChg>
      </pc:sldChg>
      <pc:sldChg chg="addSp delSp modSp add replId">
        <pc:chgData name="Jose Diaz" userId="S::jose.diaz@cmsenergy.com::517cb5ef-6fb8-49bc-8303-535c95eee28f" providerId="AD" clId="Web-{ACFCD162-5ED8-A7BE-C523-5713667C0A99}" dt="2026-05-27T23:30:26.674" v="363" actId="20577"/>
        <pc:sldMkLst>
          <pc:docMk/>
          <pc:sldMk cId="2638468699" sldId="311"/>
        </pc:sldMkLst>
        <pc:spChg chg="mod">
          <ac:chgData name="Jose Diaz" userId="S::jose.diaz@cmsenergy.com::517cb5ef-6fb8-49bc-8303-535c95eee28f" providerId="AD" clId="Web-{ACFCD162-5ED8-A7BE-C523-5713667C0A99}" dt="2026-05-27T23:27:47.151" v="311" actId="20577"/>
          <ac:spMkLst>
            <pc:docMk/>
            <pc:sldMk cId="2638468699" sldId="311"/>
            <ac:spMk id="3" creationId="{8D6B7CD5-B1B8-4388-8DAC-79111AEC75B8}"/>
          </ac:spMkLst>
        </pc:spChg>
        <pc:spChg chg="mod">
          <ac:chgData name="Jose Diaz" userId="S::jose.diaz@cmsenergy.com::517cb5ef-6fb8-49bc-8303-535c95eee28f" providerId="AD" clId="Web-{ACFCD162-5ED8-A7BE-C523-5713667C0A99}" dt="2026-05-27T23:28:36.372" v="337" actId="14100"/>
          <ac:spMkLst>
            <pc:docMk/>
            <pc:sldMk cId="2638468699" sldId="311"/>
            <ac:spMk id="8" creationId="{092A0269-BC71-D584-5F17-77D4B7BE045B}"/>
          </ac:spMkLst>
        </pc:spChg>
        <pc:spChg chg="add mod">
          <ac:chgData name="Jose Diaz" userId="S::jose.diaz@cmsenergy.com::517cb5ef-6fb8-49bc-8303-535c95eee28f" providerId="AD" clId="Web-{ACFCD162-5ED8-A7BE-C523-5713667C0A99}" dt="2026-05-27T23:28:23.028" v="336" actId="20577"/>
          <ac:spMkLst>
            <pc:docMk/>
            <pc:sldMk cId="2638468699" sldId="311"/>
            <ac:spMk id="9" creationId="{17F629FA-7D50-2885-300B-F69C75C7DB24}"/>
          </ac:spMkLst>
        </pc:spChg>
        <pc:spChg chg="add mod">
          <ac:chgData name="Jose Diaz" userId="S::jose.diaz@cmsenergy.com::517cb5ef-6fb8-49bc-8303-535c95eee28f" providerId="AD" clId="Web-{ACFCD162-5ED8-A7BE-C523-5713667C0A99}" dt="2026-05-27T23:30:26.674" v="363" actId="20577"/>
          <ac:spMkLst>
            <pc:docMk/>
            <pc:sldMk cId="2638468699" sldId="311"/>
            <ac:spMk id="10" creationId="{0F5C9C9E-9901-5CE6-A9BE-E4FA8067EC26}"/>
          </ac:spMkLst>
        </pc:spChg>
        <pc:picChg chg="add mod">
          <ac:chgData name="Jose Diaz" userId="S::jose.diaz@cmsenergy.com::517cb5ef-6fb8-49bc-8303-535c95eee28f" providerId="AD" clId="Web-{ACFCD162-5ED8-A7BE-C523-5713667C0A99}" dt="2026-05-27T23:26:07.756" v="288" actId="1076"/>
          <ac:picMkLst>
            <pc:docMk/>
            <pc:sldMk cId="2638468699" sldId="311"/>
            <ac:picMk id="2" creationId="{62797B11-C3BA-1AE9-1228-E802E6E3BB32}"/>
          </ac:picMkLst>
        </pc:picChg>
        <pc:picChg chg="add mod">
          <ac:chgData name="Jose Diaz" userId="S::jose.diaz@cmsenergy.com::517cb5ef-6fb8-49bc-8303-535c95eee28f" providerId="AD" clId="Web-{ACFCD162-5ED8-A7BE-C523-5713667C0A99}" dt="2026-05-27T23:27:10.728" v="293" actId="1076"/>
          <ac:picMkLst>
            <pc:docMk/>
            <pc:sldMk cId="2638468699" sldId="311"/>
            <ac:picMk id="6" creationId="{8A02F0AD-B489-BDEC-FA39-C3D9127DDF0C}"/>
          </ac:picMkLst>
        </pc:picChg>
      </pc:sldChg>
    </pc:docChg>
  </pc:docChgLst>
  <pc:docChgLst>
    <pc:chgData name="KIMBERLY K RYAN" userId="S::kimberly.ryan@cmsenergy.com::5cca31b9-790a-4f23-a68b-45dcc7224aea" providerId="AD" clId="Web-{94803541-A6A8-3950-E5F4-DA7BD1E41BC8}"/>
    <pc:docChg chg="modSld">
      <pc:chgData name="KIMBERLY K RYAN" userId="S::kimberly.ryan@cmsenergy.com::5cca31b9-790a-4f23-a68b-45dcc7224aea" providerId="AD" clId="Web-{94803541-A6A8-3950-E5F4-DA7BD1E41BC8}" dt="2026-06-03T14:01:11.371" v="4" actId="1076"/>
      <pc:docMkLst>
        <pc:docMk/>
      </pc:docMkLst>
      <pc:sldChg chg="modSp">
        <pc:chgData name="KIMBERLY K RYAN" userId="S::kimberly.ryan@cmsenergy.com::5cca31b9-790a-4f23-a68b-45dcc7224aea" providerId="AD" clId="Web-{94803541-A6A8-3950-E5F4-DA7BD1E41BC8}" dt="2026-06-03T12:54:49.503" v="1" actId="1076"/>
        <pc:sldMkLst>
          <pc:docMk/>
          <pc:sldMk cId="1297719090" sldId="298"/>
        </pc:sldMkLst>
        <pc:picChg chg="mod">
          <ac:chgData name="KIMBERLY K RYAN" userId="S::kimberly.ryan@cmsenergy.com::5cca31b9-790a-4f23-a68b-45dcc7224aea" providerId="AD" clId="Web-{94803541-A6A8-3950-E5F4-DA7BD1E41BC8}" dt="2026-06-03T12:54:49.503" v="1" actId="1076"/>
          <ac:picMkLst>
            <pc:docMk/>
            <pc:sldMk cId="1297719090" sldId="298"/>
            <ac:picMk id="6" creationId="{0C41574C-2DFB-1ED2-DA9C-8947FAD04C2A}"/>
          </ac:picMkLst>
        </pc:picChg>
      </pc:sldChg>
      <pc:sldChg chg="modSp">
        <pc:chgData name="KIMBERLY K RYAN" userId="S::kimberly.ryan@cmsenergy.com::5cca31b9-790a-4f23-a68b-45dcc7224aea" providerId="AD" clId="Web-{94803541-A6A8-3950-E5F4-DA7BD1E41BC8}" dt="2026-06-03T14:01:11.371" v="4" actId="1076"/>
        <pc:sldMkLst>
          <pc:docMk/>
          <pc:sldMk cId="1251174216" sldId="304"/>
        </pc:sldMkLst>
        <pc:picChg chg="mod">
          <ac:chgData name="KIMBERLY K RYAN" userId="S::kimberly.ryan@cmsenergy.com::5cca31b9-790a-4f23-a68b-45dcc7224aea" providerId="AD" clId="Web-{94803541-A6A8-3950-E5F4-DA7BD1E41BC8}" dt="2026-06-03T14:01:11.371" v="4" actId="1076"/>
          <ac:picMkLst>
            <pc:docMk/>
            <pc:sldMk cId="1251174216" sldId="304"/>
            <ac:picMk id="12" creationId="{089EB6D2-5DA5-73DF-C744-2412B9F5DD6F}"/>
          </ac:picMkLst>
        </pc:picChg>
      </pc:sldChg>
    </pc:docChg>
  </pc:docChgLst>
  <pc:docChgLst>
    <pc:chgData name="NATALIE R SMITH" userId="S::natalie.smith@cmsenergy.com::cb532799-c1b9-41fe-acc1-2245572223c5" providerId="AD" clId="Web-{3768FE2D-0F3E-47F6-B996-DF5654F73971}"/>
    <pc:docChg chg="modSld">
      <pc:chgData name="NATALIE R SMITH" userId="S::natalie.smith@cmsenergy.com::cb532799-c1b9-41fe-acc1-2245572223c5" providerId="AD" clId="Web-{3768FE2D-0F3E-47F6-B996-DF5654F73971}" dt="2026-06-01T19:58:09.539" v="0"/>
      <pc:docMkLst>
        <pc:docMk/>
      </pc:docMkLst>
      <pc:sldChg chg="modSp">
        <pc:chgData name="NATALIE R SMITH" userId="S::natalie.smith@cmsenergy.com::cb532799-c1b9-41fe-acc1-2245572223c5" providerId="AD" clId="Web-{3768FE2D-0F3E-47F6-B996-DF5654F73971}" dt="2026-06-01T19:58:09.539" v="0"/>
        <pc:sldMkLst>
          <pc:docMk/>
          <pc:sldMk cId="2218206800" sldId="271"/>
        </pc:sldMkLst>
        <pc:graphicFrameChg chg="modGraphic">
          <ac:chgData name="NATALIE R SMITH" userId="S::natalie.smith@cmsenergy.com::cb532799-c1b9-41fe-acc1-2245572223c5" providerId="AD" clId="Web-{3768FE2D-0F3E-47F6-B996-DF5654F73971}" dt="2026-06-01T19:58:09.539" v="0"/>
          <ac:graphicFrameMkLst>
            <pc:docMk/>
            <pc:sldMk cId="2218206800" sldId="271"/>
            <ac:graphicFrameMk id="8" creationId="{EBD8FAA2-4B6C-BC4B-328F-08ECDE8FD127}"/>
          </ac:graphicFrameMkLst>
        </pc:graphicFrameChg>
      </pc:sldChg>
    </pc:docChg>
  </pc:docChgLst>
  <pc:docChgLst>
    <pc:chgData name="Taylor Ilov" userId="S::taylor.ilov@cmsenergy.com::b3e8fa34-e639-4d12-a6dc-5e3032b39fb7" providerId="AD" clId="Web-{12801A1B-9A01-307E-74B6-158758913747}"/>
    <pc:docChg chg="addSld modSld sldOrd modSection">
      <pc:chgData name="Taylor Ilov" userId="S::taylor.ilov@cmsenergy.com::b3e8fa34-e639-4d12-a6dc-5e3032b39fb7" providerId="AD" clId="Web-{12801A1B-9A01-307E-74B6-158758913747}" dt="2026-05-26T03:22:44.204" v="2366" actId="1076"/>
      <pc:docMkLst>
        <pc:docMk/>
      </pc:docMkLst>
      <pc:sldChg chg="modSp ord">
        <pc:chgData name="Taylor Ilov" userId="S::taylor.ilov@cmsenergy.com::b3e8fa34-e639-4d12-a6dc-5e3032b39fb7" providerId="AD" clId="Web-{12801A1B-9A01-307E-74B6-158758913747}" dt="2026-05-26T03:00:57.318" v="1539"/>
        <pc:sldMkLst>
          <pc:docMk/>
          <pc:sldMk cId="718609139" sldId="281"/>
        </pc:sldMkLst>
        <pc:spChg chg="mod">
          <ac:chgData name="Taylor Ilov" userId="S::taylor.ilov@cmsenergy.com::b3e8fa34-e639-4d12-a6dc-5e3032b39fb7" providerId="AD" clId="Web-{12801A1B-9A01-307E-74B6-158758913747}" dt="2026-05-26T03:00:57.318" v="1539"/>
          <ac:spMkLst>
            <pc:docMk/>
            <pc:sldMk cId="718609139" sldId="281"/>
            <ac:spMk id="2" creationId="{638CAFDB-E1FE-DB03-7E07-852C48B4087B}"/>
          </ac:spMkLst>
        </pc:spChg>
      </pc:sldChg>
      <pc:sldChg chg="modSp">
        <pc:chgData name="Taylor Ilov" userId="S::taylor.ilov@cmsenergy.com::b3e8fa34-e639-4d12-a6dc-5e3032b39fb7" providerId="AD" clId="Web-{12801A1B-9A01-307E-74B6-158758913747}" dt="2026-05-26T03:11:23.776" v="2040" actId="20577"/>
        <pc:sldMkLst>
          <pc:docMk/>
          <pc:sldMk cId="2663969583" sldId="283"/>
        </pc:sldMkLst>
        <pc:spChg chg="mod">
          <ac:chgData name="Taylor Ilov" userId="S::taylor.ilov@cmsenergy.com::b3e8fa34-e639-4d12-a6dc-5e3032b39fb7" providerId="AD" clId="Web-{12801A1B-9A01-307E-74B6-158758913747}" dt="2026-05-26T03:11:23.776" v="2040" actId="20577"/>
          <ac:spMkLst>
            <pc:docMk/>
            <pc:sldMk cId="2663969583" sldId="283"/>
            <ac:spMk id="2" creationId="{868A1537-B78E-A47B-C729-932578EFEE1A}"/>
          </ac:spMkLst>
        </pc:spChg>
      </pc:sldChg>
      <pc:sldChg chg="addSp modSp">
        <pc:chgData name="Taylor Ilov" userId="S::taylor.ilov@cmsenergy.com::b3e8fa34-e639-4d12-a6dc-5e3032b39fb7" providerId="AD" clId="Web-{12801A1B-9A01-307E-74B6-158758913747}" dt="2026-05-26T03:21:21.920" v="2365" actId="14100"/>
        <pc:sldMkLst>
          <pc:docMk/>
          <pc:sldMk cId="1605051295" sldId="284"/>
        </pc:sldMkLst>
        <pc:spChg chg="mod">
          <ac:chgData name="Taylor Ilov" userId="S::taylor.ilov@cmsenergy.com::b3e8fa34-e639-4d12-a6dc-5e3032b39fb7" providerId="AD" clId="Web-{12801A1B-9A01-307E-74B6-158758913747}" dt="2026-05-26T03:20:49.997" v="2356" actId="14100"/>
          <ac:spMkLst>
            <pc:docMk/>
            <pc:sldMk cId="1605051295" sldId="284"/>
            <ac:spMk id="2" creationId="{55CAA155-64DF-08E6-7717-48081511192C}"/>
          </ac:spMkLst>
        </pc:spChg>
        <pc:spChg chg="add mod">
          <ac:chgData name="Taylor Ilov" userId="S::taylor.ilov@cmsenergy.com::b3e8fa34-e639-4d12-a6dc-5e3032b39fb7" providerId="AD" clId="Web-{12801A1B-9A01-307E-74B6-158758913747}" dt="2026-05-26T03:21:16.358" v="2363" actId="1076"/>
          <ac:spMkLst>
            <pc:docMk/>
            <pc:sldMk cId="1605051295" sldId="284"/>
            <ac:spMk id="7" creationId="{C3DF79ED-8F82-4280-29E4-22C77F80F7FB}"/>
          </ac:spMkLst>
        </pc:spChg>
        <pc:spChg chg="add mod">
          <ac:chgData name="Taylor Ilov" userId="S::taylor.ilov@cmsenergy.com::b3e8fa34-e639-4d12-a6dc-5e3032b39fb7" providerId="AD" clId="Web-{12801A1B-9A01-307E-74B6-158758913747}" dt="2026-05-26T03:21:21.920" v="2365" actId="14100"/>
          <ac:spMkLst>
            <pc:docMk/>
            <pc:sldMk cId="1605051295" sldId="284"/>
            <ac:spMk id="8" creationId="{75BB86B8-712A-CF42-AC54-B4999793731F}"/>
          </ac:spMkLst>
        </pc:spChg>
        <pc:picChg chg="add mod">
          <ac:chgData name="Taylor Ilov" userId="S::taylor.ilov@cmsenergy.com::b3e8fa34-e639-4d12-a6dc-5e3032b39fb7" providerId="AD" clId="Web-{12801A1B-9A01-307E-74B6-158758913747}" dt="2026-05-26T03:21:01.873" v="2359" actId="1076"/>
          <ac:picMkLst>
            <pc:docMk/>
            <pc:sldMk cId="1605051295" sldId="284"/>
            <ac:picMk id="4" creationId="{3A5ABBA7-BDBE-085D-800E-40FF66B04B12}"/>
          </ac:picMkLst>
        </pc:picChg>
        <pc:picChg chg="mod">
          <ac:chgData name="Taylor Ilov" userId="S::taylor.ilov@cmsenergy.com::b3e8fa34-e639-4d12-a6dc-5e3032b39fb7" providerId="AD" clId="Web-{12801A1B-9A01-307E-74B6-158758913747}" dt="2026-05-26T03:20:44.763" v="2354" actId="1076"/>
          <ac:picMkLst>
            <pc:docMk/>
            <pc:sldMk cId="1605051295" sldId="284"/>
            <ac:picMk id="6" creationId="{0A1FA361-65CB-1ADB-FF20-C3B0CB926E53}"/>
          </ac:picMkLst>
        </pc:picChg>
      </pc:sldChg>
      <pc:sldChg chg="modSp">
        <pc:chgData name="Taylor Ilov" userId="S::taylor.ilov@cmsenergy.com::b3e8fa34-e639-4d12-a6dc-5e3032b39fb7" providerId="AD" clId="Web-{12801A1B-9A01-307E-74B6-158758913747}" dt="2026-05-26T03:01:18.272" v="1545"/>
        <pc:sldMkLst>
          <pc:docMk/>
          <pc:sldMk cId="4227511731" sldId="286"/>
        </pc:sldMkLst>
        <pc:spChg chg="mod">
          <ac:chgData name="Taylor Ilov" userId="S::taylor.ilov@cmsenergy.com::b3e8fa34-e639-4d12-a6dc-5e3032b39fb7" providerId="AD" clId="Web-{12801A1B-9A01-307E-74B6-158758913747}" dt="2026-05-26T03:01:18.272" v="1545"/>
          <ac:spMkLst>
            <pc:docMk/>
            <pc:sldMk cId="4227511731" sldId="286"/>
            <ac:spMk id="2" creationId="{218C24C0-2756-F2E0-D8BA-26C7311F12F2}"/>
          </ac:spMkLst>
        </pc:spChg>
        <pc:picChg chg="mod">
          <ac:chgData name="Taylor Ilov" userId="S::taylor.ilov@cmsenergy.com::b3e8fa34-e639-4d12-a6dc-5e3032b39fb7" providerId="AD" clId="Web-{12801A1B-9A01-307E-74B6-158758913747}" dt="2026-05-26T02:54:26.930" v="1446" actId="1076"/>
          <ac:picMkLst>
            <pc:docMk/>
            <pc:sldMk cId="4227511731" sldId="286"/>
            <ac:picMk id="7" creationId="{EA9035A2-0DCF-FD2B-AA1E-6E21A8ED60EF}"/>
          </ac:picMkLst>
        </pc:picChg>
        <pc:picChg chg="mod">
          <ac:chgData name="Taylor Ilov" userId="S::taylor.ilov@cmsenergy.com::b3e8fa34-e639-4d12-a6dc-5e3032b39fb7" providerId="AD" clId="Web-{12801A1B-9A01-307E-74B6-158758913747}" dt="2026-05-26T02:53:13.162" v="1381" actId="14100"/>
          <ac:picMkLst>
            <pc:docMk/>
            <pc:sldMk cId="4227511731" sldId="286"/>
            <ac:picMk id="8" creationId="{74777D69-FFDF-324D-8836-35D0F87C98EA}"/>
          </ac:picMkLst>
        </pc:picChg>
      </pc:sldChg>
      <pc:sldChg chg="modSp">
        <pc:chgData name="Taylor Ilov" userId="S::taylor.ilov@cmsenergy.com::b3e8fa34-e639-4d12-a6dc-5e3032b39fb7" providerId="AD" clId="Web-{12801A1B-9A01-307E-74B6-158758913747}" dt="2026-05-26T03:01:26.084" v="1547"/>
        <pc:sldMkLst>
          <pc:docMk/>
          <pc:sldMk cId="1249598883" sldId="288"/>
        </pc:sldMkLst>
        <pc:spChg chg="mod">
          <ac:chgData name="Taylor Ilov" userId="S::taylor.ilov@cmsenergy.com::b3e8fa34-e639-4d12-a6dc-5e3032b39fb7" providerId="AD" clId="Web-{12801A1B-9A01-307E-74B6-158758913747}" dt="2026-05-26T03:01:26.084" v="1547"/>
          <ac:spMkLst>
            <pc:docMk/>
            <pc:sldMk cId="1249598883" sldId="288"/>
            <ac:spMk id="6" creationId="{C4BC3AF3-02AE-6C70-4F5D-DA48A2E2878A}"/>
          </ac:spMkLst>
        </pc:spChg>
      </pc:sldChg>
      <pc:sldChg chg="modSp">
        <pc:chgData name="Taylor Ilov" userId="S::taylor.ilov@cmsenergy.com::b3e8fa34-e639-4d12-a6dc-5e3032b39fb7" providerId="AD" clId="Web-{12801A1B-9A01-307E-74B6-158758913747}" dt="2026-05-26T03:01:35.491" v="1550"/>
        <pc:sldMkLst>
          <pc:docMk/>
          <pc:sldMk cId="3003837398" sldId="289"/>
        </pc:sldMkLst>
        <pc:spChg chg="mod">
          <ac:chgData name="Taylor Ilov" userId="S::taylor.ilov@cmsenergy.com::b3e8fa34-e639-4d12-a6dc-5e3032b39fb7" providerId="AD" clId="Web-{12801A1B-9A01-307E-74B6-158758913747}" dt="2026-05-26T03:01:35.491" v="1550"/>
          <ac:spMkLst>
            <pc:docMk/>
            <pc:sldMk cId="3003837398" sldId="289"/>
            <ac:spMk id="2" creationId="{05EB2F7B-1166-FA34-846B-309738791E3C}"/>
          </ac:spMkLst>
        </pc:spChg>
      </pc:sldChg>
      <pc:sldChg chg="addSp modSp">
        <pc:chgData name="Taylor Ilov" userId="S::taylor.ilov@cmsenergy.com::b3e8fa34-e639-4d12-a6dc-5e3032b39fb7" providerId="AD" clId="Web-{12801A1B-9A01-307E-74B6-158758913747}" dt="2026-05-26T03:12:39.075" v="2131" actId="1076"/>
        <pc:sldMkLst>
          <pc:docMk/>
          <pc:sldMk cId="3963704981" sldId="290"/>
        </pc:sldMkLst>
        <pc:spChg chg="add mod">
          <ac:chgData name="Taylor Ilov" userId="S::taylor.ilov@cmsenergy.com::b3e8fa34-e639-4d12-a6dc-5e3032b39fb7" providerId="AD" clId="Web-{12801A1B-9A01-307E-74B6-158758913747}" dt="2026-05-26T03:12:39.060" v="2130" actId="1076"/>
          <ac:spMkLst>
            <pc:docMk/>
            <pc:sldMk cId="3963704981" sldId="290"/>
            <ac:spMk id="4" creationId="{B4B6D6C5-4256-6144-5BDA-658A1A0CC18C}"/>
          </ac:spMkLst>
        </pc:spChg>
        <pc:spChg chg="add mod">
          <ac:chgData name="Taylor Ilov" userId="S::taylor.ilov@cmsenergy.com::b3e8fa34-e639-4d12-a6dc-5e3032b39fb7" providerId="AD" clId="Web-{12801A1B-9A01-307E-74B6-158758913747}" dt="2026-05-26T03:12:39.075" v="2131" actId="1076"/>
          <ac:spMkLst>
            <pc:docMk/>
            <pc:sldMk cId="3963704981" sldId="290"/>
            <ac:spMk id="5" creationId="{CD571BC4-2B1C-64DD-0DF6-A520F8D9AA42}"/>
          </ac:spMkLst>
        </pc:spChg>
        <pc:spChg chg="mod">
          <ac:chgData name="Taylor Ilov" userId="S::taylor.ilov@cmsenergy.com::b3e8fa34-e639-4d12-a6dc-5e3032b39fb7" providerId="AD" clId="Web-{12801A1B-9A01-307E-74B6-158758913747}" dt="2026-05-26T03:12:31.481" v="2127" actId="1076"/>
          <ac:spMkLst>
            <pc:docMk/>
            <pc:sldMk cId="3963704981" sldId="290"/>
            <ac:spMk id="8" creationId="{31B14087-1AAD-96AC-6999-A2AF449A6A6F}"/>
          </ac:spMkLst>
        </pc:spChg>
        <pc:picChg chg="mod">
          <ac:chgData name="Taylor Ilov" userId="S::taylor.ilov@cmsenergy.com::b3e8fa34-e639-4d12-a6dc-5e3032b39fb7" providerId="AD" clId="Web-{12801A1B-9A01-307E-74B6-158758913747}" dt="2026-05-26T03:12:39.060" v="2129" actId="1076"/>
          <ac:picMkLst>
            <pc:docMk/>
            <pc:sldMk cId="3963704981" sldId="290"/>
            <ac:picMk id="7" creationId="{4B7E28CC-4FA7-7125-0149-E46773350348}"/>
          </ac:picMkLst>
        </pc:picChg>
      </pc:sldChg>
      <pc:sldChg chg="addSp modSp">
        <pc:chgData name="Taylor Ilov" userId="S::taylor.ilov@cmsenergy.com::b3e8fa34-e639-4d12-a6dc-5e3032b39fb7" providerId="AD" clId="Web-{12801A1B-9A01-307E-74B6-158758913747}" dt="2026-05-26T03:19:23.635" v="2351" actId="1076"/>
        <pc:sldMkLst>
          <pc:docMk/>
          <pc:sldMk cId="1711871855" sldId="291"/>
        </pc:sldMkLst>
        <pc:spChg chg="mod">
          <ac:chgData name="Taylor Ilov" userId="S::taylor.ilov@cmsenergy.com::b3e8fa34-e639-4d12-a6dc-5e3032b39fb7" providerId="AD" clId="Web-{12801A1B-9A01-307E-74B6-158758913747}" dt="2026-05-26T03:19:17.150" v="2347" actId="14100"/>
          <ac:spMkLst>
            <pc:docMk/>
            <pc:sldMk cId="1711871855" sldId="291"/>
            <ac:spMk id="2" creationId="{5FEDC90A-B8A2-92FC-7E60-9D9D85789161}"/>
          </ac:spMkLst>
        </pc:spChg>
        <pc:spChg chg="add mod">
          <ac:chgData name="Taylor Ilov" userId="S::taylor.ilov@cmsenergy.com::b3e8fa34-e639-4d12-a6dc-5e3032b39fb7" providerId="AD" clId="Web-{12801A1B-9A01-307E-74B6-158758913747}" dt="2026-05-26T03:19:19.557" v="2349" actId="1076"/>
          <ac:spMkLst>
            <pc:docMk/>
            <pc:sldMk cId="1711871855" sldId="291"/>
            <ac:spMk id="6" creationId="{64B44F67-3E5E-48EC-B4E7-5E1157506D32}"/>
          </ac:spMkLst>
        </pc:spChg>
        <pc:spChg chg="add mod">
          <ac:chgData name="Taylor Ilov" userId="S::taylor.ilov@cmsenergy.com::b3e8fa34-e639-4d12-a6dc-5e3032b39fb7" providerId="AD" clId="Web-{12801A1B-9A01-307E-74B6-158758913747}" dt="2026-05-26T03:19:08.400" v="2343" actId="1076"/>
          <ac:spMkLst>
            <pc:docMk/>
            <pc:sldMk cId="1711871855" sldId="291"/>
            <ac:spMk id="8" creationId="{F8D6A8D3-B5CB-D32D-99AB-BF08758F5973}"/>
          </ac:spMkLst>
        </pc:spChg>
        <pc:picChg chg="mod">
          <ac:chgData name="Taylor Ilov" userId="S::taylor.ilov@cmsenergy.com::b3e8fa34-e639-4d12-a6dc-5e3032b39fb7" providerId="AD" clId="Web-{12801A1B-9A01-307E-74B6-158758913747}" dt="2026-05-26T03:19:10.384" v="2344" actId="1076"/>
          <ac:picMkLst>
            <pc:docMk/>
            <pc:sldMk cId="1711871855" sldId="291"/>
            <ac:picMk id="4" creationId="{AAE42513-1ADB-B9B2-7616-FF53D55EFD94}"/>
          </ac:picMkLst>
        </pc:picChg>
        <pc:picChg chg="add mod">
          <ac:chgData name="Taylor Ilov" userId="S::taylor.ilov@cmsenergy.com::b3e8fa34-e639-4d12-a6dc-5e3032b39fb7" providerId="AD" clId="Web-{12801A1B-9A01-307E-74B6-158758913747}" dt="2026-05-26T03:19:23.635" v="2351" actId="1076"/>
          <ac:picMkLst>
            <pc:docMk/>
            <pc:sldMk cId="1711871855" sldId="291"/>
            <ac:picMk id="5" creationId="{9FA7BACE-6D01-7B21-B6C7-0582D0F1C433}"/>
          </ac:picMkLst>
        </pc:picChg>
        <pc:picChg chg="add mod">
          <ac:chgData name="Taylor Ilov" userId="S::taylor.ilov@cmsenergy.com::b3e8fa34-e639-4d12-a6dc-5e3032b39fb7" providerId="AD" clId="Web-{12801A1B-9A01-307E-74B6-158758913747}" dt="2026-05-26T03:19:08.400" v="2342" actId="1076"/>
          <ac:picMkLst>
            <pc:docMk/>
            <pc:sldMk cId="1711871855" sldId="291"/>
            <ac:picMk id="7" creationId="{F9318B85-C647-DFAD-21CC-629F8DDB85AF}"/>
          </ac:picMkLst>
        </pc:picChg>
      </pc:sldChg>
      <pc:sldChg chg="modSp">
        <pc:chgData name="Taylor Ilov" userId="S::taylor.ilov@cmsenergy.com::b3e8fa34-e639-4d12-a6dc-5e3032b39fb7" providerId="AD" clId="Web-{12801A1B-9A01-307E-74B6-158758913747}" dt="2026-05-26T03:01:13.943" v="1544"/>
        <pc:sldMkLst>
          <pc:docMk/>
          <pc:sldMk cId="1297719090" sldId="298"/>
        </pc:sldMkLst>
        <pc:spChg chg="mod">
          <ac:chgData name="Taylor Ilov" userId="S::taylor.ilov@cmsenergy.com::b3e8fa34-e639-4d12-a6dc-5e3032b39fb7" providerId="AD" clId="Web-{12801A1B-9A01-307E-74B6-158758913747}" dt="2026-05-26T03:01:13.912" v="1543"/>
          <ac:spMkLst>
            <pc:docMk/>
            <pc:sldMk cId="1297719090" sldId="298"/>
            <ac:spMk id="2" creationId="{AF672614-010A-D48D-F3C5-754B9309A3F5}"/>
          </ac:spMkLst>
        </pc:spChg>
        <pc:spChg chg="mod">
          <ac:chgData name="Taylor Ilov" userId="S::taylor.ilov@cmsenergy.com::b3e8fa34-e639-4d12-a6dc-5e3032b39fb7" providerId="AD" clId="Web-{12801A1B-9A01-307E-74B6-158758913747}" dt="2026-05-26T03:01:13.943" v="1544"/>
          <ac:spMkLst>
            <pc:docMk/>
            <pc:sldMk cId="1297719090" sldId="298"/>
            <ac:spMk id="8" creationId="{047819ED-8129-094C-DEF9-E961BB9EAA69}"/>
          </ac:spMkLst>
        </pc:spChg>
      </pc:sldChg>
      <pc:sldChg chg="addSp delSp modSp add replId">
        <pc:chgData name="Taylor Ilov" userId="S::taylor.ilov@cmsenergy.com::b3e8fa34-e639-4d12-a6dc-5e3032b39fb7" providerId="AD" clId="Web-{12801A1B-9A01-307E-74B6-158758913747}" dt="2026-05-26T03:00:44.177" v="1537" actId="20577"/>
        <pc:sldMkLst>
          <pc:docMk/>
          <pc:sldMk cId="1251174216" sldId="304"/>
        </pc:sldMkLst>
        <pc:spChg chg="mod">
          <ac:chgData name="Taylor Ilov" userId="S::taylor.ilov@cmsenergy.com::b3e8fa34-e639-4d12-a6dc-5e3032b39fb7" providerId="AD" clId="Web-{12801A1B-9A01-307E-74B6-158758913747}" dt="2026-05-26T03:00:44.177" v="1537" actId="20577"/>
          <ac:spMkLst>
            <pc:docMk/>
            <pc:sldMk cId="1251174216" sldId="304"/>
            <ac:spMk id="3" creationId="{C12E59D0-7F5A-146A-10B7-F049D057546A}"/>
          </ac:spMkLst>
        </pc:spChg>
        <pc:spChg chg="add mod">
          <ac:chgData name="Taylor Ilov" userId="S::taylor.ilov@cmsenergy.com::b3e8fa34-e639-4d12-a6dc-5e3032b39fb7" providerId="AD" clId="Web-{12801A1B-9A01-307E-74B6-158758913747}" dt="2026-05-26T02:41:59.172" v="1064" actId="14100"/>
          <ac:spMkLst>
            <pc:docMk/>
            <pc:sldMk cId="1251174216" sldId="304"/>
            <ac:spMk id="14" creationId="{B973C8B5-3220-4B06-F696-D6DB83138689}"/>
          </ac:spMkLst>
        </pc:spChg>
        <pc:spChg chg="add mod">
          <ac:chgData name="Taylor Ilov" userId="S::taylor.ilov@cmsenergy.com::b3e8fa34-e639-4d12-a6dc-5e3032b39fb7" providerId="AD" clId="Web-{12801A1B-9A01-307E-74B6-158758913747}" dt="2026-05-26T02:42:36.829" v="1086" actId="1076"/>
          <ac:spMkLst>
            <pc:docMk/>
            <pc:sldMk cId="1251174216" sldId="304"/>
            <ac:spMk id="16" creationId="{0BADD208-1EC7-843D-DD51-667CCDBCF6C7}"/>
          </ac:spMkLst>
        </pc:spChg>
        <pc:spChg chg="add mod">
          <ac:chgData name="Taylor Ilov" userId="S::taylor.ilov@cmsenergy.com::b3e8fa34-e639-4d12-a6dc-5e3032b39fb7" providerId="AD" clId="Web-{12801A1B-9A01-307E-74B6-158758913747}" dt="2026-05-26T02:42:32.595" v="1085" actId="14100"/>
          <ac:spMkLst>
            <pc:docMk/>
            <pc:sldMk cId="1251174216" sldId="304"/>
            <ac:spMk id="17" creationId="{00AFCBE6-C2FC-4A86-A7F4-D18E9CD61ECF}"/>
          </ac:spMkLst>
        </pc:spChg>
        <pc:spChg chg="add mod">
          <ac:chgData name="Taylor Ilov" userId="S::taylor.ilov@cmsenergy.com::b3e8fa34-e639-4d12-a6dc-5e3032b39fb7" providerId="AD" clId="Web-{12801A1B-9A01-307E-74B6-158758913747}" dt="2026-05-26T02:42:44.705" v="1089" actId="1076"/>
          <ac:spMkLst>
            <pc:docMk/>
            <pc:sldMk cId="1251174216" sldId="304"/>
            <ac:spMk id="18" creationId="{B0C91563-1735-CB33-E5FE-DC3E724DFE1E}"/>
          </ac:spMkLst>
        </pc:spChg>
        <pc:spChg chg="add mod">
          <ac:chgData name="Taylor Ilov" userId="S::taylor.ilov@cmsenergy.com::b3e8fa34-e639-4d12-a6dc-5e3032b39fb7" providerId="AD" clId="Web-{12801A1B-9A01-307E-74B6-158758913747}" dt="2026-05-26T02:42:53.174" v="1091" actId="1076"/>
          <ac:spMkLst>
            <pc:docMk/>
            <pc:sldMk cId="1251174216" sldId="304"/>
            <ac:spMk id="19" creationId="{B6E1301C-CEC9-062B-D352-061E435EB5D0}"/>
          </ac:spMkLst>
        </pc:spChg>
        <pc:spChg chg="add mod">
          <ac:chgData name="Taylor Ilov" userId="S::taylor.ilov@cmsenergy.com::b3e8fa34-e639-4d12-a6dc-5e3032b39fb7" providerId="AD" clId="Web-{12801A1B-9A01-307E-74B6-158758913747}" dt="2026-05-26T02:42:56.799" v="1094" actId="1076"/>
          <ac:spMkLst>
            <pc:docMk/>
            <pc:sldMk cId="1251174216" sldId="304"/>
            <ac:spMk id="20" creationId="{540B7A1F-7B09-C0A0-0DE0-15BF98342399}"/>
          </ac:spMkLst>
        </pc:spChg>
        <pc:spChg chg="add mod">
          <ac:chgData name="Taylor Ilov" userId="S::taylor.ilov@cmsenergy.com::b3e8fa34-e639-4d12-a6dc-5e3032b39fb7" providerId="AD" clId="Web-{12801A1B-9A01-307E-74B6-158758913747}" dt="2026-05-26T02:46:52.572" v="1196" actId="1076"/>
          <ac:spMkLst>
            <pc:docMk/>
            <pc:sldMk cId="1251174216" sldId="304"/>
            <ac:spMk id="22" creationId="{4786570E-CA6E-F205-70D2-FA3FECD2F322}"/>
          </ac:spMkLst>
        </pc:spChg>
        <pc:spChg chg="add mod">
          <ac:chgData name="Taylor Ilov" userId="S::taylor.ilov@cmsenergy.com::b3e8fa34-e639-4d12-a6dc-5e3032b39fb7" providerId="AD" clId="Web-{12801A1B-9A01-307E-74B6-158758913747}" dt="2026-05-26T02:46:59.665" v="1200" actId="1076"/>
          <ac:spMkLst>
            <pc:docMk/>
            <pc:sldMk cId="1251174216" sldId="304"/>
            <ac:spMk id="23" creationId="{5CC70DFB-CB3A-0F6D-46BB-9639F2D91CF6}"/>
          </ac:spMkLst>
        </pc:spChg>
        <pc:spChg chg="add mod">
          <ac:chgData name="Taylor Ilov" userId="S::taylor.ilov@cmsenergy.com::b3e8fa34-e639-4d12-a6dc-5e3032b39fb7" providerId="AD" clId="Web-{12801A1B-9A01-307E-74B6-158758913747}" dt="2026-05-26T02:47:03.572" v="1201" actId="1076"/>
          <ac:spMkLst>
            <pc:docMk/>
            <pc:sldMk cId="1251174216" sldId="304"/>
            <ac:spMk id="24" creationId="{87D5D5D8-3BD4-99F8-95B0-B579EB976CF4}"/>
          </ac:spMkLst>
        </pc:spChg>
        <pc:spChg chg="add mod">
          <ac:chgData name="Taylor Ilov" userId="S::taylor.ilov@cmsenergy.com::b3e8fa34-e639-4d12-a6dc-5e3032b39fb7" providerId="AD" clId="Web-{12801A1B-9A01-307E-74B6-158758913747}" dt="2026-05-26T02:47:17.729" v="1206" actId="14100"/>
          <ac:spMkLst>
            <pc:docMk/>
            <pc:sldMk cId="1251174216" sldId="304"/>
            <ac:spMk id="25" creationId="{AF8B45C4-9571-7DD5-059E-F94E64C06D13}"/>
          </ac:spMkLst>
        </pc:spChg>
        <pc:spChg chg="add mod">
          <ac:chgData name="Taylor Ilov" userId="S::taylor.ilov@cmsenergy.com::b3e8fa34-e639-4d12-a6dc-5e3032b39fb7" providerId="AD" clId="Web-{12801A1B-9A01-307E-74B6-158758913747}" dt="2026-05-26T02:47:27.229" v="1209" actId="14100"/>
          <ac:spMkLst>
            <pc:docMk/>
            <pc:sldMk cId="1251174216" sldId="304"/>
            <ac:spMk id="26" creationId="{C1533868-28D8-33EF-2F27-6EB635302062}"/>
          </ac:spMkLst>
        </pc:spChg>
        <pc:picChg chg="add mod modCrop">
          <ac:chgData name="Taylor Ilov" userId="S::taylor.ilov@cmsenergy.com::b3e8fa34-e639-4d12-a6dc-5e3032b39fb7" providerId="AD" clId="Web-{12801A1B-9A01-307E-74B6-158758913747}" dt="2026-05-26T02:42:04.250" v="1067" actId="1076"/>
          <ac:picMkLst>
            <pc:docMk/>
            <pc:sldMk cId="1251174216" sldId="304"/>
            <ac:picMk id="8" creationId="{F5AE0EE6-F0E3-238B-95DC-E026AF5DA7FC}"/>
          </ac:picMkLst>
        </pc:picChg>
        <pc:picChg chg="add mod modCrop">
          <ac:chgData name="Taylor Ilov" userId="S::taylor.ilov@cmsenergy.com::b3e8fa34-e639-4d12-a6dc-5e3032b39fb7" providerId="AD" clId="Web-{12801A1B-9A01-307E-74B6-158758913747}" dt="2026-05-26T02:42:44.705" v="1088" actId="1076"/>
          <ac:picMkLst>
            <pc:docMk/>
            <pc:sldMk cId="1251174216" sldId="304"/>
            <ac:picMk id="9" creationId="{160E2EDE-9088-537B-F2AB-AA97CBB100B4}"/>
          </ac:picMkLst>
        </pc:picChg>
        <pc:picChg chg="add mod modCrop">
          <ac:chgData name="Taylor Ilov" userId="S::taylor.ilov@cmsenergy.com::b3e8fa34-e639-4d12-a6dc-5e3032b39fb7" providerId="AD" clId="Web-{12801A1B-9A01-307E-74B6-158758913747}" dt="2026-05-26T02:42:54.595" v="1092" actId="1076"/>
          <ac:picMkLst>
            <pc:docMk/>
            <pc:sldMk cId="1251174216" sldId="304"/>
            <ac:picMk id="10" creationId="{6F7F1FDE-F022-A26C-9A30-EAB3792CA08E}"/>
          </ac:picMkLst>
        </pc:picChg>
        <pc:picChg chg="add mod modCrop">
          <ac:chgData name="Taylor Ilov" userId="S::taylor.ilov@cmsenergy.com::b3e8fa34-e639-4d12-a6dc-5e3032b39fb7" providerId="AD" clId="Web-{12801A1B-9A01-307E-74B6-158758913747}" dt="2026-05-26T02:42:56.783" v="1093" actId="1076"/>
          <ac:picMkLst>
            <pc:docMk/>
            <pc:sldMk cId="1251174216" sldId="304"/>
            <ac:picMk id="11" creationId="{5B5D842D-EE9D-4845-CA27-0DFC12F57C71}"/>
          </ac:picMkLst>
        </pc:picChg>
        <pc:picChg chg="add mod modCrop">
          <ac:chgData name="Taylor Ilov" userId="S::taylor.ilov@cmsenergy.com::b3e8fa34-e639-4d12-a6dc-5e3032b39fb7" providerId="AD" clId="Web-{12801A1B-9A01-307E-74B6-158758913747}" dt="2026-05-26T02:42:01.516" v="1065" actId="1076"/>
          <ac:picMkLst>
            <pc:docMk/>
            <pc:sldMk cId="1251174216" sldId="304"/>
            <ac:picMk id="12" creationId="{089EB6D2-5DA5-73DF-C744-2412B9F5DD6F}"/>
          </ac:picMkLst>
        </pc:picChg>
      </pc:sldChg>
      <pc:sldChg chg="modSp">
        <pc:chgData name="Taylor Ilov" userId="S::taylor.ilov@cmsenergy.com::b3e8fa34-e639-4d12-a6dc-5e3032b39fb7" providerId="AD" clId="Web-{12801A1B-9A01-307E-74B6-158758913747}" dt="2026-05-26T03:01:31.819" v="1549"/>
        <pc:sldMkLst>
          <pc:docMk/>
          <pc:sldMk cId="766455480" sldId="305"/>
        </pc:sldMkLst>
        <pc:spChg chg="mod">
          <ac:chgData name="Taylor Ilov" userId="S::taylor.ilov@cmsenergy.com::b3e8fa34-e639-4d12-a6dc-5e3032b39fb7" providerId="AD" clId="Web-{12801A1B-9A01-307E-74B6-158758913747}" dt="2026-05-26T03:01:22.678" v="1546"/>
          <ac:spMkLst>
            <pc:docMk/>
            <pc:sldMk cId="766455480" sldId="305"/>
            <ac:spMk id="2" creationId="{23EE98D2-301A-59DA-0F2A-3867A2480D9A}"/>
          </ac:spMkLst>
        </pc:spChg>
        <pc:picChg chg="mod">
          <ac:chgData name="Taylor Ilov" userId="S::taylor.ilov@cmsenergy.com::b3e8fa34-e639-4d12-a6dc-5e3032b39fb7" providerId="AD" clId="Web-{12801A1B-9A01-307E-74B6-158758913747}" dt="2026-05-26T03:01:29.600" v="1548" actId="14100"/>
          <ac:picMkLst>
            <pc:docMk/>
            <pc:sldMk cId="766455480" sldId="305"/>
            <ac:picMk id="4" creationId="{CD2EC8DE-77C2-556D-678E-0092231A36B0}"/>
          </ac:picMkLst>
        </pc:picChg>
      </pc:sldChg>
      <pc:sldChg chg="addSp modSp new mod modShow">
        <pc:chgData name="Taylor Ilov" userId="S::taylor.ilov@cmsenergy.com::b3e8fa34-e639-4d12-a6dc-5e3032b39fb7" providerId="AD" clId="Web-{12801A1B-9A01-307E-74B6-158758913747}" dt="2026-05-26T03:22:44.204" v="2366" actId="1076"/>
        <pc:sldMkLst>
          <pc:docMk/>
          <pc:sldMk cId="2539774287" sldId="306"/>
        </pc:sldMkLst>
        <pc:spChg chg="mod">
          <ac:chgData name="Taylor Ilov" userId="S::taylor.ilov@cmsenergy.com::b3e8fa34-e639-4d12-a6dc-5e3032b39fb7" providerId="AD" clId="Web-{12801A1B-9A01-307E-74B6-158758913747}" dt="2026-05-26T03:15:54.738" v="2314"/>
          <ac:spMkLst>
            <pc:docMk/>
            <pc:sldMk cId="2539774287" sldId="306"/>
            <ac:spMk id="2" creationId="{C7A3E312-ED38-9BD0-05F1-17902128B849}"/>
          </ac:spMkLst>
        </pc:spChg>
        <pc:spChg chg="mod">
          <ac:chgData name="Taylor Ilov" userId="S::taylor.ilov@cmsenergy.com::b3e8fa34-e639-4d12-a6dc-5e3032b39fb7" providerId="AD" clId="Web-{12801A1B-9A01-307E-74B6-158758913747}" dt="2026-05-26T03:15:52.378" v="2312" actId="20577"/>
          <ac:spMkLst>
            <pc:docMk/>
            <pc:sldMk cId="2539774287" sldId="306"/>
            <ac:spMk id="3" creationId="{468E1975-8BCB-38FB-8DA7-C4B8F16AABF0}"/>
          </ac:spMkLst>
        </pc:spChg>
        <pc:picChg chg="add mod">
          <ac:chgData name="Taylor Ilov" userId="S::taylor.ilov@cmsenergy.com::b3e8fa34-e639-4d12-a6dc-5e3032b39fb7" providerId="AD" clId="Web-{12801A1B-9A01-307E-74B6-158758913747}" dt="2026-05-26T03:16:02.410" v="2317" actId="14100"/>
          <ac:picMkLst>
            <pc:docMk/>
            <pc:sldMk cId="2539774287" sldId="306"/>
            <ac:picMk id="4" creationId="{33BAA93A-4E9B-427B-A753-855BCE668A21}"/>
          </ac:picMkLst>
        </pc:picChg>
        <pc:picChg chg="add mod">
          <ac:chgData name="Taylor Ilov" userId="S::taylor.ilov@cmsenergy.com::b3e8fa34-e639-4d12-a6dc-5e3032b39fb7" providerId="AD" clId="Web-{12801A1B-9A01-307E-74B6-158758913747}" dt="2026-05-26T03:22:44.204" v="2366" actId="1076"/>
          <ac:picMkLst>
            <pc:docMk/>
            <pc:sldMk cId="2539774287" sldId="306"/>
            <ac:picMk id="5" creationId="{A0D07F2D-F277-75E3-9A80-5AA90CBFFA1F}"/>
          </ac:picMkLst>
        </pc:picChg>
      </pc:sldChg>
    </pc:docChg>
  </pc:docChgLst>
  <pc:docChgLst>
    <pc:chgData name="DAWN M PETTENGILL" userId="6c3e7221-c014-41df-9963-eb44707bad46" providerId="ADAL" clId="{29FA3F86-359B-4B62-8DF6-5E1FAB534B2A}"/>
    <pc:docChg chg="custSel modSld">
      <pc:chgData name="DAWN M PETTENGILL" userId="6c3e7221-c014-41df-9963-eb44707bad46" providerId="ADAL" clId="{29FA3F86-359B-4B62-8DF6-5E1FAB534B2A}" dt="2026-06-25T15:50:50.664" v="998" actId="1076"/>
      <pc:docMkLst>
        <pc:docMk/>
      </pc:docMkLst>
      <pc:sldChg chg="modSp mod">
        <pc:chgData name="DAWN M PETTENGILL" userId="6c3e7221-c014-41df-9963-eb44707bad46" providerId="ADAL" clId="{29FA3F86-359B-4B62-8DF6-5E1FAB534B2A}" dt="2026-06-01T19:48:36.234" v="987" actId="20577"/>
        <pc:sldMkLst>
          <pc:docMk/>
          <pc:sldMk cId="2218206800" sldId="271"/>
        </pc:sldMkLst>
        <pc:graphicFrameChg chg="mod modGraphic">
          <ac:chgData name="DAWN M PETTENGILL" userId="6c3e7221-c014-41df-9963-eb44707bad46" providerId="ADAL" clId="{29FA3F86-359B-4B62-8DF6-5E1FAB534B2A}" dt="2026-06-01T19:48:36.234" v="987" actId="20577"/>
          <ac:graphicFrameMkLst>
            <pc:docMk/>
            <pc:sldMk cId="2218206800" sldId="271"/>
            <ac:graphicFrameMk id="8" creationId="{EBD8FAA2-4B6C-BC4B-328F-08ECDE8FD127}"/>
          </ac:graphicFrameMkLst>
        </pc:graphicFrameChg>
      </pc:sldChg>
      <pc:sldChg chg="modSp mod">
        <pc:chgData name="DAWN M PETTENGILL" userId="6c3e7221-c014-41df-9963-eb44707bad46" providerId="ADAL" clId="{29FA3F86-359B-4B62-8DF6-5E1FAB534B2A}" dt="2026-06-23T18:57:44.417" v="994" actId="1076"/>
        <pc:sldMkLst>
          <pc:docMk/>
          <pc:sldMk cId="3003837398" sldId="289"/>
        </pc:sldMkLst>
        <pc:picChg chg="mod">
          <ac:chgData name="DAWN M PETTENGILL" userId="6c3e7221-c014-41df-9963-eb44707bad46" providerId="ADAL" clId="{29FA3F86-359B-4B62-8DF6-5E1FAB534B2A}" dt="2026-06-23T18:57:44.417" v="994" actId="1076"/>
          <ac:picMkLst>
            <pc:docMk/>
            <pc:sldMk cId="3003837398" sldId="289"/>
            <ac:picMk id="4" creationId="{BADF1919-248A-009C-8CE8-DB259DCEDEBD}"/>
          </ac:picMkLst>
        </pc:picChg>
      </pc:sldChg>
      <pc:sldChg chg="modSp mod">
        <pc:chgData name="DAWN M PETTENGILL" userId="6c3e7221-c014-41df-9963-eb44707bad46" providerId="ADAL" clId="{29FA3F86-359B-4B62-8DF6-5E1FAB534B2A}" dt="2026-06-04T17:21:16.790" v="991" actId="1076"/>
        <pc:sldMkLst>
          <pc:docMk/>
          <pc:sldMk cId="1297719090" sldId="298"/>
        </pc:sldMkLst>
        <pc:picChg chg="mod">
          <ac:chgData name="DAWN M PETTENGILL" userId="6c3e7221-c014-41df-9963-eb44707bad46" providerId="ADAL" clId="{29FA3F86-359B-4B62-8DF6-5E1FAB534B2A}" dt="2026-06-04T17:21:16.790" v="991" actId="1076"/>
          <ac:picMkLst>
            <pc:docMk/>
            <pc:sldMk cId="1297719090" sldId="298"/>
            <ac:picMk id="6" creationId="{0C41574C-2DFB-1ED2-DA9C-8947FAD04C2A}"/>
          </ac:picMkLst>
        </pc:picChg>
      </pc:sldChg>
      <pc:sldChg chg="modSp mod">
        <pc:chgData name="DAWN M PETTENGILL" userId="6c3e7221-c014-41df-9963-eb44707bad46" providerId="ADAL" clId="{29FA3F86-359B-4B62-8DF6-5E1FAB534B2A}" dt="2026-06-25T15:50:50.664" v="998" actId="1076"/>
        <pc:sldMkLst>
          <pc:docMk/>
          <pc:sldMk cId="766455480" sldId="305"/>
        </pc:sldMkLst>
        <pc:picChg chg="mod">
          <ac:chgData name="DAWN M PETTENGILL" userId="6c3e7221-c014-41df-9963-eb44707bad46" providerId="ADAL" clId="{29FA3F86-359B-4B62-8DF6-5E1FAB534B2A}" dt="2026-06-25T15:50:50.664" v="998" actId="1076"/>
          <ac:picMkLst>
            <pc:docMk/>
            <pc:sldMk cId="766455480" sldId="305"/>
            <ac:picMk id="4" creationId="{CD2EC8DE-77C2-556D-678E-0092231A36B0}"/>
          </ac:picMkLst>
        </pc:picChg>
      </pc:sldChg>
      <pc:sldChg chg="modSp mod">
        <pc:chgData name="DAWN M PETTENGILL" userId="6c3e7221-c014-41df-9963-eb44707bad46" providerId="ADAL" clId="{29FA3F86-359B-4B62-8DF6-5E1FAB534B2A}" dt="2026-06-01T19:38:21.682" v="863" actId="14100"/>
        <pc:sldMkLst>
          <pc:docMk/>
          <pc:sldMk cId="67856684" sldId="317"/>
        </pc:sldMkLst>
        <pc:graphicFrameChg chg="mod modGraphic">
          <ac:chgData name="DAWN M PETTENGILL" userId="6c3e7221-c014-41df-9963-eb44707bad46" providerId="ADAL" clId="{29FA3F86-359B-4B62-8DF6-5E1FAB534B2A}" dt="2026-06-01T19:38:21.682" v="863" actId="14100"/>
          <ac:graphicFrameMkLst>
            <pc:docMk/>
            <pc:sldMk cId="67856684" sldId="317"/>
            <ac:graphicFrameMk id="8" creationId="{9BEA02E7-1985-B3EF-410E-1BE82D25E3A6}"/>
          </ac:graphicFrameMkLst>
        </pc:graphicFrameChg>
      </pc:sldChg>
    </pc:docChg>
  </pc:docChgLst>
  <pc:docChgLst>
    <pc:chgData name="Jose Diaz" userId="S::jose.diaz@cmsenergy.com::517cb5ef-6fb8-49bc-8303-535c95eee28f" providerId="AD" clId="Web-{89B7CE78-EFDF-AC00-4247-CBD46651E88A}"/>
    <pc:docChg chg="addSld modSld sldOrd modSection">
      <pc:chgData name="Jose Diaz" userId="S::jose.diaz@cmsenergy.com::517cb5ef-6fb8-49bc-8303-535c95eee28f" providerId="AD" clId="Web-{89B7CE78-EFDF-AC00-4247-CBD46651E88A}" dt="2026-05-28T15:54:59.605" v="3341"/>
      <pc:docMkLst>
        <pc:docMk/>
      </pc:docMkLst>
      <pc:sldChg chg="modSp">
        <pc:chgData name="Jose Diaz" userId="S::jose.diaz@cmsenergy.com::517cb5ef-6fb8-49bc-8303-535c95eee28f" providerId="AD" clId="Web-{89B7CE78-EFDF-AC00-4247-CBD46651E88A}" dt="2026-05-28T15:54:59.605" v="3341"/>
        <pc:sldMkLst>
          <pc:docMk/>
          <pc:sldMk cId="2218206800" sldId="271"/>
        </pc:sldMkLst>
        <pc:graphicFrameChg chg="mod modGraphic">
          <ac:chgData name="Jose Diaz" userId="S::jose.diaz@cmsenergy.com::517cb5ef-6fb8-49bc-8303-535c95eee28f" providerId="AD" clId="Web-{89B7CE78-EFDF-AC00-4247-CBD46651E88A}" dt="2026-05-28T15:54:59.605" v="3341"/>
          <ac:graphicFrameMkLst>
            <pc:docMk/>
            <pc:sldMk cId="2218206800" sldId="271"/>
            <ac:graphicFrameMk id="8" creationId="{EBD8FAA2-4B6C-BC4B-328F-08ECDE8FD127}"/>
          </ac:graphicFrameMkLst>
        </pc:graphicFrameChg>
      </pc:sldChg>
      <pc:sldChg chg="mod modShow">
        <pc:chgData name="Jose Diaz" userId="S::jose.diaz@cmsenergy.com::517cb5ef-6fb8-49bc-8303-535c95eee28f" providerId="AD" clId="Web-{89B7CE78-EFDF-AC00-4247-CBD46651E88A}" dt="2026-05-28T12:09:30.252" v="1096"/>
        <pc:sldMkLst>
          <pc:docMk/>
          <pc:sldMk cId="391861285" sldId="275"/>
        </pc:sldMkLst>
      </pc:sldChg>
      <pc:sldChg chg="mod modShow">
        <pc:chgData name="Jose Diaz" userId="S::jose.diaz@cmsenergy.com::517cb5ef-6fb8-49bc-8303-535c95eee28f" providerId="AD" clId="Web-{89B7CE78-EFDF-AC00-4247-CBD46651E88A}" dt="2026-05-28T12:09:10.189" v="1094"/>
        <pc:sldMkLst>
          <pc:docMk/>
          <pc:sldMk cId="1929058891" sldId="277"/>
        </pc:sldMkLst>
      </pc:sldChg>
      <pc:sldChg chg="mod modShow">
        <pc:chgData name="Jose Diaz" userId="S::jose.diaz@cmsenergy.com::517cb5ef-6fb8-49bc-8303-535c95eee28f" providerId="AD" clId="Web-{89B7CE78-EFDF-AC00-4247-CBD46651E88A}" dt="2026-05-28T12:09:20.376" v="1095"/>
        <pc:sldMkLst>
          <pc:docMk/>
          <pc:sldMk cId="971777237" sldId="279"/>
        </pc:sldMkLst>
      </pc:sldChg>
      <pc:sldChg chg="addSp delSp modSp add ord replId">
        <pc:chgData name="Jose Diaz" userId="S::jose.diaz@cmsenergy.com::517cb5ef-6fb8-49bc-8303-535c95eee28f" providerId="AD" clId="Web-{89B7CE78-EFDF-AC00-4247-CBD46651E88A}" dt="2026-05-28T11:17:27.518" v="970"/>
        <pc:sldMkLst>
          <pc:docMk/>
          <pc:sldMk cId="3206312030" sldId="280"/>
        </pc:sldMkLst>
        <pc:spChg chg="mod">
          <ac:chgData name="Jose Diaz" userId="S::jose.diaz@cmsenergy.com::517cb5ef-6fb8-49bc-8303-535c95eee28f" providerId="AD" clId="Web-{89B7CE78-EFDF-AC00-4247-CBD46651E88A}" dt="2026-05-28T10:49:22.792" v="438" actId="1076"/>
          <ac:spMkLst>
            <pc:docMk/>
            <pc:sldMk cId="3206312030" sldId="280"/>
            <ac:spMk id="2" creationId="{CBC136D9-B8E0-4331-6EB6-FBA2237E434A}"/>
          </ac:spMkLst>
        </pc:spChg>
        <pc:spChg chg="mod">
          <ac:chgData name="Jose Diaz" userId="S::jose.diaz@cmsenergy.com::517cb5ef-6fb8-49bc-8303-535c95eee28f" providerId="AD" clId="Web-{89B7CE78-EFDF-AC00-4247-CBD46651E88A}" dt="2026-05-28T11:17:27.518" v="970"/>
          <ac:spMkLst>
            <pc:docMk/>
            <pc:sldMk cId="3206312030" sldId="280"/>
            <ac:spMk id="3" creationId="{EE3BADCC-FCBA-5393-BAD6-A4274DAAD326}"/>
          </ac:spMkLst>
        </pc:spChg>
        <pc:picChg chg="add mod">
          <ac:chgData name="Jose Diaz" userId="S::jose.diaz@cmsenergy.com::517cb5ef-6fb8-49bc-8303-535c95eee28f" providerId="AD" clId="Web-{89B7CE78-EFDF-AC00-4247-CBD46651E88A}" dt="2026-05-28T10:49:04.883" v="434" actId="1076"/>
          <ac:picMkLst>
            <pc:docMk/>
            <pc:sldMk cId="3206312030" sldId="280"/>
            <ac:picMk id="5" creationId="{B019AEBF-65D0-592B-F4CA-8DAD15B9BD20}"/>
          </ac:picMkLst>
        </pc:picChg>
      </pc:sldChg>
      <pc:sldChg chg="modSp">
        <pc:chgData name="Jose Diaz" userId="S::jose.diaz@cmsenergy.com::517cb5ef-6fb8-49bc-8303-535c95eee28f" providerId="AD" clId="Web-{89B7CE78-EFDF-AC00-4247-CBD46651E88A}" dt="2026-05-28T09:23:30.561" v="82" actId="1076"/>
        <pc:sldMkLst>
          <pc:docMk/>
          <pc:sldMk cId="4227511731" sldId="286"/>
        </pc:sldMkLst>
        <pc:picChg chg="mod">
          <ac:chgData name="Jose Diaz" userId="S::jose.diaz@cmsenergy.com::517cb5ef-6fb8-49bc-8303-535c95eee28f" providerId="AD" clId="Web-{89B7CE78-EFDF-AC00-4247-CBD46651E88A}" dt="2026-05-28T09:23:23.842" v="81" actId="1076"/>
          <ac:picMkLst>
            <pc:docMk/>
            <pc:sldMk cId="4227511731" sldId="286"/>
            <ac:picMk id="7" creationId="{EA9035A2-0DCF-FD2B-AA1E-6E21A8ED60EF}"/>
          </ac:picMkLst>
        </pc:picChg>
        <pc:picChg chg="mod">
          <ac:chgData name="Jose Diaz" userId="S::jose.diaz@cmsenergy.com::517cb5ef-6fb8-49bc-8303-535c95eee28f" providerId="AD" clId="Web-{89B7CE78-EFDF-AC00-4247-CBD46651E88A}" dt="2026-05-28T09:23:30.561" v="82" actId="1076"/>
          <ac:picMkLst>
            <pc:docMk/>
            <pc:sldMk cId="4227511731" sldId="286"/>
            <ac:picMk id="8" creationId="{74777D69-FFDF-324D-8836-35D0F87C98EA}"/>
          </ac:picMkLst>
        </pc:picChg>
      </pc:sldChg>
      <pc:sldChg chg="modSp">
        <pc:chgData name="Jose Diaz" userId="S::jose.diaz@cmsenergy.com::517cb5ef-6fb8-49bc-8303-535c95eee28f" providerId="AD" clId="Web-{89B7CE78-EFDF-AC00-4247-CBD46651E88A}" dt="2026-05-28T09:36:26.009" v="242" actId="1076"/>
        <pc:sldMkLst>
          <pc:docMk/>
          <pc:sldMk cId="1249598883" sldId="288"/>
        </pc:sldMkLst>
        <pc:spChg chg="mod">
          <ac:chgData name="Jose Diaz" userId="S::jose.diaz@cmsenergy.com::517cb5ef-6fb8-49bc-8303-535c95eee28f" providerId="AD" clId="Web-{89B7CE78-EFDF-AC00-4247-CBD46651E88A}" dt="2026-05-28T09:36:26.009" v="242" actId="1076"/>
          <ac:spMkLst>
            <pc:docMk/>
            <pc:sldMk cId="1249598883" sldId="288"/>
            <ac:spMk id="6" creationId="{C4BC3AF3-02AE-6C70-4F5D-DA48A2E2878A}"/>
          </ac:spMkLst>
        </pc:spChg>
      </pc:sldChg>
      <pc:sldChg chg="modSp">
        <pc:chgData name="Jose Diaz" userId="S::jose.diaz@cmsenergy.com::517cb5ef-6fb8-49bc-8303-535c95eee28f" providerId="AD" clId="Web-{89B7CE78-EFDF-AC00-4247-CBD46651E88A}" dt="2026-05-28T10:29:57.086" v="247" actId="20577"/>
        <pc:sldMkLst>
          <pc:docMk/>
          <pc:sldMk cId="1297719090" sldId="298"/>
        </pc:sldMkLst>
        <pc:spChg chg="mod">
          <ac:chgData name="Jose Diaz" userId="S::jose.diaz@cmsenergy.com::517cb5ef-6fb8-49bc-8303-535c95eee28f" providerId="AD" clId="Web-{89B7CE78-EFDF-AC00-4247-CBD46651E88A}" dt="2026-05-28T10:29:57.086" v="247" actId="20577"/>
          <ac:spMkLst>
            <pc:docMk/>
            <pc:sldMk cId="1297719090" sldId="298"/>
            <ac:spMk id="2" creationId="{AF672614-010A-D48D-F3C5-754B9309A3F5}"/>
          </ac:spMkLst>
        </pc:spChg>
      </pc:sldChg>
      <pc:sldChg chg="mod modShow">
        <pc:chgData name="Jose Diaz" userId="S::jose.diaz@cmsenergy.com::517cb5ef-6fb8-49bc-8303-535c95eee28f" providerId="AD" clId="Web-{89B7CE78-EFDF-AC00-4247-CBD46651E88A}" dt="2026-05-28T12:55:27.320" v="2995"/>
        <pc:sldMkLst>
          <pc:docMk/>
          <pc:sldMk cId="92841794" sldId="301"/>
        </pc:sldMkLst>
      </pc:sldChg>
      <pc:sldChg chg="mod modShow">
        <pc:chgData name="Jose Diaz" userId="S::jose.diaz@cmsenergy.com::517cb5ef-6fb8-49bc-8303-535c95eee28f" providerId="AD" clId="Web-{89B7CE78-EFDF-AC00-4247-CBD46651E88A}" dt="2026-05-28T12:55:29.744" v="2996"/>
        <pc:sldMkLst>
          <pc:docMk/>
          <pc:sldMk cId="3468837816" sldId="302"/>
        </pc:sldMkLst>
      </pc:sldChg>
      <pc:sldChg chg="mod modShow">
        <pc:chgData name="Jose Diaz" userId="S::jose.diaz@cmsenergy.com::517cb5ef-6fb8-49bc-8303-535c95eee28f" providerId="AD" clId="Web-{89B7CE78-EFDF-AC00-4247-CBD46651E88A}" dt="2026-05-28T12:55:33.930" v="2997"/>
        <pc:sldMkLst>
          <pc:docMk/>
          <pc:sldMk cId="4145929006" sldId="303"/>
        </pc:sldMkLst>
      </pc:sldChg>
      <pc:sldChg chg="modSp">
        <pc:chgData name="Jose Diaz" userId="S::jose.diaz@cmsenergy.com::517cb5ef-6fb8-49bc-8303-535c95eee28f" providerId="AD" clId="Web-{89B7CE78-EFDF-AC00-4247-CBD46651E88A}" dt="2026-05-28T09:37:21.745" v="245" actId="1076"/>
        <pc:sldMkLst>
          <pc:docMk/>
          <pc:sldMk cId="3362251580" sldId="307"/>
        </pc:sldMkLst>
        <pc:spChg chg="mod">
          <ac:chgData name="Jose Diaz" userId="S::jose.diaz@cmsenergy.com::517cb5ef-6fb8-49bc-8303-535c95eee28f" providerId="AD" clId="Web-{89B7CE78-EFDF-AC00-4247-CBD46651E88A}" dt="2026-05-28T09:37:10.088" v="244" actId="14100"/>
          <ac:spMkLst>
            <pc:docMk/>
            <pc:sldMk cId="3362251580" sldId="307"/>
            <ac:spMk id="2" creationId="{B7C6A15A-8637-FC17-DABA-51FADFD321FD}"/>
          </ac:spMkLst>
        </pc:spChg>
        <pc:picChg chg="mod">
          <ac:chgData name="Jose Diaz" userId="S::jose.diaz@cmsenergy.com::517cb5ef-6fb8-49bc-8303-535c95eee28f" providerId="AD" clId="Web-{89B7CE78-EFDF-AC00-4247-CBD46651E88A}" dt="2026-05-28T09:37:21.745" v="245" actId="1076"/>
          <ac:picMkLst>
            <pc:docMk/>
            <pc:sldMk cId="3362251580" sldId="307"/>
            <ac:picMk id="5" creationId="{3F65486E-A456-4510-2C14-923A13719E4B}"/>
          </ac:picMkLst>
        </pc:picChg>
      </pc:sldChg>
      <pc:sldChg chg="modSp">
        <pc:chgData name="Jose Diaz" userId="S::jose.diaz@cmsenergy.com::517cb5ef-6fb8-49bc-8303-535c95eee28f" providerId="AD" clId="Web-{89B7CE78-EFDF-AC00-4247-CBD46651E88A}" dt="2026-05-28T11:16:47.782" v="961" actId="20577"/>
        <pc:sldMkLst>
          <pc:docMk/>
          <pc:sldMk cId="2800410501" sldId="308"/>
        </pc:sldMkLst>
        <pc:spChg chg="mod">
          <ac:chgData name="Jose Diaz" userId="S::jose.diaz@cmsenergy.com::517cb5ef-6fb8-49bc-8303-535c95eee28f" providerId="AD" clId="Web-{89B7CE78-EFDF-AC00-4247-CBD46651E88A}" dt="2026-05-28T11:16:47.782" v="961" actId="20577"/>
          <ac:spMkLst>
            <pc:docMk/>
            <pc:sldMk cId="2800410501" sldId="308"/>
            <ac:spMk id="3" creationId="{0795D2BE-AA1A-DF86-983B-33AC5CDCCCEC}"/>
          </ac:spMkLst>
        </pc:spChg>
      </pc:sldChg>
      <pc:sldChg chg="modSp">
        <pc:chgData name="Jose Diaz" userId="S::jose.diaz@cmsenergy.com::517cb5ef-6fb8-49bc-8303-535c95eee28f" providerId="AD" clId="Web-{89B7CE78-EFDF-AC00-4247-CBD46651E88A}" dt="2026-05-28T11:03:45.683" v="791" actId="14100"/>
        <pc:sldMkLst>
          <pc:docMk/>
          <pc:sldMk cId="2638468699" sldId="311"/>
        </pc:sldMkLst>
        <pc:spChg chg="mod">
          <ac:chgData name="Jose Diaz" userId="S::jose.diaz@cmsenergy.com::517cb5ef-6fb8-49bc-8303-535c95eee28f" providerId="AD" clId="Web-{89B7CE78-EFDF-AC00-4247-CBD46651E88A}" dt="2026-05-28T11:03:37.323" v="788" actId="20577"/>
          <ac:spMkLst>
            <pc:docMk/>
            <pc:sldMk cId="2638468699" sldId="311"/>
            <ac:spMk id="8" creationId="{092A0269-BC71-D584-5F17-77D4B7BE045B}"/>
          </ac:spMkLst>
        </pc:spChg>
        <pc:spChg chg="mod">
          <ac:chgData name="Jose Diaz" userId="S::jose.diaz@cmsenergy.com::517cb5ef-6fb8-49bc-8303-535c95eee28f" providerId="AD" clId="Web-{89B7CE78-EFDF-AC00-4247-CBD46651E88A}" dt="2026-05-28T11:03:45.683" v="791" actId="14100"/>
          <ac:spMkLst>
            <pc:docMk/>
            <pc:sldMk cId="2638468699" sldId="311"/>
            <ac:spMk id="10" creationId="{0F5C9C9E-9901-5CE6-A9BE-E4FA8067EC26}"/>
          </ac:spMkLst>
        </pc:spChg>
      </pc:sldChg>
      <pc:sldChg chg="addSp delSp modSp add ord replId">
        <pc:chgData name="Jose Diaz" userId="S::jose.diaz@cmsenergy.com::517cb5ef-6fb8-49bc-8303-535c95eee28f" providerId="AD" clId="Web-{89B7CE78-EFDF-AC00-4247-CBD46651E88A}" dt="2026-05-28T11:03:23.260" v="785" actId="1076"/>
        <pc:sldMkLst>
          <pc:docMk/>
          <pc:sldMk cId="2818025253" sldId="314"/>
        </pc:sldMkLst>
        <pc:spChg chg="mod">
          <ac:chgData name="Jose Diaz" userId="S::jose.diaz@cmsenergy.com::517cb5ef-6fb8-49bc-8303-535c95eee28f" providerId="AD" clId="Web-{89B7CE78-EFDF-AC00-4247-CBD46651E88A}" dt="2026-05-28T10:49:57.075" v="452" actId="20577"/>
          <ac:spMkLst>
            <pc:docMk/>
            <pc:sldMk cId="2818025253" sldId="314"/>
            <ac:spMk id="3" creationId="{16D75128-84D1-A1A6-9579-96AF365D1BEF}"/>
          </ac:spMkLst>
        </pc:spChg>
        <pc:spChg chg="mod">
          <ac:chgData name="Jose Diaz" userId="S::jose.diaz@cmsenergy.com::517cb5ef-6fb8-49bc-8303-535c95eee28f" providerId="AD" clId="Web-{89B7CE78-EFDF-AC00-4247-CBD46651E88A}" dt="2026-05-28T11:03:23.260" v="785" actId="1076"/>
          <ac:spMkLst>
            <pc:docMk/>
            <pc:sldMk cId="2818025253" sldId="314"/>
            <ac:spMk id="8" creationId="{7A9DFE6C-531E-9291-05E6-AD31A3A34A34}"/>
          </ac:spMkLst>
        </pc:spChg>
        <pc:picChg chg="add mod">
          <ac:chgData name="Jose Diaz" userId="S::jose.diaz@cmsenergy.com::517cb5ef-6fb8-49bc-8303-535c95eee28f" providerId="AD" clId="Web-{89B7CE78-EFDF-AC00-4247-CBD46651E88A}" dt="2026-05-28T10:50:38.795" v="460" actId="1076"/>
          <ac:picMkLst>
            <pc:docMk/>
            <pc:sldMk cId="2818025253" sldId="314"/>
            <ac:picMk id="5" creationId="{FEA6CA73-5E82-6956-D9FA-665839A98B2F}"/>
          </ac:picMkLst>
        </pc:picChg>
      </pc:sldChg>
      <pc:sldChg chg="addSp delSp modSp add ord replId">
        <pc:chgData name="Jose Diaz" userId="S::jose.diaz@cmsenergy.com::517cb5ef-6fb8-49bc-8303-535c95eee28f" providerId="AD" clId="Web-{89B7CE78-EFDF-AC00-4247-CBD46651E88A}" dt="2026-05-28T11:22:36.857" v="973" actId="20577"/>
        <pc:sldMkLst>
          <pc:docMk/>
          <pc:sldMk cId="2431794680" sldId="315"/>
        </pc:sldMkLst>
        <pc:spChg chg="mod">
          <ac:chgData name="Jose Diaz" userId="S::jose.diaz@cmsenergy.com::517cb5ef-6fb8-49bc-8303-535c95eee28f" providerId="AD" clId="Web-{89B7CE78-EFDF-AC00-4247-CBD46651E88A}" dt="2026-05-28T11:16:34.454" v="958" actId="1076"/>
          <ac:spMkLst>
            <pc:docMk/>
            <pc:sldMk cId="2431794680" sldId="315"/>
            <ac:spMk id="2" creationId="{D32A6EEC-6F4D-39E8-00CD-2104BCCDB3B8}"/>
          </ac:spMkLst>
        </pc:spChg>
        <pc:spChg chg="mod">
          <ac:chgData name="Jose Diaz" userId="S::jose.diaz@cmsenergy.com::517cb5ef-6fb8-49bc-8303-535c95eee28f" providerId="AD" clId="Web-{89B7CE78-EFDF-AC00-4247-CBD46651E88A}" dt="2026-05-28T11:22:36.857" v="973" actId="20577"/>
          <ac:spMkLst>
            <pc:docMk/>
            <pc:sldMk cId="2431794680" sldId="315"/>
            <ac:spMk id="3" creationId="{5513D9FF-551F-4B77-6F76-652A2D376F8C}"/>
          </ac:spMkLst>
        </pc:spChg>
        <pc:picChg chg="add mod">
          <ac:chgData name="Jose Diaz" userId="S::jose.diaz@cmsenergy.com::517cb5ef-6fb8-49bc-8303-535c95eee28f" providerId="AD" clId="Web-{89B7CE78-EFDF-AC00-4247-CBD46651E88A}" dt="2026-05-28T11:16:26.016" v="957" actId="1076"/>
          <ac:picMkLst>
            <pc:docMk/>
            <pc:sldMk cId="2431794680" sldId="315"/>
            <ac:picMk id="5" creationId="{5D7E6097-4C50-261B-1227-5228AD142A35}"/>
          </ac:picMkLst>
        </pc:picChg>
      </pc:sldChg>
      <pc:sldChg chg="addSp delSp modSp add ord replId">
        <pc:chgData name="Jose Diaz" userId="S::jose.diaz@cmsenergy.com::517cb5ef-6fb8-49bc-8303-535c95eee28f" providerId="AD" clId="Web-{89B7CE78-EFDF-AC00-4247-CBD46651E88A}" dt="2026-05-28T11:26:00.383" v="1092" actId="1076"/>
        <pc:sldMkLst>
          <pc:docMk/>
          <pc:sldMk cId="3255136881" sldId="316"/>
        </pc:sldMkLst>
        <pc:spChg chg="mod">
          <ac:chgData name="Jose Diaz" userId="S::jose.diaz@cmsenergy.com::517cb5ef-6fb8-49bc-8303-535c95eee28f" providerId="AD" clId="Web-{89B7CE78-EFDF-AC00-4247-CBD46651E88A}" dt="2026-05-28T11:25:53.008" v="1091" actId="14100"/>
          <ac:spMkLst>
            <pc:docMk/>
            <pc:sldMk cId="3255136881" sldId="316"/>
            <ac:spMk id="2" creationId="{64A74CED-1A33-46CF-0DDD-6AC91E934F58}"/>
          </ac:spMkLst>
        </pc:spChg>
        <pc:spChg chg="mod">
          <ac:chgData name="Jose Diaz" userId="S::jose.diaz@cmsenergy.com::517cb5ef-6fb8-49bc-8303-535c95eee28f" providerId="AD" clId="Web-{89B7CE78-EFDF-AC00-4247-CBD46651E88A}" dt="2026-05-28T11:22:53.764" v="979" actId="20577"/>
          <ac:spMkLst>
            <pc:docMk/>
            <pc:sldMk cId="3255136881" sldId="316"/>
            <ac:spMk id="3" creationId="{96B90B33-4BBF-72F8-01A9-4552B68A0C36}"/>
          </ac:spMkLst>
        </pc:spChg>
        <pc:picChg chg="add mod">
          <ac:chgData name="Jose Diaz" userId="S::jose.diaz@cmsenergy.com::517cb5ef-6fb8-49bc-8303-535c95eee28f" providerId="AD" clId="Web-{89B7CE78-EFDF-AC00-4247-CBD46651E88A}" dt="2026-05-28T11:26:00.383" v="1092" actId="1076"/>
          <ac:picMkLst>
            <pc:docMk/>
            <pc:sldMk cId="3255136881" sldId="316"/>
            <ac:picMk id="4" creationId="{FC01870F-1945-7350-F246-0AC6F509FDE0}"/>
          </ac:picMkLst>
        </pc:picChg>
      </pc:sldChg>
      <pc:sldChg chg="modSp add replId">
        <pc:chgData name="Jose Diaz" userId="S::jose.diaz@cmsenergy.com::517cb5ef-6fb8-49bc-8303-535c95eee28f" providerId="AD" clId="Web-{89B7CE78-EFDF-AC00-4247-CBD46651E88A}" dt="2026-05-28T15:02:42.083" v="3177"/>
        <pc:sldMkLst>
          <pc:docMk/>
          <pc:sldMk cId="67856684" sldId="317"/>
        </pc:sldMkLst>
        <pc:graphicFrameChg chg="mod modGraphic">
          <ac:chgData name="Jose Diaz" userId="S::jose.diaz@cmsenergy.com::517cb5ef-6fb8-49bc-8303-535c95eee28f" providerId="AD" clId="Web-{89B7CE78-EFDF-AC00-4247-CBD46651E88A}" dt="2026-05-28T15:02:42.083" v="3177"/>
          <ac:graphicFrameMkLst>
            <pc:docMk/>
            <pc:sldMk cId="67856684" sldId="317"/>
            <ac:graphicFrameMk id="8" creationId="{9BEA02E7-1985-B3EF-410E-1BE82D25E3A6}"/>
          </ac:graphicFrameMkLst>
        </pc:graphicFrameChg>
      </pc:sldChg>
      <pc:sldChg chg="modSp ord">
        <pc:chgData name="Jose Diaz" userId="S::jose.diaz@cmsenergy.com::517cb5ef-6fb8-49bc-8303-535c95eee28f" providerId="AD" clId="Web-{89B7CE78-EFDF-AC00-4247-CBD46651E88A}" dt="2026-05-28T12:09:06.329" v="1093"/>
        <pc:sldMkLst>
          <pc:docMk/>
          <pc:sldMk cId="1929058891" sldId="2147483639"/>
        </pc:sldMkLst>
        <pc:spChg chg="mod">
          <ac:chgData name="Jose Diaz" userId="S::jose.diaz@cmsenergy.com::517cb5ef-6fb8-49bc-8303-535c95eee28f" providerId="AD" clId="Web-{89B7CE78-EFDF-AC00-4247-CBD46651E88A}" dt="2026-05-28T09:22:07.011" v="80" actId="20577"/>
          <ac:spMkLst>
            <pc:docMk/>
            <pc:sldMk cId="1929058891" sldId="2147483639"/>
            <ac:spMk id="4" creationId="{C736A9F5-6FA5-6E90-4540-7E81EB75C05C}"/>
          </ac:spMkLst>
        </pc:spChg>
      </pc:sldChg>
      <pc:sldChg chg="modSp">
        <pc:chgData name="Jose Diaz" userId="S::jose.diaz@cmsenergy.com::517cb5ef-6fb8-49bc-8303-535c95eee28f" providerId="AD" clId="Web-{89B7CE78-EFDF-AC00-4247-CBD46651E88A}" dt="2026-05-28T12:10:12.316" v="1129" actId="20577"/>
        <pc:sldMkLst>
          <pc:docMk/>
          <pc:sldMk cId="2545389575" sldId="2147483641"/>
        </pc:sldMkLst>
        <pc:spChg chg="mod">
          <ac:chgData name="Jose Diaz" userId="S::jose.diaz@cmsenergy.com::517cb5ef-6fb8-49bc-8303-535c95eee28f" providerId="AD" clId="Web-{89B7CE78-EFDF-AC00-4247-CBD46651E88A}" dt="2026-05-28T12:10:12.316" v="1129" actId="20577"/>
          <ac:spMkLst>
            <pc:docMk/>
            <pc:sldMk cId="2545389575" sldId="2147483641"/>
            <ac:spMk id="4" creationId="{5B50B024-5B2C-73D1-0F65-38C1CBB14B5B}"/>
          </ac:spMkLst>
        </pc:spChg>
      </pc:sldChg>
    </pc:docChg>
  </pc:docChgLst>
  <pc:docChgLst>
    <pc:chgData name="Taylor Ilov" userId="S::taylor.ilov@cmsenergy.com::b3e8fa34-e639-4d12-a6dc-5e3032b39fb7" providerId="AD" clId="Web-{1C51F50A-3CF9-6055-4630-053E7E0CC262}"/>
    <pc:docChg chg="modSld">
      <pc:chgData name="Taylor Ilov" userId="S::taylor.ilov@cmsenergy.com::b3e8fa34-e639-4d12-a6dc-5e3032b39fb7" providerId="AD" clId="Web-{1C51F50A-3CF9-6055-4630-053E7E0CC262}" dt="2026-05-28T15:30:59.019" v="1"/>
      <pc:docMkLst>
        <pc:docMk/>
      </pc:docMkLst>
      <pc:sldChg chg="delSp">
        <pc:chgData name="Taylor Ilov" userId="S::taylor.ilov@cmsenergy.com::b3e8fa34-e639-4d12-a6dc-5e3032b39fb7" providerId="AD" clId="Web-{1C51F50A-3CF9-6055-4630-053E7E0CC262}" dt="2026-05-28T15:30:54.128" v="0"/>
        <pc:sldMkLst>
          <pc:docMk/>
          <pc:sldMk cId="2218206800" sldId="271"/>
        </pc:sldMkLst>
      </pc:sldChg>
      <pc:sldChg chg="delSp">
        <pc:chgData name="Taylor Ilov" userId="S::taylor.ilov@cmsenergy.com::b3e8fa34-e639-4d12-a6dc-5e3032b39fb7" providerId="AD" clId="Web-{1C51F50A-3CF9-6055-4630-053E7E0CC262}" dt="2026-05-28T15:30:59.019" v="1"/>
        <pc:sldMkLst>
          <pc:docMk/>
          <pc:sldMk cId="67856684" sldId="317"/>
        </pc:sldMkLst>
      </pc:sldChg>
    </pc:docChg>
  </pc:docChgLst>
  <pc:docChgLst>
    <pc:chgData name="Jose Diaz" userId="S::jose.diaz@cmsenergy.com::517cb5ef-6fb8-49bc-8303-535c95eee28f" providerId="AD" clId="Web-{8291CF0C-5E07-F472-50C7-9CDE549AE850}"/>
    <pc:docChg chg="addSld modSld sldOrd modSection">
      <pc:chgData name="Jose Diaz" userId="S::jose.diaz@cmsenergy.com::517cb5ef-6fb8-49bc-8303-535c95eee28f" providerId="AD" clId="Web-{8291CF0C-5E07-F472-50C7-9CDE549AE850}" dt="2026-05-26T12:28:22.565" v="259" actId="20577"/>
      <pc:docMkLst>
        <pc:docMk/>
      </pc:docMkLst>
      <pc:sldChg chg="modSp">
        <pc:chgData name="Jose Diaz" userId="S::jose.diaz@cmsenergy.com::517cb5ef-6fb8-49bc-8303-535c95eee28f" providerId="AD" clId="Web-{8291CF0C-5E07-F472-50C7-9CDE549AE850}" dt="2026-05-26T12:28:22.565" v="259" actId="20577"/>
        <pc:sldMkLst>
          <pc:docMk/>
          <pc:sldMk cId="1929058891" sldId="277"/>
        </pc:sldMkLst>
        <pc:spChg chg="mod">
          <ac:chgData name="Jose Diaz" userId="S::jose.diaz@cmsenergy.com::517cb5ef-6fb8-49bc-8303-535c95eee28f" providerId="AD" clId="Web-{8291CF0C-5E07-F472-50C7-9CDE549AE850}" dt="2026-05-26T12:28:22.565" v="259" actId="20577"/>
          <ac:spMkLst>
            <pc:docMk/>
            <pc:sldMk cId="1929058891" sldId="277"/>
            <ac:spMk id="4" creationId="{C736A9F5-6FA5-6E90-4540-7E81EB75C05C}"/>
          </ac:spMkLst>
        </pc:spChg>
      </pc:sldChg>
      <pc:sldChg chg="modSp">
        <pc:chgData name="Jose Diaz" userId="S::jose.diaz@cmsenergy.com::517cb5ef-6fb8-49bc-8303-535c95eee28f" providerId="AD" clId="Web-{8291CF0C-5E07-F472-50C7-9CDE549AE850}" dt="2026-05-26T12:04:35.954" v="84" actId="20577"/>
        <pc:sldMkLst>
          <pc:docMk/>
          <pc:sldMk cId="3963704981" sldId="290"/>
        </pc:sldMkLst>
        <pc:spChg chg="mod">
          <ac:chgData name="Jose Diaz" userId="S::jose.diaz@cmsenergy.com::517cb5ef-6fb8-49bc-8303-535c95eee28f" providerId="AD" clId="Web-{8291CF0C-5E07-F472-50C7-9CDE549AE850}" dt="2026-05-26T12:03:41.938" v="69" actId="1076"/>
          <ac:spMkLst>
            <pc:docMk/>
            <pc:sldMk cId="3963704981" sldId="290"/>
            <ac:spMk id="4" creationId="{B4B6D6C5-4256-6144-5BDA-658A1A0CC18C}"/>
          </ac:spMkLst>
        </pc:spChg>
        <pc:spChg chg="mod">
          <ac:chgData name="Jose Diaz" userId="S::jose.diaz@cmsenergy.com::517cb5ef-6fb8-49bc-8303-535c95eee28f" providerId="AD" clId="Web-{8291CF0C-5E07-F472-50C7-9CDE549AE850}" dt="2026-05-26T12:01:05.985" v="67" actId="1076"/>
          <ac:spMkLst>
            <pc:docMk/>
            <pc:sldMk cId="3963704981" sldId="290"/>
            <ac:spMk id="5" creationId="{CD571BC4-2B1C-64DD-0DF6-A520F8D9AA42}"/>
          </ac:spMkLst>
        </pc:spChg>
        <pc:spChg chg="mod">
          <ac:chgData name="Jose Diaz" userId="S::jose.diaz@cmsenergy.com::517cb5ef-6fb8-49bc-8303-535c95eee28f" providerId="AD" clId="Web-{8291CF0C-5E07-F472-50C7-9CDE549AE850}" dt="2026-05-26T12:04:35.954" v="84" actId="20577"/>
          <ac:spMkLst>
            <pc:docMk/>
            <pc:sldMk cId="3963704981" sldId="290"/>
            <ac:spMk id="8" creationId="{31B14087-1AAD-96AC-6999-A2AF449A6A6F}"/>
          </ac:spMkLst>
        </pc:spChg>
        <pc:picChg chg="mod">
          <ac:chgData name="Jose Diaz" userId="S::jose.diaz@cmsenergy.com::517cb5ef-6fb8-49bc-8303-535c95eee28f" providerId="AD" clId="Web-{8291CF0C-5E07-F472-50C7-9CDE549AE850}" dt="2026-05-26T12:03:36.329" v="68" actId="1076"/>
          <ac:picMkLst>
            <pc:docMk/>
            <pc:sldMk cId="3963704981" sldId="290"/>
            <ac:picMk id="7" creationId="{4B7E28CC-4FA7-7125-0149-E46773350348}"/>
          </ac:picMkLst>
        </pc:picChg>
      </pc:sldChg>
      <pc:sldChg chg="modSp">
        <pc:chgData name="Jose Diaz" userId="S::jose.diaz@cmsenergy.com::517cb5ef-6fb8-49bc-8303-535c95eee28f" providerId="AD" clId="Web-{8291CF0C-5E07-F472-50C7-9CDE549AE850}" dt="2026-05-26T11:09:39.248" v="0" actId="20577"/>
        <pc:sldMkLst>
          <pc:docMk/>
          <pc:sldMk cId="766455480" sldId="305"/>
        </pc:sldMkLst>
        <pc:spChg chg="mod">
          <ac:chgData name="Jose Diaz" userId="S::jose.diaz@cmsenergy.com::517cb5ef-6fb8-49bc-8303-535c95eee28f" providerId="AD" clId="Web-{8291CF0C-5E07-F472-50C7-9CDE549AE850}" dt="2026-05-26T11:09:39.248" v="0" actId="20577"/>
          <ac:spMkLst>
            <pc:docMk/>
            <pc:sldMk cId="766455480" sldId="305"/>
            <ac:spMk id="2" creationId="{23EE98D2-301A-59DA-0F2A-3867A2480D9A}"/>
          </ac:spMkLst>
        </pc:spChg>
      </pc:sldChg>
      <pc:sldChg chg="addSp delSp modSp add ord replId">
        <pc:chgData name="Jose Diaz" userId="S::jose.diaz@cmsenergy.com::517cb5ef-6fb8-49bc-8303-535c95eee28f" providerId="AD" clId="Web-{8291CF0C-5E07-F472-50C7-9CDE549AE850}" dt="2026-05-26T11:59:14.188" v="59" actId="20577"/>
        <pc:sldMkLst>
          <pc:docMk/>
          <pc:sldMk cId="3362251580" sldId="307"/>
        </pc:sldMkLst>
        <pc:spChg chg="mod">
          <ac:chgData name="Jose Diaz" userId="S::jose.diaz@cmsenergy.com::517cb5ef-6fb8-49bc-8303-535c95eee28f" providerId="AD" clId="Web-{8291CF0C-5E07-F472-50C7-9CDE549AE850}" dt="2026-05-26T11:59:14.188" v="59" actId="20577"/>
          <ac:spMkLst>
            <pc:docMk/>
            <pc:sldMk cId="3362251580" sldId="307"/>
            <ac:spMk id="2" creationId="{B7C6A15A-8637-FC17-DABA-51FADFD321FD}"/>
          </ac:spMkLst>
        </pc:spChg>
        <pc:spChg chg="mod">
          <ac:chgData name="Jose Diaz" userId="S::jose.diaz@cmsenergy.com::517cb5ef-6fb8-49bc-8303-535c95eee28f" providerId="AD" clId="Web-{8291CF0C-5E07-F472-50C7-9CDE549AE850}" dt="2026-05-26T11:12:03.076" v="3" actId="20577"/>
          <ac:spMkLst>
            <pc:docMk/>
            <pc:sldMk cId="3362251580" sldId="307"/>
            <ac:spMk id="3" creationId="{DC907801-FF6D-630A-34E0-2A8877162FD1}"/>
          </ac:spMkLst>
        </pc:spChg>
        <pc:picChg chg="add mod">
          <ac:chgData name="Jose Diaz" userId="S::jose.diaz@cmsenergy.com::517cb5ef-6fb8-49bc-8303-535c95eee28f" providerId="AD" clId="Web-{8291CF0C-5E07-F472-50C7-9CDE549AE850}" dt="2026-05-26T11:13:47.295" v="57" actId="1076"/>
          <ac:picMkLst>
            <pc:docMk/>
            <pc:sldMk cId="3362251580" sldId="307"/>
            <ac:picMk id="5" creationId="{3F65486E-A456-4510-2C14-923A13719E4B}"/>
          </ac:picMkLst>
        </pc:picChg>
      </pc:sldChg>
      <pc:sldChg chg="addSp delSp modSp add ord replId">
        <pc:chgData name="Jose Diaz" userId="S::jose.diaz@cmsenergy.com::517cb5ef-6fb8-49bc-8303-535c95eee28f" providerId="AD" clId="Web-{8291CF0C-5E07-F472-50C7-9CDE549AE850}" dt="2026-05-26T12:18:08.346" v="257" actId="20577"/>
        <pc:sldMkLst>
          <pc:docMk/>
          <pc:sldMk cId="2800410501" sldId="308"/>
        </pc:sldMkLst>
        <pc:spChg chg="mod">
          <ac:chgData name="Jose Diaz" userId="S::jose.diaz@cmsenergy.com::517cb5ef-6fb8-49bc-8303-535c95eee28f" providerId="AD" clId="Web-{8291CF0C-5E07-F472-50C7-9CDE549AE850}" dt="2026-05-26T12:18:08.346" v="257" actId="20577"/>
          <ac:spMkLst>
            <pc:docMk/>
            <pc:sldMk cId="2800410501" sldId="308"/>
            <ac:spMk id="2" creationId="{0F7EA1E0-7E02-3203-AC9D-2790908E0A8C}"/>
          </ac:spMkLst>
        </pc:spChg>
        <pc:spChg chg="mod">
          <ac:chgData name="Jose Diaz" userId="S::jose.diaz@cmsenergy.com::517cb5ef-6fb8-49bc-8303-535c95eee28f" providerId="AD" clId="Web-{8291CF0C-5E07-F472-50C7-9CDE549AE850}" dt="2026-05-26T12:04:14.220" v="83" actId="20577"/>
          <ac:spMkLst>
            <pc:docMk/>
            <pc:sldMk cId="2800410501" sldId="308"/>
            <ac:spMk id="3" creationId="{0795D2BE-AA1A-DF86-983B-33AC5CDCCCEC}"/>
          </ac:spMkLst>
        </pc:spChg>
        <pc:picChg chg="add mod">
          <ac:chgData name="Jose Diaz" userId="S::jose.diaz@cmsenergy.com::517cb5ef-6fb8-49bc-8303-535c95eee28f" providerId="AD" clId="Web-{8291CF0C-5E07-F472-50C7-9CDE549AE850}" dt="2026-05-26T12:07:42.173" v="99" actId="1076"/>
          <ac:picMkLst>
            <pc:docMk/>
            <pc:sldMk cId="2800410501" sldId="308"/>
            <ac:picMk id="4" creationId="{05BE193A-A87D-5075-4F5C-1607A2551AEB}"/>
          </ac:picMkLst>
        </pc:picChg>
      </pc:sldChg>
    </pc:docChg>
  </pc:docChgLst>
  <pc:docChgLst>
    <pc:chgData name="Taylor Ilov" userId="S::taylor.ilov@cmsenergy.com::b3e8fa34-e639-4d12-a6dc-5e3032b39fb7" providerId="AD" clId="Web-{56147EBD-D84D-AC82-F5C8-D15F52A67B54}"/>
    <pc:docChg chg="modSld">
      <pc:chgData name="Taylor Ilov" userId="S::taylor.ilov@cmsenergy.com::b3e8fa34-e639-4d12-a6dc-5e3032b39fb7" providerId="AD" clId="Web-{56147EBD-D84D-AC82-F5C8-D15F52A67B54}" dt="2026-05-29T21:39:11.453" v="51" actId="20577"/>
      <pc:docMkLst>
        <pc:docMk/>
      </pc:docMkLst>
      <pc:sldChg chg="modSp">
        <pc:chgData name="Taylor Ilov" userId="S::taylor.ilov@cmsenergy.com::b3e8fa34-e639-4d12-a6dc-5e3032b39fb7" providerId="AD" clId="Web-{56147EBD-D84D-AC82-F5C8-D15F52A67B54}" dt="2026-05-29T21:39:11.453" v="51" actId="20577"/>
        <pc:sldMkLst>
          <pc:docMk/>
          <pc:sldMk cId="2545389575" sldId="2147483641"/>
        </pc:sldMkLst>
        <pc:spChg chg="mod">
          <ac:chgData name="Taylor Ilov" userId="S::taylor.ilov@cmsenergy.com::b3e8fa34-e639-4d12-a6dc-5e3032b39fb7" providerId="AD" clId="Web-{56147EBD-D84D-AC82-F5C8-D15F52A67B54}" dt="2026-05-29T21:39:11.453" v="51" actId="20577"/>
          <ac:spMkLst>
            <pc:docMk/>
            <pc:sldMk cId="2545389575" sldId="2147483641"/>
            <ac:spMk id="4" creationId="{5B50B024-5B2C-73D1-0F65-38C1CBB14B5B}"/>
          </ac:spMkLst>
        </pc:spChg>
      </pc:sldChg>
    </pc:docChg>
  </pc:docChgLst>
  <pc:docChgLst>
    <pc:chgData name="Jose Diaz" userId="S::jose.diaz@cmsenergy.com::517cb5ef-6fb8-49bc-8303-535c95eee28f" providerId="AD" clId="Web-{E7EDFB9B-E385-7D16-1073-A43A77F7A3F2}"/>
    <pc:docChg chg="modSld sldOrd">
      <pc:chgData name="Jose Diaz" userId="S::jose.diaz@cmsenergy.com::517cb5ef-6fb8-49bc-8303-535c95eee28f" providerId="AD" clId="Web-{E7EDFB9B-E385-7D16-1073-A43A77F7A3F2}" dt="2026-05-26T10:43:57.415" v="399" actId="20577"/>
      <pc:docMkLst>
        <pc:docMk/>
      </pc:docMkLst>
      <pc:sldChg chg="modSp ord">
        <pc:chgData name="Jose Diaz" userId="S::jose.diaz@cmsenergy.com::517cb5ef-6fb8-49bc-8303-535c95eee28f" providerId="AD" clId="Web-{E7EDFB9B-E385-7D16-1073-A43A77F7A3F2}" dt="2026-05-26T10:25:27.602" v="288" actId="1076"/>
        <pc:sldMkLst>
          <pc:docMk/>
          <pc:sldMk cId="718609139" sldId="281"/>
        </pc:sldMkLst>
        <pc:spChg chg="mod">
          <ac:chgData name="Jose Diaz" userId="S::jose.diaz@cmsenergy.com::517cb5ef-6fb8-49bc-8303-535c95eee28f" providerId="AD" clId="Web-{E7EDFB9B-E385-7D16-1073-A43A77F7A3F2}" dt="2026-05-26T10:25:23.806" v="287" actId="20577"/>
          <ac:spMkLst>
            <pc:docMk/>
            <pc:sldMk cId="718609139" sldId="281"/>
            <ac:spMk id="2" creationId="{638CAFDB-E1FE-DB03-7E07-852C48B4087B}"/>
          </ac:spMkLst>
        </pc:spChg>
        <pc:picChg chg="mod">
          <ac:chgData name="Jose Diaz" userId="S::jose.diaz@cmsenergy.com::517cb5ef-6fb8-49bc-8303-535c95eee28f" providerId="AD" clId="Web-{E7EDFB9B-E385-7D16-1073-A43A77F7A3F2}" dt="2026-05-26T10:25:27.602" v="288" actId="1076"/>
          <ac:picMkLst>
            <pc:docMk/>
            <pc:sldMk cId="718609139" sldId="281"/>
            <ac:picMk id="7" creationId="{DA50C27F-53D7-A5D7-0C7B-0580B13457E3}"/>
          </ac:picMkLst>
        </pc:picChg>
      </pc:sldChg>
      <pc:sldChg chg="modSp">
        <pc:chgData name="Jose Diaz" userId="S::jose.diaz@cmsenergy.com::517cb5ef-6fb8-49bc-8303-535c95eee28f" providerId="AD" clId="Web-{E7EDFB9B-E385-7D16-1073-A43A77F7A3F2}" dt="2026-05-26T10:24:31.602" v="281" actId="20577"/>
        <pc:sldMkLst>
          <pc:docMk/>
          <pc:sldMk cId="2663969583" sldId="283"/>
        </pc:sldMkLst>
        <pc:spChg chg="mod">
          <ac:chgData name="Jose Diaz" userId="S::jose.diaz@cmsenergy.com::517cb5ef-6fb8-49bc-8303-535c95eee28f" providerId="AD" clId="Web-{E7EDFB9B-E385-7D16-1073-A43A77F7A3F2}" dt="2026-05-26T10:24:31.602" v="281" actId="20577"/>
          <ac:spMkLst>
            <pc:docMk/>
            <pc:sldMk cId="2663969583" sldId="283"/>
            <ac:spMk id="2" creationId="{868A1537-B78E-A47B-C729-932578EFEE1A}"/>
          </ac:spMkLst>
        </pc:spChg>
        <pc:picChg chg="mod">
          <ac:chgData name="Jose Diaz" userId="S::jose.diaz@cmsenergy.com::517cb5ef-6fb8-49bc-8303-535c95eee28f" providerId="AD" clId="Web-{E7EDFB9B-E385-7D16-1073-A43A77F7A3F2}" dt="2026-05-26T10:24:27.524" v="279" actId="1076"/>
          <ac:picMkLst>
            <pc:docMk/>
            <pc:sldMk cId="2663969583" sldId="283"/>
            <ac:picMk id="6" creationId="{3E3B9559-AEAB-F234-F785-F47967AC3BF5}"/>
          </ac:picMkLst>
        </pc:picChg>
      </pc:sldChg>
      <pc:sldChg chg="modSp">
        <pc:chgData name="Jose Diaz" userId="S::jose.diaz@cmsenergy.com::517cb5ef-6fb8-49bc-8303-535c95eee28f" providerId="AD" clId="Web-{E7EDFB9B-E385-7D16-1073-A43A77F7A3F2}" dt="2026-05-26T10:24:55.727" v="285" actId="1076"/>
        <pc:sldMkLst>
          <pc:docMk/>
          <pc:sldMk cId="1605051295" sldId="284"/>
        </pc:sldMkLst>
        <pc:spChg chg="mod">
          <ac:chgData name="Jose Diaz" userId="S::jose.diaz@cmsenergy.com::517cb5ef-6fb8-49bc-8303-535c95eee28f" providerId="AD" clId="Web-{E7EDFB9B-E385-7D16-1073-A43A77F7A3F2}" dt="2026-05-26T10:24:55.727" v="285" actId="1076"/>
          <ac:spMkLst>
            <pc:docMk/>
            <pc:sldMk cId="1605051295" sldId="284"/>
            <ac:spMk id="2" creationId="{55CAA155-64DF-08E6-7717-48081511192C}"/>
          </ac:spMkLst>
        </pc:spChg>
      </pc:sldChg>
      <pc:sldChg chg="modSp">
        <pc:chgData name="Jose Diaz" userId="S::jose.diaz@cmsenergy.com::517cb5ef-6fb8-49bc-8303-535c95eee28f" providerId="AD" clId="Web-{E7EDFB9B-E385-7D16-1073-A43A77F7A3F2}" dt="2026-05-26T10:25:59.993" v="295" actId="20577"/>
        <pc:sldMkLst>
          <pc:docMk/>
          <pc:sldMk cId="1711871855" sldId="291"/>
        </pc:sldMkLst>
        <pc:spChg chg="mod">
          <ac:chgData name="Jose Diaz" userId="S::jose.diaz@cmsenergy.com::517cb5ef-6fb8-49bc-8303-535c95eee28f" providerId="AD" clId="Web-{E7EDFB9B-E385-7D16-1073-A43A77F7A3F2}" dt="2026-05-26T10:25:49.524" v="293" actId="20577"/>
          <ac:spMkLst>
            <pc:docMk/>
            <pc:sldMk cId="1711871855" sldId="291"/>
            <ac:spMk id="2" creationId="{5FEDC90A-B8A2-92FC-7E60-9D9D85789161}"/>
          </ac:spMkLst>
        </pc:spChg>
        <pc:spChg chg="mod">
          <ac:chgData name="Jose Diaz" userId="S::jose.diaz@cmsenergy.com::517cb5ef-6fb8-49bc-8303-535c95eee28f" providerId="AD" clId="Web-{E7EDFB9B-E385-7D16-1073-A43A77F7A3F2}" dt="2026-05-26T10:25:46.149" v="291" actId="1076"/>
          <ac:spMkLst>
            <pc:docMk/>
            <pc:sldMk cId="1711871855" sldId="291"/>
            <ac:spMk id="6" creationId="{64B44F67-3E5E-48EC-B4E7-5E1157506D32}"/>
          </ac:spMkLst>
        </pc:spChg>
        <pc:spChg chg="mod">
          <ac:chgData name="Jose Diaz" userId="S::jose.diaz@cmsenergy.com::517cb5ef-6fb8-49bc-8303-535c95eee28f" providerId="AD" clId="Web-{E7EDFB9B-E385-7D16-1073-A43A77F7A3F2}" dt="2026-05-26T10:25:59.993" v="295" actId="20577"/>
          <ac:spMkLst>
            <pc:docMk/>
            <pc:sldMk cId="1711871855" sldId="291"/>
            <ac:spMk id="8" creationId="{F8D6A8D3-B5CB-D32D-99AB-BF08758F5973}"/>
          </ac:spMkLst>
        </pc:spChg>
      </pc:sldChg>
      <pc:sldChg chg="modSp">
        <pc:chgData name="Jose Diaz" userId="S::jose.diaz@cmsenergy.com::517cb5ef-6fb8-49bc-8303-535c95eee28f" providerId="AD" clId="Web-{E7EDFB9B-E385-7D16-1073-A43A77F7A3F2}" dt="2026-05-26T10:08:33.126" v="23" actId="20577"/>
        <pc:sldMkLst>
          <pc:docMk/>
          <pc:sldMk cId="1251174216" sldId="304"/>
        </pc:sldMkLst>
        <pc:spChg chg="mod">
          <ac:chgData name="Jose Diaz" userId="S::jose.diaz@cmsenergy.com::517cb5ef-6fb8-49bc-8303-535c95eee28f" providerId="AD" clId="Web-{E7EDFB9B-E385-7D16-1073-A43A77F7A3F2}" dt="2026-05-26T10:07:27.078" v="5" actId="20577"/>
          <ac:spMkLst>
            <pc:docMk/>
            <pc:sldMk cId="1251174216" sldId="304"/>
            <ac:spMk id="14" creationId="{B973C8B5-3220-4B06-F696-D6DB83138689}"/>
          </ac:spMkLst>
        </pc:spChg>
        <pc:spChg chg="mod">
          <ac:chgData name="Jose Diaz" userId="S::jose.diaz@cmsenergy.com::517cb5ef-6fb8-49bc-8303-535c95eee28f" providerId="AD" clId="Web-{E7EDFB9B-E385-7D16-1073-A43A77F7A3F2}" dt="2026-05-26T10:07:36.282" v="8" actId="20577"/>
          <ac:spMkLst>
            <pc:docMk/>
            <pc:sldMk cId="1251174216" sldId="304"/>
            <ac:spMk id="16" creationId="{0BADD208-1EC7-843D-DD51-667CCDBCF6C7}"/>
          </ac:spMkLst>
        </pc:spChg>
        <pc:spChg chg="mod">
          <ac:chgData name="Jose Diaz" userId="S::jose.diaz@cmsenergy.com::517cb5ef-6fb8-49bc-8303-535c95eee28f" providerId="AD" clId="Web-{E7EDFB9B-E385-7D16-1073-A43A77F7A3F2}" dt="2026-05-26T10:08:33.126" v="23" actId="20577"/>
          <ac:spMkLst>
            <pc:docMk/>
            <pc:sldMk cId="1251174216" sldId="304"/>
            <ac:spMk id="17" creationId="{00AFCBE6-C2FC-4A86-A7F4-D18E9CD61ECF}"/>
          </ac:spMkLst>
        </pc:spChg>
        <pc:spChg chg="mod">
          <ac:chgData name="Jose Diaz" userId="S::jose.diaz@cmsenergy.com::517cb5ef-6fb8-49bc-8303-535c95eee28f" providerId="AD" clId="Web-{E7EDFB9B-E385-7D16-1073-A43A77F7A3F2}" dt="2026-05-26T10:07:59.563" v="13" actId="1076"/>
          <ac:spMkLst>
            <pc:docMk/>
            <pc:sldMk cId="1251174216" sldId="304"/>
            <ac:spMk id="18" creationId="{B0C91563-1735-CB33-E5FE-DC3E724DFE1E}"/>
          </ac:spMkLst>
        </pc:spChg>
        <pc:spChg chg="mod">
          <ac:chgData name="Jose Diaz" userId="S::jose.diaz@cmsenergy.com::517cb5ef-6fb8-49bc-8303-535c95eee28f" providerId="AD" clId="Web-{E7EDFB9B-E385-7D16-1073-A43A77F7A3F2}" dt="2026-05-26T10:08:10.563" v="16" actId="20577"/>
          <ac:spMkLst>
            <pc:docMk/>
            <pc:sldMk cId="1251174216" sldId="304"/>
            <ac:spMk id="19" creationId="{B6E1301C-CEC9-062B-D352-061E435EB5D0}"/>
          </ac:spMkLst>
        </pc:spChg>
        <pc:spChg chg="mod">
          <ac:chgData name="Jose Diaz" userId="S::jose.diaz@cmsenergy.com::517cb5ef-6fb8-49bc-8303-535c95eee28f" providerId="AD" clId="Web-{E7EDFB9B-E385-7D16-1073-A43A77F7A3F2}" dt="2026-05-26T10:08:22.282" v="20" actId="20577"/>
          <ac:spMkLst>
            <pc:docMk/>
            <pc:sldMk cId="1251174216" sldId="304"/>
            <ac:spMk id="20" creationId="{540B7A1F-7B09-C0A0-0DE0-15BF98342399}"/>
          </ac:spMkLst>
        </pc:spChg>
      </pc:sldChg>
      <pc:sldChg chg="delSp modSp">
        <pc:chgData name="Jose Diaz" userId="S::jose.diaz@cmsenergy.com::517cb5ef-6fb8-49bc-8303-535c95eee28f" providerId="AD" clId="Web-{E7EDFB9B-E385-7D16-1073-A43A77F7A3F2}" dt="2026-05-26T10:43:57.415" v="399" actId="20577"/>
        <pc:sldMkLst>
          <pc:docMk/>
          <pc:sldMk cId="766455480" sldId="305"/>
        </pc:sldMkLst>
        <pc:spChg chg="mod">
          <ac:chgData name="Jose Diaz" userId="S::jose.diaz@cmsenergy.com::517cb5ef-6fb8-49bc-8303-535c95eee28f" providerId="AD" clId="Web-{E7EDFB9B-E385-7D16-1073-A43A77F7A3F2}" dt="2026-05-26T10:43:57.415" v="399" actId="20577"/>
          <ac:spMkLst>
            <pc:docMk/>
            <pc:sldMk cId="766455480" sldId="305"/>
            <ac:spMk id="2" creationId="{23EE98D2-301A-59DA-0F2A-3867A2480D9A}"/>
          </ac:spMkLst>
        </pc:spChg>
      </pc:sldChg>
    </pc:docChg>
  </pc:docChgLst>
  <pc:docChgLst>
    <pc:chgData name="Jose Diaz" userId="S::jose.diaz@cmsenergy.com::517cb5ef-6fb8-49bc-8303-535c95eee28f" providerId="AD" clId="Web-{4754A042-249C-2B86-A01A-A963A46D0134}"/>
    <pc:docChg chg="addSld modSld sldOrd modSection">
      <pc:chgData name="Jose Diaz" userId="S::jose.diaz@cmsenergy.com::517cb5ef-6fb8-49bc-8303-535c95eee28f" providerId="AD" clId="Web-{4754A042-249C-2B86-A01A-A963A46D0134}" dt="2026-05-27T20:52:26.494" v="231" actId="1076"/>
      <pc:docMkLst>
        <pc:docMk/>
      </pc:docMkLst>
      <pc:sldChg chg="ord">
        <pc:chgData name="Jose Diaz" userId="S::jose.diaz@cmsenergy.com::517cb5ef-6fb8-49bc-8303-535c95eee28f" providerId="AD" clId="Web-{4754A042-249C-2B86-A01A-A963A46D0134}" dt="2026-05-27T20:02:37.402" v="2"/>
        <pc:sldMkLst>
          <pc:docMk/>
          <pc:sldMk cId="3963704981" sldId="290"/>
        </pc:sldMkLst>
      </pc:sldChg>
      <pc:sldChg chg="addSp delSp modSp add ord replId">
        <pc:chgData name="Jose Diaz" userId="S::jose.diaz@cmsenergy.com::517cb5ef-6fb8-49bc-8303-535c95eee28f" providerId="AD" clId="Web-{4754A042-249C-2B86-A01A-A963A46D0134}" dt="2026-05-27T20:52:26.494" v="231" actId="1076"/>
        <pc:sldMkLst>
          <pc:docMk/>
          <pc:sldMk cId="2997917959" sldId="309"/>
        </pc:sldMkLst>
        <pc:spChg chg="mod">
          <ac:chgData name="Jose Diaz" userId="S::jose.diaz@cmsenergy.com::517cb5ef-6fb8-49bc-8303-535c95eee28f" providerId="AD" clId="Web-{4754A042-249C-2B86-A01A-A963A46D0134}" dt="2026-05-27T20:02:50.622" v="8" actId="20577"/>
          <ac:spMkLst>
            <pc:docMk/>
            <pc:sldMk cId="2997917959" sldId="309"/>
            <ac:spMk id="3" creationId="{181261B5-2861-C3F0-328B-462B11C63423}"/>
          </ac:spMkLst>
        </pc:spChg>
        <pc:spChg chg="mod">
          <ac:chgData name="Jose Diaz" userId="S::jose.diaz@cmsenergy.com::517cb5ef-6fb8-49bc-8303-535c95eee28f" providerId="AD" clId="Web-{4754A042-249C-2B86-A01A-A963A46D0134}" dt="2026-05-27T20:52:05.915" v="226" actId="14100"/>
          <ac:spMkLst>
            <pc:docMk/>
            <pc:sldMk cId="2997917959" sldId="309"/>
            <ac:spMk id="8" creationId="{7718E67A-C7F6-3A95-B9FB-ED0DAAB13EC0}"/>
          </ac:spMkLst>
        </pc:spChg>
        <pc:picChg chg="add mod">
          <ac:chgData name="Jose Diaz" userId="S::jose.diaz@cmsenergy.com::517cb5ef-6fb8-49bc-8303-535c95eee28f" providerId="AD" clId="Web-{4754A042-249C-2B86-A01A-A963A46D0134}" dt="2026-05-27T20:52:09.697" v="227" actId="1076"/>
          <ac:picMkLst>
            <pc:docMk/>
            <pc:sldMk cId="2997917959" sldId="309"/>
            <ac:picMk id="6" creationId="{DC979727-44C4-3AC2-0C99-40F8A35D8C63}"/>
          </ac:picMkLst>
        </pc:picChg>
        <pc:picChg chg="add mod">
          <ac:chgData name="Jose Diaz" userId="S::jose.diaz@cmsenergy.com::517cb5ef-6fb8-49bc-8303-535c95eee28f" providerId="AD" clId="Web-{4754A042-249C-2B86-A01A-A963A46D0134}" dt="2026-05-27T20:52:21.775" v="230" actId="14100"/>
          <ac:picMkLst>
            <pc:docMk/>
            <pc:sldMk cId="2997917959" sldId="309"/>
            <ac:picMk id="10" creationId="{BE5171ED-5FE2-7F1E-636C-03157EF33DD5}"/>
          </ac:picMkLst>
        </pc:picChg>
      </pc:sldChg>
    </pc:docChg>
  </pc:docChgLst>
  <pc:docChgLst>
    <pc:chgData name="Jose Diaz" userId="S::jose.diaz@cmsenergy.com::517cb5ef-6fb8-49bc-8303-535c95eee28f" providerId="AD" clId="Web-{912F21DD-B023-0C6D-B328-A7C1D670786D}"/>
    <pc:docChg chg="modSld sldOrd">
      <pc:chgData name="Jose Diaz" userId="S::jose.diaz@cmsenergy.com::517cb5ef-6fb8-49bc-8303-535c95eee28f" providerId="AD" clId="Web-{912F21DD-B023-0C6D-B328-A7C1D670786D}" dt="2026-06-01T15:02:34.109" v="131"/>
      <pc:docMkLst>
        <pc:docMk/>
      </pc:docMkLst>
      <pc:sldChg chg="ord">
        <pc:chgData name="Jose Diaz" userId="S::jose.diaz@cmsenergy.com::517cb5ef-6fb8-49bc-8303-535c95eee28f" providerId="AD" clId="Web-{912F21DD-B023-0C6D-B328-A7C1D670786D}" dt="2026-06-01T15:02:34.109" v="131"/>
        <pc:sldMkLst>
          <pc:docMk/>
          <pc:sldMk cId="4227511731" sldId="286"/>
        </pc:sldMkLst>
      </pc:sldChg>
    </pc:docChg>
  </pc:docChgLst>
  <pc:docChgLst>
    <pc:chgData name="STACY L HARRINGTON" userId="05405ec1-c022-40d7-8296-c30bcedbce90" providerId="ADAL" clId="{FBFBCCF4-5360-46AA-B5A9-1D8CE7EC91ED}"/>
    <pc:docChg chg="modSld">
      <pc:chgData name="STACY L HARRINGTON" userId="05405ec1-c022-40d7-8296-c30bcedbce90" providerId="ADAL" clId="{FBFBCCF4-5360-46AA-B5A9-1D8CE7EC91ED}" dt="2026-06-02T12:33:25.965" v="2" actId="1076"/>
      <pc:docMkLst>
        <pc:docMk/>
      </pc:docMkLst>
      <pc:sldChg chg="modSp mod">
        <pc:chgData name="STACY L HARRINGTON" userId="05405ec1-c022-40d7-8296-c30bcedbce90" providerId="ADAL" clId="{FBFBCCF4-5360-46AA-B5A9-1D8CE7EC91ED}" dt="2026-06-02T11:45:32.182" v="0" actId="14734"/>
        <pc:sldMkLst>
          <pc:docMk/>
          <pc:sldMk cId="2218206800" sldId="271"/>
        </pc:sldMkLst>
        <pc:graphicFrameChg chg="modGraphic">
          <ac:chgData name="STACY L HARRINGTON" userId="05405ec1-c022-40d7-8296-c30bcedbce90" providerId="ADAL" clId="{FBFBCCF4-5360-46AA-B5A9-1D8CE7EC91ED}" dt="2026-06-02T11:45:32.182" v="0" actId="14734"/>
          <ac:graphicFrameMkLst>
            <pc:docMk/>
            <pc:sldMk cId="2218206800" sldId="271"/>
            <ac:graphicFrameMk id="8" creationId="{EBD8FAA2-4B6C-BC4B-328F-08ECDE8FD127}"/>
          </ac:graphicFrameMkLst>
        </pc:graphicFrameChg>
      </pc:sldChg>
      <pc:sldChg chg="modSp mod">
        <pc:chgData name="STACY L HARRINGTON" userId="05405ec1-c022-40d7-8296-c30bcedbce90" providerId="ADAL" clId="{FBFBCCF4-5360-46AA-B5A9-1D8CE7EC91ED}" dt="2026-06-02T12:33:25.965" v="2" actId="1076"/>
        <pc:sldMkLst>
          <pc:docMk/>
          <pc:sldMk cId="67856684" sldId="317"/>
        </pc:sldMkLst>
        <pc:graphicFrameChg chg="mod">
          <ac:chgData name="STACY L HARRINGTON" userId="05405ec1-c022-40d7-8296-c30bcedbce90" providerId="ADAL" clId="{FBFBCCF4-5360-46AA-B5A9-1D8CE7EC91ED}" dt="2026-06-02T12:33:25.965" v="2" actId="1076"/>
          <ac:graphicFrameMkLst>
            <pc:docMk/>
            <pc:sldMk cId="67856684" sldId="317"/>
            <ac:graphicFrameMk id="8" creationId="{9BEA02E7-1985-B3EF-410E-1BE82D25E3A6}"/>
          </ac:graphicFrameMkLst>
        </pc:graphicFrameChg>
      </pc:sldChg>
    </pc:docChg>
  </pc:docChgLst>
  <pc:docChgLst>
    <pc:chgData name="KIMBERLY K RYAN" userId="S::kimberly.ryan@cmsenergy.com::5cca31b9-790a-4f23-a68b-45dcc7224aea" providerId="AD" clId="Web-{C6ECCCF7-15D3-18D0-A6DF-9D568BCAEACB}"/>
    <pc:docChg chg="sldOrd">
      <pc:chgData name="KIMBERLY K RYAN" userId="S::kimberly.ryan@cmsenergy.com::5cca31b9-790a-4f23-a68b-45dcc7224aea" providerId="AD" clId="Web-{C6ECCCF7-15D3-18D0-A6DF-9D568BCAEACB}" dt="2026-06-02T17:10:27.730" v="0"/>
      <pc:docMkLst>
        <pc:docMk/>
      </pc:docMkLst>
      <pc:sldChg chg="ord">
        <pc:chgData name="KIMBERLY K RYAN" userId="S::kimberly.ryan@cmsenergy.com::5cca31b9-790a-4f23-a68b-45dcc7224aea" providerId="AD" clId="Web-{C6ECCCF7-15D3-18D0-A6DF-9D568BCAEACB}" dt="2026-06-02T17:10:27.730" v="0"/>
        <pc:sldMkLst>
          <pc:docMk/>
          <pc:sldMk cId="3003837398" sldId="289"/>
        </pc:sldMkLst>
      </pc:sldChg>
    </pc:docChg>
  </pc:docChgLst>
  <pc:docChgLst>
    <pc:chgData name="Taylor Ilov" userId="S::taylor.ilov@cmsenergy.com::b3e8fa34-e639-4d12-a6dc-5e3032b39fb7" providerId="AD" clId="Web-{2443CBD6-3E37-1D36-368D-722066DFE047}"/>
    <pc:docChg chg="addSld delSld modSld modSection">
      <pc:chgData name="Taylor Ilov" userId="S::taylor.ilov@cmsenergy.com::b3e8fa34-e639-4d12-a6dc-5e3032b39fb7" providerId="AD" clId="Web-{2443CBD6-3E37-1D36-368D-722066DFE047}" dt="2026-05-28T02:11:39.545" v="53"/>
      <pc:docMkLst>
        <pc:docMk/>
      </pc:docMkLst>
      <pc:sldChg chg="modSp">
        <pc:chgData name="Taylor Ilov" userId="S::taylor.ilov@cmsenergy.com::b3e8fa34-e639-4d12-a6dc-5e3032b39fb7" providerId="AD" clId="Web-{2443CBD6-3E37-1D36-368D-722066DFE047}" dt="2026-05-28T02:11:21.670" v="49" actId="20577"/>
        <pc:sldMkLst>
          <pc:docMk/>
          <pc:sldMk cId="2052507368" sldId="256"/>
        </pc:sldMkLst>
        <pc:spChg chg="mod">
          <ac:chgData name="Taylor Ilov" userId="S::taylor.ilov@cmsenergy.com::b3e8fa34-e639-4d12-a6dc-5e3032b39fb7" providerId="AD" clId="Web-{2443CBD6-3E37-1D36-368D-722066DFE047}" dt="2026-05-28T02:11:21.670" v="49" actId="20577"/>
          <ac:spMkLst>
            <pc:docMk/>
            <pc:sldMk cId="2052507368" sldId="256"/>
            <ac:spMk id="2" creationId="{D9B8750B-80A9-3759-00E2-7796EC77173C}"/>
          </ac:spMkLst>
        </pc:spChg>
      </pc:sldChg>
      <pc:sldChg chg="modSp">
        <pc:chgData name="Taylor Ilov" userId="S::taylor.ilov@cmsenergy.com::b3e8fa34-e639-4d12-a6dc-5e3032b39fb7" providerId="AD" clId="Web-{2443CBD6-3E37-1D36-368D-722066DFE047}" dt="2026-05-28T02:11:31.170" v="51" actId="20577"/>
        <pc:sldMkLst>
          <pc:docMk/>
          <pc:sldMk cId="274954407" sldId="257"/>
        </pc:sldMkLst>
        <pc:spChg chg="mod">
          <ac:chgData name="Taylor Ilov" userId="S::taylor.ilov@cmsenergy.com::b3e8fa34-e639-4d12-a6dc-5e3032b39fb7" providerId="AD" clId="Web-{2443CBD6-3E37-1D36-368D-722066DFE047}" dt="2026-05-28T02:11:31.170" v="51" actId="20577"/>
          <ac:spMkLst>
            <pc:docMk/>
            <pc:sldMk cId="274954407" sldId="257"/>
            <ac:spMk id="2" creationId="{E34B602E-2C3B-4F08-5E75-F752CAE78886}"/>
          </ac:spMkLst>
        </pc:spChg>
      </pc:sldChg>
      <pc:sldChg chg="modSp">
        <pc:chgData name="Taylor Ilov" userId="S::taylor.ilov@cmsenergy.com::b3e8fa34-e639-4d12-a6dc-5e3032b39fb7" providerId="AD" clId="Web-{2443CBD6-3E37-1D36-368D-722066DFE047}" dt="2026-05-28T02:11:06.856" v="44" actId="20577"/>
        <pc:sldMkLst>
          <pc:docMk/>
          <pc:sldMk cId="1184650622" sldId="259"/>
        </pc:sldMkLst>
        <pc:spChg chg="mod">
          <ac:chgData name="Taylor Ilov" userId="S::taylor.ilov@cmsenergy.com::b3e8fa34-e639-4d12-a6dc-5e3032b39fb7" providerId="AD" clId="Web-{2443CBD6-3E37-1D36-368D-722066DFE047}" dt="2026-05-28T02:11:06.856" v="44" actId="20577"/>
          <ac:spMkLst>
            <pc:docMk/>
            <pc:sldMk cId="1184650622" sldId="259"/>
            <ac:spMk id="7" creationId="{F363667B-981C-A7C5-B405-AF1006A4BA19}"/>
          </ac:spMkLst>
        </pc:spChg>
      </pc:sldChg>
      <pc:sldChg chg="modSp">
        <pc:chgData name="Taylor Ilov" userId="S::taylor.ilov@cmsenergy.com::b3e8fa34-e639-4d12-a6dc-5e3032b39fb7" providerId="AD" clId="Web-{2443CBD6-3E37-1D36-368D-722066DFE047}" dt="2026-05-28T02:11:10.700" v="45" actId="20577"/>
        <pc:sldMkLst>
          <pc:docMk/>
          <pc:sldMk cId="3093726476" sldId="261"/>
        </pc:sldMkLst>
        <pc:spChg chg="mod">
          <ac:chgData name="Taylor Ilov" userId="S::taylor.ilov@cmsenergy.com::b3e8fa34-e639-4d12-a6dc-5e3032b39fb7" providerId="AD" clId="Web-{2443CBD6-3E37-1D36-368D-722066DFE047}" dt="2026-05-28T02:11:10.700" v="45" actId="20577"/>
          <ac:spMkLst>
            <pc:docMk/>
            <pc:sldMk cId="3093726476" sldId="261"/>
            <ac:spMk id="7" creationId="{B597FD0F-3E1D-D644-5432-29FF22D04E82}"/>
          </ac:spMkLst>
        </pc:spChg>
      </pc:sldChg>
      <pc:sldChg chg="delSp modSp">
        <pc:chgData name="Taylor Ilov" userId="S::taylor.ilov@cmsenergy.com::b3e8fa34-e639-4d12-a6dc-5e3032b39fb7" providerId="AD" clId="Web-{2443CBD6-3E37-1D36-368D-722066DFE047}" dt="2026-05-28T02:06:52.518" v="1"/>
        <pc:sldMkLst>
          <pc:docMk/>
          <pc:sldMk cId="3852294437" sldId="268"/>
        </pc:sldMkLst>
      </pc:sldChg>
      <pc:sldChg chg="modSp">
        <pc:chgData name="Taylor Ilov" userId="S::taylor.ilov@cmsenergy.com::b3e8fa34-e639-4d12-a6dc-5e3032b39fb7" providerId="AD" clId="Web-{2443CBD6-3E37-1D36-368D-722066DFE047}" dt="2026-05-28T02:11:13.279" v="46" actId="20577"/>
        <pc:sldMkLst>
          <pc:docMk/>
          <pc:sldMk cId="1180415898" sldId="270"/>
        </pc:sldMkLst>
        <pc:spChg chg="mod">
          <ac:chgData name="Taylor Ilov" userId="S::taylor.ilov@cmsenergy.com::b3e8fa34-e639-4d12-a6dc-5e3032b39fb7" providerId="AD" clId="Web-{2443CBD6-3E37-1D36-368D-722066DFE047}" dt="2026-05-28T02:11:13.279" v="46" actId="20577"/>
          <ac:spMkLst>
            <pc:docMk/>
            <pc:sldMk cId="1180415898" sldId="270"/>
            <ac:spMk id="7" creationId="{0C66E776-CABB-A883-38E3-FB62E6868850}"/>
          </ac:spMkLst>
        </pc:spChg>
      </pc:sldChg>
      <pc:sldChg chg="modSp">
        <pc:chgData name="Taylor Ilov" userId="S::taylor.ilov@cmsenergy.com::b3e8fa34-e639-4d12-a6dc-5e3032b39fb7" providerId="AD" clId="Web-{2443CBD6-3E37-1D36-368D-722066DFE047}" dt="2026-05-28T02:11:17.810" v="48" actId="20577"/>
        <pc:sldMkLst>
          <pc:docMk/>
          <pc:sldMk cId="3351640754" sldId="273"/>
        </pc:sldMkLst>
        <pc:spChg chg="mod">
          <ac:chgData name="Taylor Ilov" userId="S::taylor.ilov@cmsenergy.com::b3e8fa34-e639-4d12-a6dc-5e3032b39fb7" providerId="AD" clId="Web-{2443CBD6-3E37-1D36-368D-722066DFE047}" dt="2026-05-28T02:11:17.810" v="48" actId="20577"/>
          <ac:spMkLst>
            <pc:docMk/>
            <pc:sldMk cId="3351640754" sldId="273"/>
            <ac:spMk id="5" creationId="{45130418-35EB-D35C-512F-CF63AE52F10A}"/>
          </ac:spMkLst>
        </pc:spChg>
      </pc:sldChg>
      <pc:sldChg chg="modSp">
        <pc:chgData name="Taylor Ilov" userId="S::taylor.ilov@cmsenergy.com::b3e8fa34-e639-4d12-a6dc-5e3032b39fb7" providerId="AD" clId="Web-{2443CBD6-3E37-1D36-368D-722066DFE047}" dt="2026-05-28T02:11:04.231" v="42" actId="20577"/>
        <pc:sldMkLst>
          <pc:docMk/>
          <pc:sldMk cId="2542367511" sldId="276"/>
        </pc:sldMkLst>
        <pc:spChg chg="mod">
          <ac:chgData name="Taylor Ilov" userId="S::taylor.ilov@cmsenergy.com::b3e8fa34-e639-4d12-a6dc-5e3032b39fb7" providerId="AD" clId="Web-{2443CBD6-3E37-1D36-368D-722066DFE047}" dt="2026-05-28T02:11:04.231" v="42" actId="20577"/>
          <ac:spMkLst>
            <pc:docMk/>
            <pc:sldMk cId="2542367511" sldId="276"/>
            <ac:spMk id="7" creationId="{CAD1F050-5AB8-5CAC-CBBB-4BA7E18D5658}"/>
          </ac:spMkLst>
        </pc:spChg>
      </pc:sldChg>
      <pc:sldChg chg="modSp">
        <pc:chgData name="Taylor Ilov" userId="S::taylor.ilov@cmsenergy.com::b3e8fa34-e639-4d12-a6dc-5e3032b39fb7" providerId="AD" clId="Web-{2443CBD6-3E37-1D36-368D-722066DFE047}" dt="2026-05-28T02:09:28.306" v="36"/>
        <pc:sldMkLst>
          <pc:docMk/>
          <pc:sldMk cId="2663969583" sldId="283"/>
        </pc:sldMkLst>
        <pc:spChg chg="mod">
          <ac:chgData name="Taylor Ilov" userId="S::taylor.ilov@cmsenergy.com::b3e8fa34-e639-4d12-a6dc-5e3032b39fb7" providerId="AD" clId="Web-{2443CBD6-3E37-1D36-368D-722066DFE047}" dt="2026-05-28T02:09:28.306" v="36"/>
          <ac:spMkLst>
            <pc:docMk/>
            <pc:sldMk cId="2663969583" sldId="283"/>
            <ac:spMk id="2" creationId="{868A1537-B78E-A47B-C729-932578EFEE1A}"/>
          </ac:spMkLst>
        </pc:spChg>
      </pc:sldChg>
      <pc:sldChg chg="modSp">
        <pc:chgData name="Taylor Ilov" userId="S::taylor.ilov@cmsenergy.com::b3e8fa34-e639-4d12-a6dc-5e3032b39fb7" providerId="AD" clId="Web-{2443CBD6-3E37-1D36-368D-722066DFE047}" dt="2026-05-28T02:09:04.274" v="33" actId="20577"/>
        <pc:sldMkLst>
          <pc:docMk/>
          <pc:sldMk cId="1285056470" sldId="285"/>
        </pc:sldMkLst>
        <pc:spChg chg="mod">
          <ac:chgData name="Taylor Ilov" userId="S::taylor.ilov@cmsenergy.com::b3e8fa34-e639-4d12-a6dc-5e3032b39fb7" providerId="AD" clId="Web-{2443CBD6-3E37-1D36-368D-722066DFE047}" dt="2026-05-28T02:09:04.274" v="33" actId="20577"/>
          <ac:spMkLst>
            <pc:docMk/>
            <pc:sldMk cId="1285056470" sldId="285"/>
            <ac:spMk id="7" creationId="{3FA007BE-A154-54BB-139B-68EEE949B120}"/>
          </ac:spMkLst>
        </pc:spChg>
      </pc:sldChg>
      <pc:sldChg chg="modSp">
        <pc:chgData name="Taylor Ilov" userId="S::taylor.ilov@cmsenergy.com::b3e8fa34-e639-4d12-a6dc-5e3032b39fb7" providerId="AD" clId="Web-{2443CBD6-3E37-1D36-368D-722066DFE047}" dt="2026-05-28T02:09:56.104" v="39" actId="20577"/>
        <pc:sldMkLst>
          <pc:docMk/>
          <pc:sldMk cId="4227511731" sldId="286"/>
        </pc:sldMkLst>
        <pc:spChg chg="mod">
          <ac:chgData name="Taylor Ilov" userId="S::taylor.ilov@cmsenergy.com::b3e8fa34-e639-4d12-a6dc-5e3032b39fb7" providerId="AD" clId="Web-{2443CBD6-3E37-1D36-368D-722066DFE047}" dt="2026-05-28T02:09:56.104" v="39" actId="20577"/>
          <ac:spMkLst>
            <pc:docMk/>
            <pc:sldMk cId="4227511731" sldId="286"/>
            <ac:spMk id="2" creationId="{218C24C0-2756-F2E0-D8BA-26C7311F12F2}"/>
          </ac:spMkLst>
        </pc:spChg>
      </pc:sldChg>
      <pc:sldChg chg="modSp">
        <pc:chgData name="Taylor Ilov" userId="S::taylor.ilov@cmsenergy.com::b3e8fa34-e639-4d12-a6dc-5e3032b39fb7" providerId="AD" clId="Web-{2443CBD6-3E37-1D36-368D-722066DFE047}" dt="2026-05-28T02:10:13.011" v="41" actId="20577"/>
        <pc:sldMkLst>
          <pc:docMk/>
          <pc:sldMk cId="3963704981" sldId="290"/>
        </pc:sldMkLst>
        <pc:spChg chg="mod">
          <ac:chgData name="Taylor Ilov" userId="S::taylor.ilov@cmsenergy.com::b3e8fa34-e639-4d12-a6dc-5e3032b39fb7" providerId="AD" clId="Web-{2443CBD6-3E37-1D36-368D-722066DFE047}" dt="2026-05-28T02:10:13.011" v="41" actId="20577"/>
          <ac:spMkLst>
            <pc:docMk/>
            <pc:sldMk cId="3963704981" sldId="290"/>
            <ac:spMk id="8" creationId="{31B14087-1AAD-96AC-6999-A2AF449A6A6F}"/>
          </ac:spMkLst>
        </pc:spChg>
      </pc:sldChg>
      <pc:sldChg chg="modSp">
        <pc:chgData name="Taylor Ilov" userId="S::taylor.ilov@cmsenergy.com::b3e8fa34-e639-4d12-a6dc-5e3032b39fb7" providerId="AD" clId="Web-{2443CBD6-3E37-1D36-368D-722066DFE047}" dt="2026-05-28T02:09:50.072" v="38" actId="20577"/>
        <pc:sldMkLst>
          <pc:docMk/>
          <pc:sldMk cId="1711871855" sldId="291"/>
        </pc:sldMkLst>
        <pc:spChg chg="mod">
          <ac:chgData name="Taylor Ilov" userId="S::taylor.ilov@cmsenergy.com::b3e8fa34-e639-4d12-a6dc-5e3032b39fb7" providerId="AD" clId="Web-{2443CBD6-3E37-1D36-368D-722066DFE047}" dt="2026-05-28T02:09:50.072" v="38" actId="20577"/>
          <ac:spMkLst>
            <pc:docMk/>
            <pc:sldMk cId="1711871855" sldId="291"/>
            <ac:spMk id="6" creationId="{64B44F67-3E5E-48EC-B4E7-5E1157506D32}"/>
          </ac:spMkLst>
        </pc:spChg>
      </pc:sldChg>
      <pc:sldChg chg="modSp">
        <pc:chgData name="Taylor Ilov" userId="S::taylor.ilov@cmsenergy.com::b3e8fa34-e639-4d12-a6dc-5e3032b39fb7" providerId="AD" clId="Web-{2443CBD6-3E37-1D36-368D-722066DFE047}" dt="2026-05-28T02:09:15.055" v="34" actId="20577"/>
        <pc:sldMkLst>
          <pc:docMk/>
          <pc:sldMk cId="1251174216" sldId="304"/>
        </pc:sldMkLst>
        <pc:spChg chg="mod">
          <ac:chgData name="Taylor Ilov" userId="S::taylor.ilov@cmsenergy.com::b3e8fa34-e639-4d12-a6dc-5e3032b39fb7" providerId="AD" clId="Web-{2443CBD6-3E37-1D36-368D-722066DFE047}" dt="2026-05-28T02:09:15.055" v="34" actId="20577"/>
          <ac:spMkLst>
            <pc:docMk/>
            <pc:sldMk cId="1251174216" sldId="304"/>
            <ac:spMk id="3" creationId="{C12E59D0-7F5A-146A-10B7-F049D057546A}"/>
          </ac:spMkLst>
        </pc:spChg>
      </pc:sldChg>
      <pc:sldChg chg="modSp">
        <pc:chgData name="Taylor Ilov" userId="S::taylor.ilov@cmsenergy.com::b3e8fa34-e639-4d12-a6dc-5e3032b39fb7" providerId="AD" clId="Web-{2443CBD6-3E37-1D36-368D-722066DFE047}" dt="2026-05-28T02:10:06.510" v="40" actId="20577"/>
        <pc:sldMkLst>
          <pc:docMk/>
          <pc:sldMk cId="2539774287" sldId="306"/>
        </pc:sldMkLst>
        <pc:spChg chg="mod">
          <ac:chgData name="Taylor Ilov" userId="S::taylor.ilov@cmsenergy.com::b3e8fa34-e639-4d12-a6dc-5e3032b39fb7" providerId="AD" clId="Web-{2443CBD6-3E37-1D36-368D-722066DFE047}" dt="2026-05-28T02:10:06.510" v="40" actId="20577"/>
          <ac:spMkLst>
            <pc:docMk/>
            <pc:sldMk cId="2539774287" sldId="306"/>
            <ac:spMk id="3" creationId="{468E1975-8BCB-38FB-8DA7-C4B8F16AABF0}"/>
          </ac:spMkLst>
        </pc:spChg>
      </pc:sldChg>
      <pc:sldChg chg="add">
        <pc:chgData name="Taylor Ilov" userId="S::taylor.ilov@cmsenergy.com::b3e8fa34-e639-4d12-a6dc-5e3032b39fb7" providerId="AD" clId="Web-{2443CBD6-3E37-1D36-368D-722066DFE047}" dt="2026-05-28T02:07:15.816" v="2"/>
        <pc:sldMkLst>
          <pc:docMk/>
          <pc:sldMk cId="2681778544" sldId="313"/>
        </pc:sldMkLst>
      </pc:sldChg>
      <pc:sldChg chg="delSp modSp">
        <pc:chgData name="Taylor Ilov" userId="S::taylor.ilov@cmsenergy.com::b3e8fa34-e639-4d12-a6dc-5e3032b39fb7" providerId="AD" clId="Web-{2443CBD6-3E37-1D36-368D-722066DFE047}" dt="2026-05-28T02:11:39.545" v="53"/>
        <pc:sldMkLst>
          <pc:docMk/>
          <pc:sldMk cId="429306594" sldId="2147483632"/>
        </pc:sldMkLst>
        <pc:spChg chg="mod">
          <ac:chgData name="Taylor Ilov" userId="S::taylor.ilov@cmsenergy.com::b3e8fa34-e639-4d12-a6dc-5e3032b39fb7" providerId="AD" clId="Web-{2443CBD6-3E37-1D36-368D-722066DFE047}" dt="2026-05-28T02:07:38.192" v="14" actId="20577"/>
          <ac:spMkLst>
            <pc:docMk/>
            <pc:sldMk cId="429306594" sldId="2147483632"/>
            <ac:spMk id="14" creationId="{1A3158E1-7695-0C81-4A14-28927869505A}"/>
          </ac:spMkLst>
        </pc:spChg>
      </pc:sldChg>
      <pc:sldChg chg="modSp">
        <pc:chgData name="Taylor Ilov" userId="S::taylor.ilov@cmsenergy.com::b3e8fa34-e639-4d12-a6dc-5e3032b39fb7" providerId="AD" clId="Web-{2443CBD6-3E37-1D36-368D-722066DFE047}" dt="2026-05-28T02:08:33.319" v="32" actId="20577"/>
        <pc:sldMkLst>
          <pc:docMk/>
          <pc:sldMk cId="1808544518" sldId="2147483637"/>
        </pc:sldMkLst>
        <pc:spChg chg="mod">
          <ac:chgData name="Taylor Ilov" userId="S::taylor.ilov@cmsenergy.com::b3e8fa34-e639-4d12-a6dc-5e3032b39fb7" providerId="AD" clId="Web-{2443CBD6-3E37-1D36-368D-722066DFE047}" dt="2026-05-28T02:08:20.194" v="30" actId="20577"/>
          <ac:spMkLst>
            <pc:docMk/>
            <pc:sldMk cId="1808544518" sldId="2147483637"/>
            <ac:spMk id="5" creationId="{2A0B2ECB-81D5-58D2-6118-D4651F04DC2A}"/>
          </ac:spMkLst>
        </pc:spChg>
        <pc:spChg chg="mod">
          <ac:chgData name="Taylor Ilov" userId="S::taylor.ilov@cmsenergy.com::b3e8fa34-e639-4d12-a6dc-5e3032b39fb7" providerId="AD" clId="Web-{2443CBD6-3E37-1D36-368D-722066DFE047}" dt="2026-05-28T02:08:33.319" v="32" actId="20577"/>
          <ac:spMkLst>
            <pc:docMk/>
            <pc:sldMk cId="1808544518" sldId="2147483637"/>
            <ac:spMk id="6" creationId="{830222EA-B48B-A73B-8B97-C9D2C354B0CD}"/>
          </ac:spMkLst>
        </pc:spChg>
      </pc:sldChg>
    </pc:docChg>
  </pc:docChgLst>
  <pc:docChgLst>
    <pc:chgData name="Jose Diaz" userId="S::jose.diaz@cmsenergy.com::517cb5ef-6fb8-49bc-8303-535c95eee28f" providerId="AD" clId="Web-{DB882715-AE1A-59AF-41B3-8B67685F0249}"/>
    <pc:docChg chg="modSld">
      <pc:chgData name="Jose Diaz" userId="S::jose.diaz@cmsenergy.com::517cb5ef-6fb8-49bc-8303-535c95eee28f" providerId="AD" clId="Web-{DB882715-AE1A-59AF-41B3-8B67685F0249}" dt="2026-06-11T04:55:44.770" v="3"/>
      <pc:docMkLst>
        <pc:docMk/>
      </pc:docMkLst>
      <pc:sldChg chg="modSp">
        <pc:chgData name="Jose Diaz" userId="S::jose.diaz@cmsenergy.com::517cb5ef-6fb8-49bc-8303-535c95eee28f" providerId="AD" clId="Web-{DB882715-AE1A-59AF-41B3-8B67685F0249}" dt="2026-06-11T04:04:17.717" v="2" actId="14100"/>
        <pc:sldMkLst>
          <pc:docMk/>
          <pc:sldMk cId="1297719090" sldId="298"/>
        </pc:sldMkLst>
        <pc:picChg chg="mod">
          <ac:chgData name="Jose Diaz" userId="S::jose.diaz@cmsenergy.com::517cb5ef-6fb8-49bc-8303-535c95eee28f" providerId="AD" clId="Web-{DB882715-AE1A-59AF-41B3-8B67685F0249}" dt="2026-06-11T04:04:17.717" v="2" actId="14100"/>
          <ac:picMkLst>
            <pc:docMk/>
            <pc:sldMk cId="1297719090" sldId="298"/>
            <ac:picMk id="6" creationId="{0C41574C-2DFB-1ED2-DA9C-8947FAD04C2A}"/>
          </ac:picMkLst>
        </pc:picChg>
      </pc:sldChg>
      <pc:sldChg chg="modSp">
        <pc:chgData name="Jose Diaz" userId="S::jose.diaz@cmsenergy.com::517cb5ef-6fb8-49bc-8303-535c95eee28f" providerId="AD" clId="Web-{DB882715-AE1A-59AF-41B3-8B67685F0249}" dt="2026-06-11T04:55:44.770" v="3"/>
        <pc:sldMkLst>
          <pc:docMk/>
          <pc:sldMk cId="67856684" sldId="317"/>
        </pc:sldMkLst>
        <pc:graphicFrameChg chg="mod modGraphic">
          <ac:chgData name="Jose Diaz" userId="S::jose.diaz@cmsenergy.com::517cb5ef-6fb8-49bc-8303-535c95eee28f" providerId="AD" clId="Web-{DB882715-AE1A-59AF-41B3-8B67685F0249}" dt="2026-06-11T04:55:44.770" v="3"/>
          <ac:graphicFrameMkLst>
            <pc:docMk/>
            <pc:sldMk cId="67856684" sldId="317"/>
            <ac:graphicFrameMk id="8" creationId="{9BEA02E7-1985-B3EF-410E-1BE82D25E3A6}"/>
          </ac:graphicFrameMkLst>
        </pc:graphicFrameChg>
      </pc:sldChg>
    </pc:docChg>
  </pc:docChgLst>
  <pc:docChgLst>
    <pc:chgData name="Jose Diaz" userId="S::jose.diaz@cmsenergy.com::517cb5ef-6fb8-49bc-8303-535c95eee28f" providerId="AD" clId="Web-{698FA6A6-DBDB-9C64-55EE-B92626812A86}"/>
    <pc:docChg chg="addSld modSld sldOrd modSection">
      <pc:chgData name="Jose Diaz" userId="S::jose.diaz@cmsenergy.com::517cb5ef-6fb8-49bc-8303-535c95eee28f" providerId="AD" clId="Web-{698FA6A6-DBDB-9C64-55EE-B92626812A86}" dt="2026-05-26T02:28:48.396" v="606" actId="1076"/>
      <pc:docMkLst>
        <pc:docMk/>
      </pc:docMkLst>
      <pc:sldChg chg="ord">
        <pc:chgData name="Jose Diaz" userId="S::jose.diaz@cmsenergy.com::517cb5ef-6fb8-49bc-8303-535c95eee28f" providerId="AD" clId="Web-{698FA6A6-DBDB-9C64-55EE-B92626812A86}" dt="2026-05-26T02:24:00.070" v="588"/>
        <pc:sldMkLst>
          <pc:docMk/>
          <pc:sldMk cId="4227511731" sldId="286"/>
        </pc:sldMkLst>
      </pc:sldChg>
      <pc:sldChg chg="addSp delSp modSp">
        <pc:chgData name="Jose Diaz" userId="S::jose.diaz@cmsenergy.com::517cb5ef-6fb8-49bc-8303-535c95eee28f" providerId="AD" clId="Web-{698FA6A6-DBDB-9C64-55EE-B92626812A86}" dt="2026-05-26T02:07:01.076" v="585" actId="1076"/>
        <pc:sldMkLst>
          <pc:docMk/>
          <pc:sldMk cId="1297719090" sldId="298"/>
        </pc:sldMkLst>
        <pc:spChg chg="mod">
          <ac:chgData name="Jose Diaz" userId="S::jose.diaz@cmsenergy.com::517cb5ef-6fb8-49bc-8303-535c95eee28f" providerId="AD" clId="Web-{698FA6A6-DBDB-9C64-55EE-B92626812A86}" dt="2026-05-26T02:04:44.155" v="486" actId="14100"/>
          <ac:spMkLst>
            <pc:docMk/>
            <pc:sldMk cId="1297719090" sldId="298"/>
            <ac:spMk id="2" creationId="{AF672614-010A-D48D-F3C5-754B9309A3F5}"/>
          </ac:spMkLst>
        </pc:spChg>
        <pc:spChg chg="add mod">
          <ac:chgData name="Jose Diaz" userId="S::jose.diaz@cmsenergy.com::517cb5ef-6fb8-49bc-8303-535c95eee28f" providerId="AD" clId="Web-{698FA6A6-DBDB-9C64-55EE-B92626812A86}" dt="2026-05-26T02:07:01.076" v="585" actId="1076"/>
          <ac:spMkLst>
            <pc:docMk/>
            <pc:sldMk cId="1297719090" sldId="298"/>
            <ac:spMk id="8" creationId="{047819ED-8129-094C-DEF9-E961BB9EAA69}"/>
          </ac:spMkLst>
        </pc:spChg>
        <pc:picChg chg="add mod">
          <ac:chgData name="Jose Diaz" userId="S::jose.diaz@cmsenergy.com::517cb5ef-6fb8-49bc-8303-535c95eee28f" providerId="AD" clId="Web-{698FA6A6-DBDB-9C64-55EE-B92626812A86}" dt="2026-05-26T02:03:20.810" v="470" actId="14100"/>
          <ac:picMkLst>
            <pc:docMk/>
            <pc:sldMk cId="1297719090" sldId="298"/>
            <ac:picMk id="6" creationId="{0C41574C-2DFB-1ED2-DA9C-8947FAD04C2A}"/>
          </ac:picMkLst>
        </pc:picChg>
      </pc:sldChg>
      <pc:sldChg chg="addSp delSp modSp add replId">
        <pc:chgData name="Jose Diaz" userId="S::jose.diaz@cmsenergy.com::517cb5ef-6fb8-49bc-8303-535c95eee28f" providerId="AD" clId="Web-{698FA6A6-DBDB-9C64-55EE-B92626812A86}" dt="2026-05-26T02:28:48.396" v="606" actId="1076"/>
        <pc:sldMkLst>
          <pc:docMk/>
          <pc:sldMk cId="766455480" sldId="305"/>
        </pc:sldMkLst>
        <pc:spChg chg="mod">
          <ac:chgData name="Jose Diaz" userId="S::jose.diaz@cmsenergy.com::517cb5ef-6fb8-49bc-8303-535c95eee28f" providerId="AD" clId="Web-{698FA6A6-DBDB-9C64-55EE-B92626812A86}" dt="2026-05-26T02:24:17.476" v="602" actId="20577"/>
          <ac:spMkLst>
            <pc:docMk/>
            <pc:sldMk cId="766455480" sldId="305"/>
            <ac:spMk id="3" creationId="{E7B4AE3D-A012-6B8A-3485-5F6BC9E4B57C}"/>
          </ac:spMkLst>
        </pc:spChg>
        <pc:picChg chg="add mod">
          <ac:chgData name="Jose Diaz" userId="S::jose.diaz@cmsenergy.com::517cb5ef-6fb8-49bc-8303-535c95eee28f" providerId="AD" clId="Web-{698FA6A6-DBDB-9C64-55EE-B92626812A86}" dt="2026-05-26T02:28:48.396" v="606" actId="1076"/>
          <ac:picMkLst>
            <pc:docMk/>
            <pc:sldMk cId="766455480" sldId="305"/>
            <ac:picMk id="4" creationId="{CD2EC8DE-77C2-556D-678E-0092231A36B0}"/>
          </ac:picMkLst>
        </pc:picChg>
      </pc:sldChg>
    </pc:docChg>
  </pc:docChgLst>
</pc:chgInfo>
</file>

<file path=ppt/comments/modernComment_7FFFFFF0_1996B2E2.xml><?xml version="1.0" encoding="utf-8"?>
<p188:cmLst xmlns:a="http://schemas.openxmlformats.org/drawingml/2006/main" xmlns:r="http://schemas.openxmlformats.org/officeDocument/2006/relationships" xmlns:p188="http://schemas.microsoft.com/office/powerpoint/2018/8/main">
  <p188:cm id="{B5A2F45D-EB6C-423D-B5E7-9CEE03B8EE39}" authorId="{501AB7E2-9689-D00B-6C95-3A5D410786DE}" status="resolved" created="2026-05-06T15:36:35.441" startDate="2026-05-06T15:36:35.441" dueDate="2026-05-06T15:36:35.441" assignedTo="{F71F5868-14A0-AE0D-85D4-64A03FE904D8}" complete="100000" title="@Taylor Ilov need to add Security Roles and resequence">
    <pc:sldMkLst xmlns:pc="http://schemas.microsoft.com/office/powerpoint/2013/main/command">
      <pc:docMk/>
      <pc:sldMk cId="429306594" sldId="2147483632"/>
    </pc:sldMkLst>
    <p188:txBody>
      <a:bodyPr/>
      <a:lstStyle/>
      <a:p>
        <a:r>
          <a:rPr lang="en-US"/>
          <a:t>[@Taylor Ilov]  need to add Security Roles and resequence</a:t>
        </a:r>
      </a:p>
    </p188:txBody>
    <p188:extLst>
      <p:ext xmlns:p="http://schemas.openxmlformats.org/presentationml/2006/main" uri="{5BB2D875-25FF-4072-B9AC-8F64D62656EB}">
        <p228:taskDetails xmlns:p228="http://schemas.microsoft.com/office/powerpoint/2022/08/main">
          <p228:history>
            <p228:event time="2026-05-06T15:36:35.441" id="{2738707F-F3B7-4525-98FE-2AB7872AD763}">
              <p228:atrbtn authorId="{501AB7E2-9689-D00B-6C95-3A5D410786DE}"/>
              <p228:anchr>
                <p228:comment id="{B5A2F45D-EB6C-423D-B5E7-9CEE03B8EE39}"/>
              </p228:anchr>
              <p228:add/>
            </p228:event>
            <p228:event time="2026-05-06T15:36:35.441" id="{3CBD1114-378D-4403-8C6F-EACE974627D5}">
              <p228:atrbtn authorId="{501AB7E2-9689-D00B-6C95-3A5D410786DE}"/>
              <p228:anchr>
                <p228:comment id="{B5A2F45D-EB6C-423D-B5E7-9CEE03B8EE39}"/>
              </p228:anchr>
              <p228:asgn authorId="{F71F5868-14A0-AE0D-85D4-64A03FE904D8}"/>
            </p228:event>
            <p228:event time="2026-05-06T15:36:35.441" id="{28FA7514-6070-4F53-817E-ABD76485CC0C}">
              <p228:atrbtn authorId="{501AB7E2-9689-D00B-6C95-3A5D410786DE}"/>
              <p228:anchr>
                <p228:comment id="{B5A2F45D-EB6C-423D-B5E7-9CEE03B8EE39}"/>
              </p228:anchr>
              <p228:title val="@Taylor Ilov need to add Security Roles and resequence"/>
            </p228:event>
            <p228:event time="2026-05-06T15:36:35.441" id="{8E0E0564-EFC1-4255-A4AC-010F1517F95E}">
              <p228:atrbtn authorId="{501AB7E2-9689-D00B-6C95-3A5D410786DE}"/>
              <p228:anchr>
                <p228:comment id="{B5A2F45D-EB6C-423D-B5E7-9CEE03B8EE39}"/>
              </p228:anchr>
              <p228:date stDt="2026-05-06T15:36:35.441" endDt="2026-05-06T15:36:35.441"/>
            </p228:event>
            <p228:event time="2026-05-06T16:54:31.534" id="{6350ABF6-92A8-44E1-B4A9-4CD7686E1AF9}">
              <p228:atrbtn authorId="{213F0180-4E89-B86B-F6E1-E03B7518BAE5}"/>
              <p228:anchr>
                <p228:comment id="{00000000-0000-0000-0000-000000000000}"/>
              </p228:anchr>
              <p228:pcntCmplt val="100000"/>
            </p228:event>
          </p228:history>
        </p228:taskDetails>
      </p:ext>
    </p188:extLst>
  </p188:cm>
</p188:cmLst>
</file>

<file path=ppt/comments/modernComment_7FFFFFFE_878C95C.xml><?xml version="1.0" encoding="utf-8"?>
<p188:cmLst xmlns:a="http://schemas.openxmlformats.org/drawingml/2006/main" xmlns:r="http://schemas.openxmlformats.org/officeDocument/2006/relationships" xmlns:p188="http://schemas.microsoft.com/office/powerpoint/2018/8/main">
  <p188:cm id="{78137C85-944B-44A9-B2AE-61B4F11C618A}" authorId="{DE9ACA47-3EA9-04A0-C6C5-013CFC6955FC}" created="2026-05-18T23:56:58.146">
    <pc:sldMkLst xmlns:pc="http://schemas.microsoft.com/office/powerpoint/2013/main/command">
      <pc:docMk/>
      <pc:sldMk cId="142133596" sldId="2147483646"/>
    </pc:sldMkLst>
    <p188:replyLst>
      <p188:reply id="{39464F60-F67E-4755-AA7C-0D2DD8DA9F63}" authorId="{55932883-5CB1-84AB-7BEE-79D4FF9FD896}" created="2026-05-19T00:32:32.314">
        <p188:txBody>
          <a:bodyPr/>
          <a:lstStyle/>
          <a:p>
            <a:r>
              <a:rPr lang="en-US"/>
              <a:t>We have the lists pulled in the event we decide to reconfig to eliminate some.  For now let's go with the assumption all will be brought in as is.</a:t>
            </a:r>
          </a:p>
        </p188:txBody>
      </p188:reply>
    </p188:replyLst>
    <p188:txBody>
      <a:bodyPr/>
      <a:lstStyle/>
      <a:p>
        <a:r>
          <a:rPr lang="en-US"/>
          <a:t>[@TARAH A WILSON] [@DAWN M PETTENGILL]  please confirm all ID types will be configured in Service Cloud v2</a:t>
        </a:r>
      </a:p>
    </p188:txBody>
  </p188:cm>
</p188:cmLst>
</file>

<file path=ppt/comments/modernComment_7FFFFFFF_36DBBC60.xml><?xml version="1.0" encoding="utf-8"?>
<p188:cmLst xmlns:a="http://schemas.openxmlformats.org/drawingml/2006/main" xmlns:r="http://schemas.openxmlformats.org/officeDocument/2006/relationships" xmlns:p188="http://schemas.microsoft.com/office/powerpoint/2018/8/main">
  <p188:cm id="{AD0DC0DA-1C97-4E3A-AB79-15BBCE0E51B2}" authorId="{DE9ACA47-3EA9-04A0-C6C5-013CFC6955FC}" created="2026-05-18T23:57:29.351">
    <pc:sldMkLst xmlns:pc="http://schemas.microsoft.com/office/powerpoint/2013/main/command">
      <pc:docMk/>
      <pc:sldMk cId="920370272" sldId="2147483647"/>
    </pc:sldMkLst>
    <p188:replyLst>
      <p188:reply id="{6773A9F7-A490-41F9-ADA8-11F88609EAB8}" authorId="{55932883-5CB1-84AB-7BEE-79D4FF9FD896}" created="2026-05-19T00:33:04.532">
        <p188:txBody>
          <a:bodyPr/>
          <a:lstStyle/>
          <a:p>
            <a:r>
              <a:rPr lang="en-US"/>
              <a:t>Same assumption - all will be brought in as of now.</a:t>
            </a:r>
          </a:p>
        </p188:txBody>
      </p188:reply>
    </p188:replyLst>
    <p188:txBody>
      <a:bodyPr/>
      <a:lstStyle/>
      <a:p>
        <a:r>
          <a:rPr lang="en-US"/>
          <a:t>[@TARAH A WILSON] [@DAWN M PETTENGILL] Please confirm that all BP Relationships will be configured in Service Cloud v2</a:t>
        </a:r>
      </a:p>
    </p188:txBody>
  </p188:cm>
</p188:cmLst>
</file>

<file path=ppt/comments/modernComment_11A_1E4CE9D1.xml><?xml version="1.0" encoding="utf-8"?>
<p188:cmLst xmlns:a="http://schemas.openxmlformats.org/drawingml/2006/main" xmlns:r="http://schemas.openxmlformats.org/officeDocument/2006/relationships" xmlns:p188="http://schemas.microsoft.com/office/powerpoint/2018/8/main">
  <p188:cm id="{BD58619F-F84F-4FD7-B5EF-13DE4AE8DB94}" authorId="{FD054E2A-988F-FF15-C981-8B792429B072}" created="2026-05-20T12:54:21.035">
    <ac:txMkLst xmlns:ac="http://schemas.microsoft.com/office/drawing/2013/main/command">
      <pc:docMk xmlns:pc="http://schemas.microsoft.com/office/powerpoint/2013/main/command"/>
      <pc:sldMk xmlns:pc="http://schemas.microsoft.com/office/powerpoint/2013/main/command" cId="508357073" sldId="282"/>
      <ac:spMk id="8" creationId="{F396E990-83E8-68C0-70CE-FC690B98AB01}"/>
      <ac:txMk cp="930" len="53">
        <ac:context len="1501" hash="1976981827"/>
      </ac:txMk>
    </ac:txMkLst>
    <p188:pos x="9164535" y="1448765"/>
    <p188:txBody>
      <a:bodyPr/>
      <a:lstStyle/>
      <a:p>
        <a:r>
          <a:rPr lang="en-US"/>
          <a:t>[@Jose Diaz] - can we confirm 45 in ECC as I am seeing 60 in Prod &amp; Q - SD1 has 109</a:t>
        </a:r>
      </a:p>
    </p188:txBody>
  </p188:cm>
</p188:cmLst>
</file>

<file path=ppt/comments/modernComment_11B_9EC8F32F.xml><?xml version="1.0" encoding="utf-8"?>
<p188:cmLst xmlns:a="http://schemas.openxmlformats.org/drawingml/2006/main" xmlns:r="http://schemas.openxmlformats.org/officeDocument/2006/relationships" xmlns:p188="http://schemas.microsoft.com/office/powerpoint/2018/8/main">
  <p188:cm id="{DCD15434-DC81-41AF-ACAE-EAFD25B58B4D}" authorId="{06E22CA2-C0F8-AC46-CA2A-3E2B1B6644D3}" created="2026-05-19T13:54:49.639">
    <ac:deMkLst xmlns:ac="http://schemas.microsoft.com/office/drawing/2013/main/command">
      <pc:docMk xmlns:pc="http://schemas.microsoft.com/office/powerpoint/2013/main/command"/>
      <pc:sldMk xmlns:pc="http://schemas.microsoft.com/office/powerpoint/2013/main/command" cId="2663969583" sldId="283"/>
      <ac:picMk id="4" creationId="{4B5450D9-95B2-2AEB-3BC7-7D2DF148BA0E}"/>
    </ac:deMkLst>
    <p188:txBody>
      <a:bodyPr/>
      <a:lstStyle/>
      <a:p>
        <a:r>
          <a:rPr lang="en-US"/>
          <a:t>Do we want to cover Account Overview here too or just history? I don't have much on Account History specific</a:t>
        </a:r>
      </a:p>
    </p188:txBody>
  </p188:cm>
</p188:cmLst>
</file>

<file path=ppt/comments/modernComment_11C_5FAB239F.xml><?xml version="1.0" encoding="utf-8"?>
<p188:cmLst xmlns:a="http://schemas.openxmlformats.org/drawingml/2006/main" xmlns:r="http://schemas.openxmlformats.org/officeDocument/2006/relationships" xmlns:p188="http://schemas.microsoft.com/office/powerpoint/2018/8/main">
  <p188:cm id="{E70C24F4-0C64-47BD-9454-87D58F4E1385}" authorId="{06E22CA2-C0F8-AC46-CA2A-3E2B1B6644D3}" created="2026-05-19T13:49:06.406">
    <ac:deMkLst xmlns:ac="http://schemas.microsoft.com/office/drawing/2013/main/command">
      <pc:docMk xmlns:pc="http://schemas.microsoft.com/office/powerpoint/2013/main/command"/>
      <pc:sldMk xmlns:pc="http://schemas.microsoft.com/office/powerpoint/2013/main/command" cId="1605051295" sldId="284"/>
      <ac:picMk id="5" creationId="{1700F60B-8F77-4DD2-FDEC-8BB77A1C8D27}"/>
    </ac:deMkLst>
    <p188:txBody>
      <a:bodyPr/>
      <a:lstStyle/>
      <a:p>
        <a:r>
          <a:rPr lang="en-US"/>
          <a:t>I didn't have notes on Data Environments in the Master Data lens, but I did have a note from Order Management Topic that there is an opportunity to remove Data Environments in Future State</a:t>
        </a:r>
      </a:p>
    </p188:txBody>
  </p188:cm>
  <p188:cm id="{4AE29C05-C4C8-4F70-A935-D0097B21F602}" authorId="{DE9ACA47-3EA9-04A0-C6C5-013CFC6955FC}" created="2026-05-20T21:55:59.270">
    <pc:sldMkLst xmlns:pc="http://schemas.microsoft.com/office/powerpoint/2013/main/command">
      <pc:docMk/>
      <pc:sldMk cId="1605051295" sldId="284"/>
    </pc:sldMkLst>
    <p188:txBody>
      <a:bodyPr/>
      <a:lstStyle/>
      <a:p>
        <a:r>
          <a:rPr lang="en-US"/>
          <a:t>How often is this being used? This looks duplicative of the Fact Sheet. SAP Service Cloud v2 does not support this out of the box. </a:t>
        </a:r>
      </a:p>
    </p188:txBody>
  </p188:cm>
  <p188:cm id="{140C16C9-5230-4716-AD6C-54A082A58B84}" authorId="{DE9ACA47-3EA9-04A0-C6C5-013CFC6955FC}" created="2026-05-24T12:24:24.247">
    <pc:sldMkLst xmlns:pc="http://schemas.microsoft.com/office/powerpoint/2013/main/command">
      <pc:docMk/>
      <pc:sldMk cId="1605051295" sldId="284"/>
    </pc:sldMkLst>
    <p188:txBody>
      <a:bodyPr/>
      <a:lstStyle/>
      <a:p>
        <a:r>
          <a:rPr lang="en-US"/>
          <a:t>[@DAWN M PETTENGILL] [@TARAH A WILSON]  what is a "Risk Class"?</a:t>
        </a:r>
      </a:p>
    </p188:txBody>
  </p188:cm>
</p188:cmLst>
</file>

<file path=ppt/comments/modernComment_11E_FBFAB5B3.xml><?xml version="1.0" encoding="utf-8"?>
<p188:cmLst xmlns:a="http://schemas.openxmlformats.org/drawingml/2006/main" xmlns:r="http://schemas.openxmlformats.org/officeDocument/2006/relationships" xmlns:p188="http://schemas.microsoft.com/office/powerpoint/2018/8/main">
  <p188:cm id="{D8A3209A-CF98-4196-8677-9BB2D45E8BDD}" authorId="{DE9ACA47-3EA9-04A0-C6C5-013CFC6955FC}" created="2026-05-24T12:18:45.785">
    <pc:sldMkLst xmlns:pc="http://schemas.microsoft.com/office/powerpoint/2013/main/command">
      <pc:docMk/>
      <pc:sldMk cId="4227511731" sldId="286"/>
    </pc:sldMkLst>
    <p188:replyLst>
      <p188:reply id="{D09FDF18-88F1-4B34-A887-3F9586F2496C}" authorId="{FD054E2A-988F-FF15-C981-8B792429B072}" created="2026-05-26T13:26:22.220">
        <p188:txBody>
          <a:bodyPr/>
          <a:lstStyle/>
          <a:p>
            <a:r>
              <a:rPr lang="en-US"/>
              <a:t>Will talk with BCC about this and see if they use as there is nothing in the drop downs to select</a:t>
            </a:r>
          </a:p>
        </p188:txBody>
      </p188:reply>
    </p188:replyLst>
    <p188:txBody>
      <a:bodyPr/>
      <a:lstStyle/>
      <a:p>
        <a:r>
          <a:rPr lang="en-US"/>
          <a:t>[@DAWN M PETTENGILL] [@TARAH A WILSON] - is Promise to Pay a process used at Consumers? I don't see any values to select. </a:t>
        </a:r>
      </a:p>
    </p188:txBody>
  </p188:cm>
  <p188:cm id="{58D1BF8F-B94C-4C3A-AFAA-01AE083223E9}" authorId="{DE9ACA47-3EA9-04A0-C6C5-013CFC6955FC}" created="2026-05-24T12:20:05.568">
    <pc:sldMkLst xmlns:pc="http://schemas.microsoft.com/office/powerpoint/2013/main/command">
      <pc:docMk/>
      <pc:sldMk cId="4227511731" sldId="286"/>
    </pc:sldMkLst>
    <p188:replyLst>
      <p188:reply id="{2D33AAF1-D500-497A-ABAB-A413E13D2A8A}" authorId="{FD054E2A-988F-FF15-C981-8B792429B072}" created="2026-05-26T13:25:51.434">
        <p188:txBody>
          <a:bodyPr/>
          <a:lstStyle/>
          <a:p>
            <a:r>
              <a:rPr lang="en-US"/>
              <a:t>A lot of users put locks - can use FPL9 is reset needed</a:t>
            </a:r>
          </a:p>
        </p188:txBody>
      </p188:reply>
    </p188:replyLst>
    <p188:txBody>
      <a:bodyPr/>
      <a:lstStyle/>
      <a:p>
        <a:r>
          <a:rPr lang="en-US"/>
          <a:t>[@DAWN M PETTENGILL] [@TARAH A WILSON] what kind of user in the system would place locks or perform clearing resets on the financial documents? </a:t>
        </a:r>
      </a:p>
    </p188:txBody>
  </p188:cm>
</p188:cmLst>
</file>

<file path=ppt/comments/modernComment_120_4A7B5DA3.xml><?xml version="1.0" encoding="utf-8"?>
<p188:cmLst xmlns:a="http://schemas.openxmlformats.org/drawingml/2006/main" xmlns:r="http://schemas.openxmlformats.org/officeDocument/2006/relationships" xmlns:p188="http://schemas.microsoft.com/office/powerpoint/2018/8/main">
  <p188:cm id="{6AAD6184-24B2-4F62-BB4F-A5DA9AD27CA4}" authorId="{DE9ACA47-3EA9-04A0-C6C5-013CFC6955FC}" created="2026-05-24T12:46:54.922">
    <ac:deMkLst xmlns:ac="http://schemas.microsoft.com/office/drawing/2013/main/command">
      <pc:docMk xmlns:pc="http://schemas.microsoft.com/office/powerpoint/2013/main/command"/>
      <pc:sldMk xmlns:pc="http://schemas.microsoft.com/office/powerpoint/2013/main/command" cId="1249598883" sldId="288"/>
      <ac:spMk id="6" creationId="{C4BC3AF3-02AE-6C70-4F5D-DA48A2E2878A}"/>
    </ac:deMkLst>
    <p188:replyLst>
      <p188:reply id="{79D65BAD-3CDF-4C83-99A8-7666582E661F}" authorId="{FD054E2A-988F-FF15-C981-8B792429B072}" created="2026-05-26T13:30:46.292">
        <p188:txBody>
          <a:bodyPr/>
          <a:lstStyle/>
          <a:p>
            <a:r>
              <a:rPr lang="en-US"/>
              <a:t>It is the day the document posted to the accounts - not necessarily when it cleared
</a:t>
            </a:r>
          </a:p>
        </p188:txBody>
      </p188:reply>
    </p188:replyLst>
    <p188:txBody>
      <a:bodyPr/>
      <a:lstStyle/>
      <a:p>
        <a:r>
          <a:rPr lang="en-US"/>
          <a:t>[@DAWN M PETTENGILL] [@TARAH A WILSON]  Can you help me understand the "Posting Date" here? These dates look like when the charges cleared. Is that correct?</a:t>
        </a:r>
      </a:p>
    </p188:txBody>
  </p188:cm>
  <p188:cm id="{C729B249-DDB7-4FBF-9C1C-5D011D1D535B}" authorId="{DE9ACA47-3EA9-04A0-C6C5-013CFC6955FC}" created="2026-05-24T12:48:11.080">
    <ac:deMkLst xmlns:ac="http://schemas.microsoft.com/office/drawing/2013/main/command">
      <pc:docMk xmlns:pc="http://schemas.microsoft.com/office/powerpoint/2013/main/command"/>
      <pc:sldMk xmlns:pc="http://schemas.microsoft.com/office/powerpoint/2013/main/command" cId="1249598883" sldId="288"/>
      <ac:spMk id="6" creationId="{C4BC3AF3-02AE-6C70-4F5D-DA48A2E2878A}"/>
    </ac:deMkLst>
    <p188:replyLst>
      <p188:reply id="{F860DB0C-50D2-48A1-8CF3-C85D4D71D35B}" authorId="{FD054E2A-988F-FF15-C981-8B792429B072}" created="2026-05-26T13:44:04.367">
        <p188:txBody>
          <a:bodyPr/>
          <a:lstStyle/>
          <a:p>
            <a:r>
              <a:rPr lang="en-US"/>
              <a:t>Mostly CSRs use this - BCC may also - it lets them know how payment payment was made - let’s discuss further about adding it to the screen on page 19</a:t>
            </a:r>
          </a:p>
        </p188:txBody>
      </p188:reply>
    </p188:replyLst>
    <p188:txBody>
      <a:bodyPr/>
      <a:lstStyle/>
      <a:p>
        <a:r>
          <a:rPr lang="en-US"/>
          <a:t>[@DAWN M PETTENGILL] [@TARAH A WILSON] what users in the system require viewing the recon keys and having a help screen in understanding the recon keys better? </a:t>
        </a:r>
      </a:p>
    </p188:txBody>
  </p188:cm>
</p188:cmLst>
</file>

<file path=ppt/comments/modernComment_121_B30AEBD6.xml><?xml version="1.0" encoding="utf-8"?>
<p188:cmLst xmlns:a="http://schemas.openxmlformats.org/drawingml/2006/main" xmlns:r="http://schemas.openxmlformats.org/officeDocument/2006/relationships" xmlns:p188="http://schemas.microsoft.com/office/powerpoint/2018/8/main">
  <p188:cm id="{F1BAD9A5-55A1-4B9D-B859-DCE757629631}" authorId="{DE9ACA47-3EA9-04A0-C6C5-013CFC6955FC}" created="2026-05-25T12:07:01.852">
    <pc:sldMkLst xmlns:pc="http://schemas.microsoft.com/office/powerpoint/2013/main/command">
      <pc:docMk/>
      <pc:sldMk cId="3003837398" sldId="289"/>
    </pc:sldMkLst>
    <p188:replyLst>
      <p188:reply id="{D168DF03-6F06-4D10-A9B3-A05E06C3DDE8}" authorId="{FD054E2A-988F-FF15-C981-8B792429B072}" created="2026-05-26T13:53:21.172">
        <p188:txBody>
          <a:bodyPr/>
          <a:lstStyle/>
          <a:p>
            <a:r>
              <a:rPr lang="en-US"/>
              <a:t>They use it to talk thru accounts details - like balances, payments etc...is this view available in S4 as fiori tile?
</a:t>
            </a:r>
          </a:p>
        </p188:txBody>
      </p188:reply>
    </p188:replyLst>
    <p188:txBody>
      <a:bodyPr/>
      <a:lstStyle/>
      <a:p>
        <a:r>
          <a:rPr lang="en-US"/>
          <a:t>[@DAWN M PETTENGILL] [@TARAH A WILSON] when a user navigates to this screen, what decision are they trying to make or what customer question are they trying to answer? </a:t>
        </a:r>
      </a:p>
    </p188:txBody>
  </p188:cm>
  <p188:cm id="{77FDDB35-DC39-45C5-9E41-766CC6095C2E}" authorId="{FD054E2A-988F-FF15-C981-8B792429B072}" created="2026-05-26T14:03:04.543">
    <pc:sldMkLst xmlns:pc="http://schemas.microsoft.com/office/powerpoint/2013/main/command">
      <pc:docMk/>
      <pc:sldMk cId="3003837398" sldId="289"/>
    </pc:sldMkLst>
    <p188:txBody>
      <a:bodyPr/>
      <a:lstStyle/>
      <a:p>
        <a:r>
          <a:rPr lang="en-US"/>
          <a:t>[@Jose Diaz] - we will need the outage credit report available - can use Fiori Tile if too customized for V2</a:t>
        </a:r>
      </a:p>
    </p188:txBody>
  </p188:cm>
</p188:cmLst>
</file>

<file path=ppt/comments/modernComment_123_6609176F.xml><?xml version="1.0" encoding="utf-8"?>
<p188:cmLst xmlns:a="http://schemas.openxmlformats.org/drawingml/2006/main" xmlns:r="http://schemas.openxmlformats.org/officeDocument/2006/relationships" xmlns:p188="http://schemas.microsoft.com/office/powerpoint/2018/8/main">
  <p188:cm id="{2D00C9AF-476C-4B43-BC62-7EFC4B026E24}" authorId="{DE9ACA47-3EA9-04A0-C6C5-013CFC6955FC}" created="2026-05-24T12:21:20.226">
    <pc:sldMkLst xmlns:pc="http://schemas.microsoft.com/office/powerpoint/2013/main/command">
      <pc:docMk/>
      <pc:sldMk cId="1711871855" sldId="291"/>
    </pc:sldMkLst>
    <p188:replyLst>
      <p188:reply id="{33A006EF-7437-45DA-9D7D-E2727CEBAD2E}" authorId="{FD054E2A-988F-FF15-C981-8B792429B072}" created="2026-05-26T13:10:04.375">
        <p188:txBody>
          <a:bodyPr/>
          <a:lstStyle/>
          <a:p>
            <a:r>
              <a:rPr lang="en-US"/>
              <a:t>They can use fpl9</a:t>
            </a:r>
          </a:p>
        </p188:txBody>
      </p188:reply>
    </p188:replyLst>
    <p188:txBody>
      <a:bodyPr/>
      <a:lstStyle/>
      <a:p>
        <a:r>
          <a:rPr lang="en-US"/>
          <a:t>[@DAWN M PETTENGILL] [@TARAH A WILSON] what users in the system would need to see which G/L account the money is going to? </a:t>
        </a:r>
      </a:p>
    </p188:txBody>
  </p188:cm>
  <p188:cm id="{6AD99EA0-272B-49D3-ADBF-F04545DC65E5}" authorId="{DE9ACA47-3EA9-04A0-C6C5-013CFC6955FC}" created="2026-05-24T12:22:19.384">
    <pc:sldMkLst xmlns:pc="http://schemas.microsoft.com/office/powerpoint/2013/main/command">
      <pc:docMk/>
      <pc:sldMk cId="1711871855" sldId="291"/>
    </pc:sldMkLst>
    <p188:replyLst>
      <p188:reply id="{0D3FE07E-C733-4C3F-9185-B17A6F18C516}" authorId="{FD054E2A-988F-FF15-C981-8B792429B072}" created="2026-05-26T13:09:57.841">
        <p188:txBody>
          <a:bodyPr/>
          <a:lstStyle/>
          <a:p>
            <a:r>
              <a:rPr lang="en-US"/>
              <a:t>It isn’t</a:t>
            </a:r>
          </a:p>
        </p188:txBody>
      </p188:reply>
    </p188:replyLst>
    <p188:txBody>
      <a:bodyPr/>
      <a:lstStyle/>
      <a:p>
        <a:r>
          <a:rPr lang="en-US"/>
          <a:t>[@DAWN M PETTENGILL] [@TARAH A WILSON]  what is Interest Info being used for? </a:t>
        </a:r>
      </a:p>
    </p188:txBody>
  </p188:cm>
  <p188:cm id="{BBAB38D4-9C0A-4D5F-BC14-6DA033A76AA6}" authorId="{DE9ACA47-3EA9-04A0-C6C5-013CFC6955FC}" created="2026-05-24T12:23:14.574">
    <pc:sldMkLst xmlns:pc="http://schemas.microsoft.com/office/powerpoint/2013/main/command">
      <pc:docMk/>
      <pc:sldMk cId="1711871855" sldId="291"/>
    </pc:sldMkLst>
    <p188:replyLst>
      <p188:reply id="{07E6BDA9-FFFA-4CAF-B53C-C66CF9512F8C}" authorId="{FD054E2A-988F-FF15-C981-8B792429B072}" created="2026-05-26T13:19:10.513">
        <p188:txBody>
          <a:bodyPr/>
          <a:lstStyle/>
          <a:p>
            <a:r>
              <a:rPr lang="en-US"/>
              <a:t>Reversal action show the actual doc reversed - reverse allows user to reverse</a:t>
            </a:r>
          </a:p>
        </p188:txBody>
      </p188:reply>
    </p188:replyLst>
    <p188:txBody>
      <a:bodyPr/>
      <a:lstStyle/>
      <a:p>
        <a:r>
          <a:rPr lang="en-US"/>
          <a:t>[@DAWN M PETTENGILL] [@TARAH A WILSON] what is the difference between the "Reversal" action and the "Reverse" action? What kind of user is taking these actions in CRM?</a:t>
        </a:r>
      </a:p>
    </p188:txBody>
  </p188:cm>
  <p188:cm id="{F17B488A-E23C-450B-8B73-DAC1B56C30E5}" authorId="{FD054E2A-988F-FF15-C981-8B792429B072}" created="2026-05-26T13:19:47.962">
    <pc:sldMkLst xmlns:pc="http://schemas.microsoft.com/office/powerpoint/2013/main/command">
      <pc:docMk/>
      <pc:sldMk cId="1711871855" sldId="291"/>
    </pc:sldMkLst>
    <p188:txBody>
      <a:bodyPr/>
      <a:lstStyle/>
      <a:p>
        <a:r>
          <a:rPr lang="en-US"/>
          <a:t>Tarah and I agree these screens are not needed if they are not standard in V2</a:t>
        </a:r>
      </a:p>
    </p188:txBody>
  </p188:cm>
</p188:cmLst>
</file>

<file path=ppt/comments/modernComment_131_2DAF2EB8.xml><?xml version="1.0" encoding="utf-8"?>
<p188:cmLst xmlns:a="http://schemas.openxmlformats.org/drawingml/2006/main" xmlns:r="http://schemas.openxmlformats.org/officeDocument/2006/relationships" xmlns:p188="http://schemas.microsoft.com/office/powerpoint/2018/8/main">
  <p188:cm id="{FF4CF7D7-E933-4699-8038-76506069B21C}" authorId="{DE9ACA47-3EA9-04A0-C6C5-013CFC6955FC}" created="2026-05-26T11:09:34.295">
    <pc:sldMkLst xmlns:pc="http://schemas.microsoft.com/office/powerpoint/2013/main/command">
      <pc:docMk/>
      <pc:sldMk cId="766455480" sldId="305"/>
    </pc:sldMkLst>
    <p188:replyLst>
      <p188:reply id="{8503A672-4A8A-41A8-94CE-24C6496D505E}" authorId="{FD054E2A-988F-FF15-C981-8B792429B072}" created="2026-05-26T13:27:35.846">
        <p188:txBody>
          <a:bodyPr/>
          <a:lstStyle/>
          <a:p>
            <a:r>
              <a:rPr lang="en-US"/>
              <a:t>We would want this in V2</a:t>
            </a:r>
          </a:p>
        </p188:txBody>
      </p188:reply>
    </p188:replyLst>
    <p188:txBody>
      <a:bodyPr/>
      <a:lstStyle/>
      <a:p>
        <a:r>
          <a:rPr lang="en-US"/>
          <a:t>[@DAWN M PETTENGILL] [@TARAH A WILSON] are users able to make financial adjustments to a customer's account in CRM? I don't see this functionality. If no, then we will remove this option in Service Cloud. If yes, can you please provide the document types allowed and if there any dollar limits? </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F1536C-72B3-4727-AA96-4654A4ECC10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835005E-186E-448C-92F7-7A353F53C058}">
      <dgm:prSet phldrT="[Text]" phldr="0"/>
      <dgm:spPr/>
      <dgm:t>
        <a:bodyPr/>
        <a:lstStyle/>
        <a:p>
          <a:r>
            <a:rPr lang="en-US"/>
            <a:t>Ownership</a:t>
          </a:r>
        </a:p>
      </dgm:t>
    </dgm:pt>
    <dgm:pt modelId="{CF0CE319-4541-4F7A-9BF3-389A79BD3EFA}" type="parTrans" cxnId="{E1230770-B2CB-42BE-B101-C22528F8734F}">
      <dgm:prSet/>
      <dgm:spPr/>
      <dgm:t>
        <a:bodyPr/>
        <a:lstStyle/>
        <a:p>
          <a:endParaRPr lang="en-US"/>
        </a:p>
      </dgm:t>
    </dgm:pt>
    <dgm:pt modelId="{661A60E0-F463-47E7-A4EB-F4EC758D261B}" type="sibTrans" cxnId="{E1230770-B2CB-42BE-B101-C22528F8734F}">
      <dgm:prSet/>
      <dgm:spPr/>
      <dgm:t>
        <a:bodyPr/>
        <a:lstStyle/>
        <a:p>
          <a:endParaRPr lang="en-US"/>
        </a:p>
      </dgm:t>
    </dgm:pt>
    <dgm:pt modelId="{A386FDFA-AB45-4A85-B36A-1C68B1269C8B}">
      <dgm:prSet phldrT="[Text]" phldr="0"/>
      <dgm:spPr/>
      <dgm:t>
        <a:bodyPr/>
        <a:lstStyle/>
        <a:p>
          <a:pPr rtl="0"/>
          <a:r>
            <a:rPr lang="en-US">
              <a:latin typeface="Montserrat"/>
            </a:rPr>
            <a:t>L3 Processes</a:t>
          </a:r>
          <a:endParaRPr lang="en-US"/>
        </a:p>
      </dgm:t>
    </dgm:pt>
    <dgm:pt modelId="{C5C46725-2607-4BE0-8E5E-A95CCB51BBD4}" type="parTrans" cxnId="{001673A9-AA17-4529-B4CF-5674A6454B71}">
      <dgm:prSet/>
      <dgm:spPr/>
      <dgm:t>
        <a:bodyPr/>
        <a:lstStyle/>
        <a:p>
          <a:endParaRPr lang="en-US"/>
        </a:p>
      </dgm:t>
    </dgm:pt>
    <dgm:pt modelId="{0C3B4101-C2C8-469C-8405-773E0809C5F1}" type="sibTrans" cxnId="{001673A9-AA17-4529-B4CF-5674A6454B71}">
      <dgm:prSet/>
      <dgm:spPr/>
      <dgm:t>
        <a:bodyPr/>
        <a:lstStyle/>
        <a:p>
          <a:endParaRPr lang="en-US"/>
        </a:p>
      </dgm:t>
    </dgm:pt>
    <dgm:pt modelId="{6E64E3AC-7CF5-4F1E-B6AB-454B56C79D8A}">
      <dgm:prSet phldrT="[Text]" phldr="0"/>
      <dgm:spPr/>
      <dgm:t>
        <a:bodyPr/>
        <a:lstStyle/>
        <a:p>
          <a:pPr rtl="0"/>
          <a:r>
            <a:rPr lang="en-US">
              <a:latin typeface="Montserrat"/>
            </a:rPr>
            <a:t>Assumptions / Decisions</a:t>
          </a:r>
          <a:endParaRPr lang="en-US"/>
        </a:p>
      </dgm:t>
    </dgm:pt>
    <dgm:pt modelId="{63F2FF52-7063-4B47-90C4-1871B8F8D58F}" type="parTrans" cxnId="{3A22FE49-5768-4E73-8F21-30E9D7795088}">
      <dgm:prSet/>
      <dgm:spPr/>
      <dgm:t>
        <a:bodyPr/>
        <a:lstStyle/>
        <a:p>
          <a:endParaRPr lang="en-US"/>
        </a:p>
      </dgm:t>
    </dgm:pt>
    <dgm:pt modelId="{7BFE9899-3405-4418-818B-35F39D3114C7}" type="sibTrans" cxnId="{3A22FE49-5768-4E73-8F21-30E9D7795088}">
      <dgm:prSet/>
      <dgm:spPr/>
      <dgm:t>
        <a:bodyPr/>
        <a:lstStyle/>
        <a:p>
          <a:endParaRPr lang="en-US"/>
        </a:p>
      </dgm:t>
    </dgm:pt>
    <dgm:pt modelId="{2D6BC8EA-0C3C-48D1-9E39-98C24E330ECF}">
      <dgm:prSet phldrT="[Text]" phldr="0"/>
      <dgm:spPr/>
      <dgm:t>
        <a:bodyPr/>
        <a:lstStyle/>
        <a:p>
          <a:pPr rtl="0"/>
          <a:r>
            <a:rPr lang="en-US">
              <a:latin typeface="Montserrat"/>
            </a:rPr>
            <a:t>FRICE-W / Reports </a:t>
          </a:r>
          <a:endParaRPr lang="en-US"/>
        </a:p>
      </dgm:t>
    </dgm:pt>
    <dgm:pt modelId="{2AA7330E-1054-4B89-80A3-3E94A83B8FAE}" type="parTrans" cxnId="{F8CF10FC-709A-433F-BA12-F504E95CDFC4}">
      <dgm:prSet/>
      <dgm:spPr/>
      <dgm:t>
        <a:bodyPr/>
        <a:lstStyle/>
        <a:p>
          <a:endParaRPr lang="en-US"/>
        </a:p>
      </dgm:t>
    </dgm:pt>
    <dgm:pt modelId="{0B07016A-30F3-460D-B185-1BB845EF023E}" type="sibTrans" cxnId="{F8CF10FC-709A-433F-BA12-F504E95CDFC4}">
      <dgm:prSet/>
      <dgm:spPr/>
      <dgm:t>
        <a:bodyPr/>
        <a:lstStyle/>
        <a:p>
          <a:endParaRPr lang="en-US"/>
        </a:p>
      </dgm:t>
    </dgm:pt>
    <dgm:pt modelId="{6CA559E8-6AF2-447C-8DD9-C0A4A3173B8D}" type="pres">
      <dgm:prSet presAssocID="{A5F1536C-72B3-4727-AA96-4654A4ECC10D}" presName="diagram" presStyleCnt="0">
        <dgm:presLayoutVars>
          <dgm:dir/>
          <dgm:resizeHandles val="exact"/>
        </dgm:presLayoutVars>
      </dgm:prSet>
      <dgm:spPr/>
    </dgm:pt>
    <dgm:pt modelId="{C5456D16-9E26-4641-8561-7AB2DC2892A1}" type="pres">
      <dgm:prSet presAssocID="{0835005E-186E-448C-92F7-7A353F53C058}" presName="node" presStyleLbl="node1" presStyleIdx="0" presStyleCnt="4">
        <dgm:presLayoutVars>
          <dgm:bulletEnabled val="1"/>
        </dgm:presLayoutVars>
      </dgm:prSet>
      <dgm:spPr/>
    </dgm:pt>
    <dgm:pt modelId="{EB465503-EE64-413F-8546-F39418DA48BD}" type="pres">
      <dgm:prSet presAssocID="{661A60E0-F463-47E7-A4EB-F4EC758D261B}" presName="sibTrans" presStyleCnt="0"/>
      <dgm:spPr/>
    </dgm:pt>
    <dgm:pt modelId="{0681D486-1913-499F-8A19-864F5A182084}" type="pres">
      <dgm:prSet presAssocID="{A386FDFA-AB45-4A85-B36A-1C68B1269C8B}" presName="node" presStyleLbl="node1" presStyleIdx="1" presStyleCnt="4">
        <dgm:presLayoutVars>
          <dgm:bulletEnabled val="1"/>
        </dgm:presLayoutVars>
      </dgm:prSet>
      <dgm:spPr>
        <a:solidFill>
          <a:schemeClr val="accent5"/>
        </a:solidFill>
      </dgm:spPr>
    </dgm:pt>
    <dgm:pt modelId="{017697F8-4123-4DAC-82AE-625CA7807C87}" type="pres">
      <dgm:prSet presAssocID="{0C3B4101-C2C8-469C-8405-773E0809C5F1}" presName="sibTrans" presStyleCnt="0"/>
      <dgm:spPr/>
    </dgm:pt>
    <dgm:pt modelId="{A9CCABBC-7E35-4CE9-85CC-84896E892DBC}" type="pres">
      <dgm:prSet presAssocID="{6E64E3AC-7CF5-4F1E-B6AB-454B56C79D8A}" presName="node" presStyleLbl="node1" presStyleIdx="2" presStyleCnt="4">
        <dgm:presLayoutVars>
          <dgm:bulletEnabled val="1"/>
        </dgm:presLayoutVars>
      </dgm:prSet>
      <dgm:spPr>
        <a:solidFill>
          <a:schemeClr val="accent2"/>
        </a:solidFill>
      </dgm:spPr>
    </dgm:pt>
    <dgm:pt modelId="{5E32E625-5B7B-4B35-9939-52EB74474934}" type="pres">
      <dgm:prSet presAssocID="{7BFE9899-3405-4418-818B-35F39D3114C7}" presName="sibTrans" presStyleCnt="0"/>
      <dgm:spPr/>
    </dgm:pt>
    <dgm:pt modelId="{E01A8240-A642-42B5-91EE-62F4F6994E61}" type="pres">
      <dgm:prSet presAssocID="{2D6BC8EA-0C3C-48D1-9E39-98C24E330ECF}" presName="node" presStyleLbl="node1" presStyleIdx="3" presStyleCnt="4">
        <dgm:presLayoutVars>
          <dgm:bulletEnabled val="1"/>
        </dgm:presLayoutVars>
      </dgm:prSet>
      <dgm:spPr>
        <a:solidFill>
          <a:schemeClr val="accent1">
            <a:lumMod val="60000"/>
            <a:lumOff val="40000"/>
          </a:schemeClr>
        </a:solidFill>
      </dgm:spPr>
    </dgm:pt>
  </dgm:ptLst>
  <dgm:cxnLst>
    <dgm:cxn modelId="{BD93E006-131C-400F-B06A-FFB763E76DBF}" type="presOf" srcId="{2D6BC8EA-0C3C-48D1-9E39-98C24E330ECF}" destId="{E01A8240-A642-42B5-91EE-62F4F6994E61}" srcOrd="0" destOrd="0" presId="urn:microsoft.com/office/officeart/2005/8/layout/default"/>
    <dgm:cxn modelId="{3A22FE49-5768-4E73-8F21-30E9D7795088}" srcId="{A5F1536C-72B3-4727-AA96-4654A4ECC10D}" destId="{6E64E3AC-7CF5-4F1E-B6AB-454B56C79D8A}" srcOrd="2" destOrd="0" parTransId="{63F2FF52-7063-4B47-90C4-1871B8F8D58F}" sibTransId="{7BFE9899-3405-4418-818B-35F39D3114C7}"/>
    <dgm:cxn modelId="{9CC0CF4B-0F66-4750-B808-9BE3933F6BCD}" type="presOf" srcId="{6E64E3AC-7CF5-4F1E-B6AB-454B56C79D8A}" destId="{A9CCABBC-7E35-4CE9-85CC-84896E892DBC}" srcOrd="0" destOrd="0" presId="urn:microsoft.com/office/officeart/2005/8/layout/default"/>
    <dgm:cxn modelId="{E1230770-B2CB-42BE-B101-C22528F8734F}" srcId="{A5F1536C-72B3-4727-AA96-4654A4ECC10D}" destId="{0835005E-186E-448C-92F7-7A353F53C058}" srcOrd="0" destOrd="0" parTransId="{CF0CE319-4541-4F7A-9BF3-389A79BD3EFA}" sibTransId="{661A60E0-F463-47E7-A4EB-F4EC758D261B}"/>
    <dgm:cxn modelId="{ED167870-0471-4D15-9CD6-25EF987A177B}" type="presOf" srcId="{A386FDFA-AB45-4A85-B36A-1C68B1269C8B}" destId="{0681D486-1913-499F-8A19-864F5A182084}" srcOrd="0" destOrd="0" presId="urn:microsoft.com/office/officeart/2005/8/layout/default"/>
    <dgm:cxn modelId="{001673A9-AA17-4529-B4CF-5674A6454B71}" srcId="{A5F1536C-72B3-4727-AA96-4654A4ECC10D}" destId="{A386FDFA-AB45-4A85-B36A-1C68B1269C8B}" srcOrd="1" destOrd="0" parTransId="{C5C46725-2607-4BE0-8E5E-A95CCB51BBD4}" sibTransId="{0C3B4101-C2C8-469C-8405-773E0809C5F1}"/>
    <dgm:cxn modelId="{AF7FF2AC-C055-4B1C-A15D-0705A130AFE0}" type="presOf" srcId="{0835005E-186E-448C-92F7-7A353F53C058}" destId="{C5456D16-9E26-4641-8561-7AB2DC2892A1}" srcOrd="0" destOrd="0" presId="urn:microsoft.com/office/officeart/2005/8/layout/default"/>
    <dgm:cxn modelId="{CDEB9BE8-68B2-44D8-B739-31E56D0A090F}" type="presOf" srcId="{A5F1536C-72B3-4727-AA96-4654A4ECC10D}" destId="{6CA559E8-6AF2-447C-8DD9-C0A4A3173B8D}" srcOrd="0" destOrd="0" presId="urn:microsoft.com/office/officeart/2005/8/layout/default"/>
    <dgm:cxn modelId="{F8CF10FC-709A-433F-BA12-F504E95CDFC4}" srcId="{A5F1536C-72B3-4727-AA96-4654A4ECC10D}" destId="{2D6BC8EA-0C3C-48D1-9E39-98C24E330ECF}" srcOrd="3" destOrd="0" parTransId="{2AA7330E-1054-4B89-80A3-3E94A83B8FAE}" sibTransId="{0B07016A-30F3-460D-B185-1BB845EF023E}"/>
    <dgm:cxn modelId="{8AC83ED6-D342-4ABF-A57B-B43BF3AC3D24}" type="presParOf" srcId="{6CA559E8-6AF2-447C-8DD9-C0A4A3173B8D}" destId="{C5456D16-9E26-4641-8561-7AB2DC2892A1}" srcOrd="0" destOrd="0" presId="urn:microsoft.com/office/officeart/2005/8/layout/default"/>
    <dgm:cxn modelId="{20134DF7-110B-4063-8A08-E1D54491AE90}" type="presParOf" srcId="{6CA559E8-6AF2-447C-8DD9-C0A4A3173B8D}" destId="{EB465503-EE64-413F-8546-F39418DA48BD}" srcOrd="1" destOrd="0" presId="urn:microsoft.com/office/officeart/2005/8/layout/default"/>
    <dgm:cxn modelId="{DACC2F27-1EE3-49E1-8DA7-613D7EC16B75}" type="presParOf" srcId="{6CA559E8-6AF2-447C-8DD9-C0A4A3173B8D}" destId="{0681D486-1913-499F-8A19-864F5A182084}" srcOrd="2" destOrd="0" presId="urn:microsoft.com/office/officeart/2005/8/layout/default"/>
    <dgm:cxn modelId="{41D485CA-049E-43F9-9705-E8D1224CB943}" type="presParOf" srcId="{6CA559E8-6AF2-447C-8DD9-C0A4A3173B8D}" destId="{017697F8-4123-4DAC-82AE-625CA7807C87}" srcOrd="3" destOrd="0" presId="urn:microsoft.com/office/officeart/2005/8/layout/default"/>
    <dgm:cxn modelId="{2097A3C0-0AA9-4CFD-95C6-E27310B69F4F}" type="presParOf" srcId="{6CA559E8-6AF2-447C-8DD9-C0A4A3173B8D}" destId="{A9CCABBC-7E35-4CE9-85CC-84896E892DBC}" srcOrd="4" destOrd="0" presId="urn:microsoft.com/office/officeart/2005/8/layout/default"/>
    <dgm:cxn modelId="{51A8D61E-8E76-4A44-AE25-E9866F71805E}" type="presParOf" srcId="{6CA559E8-6AF2-447C-8DD9-C0A4A3173B8D}" destId="{5E32E625-5B7B-4B35-9939-52EB74474934}" srcOrd="5" destOrd="0" presId="urn:microsoft.com/office/officeart/2005/8/layout/default"/>
    <dgm:cxn modelId="{ACB8C9DA-080D-4B24-8E93-182CCC4FCDE7}" type="presParOf" srcId="{6CA559E8-6AF2-447C-8DD9-C0A4A3173B8D}" destId="{E01A8240-A642-42B5-91EE-62F4F6994E61}"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56D16-9E26-4641-8561-7AB2DC2892A1}">
      <dsp:nvSpPr>
        <dsp:cNvPr id="0" name=""/>
        <dsp:cNvSpPr/>
      </dsp:nvSpPr>
      <dsp:spPr>
        <a:xfrm>
          <a:off x="757919" y="1533"/>
          <a:ext cx="2978558" cy="17871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Ownership</a:t>
          </a:r>
        </a:p>
      </dsp:txBody>
      <dsp:txXfrm>
        <a:off x="757919" y="1533"/>
        <a:ext cx="2978558" cy="1787135"/>
      </dsp:txXfrm>
    </dsp:sp>
    <dsp:sp modelId="{0681D486-1913-499F-8A19-864F5A182084}">
      <dsp:nvSpPr>
        <dsp:cNvPr id="0" name=""/>
        <dsp:cNvSpPr/>
      </dsp:nvSpPr>
      <dsp:spPr>
        <a:xfrm>
          <a:off x="4034334" y="1533"/>
          <a:ext cx="2978558" cy="1787135"/>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latin typeface="Montserrat"/>
            </a:rPr>
            <a:t>L3 Processes</a:t>
          </a:r>
          <a:endParaRPr lang="en-US" sz="3200" kern="1200"/>
        </a:p>
      </dsp:txBody>
      <dsp:txXfrm>
        <a:off x="4034334" y="1533"/>
        <a:ext cx="2978558" cy="1787135"/>
      </dsp:txXfrm>
    </dsp:sp>
    <dsp:sp modelId="{A9CCABBC-7E35-4CE9-85CC-84896E892DBC}">
      <dsp:nvSpPr>
        <dsp:cNvPr id="0" name=""/>
        <dsp:cNvSpPr/>
      </dsp:nvSpPr>
      <dsp:spPr>
        <a:xfrm>
          <a:off x="757919" y="2086524"/>
          <a:ext cx="2978558" cy="178713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latin typeface="Montserrat"/>
            </a:rPr>
            <a:t>Assumptions / Decisions</a:t>
          </a:r>
          <a:endParaRPr lang="en-US" sz="3200" kern="1200"/>
        </a:p>
      </dsp:txBody>
      <dsp:txXfrm>
        <a:off x="757919" y="2086524"/>
        <a:ext cx="2978558" cy="1787135"/>
      </dsp:txXfrm>
    </dsp:sp>
    <dsp:sp modelId="{E01A8240-A642-42B5-91EE-62F4F6994E61}">
      <dsp:nvSpPr>
        <dsp:cNvPr id="0" name=""/>
        <dsp:cNvSpPr/>
      </dsp:nvSpPr>
      <dsp:spPr>
        <a:xfrm>
          <a:off x="4034334" y="2086524"/>
          <a:ext cx="2978558" cy="1787135"/>
        </a:xfrm>
        <a:prstGeom prst="rect">
          <a:avLst/>
        </a:prstGeom>
        <a:solidFill>
          <a:schemeClr val="accent1">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latin typeface="Montserrat"/>
            </a:rPr>
            <a:t>FRICE-W / Reports </a:t>
          </a:r>
          <a:endParaRPr lang="en-US" sz="3200" kern="1200"/>
        </a:p>
      </dsp:txBody>
      <dsp:txXfrm>
        <a:off x="4034334" y="2086524"/>
        <a:ext cx="2978558" cy="178713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13F7A-D799-47D8-B0C0-7C909CCFF8FB}" type="datetimeFigureOut">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FCE71-FD4B-43E3-A8CE-38A62705FA7C}" type="slidenum">
              <a:t>‹#›</a:t>
            </a:fld>
            <a:endParaRPr lang="en-US"/>
          </a:p>
        </p:txBody>
      </p:sp>
    </p:spTree>
    <p:extLst>
      <p:ext uri="{BB962C8B-B14F-4D97-AF65-F5344CB8AC3E}">
        <p14:creationId xmlns:p14="http://schemas.microsoft.com/office/powerpoint/2010/main" val="83611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2789fbb2d8_0_389: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pPr marL="0" indent="0"/>
            <a:endParaRPr/>
          </a:p>
        </p:txBody>
      </p:sp>
      <p:sp>
        <p:nvSpPr>
          <p:cNvPr id="403" name="Google Shape;403;g32789fbb2d8_0_38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23079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11CCEC3-7244-3C46-9DB9-806F778100A4}" type="slidenum">
              <a:rPr lang="en-US" smtClean="0"/>
              <a:t>3</a:t>
            </a:fld>
            <a:endParaRPr lang="en-US"/>
          </a:p>
        </p:txBody>
      </p:sp>
    </p:spTree>
    <p:extLst>
      <p:ext uri="{BB962C8B-B14F-4D97-AF65-F5344CB8AC3E}">
        <p14:creationId xmlns:p14="http://schemas.microsoft.com/office/powerpoint/2010/main" val="1248555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29C6D-5DC5-0A6E-2480-1C62E6D30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704C0-5021-F9BB-FBCD-BED8856D12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98104-D524-6135-439A-45158084DED6}"/>
              </a:ext>
            </a:extLst>
          </p:cNvPr>
          <p:cNvSpPr>
            <a:spLocks noGrp="1"/>
          </p:cNvSpPr>
          <p:nvPr>
            <p:ph type="body" idx="1"/>
          </p:nvPr>
        </p:nvSpPr>
        <p:spPr/>
        <p:txBody>
          <a:bodyPr/>
          <a:lstStyle/>
          <a:p>
            <a:r>
              <a:rPr lang="en-US"/>
              <a:t>Discussions around keeping integrations as direct vs the BTP connection</a:t>
            </a:r>
          </a:p>
          <a:p>
            <a:endParaRPr lang="en-US"/>
          </a:p>
          <a:p>
            <a:r>
              <a:rPr lang="en-US"/>
              <a:t>Tarah’s notes – Paymentus dashboard does get information from CRM but it does not pass anything else back – any other information would get passed to ECC only. State of Michigan has no interactions that I am aware of with CRM.  There is interaction with Assistance Portal and these payments do impact TN SNP automatic workflow but all this is ECC that I am aware of. </a:t>
            </a:r>
          </a:p>
        </p:txBody>
      </p:sp>
      <p:sp>
        <p:nvSpPr>
          <p:cNvPr id="4" name="Slide Number Placeholder 3">
            <a:extLst>
              <a:ext uri="{FF2B5EF4-FFF2-40B4-BE49-F238E27FC236}">
                <a16:creationId xmlns:a16="http://schemas.microsoft.com/office/drawing/2014/main" id="{E3B0C2E2-2854-6F0A-3556-86909A23880D}"/>
              </a:ext>
            </a:extLst>
          </p:cNvPr>
          <p:cNvSpPr>
            <a:spLocks noGrp="1"/>
          </p:cNvSpPr>
          <p:nvPr>
            <p:ph type="sldNum" sz="quarter" idx="5"/>
          </p:nvPr>
        </p:nvSpPr>
        <p:spPr/>
        <p:txBody>
          <a:bodyPr/>
          <a:lstStyle/>
          <a:p>
            <a:fld id="{611CCEC3-7244-3C46-9DB9-806F778100A4}" type="slidenum">
              <a:rPr lang="en-US" smtClean="0"/>
              <a:t>49</a:t>
            </a:fld>
            <a:endParaRPr lang="en-US"/>
          </a:p>
        </p:txBody>
      </p:sp>
    </p:spTree>
    <p:extLst>
      <p:ext uri="{BB962C8B-B14F-4D97-AF65-F5344CB8AC3E}">
        <p14:creationId xmlns:p14="http://schemas.microsoft.com/office/powerpoint/2010/main" val="2277956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CC88A-216B-5C93-20CD-A002A2639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D4138-B3BA-588E-0096-E90D10AE2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8BADC-4ADF-5199-5C60-EEF331CFC28C}"/>
              </a:ext>
            </a:extLst>
          </p:cNvPr>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a:p>
        </p:txBody>
      </p:sp>
    </p:spTree>
    <p:extLst>
      <p:ext uri="{BB962C8B-B14F-4D97-AF65-F5344CB8AC3E}">
        <p14:creationId xmlns:p14="http://schemas.microsoft.com/office/powerpoint/2010/main" val="2416274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3E94A-C565-8AE0-FD4F-E494B3A3CD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D51FEE-E060-DB8B-FFA9-04EB4C96AC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E5BFA3-E0A2-DEF8-CBAA-57EE7FC72D20}"/>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5" name="Footer Placeholder 4">
            <a:extLst>
              <a:ext uri="{FF2B5EF4-FFF2-40B4-BE49-F238E27FC236}">
                <a16:creationId xmlns:a16="http://schemas.microsoft.com/office/drawing/2014/main" id="{779CF5EC-9D83-0A1E-73D3-A7848C797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056D6-B181-778B-BB55-3EB484C12865}"/>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4144604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BEAFE-3C4E-C6D0-17E5-A9049E559D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BB3ED5-0814-7EBD-BB55-4A71242700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B70E5B-CDBA-494A-2A9B-80C1636A5BDA}"/>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5" name="Footer Placeholder 4">
            <a:extLst>
              <a:ext uri="{FF2B5EF4-FFF2-40B4-BE49-F238E27FC236}">
                <a16:creationId xmlns:a16="http://schemas.microsoft.com/office/drawing/2014/main" id="{EA65B121-F6F4-9636-2D8D-9C571ED6A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08485F-CD39-8F5C-EFAA-A10685660A83}"/>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1018769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7202F-10BB-FA34-5C5E-B33972ADEB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68A72C-D82B-2017-DC04-DC40CFEDB3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986180-65DE-D0BC-603C-F578B5B02AE7}"/>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5" name="Footer Placeholder 4">
            <a:extLst>
              <a:ext uri="{FF2B5EF4-FFF2-40B4-BE49-F238E27FC236}">
                <a16:creationId xmlns:a16="http://schemas.microsoft.com/office/drawing/2014/main" id="{B72B8364-239C-B455-F4A1-B83AF44569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B24DA-7D5A-92A4-AEF5-1E6D99EA12F2}"/>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171182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75E46-EDE6-85C2-3BB8-327470A6FC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6B3DB8-9F05-6DDF-9AA3-EA08174E05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C83EE2-F745-A325-6715-10F234716E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0565EC-F3EA-C9AE-2EA1-DC666B88E864}"/>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6" name="Footer Placeholder 5">
            <a:extLst>
              <a:ext uri="{FF2B5EF4-FFF2-40B4-BE49-F238E27FC236}">
                <a16:creationId xmlns:a16="http://schemas.microsoft.com/office/drawing/2014/main" id="{26190148-8F76-A6B9-300C-AA7EA0BC46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763A55-872D-E5A3-068C-C5E3452F4322}"/>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4095680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66DE5-2045-A044-52F9-7A1E0EBFFD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829D1B-A453-0FB4-B6FE-8A118D633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8F68CD-E617-8135-208C-1DC8A3B1E9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741407-6763-6EE7-5558-441BDCB63A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AFFE11-059D-DC57-A666-8B29A2E6F9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19EDFE-9C55-62CB-5BEF-DAC5B2B4AA9C}"/>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8" name="Footer Placeholder 7">
            <a:extLst>
              <a:ext uri="{FF2B5EF4-FFF2-40B4-BE49-F238E27FC236}">
                <a16:creationId xmlns:a16="http://schemas.microsoft.com/office/drawing/2014/main" id="{A772F597-D23C-0B9E-E871-2F166AA941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685201-8B5F-E152-0C58-430B63D7F903}"/>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4294886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31755-71A3-757B-C022-1C77925CAA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7401C2-3002-2C81-495F-7A48C4269083}"/>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4" name="Footer Placeholder 3">
            <a:extLst>
              <a:ext uri="{FF2B5EF4-FFF2-40B4-BE49-F238E27FC236}">
                <a16:creationId xmlns:a16="http://schemas.microsoft.com/office/drawing/2014/main" id="{4B0A63AF-89E5-536B-A2B2-9D7DAE3F55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7BCEA8-7B2A-5AC5-59B7-7D8684F07399}"/>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458556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95AC4D-D76B-B682-9EE7-590D6A6CC095}"/>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3" name="Footer Placeholder 2">
            <a:extLst>
              <a:ext uri="{FF2B5EF4-FFF2-40B4-BE49-F238E27FC236}">
                <a16:creationId xmlns:a16="http://schemas.microsoft.com/office/drawing/2014/main" id="{B47805F7-FE58-E356-5918-049C902BA9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1F8B86-3CE0-E51C-3E12-14EB4EB48632}"/>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767245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00E6F-7058-DA5C-68C2-3D8C6FCDEB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25074F-FDA3-ACF7-B15A-E1FD19E46C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9CFEE2-CC65-6CE0-6D89-F9F3EC79A3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4671D3-ABB4-70EB-F600-F04A40450851}"/>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6" name="Footer Placeholder 5">
            <a:extLst>
              <a:ext uri="{FF2B5EF4-FFF2-40B4-BE49-F238E27FC236}">
                <a16:creationId xmlns:a16="http://schemas.microsoft.com/office/drawing/2014/main" id="{BD298883-609A-A053-7D2D-B185F15BC6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853799-8218-1123-40BB-D25A94FB540B}"/>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643443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3BA61-CE62-4BF2-F854-39B66B288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E8F396-5489-E8BC-CD9B-CFEC1DC638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22BF8A-2397-249D-7AC5-7DC9B151AC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8CB50B-6F55-458C-BA03-2E612E28DBB9}"/>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6" name="Footer Placeholder 5">
            <a:extLst>
              <a:ext uri="{FF2B5EF4-FFF2-40B4-BE49-F238E27FC236}">
                <a16:creationId xmlns:a16="http://schemas.microsoft.com/office/drawing/2014/main" id="{EF2C0A8D-D690-96BD-95D4-50A655114D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976804-8623-7E02-4613-760D81FABF36}"/>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851704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A54B9-7BC0-0657-D7C9-67AFA31954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4BC771-FBC8-533C-0798-DE22B77DD7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2903CE-3779-22AC-EB91-E2C35D3A65F0}"/>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5" name="Footer Placeholder 4">
            <a:extLst>
              <a:ext uri="{FF2B5EF4-FFF2-40B4-BE49-F238E27FC236}">
                <a16:creationId xmlns:a16="http://schemas.microsoft.com/office/drawing/2014/main" id="{433E7B7A-3287-30F2-ADDE-957C0F4EB7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227AD3-8C12-CFE1-169C-8176B869A2DE}"/>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564808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A62C37-4DDD-ED86-CD18-1C4379A232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FA55ED-6B23-6731-857E-0F1C0EB009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029536-AEF2-FE0C-06F3-C7BB158618C3}"/>
              </a:ext>
            </a:extLst>
          </p:cNvPr>
          <p:cNvSpPr>
            <a:spLocks noGrp="1"/>
          </p:cNvSpPr>
          <p:nvPr>
            <p:ph type="dt" sz="half" idx="10"/>
          </p:nvPr>
        </p:nvSpPr>
        <p:spPr/>
        <p:txBody>
          <a:bodyPr/>
          <a:lstStyle/>
          <a:p>
            <a:fld id="{CD088479-BA81-4009-A123-8DEC37C97121}" type="datetimeFigureOut">
              <a:rPr lang="en-US" smtClean="0"/>
              <a:t>6/25/2026</a:t>
            </a:fld>
            <a:endParaRPr lang="en-US"/>
          </a:p>
        </p:txBody>
      </p:sp>
      <p:sp>
        <p:nvSpPr>
          <p:cNvPr id="5" name="Footer Placeholder 4">
            <a:extLst>
              <a:ext uri="{FF2B5EF4-FFF2-40B4-BE49-F238E27FC236}">
                <a16:creationId xmlns:a16="http://schemas.microsoft.com/office/drawing/2014/main" id="{8A91C6DD-CB04-BB00-4E5E-036D35051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C105EA-DD46-7CB1-C060-443E2E993F0C}"/>
              </a:ext>
            </a:extLst>
          </p:cNvPr>
          <p:cNvSpPr>
            <a:spLocks noGrp="1"/>
          </p:cNvSpPr>
          <p:nvPr>
            <p:ph type="sldNum" sz="quarter" idx="12"/>
          </p:nvPr>
        </p:nvSpPr>
        <p:spPr/>
        <p:txBody>
          <a:bodyPr/>
          <a:lstStyle/>
          <a:p>
            <a:fld id="{E17F33E6-C358-49CC-A210-CD6067814AAB}" type="slidenum">
              <a:rPr lang="en-US" smtClean="0"/>
              <a:t>‹#›</a:t>
            </a:fld>
            <a:endParaRPr lang="en-US"/>
          </a:p>
        </p:txBody>
      </p:sp>
    </p:spTree>
    <p:extLst>
      <p:ext uri="{BB962C8B-B14F-4D97-AF65-F5344CB8AC3E}">
        <p14:creationId xmlns:p14="http://schemas.microsoft.com/office/powerpoint/2010/main" val="3014353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Only Layout">
    <p:spTree>
      <p:nvGrpSpPr>
        <p:cNvPr id="1" name=""/>
        <p:cNvGrpSpPr/>
        <p:nvPr/>
      </p:nvGrpSpPr>
      <p:grpSpPr>
        <a:xfrm>
          <a:off x="0" y="0"/>
          <a:ext cx="0" cy="0"/>
          <a:chOff x="0" y="0"/>
          <a:chExt cx="0" cy="0"/>
        </a:xfrm>
      </p:grpSpPr>
      <p:sp>
        <p:nvSpPr>
          <p:cNvPr id="2" name="Title"/>
          <p:cNvSpPr>
            <a:spLocks noGrp="1"/>
          </p:cNvSpPr>
          <p:nvPr>
            <p:ph type="title"/>
          </p:nvPr>
        </p:nvSpPr>
        <p:spPr>
          <a:xfrm>
            <a:off x="418073" y="437960"/>
            <a:ext cx="11375136" cy="609600"/>
          </a:xfrm>
        </p:spPr>
        <p:txBody>
          <a:bodyPr/>
          <a:lstStyle>
            <a:lvl1pPr>
              <a:defRPr b="0" i="0">
                <a:solidFill>
                  <a:srgbClr val="1866AE"/>
                </a:solidFill>
                <a:latin typeface="Montserrat" pitchFamily="2" charset="77"/>
              </a:defRPr>
            </a:lvl1pPr>
          </a:lstStyle>
          <a:p>
            <a:r>
              <a:rPr lang="en-US"/>
              <a:t>Click to edit Master title style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34187426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7905447" y="934345"/>
            <a:ext cx="2934692" cy="4845921"/>
          </a:xfrm>
          <a:prstGeom prst="rect">
            <a:avLst/>
          </a:prstGeom>
        </p:spPr>
      </p:pic>
      <p:sp>
        <p:nvSpPr>
          <p:cNvPr id="3" name="Title">
            <a:extLst>
              <a:ext uri="{FF2B5EF4-FFF2-40B4-BE49-F238E27FC236}">
                <a16:creationId xmlns:a16="http://schemas.microsoft.com/office/drawing/2014/main" id="{19FDF49E-F19D-7966-5841-E8FE9E5F2A9C}"/>
              </a:ext>
            </a:extLst>
          </p:cNvPr>
          <p:cNvSpPr>
            <a:spLocks noGrp="1"/>
          </p:cNvSpPr>
          <p:nvPr>
            <p:ph type="title" hasCustomPrompt="1"/>
          </p:nvPr>
        </p:nvSpPr>
        <p:spPr>
          <a:xfrm>
            <a:off x="757027" y="4424859"/>
            <a:ext cx="5213183"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17387310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Blue_Consumers Energy 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CA405F-B3CD-76DC-CAA3-F740ED934F6D}"/>
              </a:ext>
            </a:extLst>
          </p:cNvPr>
          <p:cNvSpPr/>
          <p:nvPr userDrawn="1"/>
        </p:nvSpPr>
        <p:spPr>
          <a:xfrm>
            <a:off x="0" y="63260"/>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pic>
        <p:nvPicPr>
          <p:cNvPr id="7" name="Picture 6">
            <a:extLst>
              <a:ext uri="{FF2B5EF4-FFF2-40B4-BE49-F238E27FC236}">
                <a16:creationId xmlns:a16="http://schemas.microsoft.com/office/drawing/2014/main" id="{B5C6FA4A-C1E9-5357-C9A5-5FFC82FC26F4}"/>
              </a:ext>
            </a:extLst>
          </p:cNvPr>
          <p:cNvPicPr>
            <a:picLocks noChangeAspect="1"/>
          </p:cNvPicPr>
          <p:nvPr userDrawn="1"/>
        </p:nvPicPr>
        <p:blipFill>
          <a:blip r:embed="rId2"/>
          <a:srcRect l="200" t="918" r="-200" b="27132"/>
          <a:stretch/>
        </p:blipFill>
        <p:spPr>
          <a:xfrm>
            <a:off x="0" y="4448042"/>
            <a:ext cx="12228576" cy="245839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Consumers Energy Title Page </a:t>
            </a:r>
            <a:br>
              <a:rPr lang="en-US"/>
            </a:br>
            <a:r>
              <a:rPr lang="en-US"/>
              <a:t>Click to enter presentation title</a:t>
            </a:r>
          </a:p>
        </p:txBody>
      </p:sp>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a:blip r:embed="rId3"/>
          <a:stretch>
            <a:fillRect/>
          </a:stretch>
        </p:blipFill>
        <p:spPr>
          <a:xfrm>
            <a:off x="230583" y="6070185"/>
            <a:ext cx="2084131" cy="656644"/>
          </a:xfrm>
          <a:prstGeom prst="rect">
            <a:avLst/>
          </a:prstGeom>
        </p:spPr>
      </p:pic>
      <p:sp>
        <p:nvSpPr>
          <p:cNvPr id="8" name="Green top line">
            <a:extLst>
              <a:ext uri="{FF2B5EF4-FFF2-40B4-BE49-F238E27FC236}">
                <a16:creationId xmlns:a16="http://schemas.microsoft.com/office/drawing/2014/main" id="{03CF2A64-7CD1-4C22-7B38-A723A28DFEF4}"/>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9" name="Picture 8" descr="A black background with a black square&#10;&#10;AI-generated content may be incorrect.">
            <a:extLst>
              <a:ext uri="{FF2B5EF4-FFF2-40B4-BE49-F238E27FC236}">
                <a16:creationId xmlns:a16="http://schemas.microsoft.com/office/drawing/2014/main" id="{90E030D4-1768-E3AD-266E-7222A4E8C0BF}"/>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2581683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Blue_CMS 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29B655-E050-2CEF-2CE1-0A53AA4DC649}"/>
              </a:ext>
            </a:extLst>
          </p:cNvPr>
          <p:cNvSpPr/>
          <p:nvPr userDrawn="1"/>
        </p:nvSpPr>
        <p:spPr>
          <a:xfrm>
            <a:off x="0" y="36576"/>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CMS Energy Title Page </a:t>
            </a:r>
            <a:br>
              <a:rPr lang="en-US"/>
            </a:br>
            <a:r>
              <a:rPr lang="en-US"/>
              <a:t>Click to enter presentation title</a:t>
            </a:r>
          </a:p>
        </p:txBody>
      </p:sp>
      <p:pic>
        <p:nvPicPr>
          <p:cNvPr id="9" name="Picture 8">
            <a:extLst>
              <a:ext uri="{FF2B5EF4-FFF2-40B4-BE49-F238E27FC236}">
                <a16:creationId xmlns:a16="http://schemas.microsoft.com/office/drawing/2014/main" id="{709AEF07-3191-3F4A-3F7A-19EC791E9DAA}"/>
              </a:ext>
            </a:extLst>
          </p:cNvPr>
          <p:cNvPicPr>
            <a:picLocks noChangeAspect="1"/>
          </p:cNvPicPr>
          <p:nvPr userDrawn="1"/>
        </p:nvPicPr>
        <p:blipFill rotWithShape="1">
          <a:blip r:embed="rId2"/>
          <a:srcRect l="24126" t="305" r="-34" b="-305"/>
          <a:stretch/>
        </p:blipFill>
        <p:spPr>
          <a:xfrm>
            <a:off x="0" y="4420754"/>
            <a:ext cx="12216384" cy="2455953"/>
          </a:xfrm>
          <a:prstGeom prst="rect">
            <a:avLst/>
          </a:prstGeom>
        </p:spPr>
      </p:pic>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rotWithShape="1">
          <a:blip r:embed="rId3"/>
          <a:srcRect l="-1000" t="-13025" b="-13798"/>
          <a:stretch/>
        </p:blipFill>
        <p:spPr>
          <a:xfrm>
            <a:off x="154612" y="5982816"/>
            <a:ext cx="2280355" cy="691685"/>
          </a:xfrm>
          <a:prstGeom prst="rect">
            <a:avLst/>
          </a:prstGeom>
        </p:spPr>
      </p:pic>
      <p:sp>
        <p:nvSpPr>
          <p:cNvPr id="4" name="Green top line">
            <a:extLst>
              <a:ext uri="{FF2B5EF4-FFF2-40B4-BE49-F238E27FC236}">
                <a16:creationId xmlns:a16="http://schemas.microsoft.com/office/drawing/2014/main" id="{265938C9-7DBB-F010-0315-57D2F87C9106}"/>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10" name="Picture 9" descr="A black background with a black square&#10;&#10;AI-generated content may be incorrect.">
            <a:extLst>
              <a:ext uri="{FF2B5EF4-FFF2-40B4-BE49-F238E27FC236}">
                <a16:creationId xmlns:a16="http://schemas.microsoft.com/office/drawing/2014/main" id="{5E3F8541-C6A9-5757-9A4E-81D643DAAA20}"/>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17508894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Consumers Energy TITLE Slide">
    <p:spTree>
      <p:nvGrpSpPr>
        <p:cNvPr id="1" name=""/>
        <p:cNvGrpSpPr/>
        <p:nvPr/>
      </p:nvGrpSpPr>
      <p:grpSpPr>
        <a:xfrm>
          <a:off x="0" y="0"/>
          <a:ext cx="0" cy="0"/>
          <a:chOff x="0" y="0"/>
          <a:chExt cx="0" cy="0"/>
        </a:xfrm>
      </p:grpSpPr>
      <p:sp>
        <p:nvSpPr>
          <p:cNvPr id="7" name="Background"/>
          <p:cNvSpPr/>
          <p:nvPr userDrawn="1"/>
        </p:nvSpPr>
        <p:spPr>
          <a:xfrm>
            <a:off x="3048"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4C05E742-6DCA-666E-9947-B0EE936494F7}"/>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2" name="CE Logo">
            <a:extLst>
              <a:ext uri="{FF2B5EF4-FFF2-40B4-BE49-F238E27FC236}">
                <a16:creationId xmlns:a16="http://schemas.microsoft.com/office/drawing/2014/main" id="{91ECB4FD-021B-A84F-9C74-397F7A945692}"/>
              </a:ext>
            </a:extLst>
          </p:cNvPr>
          <p:cNvPicPr>
            <a:picLocks noChangeAspect="1"/>
          </p:cNvPicPr>
          <p:nvPr userDrawn="1"/>
        </p:nvPicPr>
        <p:blipFill rotWithShape="1">
          <a:blip r:embed="rId3"/>
          <a:srcRect l="9122" t="10605" r="9079" b="11083"/>
          <a:stretch/>
        </p:blipFill>
        <p:spPr>
          <a:xfrm>
            <a:off x="189070" y="5913969"/>
            <a:ext cx="2205157" cy="79168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tx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rgbClr val="0067A5"/>
                </a:solidFill>
                <a:latin typeface="Montserrat" pitchFamily="2" charset="77"/>
              </a:defRPr>
            </a:lvl1pPr>
          </a:lstStyle>
          <a:p>
            <a:r>
              <a:rPr lang="en-US"/>
              <a:t>Consumers Energy Title Page </a:t>
            </a:r>
            <a:br>
              <a:rPr lang="en-US"/>
            </a:br>
            <a:r>
              <a:rPr lang="en-US"/>
              <a:t>Click to enter presentation title</a:t>
            </a:r>
          </a:p>
        </p:txBody>
      </p:sp>
      <p:pic>
        <p:nvPicPr>
          <p:cNvPr id="9" name="Picture 8" descr="A white text on a black background&#10;&#10;AI-generated content may be incorrect.">
            <a:extLst>
              <a:ext uri="{FF2B5EF4-FFF2-40B4-BE49-F238E27FC236}">
                <a16:creationId xmlns:a16="http://schemas.microsoft.com/office/drawing/2014/main" id="{1DC64331-E5B9-B4C2-135F-7D91D7FFA2BF}"/>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42439605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CMS Energy TITLE SLIDE">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6E3FDA63-1642-2C7F-F7CA-C7BBCAEC20E0}"/>
              </a:ext>
            </a:extLst>
          </p:cNvPr>
          <p:cNvSpPr/>
          <p:nvPr userDrawn="1"/>
        </p:nvSpPr>
        <p:spPr>
          <a:xfrm>
            <a:off x="0"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90B87A2A-DEBD-3AA2-CBF5-D11C589099D2}"/>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1" name="CMS Energy Logo"/>
          <p:cNvPicPr>
            <a:picLocks noChangeAspect="1"/>
          </p:cNvPicPr>
          <p:nvPr userDrawn="1"/>
        </p:nvPicPr>
        <p:blipFill>
          <a:blip r:embed="rId3"/>
          <a:srcRect l="12" r="12"/>
          <a:stretch/>
        </p:blipFill>
        <p:spPr>
          <a:xfrm>
            <a:off x="100995" y="5981919"/>
            <a:ext cx="2279792" cy="609600"/>
          </a:xfrm>
          <a:prstGeom prst="rect">
            <a:avLst/>
          </a:prstGeom>
        </p:spPr>
      </p:pic>
      <p:sp>
        <p:nvSpPr>
          <p:cNvPr id="3" name="Subtitle"/>
          <p:cNvSpPr>
            <a:spLocks noGrp="1"/>
          </p:cNvSpPr>
          <p:nvPr>
            <p:ph type="subTitle" idx="1" hasCustomPrompt="1"/>
          </p:nvPr>
        </p:nvSpPr>
        <p:spPr>
          <a:xfrm>
            <a:off x="2067152" y="3391505"/>
            <a:ext cx="9448800" cy="1752600"/>
          </a:xfrm>
        </p:spPr>
        <p:txBody>
          <a:bodyPr>
            <a:normAutofit/>
          </a:bodyPr>
          <a:lstStyle>
            <a:lvl1pPr marL="0" indent="0" algn="r">
              <a:buNone/>
              <a:defRPr sz="2400" b="0" i="0">
                <a:solidFill>
                  <a:srgbClr val="000000"/>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8720" y="1631952"/>
            <a:ext cx="10363200" cy="1470025"/>
          </a:xfrm>
        </p:spPr>
        <p:txBody>
          <a:bodyPr/>
          <a:lstStyle>
            <a:lvl1pPr algn="r">
              <a:defRPr sz="4267" b="0" i="0" baseline="0">
                <a:solidFill>
                  <a:srgbClr val="0067A5"/>
                </a:solidFill>
                <a:latin typeface="Montserrat" pitchFamily="2" charset="77"/>
              </a:defRPr>
            </a:lvl1pPr>
          </a:lstStyle>
          <a:p>
            <a:r>
              <a:rPr lang="en-US"/>
              <a:t>CMS Energy Title Page </a:t>
            </a:r>
            <a:br>
              <a:rPr lang="en-US"/>
            </a:br>
            <a:r>
              <a:rPr lang="en-US"/>
              <a:t>Click to enter presentation title</a:t>
            </a:r>
          </a:p>
        </p:txBody>
      </p:sp>
      <p:pic>
        <p:nvPicPr>
          <p:cNvPr id="8" name="Picture 7" descr="A white text on a black background&#10;&#10;AI-generated content may be incorrect.">
            <a:extLst>
              <a:ext uri="{FF2B5EF4-FFF2-40B4-BE49-F238E27FC236}">
                <a16:creationId xmlns:a16="http://schemas.microsoft.com/office/drawing/2014/main" id="{BE3E4CB9-D420-3CAB-8B68-2F5CDB9EB788}"/>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9892863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7" name="Picture 6" descr="A blue rocket with yellow flames&#10;&#10;AI-generated content may be incorrect.">
            <a:extLst>
              <a:ext uri="{FF2B5EF4-FFF2-40B4-BE49-F238E27FC236}">
                <a16:creationId xmlns:a16="http://schemas.microsoft.com/office/drawing/2014/main" id="{3441B6A3-22F6-3738-6E9B-7AFE278268E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715722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6" name="Picture 5" descr="A black background with a black square&#10;&#10;AI-generated content may be incorrect.">
            <a:extLst>
              <a:ext uri="{FF2B5EF4-FFF2-40B4-BE49-F238E27FC236}">
                <a16:creationId xmlns:a16="http://schemas.microsoft.com/office/drawing/2014/main" id="{AED62B44-7DFB-726F-5071-FA040D62A808}"/>
              </a:ext>
            </a:extLst>
          </p:cNvPr>
          <p:cNvPicPr>
            <a:picLocks noChangeAspect="1"/>
          </p:cNvPicPr>
          <p:nvPr userDrawn="1"/>
        </p:nvPicPr>
        <p:blipFill>
          <a:blip r:embed="rId2"/>
          <a:stretch>
            <a:fillRect/>
          </a:stretch>
        </p:blipFill>
        <p:spPr>
          <a:xfrm>
            <a:off x="10315782" y="5459865"/>
            <a:ext cx="1697999" cy="682035"/>
          </a:xfrm>
          <a:prstGeom prst="rect">
            <a:avLst/>
          </a:prstGeom>
        </p:spPr>
      </p:pic>
    </p:spTree>
    <p:extLst>
      <p:ext uri="{BB962C8B-B14F-4D97-AF65-F5344CB8AC3E}">
        <p14:creationId xmlns:p14="http://schemas.microsoft.com/office/powerpoint/2010/main" val="34601000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651319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
          <p:cNvSpPr>
            <a:spLocks noGrp="1"/>
          </p:cNvSpPr>
          <p:nvPr>
            <p:ph type="title"/>
          </p:nvPr>
        </p:nvSpPr>
        <p:spPr>
          <a:xfrm>
            <a:off x="414528" y="4389120"/>
            <a:ext cx="11375136" cy="609600"/>
          </a:xfrm>
        </p:spPr>
        <p:txBody>
          <a:bodyPr anchor="b" anchorCtr="0"/>
          <a:lstStyle>
            <a:lvl1pPr algn="l">
              <a:defRPr sz="3200" b="0" i="0" cap="none" baseline="0">
                <a:solidFill>
                  <a:srgbClr val="1866AE"/>
                </a:solidFill>
                <a:latin typeface="Montserrat" pitchFamily="2" charset="77"/>
              </a:defRPr>
            </a:lvl1pPr>
          </a:lstStyle>
          <a:p>
            <a:r>
              <a:rPr lang="en-US"/>
              <a:t>Click to edit Master title style</a:t>
            </a:r>
          </a:p>
        </p:txBody>
      </p:sp>
      <p:sp>
        <p:nvSpPr>
          <p:cNvPr id="3" name="Text Placeholder "/>
          <p:cNvSpPr>
            <a:spLocks noGrp="1"/>
          </p:cNvSpPr>
          <p:nvPr>
            <p:ph type="body" idx="1"/>
          </p:nvPr>
        </p:nvSpPr>
        <p:spPr>
          <a:xfrm>
            <a:off x="414528" y="3535680"/>
            <a:ext cx="11375136" cy="853440"/>
          </a:xfrm>
        </p:spPr>
        <p:txBody>
          <a:bodyPr anchor="b">
            <a:normAutofit/>
          </a:bodyPr>
          <a:lstStyle>
            <a:lvl1pPr marL="0" indent="0">
              <a:buNone/>
              <a:defRPr sz="2400" b="0" i="0">
                <a:solidFill>
                  <a:schemeClr val="tx1"/>
                </a:solidFill>
                <a:latin typeface="Montserrat" pitchFamily="2" charset="77"/>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pic>
        <p:nvPicPr>
          <p:cNvPr id="7" name="Picture 6" descr="A black background with a black square&#10;&#10;AI-generated content may be incorrect.">
            <a:extLst>
              <a:ext uri="{FF2B5EF4-FFF2-40B4-BE49-F238E27FC236}">
                <a16:creationId xmlns:a16="http://schemas.microsoft.com/office/drawing/2014/main" id="{AEE6D58A-F04B-D2E8-EFD8-3D2275F6284D}"/>
              </a:ext>
            </a:extLst>
          </p:cNvPr>
          <p:cNvPicPr>
            <a:picLocks noChangeAspect="1"/>
          </p:cNvPicPr>
          <p:nvPr userDrawn="1"/>
        </p:nvPicPr>
        <p:blipFill>
          <a:blip r:embed="rId2"/>
          <a:stretch>
            <a:fillRect/>
          </a:stretch>
        </p:blipFill>
        <p:spPr>
          <a:xfrm>
            <a:off x="9373809" y="5075956"/>
            <a:ext cx="2680107" cy="1031952"/>
          </a:xfrm>
          <a:prstGeom prst="rect">
            <a:avLst/>
          </a:prstGeom>
        </p:spPr>
      </p:pic>
    </p:spTree>
    <p:extLst>
      <p:ext uri="{BB962C8B-B14F-4D97-AF65-F5344CB8AC3E}">
        <p14:creationId xmlns:p14="http://schemas.microsoft.com/office/powerpoint/2010/main" val="11012424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2"/>
          <p:cNvSpPr>
            <a:spLocks noGrp="1"/>
          </p:cNvSpPr>
          <p:nvPr>
            <p:ph sz="half" idx="2"/>
          </p:nvPr>
        </p:nvSpPr>
        <p:spPr>
          <a:xfrm>
            <a:off x="6400800" y="1219201"/>
            <a:ext cx="5384800" cy="3986607"/>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lang="en-US" sz="2133" b="0" i="0" kern="1200" dirty="0" smtClean="0">
                <a:solidFill>
                  <a:schemeClr val="tx1"/>
                </a:solidFill>
                <a:latin typeface="Montserrat" pitchFamily="2" charset="77"/>
                <a:ea typeface="+mn-ea"/>
                <a:cs typeface="+mn-cs"/>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half" idx="1"/>
          </p:nvPr>
        </p:nvSpPr>
        <p:spPr>
          <a:xfrm>
            <a:off x="414528" y="1219201"/>
            <a:ext cx="5384800" cy="4352993"/>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sz="2133" b="0" i="0">
                <a:solidFill>
                  <a:schemeClr val="tx1"/>
                </a:solidFill>
                <a:latin typeface="Montserrat" pitchFamily="2" charset="77"/>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wrap="none" lIns="0" tIns="45720" rIns="91440" bIns="0"/>
          <a:lstStyle>
            <a:lvl1pPr>
              <a:defRPr b="0" i="0">
                <a:solidFill>
                  <a:srgbClr val="1866AE"/>
                </a:solidFill>
                <a:latin typeface="Montserrat" pitchFamily="2" charset="77"/>
              </a:defRPr>
            </a:lvl1pPr>
          </a:lstStyle>
          <a:p>
            <a:r>
              <a:rPr lang="en-US"/>
              <a:t>Click to edit Master title style</a:t>
            </a:r>
          </a:p>
        </p:txBody>
      </p:sp>
      <p:pic>
        <p:nvPicPr>
          <p:cNvPr id="5" name="Picture 4" descr="A blue rocket with yellow flames&#10;&#10;AI-generated content may be incorrect.">
            <a:extLst>
              <a:ext uri="{FF2B5EF4-FFF2-40B4-BE49-F238E27FC236}">
                <a16:creationId xmlns:a16="http://schemas.microsoft.com/office/drawing/2014/main" id="{A46DFA08-46CD-F086-6119-EF05D73433B7}"/>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5514614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F98E-6AAF-3ACB-63F7-A2C28BFC474C}"/>
              </a:ext>
            </a:extLst>
          </p:cNvPr>
          <p:cNvSpPr>
            <a:spLocks noGrp="1"/>
          </p:cNvSpPr>
          <p:nvPr>
            <p:ph type="title"/>
          </p:nvPr>
        </p:nvSpPr>
        <p:spPr/>
        <p:txBody>
          <a:bodyPr/>
          <a:lstStyle>
            <a:lvl1pPr>
              <a:defRPr b="0" i="0">
                <a:latin typeface="Montserrat" pitchFamily="2" charset="77"/>
              </a:defRPr>
            </a:lvl1pPr>
          </a:lstStyle>
          <a:p>
            <a:r>
              <a:rPr lang="en-US"/>
              <a:t>Click to edit Master title style</a:t>
            </a:r>
          </a:p>
        </p:txBody>
      </p:sp>
      <p:sp>
        <p:nvSpPr>
          <p:cNvPr id="13" name="Picture Placeholder 12">
            <a:extLst>
              <a:ext uri="{FF2B5EF4-FFF2-40B4-BE49-F238E27FC236}">
                <a16:creationId xmlns:a16="http://schemas.microsoft.com/office/drawing/2014/main" id="{A0E233A6-DBBA-2515-B63A-9166DCE9B71F}"/>
              </a:ext>
            </a:extLst>
          </p:cNvPr>
          <p:cNvSpPr>
            <a:spLocks noGrp="1"/>
          </p:cNvSpPr>
          <p:nvPr>
            <p:ph type="pic" sz="quarter" idx="13"/>
          </p:nvPr>
        </p:nvSpPr>
        <p:spPr>
          <a:xfrm>
            <a:off x="411732" y="1219199"/>
            <a:ext cx="3608832" cy="2926080"/>
          </a:xfrm>
        </p:spPr>
        <p:txBody>
          <a:bodyPr/>
          <a:lstStyle>
            <a:lvl1pPr>
              <a:defRPr b="0" i="0">
                <a:latin typeface="Montserrat" pitchFamily="2" charset="77"/>
              </a:defRPr>
            </a:lvl1pPr>
          </a:lstStyle>
          <a:p>
            <a:r>
              <a:rPr lang="en-US"/>
              <a:t>Click icon to add picture</a:t>
            </a:r>
          </a:p>
        </p:txBody>
      </p:sp>
      <p:sp>
        <p:nvSpPr>
          <p:cNvPr id="15" name="Picture Placeholder 14">
            <a:extLst>
              <a:ext uri="{FF2B5EF4-FFF2-40B4-BE49-F238E27FC236}">
                <a16:creationId xmlns:a16="http://schemas.microsoft.com/office/drawing/2014/main" id="{716CDDDB-E2E6-96CF-7794-2CB281875CFF}"/>
              </a:ext>
            </a:extLst>
          </p:cNvPr>
          <p:cNvSpPr>
            <a:spLocks noGrp="1"/>
          </p:cNvSpPr>
          <p:nvPr>
            <p:ph type="pic" sz="quarter" idx="14"/>
          </p:nvPr>
        </p:nvSpPr>
        <p:spPr>
          <a:xfrm>
            <a:off x="4302609" y="1219199"/>
            <a:ext cx="3608832" cy="2926080"/>
          </a:xfrm>
        </p:spPr>
        <p:txBody>
          <a:bodyPr/>
          <a:lstStyle>
            <a:lvl1pPr>
              <a:defRPr b="0" i="0">
                <a:latin typeface="Montserrat" pitchFamily="2" charset="77"/>
              </a:defRPr>
            </a:lvl1pPr>
          </a:lstStyle>
          <a:p>
            <a:r>
              <a:rPr lang="en-US"/>
              <a:t>Click icon to add picture</a:t>
            </a:r>
          </a:p>
        </p:txBody>
      </p:sp>
      <p:sp>
        <p:nvSpPr>
          <p:cNvPr id="17" name="Picture Placeholder 16">
            <a:extLst>
              <a:ext uri="{FF2B5EF4-FFF2-40B4-BE49-F238E27FC236}">
                <a16:creationId xmlns:a16="http://schemas.microsoft.com/office/drawing/2014/main" id="{EC2F74D7-F259-ED94-FAC1-892474DA4DCD}"/>
              </a:ext>
            </a:extLst>
          </p:cNvPr>
          <p:cNvSpPr>
            <a:spLocks noGrp="1"/>
          </p:cNvSpPr>
          <p:nvPr>
            <p:ph type="pic" sz="quarter" idx="15"/>
          </p:nvPr>
        </p:nvSpPr>
        <p:spPr>
          <a:xfrm>
            <a:off x="8185992" y="1219199"/>
            <a:ext cx="3608832" cy="2926080"/>
          </a:xfrm>
        </p:spPr>
        <p:txBody>
          <a:bodyPr/>
          <a:lstStyle>
            <a:lvl1pPr>
              <a:defRPr b="0" i="0">
                <a:latin typeface="Montserrat" pitchFamily="2" charset="77"/>
              </a:defRPr>
            </a:lvl1pPr>
          </a:lstStyle>
          <a:p>
            <a:r>
              <a:rPr lang="en-US"/>
              <a:t>Click icon to add picture</a:t>
            </a:r>
          </a:p>
        </p:txBody>
      </p:sp>
      <p:sp>
        <p:nvSpPr>
          <p:cNvPr id="19" name="Text Placeholder 18">
            <a:extLst>
              <a:ext uri="{FF2B5EF4-FFF2-40B4-BE49-F238E27FC236}">
                <a16:creationId xmlns:a16="http://schemas.microsoft.com/office/drawing/2014/main" id="{8C7D399D-8CB9-19E1-9EC0-25CC0E8D1ADF}"/>
              </a:ext>
            </a:extLst>
          </p:cNvPr>
          <p:cNvSpPr>
            <a:spLocks noGrp="1"/>
          </p:cNvSpPr>
          <p:nvPr>
            <p:ph type="body" sz="quarter" idx="16" hasCustomPrompt="1"/>
          </p:nvPr>
        </p:nvSpPr>
        <p:spPr>
          <a:xfrm>
            <a:off x="41173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0" name="Text Placeholder 18">
            <a:extLst>
              <a:ext uri="{FF2B5EF4-FFF2-40B4-BE49-F238E27FC236}">
                <a16:creationId xmlns:a16="http://schemas.microsoft.com/office/drawing/2014/main" id="{6D3E4421-7396-C90C-5119-84E1DA3263BF}"/>
              </a:ext>
            </a:extLst>
          </p:cNvPr>
          <p:cNvSpPr>
            <a:spLocks noGrp="1"/>
          </p:cNvSpPr>
          <p:nvPr>
            <p:ph type="body" sz="quarter" idx="17" hasCustomPrompt="1"/>
          </p:nvPr>
        </p:nvSpPr>
        <p:spPr>
          <a:xfrm>
            <a:off x="4302609"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1" name="Text Placeholder 18">
            <a:extLst>
              <a:ext uri="{FF2B5EF4-FFF2-40B4-BE49-F238E27FC236}">
                <a16:creationId xmlns:a16="http://schemas.microsoft.com/office/drawing/2014/main" id="{BB0FC328-3EDB-117F-B241-774C52C45C03}"/>
              </a:ext>
            </a:extLst>
          </p:cNvPr>
          <p:cNvSpPr>
            <a:spLocks noGrp="1"/>
          </p:cNvSpPr>
          <p:nvPr>
            <p:ph type="body" sz="quarter" idx="18" hasCustomPrompt="1"/>
          </p:nvPr>
        </p:nvSpPr>
        <p:spPr>
          <a:xfrm>
            <a:off x="818599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pic>
        <p:nvPicPr>
          <p:cNvPr id="6" name="Picture 5" descr="A blue rocket with yellow flames&#10;&#10;AI-generated content may be incorrect.">
            <a:extLst>
              <a:ext uri="{FF2B5EF4-FFF2-40B4-BE49-F238E27FC236}">
                <a16:creationId xmlns:a16="http://schemas.microsoft.com/office/drawing/2014/main" id="{38FD594C-5CE2-2E39-47A0-730C3B552014}"/>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35743465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6" name="Content Placeholder 2"/>
          <p:cNvSpPr>
            <a:spLocks noGrp="1"/>
          </p:cNvSpPr>
          <p:nvPr>
            <p:ph sz="quarter" idx="4"/>
          </p:nvPr>
        </p:nvSpPr>
        <p:spPr>
          <a:xfrm>
            <a:off x="6400801" y="1999488"/>
            <a:ext cx="5389033" cy="3309112"/>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ub-title 2"/>
          <p:cNvSpPr>
            <a:spLocks noGrp="1"/>
          </p:cNvSpPr>
          <p:nvPr>
            <p:ph type="body" sz="quarter" idx="3" hasCustomPrompt="1"/>
          </p:nvPr>
        </p:nvSpPr>
        <p:spPr>
          <a:xfrm>
            <a:off x="6400801" y="1219200"/>
            <a:ext cx="5389033"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4" name="Content Placeholder 1"/>
          <p:cNvSpPr>
            <a:spLocks noGrp="1"/>
          </p:cNvSpPr>
          <p:nvPr>
            <p:ph sz="half" idx="2"/>
          </p:nvPr>
        </p:nvSpPr>
        <p:spPr>
          <a:xfrm>
            <a:off x="414528" y="1982049"/>
            <a:ext cx="5386917" cy="3583521"/>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1"/>
          <p:cNvSpPr>
            <a:spLocks noGrp="1"/>
          </p:cNvSpPr>
          <p:nvPr>
            <p:ph type="body" idx="1" hasCustomPrompt="1"/>
          </p:nvPr>
        </p:nvSpPr>
        <p:spPr>
          <a:xfrm>
            <a:off x="414528" y="1219200"/>
            <a:ext cx="5386917"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2" name="Title "/>
          <p:cNvSpPr>
            <a:spLocks noGrp="1"/>
          </p:cNvSpPr>
          <p:nvPr>
            <p:ph type="title"/>
          </p:nvPr>
        </p:nvSpPr>
        <p:spPr>
          <a:xfrm>
            <a:off x="414528" y="438912"/>
            <a:ext cx="11375136" cy="609600"/>
          </a:xfrm>
        </p:spPr>
        <p:txBody>
          <a:bodyPr anchor="b"/>
          <a:lstStyle>
            <a:lvl1pPr>
              <a:defRPr b="0" i="0">
                <a:solidFill>
                  <a:srgbClr val="1465C1"/>
                </a:solidFill>
                <a:latin typeface="Montserrat" pitchFamily="2" charset="77"/>
              </a:defRPr>
            </a:lvl1pPr>
          </a:lstStyle>
          <a:p>
            <a:r>
              <a:rPr lang="en-US"/>
              <a:t>Click to edit Master title style</a:t>
            </a:r>
          </a:p>
        </p:txBody>
      </p:sp>
      <p:pic>
        <p:nvPicPr>
          <p:cNvPr id="9" name="Picture 8" descr="A blue rocket with yellow flames&#10;&#10;AI-generated content may be incorrect.">
            <a:extLst>
              <a:ext uri="{FF2B5EF4-FFF2-40B4-BE49-F238E27FC236}">
                <a16:creationId xmlns:a16="http://schemas.microsoft.com/office/drawing/2014/main" id="{E0979A95-488D-09C8-AE26-774FF0CB30C5}"/>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240315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9" name="Picture Placeholder "/>
          <p:cNvSpPr>
            <a:spLocks noGrp="1"/>
          </p:cNvSpPr>
          <p:nvPr>
            <p:ph type="pic" sz="quarter" idx="13"/>
          </p:nvPr>
        </p:nvSpPr>
        <p:spPr>
          <a:xfrm>
            <a:off x="8077200" y="1202568"/>
            <a:ext cx="4114800" cy="3220197"/>
          </a:xfrm>
        </p:spPr>
        <p:txBody>
          <a:bodyPr>
            <a:normAutofit/>
          </a:bodyPr>
          <a:lstStyle>
            <a:lvl1pPr marL="0" indent="0">
              <a:buNone/>
              <a:defRPr sz="2400" b="0" i="0">
                <a:solidFill>
                  <a:schemeClr val="tx1"/>
                </a:solidFill>
                <a:latin typeface="Montserrat" pitchFamily="2" charset="77"/>
              </a:defRPr>
            </a:lvl1pPr>
          </a:lstStyle>
          <a:p>
            <a:r>
              <a:rPr lang="en-US"/>
              <a:t>Click icon to add picture</a:t>
            </a:r>
          </a:p>
        </p:txBody>
      </p:sp>
      <p:sp>
        <p:nvSpPr>
          <p:cNvPr id="4" name="Text Placeholder "/>
          <p:cNvSpPr>
            <a:spLocks noGrp="1"/>
          </p:cNvSpPr>
          <p:nvPr>
            <p:ph type="body" sz="half" idx="2"/>
          </p:nvPr>
        </p:nvSpPr>
        <p:spPr>
          <a:xfrm>
            <a:off x="414528" y="1202569"/>
            <a:ext cx="7489251" cy="4394668"/>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2" name="Title"/>
          <p:cNvSpPr>
            <a:spLocks noGrp="1"/>
          </p:cNvSpPr>
          <p:nvPr>
            <p:ph type="title" hasCustomPrompt="1"/>
          </p:nvPr>
        </p:nvSpPr>
        <p:spPr>
          <a:xfrm>
            <a:off x="414528" y="438912"/>
            <a:ext cx="7662672"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5" name="Picture 4" descr="A blue rocket with yellow flames&#10;&#10;AI-generated content may be incorrect.">
            <a:extLst>
              <a:ext uri="{FF2B5EF4-FFF2-40B4-BE49-F238E27FC236}">
                <a16:creationId xmlns:a16="http://schemas.microsoft.com/office/drawing/2014/main" id="{C4F7D118-FEE1-1BB0-CD7C-74505B797651}"/>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576285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ft Image-Full height">
    <p:spTree>
      <p:nvGrpSpPr>
        <p:cNvPr id="1" name=""/>
        <p:cNvGrpSpPr/>
        <p:nvPr/>
      </p:nvGrpSpPr>
      <p:grpSpPr>
        <a:xfrm>
          <a:off x="0" y="0"/>
          <a:ext cx="0" cy="0"/>
          <a:chOff x="0" y="0"/>
          <a:chExt cx="0" cy="0"/>
        </a:xfrm>
      </p:grpSpPr>
      <p:sp>
        <p:nvSpPr>
          <p:cNvPr id="10" name="White Background">
            <a:extLst>
              <a:ext uri="{FF2B5EF4-FFF2-40B4-BE49-F238E27FC236}">
                <a16:creationId xmlns:a16="http://schemas.microsoft.com/office/drawing/2014/main" id="{902DAFEE-672B-5531-AF4D-6EDB10B89A39}"/>
              </a:ext>
            </a:extLst>
          </p:cNvPr>
          <p:cNvSpPr/>
          <p:nvPr userDrawn="1"/>
        </p:nvSpPr>
        <p:spPr>
          <a:xfrm>
            <a:off x="0" y="122863"/>
            <a:ext cx="4064000" cy="67351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a:solidFill>
                <a:schemeClr val="tx1"/>
              </a:solidFill>
              <a:latin typeface="Montserrat" pitchFamily="2" charset="77"/>
            </a:endParaRPr>
          </a:p>
        </p:txBody>
      </p:sp>
      <p:sp>
        <p:nvSpPr>
          <p:cNvPr id="12" name="Picture Placeholder ">
            <a:extLst>
              <a:ext uri="{FF2B5EF4-FFF2-40B4-BE49-F238E27FC236}">
                <a16:creationId xmlns:a16="http://schemas.microsoft.com/office/drawing/2014/main" id="{FECA367A-4BF0-0C0F-3498-6E6DCA02C6C2}"/>
              </a:ext>
            </a:extLst>
          </p:cNvPr>
          <p:cNvSpPr>
            <a:spLocks noGrp="1"/>
          </p:cNvSpPr>
          <p:nvPr>
            <p:ph type="pic" sz="quarter" idx="13"/>
          </p:nvPr>
        </p:nvSpPr>
        <p:spPr>
          <a:xfrm>
            <a:off x="10517" y="122862"/>
            <a:ext cx="4053483" cy="6735137"/>
          </a:xfrm>
        </p:spPr>
        <p:txBody>
          <a:bodyPr/>
          <a:lstStyle>
            <a:lvl1pPr marL="0" indent="0" algn="ctr">
              <a:buNone/>
              <a:defRPr b="0" i="0">
                <a:solidFill>
                  <a:schemeClr val="tx1"/>
                </a:solidFill>
                <a:latin typeface="Montserrat" pitchFamily="2" charset="77"/>
              </a:defRPr>
            </a:lvl1pPr>
          </a:lstStyle>
          <a:p>
            <a:r>
              <a:rPr lang="en-US"/>
              <a:t>Click icon to add picture</a:t>
            </a:r>
          </a:p>
        </p:txBody>
      </p:sp>
      <p:sp>
        <p:nvSpPr>
          <p:cNvPr id="14" name="Text Placeholder ">
            <a:extLst>
              <a:ext uri="{FF2B5EF4-FFF2-40B4-BE49-F238E27FC236}">
                <a16:creationId xmlns:a16="http://schemas.microsoft.com/office/drawing/2014/main" id="{46316DF1-26A9-2E6B-73C8-3D75A8FE6392}"/>
              </a:ext>
            </a:extLst>
          </p:cNvPr>
          <p:cNvSpPr>
            <a:spLocks noGrp="1"/>
          </p:cNvSpPr>
          <p:nvPr>
            <p:ph type="body" sz="half" idx="2"/>
          </p:nvPr>
        </p:nvSpPr>
        <p:spPr>
          <a:xfrm>
            <a:off x="4330263" y="1202767"/>
            <a:ext cx="7463676" cy="4985627"/>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13" name="Title 1">
            <a:extLst>
              <a:ext uri="{FF2B5EF4-FFF2-40B4-BE49-F238E27FC236}">
                <a16:creationId xmlns:a16="http://schemas.microsoft.com/office/drawing/2014/main" id="{24B4795F-48D0-3560-24E9-9EED8A3F95E7}"/>
              </a:ext>
            </a:extLst>
          </p:cNvPr>
          <p:cNvSpPr>
            <a:spLocks noGrp="1"/>
          </p:cNvSpPr>
          <p:nvPr>
            <p:ph type="title" hasCustomPrompt="1"/>
          </p:nvPr>
        </p:nvSpPr>
        <p:spPr>
          <a:xfrm>
            <a:off x="4328161" y="438912"/>
            <a:ext cx="7463676"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2" name="Picture 1" descr="A blue rocket with yellow flames&#10;&#10;AI-generated content may be incorrect.">
            <a:extLst>
              <a:ext uri="{FF2B5EF4-FFF2-40B4-BE49-F238E27FC236}">
                <a16:creationId xmlns:a16="http://schemas.microsoft.com/office/drawing/2014/main" id="{1F91E5E3-C052-DFF7-0F22-4D1D49D5D032}"/>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7845521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sp>
        <p:nvSpPr>
          <p:cNvPr id="2" name="Title"/>
          <p:cNvSpPr>
            <a:spLocks noGrp="1"/>
          </p:cNvSpPr>
          <p:nvPr>
            <p:ph type="title"/>
          </p:nvPr>
        </p:nvSpPr>
        <p:spPr>
          <a:xfrm>
            <a:off x="418073" y="437960"/>
            <a:ext cx="11375136" cy="609600"/>
          </a:xfrm>
        </p:spPr>
        <p:txBody>
          <a:bodyPr/>
          <a:lstStyle>
            <a:lvl1pPr>
              <a:defRPr b="0" i="0">
                <a:solidFill>
                  <a:srgbClr val="1866AE"/>
                </a:solidFill>
                <a:latin typeface="Montserrat" pitchFamily="2" charset="77"/>
              </a:defRPr>
            </a:lvl1pPr>
          </a:lstStyle>
          <a:p>
            <a:r>
              <a:rPr lang="en-US"/>
              <a:t>Click to edit Master title style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12299604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Blue top line">
            <a:extLst>
              <a:ext uri="{FF2B5EF4-FFF2-40B4-BE49-F238E27FC236}">
                <a16:creationId xmlns:a16="http://schemas.microsoft.com/office/drawing/2014/main" id="{E698F46C-0450-0A42-69F4-4CA2C83E49C9}"/>
              </a:ext>
            </a:extLst>
          </p:cNvPr>
          <p:cNvSpPr/>
          <p:nvPr userDrawn="1"/>
        </p:nvSpPr>
        <p:spPr>
          <a:xfrm flipV="1">
            <a:off x="0" y="-7257"/>
            <a:ext cx="12192000" cy="9753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7" name="Green top line">
            <a:extLst>
              <a:ext uri="{FF2B5EF4-FFF2-40B4-BE49-F238E27FC236}">
                <a16:creationId xmlns:a16="http://schemas.microsoft.com/office/drawing/2014/main" id="{12C9F3AD-9532-11E6-E672-6F10181290C1}"/>
              </a:ext>
            </a:extLst>
          </p:cNvPr>
          <p:cNvSpPr/>
          <p:nvPr userDrawn="1"/>
        </p:nvSpPr>
        <p:spPr>
          <a:xfrm flipV="1">
            <a:off x="0" y="0"/>
            <a:ext cx="12192000" cy="36576"/>
          </a:xfrm>
          <a:prstGeom prst="rect">
            <a:avLst/>
          </a:prstGeom>
          <a:solidFill>
            <a:srgbClr val="8EBB37"/>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2" name="Picture 1" descr="A blue rocket with yellow flames&#10;&#10;AI-generated content may be incorrect.">
            <a:extLst>
              <a:ext uri="{FF2B5EF4-FFF2-40B4-BE49-F238E27FC236}">
                <a16:creationId xmlns:a16="http://schemas.microsoft.com/office/drawing/2014/main" id="{64C7FB6B-3110-4907-76D3-A00724A380C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6036493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10430932" y="3565994"/>
            <a:ext cx="1465792" cy="2418799"/>
          </a:xfrm>
          <a:prstGeom prst="rect">
            <a:avLst/>
          </a:prstGeom>
        </p:spPr>
      </p:pic>
    </p:spTree>
    <p:extLst>
      <p:ext uri="{BB962C8B-B14F-4D97-AF65-F5344CB8AC3E}">
        <p14:creationId xmlns:p14="http://schemas.microsoft.com/office/powerpoint/2010/main" val="835790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3100782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757027" y="4424859"/>
            <a:ext cx="5213183" cy="576471"/>
          </a:xfrm>
        </p:spPr>
        <p:txBody>
          <a:bodyPr anchor="t" anchorCtr="0"/>
          <a:lstStyle>
            <a:lvl1pPr>
              <a:defRPr sz="4267" b="0" i="0">
                <a:solidFill>
                  <a:srgbClr val="1866AE"/>
                </a:solidFill>
                <a:latin typeface="Montserrat" pitchFamily="2" charset="77"/>
              </a:defRPr>
            </a:lvl1pPr>
          </a:lstStyle>
          <a:p>
            <a:r>
              <a:rPr lang="en-US"/>
              <a:t>Transition Slide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2141223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7905447" y="934345"/>
            <a:ext cx="2934692" cy="4845921"/>
          </a:xfrm>
          <a:prstGeom prst="rect">
            <a:avLst/>
          </a:prstGeom>
        </p:spPr>
      </p:pic>
      <p:sp>
        <p:nvSpPr>
          <p:cNvPr id="3" name="Title">
            <a:extLst>
              <a:ext uri="{FF2B5EF4-FFF2-40B4-BE49-F238E27FC236}">
                <a16:creationId xmlns:a16="http://schemas.microsoft.com/office/drawing/2014/main" id="{19FDF49E-F19D-7966-5841-E8FE9E5F2A9C}"/>
              </a:ext>
            </a:extLst>
          </p:cNvPr>
          <p:cNvSpPr>
            <a:spLocks noGrp="1"/>
          </p:cNvSpPr>
          <p:nvPr>
            <p:ph type="title" hasCustomPrompt="1"/>
          </p:nvPr>
        </p:nvSpPr>
        <p:spPr>
          <a:xfrm>
            <a:off x="757027" y="4424859"/>
            <a:ext cx="5213183"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5848439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cNvSpPr>
            <a:spLocks noGrp="1"/>
          </p:cNvSpPr>
          <p:nvPr>
            <p:ph type="title" hasCustomPrompt="1"/>
          </p:nvPr>
        </p:nvSpPr>
        <p:spPr>
          <a:xfrm>
            <a:off x="722473" y="5343937"/>
            <a:ext cx="7910000"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6605173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7" name="Picture 6" descr="A black background with white text&#10;&#10;AI-generated content may be incorrect.">
            <a:extLst>
              <a:ext uri="{FF2B5EF4-FFF2-40B4-BE49-F238E27FC236}">
                <a16:creationId xmlns:a16="http://schemas.microsoft.com/office/drawing/2014/main" id="{53AA51E4-54C5-C3EB-E63C-24DF6CD86D97}"/>
              </a:ext>
            </a:extLst>
          </p:cNvPr>
          <p:cNvPicPr>
            <a:picLocks noChangeAspect="1"/>
          </p:cNvPicPr>
          <p:nvPr userDrawn="1"/>
        </p:nvPicPr>
        <p:blipFill>
          <a:blip r:embed="rId2"/>
          <a:stretch>
            <a:fillRect/>
          </a:stretch>
        </p:blipFill>
        <p:spPr>
          <a:xfrm>
            <a:off x="8640838" y="5542513"/>
            <a:ext cx="3331413" cy="1122135"/>
          </a:xfrm>
          <a:prstGeom prst="rect">
            <a:avLst/>
          </a:prstGeom>
        </p:spPr>
      </p:pic>
      <p:sp>
        <p:nvSpPr>
          <p:cNvPr id="8" name="Content Placeholder">
            <a:extLst>
              <a:ext uri="{FF2B5EF4-FFF2-40B4-BE49-F238E27FC236}">
                <a16:creationId xmlns:a16="http://schemas.microsoft.com/office/drawing/2014/main" id="{5F38107C-7728-4558-7E69-FAF1CE2A72B4}"/>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F8B98C3A-005E-FCC5-F2BE-C72514D32278}"/>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710350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srcRect l="79031" t="-2797" b="-1"/>
          <a:stretch>
            <a:fillRect/>
          </a:stretch>
        </p:blipFill>
        <p:spPr>
          <a:xfrm>
            <a:off x="10876040" y="4876801"/>
            <a:ext cx="1076861" cy="1778172"/>
          </a:xfrm>
          <a:prstGeom prst="rect">
            <a:avLst/>
          </a:prstGeom>
        </p:spPr>
      </p:pic>
      <p:sp>
        <p:nvSpPr>
          <p:cNvPr id="3" name="Content Placeholder">
            <a:extLst>
              <a:ext uri="{FF2B5EF4-FFF2-40B4-BE49-F238E27FC236}">
                <a16:creationId xmlns:a16="http://schemas.microsoft.com/office/drawing/2014/main" id="{56B42121-3791-88E3-3566-C1D5909E1223}"/>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a:extLst>
              <a:ext uri="{FF2B5EF4-FFF2-40B4-BE49-F238E27FC236}">
                <a16:creationId xmlns:a16="http://schemas.microsoft.com/office/drawing/2014/main" id="{F2F9A820-95BB-FDF9-48A2-DDD11B6C8F1B}"/>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39738127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8098971" y="924669"/>
            <a:ext cx="2934692" cy="4845921"/>
          </a:xfrm>
          <a:prstGeom prst="rect">
            <a:avLst/>
          </a:prstGeom>
        </p:spPr>
      </p:pic>
    </p:spTree>
    <p:extLst>
      <p:ext uri="{BB962C8B-B14F-4D97-AF65-F5344CB8AC3E}">
        <p14:creationId xmlns:p14="http://schemas.microsoft.com/office/powerpoint/2010/main" val="41297029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ntent White">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D421C6B-9F5B-4DB8-A455-F9B42A1B5468}"/>
              </a:ext>
            </a:extLst>
          </p:cNvPr>
          <p:cNvSpPr>
            <a:spLocks noGrp="1"/>
          </p:cNvSpPr>
          <p:nvPr>
            <p:ph type="ftr" sz="quarter" idx="10"/>
          </p:nvPr>
        </p:nvSpPr>
        <p:spPr>
          <a:xfrm>
            <a:off x="304889" y="6400801"/>
            <a:ext cx="5486313" cy="222249"/>
          </a:xfrm>
        </p:spPr>
        <p:txBody>
          <a:bodyPr/>
          <a:lstStyle>
            <a:lvl1pPr>
              <a:defRPr>
                <a:solidFill>
                  <a:srgbClr val="000000"/>
                </a:solidFill>
              </a:defRPr>
            </a:lvl1pPr>
          </a:lstStyle>
          <a:p>
            <a:r>
              <a:rPr lang="en-US"/>
              <a:t>IBM Consulting / © IBM Corporation</a:t>
            </a:r>
          </a:p>
        </p:txBody>
      </p:sp>
      <p:sp>
        <p:nvSpPr>
          <p:cNvPr id="4" name="Slide Number Placeholder">
            <a:extLst>
              <a:ext uri="{FF2B5EF4-FFF2-40B4-BE49-F238E27FC236}">
                <a16:creationId xmlns:a16="http://schemas.microsoft.com/office/drawing/2014/main" id="{57B4B170-B75A-4566-BD1C-C1A3AC97742B}"/>
              </a:ext>
            </a:extLst>
          </p:cNvPr>
          <p:cNvSpPr>
            <a:spLocks noGrp="1"/>
          </p:cNvSpPr>
          <p:nvPr>
            <p:ph type="sldNum" sz="quarter" idx="11"/>
          </p:nvPr>
        </p:nvSpPr>
        <p:spPr>
          <a:xfrm>
            <a:off x="9448802" y="6400801"/>
            <a:ext cx="2438309" cy="222249"/>
          </a:xfrm>
        </p:spPr>
        <p:txBody>
          <a:bodyPr/>
          <a:lstStyle>
            <a:lvl1pPr>
              <a:defRPr>
                <a:solidFill>
                  <a:srgbClr val="000000"/>
                </a:solidFill>
              </a:defRPr>
            </a:lvl1pPr>
          </a:lstStyle>
          <a:p>
            <a:fld id="{59395FB3-9C97-154F-86B2-7E381B951268}" type="slidenum">
              <a:rPr lang="en-US" smtClean="0"/>
              <a:pPr/>
              <a:t>‹#›</a:t>
            </a:fld>
            <a:endParaRPr lang="en-US"/>
          </a:p>
        </p:txBody>
      </p:sp>
      <p:sp>
        <p:nvSpPr>
          <p:cNvPr id="2" name="Title 4">
            <a:extLst>
              <a:ext uri="{FF2B5EF4-FFF2-40B4-BE49-F238E27FC236}">
                <a16:creationId xmlns:a16="http://schemas.microsoft.com/office/drawing/2014/main" id="{0E55ADD0-679D-766C-B0A5-B16098B26F40}"/>
              </a:ext>
            </a:extLst>
          </p:cNvPr>
          <p:cNvSpPr>
            <a:spLocks noGrp="1"/>
          </p:cNvSpPr>
          <p:nvPr>
            <p:ph type="title"/>
          </p:nvPr>
        </p:nvSpPr>
        <p:spPr>
          <a:xfrm>
            <a:off x="280416" y="256032"/>
            <a:ext cx="11606693" cy="860563"/>
          </a:xfrm>
        </p:spPr>
        <p:txBody>
          <a:bodyPr/>
          <a:lstStyle>
            <a:lvl1pPr>
              <a:defRPr>
                <a:solidFill>
                  <a:schemeClr val="accent4"/>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FF18601E-3127-8A99-E91E-5885361C43CF}"/>
              </a:ext>
            </a:extLst>
          </p:cNvPr>
          <p:cNvSpPr>
            <a:spLocks noGrp="1"/>
          </p:cNvSpPr>
          <p:nvPr>
            <p:ph sz="quarter" idx="12"/>
          </p:nvPr>
        </p:nvSpPr>
        <p:spPr>
          <a:xfrm>
            <a:off x="304800" y="1756834"/>
            <a:ext cx="11582400" cy="45444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0821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3C3C3B"/>
                </a:solidFill>
              </a:defRPr>
            </a:lvl1pPr>
          </a:lstStyle>
          <a:p>
            <a:r>
              <a:rPr lang="en-US"/>
              <a:t>Click to edit Master title style</a:t>
            </a:r>
          </a:p>
        </p:txBody>
      </p:sp>
      <p:sp>
        <p:nvSpPr>
          <p:cNvPr id="3" name="Content Placeholder 2"/>
          <p:cNvSpPr>
            <a:spLocks noGrp="1"/>
          </p:cNvSpPr>
          <p:nvPr>
            <p:ph sz="half" idx="1"/>
          </p:nvPr>
        </p:nvSpPr>
        <p:spPr>
          <a:xfrm>
            <a:off x="459621" y="1660526"/>
            <a:ext cx="5384800" cy="4296068"/>
          </a:xfrm>
        </p:spPr>
        <p:txBody>
          <a:bodyPr>
            <a:normAutofit/>
          </a:bodyPr>
          <a:lstStyle>
            <a:lvl1pPr marL="0" indent="0">
              <a:buNone/>
              <a:defRPr sz="2667">
                <a:solidFill>
                  <a:srgbClr val="3C3C3B"/>
                </a:solidFill>
              </a:defRPr>
            </a:lvl1pPr>
            <a:lvl2pPr marL="365742" indent="-365742">
              <a:buFont typeface="Arial" panose="020B0604020202020204" pitchFamily="34" charset="0"/>
              <a:buChar char="•"/>
              <a:defRPr sz="2400">
                <a:solidFill>
                  <a:srgbClr val="3C3C3B"/>
                </a:solidFill>
              </a:defRPr>
            </a:lvl2pPr>
            <a:lvl3pPr marL="731484" indent="-365742">
              <a:buFont typeface="Arial" panose="020B0604020202020204" pitchFamily="34" charset="0"/>
              <a:buChar char="•"/>
              <a:defRPr sz="2133">
                <a:solidFill>
                  <a:srgbClr val="3C3C3B"/>
                </a:solidFill>
              </a:defRPr>
            </a:lvl3pPr>
            <a:lvl4pPr marL="1097226" indent="-365742">
              <a:buFont typeface="Arial" panose="020B0604020202020204" pitchFamily="34" charset="0"/>
              <a:buChar char="•"/>
              <a:defRPr sz="1867">
                <a:solidFill>
                  <a:srgbClr val="3C3C3B"/>
                </a:solidFill>
              </a:defRPr>
            </a:lvl4pPr>
            <a:lvl5pPr marL="1462966" indent="-365742">
              <a:buFont typeface="Arial" panose="020B0604020202020204" pitchFamily="34" charset="0"/>
              <a:buChar char="•"/>
              <a:defRPr sz="1867">
                <a:solidFill>
                  <a:srgbClr val="3C3C3B"/>
                </a:solidFill>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60526"/>
            <a:ext cx="5384800" cy="4296068"/>
          </a:xfrm>
        </p:spPr>
        <p:txBody>
          <a:bodyPr>
            <a:normAutofit/>
          </a:bodyPr>
          <a:lstStyle>
            <a:lvl1pPr marL="0" indent="0">
              <a:buNone/>
              <a:defRPr sz="2667">
                <a:solidFill>
                  <a:srgbClr val="3C3C3B"/>
                </a:solidFill>
              </a:defRPr>
            </a:lvl1pPr>
            <a:lvl2pPr marL="365742" indent="-365742">
              <a:buFont typeface="Arial" panose="020B0604020202020204" pitchFamily="34" charset="0"/>
              <a:buChar char="•"/>
              <a:defRPr lang="en-US" sz="2400" kern="1200" dirty="0" smtClean="0">
                <a:solidFill>
                  <a:srgbClr val="3C3C3B"/>
                </a:solidFill>
                <a:latin typeface="+mn-lt"/>
                <a:ea typeface="+mn-ea"/>
                <a:cs typeface="+mn-cs"/>
              </a:defRPr>
            </a:lvl2pPr>
            <a:lvl3pPr marL="731484" indent="-365742">
              <a:buFont typeface="Arial" panose="020B0604020202020204" pitchFamily="34" charset="0"/>
              <a:buChar char="•"/>
              <a:defRPr sz="2133">
                <a:solidFill>
                  <a:srgbClr val="3C3C3B"/>
                </a:solidFill>
              </a:defRPr>
            </a:lvl3pPr>
            <a:lvl4pPr marL="1097226" indent="-365742">
              <a:buFont typeface="Arial" panose="020B0604020202020204" pitchFamily="34" charset="0"/>
              <a:buChar char="•"/>
              <a:defRPr sz="1867">
                <a:solidFill>
                  <a:srgbClr val="3C3C3B"/>
                </a:solidFill>
              </a:defRPr>
            </a:lvl4pPr>
            <a:lvl5pPr marL="1462966" indent="-365742">
              <a:buFont typeface="Arial" panose="020B0604020202020204" pitchFamily="34" charset="0"/>
              <a:buChar char="•"/>
              <a:defRPr sz="1867">
                <a:solidFill>
                  <a:srgbClr val="3C3C3B"/>
                </a:solidFill>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07355F-22F0-684D-B046-094980D10CE1}" type="datetime1">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69B7C6-3FEA-7848-A062-37F8F6368D00}" type="slidenum">
              <a:rPr lang="en-US" smtClean="0"/>
              <a:t>‹#›</a:t>
            </a:fld>
            <a:endParaRPr lang="en-US"/>
          </a:p>
        </p:txBody>
      </p:sp>
      <p:sp>
        <p:nvSpPr>
          <p:cNvPr id="8" name="TextBox 7"/>
          <p:cNvSpPr txBox="1"/>
          <p:nvPr userDrawn="1"/>
        </p:nvSpPr>
        <p:spPr>
          <a:xfrm>
            <a:off x="10450287" y="-532190"/>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12146911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Half Frame 4">
            <a:extLst>
              <a:ext uri="{FF2B5EF4-FFF2-40B4-BE49-F238E27FC236}">
                <a16:creationId xmlns:a16="http://schemas.microsoft.com/office/drawing/2014/main" id="{6581409C-6125-F298-D37A-31D8253DA6C0}"/>
              </a:ext>
            </a:extLst>
          </p:cNvPr>
          <p:cNvSpPr/>
          <p:nvPr userDrawn="1"/>
        </p:nvSpPr>
        <p:spPr>
          <a:xfrm rot="5400000">
            <a:off x="10427853" y="-341746"/>
            <a:ext cx="1422401" cy="2105894"/>
          </a:xfrm>
          <a:prstGeom prst="halfFrame">
            <a:avLst>
              <a:gd name="adj1" fmla="val 26436"/>
              <a:gd name="adj2" fmla="val 2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Half Frame 7">
            <a:extLst>
              <a:ext uri="{FF2B5EF4-FFF2-40B4-BE49-F238E27FC236}">
                <a16:creationId xmlns:a16="http://schemas.microsoft.com/office/drawing/2014/main" id="{1D445B04-5630-FADB-A52F-C02F082ED06B}"/>
              </a:ext>
            </a:extLst>
          </p:cNvPr>
          <p:cNvSpPr/>
          <p:nvPr userDrawn="1"/>
        </p:nvSpPr>
        <p:spPr>
          <a:xfrm rot="16200000">
            <a:off x="341748" y="5093852"/>
            <a:ext cx="1422401" cy="2105894"/>
          </a:xfrm>
          <a:prstGeom prst="halfFrame">
            <a:avLst>
              <a:gd name="adj1" fmla="val 26436"/>
              <a:gd name="adj2" fmla="val 2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956575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3F262E-C592-3212-8CCB-AEDDA5F912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9194FE-F685-D3DD-590A-8AF2F72CE7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D75257-0211-6B81-C931-9164A49704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088479-BA81-4009-A123-8DEC37C97121}" type="datetimeFigureOut">
              <a:rPr lang="en-US" smtClean="0"/>
              <a:t>6/25/2026</a:t>
            </a:fld>
            <a:endParaRPr lang="en-US"/>
          </a:p>
        </p:txBody>
      </p:sp>
      <p:sp>
        <p:nvSpPr>
          <p:cNvPr id="5" name="Footer Placeholder 4">
            <a:extLst>
              <a:ext uri="{FF2B5EF4-FFF2-40B4-BE49-F238E27FC236}">
                <a16:creationId xmlns:a16="http://schemas.microsoft.com/office/drawing/2014/main" id="{F69724AC-A78E-8FA7-7A44-B7D3D58D12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2A7047-926C-1AB6-C417-8D2D5E13AC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7F33E6-C358-49CC-A210-CD6067814AAB}" type="slidenum">
              <a:rPr lang="en-US" smtClean="0"/>
              <a:t>‹#›</a:t>
            </a:fld>
            <a:endParaRPr lang="en-US"/>
          </a:p>
        </p:txBody>
      </p:sp>
    </p:spTree>
    <p:extLst>
      <p:ext uri="{BB962C8B-B14F-4D97-AF65-F5344CB8AC3E}">
        <p14:creationId xmlns:p14="http://schemas.microsoft.com/office/powerpoint/2010/main" val="1477474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A91A35-079A-C9FF-D72C-0EDC5BC8C68A}"/>
              </a:ext>
            </a:extLst>
          </p:cNvPr>
          <p:cNvSpPr/>
          <p:nvPr userDrawn="1"/>
        </p:nvSpPr>
        <p:spPr>
          <a:xfrm>
            <a:off x="0" y="6214429"/>
            <a:ext cx="12192000" cy="643572"/>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laceholder 1"/>
          <p:cNvSpPr>
            <a:spLocks noGrp="1"/>
          </p:cNvSpPr>
          <p:nvPr>
            <p:ph type="title"/>
          </p:nvPr>
        </p:nvSpPr>
        <p:spPr>
          <a:xfrm>
            <a:off x="414527" y="441960"/>
            <a:ext cx="11375136" cy="609600"/>
          </a:xfrm>
          <a:prstGeom prst="rect">
            <a:avLst/>
          </a:prstGeom>
        </p:spPr>
        <p:txBody>
          <a:bodyPr vert="horz" lIns="0" tIns="45720" rIns="91440" bIns="0" rtlCol="0" anchor="b">
            <a:noAutofit/>
          </a:bodyPr>
          <a:lstStyle/>
          <a:p>
            <a:r>
              <a:rPr lang="en-US"/>
              <a:t>Click to edit Master title style</a:t>
            </a:r>
          </a:p>
        </p:txBody>
      </p:sp>
      <p:sp>
        <p:nvSpPr>
          <p:cNvPr id="3" name="Text Placeholder 2"/>
          <p:cNvSpPr>
            <a:spLocks noGrp="1"/>
          </p:cNvSpPr>
          <p:nvPr>
            <p:ph type="body" idx="1"/>
          </p:nvPr>
        </p:nvSpPr>
        <p:spPr>
          <a:xfrm>
            <a:off x="414528" y="1219201"/>
            <a:ext cx="11375136" cy="4220532"/>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Blue top line"/>
          <p:cNvSpPr/>
          <p:nvPr userDrawn="1"/>
        </p:nvSpPr>
        <p:spPr>
          <a:xfrm flipV="1">
            <a:off x="0" y="-7257"/>
            <a:ext cx="12192000" cy="97535"/>
          </a:xfrm>
          <a:prstGeom prst="rect">
            <a:avLst/>
          </a:prstGeom>
          <a:solidFill>
            <a:srgbClr val="146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17" name="Green top line"/>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Tree>
    <p:extLst>
      <p:ext uri="{BB962C8B-B14F-4D97-AF65-F5344CB8AC3E}">
        <p14:creationId xmlns:p14="http://schemas.microsoft.com/office/powerpoint/2010/main" val="902781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96" r:id="rId24"/>
    <p:sldLayoutId id="2147483697" r:id="rId25"/>
    <p:sldLayoutId id="2147483698" r:id="rId26"/>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p:titleStyle>
    <p:bodyStyle>
      <a:lvl1pPr marL="0" indent="0" algn="l" defTabSz="609585" rtl="0" eaLnBrk="1" latinLnBrk="0" hangingPunct="1">
        <a:spcBef>
          <a:spcPct val="20000"/>
        </a:spcBef>
        <a:buClr>
          <a:schemeClr val="tx2"/>
        </a:buClr>
        <a:buFont typeface="Wingdings" charset="2"/>
        <a:buNone/>
        <a:defRPr sz="2133" b="0" i="0" kern="1200" baseline="0">
          <a:solidFill>
            <a:srgbClr val="000000"/>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rgbClr val="000000"/>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rgbClr val="000000"/>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5760">
          <p15:clr>
            <a:srgbClr val="F26B43"/>
          </p15:clr>
        </p15:guide>
        <p15:guide id="3" pos="190">
          <p15:clr>
            <a:srgbClr val="F26B43"/>
          </p15:clr>
        </p15:guide>
        <p15:guide id="4" pos="1983">
          <p15:clr>
            <a:srgbClr val="F26B43"/>
          </p15:clr>
        </p15:guide>
        <p15:guide id="5" pos="3776">
          <p15:clr>
            <a:srgbClr val="F26B43"/>
          </p15:clr>
        </p15:guide>
        <p15:guide id="6" pos="5569">
          <p15:clr>
            <a:srgbClr val="F26B43"/>
          </p15:clr>
        </p15:guide>
        <p15:guide id="7" orient="horz">
          <p15:clr>
            <a:srgbClr val="F26B43"/>
          </p15:clr>
        </p15:guide>
        <p15:guide id="8" orient="horz" pos="3240">
          <p15:clr>
            <a:srgbClr val="F26B43"/>
          </p15:clr>
        </p15:guide>
        <p15:guide id="9" orient="horz" pos="190">
          <p15:clr>
            <a:srgbClr val="F26B43"/>
          </p15:clr>
        </p15:guide>
        <p15:guide id="10" orient="horz" pos="1158">
          <p15:clr>
            <a:srgbClr val="F26B43"/>
          </p15:clr>
        </p15:guide>
        <p15:guide id="11" orient="horz" pos="2127">
          <p15:clr>
            <a:srgbClr val="F26B43"/>
          </p15:clr>
        </p15:guide>
        <p15:guide id="12" orient="horz" pos="3095">
          <p15:clr>
            <a:srgbClr val="F26B43"/>
          </p15:clr>
        </p15:guide>
        <p15:guide id="13" pos="5376">
          <p15:clr>
            <a:srgbClr val="F26B43"/>
          </p15:clr>
        </p15:guide>
        <p15:guide id="14" orient="horz" pos="5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microsoft.com/office/2018/10/relationships/comments" Target="../comments/modernComment_7FFFFFF0_1996B2E2.xml"/><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11C_5FAB239F.xml"/><Relationship Id="rId1" Type="http://schemas.openxmlformats.org/officeDocument/2006/relationships/slideLayout" Target="../slideLayouts/slideLayout20.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microsoft.com/office/2018/10/relationships/comments" Target="../comments/modernComment_11B_9EC8F32F.xml"/><Relationship Id="rId1" Type="http://schemas.openxmlformats.org/officeDocument/2006/relationships/slideLayout" Target="../slideLayouts/slideLayout20.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microsoft.com/office/2018/10/relationships/comments" Target="../comments/modernComment_123_6609176F.xml"/><Relationship Id="rId1" Type="http://schemas.openxmlformats.org/officeDocument/2006/relationships/slideLayout" Target="../slideLayouts/slideLayout20.xml"/><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microsoft.com/office/2018/10/relationships/comments" Target="../comments/modernComment_11E_FBFAB5B3.xml"/><Relationship Id="rId1" Type="http://schemas.openxmlformats.org/officeDocument/2006/relationships/slideLayout" Target="../slideLayouts/slideLayout20.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microsoft.com/office/2018/10/relationships/comments" Target="../comments/modernComment_131_2DAF2EB8.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microsoft.com/office/2018/10/relationships/comments" Target="../comments/modernComment_120_4A7B5DA3.xml"/><Relationship Id="rId1" Type="http://schemas.openxmlformats.org/officeDocument/2006/relationships/slideLayout" Target="../slideLayouts/slideLayout20.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microsoft.com/office/2018/10/relationships/comments" Target="../comments/modernComment_121_B30AEBD6.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0.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svg"/><Relationship Id="rId2" Type="http://schemas.openxmlformats.org/officeDocument/2006/relationships/notesSlide" Target="../notesSlides/notesSlide4.xml"/><Relationship Id="rId1" Type="http://schemas.openxmlformats.org/officeDocument/2006/relationships/slideLayout" Target="../slideLayouts/slideLayout2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3.svg"/></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microsoft.com/office/2018/10/relationships/comments" Target="../comments/modernComment_7FFFFFFE_878C95C.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microsoft.com/office/2018/10/relationships/comments" Target="../comments/modernComment_11A_1E4CE9D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microsoft.com/office/2018/10/relationships/comments" Target="../comments/modernComment_7FFFFFFF_36DBBC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2460-6DBE-619C-CA11-2645AAEBFA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A08FD6-7E06-AEC4-FC0F-CD07B69918CC}"/>
              </a:ext>
            </a:extLst>
          </p:cNvPr>
          <p:cNvSpPr>
            <a:spLocks noGrp="1"/>
          </p:cNvSpPr>
          <p:nvPr>
            <p:ph type="ctrTitle"/>
          </p:nvPr>
        </p:nvSpPr>
        <p:spPr>
          <a:xfrm>
            <a:off x="244008" y="1270659"/>
            <a:ext cx="11705493" cy="3272557"/>
          </a:xfrm>
        </p:spPr>
        <p:txBody>
          <a:bodyPr/>
          <a:lstStyle/>
          <a:p>
            <a:r>
              <a:rPr lang="en-US" sz="4250">
                <a:latin typeface="Montserrat"/>
              </a:rPr>
              <a:t>Create and Maintain Business Master Data </a:t>
            </a:r>
            <a:br>
              <a:rPr lang="en-US" sz="4250">
                <a:latin typeface="Montserrat"/>
              </a:rPr>
            </a:br>
            <a:r>
              <a:rPr lang="en-US" sz="4250">
                <a:latin typeface="Montserrat"/>
              </a:rPr>
              <a:t>Workshop A-2</a:t>
            </a:r>
            <a:br>
              <a:rPr lang="en-US" sz="4250"/>
            </a:br>
            <a:br>
              <a:rPr lang="en-US" sz="4250">
                <a:latin typeface="Montserrat"/>
              </a:rPr>
            </a:br>
            <a:r>
              <a:rPr lang="en-US" sz="2800" b="1">
                <a:latin typeface="Montserrat"/>
              </a:rPr>
              <a:t>Jose Diaz and Mohanta Das</a:t>
            </a:r>
            <a:br>
              <a:rPr lang="en-US" sz="2800"/>
            </a:br>
            <a:r>
              <a:rPr lang="en-US" sz="2800">
                <a:latin typeface="Montserrat"/>
              </a:rPr>
              <a:t>5/28/26</a:t>
            </a:r>
            <a:endParaRPr lang="en-US" sz="2800" b="1">
              <a:latin typeface="Montserrat"/>
            </a:endParaRPr>
          </a:p>
        </p:txBody>
      </p:sp>
    </p:spTree>
    <p:extLst>
      <p:ext uri="{BB962C8B-B14F-4D97-AF65-F5344CB8AC3E}">
        <p14:creationId xmlns:p14="http://schemas.microsoft.com/office/powerpoint/2010/main" val="3852294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11" name="Google Shape;411;g32789fbb2d8_0_389"/>
          <p:cNvSpPr txBox="1">
            <a:spLocks noGrp="1"/>
          </p:cNvSpPr>
          <p:nvPr>
            <p:ph type="title"/>
          </p:nvPr>
        </p:nvSpPr>
        <p:spPr>
          <a:xfrm>
            <a:off x="268516" y="412769"/>
            <a:ext cx="11375136" cy="609600"/>
          </a:xfrm>
          <a:prstGeom prst="rect">
            <a:avLst/>
          </a:prstGeom>
          <a:noFill/>
          <a:ln>
            <a:noFill/>
          </a:ln>
        </p:spPr>
        <p:txBody>
          <a:bodyPr spcFirstLastPara="1" vert="horz" wrap="square" lIns="0" tIns="60933" rIns="121900" bIns="0" rtlCol="0" anchor="b" anchorCtr="0">
            <a:noAutofit/>
          </a:bodyPr>
          <a:lstStyle/>
          <a:p>
            <a:pPr>
              <a:spcBef>
                <a:spcPts val="0"/>
              </a:spcBef>
              <a:buClr>
                <a:srgbClr val="1866AE"/>
              </a:buClr>
              <a:buSzPts val="3200"/>
            </a:pPr>
            <a:r>
              <a:rPr lang="en-US" sz="2800" b="1">
                <a:latin typeface="Montserrat"/>
              </a:rPr>
              <a:t>Overarching Design Principles</a:t>
            </a:r>
          </a:p>
        </p:txBody>
      </p:sp>
      <p:sp>
        <p:nvSpPr>
          <p:cNvPr id="410" name="Google Shape;410;g32789fbb2d8_0_389"/>
          <p:cNvSpPr txBox="1">
            <a:spLocks noGrp="1"/>
          </p:cNvSpPr>
          <p:nvPr>
            <p:ph type="sldNum" idx="4294967295"/>
          </p:nvPr>
        </p:nvSpPr>
        <p:spPr>
          <a:xfrm>
            <a:off x="11582400" y="6316133"/>
            <a:ext cx="609600" cy="366184"/>
          </a:xfrm>
          <a:prstGeom prst="rect">
            <a:avLst/>
          </a:prstGeom>
          <a:noFill/>
          <a:ln>
            <a:noFill/>
          </a:ln>
        </p:spPr>
        <p:txBody>
          <a:bodyPr spcFirstLastPara="1" wrap="square" lIns="121900" tIns="60933" rIns="121900" bIns="60933"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067" b="0" i="0" u="none" strike="noStrike" kern="0" cap="none" spc="0" normalizeH="0" baseline="0" noProof="0">
                <a:ln>
                  <a:noFill/>
                </a:ln>
                <a:solidFill>
                  <a:srgbClr val="FFFEFE"/>
                </a:solidFill>
                <a:effectLst/>
                <a:uLnTx/>
                <a:uFillTx/>
                <a:latin typeface="Montserrat"/>
                <a:ea typeface="+mn-ea"/>
                <a:cs typeface="Arial"/>
                <a:sym typeface="Montserra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067" b="0" i="0" u="none" strike="noStrike" kern="0" cap="none" spc="0" normalizeH="0" baseline="0" noProof="0">
              <a:ln>
                <a:noFill/>
              </a:ln>
              <a:solidFill>
                <a:srgbClr val="FFFEFE"/>
              </a:solidFill>
              <a:effectLst/>
              <a:uLnTx/>
              <a:uFillTx/>
              <a:latin typeface="Montserrat"/>
              <a:ea typeface="+mn-ea"/>
              <a:cs typeface="Arial"/>
              <a:sym typeface="Montserrat"/>
            </a:endParaRPr>
          </a:p>
        </p:txBody>
      </p:sp>
      <p:grpSp>
        <p:nvGrpSpPr>
          <p:cNvPr id="14" name="Group 13">
            <a:extLst>
              <a:ext uri="{FF2B5EF4-FFF2-40B4-BE49-F238E27FC236}">
                <a16:creationId xmlns:a16="http://schemas.microsoft.com/office/drawing/2014/main" id="{3ABB7B8B-CC49-D365-0378-CE28117D9C6F}"/>
              </a:ext>
            </a:extLst>
          </p:cNvPr>
          <p:cNvGrpSpPr/>
          <p:nvPr/>
        </p:nvGrpSpPr>
        <p:grpSpPr>
          <a:xfrm>
            <a:off x="257027" y="4480549"/>
            <a:ext cx="5765213" cy="1492901"/>
            <a:chOff x="142638" y="2224199"/>
            <a:chExt cx="4323909" cy="1119676"/>
          </a:xfrm>
        </p:grpSpPr>
        <p:sp>
          <p:nvSpPr>
            <p:cNvPr id="407" name="Google Shape;407;g32789fbb2d8_0_389"/>
            <p:cNvSpPr txBox="1"/>
            <p:nvPr/>
          </p:nvSpPr>
          <p:spPr>
            <a:xfrm>
              <a:off x="1166753" y="2719097"/>
              <a:ext cx="3267641" cy="553967"/>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minimize customizations and keep the core clean</a:t>
              </a: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to ease future upgrades, improving agility and scalability.</a:t>
              </a:r>
              <a:endPar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08" name="Google Shape;408;g32789fbb2d8_0_389"/>
            <p:cNvSpPr/>
            <p:nvPr/>
          </p:nvSpPr>
          <p:spPr>
            <a:xfrm>
              <a:off x="1198906" y="2224199"/>
              <a:ext cx="3267641" cy="1119623"/>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200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09" name="Google Shape;409;g32789fbb2d8_0_389"/>
            <p:cNvSpPr/>
            <p:nvPr/>
          </p:nvSpPr>
          <p:spPr>
            <a:xfrm>
              <a:off x="142638" y="2224199"/>
              <a:ext cx="1045800" cy="1119676"/>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6" name="Google Shape;417;g32789fbb2d8_0_389">
              <a:extLst>
                <a:ext uri="{FF2B5EF4-FFF2-40B4-BE49-F238E27FC236}">
                  <a16:creationId xmlns:a16="http://schemas.microsoft.com/office/drawing/2014/main" id="{41D41366-DF01-1768-218C-4C7589718121}"/>
                </a:ext>
              </a:extLst>
            </p:cNvPr>
            <p:cNvSpPr/>
            <p:nvPr/>
          </p:nvSpPr>
          <p:spPr>
            <a:xfrm>
              <a:off x="1188438" y="2233595"/>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Minimize customizations</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pic>
          <p:nvPicPr>
            <p:cNvPr id="430" name="Google Shape;430;g32789fbb2d8_0_389" descr="Gears outline"/>
            <p:cNvPicPr preferRelativeResize="0"/>
            <p:nvPr/>
          </p:nvPicPr>
          <p:blipFill rotWithShape="1">
            <a:blip r:embed="rId3">
              <a:alphaModFix/>
            </a:blip>
            <a:srcRect/>
            <a:stretch/>
          </p:blipFill>
          <p:spPr>
            <a:xfrm>
              <a:off x="307931" y="2376197"/>
              <a:ext cx="685800" cy="685800"/>
            </a:xfrm>
            <a:prstGeom prst="rect">
              <a:avLst/>
            </a:prstGeom>
            <a:noFill/>
            <a:ln>
              <a:noFill/>
            </a:ln>
          </p:spPr>
        </p:pic>
      </p:grpSp>
      <p:grpSp>
        <p:nvGrpSpPr>
          <p:cNvPr id="11" name="Group 10">
            <a:extLst>
              <a:ext uri="{FF2B5EF4-FFF2-40B4-BE49-F238E27FC236}">
                <a16:creationId xmlns:a16="http://schemas.microsoft.com/office/drawing/2014/main" id="{53B18C77-C996-6AF4-3C3E-7E4E1642FBB4}"/>
              </a:ext>
            </a:extLst>
          </p:cNvPr>
          <p:cNvGrpSpPr/>
          <p:nvPr/>
        </p:nvGrpSpPr>
        <p:grpSpPr>
          <a:xfrm>
            <a:off x="6258375" y="4495995"/>
            <a:ext cx="5766069" cy="1457100"/>
            <a:chOff x="4684200" y="2235351"/>
            <a:chExt cx="4324552" cy="1092826"/>
          </a:xfrm>
        </p:grpSpPr>
        <p:sp>
          <p:nvSpPr>
            <p:cNvPr id="9" name="Google Shape;407;g32789fbb2d8_0_389">
              <a:extLst>
                <a:ext uri="{FF2B5EF4-FFF2-40B4-BE49-F238E27FC236}">
                  <a16:creationId xmlns:a16="http://schemas.microsoft.com/office/drawing/2014/main" id="{9DC1BFDA-BBBE-D3AA-D906-721A4B227937}"/>
                </a:ext>
              </a:extLst>
            </p:cNvPr>
            <p:cNvSpPr txBox="1"/>
            <p:nvPr/>
          </p:nvSpPr>
          <p:spPr>
            <a:xfrm>
              <a:off x="5716044" y="2582308"/>
              <a:ext cx="3292708" cy="715551"/>
            </a:xfrm>
            <a:prstGeom prst="rect">
              <a:avLst/>
            </a:prstGeom>
            <a:solidFill>
              <a:schemeClr val="bg1"/>
            </a:solid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Non-SAP applications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will only be considered </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if they are considered ‘best of breed’ and are necessary to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enable competitive advantage or meet complex regulatory requirements.</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10" name="Google Shape;408;g32789fbb2d8_0_389">
              <a:extLst>
                <a:ext uri="{FF2B5EF4-FFF2-40B4-BE49-F238E27FC236}">
                  <a16:creationId xmlns:a16="http://schemas.microsoft.com/office/drawing/2014/main" id="{8F90BB64-A06C-6838-C906-C7141DC97498}"/>
                </a:ext>
              </a:extLst>
            </p:cNvPr>
            <p:cNvSpPr/>
            <p:nvPr/>
          </p:nvSpPr>
          <p:spPr>
            <a:xfrm>
              <a:off x="5740151" y="2242927"/>
              <a:ext cx="3267640" cy="108525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4" name="Google Shape;414;g32789fbb2d8_0_389"/>
            <p:cNvSpPr/>
            <p:nvPr/>
          </p:nvSpPr>
          <p:spPr>
            <a:xfrm>
              <a:off x="4684200" y="2235351"/>
              <a:ext cx="1045800" cy="1092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 name="Google Shape;417;g32789fbb2d8_0_389">
              <a:extLst>
                <a:ext uri="{FF2B5EF4-FFF2-40B4-BE49-F238E27FC236}">
                  <a16:creationId xmlns:a16="http://schemas.microsoft.com/office/drawing/2014/main" id="{4589EB17-6120-C3B2-A307-D429542D1035}"/>
                </a:ext>
              </a:extLst>
            </p:cNvPr>
            <p:cNvSpPr/>
            <p:nvPr/>
          </p:nvSpPr>
          <p:spPr>
            <a:xfrm>
              <a:off x="5740040" y="2235351"/>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‘Best of Breed’ by exception</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pic>
          <p:nvPicPr>
            <p:cNvPr id="431" name="Google Shape;431;g32789fbb2d8_0_389" descr="Clipboard Badge with solid fill"/>
            <p:cNvPicPr preferRelativeResize="0"/>
            <p:nvPr/>
          </p:nvPicPr>
          <p:blipFill rotWithShape="1">
            <a:blip r:embed="rId4">
              <a:alphaModFix/>
            </a:blip>
            <a:srcRect/>
            <a:stretch/>
          </p:blipFill>
          <p:spPr>
            <a:xfrm>
              <a:off x="4857222" y="2376150"/>
              <a:ext cx="685800" cy="685800"/>
            </a:xfrm>
            <a:prstGeom prst="rect">
              <a:avLst/>
            </a:prstGeom>
            <a:noFill/>
            <a:ln>
              <a:noFill/>
            </a:ln>
          </p:spPr>
        </p:pic>
      </p:grpSp>
      <p:grpSp>
        <p:nvGrpSpPr>
          <p:cNvPr id="13" name="Group 12">
            <a:extLst>
              <a:ext uri="{FF2B5EF4-FFF2-40B4-BE49-F238E27FC236}">
                <a16:creationId xmlns:a16="http://schemas.microsoft.com/office/drawing/2014/main" id="{8B17FF38-FB3B-AE05-2E09-63D1AD5DCA28}"/>
              </a:ext>
            </a:extLst>
          </p:cNvPr>
          <p:cNvGrpSpPr/>
          <p:nvPr/>
        </p:nvGrpSpPr>
        <p:grpSpPr>
          <a:xfrm>
            <a:off x="265344" y="2853848"/>
            <a:ext cx="5760893" cy="1494064"/>
            <a:chOff x="148875" y="977333"/>
            <a:chExt cx="4320670" cy="1120548"/>
          </a:xfrm>
        </p:grpSpPr>
        <p:sp>
          <p:nvSpPr>
            <p:cNvPr id="417" name="Google Shape;417;g32789fbb2d8_0_389"/>
            <p:cNvSpPr/>
            <p:nvPr/>
          </p:nvSpPr>
          <p:spPr>
            <a:xfrm>
              <a:off x="1198235" y="1253012"/>
              <a:ext cx="3267750" cy="844638"/>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200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8" name="Google Shape;418;g32789fbb2d8_0_389"/>
            <p:cNvSpPr txBox="1"/>
            <p:nvPr/>
          </p:nvSpPr>
          <p:spPr>
            <a:xfrm>
              <a:off x="1177486" y="1452484"/>
              <a:ext cx="3267579" cy="553967"/>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change and adapt our existing business processes to fit to standard</a:t>
              </a: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‘out of the box’ functionality.</a:t>
              </a:r>
              <a:endPar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 name="Google Shape;417;g32789fbb2d8_0_389">
              <a:extLst>
                <a:ext uri="{FF2B5EF4-FFF2-40B4-BE49-F238E27FC236}">
                  <a16:creationId xmlns:a16="http://schemas.microsoft.com/office/drawing/2014/main" id="{8D41AEF2-1070-0073-A19C-3DEBFCB3F678}"/>
                </a:ext>
              </a:extLst>
            </p:cNvPr>
            <p:cNvSpPr/>
            <p:nvPr/>
          </p:nvSpPr>
          <p:spPr>
            <a:xfrm>
              <a:off x="1204774" y="977333"/>
              <a:ext cx="326477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Fit to Standard</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sp>
          <p:nvSpPr>
            <p:cNvPr id="419" name="Google Shape;419;g32789fbb2d8_0_389"/>
            <p:cNvSpPr/>
            <p:nvPr/>
          </p:nvSpPr>
          <p:spPr>
            <a:xfrm>
              <a:off x="148875" y="978056"/>
              <a:ext cx="1045800" cy="1119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4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2" name="Google Shape;432;g32789fbb2d8_0_389" descr="Continuous Improvement with solid fill"/>
            <p:cNvPicPr preferRelativeResize="0"/>
            <p:nvPr/>
          </p:nvPicPr>
          <p:blipFill rotWithShape="1">
            <a:blip r:embed="rId5">
              <a:alphaModFix/>
            </a:blip>
            <a:srcRect/>
            <a:stretch/>
          </p:blipFill>
          <p:spPr>
            <a:xfrm>
              <a:off x="228404" y="1115429"/>
              <a:ext cx="844856" cy="844856"/>
            </a:xfrm>
            <a:prstGeom prst="rect">
              <a:avLst/>
            </a:prstGeom>
            <a:noFill/>
            <a:ln>
              <a:noFill/>
            </a:ln>
          </p:spPr>
        </p:pic>
      </p:grpSp>
      <p:sp>
        <p:nvSpPr>
          <p:cNvPr id="7" name="Google Shape;417;g32789fbb2d8_0_389">
            <a:extLst>
              <a:ext uri="{FF2B5EF4-FFF2-40B4-BE49-F238E27FC236}">
                <a16:creationId xmlns:a16="http://schemas.microsoft.com/office/drawing/2014/main" id="{E908B7A6-2C7E-0E4F-24F6-146F9D47ABBB}"/>
              </a:ext>
            </a:extLst>
          </p:cNvPr>
          <p:cNvSpPr/>
          <p:nvPr/>
        </p:nvSpPr>
        <p:spPr>
          <a:xfrm>
            <a:off x="7666911" y="2844429"/>
            <a:ext cx="4329190" cy="482294"/>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Rationalize Applications</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grpSp>
        <p:nvGrpSpPr>
          <p:cNvPr id="421" name="Google Shape;421;g32789fbb2d8_0_389"/>
          <p:cNvGrpSpPr/>
          <p:nvPr/>
        </p:nvGrpSpPr>
        <p:grpSpPr>
          <a:xfrm>
            <a:off x="7653078" y="2830813"/>
            <a:ext cx="4363265" cy="1525551"/>
            <a:chOff x="347967" y="4648260"/>
            <a:chExt cx="5145358" cy="1773900"/>
          </a:xfrm>
        </p:grpSpPr>
        <p:sp>
          <p:nvSpPr>
            <p:cNvPr id="422" name="Google Shape;422;g32789fbb2d8_0_389"/>
            <p:cNvSpPr txBox="1"/>
            <p:nvPr/>
          </p:nvSpPr>
          <p:spPr>
            <a:xfrm>
              <a:off x="347967" y="5411928"/>
              <a:ext cx="5137800" cy="858866"/>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standardize and rationalize our applications</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 to control costs and reduce the complexity of our IT estate.</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423" name="Google Shape;423;g32789fbb2d8_0_389"/>
            <p:cNvSpPr/>
            <p:nvPr/>
          </p:nvSpPr>
          <p:spPr>
            <a:xfrm>
              <a:off x="355525" y="4648260"/>
              <a:ext cx="5137800" cy="177390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grpSp>
      <p:sp>
        <p:nvSpPr>
          <p:cNvPr id="424" name="Google Shape;424;g32789fbb2d8_0_389"/>
          <p:cNvSpPr/>
          <p:nvPr/>
        </p:nvSpPr>
        <p:spPr>
          <a:xfrm>
            <a:off x="6267763" y="2830872"/>
            <a:ext cx="1394400" cy="1525497"/>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3" name="Google Shape;433;g32789fbb2d8_0_389" descr="Money outline"/>
          <p:cNvPicPr preferRelativeResize="0"/>
          <p:nvPr/>
        </p:nvPicPr>
        <p:blipFill rotWithShape="1">
          <a:blip r:embed="rId6">
            <a:alphaModFix/>
          </a:blip>
          <a:srcRect/>
          <a:stretch/>
        </p:blipFill>
        <p:spPr>
          <a:xfrm>
            <a:off x="6479848" y="3136391"/>
            <a:ext cx="914400" cy="914398"/>
          </a:xfrm>
          <a:prstGeom prst="rect">
            <a:avLst/>
          </a:prstGeom>
          <a:noFill/>
          <a:ln>
            <a:noFill/>
          </a:ln>
        </p:spPr>
      </p:pic>
      <p:sp>
        <p:nvSpPr>
          <p:cNvPr id="427" name="Google Shape;427;g32789fbb2d8_0_389"/>
          <p:cNvSpPr/>
          <p:nvPr/>
        </p:nvSpPr>
        <p:spPr>
          <a:xfrm>
            <a:off x="7639921" y="1222976"/>
            <a:ext cx="4370466" cy="1493384"/>
          </a:xfrm>
          <a:prstGeom prst="rect">
            <a:avLst/>
          </a:prstGeom>
          <a:noFill/>
          <a:ln w="19050" cap="flat" cmpd="sng">
            <a:solidFill>
              <a:srgbClr val="007FBF"/>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28" name="Google Shape;428;g32789fbb2d8_0_389"/>
          <p:cNvSpPr txBox="1"/>
          <p:nvPr/>
        </p:nvSpPr>
        <p:spPr>
          <a:xfrm>
            <a:off x="7655878" y="1885987"/>
            <a:ext cx="4356854" cy="738623"/>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We will adopt an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SAP first” strategy </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with all financial and operational data housed within SAP. </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429" name="Google Shape;429;g32789fbb2d8_0_389"/>
          <p:cNvSpPr/>
          <p:nvPr/>
        </p:nvSpPr>
        <p:spPr>
          <a:xfrm>
            <a:off x="6245604" y="1222900"/>
            <a:ext cx="1394400" cy="1493363"/>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34" name="Google Shape;434;g32789fbb2d8_0_389"/>
          <p:cNvSpPr/>
          <p:nvPr/>
        </p:nvSpPr>
        <p:spPr>
          <a:xfrm>
            <a:off x="6333200" y="1314913"/>
            <a:ext cx="1200800" cy="1309200"/>
          </a:xfrm>
          <a:prstGeom prst="rect">
            <a:avLst/>
          </a:prstGeom>
          <a:solidFill>
            <a:schemeClr val="lt1"/>
          </a:solidFill>
          <a:ln>
            <a:noFill/>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000000"/>
              </a:solidFill>
              <a:effectLst/>
              <a:uLnTx/>
              <a:uFillTx/>
              <a:latin typeface="Nunito Sans Light"/>
              <a:ea typeface="Nunito Sans Light"/>
              <a:cs typeface="Nunito Sans Light"/>
              <a:sym typeface="Nunito Sans Light"/>
            </a:endParaRPr>
          </a:p>
        </p:txBody>
      </p:sp>
      <p:pic>
        <p:nvPicPr>
          <p:cNvPr id="435" name="Google Shape;435;g32789fbb2d8_0_389"/>
          <p:cNvPicPr preferRelativeResize="0"/>
          <p:nvPr/>
        </p:nvPicPr>
        <p:blipFill rotWithShape="1">
          <a:blip r:embed="rId7">
            <a:alphaModFix/>
          </a:blip>
          <a:srcRect/>
          <a:stretch/>
        </p:blipFill>
        <p:spPr>
          <a:xfrm>
            <a:off x="6455079" y="1732852"/>
            <a:ext cx="956853" cy="473284"/>
          </a:xfrm>
          <a:prstGeom prst="rect">
            <a:avLst/>
          </a:prstGeom>
          <a:noFill/>
          <a:ln>
            <a:noFill/>
          </a:ln>
        </p:spPr>
      </p:pic>
      <p:sp>
        <p:nvSpPr>
          <p:cNvPr id="5" name="Google Shape;417;g32789fbb2d8_0_389">
            <a:extLst>
              <a:ext uri="{FF2B5EF4-FFF2-40B4-BE49-F238E27FC236}">
                <a16:creationId xmlns:a16="http://schemas.microsoft.com/office/drawing/2014/main" id="{7C3A552F-1141-4B0A-0498-135B5978438F}"/>
              </a:ext>
            </a:extLst>
          </p:cNvPr>
          <p:cNvSpPr/>
          <p:nvPr/>
        </p:nvSpPr>
        <p:spPr>
          <a:xfrm>
            <a:off x="7653386" y="1236567"/>
            <a:ext cx="4357000" cy="48229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SAP First</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sp>
        <p:nvSpPr>
          <p:cNvPr id="2" name="TextBox 1">
            <a:extLst>
              <a:ext uri="{FF2B5EF4-FFF2-40B4-BE49-F238E27FC236}">
                <a16:creationId xmlns:a16="http://schemas.microsoft.com/office/drawing/2014/main" id="{97AC717F-3571-D9A9-D060-149F7AABBC00}"/>
              </a:ext>
            </a:extLst>
          </p:cNvPr>
          <p:cNvSpPr txBox="1"/>
          <p:nvPr/>
        </p:nvSpPr>
        <p:spPr>
          <a:xfrm>
            <a:off x="254000" y="1236577"/>
            <a:ext cx="5724357" cy="132343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ea typeface="+mn-lt"/>
                <a:cs typeface="+mn-lt"/>
              </a:rPr>
              <a:t>The goal of this project is to utilize standard Service Cloud V2 capabilities with minimal customizations.  We will strive to modify our processes to Fit-to-Standard SAP technology as much as possible. </a:t>
            </a:r>
            <a:endParaRPr lang="en-US" sz="1600" b="1" i="1"/>
          </a:p>
        </p:txBody>
      </p:sp>
    </p:spTree>
    <p:extLst>
      <p:ext uri="{BB962C8B-B14F-4D97-AF65-F5344CB8AC3E}">
        <p14:creationId xmlns:p14="http://schemas.microsoft.com/office/powerpoint/2010/main" val="26817785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E6A8-5C35-7351-DB79-97BFAAA225E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4CC7DFAC-34D3-91D3-2C54-3811D96D4D08}"/>
              </a:ext>
            </a:extLst>
          </p:cNvPr>
          <p:cNvSpPr>
            <a:spLocks noGrp="1"/>
          </p:cNvSpPr>
          <p:nvPr>
            <p:ph type="body" sz="quarter" idx="4294967295"/>
          </p:nvPr>
        </p:nvSpPr>
        <p:spPr>
          <a:xfrm>
            <a:off x="425217" y="332997"/>
            <a:ext cx="7615238" cy="457200"/>
          </a:xfrm>
        </p:spPr>
        <p:txBody>
          <a:bodyPr vert="horz" lIns="0" tIns="45720" rIns="91440" bIns="0" rtlCol="0" anchor="b">
            <a:noAutofit/>
          </a:bodyPr>
          <a:lstStyle/>
          <a:p>
            <a:pPr>
              <a:lnSpc>
                <a:spcPct val="90000"/>
              </a:lnSpc>
              <a:spcBef>
                <a:spcPct val="0"/>
              </a:spcBef>
            </a:pPr>
            <a:r>
              <a:rPr lang="en-US" sz="3200" b="1">
                <a:solidFill>
                  <a:srgbClr val="94806E"/>
                </a:solidFill>
                <a:latin typeface="Montserrat"/>
                <a:ea typeface="+mj-ea"/>
                <a:cs typeface="+mj-cs"/>
              </a:rPr>
              <a:t>Workshop Agenda*</a:t>
            </a:r>
            <a:endParaRPr lang="en-US" sz="3200" b="1">
              <a:solidFill>
                <a:srgbClr val="94806E"/>
              </a:solidFill>
              <a:ea typeface="+mj-ea"/>
              <a:cs typeface="+mj-cs"/>
            </a:endParaRPr>
          </a:p>
        </p:txBody>
      </p:sp>
      <p:sp>
        <p:nvSpPr>
          <p:cNvPr id="125" name="Text Placeholder 5">
            <a:extLst>
              <a:ext uri="{FF2B5EF4-FFF2-40B4-BE49-F238E27FC236}">
                <a16:creationId xmlns:a16="http://schemas.microsoft.com/office/drawing/2014/main" id="{84DDF3AB-9E71-B162-93B6-96C48461F019}"/>
              </a:ext>
            </a:extLst>
          </p:cNvPr>
          <p:cNvSpPr txBox="1">
            <a:spLocks/>
          </p:cNvSpPr>
          <p:nvPr/>
        </p:nvSpPr>
        <p:spPr>
          <a:xfrm>
            <a:off x="878971" y="952073"/>
            <a:ext cx="1105573" cy="194444"/>
          </a:xfrm>
          <a:prstGeom prst="rect">
            <a:avLst/>
          </a:prstGeom>
        </p:spPr>
        <p:txBody>
          <a:bodyPr lIns="0" tIns="0" rIns="0" bIns="0" anchor="b"/>
          <a:lstStyle>
            <a:lvl1pPr marL="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1pPr>
            <a:lvl2pPr marL="38862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2pPr>
            <a:lvl3pPr marL="77724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3pPr>
            <a:lvl4pPr marL="116586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4pPr>
            <a:lvl5pPr marL="155448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marR="0" lvl="0" indent="0" algn="l" defTabSz="647674" rtl="0" eaLnBrk="1" fontAlgn="auto" latinLnBrk="0" hangingPunct="1">
              <a:lnSpc>
                <a:spcPct val="100000"/>
              </a:lnSpc>
              <a:spcBef>
                <a:spcPts val="500"/>
              </a:spcBef>
              <a:spcAft>
                <a:spcPts val="0"/>
              </a:spcAft>
              <a:buClrTx/>
              <a:buSzTx/>
              <a:buFont typeface="Arial" panose="020B0604020202020204" pitchFamily="34" charset="0"/>
              <a:buNone/>
              <a:tabLst/>
              <a:defRPr/>
            </a:pPr>
            <a:r>
              <a:rPr kumimoji="0" lang="en-US" sz="1200" b="0" i="0" u="none" strike="noStrike" kern="1200" cap="none" spc="250" normalizeH="0" baseline="0" noProof="0">
                <a:ln>
                  <a:noFill/>
                </a:ln>
                <a:solidFill>
                  <a:srgbClr val="000000">
                    <a:lumMod val="75000"/>
                    <a:lumOff val="25000"/>
                  </a:srgbClr>
                </a:solidFill>
                <a:effectLst/>
                <a:uLnTx/>
                <a:uFillTx/>
                <a:latin typeface="Montserrat" pitchFamily="2" charset="77"/>
                <a:ea typeface="+mn-ea"/>
                <a:cs typeface="+mn-cs"/>
              </a:rPr>
              <a:t>TOPIC</a:t>
            </a:r>
          </a:p>
        </p:txBody>
      </p:sp>
      <p:cxnSp>
        <p:nvCxnSpPr>
          <p:cNvPr id="142" name="Straight Connector 141">
            <a:extLst>
              <a:ext uri="{FF2B5EF4-FFF2-40B4-BE49-F238E27FC236}">
                <a16:creationId xmlns:a16="http://schemas.microsoft.com/office/drawing/2014/main" id="{CAF3347E-7396-B26D-772C-4D59FBA7AC07}"/>
              </a:ext>
            </a:extLst>
          </p:cNvPr>
          <p:cNvCxnSpPr>
            <a:cxnSpLocks/>
          </p:cNvCxnSpPr>
          <p:nvPr/>
        </p:nvCxnSpPr>
        <p:spPr>
          <a:xfrm>
            <a:off x="796190" y="1221248"/>
            <a:ext cx="10479474" cy="0"/>
          </a:xfrm>
          <a:prstGeom prst="line">
            <a:avLst/>
          </a:prstGeom>
          <a:noFill/>
          <a:ln w="38100" cap="flat" cmpd="sng" algn="ctr">
            <a:solidFill>
              <a:schemeClr val="tx2"/>
            </a:solidFill>
            <a:prstDash val="solid"/>
            <a:miter lim="800000"/>
          </a:ln>
          <a:effectLst/>
        </p:spPr>
      </p:cxnSp>
      <p:cxnSp>
        <p:nvCxnSpPr>
          <p:cNvPr id="143" name="Straight Connector 142">
            <a:extLst>
              <a:ext uri="{FF2B5EF4-FFF2-40B4-BE49-F238E27FC236}">
                <a16:creationId xmlns:a16="http://schemas.microsoft.com/office/drawing/2014/main" id="{B3A62A1C-E4DA-E643-660B-BB82D7B9774C}"/>
              </a:ext>
            </a:extLst>
          </p:cNvPr>
          <p:cNvCxnSpPr>
            <a:cxnSpLocks/>
          </p:cNvCxnSpPr>
          <p:nvPr/>
        </p:nvCxnSpPr>
        <p:spPr>
          <a:xfrm>
            <a:off x="744629" y="1656931"/>
            <a:ext cx="10489921" cy="0"/>
          </a:xfrm>
          <a:prstGeom prst="line">
            <a:avLst/>
          </a:prstGeom>
          <a:noFill/>
          <a:ln w="12700" cap="flat" cmpd="sng" algn="ctr">
            <a:solidFill>
              <a:schemeClr val="tx2"/>
            </a:solidFill>
            <a:prstDash val="solid"/>
            <a:miter lim="800000"/>
          </a:ln>
          <a:effectLst/>
        </p:spPr>
      </p:cxnSp>
      <p:cxnSp>
        <p:nvCxnSpPr>
          <p:cNvPr id="151" name="Straight Connector 150">
            <a:extLst>
              <a:ext uri="{FF2B5EF4-FFF2-40B4-BE49-F238E27FC236}">
                <a16:creationId xmlns:a16="http://schemas.microsoft.com/office/drawing/2014/main" id="{3F14BB83-26F6-F81B-257F-AB1BDE8BC505}"/>
              </a:ext>
            </a:extLst>
          </p:cNvPr>
          <p:cNvCxnSpPr>
            <a:cxnSpLocks/>
          </p:cNvCxnSpPr>
          <p:nvPr/>
        </p:nvCxnSpPr>
        <p:spPr>
          <a:xfrm>
            <a:off x="744629" y="4079099"/>
            <a:ext cx="10479474" cy="0"/>
          </a:xfrm>
          <a:prstGeom prst="line">
            <a:avLst/>
          </a:prstGeom>
          <a:noFill/>
          <a:ln w="12700" cap="flat" cmpd="sng" algn="ctr">
            <a:solidFill>
              <a:schemeClr val="tx2"/>
            </a:solidFill>
            <a:prstDash val="solid"/>
            <a:miter lim="800000"/>
          </a:ln>
          <a:effectLst/>
        </p:spPr>
      </p:cxnSp>
      <p:sp>
        <p:nvSpPr>
          <p:cNvPr id="4" name="Text Placeholder 7">
            <a:extLst>
              <a:ext uri="{FF2B5EF4-FFF2-40B4-BE49-F238E27FC236}">
                <a16:creationId xmlns:a16="http://schemas.microsoft.com/office/drawing/2014/main" id="{0754A7B2-5729-37BA-4CC5-BFF820B38880}"/>
              </a:ext>
            </a:extLst>
          </p:cNvPr>
          <p:cNvSpPr txBox="1">
            <a:spLocks/>
          </p:cNvSpPr>
          <p:nvPr/>
        </p:nvSpPr>
        <p:spPr>
          <a:xfrm>
            <a:off x="744629" y="1649212"/>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02</a:t>
            </a:r>
          </a:p>
        </p:txBody>
      </p:sp>
      <p:sp>
        <p:nvSpPr>
          <p:cNvPr id="7" name="Text Placeholder 11">
            <a:extLst>
              <a:ext uri="{FF2B5EF4-FFF2-40B4-BE49-F238E27FC236}">
                <a16:creationId xmlns:a16="http://schemas.microsoft.com/office/drawing/2014/main" id="{31E00338-5619-11A3-BAFF-7FB71EE17928}"/>
              </a:ext>
            </a:extLst>
          </p:cNvPr>
          <p:cNvSpPr txBox="1">
            <a:spLocks/>
          </p:cNvSpPr>
          <p:nvPr/>
        </p:nvSpPr>
        <p:spPr>
          <a:xfrm>
            <a:off x="744629" y="2861919"/>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04</a:t>
            </a:r>
          </a:p>
        </p:txBody>
      </p:sp>
      <p:sp>
        <p:nvSpPr>
          <p:cNvPr id="8" name="Text Placeholder 11">
            <a:extLst>
              <a:ext uri="{FF2B5EF4-FFF2-40B4-BE49-F238E27FC236}">
                <a16:creationId xmlns:a16="http://schemas.microsoft.com/office/drawing/2014/main" id="{D7CD0002-0816-D81E-8E98-17B201F8556D}"/>
              </a:ext>
            </a:extLst>
          </p:cNvPr>
          <p:cNvSpPr txBox="1">
            <a:spLocks/>
          </p:cNvSpPr>
          <p:nvPr/>
        </p:nvSpPr>
        <p:spPr>
          <a:xfrm>
            <a:off x="744629" y="3261008"/>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05</a:t>
            </a:r>
          </a:p>
        </p:txBody>
      </p:sp>
      <p:sp>
        <p:nvSpPr>
          <p:cNvPr id="9" name="Text Placeholder 7">
            <a:extLst>
              <a:ext uri="{FF2B5EF4-FFF2-40B4-BE49-F238E27FC236}">
                <a16:creationId xmlns:a16="http://schemas.microsoft.com/office/drawing/2014/main" id="{04ABBC89-EEC8-89D8-4B2B-F5F774610ECB}"/>
              </a:ext>
            </a:extLst>
          </p:cNvPr>
          <p:cNvSpPr txBox="1">
            <a:spLocks/>
          </p:cNvSpPr>
          <p:nvPr/>
        </p:nvSpPr>
        <p:spPr>
          <a:xfrm>
            <a:off x="744629" y="2471564"/>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03</a:t>
            </a:r>
          </a:p>
        </p:txBody>
      </p:sp>
      <p:sp>
        <p:nvSpPr>
          <p:cNvPr id="12" name="Text Placeholder 11">
            <a:extLst>
              <a:ext uri="{FF2B5EF4-FFF2-40B4-BE49-F238E27FC236}">
                <a16:creationId xmlns:a16="http://schemas.microsoft.com/office/drawing/2014/main" id="{4E5E7236-32C8-A033-8F10-76C1A5930AEA}"/>
              </a:ext>
            </a:extLst>
          </p:cNvPr>
          <p:cNvSpPr txBox="1">
            <a:spLocks/>
          </p:cNvSpPr>
          <p:nvPr/>
        </p:nvSpPr>
        <p:spPr>
          <a:xfrm>
            <a:off x="744629" y="3666194"/>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06</a:t>
            </a:r>
          </a:p>
        </p:txBody>
      </p:sp>
      <p:sp>
        <p:nvSpPr>
          <p:cNvPr id="15" name="Text Placeholder 10">
            <a:extLst>
              <a:ext uri="{FF2B5EF4-FFF2-40B4-BE49-F238E27FC236}">
                <a16:creationId xmlns:a16="http://schemas.microsoft.com/office/drawing/2014/main" id="{69207E7A-871B-C1C3-99AF-A6AB696537D6}"/>
              </a:ext>
            </a:extLst>
          </p:cNvPr>
          <p:cNvSpPr txBox="1">
            <a:spLocks/>
          </p:cNvSpPr>
          <p:nvPr/>
        </p:nvSpPr>
        <p:spPr>
          <a:xfrm>
            <a:off x="744629" y="1244026"/>
            <a:ext cx="720783"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01</a:t>
            </a:r>
          </a:p>
        </p:txBody>
      </p:sp>
      <p:cxnSp>
        <p:nvCxnSpPr>
          <p:cNvPr id="22" name="Straight Connector 21">
            <a:extLst>
              <a:ext uri="{FF2B5EF4-FFF2-40B4-BE49-F238E27FC236}">
                <a16:creationId xmlns:a16="http://schemas.microsoft.com/office/drawing/2014/main" id="{0799B157-D785-0E02-B067-81348AF53B7D}"/>
              </a:ext>
            </a:extLst>
          </p:cNvPr>
          <p:cNvCxnSpPr>
            <a:cxnSpLocks/>
          </p:cNvCxnSpPr>
          <p:nvPr/>
        </p:nvCxnSpPr>
        <p:spPr>
          <a:xfrm flipV="1">
            <a:off x="744647" y="2452260"/>
            <a:ext cx="10479474" cy="5855"/>
          </a:xfrm>
          <a:prstGeom prst="line">
            <a:avLst/>
          </a:prstGeom>
          <a:noFill/>
          <a:ln w="12700" cap="flat" cmpd="sng" algn="ctr">
            <a:solidFill>
              <a:schemeClr val="tx2"/>
            </a:solidFill>
            <a:prstDash val="solid"/>
            <a:miter lim="800000"/>
          </a:ln>
          <a:effectLst/>
        </p:spPr>
      </p:cxnSp>
      <p:cxnSp>
        <p:nvCxnSpPr>
          <p:cNvPr id="23" name="Straight Connector 22">
            <a:extLst>
              <a:ext uri="{FF2B5EF4-FFF2-40B4-BE49-F238E27FC236}">
                <a16:creationId xmlns:a16="http://schemas.microsoft.com/office/drawing/2014/main" id="{4C43B979-0628-FFA5-3D81-2A6A3E21E52F}"/>
              </a:ext>
            </a:extLst>
          </p:cNvPr>
          <p:cNvCxnSpPr>
            <a:cxnSpLocks/>
          </p:cNvCxnSpPr>
          <p:nvPr/>
        </p:nvCxnSpPr>
        <p:spPr>
          <a:xfrm>
            <a:off x="744629" y="3268728"/>
            <a:ext cx="10479474" cy="0"/>
          </a:xfrm>
          <a:prstGeom prst="line">
            <a:avLst/>
          </a:prstGeom>
          <a:noFill/>
          <a:ln w="12700" cap="flat" cmpd="sng" algn="ctr">
            <a:solidFill>
              <a:schemeClr val="tx2"/>
            </a:solidFill>
            <a:prstDash val="solid"/>
            <a:miter lim="800000"/>
          </a:ln>
          <a:effectLst/>
        </p:spPr>
      </p:cxnSp>
      <p:cxnSp>
        <p:nvCxnSpPr>
          <p:cNvPr id="25" name="Straight Connector 24">
            <a:extLst>
              <a:ext uri="{FF2B5EF4-FFF2-40B4-BE49-F238E27FC236}">
                <a16:creationId xmlns:a16="http://schemas.microsoft.com/office/drawing/2014/main" id="{95DD4D7D-C580-3745-9E64-E7C176966FB6}"/>
              </a:ext>
            </a:extLst>
          </p:cNvPr>
          <p:cNvCxnSpPr>
            <a:cxnSpLocks/>
          </p:cNvCxnSpPr>
          <p:nvPr/>
        </p:nvCxnSpPr>
        <p:spPr>
          <a:xfrm>
            <a:off x="744629" y="3673913"/>
            <a:ext cx="10479474" cy="0"/>
          </a:xfrm>
          <a:prstGeom prst="line">
            <a:avLst/>
          </a:prstGeom>
          <a:noFill/>
          <a:ln w="12700" cap="flat" cmpd="sng" algn="ctr">
            <a:solidFill>
              <a:schemeClr val="tx2"/>
            </a:solidFill>
            <a:prstDash val="solid"/>
            <a:miter lim="800000"/>
          </a:ln>
          <a:effectLst/>
        </p:spPr>
      </p:cxnSp>
      <p:cxnSp>
        <p:nvCxnSpPr>
          <p:cNvPr id="33" name="Straight Connector 32">
            <a:extLst>
              <a:ext uri="{FF2B5EF4-FFF2-40B4-BE49-F238E27FC236}">
                <a16:creationId xmlns:a16="http://schemas.microsoft.com/office/drawing/2014/main" id="{829CAA55-934B-FEA2-EA64-6A32CCB94014}"/>
              </a:ext>
            </a:extLst>
          </p:cNvPr>
          <p:cNvCxnSpPr>
            <a:cxnSpLocks/>
          </p:cNvCxnSpPr>
          <p:nvPr/>
        </p:nvCxnSpPr>
        <p:spPr>
          <a:xfrm flipV="1">
            <a:off x="744647" y="2863542"/>
            <a:ext cx="10479474" cy="5855"/>
          </a:xfrm>
          <a:prstGeom prst="line">
            <a:avLst/>
          </a:prstGeom>
          <a:noFill/>
          <a:ln w="12700" cap="flat" cmpd="sng" algn="ctr">
            <a:solidFill>
              <a:schemeClr val="tx2"/>
            </a:solidFill>
            <a:prstDash val="solid"/>
            <a:miter lim="800000"/>
          </a:ln>
          <a:effectLst/>
        </p:spPr>
      </p:cxnSp>
      <p:sp>
        <p:nvSpPr>
          <p:cNvPr id="14" name="TextBox 2">
            <a:extLst>
              <a:ext uri="{FF2B5EF4-FFF2-40B4-BE49-F238E27FC236}">
                <a16:creationId xmlns:a16="http://schemas.microsoft.com/office/drawing/2014/main" id="{1A3158E1-7695-0C81-4A14-28927869505A}"/>
              </a:ext>
            </a:extLst>
          </p:cNvPr>
          <p:cNvSpPr txBox="1"/>
          <p:nvPr/>
        </p:nvSpPr>
        <p:spPr>
          <a:xfrm>
            <a:off x="1146100" y="1150296"/>
            <a:ext cx="10739400" cy="420050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t>Scope, Purpose, Objective</a:t>
            </a:r>
          </a:p>
          <a:p>
            <a:pPr>
              <a:lnSpc>
                <a:spcPct val="150000"/>
              </a:lnSpc>
            </a:pPr>
            <a:r>
              <a:rPr lang="en-US"/>
              <a:t>(L3) Manage Financial Details</a:t>
            </a:r>
          </a:p>
          <a:p>
            <a:pPr>
              <a:lnSpc>
                <a:spcPct val="150000"/>
              </a:lnSpc>
            </a:pPr>
            <a:r>
              <a:rPr lang="en-US" b="1">
                <a:solidFill>
                  <a:schemeClr val="accent2"/>
                </a:solidFill>
              </a:rPr>
              <a:t>BREAK – 10 Mins</a:t>
            </a:r>
            <a:endParaRPr lang="en-US"/>
          </a:p>
          <a:p>
            <a:pPr>
              <a:lnSpc>
                <a:spcPct val="150000"/>
              </a:lnSpc>
            </a:pPr>
            <a:r>
              <a:rPr lang="en-US"/>
              <a:t>Current and Future State Assumptions</a:t>
            </a:r>
          </a:p>
          <a:p>
            <a:pPr>
              <a:lnSpc>
                <a:spcPct val="150000"/>
              </a:lnSpc>
            </a:pPr>
            <a:r>
              <a:rPr lang="en-US"/>
              <a:t>Key Decisions</a:t>
            </a:r>
          </a:p>
          <a:p>
            <a:pPr>
              <a:lnSpc>
                <a:spcPct val="150000"/>
              </a:lnSpc>
            </a:pPr>
            <a:r>
              <a:rPr lang="en-US"/>
              <a:t>FRICE-W</a:t>
            </a:r>
          </a:p>
          <a:p>
            <a:pPr>
              <a:lnSpc>
                <a:spcPct val="150000"/>
              </a:lnSpc>
            </a:pPr>
            <a:r>
              <a:rPr lang="en-US"/>
              <a:t>Drafted User Stories</a:t>
            </a:r>
          </a:p>
          <a:p>
            <a:pPr>
              <a:lnSpc>
                <a:spcPct val="150000"/>
              </a:lnSpc>
            </a:pPr>
            <a:r>
              <a:rPr lang="en-US"/>
              <a:t>3rd Party Integration</a:t>
            </a:r>
          </a:p>
          <a:p>
            <a:pPr>
              <a:lnSpc>
                <a:spcPct val="150000"/>
              </a:lnSpc>
            </a:pPr>
            <a:r>
              <a:rPr lang="en-US"/>
              <a:t>Data Migration</a:t>
            </a:r>
          </a:p>
          <a:p>
            <a:pPr>
              <a:lnSpc>
                <a:spcPct val="150000"/>
              </a:lnSpc>
            </a:pPr>
            <a:r>
              <a:rPr lang="en-US"/>
              <a:t>Key Decisions, Action Items, Change Impacts, Wrap-Up, and Next Steps</a:t>
            </a:r>
          </a:p>
        </p:txBody>
      </p:sp>
      <p:cxnSp>
        <p:nvCxnSpPr>
          <p:cNvPr id="17" name="Straight Connector 16">
            <a:extLst>
              <a:ext uri="{FF2B5EF4-FFF2-40B4-BE49-F238E27FC236}">
                <a16:creationId xmlns:a16="http://schemas.microsoft.com/office/drawing/2014/main" id="{23CE3659-5291-DEDD-2F76-4488BBA28AFA}"/>
              </a:ext>
            </a:extLst>
          </p:cNvPr>
          <p:cNvCxnSpPr>
            <a:cxnSpLocks/>
          </p:cNvCxnSpPr>
          <p:nvPr/>
        </p:nvCxnSpPr>
        <p:spPr>
          <a:xfrm>
            <a:off x="744629" y="4484284"/>
            <a:ext cx="10479474" cy="0"/>
          </a:xfrm>
          <a:prstGeom prst="line">
            <a:avLst/>
          </a:prstGeom>
          <a:noFill/>
          <a:ln w="12700" cap="flat" cmpd="sng" algn="ctr">
            <a:solidFill>
              <a:schemeClr val="tx2"/>
            </a:solidFill>
            <a:prstDash val="solid"/>
            <a:miter lim="800000"/>
          </a:ln>
          <a:effectLst/>
        </p:spPr>
      </p:cxnSp>
      <p:sp>
        <p:nvSpPr>
          <p:cNvPr id="20" name="Text Placeholder 11">
            <a:extLst>
              <a:ext uri="{FF2B5EF4-FFF2-40B4-BE49-F238E27FC236}">
                <a16:creationId xmlns:a16="http://schemas.microsoft.com/office/drawing/2014/main" id="{E37498B5-50A6-1993-F4E6-D125CEC4558D}"/>
              </a:ext>
            </a:extLst>
          </p:cNvPr>
          <p:cNvSpPr txBox="1">
            <a:spLocks/>
          </p:cNvSpPr>
          <p:nvPr/>
        </p:nvSpPr>
        <p:spPr>
          <a:xfrm>
            <a:off x="744629" y="4071380"/>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07</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sp>
        <p:nvSpPr>
          <p:cNvPr id="2" name="Text Placeholder 11">
            <a:extLst>
              <a:ext uri="{FF2B5EF4-FFF2-40B4-BE49-F238E27FC236}">
                <a16:creationId xmlns:a16="http://schemas.microsoft.com/office/drawing/2014/main" id="{440C7EC6-DBBB-DA51-BFFF-8CA5BC63AD30}"/>
              </a:ext>
            </a:extLst>
          </p:cNvPr>
          <p:cNvSpPr txBox="1">
            <a:spLocks/>
          </p:cNvSpPr>
          <p:nvPr/>
        </p:nvSpPr>
        <p:spPr>
          <a:xfrm>
            <a:off x="744629" y="4476565"/>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08</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sp>
        <p:nvSpPr>
          <p:cNvPr id="5" name="Text Placeholder 11">
            <a:extLst>
              <a:ext uri="{FF2B5EF4-FFF2-40B4-BE49-F238E27FC236}">
                <a16:creationId xmlns:a16="http://schemas.microsoft.com/office/drawing/2014/main" id="{190299F6-71FD-C862-BBAE-0A1B505E3A82}"/>
              </a:ext>
            </a:extLst>
          </p:cNvPr>
          <p:cNvSpPr txBox="1">
            <a:spLocks/>
          </p:cNvSpPr>
          <p:nvPr/>
        </p:nvSpPr>
        <p:spPr>
          <a:xfrm>
            <a:off x="744629" y="4875655"/>
            <a:ext cx="799704" cy="479019"/>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2400">
                <a:solidFill>
                  <a:schemeClr val="accent1"/>
                </a:solidFill>
                <a:effectLst>
                  <a:outerShdw blurRad="381000" dist="25400" sx="102000" sy="102000" algn="ctr" rotWithShape="0">
                    <a:srgbClr val="006EE5">
                      <a:alpha val="15000"/>
                    </a:srgbClr>
                  </a:outerShdw>
                </a:effectLst>
                <a:latin typeface="Montserrat"/>
              </a:rPr>
              <a:t>09</a:t>
            </a:r>
            <a:endPar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endParaRPr>
          </a:p>
        </p:txBody>
      </p:sp>
      <p:cxnSp>
        <p:nvCxnSpPr>
          <p:cNvPr id="13" name="Straight Connector 12">
            <a:extLst>
              <a:ext uri="{FF2B5EF4-FFF2-40B4-BE49-F238E27FC236}">
                <a16:creationId xmlns:a16="http://schemas.microsoft.com/office/drawing/2014/main" id="{3120E3D8-22F4-C94C-6FC1-F097D9CDE7B1}"/>
              </a:ext>
            </a:extLst>
          </p:cNvPr>
          <p:cNvCxnSpPr>
            <a:cxnSpLocks/>
          </p:cNvCxnSpPr>
          <p:nvPr/>
        </p:nvCxnSpPr>
        <p:spPr>
          <a:xfrm>
            <a:off x="744629" y="5288560"/>
            <a:ext cx="10479474" cy="0"/>
          </a:xfrm>
          <a:prstGeom prst="line">
            <a:avLst/>
          </a:prstGeom>
          <a:noFill/>
          <a:ln w="12700" cap="flat" cmpd="sng" algn="ctr">
            <a:solidFill>
              <a:schemeClr val="tx2"/>
            </a:solidFill>
            <a:prstDash val="solid"/>
            <a:miter lim="800000"/>
          </a:ln>
          <a:effectLst/>
        </p:spPr>
      </p:cxnSp>
      <p:cxnSp>
        <p:nvCxnSpPr>
          <p:cNvPr id="16" name="Straight Connector 15">
            <a:extLst>
              <a:ext uri="{FF2B5EF4-FFF2-40B4-BE49-F238E27FC236}">
                <a16:creationId xmlns:a16="http://schemas.microsoft.com/office/drawing/2014/main" id="{28733F61-66C7-18F4-6938-676D88C48CC5}"/>
              </a:ext>
            </a:extLst>
          </p:cNvPr>
          <p:cNvCxnSpPr>
            <a:cxnSpLocks/>
          </p:cNvCxnSpPr>
          <p:nvPr/>
        </p:nvCxnSpPr>
        <p:spPr>
          <a:xfrm>
            <a:off x="744629" y="4883374"/>
            <a:ext cx="10479474" cy="0"/>
          </a:xfrm>
          <a:prstGeom prst="line">
            <a:avLst/>
          </a:prstGeom>
          <a:noFill/>
          <a:ln w="12700" cap="flat" cmpd="sng" algn="ctr">
            <a:solidFill>
              <a:schemeClr val="tx2"/>
            </a:solidFill>
            <a:prstDash val="solid"/>
            <a:miter lim="800000"/>
          </a:ln>
          <a:effectLst/>
        </p:spPr>
      </p:cxnSp>
      <p:cxnSp>
        <p:nvCxnSpPr>
          <p:cNvPr id="27" name="Straight Connector 26">
            <a:extLst>
              <a:ext uri="{FF2B5EF4-FFF2-40B4-BE49-F238E27FC236}">
                <a16:creationId xmlns:a16="http://schemas.microsoft.com/office/drawing/2014/main" id="{BF47A323-8294-0E08-D343-EAD02302621C}"/>
              </a:ext>
            </a:extLst>
          </p:cNvPr>
          <p:cNvCxnSpPr>
            <a:cxnSpLocks/>
          </p:cNvCxnSpPr>
          <p:nvPr/>
        </p:nvCxnSpPr>
        <p:spPr>
          <a:xfrm>
            <a:off x="721009" y="2050718"/>
            <a:ext cx="10479474" cy="0"/>
          </a:xfrm>
          <a:prstGeom prst="line">
            <a:avLst/>
          </a:prstGeom>
          <a:noFill/>
          <a:ln w="12700" cap="flat" cmpd="sng" algn="ctr">
            <a:solidFill>
              <a:schemeClr val="tx2"/>
            </a:solidFill>
            <a:prstDash val="solid"/>
            <a:miter lim="800000"/>
          </a:ln>
          <a:effectLst/>
        </p:spPr>
      </p:cxnSp>
    </p:spTree>
    <p:extLst>
      <p:ext uri="{BB962C8B-B14F-4D97-AF65-F5344CB8AC3E}">
        <p14:creationId xmlns:p14="http://schemas.microsoft.com/office/powerpoint/2010/main" val="4293065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68904" y="4970926"/>
            <a:ext cx="10831690" cy="1887074"/>
          </a:xfrm>
        </p:spPr>
        <p:txBody>
          <a:bodyPr/>
          <a:lstStyle/>
          <a:p>
            <a:r>
              <a:rPr lang="en-US" sz="4250" b="1">
                <a:latin typeface="Montserrat"/>
              </a:rPr>
              <a:t>01</a:t>
            </a:r>
            <a:r>
              <a:rPr lang="en-US" sz="4250">
                <a:latin typeface="Montserrat"/>
              </a:rPr>
              <a:t> Scope, Purpose, Objective</a:t>
            </a:r>
            <a:br>
              <a:rPr lang="en-GB" sz="4400"/>
            </a:br>
            <a:br>
              <a:rPr lang="en-CA" sz="4400"/>
            </a:br>
            <a:endParaRPr lang="en-US"/>
          </a:p>
        </p:txBody>
      </p:sp>
    </p:spTree>
    <p:extLst>
      <p:ext uri="{BB962C8B-B14F-4D97-AF65-F5344CB8AC3E}">
        <p14:creationId xmlns:p14="http://schemas.microsoft.com/office/powerpoint/2010/main" val="12258175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26BE-82DC-C3E0-175A-3A300D93E637}"/>
              </a:ext>
            </a:extLst>
          </p:cNvPr>
          <p:cNvSpPr>
            <a:spLocks noGrp="1"/>
          </p:cNvSpPr>
          <p:nvPr>
            <p:ph type="title"/>
          </p:nvPr>
        </p:nvSpPr>
        <p:spPr>
          <a:xfrm>
            <a:off x="247840" y="272224"/>
            <a:ext cx="11375136" cy="609600"/>
          </a:xfrm>
        </p:spPr>
        <p:txBody>
          <a:bodyPr>
            <a:normAutofit/>
          </a:bodyPr>
          <a:lstStyle/>
          <a:p>
            <a:r>
              <a:rPr lang="en-US">
                <a:latin typeface="Montserrat"/>
              </a:rPr>
              <a:t>Scope, Purpose, Objectives</a:t>
            </a:r>
            <a:endParaRPr lang="en-US"/>
          </a:p>
        </p:txBody>
      </p:sp>
      <p:sp>
        <p:nvSpPr>
          <p:cNvPr id="1055" name="Rectangle 1054">
            <a:extLst>
              <a:ext uri="{FF2B5EF4-FFF2-40B4-BE49-F238E27FC236}">
                <a16:creationId xmlns:a16="http://schemas.microsoft.com/office/drawing/2014/main" id="{741648DD-4218-4BE8-7835-E2FEC3AD90A5}"/>
              </a:ext>
            </a:extLst>
          </p:cNvPr>
          <p:cNvSpPr/>
          <p:nvPr/>
        </p:nvSpPr>
        <p:spPr>
          <a:xfrm>
            <a:off x="668741" y="1709382"/>
            <a:ext cx="3324971"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4" name="Rectangle 1063">
            <a:extLst>
              <a:ext uri="{FF2B5EF4-FFF2-40B4-BE49-F238E27FC236}">
                <a16:creationId xmlns:a16="http://schemas.microsoft.com/office/drawing/2014/main" id="{8B61822E-C6DD-3567-E7D0-EB09E981B1A4}"/>
              </a:ext>
            </a:extLst>
          </p:cNvPr>
          <p:cNvSpPr/>
          <p:nvPr/>
        </p:nvSpPr>
        <p:spPr>
          <a:xfrm>
            <a:off x="4433248" y="1720754"/>
            <a:ext cx="3313065"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5" name="Rectangle 1064">
            <a:extLst>
              <a:ext uri="{FF2B5EF4-FFF2-40B4-BE49-F238E27FC236}">
                <a16:creationId xmlns:a16="http://schemas.microsoft.com/office/drawing/2014/main" id="{62FBCF2D-842F-77C1-E421-560EFB911469}"/>
              </a:ext>
            </a:extLst>
          </p:cNvPr>
          <p:cNvSpPr/>
          <p:nvPr/>
        </p:nvSpPr>
        <p:spPr>
          <a:xfrm>
            <a:off x="8288740" y="1720753"/>
            <a:ext cx="3336877" cy="421474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6" name="Rectangle 1065">
            <a:extLst>
              <a:ext uri="{FF2B5EF4-FFF2-40B4-BE49-F238E27FC236}">
                <a16:creationId xmlns:a16="http://schemas.microsoft.com/office/drawing/2014/main" id="{F7AC8526-0BC0-5086-C656-0FB2FF4449F2}"/>
              </a:ext>
            </a:extLst>
          </p:cNvPr>
          <p:cNvSpPr/>
          <p:nvPr/>
        </p:nvSpPr>
        <p:spPr>
          <a:xfrm>
            <a:off x="663765" y="1101629"/>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8" name="Rectangle 1067">
            <a:extLst>
              <a:ext uri="{FF2B5EF4-FFF2-40B4-BE49-F238E27FC236}">
                <a16:creationId xmlns:a16="http://schemas.microsoft.com/office/drawing/2014/main" id="{A89469BA-CFF6-D096-4A3C-61901337270E}"/>
              </a:ext>
            </a:extLst>
          </p:cNvPr>
          <p:cNvSpPr/>
          <p:nvPr/>
        </p:nvSpPr>
        <p:spPr>
          <a:xfrm>
            <a:off x="4428272" y="1101628"/>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9" name="Rectangle 1068">
            <a:extLst>
              <a:ext uri="{FF2B5EF4-FFF2-40B4-BE49-F238E27FC236}">
                <a16:creationId xmlns:a16="http://schemas.microsoft.com/office/drawing/2014/main" id="{7D1D11F0-635C-A5D2-ABC6-26B771A1B782}"/>
              </a:ext>
            </a:extLst>
          </p:cNvPr>
          <p:cNvSpPr/>
          <p:nvPr/>
        </p:nvSpPr>
        <p:spPr>
          <a:xfrm>
            <a:off x="8343295" y="1101627"/>
            <a:ext cx="3277880"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70" name="TextBox 1069">
            <a:extLst>
              <a:ext uri="{FF2B5EF4-FFF2-40B4-BE49-F238E27FC236}">
                <a16:creationId xmlns:a16="http://schemas.microsoft.com/office/drawing/2014/main" id="{3488D4D5-5CD8-4795-9990-CE0CF387E5E3}"/>
              </a:ext>
            </a:extLst>
          </p:cNvPr>
          <p:cNvSpPr txBox="1"/>
          <p:nvPr/>
        </p:nvSpPr>
        <p:spPr>
          <a:xfrm>
            <a:off x="113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Scope</a:t>
            </a:r>
          </a:p>
          <a:p>
            <a:endParaRPr lang="en-US" sz="1000">
              <a:latin typeface="Montserrat" pitchFamily="2" charset="77"/>
            </a:endParaRPr>
          </a:p>
          <a:p>
            <a:endParaRPr lang="en-US" sz="1000">
              <a:latin typeface="Montserrat" pitchFamily="2" charset="77"/>
            </a:endParaRPr>
          </a:p>
        </p:txBody>
      </p:sp>
      <p:sp>
        <p:nvSpPr>
          <p:cNvPr id="3" name="TextBox 2">
            <a:extLst>
              <a:ext uri="{FF2B5EF4-FFF2-40B4-BE49-F238E27FC236}">
                <a16:creationId xmlns:a16="http://schemas.microsoft.com/office/drawing/2014/main" id="{D31735DA-84BE-BABC-7597-E1E0AC846AEA}"/>
              </a:ext>
            </a:extLst>
          </p:cNvPr>
          <p:cNvSpPr txBox="1"/>
          <p:nvPr/>
        </p:nvSpPr>
        <p:spPr>
          <a:xfrm>
            <a:off x="4906329"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Purpose</a:t>
            </a:r>
          </a:p>
          <a:p>
            <a:endParaRPr lang="en-US" sz="1000">
              <a:latin typeface="Montserrat" pitchFamily="2" charset="77"/>
            </a:endParaRPr>
          </a:p>
          <a:p>
            <a:endParaRPr lang="en-US" sz="1000">
              <a:latin typeface="Montserrat" pitchFamily="2" charset="77"/>
            </a:endParaRPr>
          </a:p>
        </p:txBody>
      </p:sp>
      <p:sp>
        <p:nvSpPr>
          <p:cNvPr id="4" name="TextBox 3">
            <a:extLst>
              <a:ext uri="{FF2B5EF4-FFF2-40B4-BE49-F238E27FC236}">
                <a16:creationId xmlns:a16="http://schemas.microsoft.com/office/drawing/2014/main" id="{EB274CF1-E679-4FA2-4961-699915B99E26}"/>
              </a:ext>
            </a:extLst>
          </p:cNvPr>
          <p:cNvSpPr txBox="1"/>
          <p:nvPr/>
        </p:nvSpPr>
        <p:spPr>
          <a:xfrm>
            <a:off x="875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Objective</a:t>
            </a:r>
          </a:p>
          <a:p>
            <a:endParaRPr lang="en-US" sz="1000">
              <a:latin typeface="Montserrat" pitchFamily="2" charset="77"/>
            </a:endParaRPr>
          </a:p>
          <a:p>
            <a:endParaRPr lang="en-US" sz="1000">
              <a:latin typeface="Montserrat" pitchFamily="2" charset="77"/>
            </a:endParaRPr>
          </a:p>
        </p:txBody>
      </p:sp>
      <p:sp>
        <p:nvSpPr>
          <p:cNvPr id="5" name="TextBox 4">
            <a:extLst>
              <a:ext uri="{FF2B5EF4-FFF2-40B4-BE49-F238E27FC236}">
                <a16:creationId xmlns:a16="http://schemas.microsoft.com/office/drawing/2014/main" id="{2A0B2ECB-81D5-58D2-6118-D4651F04DC2A}"/>
              </a:ext>
            </a:extLst>
          </p:cNvPr>
          <p:cNvSpPr txBox="1"/>
          <p:nvPr/>
        </p:nvSpPr>
        <p:spPr>
          <a:xfrm>
            <a:off x="804175" y="1806066"/>
            <a:ext cx="3040854" cy="132343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Montserrat"/>
                <a:ea typeface="+mj-ea"/>
                <a:cs typeface="+mj-cs"/>
              </a:rPr>
              <a:t>Scope of this document covers the to-be state Manage Financial Details between SAP Service Cloud v2 and SAP S4HANA</a:t>
            </a:r>
            <a:r>
              <a:rPr lang="en-US" sz="1600">
                <a:solidFill>
                  <a:srgbClr val="1866AE"/>
                </a:solidFill>
                <a:latin typeface="Montserrat"/>
                <a:ea typeface="+mj-ea"/>
                <a:cs typeface="+mj-cs"/>
              </a:rPr>
              <a:t>er</a:t>
            </a:r>
          </a:p>
        </p:txBody>
      </p:sp>
      <p:sp>
        <p:nvSpPr>
          <p:cNvPr id="6" name="TextBox 5">
            <a:extLst>
              <a:ext uri="{FF2B5EF4-FFF2-40B4-BE49-F238E27FC236}">
                <a16:creationId xmlns:a16="http://schemas.microsoft.com/office/drawing/2014/main" id="{830222EA-B48B-A73B-8B97-C9D2C354B0CD}"/>
              </a:ext>
            </a:extLst>
          </p:cNvPr>
          <p:cNvSpPr txBox="1"/>
          <p:nvPr/>
        </p:nvSpPr>
        <p:spPr>
          <a:xfrm>
            <a:off x="4561049" y="1801867"/>
            <a:ext cx="3044942" cy="89255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Montserrat"/>
                <a:ea typeface="+mj-ea"/>
                <a:cs typeface="+mj-cs"/>
              </a:rPr>
              <a:t>Describe how to Manage Financial Details </a:t>
            </a:r>
            <a:endParaRPr lang="en-US" sz="1600">
              <a:solidFill>
                <a:schemeClr val="bg1"/>
              </a:solidFill>
              <a:ea typeface="+mj-ea"/>
              <a:cs typeface="+mj-cs"/>
            </a:endParaRPr>
          </a:p>
          <a:p>
            <a:endParaRPr lang="en-US" sz="1000">
              <a:latin typeface="Montserrat" pitchFamily="2" charset="77"/>
            </a:endParaRPr>
          </a:p>
          <a:p>
            <a:endParaRPr lang="en-US" sz="1000">
              <a:latin typeface="Montserrat" pitchFamily="2" charset="77"/>
            </a:endParaRPr>
          </a:p>
        </p:txBody>
      </p:sp>
      <p:sp>
        <p:nvSpPr>
          <p:cNvPr id="7" name="TextBox 6">
            <a:extLst>
              <a:ext uri="{FF2B5EF4-FFF2-40B4-BE49-F238E27FC236}">
                <a16:creationId xmlns:a16="http://schemas.microsoft.com/office/drawing/2014/main" id="{B67A8F84-D62C-19BE-A519-41A2E08899EA}"/>
              </a:ext>
            </a:extLst>
          </p:cNvPr>
          <p:cNvSpPr txBox="1"/>
          <p:nvPr/>
        </p:nvSpPr>
        <p:spPr>
          <a:xfrm>
            <a:off x="8418673" y="1801867"/>
            <a:ext cx="3128285" cy="44627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Montserrat"/>
                <a:ea typeface="+mj-ea"/>
                <a:cs typeface="+mj-cs"/>
              </a:rPr>
              <a:t>Offer a holistic view of all the key elements of the to-be process including organization/roles, configuration or customization if needed, data, reporting, security, and controls requirements. </a:t>
            </a:r>
            <a:endParaRPr lang="en-US">
              <a:solidFill>
                <a:schemeClr val="bg1"/>
              </a:solidFill>
              <a:latin typeface="Montserrat"/>
              <a:ea typeface="+mj-ea"/>
              <a:cs typeface="+mj-cs"/>
            </a:endParaRPr>
          </a:p>
          <a:p>
            <a:pPr marL="285750" indent="-285750">
              <a:buFont typeface="Arial"/>
              <a:buChar char="•"/>
            </a:pPr>
            <a:r>
              <a:rPr lang="en-US" sz="1600">
                <a:solidFill>
                  <a:schemeClr val="bg1"/>
                </a:solidFill>
                <a:latin typeface="Montserrat"/>
                <a:ea typeface="+mj-ea"/>
                <a:cs typeface="+mj-cs"/>
              </a:rPr>
              <a:t>Define the target-state ownership and L3 processes. </a:t>
            </a:r>
            <a:endParaRPr lang="en-US">
              <a:solidFill>
                <a:schemeClr val="bg1"/>
              </a:solidFill>
            </a:endParaRPr>
          </a:p>
          <a:p>
            <a:pPr marL="285750" indent="-285750">
              <a:buFont typeface="Arial"/>
              <a:buChar char="•"/>
            </a:pPr>
            <a:r>
              <a:rPr lang="en-US" sz="1600">
                <a:solidFill>
                  <a:schemeClr val="bg1"/>
                </a:solidFill>
                <a:latin typeface="Montserrat"/>
                <a:ea typeface="+mj-ea"/>
                <a:cs typeface="+mj-cs"/>
              </a:rPr>
              <a:t>Document key assumptions/decisions and outline any FRICE-W's and reports. </a:t>
            </a:r>
            <a:endParaRPr lang="en-US">
              <a:solidFill>
                <a:schemeClr val="bg1"/>
              </a:solidFill>
              <a:ea typeface="+mj-ea"/>
              <a:cs typeface="+mj-cs"/>
            </a:endParaRPr>
          </a:p>
          <a:p>
            <a:endParaRPr lang="en-US">
              <a:solidFill>
                <a:schemeClr val="bg1"/>
              </a:solidFill>
              <a:latin typeface="Montserrat"/>
              <a:ea typeface="+mj-ea"/>
              <a:cs typeface="+mj-cs"/>
            </a:endParaRPr>
          </a:p>
          <a:p>
            <a:endParaRPr lang="en-US" sz="1000">
              <a:latin typeface="Montserrat" pitchFamily="2" charset="77"/>
            </a:endParaRPr>
          </a:p>
        </p:txBody>
      </p:sp>
    </p:spTree>
    <p:extLst>
      <p:ext uri="{BB962C8B-B14F-4D97-AF65-F5344CB8AC3E}">
        <p14:creationId xmlns:p14="http://schemas.microsoft.com/office/powerpoint/2010/main" val="1808544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AD18-E547-A4B4-8118-17CE0757547C}"/>
              </a:ext>
            </a:extLst>
          </p:cNvPr>
          <p:cNvSpPr>
            <a:spLocks noGrp="1"/>
          </p:cNvSpPr>
          <p:nvPr>
            <p:ph type="title"/>
          </p:nvPr>
        </p:nvSpPr>
        <p:spPr/>
        <p:txBody>
          <a:bodyPr>
            <a:normAutofit/>
          </a:bodyPr>
          <a:lstStyle/>
          <a:p>
            <a:r>
              <a:rPr lang="en-US"/>
              <a:t>Ownership</a:t>
            </a:r>
          </a:p>
        </p:txBody>
      </p:sp>
      <p:graphicFrame>
        <p:nvGraphicFramePr>
          <p:cNvPr id="3" name="Table 2">
            <a:extLst>
              <a:ext uri="{FF2B5EF4-FFF2-40B4-BE49-F238E27FC236}">
                <a16:creationId xmlns:a16="http://schemas.microsoft.com/office/drawing/2014/main" id="{E73EA292-10A9-8DEE-D658-3C59414824E6}"/>
              </a:ext>
            </a:extLst>
          </p:cNvPr>
          <p:cNvGraphicFramePr>
            <a:graphicFrameLocks noGrp="1"/>
          </p:cNvGraphicFramePr>
          <p:nvPr>
            <p:extLst>
              <p:ext uri="{D42A27DB-BD31-4B8C-83A1-F6EECF244321}">
                <p14:modId xmlns:p14="http://schemas.microsoft.com/office/powerpoint/2010/main" val="1471717946"/>
              </p:ext>
            </p:extLst>
          </p:nvPr>
        </p:nvGraphicFramePr>
        <p:xfrm>
          <a:off x="895350" y="1309077"/>
          <a:ext cx="10423576" cy="2499360"/>
        </p:xfrm>
        <a:graphic>
          <a:graphicData uri="http://schemas.openxmlformats.org/drawingml/2006/table">
            <a:tbl>
              <a:tblPr firstRow="1" bandRow="1">
                <a:tableStyleId>{5C22544A-7EE6-4342-B048-85BDC9FD1C3A}</a:tableStyleId>
              </a:tblPr>
              <a:tblGrid>
                <a:gridCol w="2605894">
                  <a:extLst>
                    <a:ext uri="{9D8B030D-6E8A-4147-A177-3AD203B41FA5}">
                      <a16:colId xmlns:a16="http://schemas.microsoft.com/office/drawing/2014/main" val="884605905"/>
                    </a:ext>
                  </a:extLst>
                </a:gridCol>
                <a:gridCol w="2605894">
                  <a:extLst>
                    <a:ext uri="{9D8B030D-6E8A-4147-A177-3AD203B41FA5}">
                      <a16:colId xmlns:a16="http://schemas.microsoft.com/office/drawing/2014/main" val="670828646"/>
                    </a:ext>
                  </a:extLst>
                </a:gridCol>
                <a:gridCol w="2605894">
                  <a:extLst>
                    <a:ext uri="{9D8B030D-6E8A-4147-A177-3AD203B41FA5}">
                      <a16:colId xmlns:a16="http://schemas.microsoft.com/office/drawing/2014/main" val="1828442634"/>
                    </a:ext>
                  </a:extLst>
                </a:gridCol>
                <a:gridCol w="2605894">
                  <a:extLst>
                    <a:ext uri="{9D8B030D-6E8A-4147-A177-3AD203B41FA5}">
                      <a16:colId xmlns:a16="http://schemas.microsoft.com/office/drawing/2014/main" val="1777702620"/>
                    </a:ext>
                  </a:extLst>
                </a:gridCol>
              </a:tblGrid>
              <a:tr h="370840">
                <a:tc>
                  <a:txBody>
                    <a:bodyPr/>
                    <a:lstStyle/>
                    <a:p>
                      <a:pPr algn="ctr"/>
                      <a:r>
                        <a:rPr lang="en-US" sz="1600"/>
                        <a:t>Object</a:t>
                      </a:r>
                    </a:p>
                  </a:txBody>
                  <a:tcPr anchor="ctr"/>
                </a:tc>
                <a:tc>
                  <a:txBody>
                    <a:bodyPr/>
                    <a:lstStyle/>
                    <a:p>
                      <a:pPr algn="ctr"/>
                      <a:r>
                        <a:rPr lang="en-US" sz="1600"/>
                        <a:t>Teams Impacted</a:t>
                      </a:r>
                    </a:p>
                  </a:txBody>
                  <a:tcPr anchor="ctr"/>
                </a:tc>
                <a:tc>
                  <a:txBody>
                    <a:bodyPr/>
                    <a:lstStyle/>
                    <a:p>
                      <a:pPr algn="ctr"/>
                      <a:r>
                        <a:rPr lang="en-US" sz="1600"/>
                        <a:t>Business Process Owner</a:t>
                      </a:r>
                    </a:p>
                  </a:txBody>
                  <a:tcPr anchor="ctr"/>
                </a:tc>
                <a:tc>
                  <a:txBody>
                    <a:bodyPr/>
                    <a:lstStyle/>
                    <a:p>
                      <a:pPr lvl="0" algn="ctr">
                        <a:buNone/>
                      </a:pPr>
                      <a:r>
                        <a:rPr lang="en-US" sz="1600"/>
                        <a:t>Reviewer</a:t>
                      </a:r>
                    </a:p>
                  </a:txBody>
                  <a:tcPr anchor="ctr"/>
                </a:tc>
                <a:extLst>
                  <a:ext uri="{0D108BD9-81ED-4DB2-BD59-A6C34878D82A}">
                    <a16:rowId xmlns:a16="http://schemas.microsoft.com/office/drawing/2014/main" val="4008269926"/>
                  </a:ext>
                </a:extLst>
              </a:tr>
              <a:tr h="370840">
                <a:tc>
                  <a:txBody>
                    <a:bodyPr/>
                    <a:lstStyle/>
                    <a:p>
                      <a:r>
                        <a:rPr lang="en-US" sz="1800"/>
                        <a:t>Business Partner</a:t>
                      </a:r>
                    </a:p>
                  </a:txBody>
                  <a:tcPr/>
                </a:tc>
                <a:tc>
                  <a:txBody>
                    <a:bodyPr/>
                    <a:lstStyle/>
                    <a:p>
                      <a:r>
                        <a:rPr lang="en-US" sz="1800"/>
                        <a:t>Customer, Finance</a:t>
                      </a:r>
                    </a:p>
                  </a:txBody>
                  <a:tcPr/>
                </a:tc>
                <a:tc>
                  <a:txBody>
                    <a:bodyPr/>
                    <a:lstStyle/>
                    <a:p>
                      <a:r>
                        <a:rPr lang="en-US" sz="1800"/>
                        <a:t>Dawn Pettengill, Tarah Wilson</a:t>
                      </a:r>
                    </a:p>
                  </a:txBody>
                  <a:tcPr/>
                </a:tc>
                <a:tc>
                  <a:txBody>
                    <a:bodyPr/>
                    <a:lstStyle/>
                    <a:p>
                      <a:r>
                        <a:rPr lang="en-US" sz="1800"/>
                        <a:t>Shibu Prabha</a:t>
                      </a:r>
                    </a:p>
                  </a:txBody>
                  <a:tcPr/>
                </a:tc>
                <a:extLst>
                  <a:ext uri="{0D108BD9-81ED-4DB2-BD59-A6C34878D82A}">
                    <a16:rowId xmlns:a16="http://schemas.microsoft.com/office/drawing/2014/main" val="3937748376"/>
                  </a:ext>
                </a:extLst>
              </a:tr>
              <a:tr h="370840">
                <a:tc>
                  <a:txBody>
                    <a:bodyPr/>
                    <a:lstStyle/>
                    <a:p>
                      <a:r>
                        <a:rPr lang="en-US" sz="1800"/>
                        <a:t>Contract Account</a:t>
                      </a:r>
                    </a:p>
                  </a:txBody>
                  <a:tcPr/>
                </a:tc>
                <a:tc>
                  <a:txBody>
                    <a:bodyPr/>
                    <a:lstStyle/>
                    <a:p>
                      <a:r>
                        <a:rPr lang="en-US" sz="1800"/>
                        <a:t>Customer, Finance, Supply Chain</a:t>
                      </a:r>
                    </a:p>
                  </a:txBody>
                  <a:tcPr/>
                </a:tc>
                <a:tc>
                  <a:txBody>
                    <a:bodyPr/>
                    <a:lstStyle/>
                    <a:p>
                      <a:pPr lvl="0">
                        <a:buNone/>
                      </a:pPr>
                      <a:r>
                        <a:rPr lang="en-US" sz="1800" b="0" i="0" u="none" strike="noStrike" noProof="0">
                          <a:solidFill>
                            <a:srgbClr val="000000"/>
                          </a:solidFill>
                          <a:latin typeface="Montserrat"/>
                        </a:rPr>
                        <a:t>Dawn Pettengill, Tarah Wilson</a:t>
                      </a:r>
                      <a:endParaRPr lang="en-US" sz="1800"/>
                    </a:p>
                  </a:txBody>
                  <a:tcPr/>
                </a:tc>
                <a:tc>
                  <a:txBody>
                    <a:bodyPr/>
                    <a:lstStyle/>
                    <a:p>
                      <a:r>
                        <a:rPr lang="en-US" sz="1800"/>
                        <a:t>Shibu Prabha</a:t>
                      </a:r>
                    </a:p>
                  </a:txBody>
                  <a:tcPr/>
                </a:tc>
                <a:extLst>
                  <a:ext uri="{0D108BD9-81ED-4DB2-BD59-A6C34878D82A}">
                    <a16:rowId xmlns:a16="http://schemas.microsoft.com/office/drawing/2014/main" val="2531424289"/>
                  </a:ext>
                </a:extLst>
              </a:tr>
              <a:tr h="370840">
                <a:tc>
                  <a:txBody>
                    <a:bodyPr/>
                    <a:lstStyle/>
                    <a:p>
                      <a:r>
                        <a:rPr lang="en-US" sz="1800"/>
                        <a:t>Contract</a:t>
                      </a:r>
                    </a:p>
                  </a:txBody>
                  <a:tcPr/>
                </a:tc>
                <a:tc>
                  <a:txBody>
                    <a:bodyPr/>
                    <a:lstStyle/>
                    <a:p>
                      <a:pPr lvl="0">
                        <a:buNone/>
                      </a:pPr>
                      <a:r>
                        <a:rPr lang="en-US" sz="1800" b="0" i="0" u="none" strike="noStrike" noProof="0">
                          <a:solidFill>
                            <a:srgbClr val="000000"/>
                          </a:solidFill>
                          <a:latin typeface="Montserrat"/>
                        </a:rPr>
                        <a:t>Customer, Finance, Supply Chain</a:t>
                      </a:r>
                      <a:endParaRPr lang="en-US" sz="1800"/>
                    </a:p>
                  </a:txBody>
                  <a:tcPr/>
                </a:tc>
                <a:tc>
                  <a:txBody>
                    <a:bodyPr/>
                    <a:lstStyle/>
                    <a:p>
                      <a:pPr lvl="0">
                        <a:buNone/>
                      </a:pPr>
                      <a:r>
                        <a:rPr lang="en-US" sz="1800" b="0" i="0" u="none" strike="noStrike" noProof="0">
                          <a:solidFill>
                            <a:srgbClr val="000000"/>
                          </a:solidFill>
                          <a:latin typeface="Montserrat"/>
                        </a:rPr>
                        <a:t>Dawn Pettengill, Tarah Wilson</a:t>
                      </a:r>
                      <a:endParaRPr lang="en-US" sz="1800"/>
                    </a:p>
                  </a:txBody>
                  <a:tcPr/>
                </a:tc>
                <a:tc>
                  <a:txBody>
                    <a:bodyPr/>
                    <a:lstStyle/>
                    <a:p>
                      <a:r>
                        <a:rPr lang="en-US" sz="1800"/>
                        <a:t>Shibu Prabha</a:t>
                      </a:r>
                    </a:p>
                  </a:txBody>
                  <a:tcPr/>
                </a:tc>
                <a:extLst>
                  <a:ext uri="{0D108BD9-81ED-4DB2-BD59-A6C34878D82A}">
                    <a16:rowId xmlns:a16="http://schemas.microsoft.com/office/drawing/2014/main" val="1696993170"/>
                  </a:ext>
                </a:extLst>
              </a:tr>
            </a:tbl>
          </a:graphicData>
        </a:graphic>
      </p:graphicFrame>
    </p:spTree>
    <p:extLst>
      <p:ext uri="{BB962C8B-B14F-4D97-AF65-F5344CB8AC3E}">
        <p14:creationId xmlns:p14="http://schemas.microsoft.com/office/powerpoint/2010/main" val="14178789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324B-BD7B-8203-1D6F-AFFD83AD6F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536525-1268-C172-0C23-004F805AFB8C}"/>
              </a:ext>
            </a:extLst>
          </p:cNvPr>
          <p:cNvSpPr>
            <a:spLocks noGrp="1"/>
          </p:cNvSpPr>
          <p:nvPr>
            <p:ph type="title"/>
          </p:nvPr>
        </p:nvSpPr>
        <p:spPr>
          <a:xfrm>
            <a:off x="153761" y="-4265"/>
            <a:ext cx="11807907" cy="888817"/>
          </a:xfrm>
        </p:spPr>
        <p:txBody>
          <a:bodyPr>
            <a:normAutofit/>
          </a:bodyPr>
          <a:lstStyle/>
          <a:p>
            <a:r>
              <a:rPr lang="en-US">
                <a:latin typeface="Montserrat"/>
              </a:rPr>
              <a:t>Maintain Org BP in CRM</a:t>
            </a:r>
          </a:p>
        </p:txBody>
      </p:sp>
      <p:sp>
        <p:nvSpPr>
          <p:cNvPr id="6" name="TextBox 5">
            <a:extLst>
              <a:ext uri="{FF2B5EF4-FFF2-40B4-BE49-F238E27FC236}">
                <a16:creationId xmlns:a16="http://schemas.microsoft.com/office/drawing/2014/main" id="{1AF1B4F4-7C80-CD96-2FE2-E7C6419FD427}"/>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aphicFrame>
        <p:nvGraphicFramePr>
          <p:cNvPr id="13" name="Table 12">
            <a:extLst>
              <a:ext uri="{FF2B5EF4-FFF2-40B4-BE49-F238E27FC236}">
                <a16:creationId xmlns:a16="http://schemas.microsoft.com/office/drawing/2014/main" id="{08DF9BED-6446-4F10-42DC-5AB7ACF7DBB4}"/>
              </a:ext>
            </a:extLst>
          </p:cNvPr>
          <p:cNvGraphicFramePr>
            <a:graphicFrameLocks noGrp="1"/>
          </p:cNvGraphicFramePr>
          <p:nvPr>
            <p:extLst>
              <p:ext uri="{D42A27DB-BD31-4B8C-83A1-F6EECF244321}">
                <p14:modId xmlns:p14="http://schemas.microsoft.com/office/powerpoint/2010/main" val="3793670444"/>
              </p:ext>
            </p:extLst>
          </p:nvPr>
        </p:nvGraphicFramePr>
        <p:xfrm>
          <a:off x="152400" y="1103665"/>
          <a:ext cx="11029059" cy="5036820"/>
        </p:xfrm>
        <a:graphic>
          <a:graphicData uri="http://schemas.openxmlformats.org/drawingml/2006/table">
            <a:tbl>
              <a:tblPr firstRow="1" bandRow="1">
                <a:tableStyleId>{5C22544A-7EE6-4342-B048-85BDC9FD1C3A}</a:tableStyleId>
              </a:tblPr>
              <a:tblGrid>
                <a:gridCol w="2393048">
                  <a:extLst>
                    <a:ext uri="{9D8B030D-6E8A-4147-A177-3AD203B41FA5}">
                      <a16:colId xmlns:a16="http://schemas.microsoft.com/office/drawing/2014/main" val="4084044958"/>
                    </a:ext>
                  </a:extLst>
                </a:gridCol>
                <a:gridCol w="843431">
                  <a:extLst>
                    <a:ext uri="{9D8B030D-6E8A-4147-A177-3AD203B41FA5}">
                      <a16:colId xmlns:a16="http://schemas.microsoft.com/office/drawing/2014/main" val="3615934369"/>
                    </a:ext>
                  </a:extLst>
                </a:gridCol>
                <a:gridCol w="843431">
                  <a:extLst>
                    <a:ext uri="{9D8B030D-6E8A-4147-A177-3AD203B41FA5}">
                      <a16:colId xmlns:a16="http://schemas.microsoft.com/office/drawing/2014/main" val="73187036"/>
                    </a:ext>
                  </a:extLst>
                </a:gridCol>
                <a:gridCol w="990113">
                  <a:extLst>
                    <a:ext uri="{9D8B030D-6E8A-4147-A177-3AD203B41FA5}">
                      <a16:colId xmlns:a16="http://schemas.microsoft.com/office/drawing/2014/main" val="3147726669"/>
                    </a:ext>
                  </a:extLst>
                </a:gridCol>
                <a:gridCol w="3135371">
                  <a:extLst>
                    <a:ext uri="{9D8B030D-6E8A-4147-A177-3AD203B41FA5}">
                      <a16:colId xmlns:a16="http://schemas.microsoft.com/office/drawing/2014/main" val="2929055363"/>
                    </a:ext>
                  </a:extLst>
                </a:gridCol>
                <a:gridCol w="916775">
                  <a:extLst>
                    <a:ext uri="{9D8B030D-6E8A-4147-A177-3AD203B41FA5}">
                      <a16:colId xmlns:a16="http://schemas.microsoft.com/office/drawing/2014/main" val="2386789796"/>
                    </a:ext>
                  </a:extLst>
                </a:gridCol>
                <a:gridCol w="898438">
                  <a:extLst>
                    <a:ext uri="{9D8B030D-6E8A-4147-A177-3AD203B41FA5}">
                      <a16:colId xmlns:a16="http://schemas.microsoft.com/office/drawing/2014/main" val="2536028979"/>
                    </a:ext>
                  </a:extLst>
                </a:gridCol>
                <a:gridCol w="1008452">
                  <a:extLst>
                    <a:ext uri="{9D8B030D-6E8A-4147-A177-3AD203B41FA5}">
                      <a16:colId xmlns:a16="http://schemas.microsoft.com/office/drawing/2014/main" val="1126145318"/>
                    </a:ext>
                  </a:extLst>
                </a:gridCol>
              </a:tblGrid>
              <a:tr h="222269">
                <a:tc>
                  <a:txBody>
                    <a:bodyPr/>
                    <a:lstStyle/>
                    <a:p>
                      <a:pPr algn="ctr"/>
                      <a:r>
                        <a:rPr lang="en-US" sz="1050"/>
                        <a:t>Field</a:t>
                      </a:r>
                    </a:p>
                  </a:txBody>
                  <a:tcPr anchor="ctr"/>
                </a:tc>
                <a:tc>
                  <a:txBody>
                    <a:bodyPr/>
                    <a:lstStyle/>
                    <a:p>
                      <a:pPr algn="ctr"/>
                      <a:r>
                        <a:rPr lang="en-US" sz="1050"/>
                        <a:t>Editable</a:t>
                      </a:r>
                    </a:p>
                  </a:txBody>
                  <a:tcPr anchor="ctr"/>
                </a:tc>
                <a:tc>
                  <a:txBody>
                    <a:bodyPr/>
                    <a:lstStyle/>
                    <a:p>
                      <a:pPr algn="ctr"/>
                      <a:r>
                        <a:rPr lang="en-US" sz="1050"/>
                        <a:t>Optional</a:t>
                      </a:r>
                    </a:p>
                  </a:txBody>
                  <a:tcPr anchor="ctr"/>
                </a:tc>
                <a:tc>
                  <a:txBody>
                    <a:bodyPr/>
                    <a:lstStyle/>
                    <a:p>
                      <a:pPr algn="ctr"/>
                      <a:r>
                        <a:rPr lang="en-US" sz="1050"/>
                        <a:t>Defaulted</a:t>
                      </a:r>
                    </a:p>
                  </a:txBody>
                  <a:tcPr anchor="ctr"/>
                </a:tc>
                <a:tc>
                  <a:txBody>
                    <a:bodyPr/>
                    <a:lstStyle/>
                    <a:p>
                      <a:pPr algn="ctr"/>
                      <a:r>
                        <a:rPr lang="en-US" sz="1050"/>
                        <a:t>Field</a:t>
                      </a:r>
                    </a:p>
                  </a:txBody>
                  <a:tcPr anchor="ctr"/>
                </a:tc>
                <a:tc>
                  <a:txBody>
                    <a:bodyPr/>
                    <a:lstStyle/>
                    <a:p>
                      <a:pPr algn="ctr"/>
                      <a:r>
                        <a:rPr lang="en-US" sz="1050"/>
                        <a:t>Editable</a:t>
                      </a:r>
                    </a:p>
                  </a:txBody>
                  <a:tcPr anchor="ctr"/>
                </a:tc>
                <a:tc>
                  <a:txBody>
                    <a:bodyPr/>
                    <a:lstStyle/>
                    <a:p>
                      <a:pPr algn="ctr"/>
                      <a:r>
                        <a:rPr lang="en-US" sz="1050"/>
                        <a:t>Optional</a:t>
                      </a:r>
                    </a:p>
                  </a:txBody>
                  <a:tcPr anchor="ctr"/>
                </a:tc>
                <a:tc>
                  <a:txBody>
                    <a:bodyPr/>
                    <a:lstStyle/>
                    <a:p>
                      <a:pPr algn="ctr"/>
                      <a:r>
                        <a:rPr lang="en-US" sz="1050"/>
                        <a:t>Defaulted</a:t>
                      </a:r>
                    </a:p>
                  </a:txBody>
                  <a:tcPr anchor="ctr"/>
                </a:tc>
                <a:extLst>
                  <a:ext uri="{0D108BD9-81ED-4DB2-BD59-A6C34878D82A}">
                    <a16:rowId xmlns:a16="http://schemas.microsoft.com/office/drawing/2014/main" val="4282288673"/>
                  </a:ext>
                </a:extLst>
              </a:tr>
              <a:tr h="222269">
                <a:tc>
                  <a:txBody>
                    <a:bodyPr/>
                    <a:lstStyle/>
                    <a:p>
                      <a:r>
                        <a:rPr lang="en-US" sz="1050"/>
                        <a:t>Full Name</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r>
                        <a:rPr lang="en-US" sz="1050"/>
                        <a:t>X</a:t>
                      </a:r>
                    </a:p>
                  </a:txBody>
                  <a:tcPr anchor="ctr"/>
                </a:tc>
                <a:tc>
                  <a:txBody>
                    <a:bodyPr/>
                    <a:lstStyle/>
                    <a:p>
                      <a:pPr lvl="0">
                        <a:buNone/>
                      </a:pPr>
                      <a:r>
                        <a:rPr lang="en-US" sz="1050"/>
                        <a:t>Floor</a:t>
                      </a:r>
                    </a:p>
                  </a:txBody>
                  <a:tcPr/>
                </a:tc>
                <a:tc>
                  <a:txBody>
                    <a:bodyPr/>
                    <a:lstStyle/>
                    <a:p>
                      <a:pPr lvl="0" algn="ctr">
                        <a:buNone/>
                      </a:pPr>
                      <a:endParaRPr lang="en-US" sz="1050"/>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3849373528"/>
                  </a:ext>
                </a:extLst>
              </a:tr>
              <a:tr h="222269">
                <a:tc>
                  <a:txBody>
                    <a:bodyPr/>
                    <a:lstStyle/>
                    <a:p>
                      <a:pPr lvl="0">
                        <a:buNone/>
                      </a:pPr>
                      <a:r>
                        <a:rPr lang="en-US" sz="1050"/>
                        <a:t>ID</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City</a:t>
                      </a:r>
                    </a:p>
                  </a:txBody>
                  <a:tcPr/>
                </a:tc>
                <a:tc>
                  <a:txBody>
                    <a:bodyPr/>
                    <a:lstStyle/>
                    <a:p>
                      <a:pPr lvl="0" algn="ctr">
                        <a:buNone/>
                      </a:pPr>
                      <a:endParaRPr lang="en-US" sz="1050"/>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100861940"/>
                  </a:ext>
                </a:extLst>
              </a:tr>
              <a:tr h="222269">
                <a:tc>
                  <a:txBody>
                    <a:bodyPr/>
                    <a:lstStyle/>
                    <a:p>
                      <a:pPr lvl="0">
                        <a:buNone/>
                      </a:pPr>
                      <a:r>
                        <a:rPr lang="en-US" sz="1050"/>
                        <a:t>Name1</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a:t>State</a:t>
                      </a:r>
                      <a:endParaRPr lang="en-US"/>
                    </a:p>
                  </a:txBody>
                  <a:tcPr/>
                </a:tc>
                <a:tc>
                  <a:txBody>
                    <a:bodyPr/>
                    <a:lstStyle/>
                    <a:p>
                      <a:pPr lvl="0" algn="ctr">
                        <a:buNone/>
                      </a:pPr>
                      <a:r>
                        <a:rPr lang="en-US" sz="1050"/>
                        <a:t>X</a:t>
                      </a:r>
                      <a:endParaRPr lang="en-US"/>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3011119898"/>
                  </a:ext>
                </a:extLst>
              </a:tr>
              <a:tr h="222269">
                <a:tc>
                  <a:txBody>
                    <a:bodyPr/>
                    <a:lstStyle/>
                    <a:p>
                      <a:pPr lvl="0">
                        <a:buNone/>
                      </a:pPr>
                      <a:r>
                        <a:rPr lang="en-US" sz="1050"/>
                        <a:t>Name2</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Zip Code</a:t>
                      </a:r>
                      <a:endParaRPr lang="en-US"/>
                    </a:p>
                  </a:txBody>
                  <a:tcPr/>
                </a:tc>
                <a:tc>
                  <a:txBody>
                    <a:bodyPr/>
                    <a:lstStyle/>
                    <a:p>
                      <a:pPr lvl="0" algn="ctr">
                        <a:buNone/>
                      </a:pPr>
                      <a:r>
                        <a:rPr lang="en-US" sz="1050"/>
                        <a:t>X</a:t>
                      </a:r>
                      <a:endParaRPr lang="en-US"/>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2045713161"/>
                  </a:ext>
                </a:extLst>
              </a:tr>
              <a:tr h="244230">
                <a:tc>
                  <a:txBody>
                    <a:bodyPr/>
                    <a:lstStyle/>
                    <a:p>
                      <a:pPr lvl="0">
                        <a:buNone/>
                      </a:pPr>
                      <a:r>
                        <a:rPr lang="en-US" sz="1050"/>
                        <a:t>Tax Identification</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r>
                        <a:rPr lang="en-US" sz="1050"/>
                        <a:t>X</a:t>
                      </a:r>
                    </a:p>
                  </a:txBody>
                  <a:tcPr anchor="ctr"/>
                </a:tc>
                <a:tc>
                  <a:txBody>
                    <a:bodyPr/>
                    <a:lstStyle/>
                    <a:p>
                      <a:pPr lvl="0">
                        <a:buNone/>
                      </a:pPr>
                      <a:r>
                        <a:rPr lang="en-US" sz="1050"/>
                        <a:t>Country</a:t>
                      </a:r>
                    </a:p>
                  </a:txBody>
                  <a:tcPr/>
                </a:tc>
                <a:tc>
                  <a:txBody>
                    <a:bodyPr/>
                    <a:lstStyle/>
                    <a:p>
                      <a:pPr lvl="0" algn="ctr">
                        <a:buNone/>
                      </a:pPr>
                      <a:r>
                        <a:rPr lang="en-US" sz="1050"/>
                        <a:t>X</a:t>
                      </a:r>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3815704308"/>
                  </a:ext>
                </a:extLst>
              </a:tr>
              <a:tr h="222269">
                <a:tc>
                  <a:txBody>
                    <a:bodyPr/>
                    <a:lstStyle/>
                    <a:p>
                      <a:r>
                        <a:rPr lang="en-US" sz="1050"/>
                        <a:t>Classification</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PMB</a:t>
                      </a:r>
                    </a:p>
                  </a:txBody>
                  <a:tcPr/>
                </a:tc>
                <a:tc>
                  <a:txBody>
                    <a:bodyPr/>
                    <a:lstStyle/>
                    <a:p>
                      <a:pPr lvl="0" algn="ctr">
                        <a:buNone/>
                      </a:pPr>
                      <a:r>
                        <a:rPr lang="en-US" sz="1050"/>
                        <a:t>X</a:t>
                      </a:r>
                    </a:p>
                  </a:txBody>
                  <a:tcPr anchor="ctr"/>
                </a:tc>
                <a:tc>
                  <a:txBody>
                    <a:bodyPr/>
                    <a:lstStyle/>
                    <a:p>
                      <a:pPr lvl="0" algn="ctr">
                        <a:buNone/>
                      </a:pPr>
                      <a:endParaRPr lang="en-US" sz="1050"/>
                    </a:p>
                  </a:txBody>
                  <a:tcPr anchor="ctr"/>
                </a:tc>
                <a:tc>
                  <a:txBody>
                    <a:bodyPr/>
                    <a:lstStyle/>
                    <a:p>
                      <a:pPr lvl="0" algn="ctr">
                        <a:buNone/>
                      </a:pPr>
                      <a:endParaRPr lang="en-US"/>
                    </a:p>
                  </a:txBody>
                  <a:tcPr anchor="ctr"/>
                </a:tc>
                <a:extLst>
                  <a:ext uri="{0D108BD9-81ED-4DB2-BD59-A6C34878D82A}">
                    <a16:rowId xmlns:a16="http://schemas.microsoft.com/office/drawing/2014/main" val="2729228727"/>
                  </a:ext>
                </a:extLst>
              </a:tr>
              <a:tr h="222269">
                <a:tc>
                  <a:txBody>
                    <a:bodyPr/>
                    <a:lstStyle/>
                    <a:p>
                      <a:r>
                        <a:rPr lang="en-US" sz="1050"/>
                        <a:t>CAM Zone</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C/O</a:t>
                      </a:r>
                    </a:p>
                  </a:txBody>
                  <a:tcPr/>
                </a:tc>
                <a:tc>
                  <a:txBody>
                    <a:bodyPr/>
                    <a:lstStyle/>
                    <a:p>
                      <a:pPr lvl="0" algn="ctr">
                        <a:buNone/>
                      </a:pPr>
                      <a:r>
                        <a:rPr lang="en-US" sz="1050"/>
                        <a:t>X</a:t>
                      </a:r>
                    </a:p>
                  </a:txBody>
                  <a:tcPr anchor="ctr"/>
                </a:tc>
                <a:tc>
                  <a:txBody>
                    <a:bodyPr/>
                    <a:lstStyle/>
                    <a:p>
                      <a:pPr lvl="0" algn="ctr">
                        <a:buNone/>
                      </a:pPr>
                      <a:endParaRPr lang="en-US" sz="1050"/>
                    </a:p>
                  </a:txBody>
                  <a:tcPr anchor="ctr"/>
                </a:tc>
                <a:tc>
                  <a:txBody>
                    <a:bodyPr/>
                    <a:lstStyle/>
                    <a:p>
                      <a:pPr lvl="0" algn="ctr">
                        <a:buNone/>
                      </a:pPr>
                      <a:endParaRPr lang="en-US"/>
                    </a:p>
                  </a:txBody>
                  <a:tcPr anchor="ctr"/>
                </a:tc>
                <a:extLst>
                  <a:ext uri="{0D108BD9-81ED-4DB2-BD59-A6C34878D82A}">
                    <a16:rowId xmlns:a16="http://schemas.microsoft.com/office/drawing/2014/main" val="2316147996"/>
                  </a:ext>
                </a:extLst>
              </a:tr>
              <a:tr h="222269">
                <a:tc>
                  <a:txBody>
                    <a:bodyPr/>
                    <a:lstStyle/>
                    <a:p>
                      <a:r>
                        <a:rPr lang="en-US" sz="1050"/>
                        <a:t>No auto credit transfer </a:t>
                      </a:r>
                    </a:p>
                  </a:txBody>
                  <a:tcPr/>
                </a:tc>
                <a:tc>
                  <a:txBody>
                    <a:bodyPr/>
                    <a:lstStyle/>
                    <a:p>
                      <a:pPr algn="ctr"/>
                      <a:r>
                        <a:rPr lang="en-US" sz="1050"/>
                        <a:t>X</a:t>
                      </a:r>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lvl="0">
                        <a:buNone/>
                      </a:pPr>
                      <a:r>
                        <a:rPr lang="en-US" sz="1050"/>
                        <a:t>Tax Jurisdiction Code</a:t>
                      </a:r>
                    </a:p>
                  </a:txBody>
                  <a:tcPr/>
                </a:tc>
                <a:tc>
                  <a:txBody>
                    <a:bodyPr/>
                    <a:lstStyle/>
                    <a:p>
                      <a:pPr lvl="0" algn="ctr">
                        <a:buNone/>
                      </a:pPr>
                      <a:r>
                        <a:rPr lang="en-US" sz="1050"/>
                        <a:t>X</a:t>
                      </a:r>
                    </a:p>
                  </a:txBody>
                  <a:tcPr anchor="ctr"/>
                </a:tc>
                <a:tc>
                  <a:txBody>
                    <a:bodyPr/>
                    <a:lstStyle/>
                    <a:p>
                      <a:pPr lvl="0" algn="ctr">
                        <a:buNone/>
                      </a:pPr>
                      <a:r>
                        <a:rPr lang="en-US" sz="1050"/>
                        <a:t>X</a:t>
                      </a:r>
                      <a:endParaRPr lang="en-US"/>
                    </a:p>
                  </a:txBody>
                  <a:tcPr anchor="ctr"/>
                </a:tc>
                <a:tc>
                  <a:txBody>
                    <a:bodyPr/>
                    <a:lstStyle/>
                    <a:p>
                      <a:pPr lvl="0" algn="ctr">
                        <a:buNone/>
                      </a:pPr>
                      <a:endParaRPr lang="en-US" sz="1050"/>
                    </a:p>
                  </a:txBody>
                  <a:tcPr anchor="ctr"/>
                </a:tc>
                <a:extLst>
                  <a:ext uri="{0D108BD9-81ED-4DB2-BD59-A6C34878D82A}">
                    <a16:rowId xmlns:a16="http://schemas.microsoft.com/office/drawing/2014/main" val="3573349906"/>
                  </a:ext>
                </a:extLst>
              </a:tr>
              <a:tr h="222269">
                <a:tc>
                  <a:txBody>
                    <a:bodyPr/>
                    <a:lstStyle/>
                    <a:p>
                      <a:r>
                        <a:rPr lang="en-US" sz="1050"/>
                        <a:t>BCC Dunning Hold</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Home Phone / Ext</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2970660839"/>
                  </a:ext>
                </a:extLst>
              </a:tr>
              <a:tr h="222269">
                <a:tc>
                  <a:txBody>
                    <a:bodyPr/>
                    <a:lstStyle/>
                    <a:p>
                      <a:r>
                        <a:rPr lang="en-US" sz="1050"/>
                        <a:t>BCC Shut-Off Notice Suppression</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Mobile Phone / Ext</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385980212"/>
                  </a:ext>
                </a:extLst>
              </a:tr>
              <a:tr h="222269">
                <a:tc>
                  <a:txBody>
                    <a:bodyPr/>
                    <a:lstStyle/>
                    <a:p>
                      <a:pPr lvl="0">
                        <a:buNone/>
                      </a:pPr>
                      <a:r>
                        <a:rPr lang="en-US" sz="1050"/>
                        <a:t>House</a:t>
                      </a:r>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lvl="0">
                        <a:buNone/>
                      </a:pPr>
                      <a:r>
                        <a:rPr lang="en-US" sz="1050"/>
                        <a:t>Address Independent E-Mail</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3242324598"/>
                  </a:ext>
                </a:extLst>
              </a:tr>
              <a:tr h="238835">
                <a:tc>
                  <a:txBody>
                    <a:bodyPr/>
                    <a:lstStyle/>
                    <a:p>
                      <a:pPr lvl="0">
                        <a:buNone/>
                      </a:pPr>
                      <a:r>
                        <a:rPr lang="en-US" sz="1050"/>
                        <a:t>Street</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Website</a:t>
                      </a:r>
                    </a:p>
                  </a:txBody>
                  <a:tcPr/>
                </a:tc>
                <a:tc>
                  <a:txBody>
                    <a:bodyPr/>
                    <a:lstStyle/>
                    <a:p>
                      <a:pPr lvl="0" algn="ctr">
                        <a:buNone/>
                      </a:pPr>
                      <a:r>
                        <a:rPr lang="en-US" sz="1050"/>
                        <a:t>X</a:t>
                      </a:r>
                    </a:p>
                  </a:txBody>
                  <a:tcPr anchor="ctr"/>
                </a:tc>
                <a:tc>
                  <a:txBody>
                    <a:bodyPr/>
                    <a:lstStyle/>
                    <a:p>
                      <a:pPr lvl="0" algn="ctr">
                        <a:buNone/>
                      </a:pPr>
                      <a:r>
                        <a:rPr lang="en-US" sz="1050"/>
                        <a:t>X</a:t>
                      </a:r>
                    </a:p>
                  </a:txBody>
                  <a:tcPr anchor="ctr"/>
                </a:tc>
                <a:tc>
                  <a:txBody>
                    <a:bodyPr/>
                    <a:lstStyle/>
                    <a:p>
                      <a:pPr lvl="0" algn="ctr">
                        <a:buNone/>
                      </a:pPr>
                      <a:endParaRPr lang="en-US" sz="1050"/>
                    </a:p>
                  </a:txBody>
                  <a:tcPr anchor="ctr"/>
                </a:tc>
                <a:extLst>
                  <a:ext uri="{0D108BD9-81ED-4DB2-BD59-A6C34878D82A}">
                    <a16:rowId xmlns:a16="http://schemas.microsoft.com/office/drawing/2014/main" val="1505038496"/>
                  </a:ext>
                </a:extLst>
              </a:tr>
              <a:tr h="222269">
                <a:tc>
                  <a:txBody>
                    <a:bodyPr/>
                    <a:lstStyle/>
                    <a:p>
                      <a:pPr lvl="0">
                        <a:buNone/>
                      </a:pPr>
                      <a:r>
                        <a:rPr lang="en-US" sz="1050"/>
                        <a:t>Apt</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VAPS Consent – Status</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404798835"/>
                  </a:ext>
                </a:extLst>
              </a:tr>
              <a:tr h="222269">
                <a:tc>
                  <a:txBody>
                    <a:bodyPr/>
                    <a:lstStyle/>
                    <a:p>
                      <a:pPr lvl="0">
                        <a:buNone/>
                      </a:pPr>
                      <a:r>
                        <a:rPr lang="en-US" sz="1050"/>
                        <a:t>Building</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050"/>
                        <a:t>VAPS Consent – Date / Time</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438671675"/>
                  </a:ext>
                </a:extLst>
              </a:tr>
              <a:tr h="238144">
                <a:tc>
                  <a:txBody>
                    <a:bodyPr/>
                    <a:lstStyle/>
                    <a:p>
                      <a:pPr lvl="0">
                        <a:buNone/>
                      </a:pPr>
                      <a:r>
                        <a:rPr lang="en-US" sz="1050"/>
                        <a:t>Room</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VAPS Consent – CC Updated By</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2634731640"/>
                  </a:ext>
                </a:extLst>
              </a:tr>
              <a:tr h="238143">
                <a:tc>
                  <a:txBody>
                    <a:bodyPr/>
                    <a:lstStyle/>
                    <a:p>
                      <a:pPr lvl="0">
                        <a:buNone/>
                      </a:pPr>
                      <a:r>
                        <a:rPr lang="en-US" sz="1050"/>
                        <a:t>Data Privacy - Status</a:t>
                      </a: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VAPS Consent – CC Source</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32371486"/>
                  </a:ext>
                </a:extLst>
              </a:tr>
              <a:tr h="238142">
                <a:tc>
                  <a:txBody>
                    <a:bodyPr/>
                    <a:lstStyle/>
                    <a:p>
                      <a:pPr lvl="0">
                        <a:buNone/>
                      </a:pPr>
                      <a:r>
                        <a:rPr lang="en-US" sz="1100" b="0" i="0" u="none" strike="noStrike" noProof="0">
                          <a:solidFill>
                            <a:srgbClr val="000000"/>
                          </a:solidFill>
                          <a:latin typeface="Aptos"/>
                        </a:rPr>
                        <a:t>Data Privacy – Date/Time</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r>
                        <a:rPr lang="en-US" sz="1100" b="0" i="0" u="none" strike="noStrike" noProof="0">
                          <a:solidFill>
                            <a:srgbClr val="000000"/>
                          </a:solidFill>
                          <a:latin typeface="Aptos"/>
                        </a:rPr>
                        <a:t>Data Privacy – DP Updated By</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4254770380"/>
                  </a:ext>
                </a:extLst>
              </a:tr>
              <a:tr h="238142">
                <a:tc>
                  <a:txBody>
                    <a:bodyPr/>
                    <a:lstStyle/>
                    <a:p>
                      <a:pPr lvl="0">
                        <a:buNone/>
                      </a:pPr>
                      <a:r>
                        <a:rPr lang="en-US" sz="1100" b="0" i="0" u="none" strike="noStrike" noProof="0">
                          <a:solidFill>
                            <a:srgbClr val="000000"/>
                          </a:solidFill>
                          <a:latin typeface="Aptos"/>
                        </a:rPr>
                        <a:t>Data Privacy – DP Source</a:t>
                      </a:r>
                      <a:endParaRPr lang="en-US"/>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buNone/>
                      </a:pPr>
                      <a:endParaRPr lang="en-US" sz="1100" b="0" i="0" u="none" strike="noStrike" noProof="0">
                        <a:solidFill>
                          <a:srgbClr val="000000"/>
                        </a:solidFill>
                        <a:latin typeface="Aptos"/>
                      </a:endParaRPr>
                    </a:p>
                  </a:txBody>
                  <a:tcPr/>
                </a:tc>
                <a:tc>
                  <a:txBody>
                    <a:bodyPr/>
                    <a:lstStyle/>
                    <a:p>
                      <a:pPr lvl="0" algn="ctr">
                        <a:buNone/>
                      </a:pPr>
                      <a:endParaRPr lang="en-US" sz="1050"/>
                    </a:p>
                  </a:txBody>
                  <a:tcPr anchor="ctr"/>
                </a:tc>
                <a:tc>
                  <a:txBody>
                    <a:bodyPr/>
                    <a:lstStyle/>
                    <a:p>
                      <a:pPr lvl="0" algn="ctr">
                        <a:buNone/>
                      </a:pPr>
                      <a:endParaRPr lang="en-US" sz="1050"/>
                    </a:p>
                  </a:txBody>
                  <a:tcPr anchor="ctr"/>
                </a:tc>
                <a:tc>
                  <a:txBody>
                    <a:bodyPr/>
                    <a:lstStyle/>
                    <a:p>
                      <a:pPr lvl="0" algn="ctr">
                        <a:buNone/>
                      </a:pPr>
                      <a:endParaRPr lang="en-US" sz="1050"/>
                    </a:p>
                  </a:txBody>
                  <a:tcPr anchor="ctr"/>
                </a:tc>
                <a:extLst>
                  <a:ext uri="{0D108BD9-81ED-4DB2-BD59-A6C34878D82A}">
                    <a16:rowId xmlns:a16="http://schemas.microsoft.com/office/drawing/2014/main" val="144362750"/>
                  </a:ext>
                </a:extLst>
              </a:tr>
            </a:tbl>
          </a:graphicData>
        </a:graphic>
      </p:graphicFrame>
    </p:spTree>
    <p:extLst>
      <p:ext uri="{BB962C8B-B14F-4D97-AF65-F5344CB8AC3E}">
        <p14:creationId xmlns:p14="http://schemas.microsoft.com/office/powerpoint/2010/main" val="6445644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F9F76-B084-C67C-7DD7-0A38F576FD3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FA007BE-A154-54BB-139B-68EEE949B120}"/>
              </a:ext>
            </a:extLst>
          </p:cNvPr>
          <p:cNvSpPr>
            <a:spLocks noGrp="1"/>
          </p:cNvSpPr>
          <p:nvPr>
            <p:ph type="title"/>
          </p:nvPr>
        </p:nvSpPr>
        <p:spPr>
          <a:xfrm>
            <a:off x="268904" y="4970926"/>
            <a:ext cx="7796828" cy="1887074"/>
          </a:xfrm>
        </p:spPr>
        <p:txBody>
          <a:bodyPr/>
          <a:lstStyle/>
          <a:p>
            <a:r>
              <a:rPr lang="en-US" sz="4250" b="1">
                <a:latin typeface="Montserrat"/>
              </a:rPr>
              <a:t>02</a:t>
            </a:r>
            <a:r>
              <a:rPr lang="en-US" sz="4250">
                <a:latin typeface="Montserrat"/>
              </a:rPr>
              <a:t> (L3) Manage Financial Details</a:t>
            </a:r>
            <a:endParaRPr lang="en-US" sz="4400"/>
          </a:p>
        </p:txBody>
      </p:sp>
    </p:spTree>
    <p:extLst>
      <p:ext uri="{BB962C8B-B14F-4D97-AF65-F5344CB8AC3E}">
        <p14:creationId xmlns:p14="http://schemas.microsoft.com/office/powerpoint/2010/main" val="12850564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7B2837-F98D-6C53-609E-B8803FE35D13}"/>
              </a:ext>
            </a:extLst>
          </p:cNvPr>
          <p:cNvSpPr>
            <a:spLocks noGrp="1"/>
          </p:cNvSpPr>
          <p:nvPr>
            <p:ph type="title"/>
          </p:nvPr>
        </p:nvSpPr>
        <p:spPr>
          <a:xfrm>
            <a:off x="404231" y="232966"/>
            <a:ext cx="11375136" cy="609600"/>
          </a:xfrm>
        </p:spPr>
        <p:txBody>
          <a:bodyPr/>
          <a:lstStyle/>
          <a:p>
            <a:r>
              <a:rPr lang="en-US" sz="4000">
                <a:latin typeface="Montserrat"/>
              </a:rPr>
              <a:t>Data Environments</a:t>
            </a:r>
            <a:endParaRPr lang="en-US" sz="3600"/>
          </a:p>
        </p:txBody>
      </p:sp>
      <p:pic>
        <p:nvPicPr>
          <p:cNvPr id="6" name="Content Placeholder 5" descr="A screenshot of a computer&#10;&#10;AI-generated content may be incorrect.">
            <a:extLst>
              <a:ext uri="{FF2B5EF4-FFF2-40B4-BE49-F238E27FC236}">
                <a16:creationId xmlns:a16="http://schemas.microsoft.com/office/drawing/2014/main" id="{0A1FA361-65CB-1ADB-FF20-C3B0CB926E53}"/>
              </a:ext>
            </a:extLst>
          </p:cNvPr>
          <p:cNvPicPr>
            <a:picLocks noGrp="1" noChangeAspect="1"/>
          </p:cNvPicPr>
          <p:nvPr>
            <p:ph idx="1"/>
          </p:nvPr>
        </p:nvPicPr>
        <p:blipFill>
          <a:blip r:embed="rId3"/>
          <a:stretch>
            <a:fillRect/>
          </a:stretch>
        </p:blipFill>
        <p:spPr>
          <a:xfrm>
            <a:off x="2435562" y="844626"/>
            <a:ext cx="9755981" cy="4874853"/>
          </a:xfrm>
          <a:prstGeom prst="rect">
            <a:avLst/>
          </a:prstGeom>
        </p:spPr>
      </p:pic>
      <p:sp>
        <p:nvSpPr>
          <p:cNvPr id="2" name="TextBox 1">
            <a:extLst>
              <a:ext uri="{FF2B5EF4-FFF2-40B4-BE49-F238E27FC236}">
                <a16:creationId xmlns:a16="http://schemas.microsoft.com/office/drawing/2014/main" id="{55CAA155-64DF-08E6-7717-48081511192C}"/>
              </a:ext>
            </a:extLst>
          </p:cNvPr>
          <p:cNvSpPr txBox="1"/>
          <p:nvPr/>
        </p:nvSpPr>
        <p:spPr>
          <a:xfrm>
            <a:off x="48" y="1818235"/>
            <a:ext cx="2403471" cy="323165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Aptos"/>
              </a:rPr>
              <a:t>Data environment</a:t>
            </a:r>
            <a:r>
              <a:rPr lang="en-US" sz="1200">
                <a:latin typeface="Aptos"/>
              </a:rPr>
              <a:t> can be found in the "Account Balance" work center. It can be used to access a hierarchy view on the customers business master data and technical master data environments. </a:t>
            </a:r>
          </a:p>
          <a:p>
            <a:br>
              <a:rPr lang="en-US" sz="1200">
                <a:latin typeface="Aptos"/>
              </a:rPr>
            </a:br>
            <a:r>
              <a:rPr lang="en-US" sz="1200">
                <a:latin typeface="Aptos"/>
              </a:rPr>
              <a:t>Users can see:</a:t>
            </a:r>
          </a:p>
          <a:p>
            <a:pPr marL="171450" indent="-171450">
              <a:buFont typeface="Calibri"/>
              <a:buChar char="-"/>
            </a:pPr>
            <a:r>
              <a:rPr lang="en-US" sz="1200">
                <a:latin typeface="Aptos"/>
              </a:rPr>
              <a:t>Open Amount</a:t>
            </a:r>
          </a:p>
          <a:p>
            <a:pPr marL="171450" indent="-171450">
              <a:buFont typeface="Calibri"/>
              <a:buChar char="-"/>
            </a:pPr>
            <a:r>
              <a:rPr lang="en-US" sz="1200">
                <a:latin typeface="Aptos"/>
              </a:rPr>
              <a:t>Amount Due</a:t>
            </a:r>
          </a:p>
          <a:p>
            <a:pPr marL="171450" indent="-171450">
              <a:buFont typeface="Calibri"/>
              <a:buChar char="-"/>
            </a:pPr>
            <a:r>
              <a:rPr lang="en-US" sz="1200" b="1">
                <a:latin typeface="Aptos"/>
              </a:rPr>
              <a:t>Risk Class</a:t>
            </a:r>
          </a:p>
          <a:p>
            <a:pPr marL="171450" indent="-171450">
              <a:buFont typeface="Calibri"/>
              <a:buChar char="-"/>
            </a:pPr>
            <a:r>
              <a:rPr lang="en-US" sz="1200">
                <a:latin typeface="Aptos"/>
              </a:rPr>
              <a:t>Last Dunning </a:t>
            </a:r>
          </a:p>
          <a:p>
            <a:pPr marL="171450" indent="-171450">
              <a:buFont typeface="Calibri"/>
              <a:buChar char="-"/>
            </a:pPr>
            <a:endParaRPr lang="en-US" sz="1200">
              <a:latin typeface="Aptos"/>
            </a:endParaRPr>
          </a:p>
          <a:p>
            <a:r>
              <a:rPr lang="en-US" sz="1200" b="1">
                <a:latin typeface="Aptos"/>
              </a:rPr>
              <a:t>Users can access </a:t>
            </a:r>
            <a:r>
              <a:rPr lang="en-US" sz="1200" b="1" u="sng">
                <a:latin typeface="Aptos"/>
              </a:rPr>
              <a:t>Notes History</a:t>
            </a:r>
            <a:r>
              <a:rPr lang="en-US" sz="1200" b="1">
                <a:latin typeface="Aptos"/>
              </a:rPr>
              <a:t> and launch to ECC Premise Environment</a:t>
            </a:r>
          </a:p>
        </p:txBody>
      </p:sp>
      <p:pic>
        <p:nvPicPr>
          <p:cNvPr id="4" name="Picture 3" descr="A screenshot of a computer screen&#10;&#10;AI-generated content may be incorrect.">
            <a:extLst>
              <a:ext uri="{FF2B5EF4-FFF2-40B4-BE49-F238E27FC236}">
                <a16:creationId xmlns:a16="http://schemas.microsoft.com/office/drawing/2014/main" id="{3A5ABBA7-BDBE-085D-800E-40FF66B04B12}"/>
              </a:ext>
            </a:extLst>
          </p:cNvPr>
          <p:cNvPicPr>
            <a:picLocks noChangeAspect="1"/>
          </p:cNvPicPr>
          <p:nvPr/>
        </p:nvPicPr>
        <p:blipFill>
          <a:blip r:embed="rId4"/>
          <a:stretch>
            <a:fillRect/>
          </a:stretch>
        </p:blipFill>
        <p:spPr>
          <a:xfrm>
            <a:off x="6931152" y="4819408"/>
            <a:ext cx="5065776" cy="1736320"/>
          </a:xfrm>
          <a:prstGeom prst="rect">
            <a:avLst/>
          </a:prstGeom>
        </p:spPr>
      </p:pic>
      <p:sp>
        <p:nvSpPr>
          <p:cNvPr id="7" name="Rectangle 6">
            <a:extLst>
              <a:ext uri="{FF2B5EF4-FFF2-40B4-BE49-F238E27FC236}">
                <a16:creationId xmlns:a16="http://schemas.microsoft.com/office/drawing/2014/main" id="{C3DF79ED-8F82-4280-29E4-22C77F80F7FB}"/>
              </a:ext>
            </a:extLst>
          </p:cNvPr>
          <p:cNvSpPr/>
          <p:nvPr/>
        </p:nvSpPr>
        <p:spPr>
          <a:xfrm>
            <a:off x="6970695" y="1779949"/>
            <a:ext cx="900912" cy="17937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8" name="Rectangle 7">
            <a:extLst>
              <a:ext uri="{FF2B5EF4-FFF2-40B4-BE49-F238E27FC236}">
                <a16:creationId xmlns:a16="http://schemas.microsoft.com/office/drawing/2014/main" id="{75BB86B8-712A-CF42-AC54-B4999793731F}"/>
              </a:ext>
            </a:extLst>
          </p:cNvPr>
          <p:cNvSpPr/>
          <p:nvPr/>
        </p:nvSpPr>
        <p:spPr>
          <a:xfrm>
            <a:off x="6934118" y="4815756"/>
            <a:ext cx="5082768" cy="1770430"/>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16050512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A13F-BB2C-226E-C3BC-60C667623D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12E59D0-7F5A-146A-10B7-F049D057546A}"/>
              </a:ext>
            </a:extLst>
          </p:cNvPr>
          <p:cNvSpPr>
            <a:spLocks noGrp="1"/>
          </p:cNvSpPr>
          <p:nvPr>
            <p:ph type="title"/>
          </p:nvPr>
        </p:nvSpPr>
        <p:spPr>
          <a:xfrm>
            <a:off x="404231" y="232966"/>
            <a:ext cx="11375136" cy="609600"/>
          </a:xfrm>
        </p:spPr>
        <p:txBody>
          <a:bodyPr/>
          <a:lstStyle/>
          <a:p>
            <a:r>
              <a:rPr lang="en-US" sz="4000">
                <a:latin typeface="Montserrat"/>
              </a:rPr>
              <a:t>Data Environments continued...</a:t>
            </a:r>
            <a:endParaRPr lang="en-US" sz="3600"/>
          </a:p>
        </p:txBody>
      </p:sp>
      <p:pic>
        <p:nvPicPr>
          <p:cNvPr id="8" name="Picture 7" descr="A screenshot of a computer&#10;&#10;AI-generated content may be incorrect.">
            <a:extLst>
              <a:ext uri="{FF2B5EF4-FFF2-40B4-BE49-F238E27FC236}">
                <a16:creationId xmlns:a16="http://schemas.microsoft.com/office/drawing/2014/main" id="{F5AE0EE6-F0E3-238B-95DC-E026AF5DA7FC}"/>
              </a:ext>
            </a:extLst>
          </p:cNvPr>
          <p:cNvPicPr>
            <a:picLocks noChangeAspect="1"/>
          </p:cNvPicPr>
          <p:nvPr/>
        </p:nvPicPr>
        <p:blipFill>
          <a:blip r:embed="rId2"/>
          <a:srcRect l="17193" t="45498" b="237"/>
          <a:stretch>
            <a:fillRect/>
          </a:stretch>
        </p:blipFill>
        <p:spPr>
          <a:xfrm>
            <a:off x="505753" y="4728762"/>
            <a:ext cx="4416906" cy="154842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160E2EDE-9088-537B-F2AB-AA97CBB100B4}"/>
              </a:ext>
            </a:extLst>
          </p:cNvPr>
          <p:cNvPicPr>
            <a:picLocks noChangeAspect="1"/>
          </p:cNvPicPr>
          <p:nvPr/>
        </p:nvPicPr>
        <p:blipFill>
          <a:blip r:embed="rId3"/>
          <a:srcRect l="15194" t="44533" r="-107" b="18091"/>
          <a:stretch>
            <a:fillRect/>
          </a:stretch>
        </p:blipFill>
        <p:spPr>
          <a:xfrm>
            <a:off x="6099372" y="1453715"/>
            <a:ext cx="5365236" cy="1267755"/>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6F7F1FDE-F022-A26C-9A30-EAB3792CA08E}"/>
              </a:ext>
            </a:extLst>
          </p:cNvPr>
          <p:cNvPicPr>
            <a:picLocks noChangeAspect="1"/>
          </p:cNvPicPr>
          <p:nvPr/>
        </p:nvPicPr>
        <p:blipFill>
          <a:blip r:embed="rId4"/>
          <a:srcRect l="17234" t="48511" r="-220" b="18936"/>
          <a:stretch>
            <a:fillRect/>
          </a:stretch>
        </p:blipFill>
        <p:spPr>
          <a:xfrm>
            <a:off x="6092629" y="3435258"/>
            <a:ext cx="5097976" cy="1031194"/>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5B5D842D-EE9D-4845-CA27-0DFC12F57C71}"/>
              </a:ext>
            </a:extLst>
          </p:cNvPr>
          <p:cNvPicPr>
            <a:picLocks noChangeAspect="1"/>
          </p:cNvPicPr>
          <p:nvPr/>
        </p:nvPicPr>
        <p:blipFill>
          <a:blip r:embed="rId5"/>
          <a:srcRect l="16584" t="46203" b="13291"/>
          <a:stretch>
            <a:fillRect/>
          </a:stretch>
        </p:blipFill>
        <p:spPr>
          <a:xfrm>
            <a:off x="6139832" y="5190220"/>
            <a:ext cx="4605720" cy="1160643"/>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089EB6D2-5DA5-73DF-C744-2412B9F5DD6F}"/>
              </a:ext>
            </a:extLst>
          </p:cNvPr>
          <p:cNvPicPr>
            <a:picLocks noChangeAspect="1"/>
          </p:cNvPicPr>
          <p:nvPr/>
        </p:nvPicPr>
        <p:blipFill>
          <a:blip r:embed="rId6"/>
          <a:srcRect l="17080" t="46445" b="-487"/>
          <a:stretch>
            <a:fillRect/>
          </a:stretch>
        </p:blipFill>
        <p:spPr>
          <a:xfrm>
            <a:off x="496943" y="2447798"/>
            <a:ext cx="4652210" cy="1542640"/>
          </a:xfrm>
          <a:prstGeom prst="rect">
            <a:avLst/>
          </a:prstGeom>
        </p:spPr>
      </p:pic>
      <p:sp>
        <p:nvSpPr>
          <p:cNvPr id="14" name="Content Placeholder 13">
            <a:extLst>
              <a:ext uri="{FF2B5EF4-FFF2-40B4-BE49-F238E27FC236}">
                <a16:creationId xmlns:a16="http://schemas.microsoft.com/office/drawing/2014/main" id="{B973C8B5-3220-4B06-F696-D6DB83138689}"/>
              </a:ext>
            </a:extLst>
          </p:cNvPr>
          <p:cNvSpPr>
            <a:spLocks noGrp="1"/>
          </p:cNvSpPr>
          <p:nvPr>
            <p:ph idx="1"/>
          </p:nvPr>
        </p:nvSpPr>
        <p:spPr>
          <a:xfrm>
            <a:off x="407785" y="841573"/>
            <a:ext cx="5110553" cy="1179854"/>
          </a:xfrm>
        </p:spPr>
        <p:txBody>
          <a:bodyPr vert="horz" lIns="0" tIns="45720" rIns="91440" bIns="45720" rtlCol="0" anchor="t">
            <a:normAutofit/>
          </a:bodyPr>
          <a:lstStyle/>
          <a:p>
            <a:r>
              <a:rPr lang="en-US" sz="1200">
                <a:latin typeface="Aptos"/>
              </a:rPr>
              <a:t>Within the Data environments screen, there are several display options in the bottom half of the screen that expand on the Business Data Environment Overview View:</a:t>
            </a:r>
            <a:r>
              <a:rPr lang="en-US" sz="1200" b="1">
                <a:latin typeface="Aptos"/>
              </a:rPr>
              <a:t> Service Location Environment, Technical Data Environment, Business Agreements, Contracts, and Quotations</a:t>
            </a:r>
          </a:p>
        </p:txBody>
      </p:sp>
      <p:sp>
        <p:nvSpPr>
          <p:cNvPr id="16" name="Content Placeholder 13">
            <a:extLst>
              <a:ext uri="{FF2B5EF4-FFF2-40B4-BE49-F238E27FC236}">
                <a16:creationId xmlns:a16="http://schemas.microsoft.com/office/drawing/2014/main" id="{0BADD208-1EC7-843D-DD51-667CCDBCF6C7}"/>
              </a:ext>
            </a:extLst>
          </p:cNvPr>
          <p:cNvSpPr txBox="1">
            <a:spLocks/>
          </p:cNvSpPr>
          <p:nvPr/>
        </p:nvSpPr>
        <p:spPr>
          <a:xfrm>
            <a:off x="519726" y="1816663"/>
            <a:ext cx="4854304" cy="593182"/>
          </a:xfrm>
          <a:prstGeom prst="rect">
            <a:avLst/>
          </a:prstGeom>
        </p:spPr>
        <p:txBody>
          <a:bodyPr vert="horz" lIns="0" tIns="45720" rIns="91440" bIns="45720" rtlCol="0" anchor="t">
            <a:noAutofit/>
          </a:bodyPr>
          <a:lstStyle>
            <a:lvl1pPr marL="0" indent="0" algn="l" defTabSz="609585" rtl="0" eaLnBrk="1" latinLnBrk="0" hangingPunct="1">
              <a:spcBef>
                <a:spcPct val="20000"/>
              </a:spcBef>
              <a:buClr>
                <a:schemeClr val="tx2"/>
              </a:buClr>
              <a:buFont typeface="Wingdings" charset="2"/>
              <a:buNone/>
              <a:defRPr sz="2133" b="0" i="0" kern="1200" baseline="0">
                <a:solidFill>
                  <a:schemeClr val="tx1"/>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chemeClr val="tx1"/>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chemeClr val="tx1"/>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1200" b="1">
                <a:latin typeface="Aptos"/>
              </a:rPr>
              <a:t>Service Location Environment</a:t>
            </a:r>
            <a:r>
              <a:rPr lang="en-US" sz="1200">
                <a:latin typeface="Aptos"/>
              </a:rPr>
              <a:t> displays the Premise Object details. All fields such as Premise, POD/Installation, Device Location, etc. are "clickable" links to expanded views.</a:t>
            </a:r>
          </a:p>
        </p:txBody>
      </p:sp>
      <p:sp>
        <p:nvSpPr>
          <p:cNvPr id="17" name="Content Placeholder 13">
            <a:extLst>
              <a:ext uri="{FF2B5EF4-FFF2-40B4-BE49-F238E27FC236}">
                <a16:creationId xmlns:a16="http://schemas.microsoft.com/office/drawing/2014/main" id="{00AFCBE6-C2FC-4A86-A7F4-D18E9CD61ECF}"/>
              </a:ext>
            </a:extLst>
          </p:cNvPr>
          <p:cNvSpPr txBox="1">
            <a:spLocks/>
          </p:cNvSpPr>
          <p:nvPr/>
        </p:nvSpPr>
        <p:spPr>
          <a:xfrm>
            <a:off x="519725" y="4102662"/>
            <a:ext cx="4638516" cy="478545"/>
          </a:xfrm>
          <a:prstGeom prst="rect">
            <a:avLst/>
          </a:prstGeom>
        </p:spPr>
        <p:txBody>
          <a:bodyPr vert="horz" lIns="0" tIns="45720" rIns="91440" bIns="45720" rtlCol="0" anchor="t">
            <a:noAutofit/>
          </a:bodyPr>
          <a:lstStyle>
            <a:lvl1pPr marL="0" indent="0" algn="l" defTabSz="609585" rtl="0" eaLnBrk="1" latinLnBrk="0" hangingPunct="1">
              <a:spcBef>
                <a:spcPct val="20000"/>
              </a:spcBef>
              <a:buClr>
                <a:schemeClr val="tx2"/>
              </a:buClr>
              <a:buFont typeface="Wingdings" charset="2"/>
              <a:buNone/>
              <a:defRPr sz="2133" b="0" i="0" kern="1200" baseline="0">
                <a:solidFill>
                  <a:schemeClr val="tx1"/>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chemeClr val="tx1"/>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chemeClr val="tx1"/>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1200" b="1">
                <a:latin typeface="Aptos"/>
              </a:rPr>
              <a:t>Technical Data Environment</a:t>
            </a:r>
            <a:r>
              <a:rPr lang="en-US" sz="1200">
                <a:latin typeface="Aptos"/>
              </a:rPr>
              <a:t> displays the Connection Object Details.  All fields such as Premise, Device Location, Register etc. are all "clickable" links to expanded views</a:t>
            </a:r>
          </a:p>
        </p:txBody>
      </p:sp>
      <p:sp>
        <p:nvSpPr>
          <p:cNvPr id="18" name="Content Placeholder 13">
            <a:extLst>
              <a:ext uri="{FF2B5EF4-FFF2-40B4-BE49-F238E27FC236}">
                <a16:creationId xmlns:a16="http://schemas.microsoft.com/office/drawing/2014/main" id="{B0C91563-1735-CB33-E5FE-DC3E724DFE1E}"/>
              </a:ext>
            </a:extLst>
          </p:cNvPr>
          <p:cNvSpPr txBox="1">
            <a:spLocks/>
          </p:cNvSpPr>
          <p:nvPr/>
        </p:nvSpPr>
        <p:spPr>
          <a:xfrm>
            <a:off x="6133089" y="844550"/>
            <a:ext cx="4638517" cy="788739"/>
          </a:xfrm>
          <a:prstGeom prst="rect">
            <a:avLst/>
          </a:prstGeom>
        </p:spPr>
        <p:txBody>
          <a:bodyPr vert="horz" lIns="0" tIns="45720" rIns="91440" bIns="45720" rtlCol="0" anchor="t">
            <a:normAutofit/>
          </a:bodyPr>
          <a:lstStyle>
            <a:lvl1pPr marL="0" indent="0" algn="l" defTabSz="609585" rtl="0" eaLnBrk="1" latinLnBrk="0" hangingPunct="1">
              <a:spcBef>
                <a:spcPct val="20000"/>
              </a:spcBef>
              <a:buClr>
                <a:schemeClr val="tx2"/>
              </a:buClr>
              <a:buFont typeface="Wingdings" charset="2"/>
              <a:buNone/>
              <a:defRPr sz="2133" b="0" i="0" kern="1200" baseline="0">
                <a:solidFill>
                  <a:schemeClr val="tx1"/>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chemeClr val="tx1"/>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chemeClr val="tx1"/>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1200" b="1">
                <a:latin typeface="Aptos"/>
              </a:rPr>
              <a:t>Business Agreements </a:t>
            </a:r>
            <a:r>
              <a:rPr lang="en-US" sz="1200">
                <a:latin typeface="Aptos"/>
              </a:rPr>
              <a:t>displays the business agreements associated with the customer. User can click into the Business Agreement # for more details. All columns have an option to filter</a:t>
            </a:r>
          </a:p>
        </p:txBody>
      </p:sp>
      <p:sp>
        <p:nvSpPr>
          <p:cNvPr id="19" name="Content Placeholder 13">
            <a:extLst>
              <a:ext uri="{FF2B5EF4-FFF2-40B4-BE49-F238E27FC236}">
                <a16:creationId xmlns:a16="http://schemas.microsoft.com/office/drawing/2014/main" id="{B6E1301C-CEC9-062B-D352-061E435EB5D0}"/>
              </a:ext>
            </a:extLst>
          </p:cNvPr>
          <p:cNvSpPr txBox="1">
            <a:spLocks/>
          </p:cNvSpPr>
          <p:nvPr/>
        </p:nvSpPr>
        <p:spPr>
          <a:xfrm>
            <a:off x="6133089" y="2868625"/>
            <a:ext cx="5110552" cy="620155"/>
          </a:xfrm>
          <a:prstGeom prst="rect">
            <a:avLst/>
          </a:prstGeom>
        </p:spPr>
        <p:txBody>
          <a:bodyPr vert="horz" lIns="0" tIns="45720" rIns="91440" bIns="45720" rtlCol="0" anchor="t">
            <a:normAutofit/>
          </a:bodyPr>
          <a:lstStyle>
            <a:lvl1pPr marL="0" indent="0" algn="l" defTabSz="609585" rtl="0" eaLnBrk="1" latinLnBrk="0" hangingPunct="1">
              <a:spcBef>
                <a:spcPct val="20000"/>
              </a:spcBef>
              <a:buClr>
                <a:schemeClr val="tx2"/>
              </a:buClr>
              <a:buFont typeface="Wingdings" charset="2"/>
              <a:buNone/>
              <a:defRPr sz="2133" b="0" i="0" kern="1200" baseline="0">
                <a:solidFill>
                  <a:schemeClr val="tx1"/>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chemeClr val="tx1"/>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chemeClr val="tx1"/>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1200" b="1">
                <a:latin typeface="Aptos"/>
              </a:rPr>
              <a:t>Contracts </a:t>
            </a:r>
            <a:r>
              <a:rPr lang="en-US" sz="1200">
                <a:latin typeface="Aptos"/>
              </a:rPr>
              <a:t>displays the all contracts associated with the customer. User can click into the Contract # for more details. All columns have an option to filter</a:t>
            </a:r>
          </a:p>
        </p:txBody>
      </p:sp>
      <p:sp>
        <p:nvSpPr>
          <p:cNvPr id="20" name="Content Placeholder 13">
            <a:extLst>
              <a:ext uri="{FF2B5EF4-FFF2-40B4-BE49-F238E27FC236}">
                <a16:creationId xmlns:a16="http://schemas.microsoft.com/office/drawing/2014/main" id="{540B7A1F-7B09-C0A0-0DE0-15BF98342399}"/>
              </a:ext>
            </a:extLst>
          </p:cNvPr>
          <p:cNvSpPr txBox="1">
            <a:spLocks/>
          </p:cNvSpPr>
          <p:nvPr/>
        </p:nvSpPr>
        <p:spPr>
          <a:xfrm>
            <a:off x="6139832" y="4669104"/>
            <a:ext cx="5730941" cy="519005"/>
          </a:xfrm>
          <a:prstGeom prst="rect">
            <a:avLst/>
          </a:prstGeom>
        </p:spPr>
        <p:txBody>
          <a:bodyPr vert="horz" lIns="0" tIns="45720" rIns="91440" bIns="45720" rtlCol="0" anchor="t">
            <a:normAutofit/>
          </a:bodyPr>
          <a:lstStyle>
            <a:lvl1pPr marL="0" indent="0" algn="l" defTabSz="609585" rtl="0" eaLnBrk="1" latinLnBrk="0" hangingPunct="1">
              <a:spcBef>
                <a:spcPct val="20000"/>
              </a:spcBef>
              <a:buClr>
                <a:schemeClr val="tx2"/>
              </a:buClr>
              <a:buFont typeface="Wingdings" charset="2"/>
              <a:buNone/>
              <a:defRPr sz="2133" b="0" i="0" kern="1200" baseline="0">
                <a:solidFill>
                  <a:schemeClr val="tx1"/>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chemeClr val="tx1"/>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chemeClr val="tx1"/>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chemeClr val="tx1"/>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1200" b="1">
                <a:latin typeface="Aptos"/>
              </a:rPr>
              <a:t>Quotations </a:t>
            </a:r>
            <a:r>
              <a:rPr lang="en-US" sz="1200">
                <a:latin typeface="Aptos"/>
              </a:rPr>
              <a:t>displays the all quotes associated with the customer. All columns have an option to filter</a:t>
            </a:r>
          </a:p>
        </p:txBody>
      </p:sp>
      <p:sp>
        <p:nvSpPr>
          <p:cNvPr id="22" name="Rectangle 21">
            <a:extLst>
              <a:ext uri="{FF2B5EF4-FFF2-40B4-BE49-F238E27FC236}">
                <a16:creationId xmlns:a16="http://schemas.microsoft.com/office/drawing/2014/main" id="{4786570E-CA6E-F205-70D2-FA3FECD2F322}"/>
              </a:ext>
            </a:extLst>
          </p:cNvPr>
          <p:cNvSpPr/>
          <p:nvPr/>
        </p:nvSpPr>
        <p:spPr>
          <a:xfrm>
            <a:off x="1275845" y="2452560"/>
            <a:ext cx="900912" cy="17937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23" name="Rectangle 22">
            <a:extLst>
              <a:ext uri="{FF2B5EF4-FFF2-40B4-BE49-F238E27FC236}">
                <a16:creationId xmlns:a16="http://schemas.microsoft.com/office/drawing/2014/main" id="{5CC70DFB-CB3A-0F6D-46BB-9639F2D91CF6}"/>
              </a:ext>
            </a:extLst>
          </p:cNvPr>
          <p:cNvSpPr/>
          <p:nvPr/>
        </p:nvSpPr>
        <p:spPr>
          <a:xfrm>
            <a:off x="1950181" y="4765533"/>
            <a:ext cx="900912" cy="17937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24" name="Rectangle 23">
            <a:extLst>
              <a:ext uri="{FF2B5EF4-FFF2-40B4-BE49-F238E27FC236}">
                <a16:creationId xmlns:a16="http://schemas.microsoft.com/office/drawing/2014/main" id="{87D5D5D8-3BD4-99F8-95B0-B579EB976CF4}"/>
              </a:ext>
            </a:extLst>
          </p:cNvPr>
          <p:cNvSpPr/>
          <p:nvPr/>
        </p:nvSpPr>
        <p:spPr>
          <a:xfrm>
            <a:off x="8781207" y="1542205"/>
            <a:ext cx="900912" cy="17937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25" name="Rectangle 24">
            <a:extLst>
              <a:ext uri="{FF2B5EF4-FFF2-40B4-BE49-F238E27FC236}">
                <a16:creationId xmlns:a16="http://schemas.microsoft.com/office/drawing/2014/main" id="{AF8B45C4-9571-7DD5-059E-F94E64C06D13}"/>
              </a:ext>
            </a:extLst>
          </p:cNvPr>
          <p:cNvSpPr/>
          <p:nvPr/>
        </p:nvSpPr>
        <p:spPr>
          <a:xfrm>
            <a:off x="9367879" y="3430346"/>
            <a:ext cx="422134" cy="186117"/>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26" name="Rectangle 25">
            <a:extLst>
              <a:ext uri="{FF2B5EF4-FFF2-40B4-BE49-F238E27FC236}">
                <a16:creationId xmlns:a16="http://schemas.microsoft.com/office/drawing/2014/main" id="{C1533868-28D8-33EF-2F27-6EB635302062}"/>
              </a:ext>
            </a:extLst>
          </p:cNvPr>
          <p:cNvSpPr/>
          <p:nvPr/>
        </p:nvSpPr>
        <p:spPr>
          <a:xfrm>
            <a:off x="9556693" y="5190364"/>
            <a:ext cx="361444" cy="19960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12511742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E1349-E6BD-C526-C250-C33E5A2970A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D6A530-BD8D-527E-8E76-7CA3998EE21E}"/>
              </a:ext>
            </a:extLst>
          </p:cNvPr>
          <p:cNvSpPr>
            <a:spLocks noGrp="1"/>
          </p:cNvSpPr>
          <p:nvPr>
            <p:ph type="title"/>
          </p:nvPr>
        </p:nvSpPr>
        <p:spPr>
          <a:xfrm>
            <a:off x="2636" y="129993"/>
            <a:ext cx="11375136" cy="609600"/>
          </a:xfrm>
        </p:spPr>
        <p:txBody>
          <a:bodyPr/>
          <a:lstStyle/>
          <a:p>
            <a:r>
              <a:rPr lang="en-US" sz="4000">
                <a:latin typeface="Montserrat"/>
              </a:rPr>
              <a:t>Notes History</a:t>
            </a:r>
            <a:endParaRPr lang="en-US" sz="3600"/>
          </a:p>
        </p:txBody>
      </p:sp>
      <p:sp>
        <p:nvSpPr>
          <p:cNvPr id="2" name="TextBox 1">
            <a:extLst>
              <a:ext uri="{FF2B5EF4-FFF2-40B4-BE49-F238E27FC236}">
                <a16:creationId xmlns:a16="http://schemas.microsoft.com/office/drawing/2014/main" id="{638CAFDB-E1FE-DB03-7E07-852C48B4087B}"/>
              </a:ext>
            </a:extLst>
          </p:cNvPr>
          <p:cNvSpPr txBox="1"/>
          <p:nvPr/>
        </p:nvSpPr>
        <p:spPr>
          <a:xfrm>
            <a:off x="-2423" y="738377"/>
            <a:ext cx="12196118" cy="43088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Aptos"/>
              </a:rPr>
              <a:t>Notes History</a:t>
            </a:r>
            <a:r>
              <a:rPr lang="en-US" sz="1200">
                <a:latin typeface="Aptos"/>
              </a:rPr>
              <a:t> returns all related interactions, notes, and correspondence tied to the customer. This will be discussed in detail in the Manage Contact History workshops.</a:t>
            </a:r>
          </a:p>
          <a:p>
            <a:endParaRPr lang="en-US" sz="1000">
              <a:latin typeface="Montserrat" pitchFamily="2" charset="77"/>
            </a:endParaRPr>
          </a:p>
        </p:txBody>
      </p:sp>
      <p:pic>
        <p:nvPicPr>
          <p:cNvPr id="7" name="Content Placeholder 6" descr="A screenshot of a computer&#10;&#10;AI-generated content may be incorrect.">
            <a:extLst>
              <a:ext uri="{FF2B5EF4-FFF2-40B4-BE49-F238E27FC236}">
                <a16:creationId xmlns:a16="http://schemas.microsoft.com/office/drawing/2014/main" id="{DA50C27F-53D7-A5D7-0C7B-0580B13457E3}"/>
              </a:ext>
            </a:extLst>
          </p:cNvPr>
          <p:cNvPicPr>
            <a:picLocks noGrp="1" noChangeAspect="1"/>
          </p:cNvPicPr>
          <p:nvPr>
            <p:ph idx="1"/>
          </p:nvPr>
        </p:nvPicPr>
        <p:blipFill>
          <a:blip r:embed="rId2"/>
          <a:stretch>
            <a:fillRect/>
          </a:stretch>
        </p:blipFill>
        <p:spPr>
          <a:xfrm>
            <a:off x="679636" y="1173491"/>
            <a:ext cx="10826334" cy="4895447"/>
          </a:xfrm>
          <a:prstGeom prst="rect">
            <a:avLst/>
          </a:prstGeom>
        </p:spPr>
      </p:pic>
    </p:spTree>
    <p:extLst>
      <p:ext uri="{BB962C8B-B14F-4D97-AF65-F5344CB8AC3E}">
        <p14:creationId xmlns:p14="http://schemas.microsoft.com/office/powerpoint/2010/main" val="7186091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971004-3913-1C9C-B604-13123B40E411}"/>
              </a:ext>
            </a:extLst>
          </p:cNvPr>
          <p:cNvSpPr>
            <a:spLocks noGrp="1"/>
          </p:cNvSpPr>
          <p:nvPr>
            <p:ph type="title"/>
          </p:nvPr>
        </p:nvSpPr>
        <p:spPr>
          <a:xfrm>
            <a:off x="2636" y="109398"/>
            <a:ext cx="11375136" cy="609600"/>
          </a:xfrm>
        </p:spPr>
        <p:txBody>
          <a:bodyPr/>
          <a:lstStyle/>
          <a:p>
            <a:r>
              <a:rPr lang="en-US" sz="4000">
                <a:latin typeface="Montserrat"/>
              </a:rPr>
              <a:t>Account History</a:t>
            </a:r>
            <a:endParaRPr lang="en-US" sz="3600"/>
          </a:p>
        </p:txBody>
      </p:sp>
      <p:sp>
        <p:nvSpPr>
          <p:cNvPr id="2" name="TextBox 1">
            <a:extLst>
              <a:ext uri="{FF2B5EF4-FFF2-40B4-BE49-F238E27FC236}">
                <a16:creationId xmlns:a16="http://schemas.microsoft.com/office/drawing/2014/main" id="{868A1537-B78E-A47B-C729-932578EFEE1A}"/>
              </a:ext>
            </a:extLst>
          </p:cNvPr>
          <p:cNvSpPr txBox="1"/>
          <p:nvPr/>
        </p:nvSpPr>
        <p:spPr>
          <a:xfrm>
            <a:off x="5676" y="717585"/>
            <a:ext cx="1845677" cy="6075509"/>
          </a:xfrm>
          <a:prstGeom prst="rect">
            <a:avLst/>
          </a:prstGeom>
          <a:solidFill>
            <a:schemeClr val="bg1"/>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b="1">
                <a:latin typeface="Aptos"/>
              </a:rPr>
              <a:t>Account History</a:t>
            </a:r>
            <a:r>
              <a:rPr lang="en-US" sz="1200">
                <a:latin typeface="Aptos"/>
              </a:rPr>
              <a:t> can be found in the "Account Balance" work center. This screen offers a view of the customers financial transactions tied to the business agreement. </a:t>
            </a:r>
          </a:p>
          <a:p>
            <a:pPr>
              <a:spcBef>
                <a:spcPct val="20000"/>
              </a:spcBef>
            </a:pPr>
            <a:endParaRPr lang="en-US" sz="1200">
              <a:latin typeface="Aptos"/>
            </a:endParaRPr>
          </a:p>
          <a:p>
            <a:pPr>
              <a:spcBef>
                <a:spcPct val="20000"/>
              </a:spcBef>
            </a:pPr>
            <a:r>
              <a:rPr lang="en-US" sz="1200" b="1">
                <a:latin typeface="Aptos"/>
              </a:rPr>
              <a:t>A user can double click into the Document Number</a:t>
            </a:r>
            <a:r>
              <a:rPr lang="en-US" sz="1200">
                <a:latin typeface="Aptos"/>
              </a:rPr>
              <a:t>. One can view more details such as:</a:t>
            </a:r>
            <a:endParaRPr lang="en-US" sz="1200">
              <a:latin typeface="Montserrat"/>
            </a:endParaRPr>
          </a:p>
          <a:p>
            <a:pPr marL="285750" indent="-285750">
              <a:spcBef>
                <a:spcPct val="20000"/>
              </a:spcBef>
              <a:buFont typeface="Arial"/>
              <a:buChar char="•"/>
            </a:pPr>
            <a:r>
              <a:rPr lang="en-US" sz="1200">
                <a:latin typeface="Aptos"/>
              </a:rPr>
              <a:t>Main / Sub ID and Text</a:t>
            </a:r>
            <a:endParaRPr lang="en-US" sz="1200">
              <a:latin typeface="Montserrat"/>
            </a:endParaRPr>
          </a:p>
          <a:p>
            <a:pPr marL="285750" indent="-285750">
              <a:spcBef>
                <a:spcPct val="20000"/>
              </a:spcBef>
              <a:buFont typeface="Arial"/>
              <a:buChar char="•"/>
            </a:pPr>
            <a:r>
              <a:rPr lang="en-US" sz="1200">
                <a:latin typeface="Aptos"/>
              </a:rPr>
              <a:t>Payment Method</a:t>
            </a:r>
          </a:p>
          <a:p>
            <a:pPr marL="285750" indent="-285750">
              <a:spcBef>
                <a:spcPct val="20000"/>
              </a:spcBef>
              <a:buFont typeface="Arial"/>
              <a:buChar char="•"/>
            </a:pPr>
            <a:r>
              <a:rPr lang="en-US" sz="1200">
                <a:latin typeface="Aptos"/>
              </a:rPr>
              <a:t>Clearing Date/Reason</a:t>
            </a:r>
          </a:p>
          <a:p>
            <a:pPr>
              <a:spcBef>
                <a:spcPct val="20000"/>
              </a:spcBef>
            </a:pPr>
            <a:r>
              <a:rPr lang="en-US" sz="1200">
                <a:latin typeface="Aptos"/>
              </a:rPr>
              <a:t>From the Document Display, a user can:</a:t>
            </a:r>
            <a:endParaRPr lang="en-US" sz="1200"/>
          </a:p>
          <a:p>
            <a:pPr marL="171450" indent="-171450">
              <a:spcBef>
                <a:spcPct val="20000"/>
              </a:spcBef>
              <a:buFont typeface="Arial"/>
              <a:buChar char="•"/>
            </a:pPr>
            <a:r>
              <a:rPr lang="en-US" sz="1200">
                <a:latin typeface="Aptos"/>
              </a:rPr>
              <a:t>Place a lock</a:t>
            </a:r>
          </a:p>
          <a:p>
            <a:pPr marL="171450" indent="-171450">
              <a:spcBef>
                <a:spcPct val="20000"/>
              </a:spcBef>
              <a:buFont typeface="Arial"/>
              <a:buChar char="•"/>
            </a:pPr>
            <a:r>
              <a:rPr lang="en-US" sz="1200">
                <a:latin typeface="Aptos"/>
              </a:rPr>
              <a:t>Whole/Partial Clearing Reset</a:t>
            </a:r>
          </a:p>
          <a:p>
            <a:pPr marL="171450" indent="-171450">
              <a:spcBef>
                <a:spcPct val="20000"/>
              </a:spcBef>
              <a:buFont typeface="Arial"/>
              <a:buChar char="•"/>
            </a:pPr>
            <a:r>
              <a:rPr lang="en-US" sz="1200">
                <a:latin typeface="Aptos"/>
              </a:rPr>
              <a:t>Reverse line item</a:t>
            </a:r>
          </a:p>
          <a:p>
            <a:pPr marL="171450" indent="-171450">
              <a:spcBef>
                <a:spcPct val="20000"/>
              </a:spcBef>
              <a:buFont typeface="Arial"/>
              <a:buChar char="•"/>
            </a:pPr>
            <a:r>
              <a:rPr lang="en-US" sz="1200">
                <a:latin typeface="Aptos"/>
              </a:rPr>
              <a:t>Launch to ECC FPL9</a:t>
            </a:r>
          </a:p>
          <a:p>
            <a:pPr marL="285750" indent="-285750">
              <a:spcBef>
                <a:spcPct val="20000"/>
              </a:spcBef>
              <a:buFont typeface="Arial"/>
              <a:buChar char="•"/>
            </a:pPr>
            <a:endParaRPr lang="en-US" sz="1200">
              <a:latin typeface="Aptos"/>
            </a:endParaRPr>
          </a:p>
          <a:p>
            <a:pPr>
              <a:spcBef>
                <a:spcPct val="20000"/>
              </a:spcBef>
            </a:pPr>
            <a:r>
              <a:rPr lang="en-US" sz="1200">
                <a:latin typeface="Aptos"/>
              </a:rPr>
              <a:t>When a user clicks on "Without Reversal" it switches the view to "With Reversal"</a:t>
            </a:r>
          </a:p>
        </p:txBody>
      </p:sp>
      <p:pic>
        <p:nvPicPr>
          <p:cNvPr id="5" name="Picture 4" descr="A screenshot of a computer&#10;&#10;AI-generated content may be incorrect.">
            <a:extLst>
              <a:ext uri="{FF2B5EF4-FFF2-40B4-BE49-F238E27FC236}">
                <a16:creationId xmlns:a16="http://schemas.microsoft.com/office/drawing/2014/main" id="{BB90FB67-9C45-3A5C-F0C7-F0E9B0A50D2E}"/>
              </a:ext>
            </a:extLst>
          </p:cNvPr>
          <p:cNvPicPr>
            <a:picLocks noChangeAspect="1"/>
          </p:cNvPicPr>
          <p:nvPr/>
        </p:nvPicPr>
        <p:blipFill>
          <a:blip r:embed="rId3"/>
          <a:stretch>
            <a:fillRect/>
          </a:stretch>
        </p:blipFill>
        <p:spPr>
          <a:xfrm>
            <a:off x="2388972" y="715866"/>
            <a:ext cx="9803027" cy="4849618"/>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E3B9559-AEAB-F234-F785-F47967AC3BF5}"/>
              </a:ext>
            </a:extLst>
          </p:cNvPr>
          <p:cNvPicPr>
            <a:picLocks noChangeAspect="1"/>
          </p:cNvPicPr>
          <p:nvPr/>
        </p:nvPicPr>
        <p:blipFill>
          <a:blip r:embed="rId4"/>
          <a:stretch>
            <a:fillRect/>
          </a:stretch>
        </p:blipFill>
        <p:spPr>
          <a:xfrm>
            <a:off x="1832918" y="3678865"/>
            <a:ext cx="10359082" cy="3021945"/>
          </a:xfrm>
          <a:prstGeom prst="rect">
            <a:avLst/>
          </a:prstGeom>
        </p:spPr>
      </p:pic>
    </p:spTree>
    <p:extLst>
      <p:ext uri="{BB962C8B-B14F-4D97-AF65-F5344CB8AC3E}">
        <p14:creationId xmlns:p14="http://schemas.microsoft.com/office/powerpoint/2010/main" val="26639695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865FF-DFB5-7E82-6FF2-9B79FE711E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ACDFFE-EE38-81A4-971D-4E04430DF326}"/>
              </a:ext>
            </a:extLst>
          </p:cNvPr>
          <p:cNvSpPr>
            <a:spLocks noGrp="1"/>
          </p:cNvSpPr>
          <p:nvPr>
            <p:ph type="title"/>
          </p:nvPr>
        </p:nvSpPr>
        <p:spPr>
          <a:xfrm>
            <a:off x="2636" y="109398"/>
            <a:ext cx="11375136" cy="609600"/>
          </a:xfrm>
        </p:spPr>
        <p:txBody>
          <a:bodyPr/>
          <a:lstStyle/>
          <a:p>
            <a:r>
              <a:rPr lang="en-US" sz="4000">
                <a:latin typeface="Montserrat"/>
              </a:rPr>
              <a:t>Account History Continued..</a:t>
            </a:r>
            <a:endParaRPr lang="en-US" sz="3600"/>
          </a:p>
        </p:txBody>
      </p:sp>
      <p:sp>
        <p:nvSpPr>
          <p:cNvPr id="2" name="TextBox 1">
            <a:extLst>
              <a:ext uri="{FF2B5EF4-FFF2-40B4-BE49-F238E27FC236}">
                <a16:creationId xmlns:a16="http://schemas.microsoft.com/office/drawing/2014/main" id="{5FEDC90A-B8A2-92FC-7E60-9D9D85789161}"/>
              </a:ext>
            </a:extLst>
          </p:cNvPr>
          <p:cNvSpPr txBox="1"/>
          <p:nvPr/>
        </p:nvSpPr>
        <p:spPr>
          <a:xfrm>
            <a:off x="275411" y="892639"/>
            <a:ext cx="4608177" cy="15696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ptos"/>
              </a:rPr>
              <a:t>The G/L Account Items displays where the money posts in the general ledger. A user can:</a:t>
            </a:r>
            <a:endParaRPr lang="en-US" sz="1200"/>
          </a:p>
          <a:p>
            <a:pPr marL="285750" indent="-285750">
              <a:spcBef>
                <a:spcPct val="20000"/>
              </a:spcBef>
              <a:buFont typeface="Arial"/>
              <a:buChar char="•"/>
            </a:pPr>
            <a:endParaRPr lang="en-US" sz="1200">
              <a:latin typeface="Aptos"/>
            </a:endParaRPr>
          </a:p>
          <a:p>
            <a:pPr marL="285750" indent="-285750">
              <a:spcBef>
                <a:spcPct val="20000"/>
              </a:spcBef>
              <a:buFont typeface="Arial"/>
              <a:buChar char="•"/>
            </a:pPr>
            <a:r>
              <a:rPr lang="en-US" sz="1200">
                <a:latin typeface="Aptos"/>
              </a:rPr>
              <a:t>Whole / Partial Clearing Reset</a:t>
            </a:r>
          </a:p>
          <a:p>
            <a:pPr marL="285750" indent="-285750">
              <a:spcBef>
                <a:spcPct val="20000"/>
              </a:spcBef>
              <a:buFont typeface="Arial"/>
              <a:buChar char="•"/>
            </a:pPr>
            <a:r>
              <a:rPr lang="en-US" sz="1200">
                <a:latin typeface="Aptos"/>
              </a:rPr>
              <a:t>View Interest Info</a:t>
            </a:r>
          </a:p>
          <a:p>
            <a:pPr marL="285750" indent="-285750">
              <a:spcBef>
                <a:spcPct val="20000"/>
              </a:spcBef>
              <a:buFont typeface="Arial"/>
              <a:buChar char="•"/>
            </a:pPr>
            <a:r>
              <a:rPr lang="en-US" sz="1200">
                <a:latin typeface="Aptos"/>
              </a:rPr>
              <a:t>Reverse</a:t>
            </a:r>
          </a:p>
          <a:p>
            <a:pPr marL="285750" indent="-285750">
              <a:spcBef>
                <a:spcPct val="20000"/>
              </a:spcBef>
              <a:buFont typeface="Arial"/>
              <a:buChar char="•"/>
            </a:pPr>
            <a:r>
              <a:rPr lang="en-US" sz="1200">
                <a:latin typeface="Aptos"/>
              </a:rPr>
              <a:t>Launch to ECC FPL9</a:t>
            </a:r>
          </a:p>
        </p:txBody>
      </p:sp>
      <p:pic>
        <p:nvPicPr>
          <p:cNvPr id="4" name="Picture 3" descr="A screenshot of a computer&#10;&#10;AI-generated content may be incorrect.">
            <a:extLst>
              <a:ext uri="{FF2B5EF4-FFF2-40B4-BE49-F238E27FC236}">
                <a16:creationId xmlns:a16="http://schemas.microsoft.com/office/drawing/2014/main" id="{AAE42513-1ADB-B9B2-7616-FF53D55EFD94}"/>
              </a:ext>
            </a:extLst>
          </p:cNvPr>
          <p:cNvPicPr>
            <a:picLocks noChangeAspect="1"/>
          </p:cNvPicPr>
          <p:nvPr/>
        </p:nvPicPr>
        <p:blipFill>
          <a:blip r:embed="rId3"/>
          <a:stretch>
            <a:fillRect/>
          </a:stretch>
        </p:blipFill>
        <p:spPr>
          <a:xfrm>
            <a:off x="4915911" y="891206"/>
            <a:ext cx="6831026" cy="2193072"/>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9FA7BACE-6D01-7B21-B6C7-0582D0F1C433}"/>
              </a:ext>
            </a:extLst>
          </p:cNvPr>
          <p:cNvPicPr>
            <a:picLocks noChangeAspect="1"/>
          </p:cNvPicPr>
          <p:nvPr/>
        </p:nvPicPr>
        <p:blipFill>
          <a:blip r:embed="rId4"/>
          <a:stretch>
            <a:fillRect/>
          </a:stretch>
        </p:blipFill>
        <p:spPr>
          <a:xfrm>
            <a:off x="108897" y="3843716"/>
            <a:ext cx="4772293" cy="2899647"/>
          </a:xfrm>
          <a:prstGeom prst="rect">
            <a:avLst/>
          </a:prstGeom>
        </p:spPr>
      </p:pic>
      <p:sp>
        <p:nvSpPr>
          <p:cNvPr id="6" name="TextBox 5">
            <a:extLst>
              <a:ext uri="{FF2B5EF4-FFF2-40B4-BE49-F238E27FC236}">
                <a16:creationId xmlns:a16="http://schemas.microsoft.com/office/drawing/2014/main" id="{64B44F67-3E5E-48EC-B4E7-5E1157506D32}"/>
              </a:ext>
            </a:extLst>
          </p:cNvPr>
          <p:cNvSpPr txBox="1"/>
          <p:nvPr/>
        </p:nvSpPr>
        <p:spPr>
          <a:xfrm>
            <a:off x="256824" y="3074528"/>
            <a:ext cx="4480054" cy="646331"/>
          </a:xfrm>
          <a:prstGeom prst="rect">
            <a:avLst/>
          </a:prstGeom>
          <a:solidFill>
            <a:schemeClr val="bg1"/>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ptos"/>
              </a:rPr>
              <a:t>The "More Fields" link on the Account History Overview screen takes the user to a more detailed view. The user has the option to reset the customer's clearing restriction here</a:t>
            </a:r>
          </a:p>
        </p:txBody>
      </p:sp>
      <p:pic>
        <p:nvPicPr>
          <p:cNvPr id="7" name="Picture 6" descr="A screenshot of a computer&#10;&#10;AI-generated content may be incorrect.">
            <a:extLst>
              <a:ext uri="{FF2B5EF4-FFF2-40B4-BE49-F238E27FC236}">
                <a16:creationId xmlns:a16="http://schemas.microsoft.com/office/drawing/2014/main" id="{F9318B85-C647-DFAD-21CC-629F8DDB85AF}"/>
              </a:ext>
            </a:extLst>
          </p:cNvPr>
          <p:cNvPicPr>
            <a:picLocks noChangeAspect="1"/>
          </p:cNvPicPr>
          <p:nvPr/>
        </p:nvPicPr>
        <p:blipFill>
          <a:blip r:embed="rId5"/>
          <a:stretch>
            <a:fillRect/>
          </a:stretch>
        </p:blipFill>
        <p:spPr>
          <a:xfrm>
            <a:off x="4915912" y="3715015"/>
            <a:ext cx="7168195" cy="3028925"/>
          </a:xfrm>
          <a:prstGeom prst="rect">
            <a:avLst/>
          </a:prstGeom>
        </p:spPr>
      </p:pic>
      <p:sp>
        <p:nvSpPr>
          <p:cNvPr id="8" name="TextBox 7">
            <a:extLst>
              <a:ext uri="{FF2B5EF4-FFF2-40B4-BE49-F238E27FC236}">
                <a16:creationId xmlns:a16="http://schemas.microsoft.com/office/drawing/2014/main" id="{F8D6A8D3-B5CB-D32D-99AB-BF08758F5973}"/>
              </a:ext>
            </a:extLst>
          </p:cNvPr>
          <p:cNvSpPr txBox="1"/>
          <p:nvPr/>
        </p:nvSpPr>
        <p:spPr>
          <a:xfrm>
            <a:off x="4914843" y="3407913"/>
            <a:ext cx="6745823" cy="27699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b="1">
                <a:latin typeface="Aptos"/>
              </a:rPr>
              <a:t>ECC FPL9 View</a:t>
            </a:r>
            <a:endParaRPr lang="en-US" sz="1200" b="1"/>
          </a:p>
        </p:txBody>
      </p:sp>
    </p:spTree>
    <p:extLst>
      <p:ext uri="{BB962C8B-B14F-4D97-AF65-F5344CB8AC3E}">
        <p14:creationId xmlns:p14="http://schemas.microsoft.com/office/powerpoint/2010/main" val="17118718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3D4AB-2282-7BEF-CFC8-5F126E3BC6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EC75919-66E7-DD68-7649-D3CD609F097C}"/>
              </a:ext>
            </a:extLst>
          </p:cNvPr>
          <p:cNvSpPr>
            <a:spLocks noGrp="1"/>
          </p:cNvSpPr>
          <p:nvPr>
            <p:ph type="title"/>
          </p:nvPr>
        </p:nvSpPr>
        <p:spPr>
          <a:xfrm>
            <a:off x="2636" y="109398"/>
            <a:ext cx="11375136" cy="609600"/>
          </a:xfrm>
        </p:spPr>
        <p:txBody>
          <a:bodyPr/>
          <a:lstStyle/>
          <a:p>
            <a:r>
              <a:rPr lang="en-US" sz="4000">
                <a:latin typeface="Montserrat"/>
              </a:rPr>
              <a:t>Service Cloud v2 Financial Document View</a:t>
            </a:r>
            <a:endParaRPr lang="en-US" sz="4000"/>
          </a:p>
        </p:txBody>
      </p:sp>
      <p:sp>
        <p:nvSpPr>
          <p:cNvPr id="2" name="TextBox 1">
            <a:extLst>
              <a:ext uri="{FF2B5EF4-FFF2-40B4-BE49-F238E27FC236}">
                <a16:creationId xmlns:a16="http://schemas.microsoft.com/office/drawing/2014/main" id="{AF672614-010A-D48D-F3C5-754B9309A3F5}"/>
              </a:ext>
            </a:extLst>
          </p:cNvPr>
          <p:cNvSpPr txBox="1"/>
          <p:nvPr/>
        </p:nvSpPr>
        <p:spPr>
          <a:xfrm>
            <a:off x="5676" y="702139"/>
            <a:ext cx="2097960" cy="4741056"/>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ptos"/>
              </a:rPr>
              <a:t>Service Cloud v2 Contract Account Financials screen offers a consolidated view of financial activity from S4HANA. Users can review financial documents, open items, invoices, payments, security deposits, and collections from one workspace. </a:t>
            </a:r>
          </a:p>
          <a:p>
            <a:pPr>
              <a:spcBef>
                <a:spcPct val="20000"/>
              </a:spcBef>
            </a:pPr>
            <a:endParaRPr lang="en-US" sz="1200">
              <a:latin typeface="Aptos"/>
            </a:endParaRPr>
          </a:p>
          <a:p>
            <a:pPr>
              <a:spcBef>
                <a:spcPct val="20000"/>
              </a:spcBef>
            </a:pPr>
            <a:r>
              <a:rPr lang="en-US" sz="1200">
                <a:latin typeface="Aptos"/>
              </a:rPr>
              <a:t>The left panel gives a quick account level balance summary as well as a timeline of customer events. The main table shows document level details such as posting date, document number, amount ,due date, etc. Authorized users may also start actions likes make a payment or create a manual posting, depending on role design.</a:t>
            </a:r>
          </a:p>
        </p:txBody>
      </p:sp>
      <p:pic>
        <p:nvPicPr>
          <p:cNvPr id="6" name="Picture 5" descr="A screenshot of a computer&#10;&#10;AI-generated content may be incorrect.">
            <a:extLst>
              <a:ext uri="{FF2B5EF4-FFF2-40B4-BE49-F238E27FC236}">
                <a16:creationId xmlns:a16="http://schemas.microsoft.com/office/drawing/2014/main" id="{0C41574C-2DFB-1ED2-DA9C-8947FAD04C2A}"/>
              </a:ext>
            </a:extLst>
          </p:cNvPr>
          <p:cNvPicPr>
            <a:picLocks noChangeAspect="1"/>
          </p:cNvPicPr>
          <p:nvPr/>
        </p:nvPicPr>
        <p:blipFill>
          <a:blip r:embed="rId2"/>
          <a:stretch>
            <a:fillRect/>
          </a:stretch>
        </p:blipFill>
        <p:spPr>
          <a:xfrm>
            <a:off x="2092899" y="930445"/>
            <a:ext cx="9744466" cy="4517276"/>
          </a:xfrm>
          <a:prstGeom prst="rect">
            <a:avLst/>
          </a:prstGeom>
        </p:spPr>
      </p:pic>
      <p:sp>
        <p:nvSpPr>
          <p:cNvPr id="8" name="TextBox 7">
            <a:extLst>
              <a:ext uri="{FF2B5EF4-FFF2-40B4-BE49-F238E27FC236}">
                <a16:creationId xmlns:a16="http://schemas.microsoft.com/office/drawing/2014/main" id="{047819ED-8129-094C-DEF9-E961BB9EAA69}"/>
              </a:ext>
            </a:extLst>
          </p:cNvPr>
          <p:cNvSpPr txBox="1"/>
          <p:nvPr/>
        </p:nvSpPr>
        <p:spPr>
          <a:xfrm>
            <a:off x="0" y="5627577"/>
            <a:ext cx="12184855" cy="27699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Aptos"/>
              </a:rPr>
              <a:t>Users can filter financial history by posting period and due status, while the Financial Metrics toggle controls whether KPI level financial context is displayed. </a:t>
            </a:r>
          </a:p>
        </p:txBody>
      </p:sp>
    </p:spTree>
    <p:extLst>
      <p:ext uri="{BB962C8B-B14F-4D97-AF65-F5344CB8AC3E}">
        <p14:creationId xmlns:p14="http://schemas.microsoft.com/office/powerpoint/2010/main" val="12977190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8A998A-B877-8678-D17D-857037C66E23}"/>
              </a:ext>
            </a:extLst>
          </p:cNvPr>
          <p:cNvSpPr>
            <a:spLocks noGrp="1"/>
          </p:cNvSpPr>
          <p:nvPr>
            <p:ph type="title"/>
          </p:nvPr>
        </p:nvSpPr>
        <p:spPr>
          <a:xfrm>
            <a:off x="2636" y="109398"/>
            <a:ext cx="11375136" cy="609600"/>
          </a:xfrm>
        </p:spPr>
        <p:txBody>
          <a:bodyPr/>
          <a:lstStyle/>
          <a:p>
            <a:r>
              <a:rPr lang="en-US" sz="4000">
                <a:latin typeface="Montserrat"/>
              </a:rPr>
              <a:t>Open Item List</a:t>
            </a:r>
            <a:endParaRPr lang="en-US" sz="3600"/>
          </a:p>
        </p:txBody>
      </p:sp>
      <p:sp>
        <p:nvSpPr>
          <p:cNvPr id="2" name="TextBox 1">
            <a:extLst>
              <a:ext uri="{FF2B5EF4-FFF2-40B4-BE49-F238E27FC236}">
                <a16:creationId xmlns:a16="http://schemas.microsoft.com/office/drawing/2014/main" id="{218C24C0-2756-F2E0-D8BA-26C7311F12F2}"/>
              </a:ext>
            </a:extLst>
          </p:cNvPr>
          <p:cNvSpPr txBox="1"/>
          <p:nvPr/>
        </p:nvSpPr>
        <p:spPr>
          <a:xfrm>
            <a:off x="2726" y="726121"/>
            <a:ext cx="12185818" cy="118494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200" b="1">
                <a:latin typeface="Aptos"/>
              </a:rPr>
              <a:t>Open Items</a:t>
            </a:r>
            <a:r>
              <a:rPr lang="en-US" sz="1200">
                <a:latin typeface="Aptos"/>
              </a:rPr>
              <a:t> </a:t>
            </a:r>
            <a:r>
              <a:rPr lang="en-US" sz="1200" b="1">
                <a:latin typeface="Aptos"/>
              </a:rPr>
              <a:t>List</a:t>
            </a:r>
            <a:r>
              <a:rPr lang="en-US" sz="1200">
                <a:latin typeface="Aptos"/>
              </a:rPr>
              <a:t> can be found in the "Account Balance" work center.</a:t>
            </a:r>
            <a:endParaRPr lang="en-US" sz="1400">
              <a:latin typeface="Montserrat"/>
            </a:endParaRPr>
          </a:p>
          <a:p>
            <a:pPr marL="285750" indent="-285750">
              <a:buFont typeface="Arial"/>
              <a:buChar char="•"/>
            </a:pPr>
            <a:r>
              <a:rPr lang="en-US" sz="1200" b="1">
                <a:latin typeface="Aptos"/>
              </a:rPr>
              <a:t>Document Display</a:t>
            </a:r>
            <a:r>
              <a:rPr lang="en-US" sz="1200">
                <a:latin typeface="Aptos"/>
              </a:rPr>
              <a:t> = Summary by financial Document. Quick view of what documents make up the customer's balance</a:t>
            </a:r>
            <a:endParaRPr lang="en-US" sz="1600"/>
          </a:p>
          <a:p>
            <a:pPr marL="285750" indent="-285750">
              <a:buFont typeface="Arial"/>
              <a:buChar char="•"/>
            </a:pPr>
            <a:r>
              <a:rPr lang="en-US" sz="1200" b="1">
                <a:latin typeface="Aptos"/>
              </a:rPr>
              <a:t>Item Display</a:t>
            </a:r>
            <a:r>
              <a:rPr lang="en-US" sz="1200">
                <a:latin typeface="Aptos"/>
              </a:rPr>
              <a:t> = detailed line items inside those documents. Able to see due date, clearing status, lock/restriction, etc.</a:t>
            </a:r>
            <a:endParaRPr lang="en-US" sz="1050">
              <a:latin typeface="Aptos"/>
            </a:endParaRPr>
          </a:p>
          <a:p>
            <a:pPr marL="285750" indent="-285750">
              <a:buFont typeface="Arial"/>
              <a:buChar char="•"/>
            </a:pPr>
            <a:r>
              <a:rPr lang="en-US" sz="1200" b="1">
                <a:latin typeface="Aptos"/>
              </a:rPr>
              <a:t>More Dropdown= </a:t>
            </a:r>
            <a:r>
              <a:rPr lang="en-US" sz="1200">
                <a:latin typeface="Aptos"/>
              </a:rPr>
              <a:t>Allows user to complete a Reversal</a:t>
            </a:r>
          </a:p>
          <a:p>
            <a:pPr marL="285750" indent="-285750">
              <a:buFont typeface="Arial"/>
              <a:buChar char="•"/>
            </a:pPr>
            <a:r>
              <a:rPr lang="en-US" sz="1200">
                <a:latin typeface="Aptos"/>
              </a:rPr>
              <a:t>Option to click to Account Overview on this screen</a:t>
            </a:r>
          </a:p>
          <a:p>
            <a:pPr marL="171450" indent="-171450">
              <a:buFont typeface="Arial"/>
              <a:buChar char="•"/>
            </a:pPr>
            <a:endParaRPr lang="en-US" sz="1050">
              <a:latin typeface="Aptos"/>
            </a:endParaRPr>
          </a:p>
        </p:txBody>
      </p:sp>
      <p:pic>
        <p:nvPicPr>
          <p:cNvPr id="7" name="Picture 6" descr="A screenshot of a computer&#10;&#10;AI-generated content may be incorrect.">
            <a:extLst>
              <a:ext uri="{FF2B5EF4-FFF2-40B4-BE49-F238E27FC236}">
                <a16:creationId xmlns:a16="http://schemas.microsoft.com/office/drawing/2014/main" id="{EA9035A2-0DCF-FD2B-AA1E-6E21A8ED60EF}"/>
              </a:ext>
            </a:extLst>
          </p:cNvPr>
          <p:cNvPicPr>
            <a:picLocks noChangeAspect="1"/>
          </p:cNvPicPr>
          <p:nvPr/>
        </p:nvPicPr>
        <p:blipFill>
          <a:blip r:embed="rId3"/>
          <a:stretch>
            <a:fillRect/>
          </a:stretch>
        </p:blipFill>
        <p:spPr>
          <a:xfrm>
            <a:off x="455340" y="1713963"/>
            <a:ext cx="11281647" cy="3131728"/>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74777D69-FFDF-324D-8836-35D0F87C98EA}"/>
              </a:ext>
            </a:extLst>
          </p:cNvPr>
          <p:cNvPicPr>
            <a:picLocks noChangeAspect="1"/>
          </p:cNvPicPr>
          <p:nvPr/>
        </p:nvPicPr>
        <p:blipFill>
          <a:blip r:embed="rId4"/>
          <a:stretch>
            <a:fillRect/>
          </a:stretch>
        </p:blipFill>
        <p:spPr>
          <a:xfrm>
            <a:off x="455341" y="4731512"/>
            <a:ext cx="11281647" cy="2258048"/>
          </a:xfrm>
          <a:prstGeom prst="rect">
            <a:avLst/>
          </a:prstGeom>
        </p:spPr>
      </p:pic>
    </p:spTree>
    <p:extLst>
      <p:ext uri="{BB962C8B-B14F-4D97-AF65-F5344CB8AC3E}">
        <p14:creationId xmlns:p14="http://schemas.microsoft.com/office/powerpoint/2010/main" val="42275117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98594-0DF2-7731-CFD6-A52804381C3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B4AE3D-A012-6B8A-3485-5F6BC9E4B57C}"/>
              </a:ext>
            </a:extLst>
          </p:cNvPr>
          <p:cNvSpPr>
            <a:spLocks noGrp="1"/>
          </p:cNvSpPr>
          <p:nvPr>
            <p:ph type="title"/>
          </p:nvPr>
        </p:nvSpPr>
        <p:spPr>
          <a:xfrm>
            <a:off x="2636" y="109398"/>
            <a:ext cx="11375136" cy="609600"/>
          </a:xfrm>
        </p:spPr>
        <p:txBody>
          <a:bodyPr/>
          <a:lstStyle/>
          <a:p>
            <a:r>
              <a:rPr lang="en-US" sz="4000">
                <a:latin typeface="Montserrat"/>
              </a:rPr>
              <a:t>Service Cloud v2 Open Items View</a:t>
            </a:r>
            <a:endParaRPr lang="en-US" sz="4000"/>
          </a:p>
        </p:txBody>
      </p:sp>
      <p:sp>
        <p:nvSpPr>
          <p:cNvPr id="2" name="TextBox 1">
            <a:extLst>
              <a:ext uri="{FF2B5EF4-FFF2-40B4-BE49-F238E27FC236}">
                <a16:creationId xmlns:a16="http://schemas.microsoft.com/office/drawing/2014/main" id="{23EE98D2-301A-59DA-0F2A-3867A2480D9A}"/>
              </a:ext>
            </a:extLst>
          </p:cNvPr>
          <p:cNvSpPr txBox="1"/>
          <p:nvPr/>
        </p:nvSpPr>
        <p:spPr>
          <a:xfrm>
            <a:off x="70725" y="1259700"/>
            <a:ext cx="2097960" cy="452431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ptos"/>
              </a:rPr>
              <a:t>In the Open Items view of Service Cloud v2, users can review open FI-CA items on the customer's contract account, including due dates, posting dates, days past due, amounts, deferral dates, and main/sub transaction details. From this screen an authorized user can perform actions such as: </a:t>
            </a:r>
          </a:p>
          <a:p>
            <a:pPr>
              <a:spcBef>
                <a:spcPct val="20000"/>
              </a:spcBef>
            </a:pPr>
            <a:endParaRPr lang="en-US" sz="1200">
              <a:latin typeface="Aptos"/>
            </a:endParaRPr>
          </a:p>
          <a:p>
            <a:pPr marL="171450" indent="-171450">
              <a:spcBef>
                <a:spcPct val="20000"/>
              </a:spcBef>
              <a:buFont typeface="Arial"/>
              <a:buChar char="•"/>
            </a:pPr>
            <a:r>
              <a:rPr lang="en-US" sz="1200">
                <a:latin typeface="Aptos"/>
              </a:rPr>
              <a:t>Deferring an item to a later date</a:t>
            </a:r>
          </a:p>
          <a:p>
            <a:pPr marL="171450" indent="-171450">
              <a:spcBef>
                <a:spcPct val="20000"/>
              </a:spcBef>
              <a:buFont typeface="Arial"/>
              <a:buChar char="•"/>
            </a:pPr>
            <a:r>
              <a:rPr lang="en-US" sz="1200">
                <a:latin typeface="Aptos"/>
              </a:rPr>
              <a:t>Posting a debit or credit to the account through a manual posting</a:t>
            </a:r>
          </a:p>
          <a:p>
            <a:pPr marL="171450" indent="-171450">
              <a:spcBef>
                <a:spcPct val="20000"/>
              </a:spcBef>
              <a:buFont typeface="Arial"/>
              <a:buChar char="•"/>
            </a:pPr>
            <a:r>
              <a:rPr lang="en-US" sz="1200">
                <a:latin typeface="Aptos"/>
              </a:rPr>
              <a:t>Reverse an eligible open item</a:t>
            </a:r>
          </a:p>
          <a:p>
            <a:pPr marL="171450" indent="-171450">
              <a:spcBef>
                <a:spcPct val="20000"/>
              </a:spcBef>
              <a:buFont typeface="Arial"/>
              <a:buChar char="•"/>
            </a:pPr>
            <a:r>
              <a:rPr lang="en-US" sz="1200">
                <a:latin typeface="Aptos"/>
              </a:rPr>
              <a:t>Filter on open items based on posting date or due status. </a:t>
            </a:r>
          </a:p>
        </p:txBody>
      </p:sp>
      <p:pic>
        <p:nvPicPr>
          <p:cNvPr id="4" name="Picture 3" descr="A screenshot of a computer&#10;&#10;AI-generated content may be incorrect.">
            <a:extLst>
              <a:ext uri="{FF2B5EF4-FFF2-40B4-BE49-F238E27FC236}">
                <a16:creationId xmlns:a16="http://schemas.microsoft.com/office/drawing/2014/main" id="{CD2EC8DE-77C2-556D-678E-0092231A36B0}"/>
              </a:ext>
            </a:extLst>
          </p:cNvPr>
          <p:cNvPicPr>
            <a:picLocks noChangeAspect="1"/>
          </p:cNvPicPr>
          <p:nvPr/>
        </p:nvPicPr>
        <p:blipFill>
          <a:blip r:embed="rId3"/>
          <a:stretch>
            <a:fillRect/>
          </a:stretch>
        </p:blipFill>
        <p:spPr>
          <a:xfrm>
            <a:off x="-1002242" y="1386700"/>
            <a:ext cx="9940926" cy="4731052"/>
          </a:xfrm>
          <a:prstGeom prst="rect">
            <a:avLst/>
          </a:prstGeom>
        </p:spPr>
      </p:pic>
    </p:spTree>
    <p:extLst>
      <p:ext uri="{BB962C8B-B14F-4D97-AF65-F5344CB8AC3E}">
        <p14:creationId xmlns:p14="http://schemas.microsoft.com/office/powerpoint/2010/main" val="766455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494BB4-A4A5-EDDA-3BE3-B1C4C1F9F126}"/>
              </a:ext>
            </a:extLst>
          </p:cNvPr>
          <p:cNvSpPr>
            <a:spLocks noGrp="1"/>
          </p:cNvSpPr>
          <p:nvPr>
            <p:ph type="title"/>
          </p:nvPr>
        </p:nvSpPr>
        <p:spPr>
          <a:xfrm>
            <a:off x="2636" y="99102"/>
            <a:ext cx="11375136" cy="609600"/>
          </a:xfrm>
        </p:spPr>
        <p:txBody>
          <a:bodyPr/>
          <a:lstStyle/>
          <a:p>
            <a:r>
              <a:rPr lang="en-US" sz="4000">
                <a:latin typeface="Montserrat"/>
              </a:rPr>
              <a:t>Payments List</a:t>
            </a:r>
            <a:endParaRPr lang="en-US" sz="4000"/>
          </a:p>
        </p:txBody>
      </p:sp>
      <p:pic>
        <p:nvPicPr>
          <p:cNvPr id="2" name="Picture 1" descr="A screenshot of a computer&#10;&#10;AI-generated content may be incorrect.">
            <a:extLst>
              <a:ext uri="{FF2B5EF4-FFF2-40B4-BE49-F238E27FC236}">
                <a16:creationId xmlns:a16="http://schemas.microsoft.com/office/drawing/2014/main" id="{BFF4890E-34A7-6953-5476-00A238FC0AC6}"/>
              </a:ext>
            </a:extLst>
          </p:cNvPr>
          <p:cNvPicPr>
            <a:picLocks noChangeAspect="1"/>
          </p:cNvPicPr>
          <p:nvPr/>
        </p:nvPicPr>
        <p:blipFill>
          <a:blip r:embed="rId3"/>
          <a:stretch>
            <a:fillRect/>
          </a:stretch>
        </p:blipFill>
        <p:spPr>
          <a:xfrm>
            <a:off x="0" y="2554309"/>
            <a:ext cx="12192000" cy="3561708"/>
          </a:xfrm>
          <a:prstGeom prst="rect">
            <a:avLst/>
          </a:prstGeom>
        </p:spPr>
      </p:pic>
      <p:sp>
        <p:nvSpPr>
          <p:cNvPr id="6" name="TextBox 5">
            <a:extLst>
              <a:ext uri="{FF2B5EF4-FFF2-40B4-BE49-F238E27FC236}">
                <a16:creationId xmlns:a16="http://schemas.microsoft.com/office/drawing/2014/main" id="{C4BC3AF3-02AE-6C70-4F5D-DA48A2E2878A}"/>
              </a:ext>
            </a:extLst>
          </p:cNvPr>
          <p:cNvSpPr txBox="1"/>
          <p:nvPr/>
        </p:nvSpPr>
        <p:spPr>
          <a:xfrm>
            <a:off x="-2423" y="673328"/>
            <a:ext cx="12196118" cy="207749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Aptos"/>
              </a:rPr>
              <a:t>Payment List</a:t>
            </a:r>
            <a:r>
              <a:rPr lang="en-US" sz="1200">
                <a:latin typeface="Aptos"/>
              </a:rPr>
              <a:t> can be found in the "Account Balance" work center. Users can link a line item to an interaction record, stop a payment, or view a recon key help guy. This screen returns all payment related activities and shows:</a:t>
            </a:r>
          </a:p>
          <a:p>
            <a:endParaRPr lang="en-US" sz="1200">
              <a:latin typeface="Aptos"/>
            </a:endParaRPr>
          </a:p>
          <a:p>
            <a:pPr marL="285750" indent="-285750">
              <a:buFont typeface="Arial"/>
              <a:buChar char="•"/>
            </a:pPr>
            <a:r>
              <a:rPr lang="en-US" sz="1200">
                <a:latin typeface="Aptos"/>
              </a:rPr>
              <a:t>Posting Date</a:t>
            </a:r>
          </a:p>
          <a:p>
            <a:pPr marL="285750" indent="-285750">
              <a:buFont typeface="Arial"/>
              <a:buChar char="•"/>
            </a:pPr>
            <a:r>
              <a:rPr lang="en-US" sz="1200">
                <a:latin typeface="Aptos"/>
              </a:rPr>
              <a:t>Origin Text</a:t>
            </a:r>
          </a:p>
          <a:p>
            <a:pPr marL="285750" indent="-285750">
              <a:buFont typeface="Arial"/>
              <a:buChar char="•"/>
            </a:pPr>
            <a:r>
              <a:rPr lang="en-US" sz="1200">
                <a:latin typeface="Aptos"/>
              </a:rPr>
              <a:t>Payment Amount</a:t>
            </a:r>
          </a:p>
          <a:p>
            <a:pPr marL="285750" indent="-285750">
              <a:buFont typeface="Arial"/>
              <a:buChar char="•"/>
            </a:pPr>
            <a:r>
              <a:rPr lang="en-US" sz="1200">
                <a:latin typeface="Aptos"/>
              </a:rPr>
              <a:t>Document Number</a:t>
            </a:r>
          </a:p>
          <a:p>
            <a:pPr marL="285750" indent="-285750">
              <a:buFont typeface="Arial"/>
              <a:buChar char="•"/>
            </a:pPr>
            <a:r>
              <a:rPr lang="en-US" sz="1200">
                <a:latin typeface="Aptos"/>
              </a:rPr>
              <a:t>Payment Method</a:t>
            </a:r>
          </a:p>
          <a:p>
            <a:pPr marL="285750" indent="-285750">
              <a:buFont typeface="Arial"/>
              <a:buChar char="•"/>
            </a:pPr>
            <a:r>
              <a:rPr lang="en-US" sz="1200">
                <a:latin typeface="Aptos"/>
              </a:rPr>
              <a:t>Reconciliation Key (help screen is available to aid the user in understanding payment source). Users can export this list into a downloaded Excel file.</a:t>
            </a:r>
          </a:p>
          <a:p>
            <a:pPr marL="285750" indent="-285750">
              <a:buFont typeface="Arial"/>
              <a:buChar char="•"/>
            </a:pPr>
            <a:endParaRPr lang="en-US" sz="1200">
              <a:latin typeface="Aptos"/>
            </a:endParaRPr>
          </a:p>
          <a:p>
            <a:endParaRPr lang="en-US" sz="900">
              <a:latin typeface="Montserrat" pitchFamily="2" charset="77"/>
            </a:endParaRPr>
          </a:p>
        </p:txBody>
      </p:sp>
      <p:pic>
        <p:nvPicPr>
          <p:cNvPr id="7" name="Picture 6" descr="A screenshot of a computer&#10;&#10;AI-generated content may be incorrect.">
            <a:extLst>
              <a:ext uri="{FF2B5EF4-FFF2-40B4-BE49-F238E27FC236}">
                <a16:creationId xmlns:a16="http://schemas.microsoft.com/office/drawing/2014/main" id="{8EEEC70E-0BF8-DD5C-DCC6-590EF86008C6}"/>
              </a:ext>
            </a:extLst>
          </p:cNvPr>
          <p:cNvPicPr>
            <a:picLocks noChangeAspect="1"/>
          </p:cNvPicPr>
          <p:nvPr/>
        </p:nvPicPr>
        <p:blipFill>
          <a:blip r:embed="rId4"/>
          <a:stretch>
            <a:fillRect/>
          </a:stretch>
        </p:blipFill>
        <p:spPr>
          <a:xfrm>
            <a:off x="4335934" y="3963559"/>
            <a:ext cx="7041807" cy="2895343"/>
          </a:xfrm>
          <a:prstGeom prst="rect">
            <a:avLst/>
          </a:prstGeom>
        </p:spPr>
      </p:pic>
    </p:spTree>
    <p:extLst>
      <p:ext uri="{BB962C8B-B14F-4D97-AF65-F5344CB8AC3E}">
        <p14:creationId xmlns:p14="http://schemas.microsoft.com/office/powerpoint/2010/main" val="12495988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302A1-62CE-0FBF-5EB0-C3FBA61DAC7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907801-FF6D-630A-34E0-2A8877162FD1}"/>
              </a:ext>
            </a:extLst>
          </p:cNvPr>
          <p:cNvSpPr>
            <a:spLocks noGrp="1"/>
          </p:cNvSpPr>
          <p:nvPr>
            <p:ph type="title"/>
          </p:nvPr>
        </p:nvSpPr>
        <p:spPr>
          <a:xfrm>
            <a:off x="2636" y="109398"/>
            <a:ext cx="11375136" cy="609600"/>
          </a:xfrm>
        </p:spPr>
        <p:txBody>
          <a:bodyPr/>
          <a:lstStyle/>
          <a:p>
            <a:r>
              <a:rPr lang="en-US" sz="4000">
                <a:latin typeface="Montserrat"/>
              </a:rPr>
              <a:t>Service Cloud v2 Payments View</a:t>
            </a:r>
            <a:endParaRPr lang="en-US" sz="4000"/>
          </a:p>
        </p:txBody>
      </p:sp>
      <p:sp>
        <p:nvSpPr>
          <p:cNvPr id="2" name="TextBox 1">
            <a:extLst>
              <a:ext uri="{FF2B5EF4-FFF2-40B4-BE49-F238E27FC236}">
                <a16:creationId xmlns:a16="http://schemas.microsoft.com/office/drawing/2014/main" id="{B7C6A15A-8637-FC17-DABA-51FADFD321FD}"/>
              </a:ext>
            </a:extLst>
          </p:cNvPr>
          <p:cNvSpPr txBox="1"/>
          <p:nvPr/>
        </p:nvSpPr>
        <p:spPr>
          <a:xfrm>
            <a:off x="5676" y="925163"/>
            <a:ext cx="12189813" cy="17912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ptos"/>
              </a:rPr>
              <a:t>In the Open Items view of Service Cloud v2, users can review payments made by the customer. From this screen, users can filter on open items based on posting date. One can view payment details like: </a:t>
            </a:r>
            <a:endParaRPr lang="en-US"/>
          </a:p>
          <a:p>
            <a:pPr>
              <a:spcBef>
                <a:spcPct val="20000"/>
              </a:spcBef>
            </a:pPr>
            <a:endParaRPr lang="en-US" sz="1200">
              <a:latin typeface="Aptos"/>
            </a:endParaRPr>
          </a:p>
          <a:p>
            <a:pPr marL="171450" indent="-171450">
              <a:spcBef>
                <a:spcPct val="20000"/>
              </a:spcBef>
              <a:buFont typeface="Arial"/>
              <a:buChar char="•"/>
            </a:pPr>
            <a:r>
              <a:rPr lang="en-US" sz="1200">
                <a:latin typeface="Aptos"/>
              </a:rPr>
              <a:t>Posting Date</a:t>
            </a:r>
          </a:p>
          <a:p>
            <a:pPr marL="171450" indent="-171450">
              <a:spcBef>
                <a:spcPct val="20000"/>
              </a:spcBef>
              <a:buFont typeface="Arial"/>
              <a:buChar char="•"/>
            </a:pPr>
            <a:r>
              <a:rPr lang="en-US" sz="1200">
                <a:latin typeface="Aptos"/>
              </a:rPr>
              <a:t>Payment Origin</a:t>
            </a:r>
          </a:p>
          <a:p>
            <a:pPr marL="171450" indent="-171450">
              <a:spcBef>
                <a:spcPct val="20000"/>
              </a:spcBef>
              <a:buFont typeface="Arial"/>
              <a:buChar char="•"/>
            </a:pPr>
            <a:r>
              <a:rPr lang="en-US" sz="1200">
                <a:latin typeface="Aptos"/>
              </a:rPr>
              <a:t>Amount Paid</a:t>
            </a:r>
          </a:p>
          <a:p>
            <a:pPr marL="171450" indent="-171450">
              <a:spcBef>
                <a:spcPct val="20000"/>
              </a:spcBef>
              <a:buFont typeface="Arial"/>
              <a:buChar char="•"/>
            </a:pPr>
            <a:r>
              <a:rPr lang="en-US" sz="1200">
                <a:latin typeface="Aptos"/>
              </a:rPr>
              <a:t>Document Number</a:t>
            </a:r>
          </a:p>
          <a:p>
            <a:pPr>
              <a:spcBef>
                <a:spcPct val="20000"/>
              </a:spcBef>
            </a:pPr>
            <a:endParaRPr lang="en-US" sz="1200">
              <a:latin typeface="Aptos"/>
            </a:endParaRPr>
          </a:p>
        </p:txBody>
      </p:sp>
      <p:pic>
        <p:nvPicPr>
          <p:cNvPr id="5" name="Picture 4" descr="A screenshot of a computer&#10;&#10;AI-generated content may be incorrect.">
            <a:extLst>
              <a:ext uri="{FF2B5EF4-FFF2-40B4-BE49-F238E27FC236}">
                <a16:creationId xmlns:a16="http://schemas.microsoft.com/office/drawing/2014/main" id="{3F65486E-A456-4510-2C14-923A13719E4B}"/>
              </a:ext>
            </a:extLst>
          </p:cNvPr>
          <p:cNvPicPr>
            <a:picLocks noChangeAspect="1"/>
          </p:cNvPicPr>
          <p:nvPr/>
        </p:nvPicPr>
        <p:blipFill>
          <a:blip r:embed="rId2"/>
          <a:stretch>
            <a:fillRect/>
          </a:stretch>
        </p:blipFill>
        <p:spPr>
          <a:xfrm>
            <a:off x="1932644" y="1376130"/>
            <a:ext cx="9664856" cy="4793399"/>
          </a:xfrm>
          <a:prstGeom prst="rect">
            <a:avLst/>
          </a:prstGeom>
        </p:spPr>
      </p:pic>
    </p:spTree>
    <p:extLst>
      <p:ext uri="{BB962C8B-B14F-4D97-AF65-F5344CB8AC3E}">
        <p14:creationId xmlns:p14="http://schemas.microsoft.com/office/powerpoint/2010/main" val="3362251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53F3E9-B366-A679-2C23-B6C85174A184}"/>
              </a:ext>
            </a:extLst>
          </p:cNvPr>
          <p:cNvSpPr>
            <a:spLocks noGrp="1"/>
          </p:cNvSpPr>
          <p:nvPr>
            <p:ph type="title"/>
          </p:nvPr>
        </p:nvSpPr>
        <p:spPr>
          <a:xfrm>
            <a:off x="2636" y="99101"/>
            <a:ext cx="11375136" cy="609600"/>
          </a:xfrm>
        </p:spPr>
        <p:txBody>
          <a:bodyPr/>
          <a:lstStyle/>
          <a:p>
            <a:r>
              <a:rPr lang="en-US" sz="4000">
                <a:latin typeface="Montserrat"/>
              </a:rPr>
              <a:t>Display Itemized Statement</a:t>
            </a:r>
            <a:endParaRPr lang="en-US" sz="4000"/>
          </a:p>
        </p:txBody>
      </p:sp>
      <p:pic>
        <p:nvPicPr>
          <p:cNvPr id="4" name="Picture 3" descr="A screenshot of a computer&#10;&#10;AI-generated content may be incorrect.">
            <a:extLst>
              <a:ext uri="{FF2B5EF4-FFF2-40B4-BE49-F238E27FC236}">
                <a16:creationId xmlns:a16="http://schemas.microsoft.com/office/drawing/2014/main" id="{BADF1919-248A-009C-8CE8-DB259DCEDEBD}"/>
              </a:ext>
            </a:extLst>
          </p:cNvPr>
          <p:cNvPicPr>
            <a:picLocks noChangeAspect="1"/>
          </p:cNvPicPr>
          <p:nvPr/>
        </p:nvPicPr>
        <p:blipFill>
          <a:blip r:embed="rId3"/>
          <a:stretch>
            <a:fillRect/>
          </a:stretch>
        </p:blipFill>
        <p:spPr>
          <a:xfrm>
            <a:off x="2138372" y="315552"/>
            <a:ext cx="11441289" cy="4482917"/>
          </a:xfrm>
          <a:prstGeom prst="rect">
            <a:avLst/>
          </a:prstGeom>
        </p:spPr>
      </p:pic>
      <p:sp>
        <p:nvSpPr>
          <p:cNvPr id="2" name="TextBox 1">
            <a:extLst>
              <a:ext uri="{FF2B5EF4-FFF2-40B4-BE49-F238E27FC236}">
                <a16:creationId xmlns:a16="http://schemas.microsoft.com/office/drawing/2014/main" id="{05EB2F7B-1166-FA34-846B-309738791E3C}"/>
              </a:ext>
            </a:extLst>
          </p:cNvPr>
          <p:cNvSpPr txBox="1"/>
          <p:nvPr/>
        </p:nvSpPr>
        <p:spPr>
          <a:xfrm>
            <a:off x="4240" y="919487"/>
            <a:ext cx="12175523" cy="30777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Display Itemized Statement</a:t>
            </a:r>
            <a:r>
              <a:rPr lang="en-US" sz="1400">
                <a:latin typeface="Aptos"/>
              </a:rPr>
              <a:t> can be found in the "Account Balance" work center. The purpose of this screen … </a:t>
            </a:r>
          </a:p>
        </p:txBody>
      </p:sp>
    </p:spTree>
    <p:extLst>
      <p:ext uri="{BB962C8B-B14F-4D97-AF65-F5344CB8AC3E}">
        <p14:creationId xmlns:p14="http://schemas.microsoft.com/office/powerpoint/2010/main" val="30038373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A3E312-ED38-9BD0-05F1-17902128B849}"/>
              </a:ext>
            </a:extLst>
          </p:cNvPr>
          <p:cNvSpPr>
            <a:spLocks noGrp="1"/>
          </p:cNvSpPr>
          <p:nvPr>
            <p:ph idx="1"/>
          </p:nvPr>
        </p:nvSpPr>
        <p:spPr>
          <a:xfrm>
            <a:off x="414528" y="1219201"/>
            <a:ext cx="11375136" cy="815713"/>
          </a:xfrm>
        </p:spPr>
        <p:txBody>
          <a:bodyPr vert="horz" lIns="0" tIns="45720" rIns="91440" bIns="45720" rtlCol="0" anchor="t">
            <a:normAutofit/>
          </a:bodyPr>
          <a:lstStyle/>
          <a:p>
            <a:r>
              <a:rPr lang="en-US" sz="1600">
                <a:latin typeface="Montserrat"/>
              </a:rPr>
              <a:t>By clicking the three dots at the top of the screen or the "P" in light blue, users have the option to customize the "flavor" of this view. The only other option from the Default flavor was the Consumers Energy Solar Panels</a:t>
            </a:r>
            <a:endParaRPr lang="en-US" sz="1600"/>
          </a:p>
        </p:txBody>
      </p:sp>
      <p:sp>
        <p:nvSpPr>
          <p:cNvPr id="3" name="Title 2">
            <a:extLst>
              <a:ext uri="{FF2B5EF4-FFF2-40B4-BE49-F238E27FC236}">
                <a16:creationId xmlns:a16="http://schemas.microsoft.com/office/drawing/2014/main" id="{468E1975-8BCB-38FB-8DA7-C4B8F16AABF0}"/>
              </a:ext>
            </a:extLst>
          </p:cNvPr>
          <p:cNvSpPr>
            <a:spLocks noGrp="1"/>
          </p:cNvSpPr>
          <p:nvPr>
            <p:ph type="title"/>
          </p:nvPr>
        </p:nvSpPr>
        <p:spPr/>
        <p:txBody>
          <a:bodyPr/>
          <a:lstStyle/>
          <a:p>
            <a:r>
              <a:rPr lang="en-US" sz="4000">
                <a:latin typeface="Montserrat"/>
              </a:rPr>
              <a:t>Display Itemized Statement continued...</a:t>
            </a:r>
            <a:endParaRPr lang="en-US" sz="4000">
              <a:solidFill>
                <a:srgbClr val="000000"/>
              </a:solidFill>
            </a:endParaRPr>
          </a:p>
        </p:txBody>
      </p:sp>
      <p:pic>
        <p:nvPicPr>
          <p:cNvPr id="4" name="Picture 3" descr="A screenshot of a computer&#10;&#10;AI-generated content may be incorrect.">
            <a:extLst>
              <a:ext uri="{FF2B5EF4-FFF2-40B4-BE49-F238E27FC236}">
                <a16:creationId xmlns:a16="http://schemas.microsoft.com/office/drawing/2014/main" id="{33BAA93A-4E9B-427B-A753-855BCE668A21}"/>
              </a:ext>
            </a:extLst>
          </p:cNvPr>
          <p:cNvPicPr>
            <a:picLocks noChangeAspect="1"/>
          </p:cNvPicPr>
          <p:nvPr/>
        </p:nvPicPr>
        <p:blipFill>
          <a:blip r:embed="rId2"/>
          <a:stretch>
            <a:fillRect/>
          </a:stretch>
        </p:blipFill>
        <p:spPr>
          <a:xfrm>
            <a:off x="0" y="1874511"/>
            <a:ext cx="7586284" cy="1328731"/>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A0D07F2D-F277-75E3-9A80-5AA90CBFFA1F}"/>
              </a:ext>
            </a:extLst>
          </p:cNvPr>
          <p:cNvPicPr>
            <a:picLocks noChangeAspect="1"/>
          </p:cNvPicPr>
          <p:nvPr/>
        </p:nvPicPr>
        <p:blipFill>
          <a:blip r:embed="rId3"/>
          <a:stretch>
            <a:fillRect/>
          </a:stretch>
        </p:blipFill>
        <p:spPr>
          <a:xfrm>
            <a:off x="3339649" y="3319275"/>
            <a:ext cx="8193187" cy="3420323"/>
          </a:xfrm>
          <a:prstGeom prst="rect">
            <a:avLst/>
          </a:prstGeom>
        </p:spPr>
      </p:pic>
    </p:spTree>
    <p:extLst>
      <p:ext uri="{BB962C8B-B14F-4D97-AF65-F5344CB8AC3E}">
        <p14:creationId xmlns:p14="http://schemas.microsoft.com/office/powerpoint/2010/main" val="25397742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64C72B-8E9B-8BB8-053E-7D309A8F4785}"/>
              </a:ext>
            </a:extLst>
          </p:cNvPr>
          <p:cNvSpPr>
            <a:spLocks noGrp="1"/>
          </p:cNvSpPr>
          <p:nvPr>
            <p:ph type="title"/>
          </p:nvPr>
        </p:nvSpPr>
        <p:spPr>
          <a:xfrm>
            <a:off x="2636" y="99101"/>
            <a:ext cx="11375136" cy="609600"/>
          </a:xfrm>
        </p:spPr>
        <p:txBody>
          <a:bodyPr/>
          <a:lstStyle/>
          <a:p>
            <a:r>
              <a:rPr lang="en-US">
                <a:latin typeface="Montserrat"/>
              </a:rPr>
              <a:t>Security Deposit</a:t>
            </a:r>
            <a:endParaRPr lang="en-US"/>
          </a:p>
        </p:txBody>
      </p:sp>
      <p:pic>
        <p:nvPicPr>
          <p:cNvPr id="7" name="Picture 6" descr="A screenshot of a computer&#10;&#10;AI-generated content may be incorrect.">
            <a:extLst>
              <a:ext uri="{FF2B5EF4-FFF2-40B4-BE49-F238E27FC236}">
                <a16:creationId xmlns:a16="http://schemas.microsoft.com/office/drawing/2014/main" id="{4B7E28CC-4FA7-7125-0149-E46773350348}"/>
              </a:ext>
            </a:extLst>
          </p:cNvPr>
          <p:cNvPicPr>
            <a:picLocks noChangeAspect="1"/>
          </p:cNvPicPr>
          <p:nvPr/>
        </p:nvPicPr>
        <p:blipFill>
          <a:blip r:embed="rId2"/>
          <a:stretch>
            <a:fillRect/>
          </a:stretch>
        </p:blipFill>
        <p:spPr>
          <a:xfrm>
            <a:off x="5098" y="2739063"/>
            <a:ext cx="12192000" cy="2119611"/>
          </a:xfrm>
          <a:prstGeom prst="rect">
            <a:avLst/>
          </a:prstGeom>
        </p:spPr>
      </p:pic>
      <p:sp>
        <p:nvSpPr>
          <p:cNvPr id="8" name="TextBox 7">
            <a:extLst>
              <a:ext uri="{FF2B5EF4-FFF2-40B4-BE49-F238E27FC236}">
                <a16:creationId xmlns:a16="http://schemas.microsoft.com/office/drawing/2014/main" id="{31B14087-1AAD-96AC-6999-A2AF449A6A6F}"/>
              </a:ext>
            </a:extLst>
          </p:cNvPr>
          <p:cNvSpPr txBox="1"/>
          <p:nvPr/>
        </p:nvSpPr>
        <p:spPr>
          <a:xfrm>
            <a:off x="3634" y="796223"/>
            <a:ext cx="12185820" cy="1754326"/>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Aptos"/>
              </a:rPr>
              <a:t>Security Deposit</a:t>
            </a:r>
            <a:r>
              <a:rPr lang="en-US" sz="1200">
                <a:latin typeface="Aptos"/>
              </a:rPr>
              <a:t> can be found in the "Credit &amp; Collections" work center. This function is used to</a:t>
            </a:r>
            <a:r>
              <a:rPr lang="en-US" sz="1200">
                <a:latin typeface="Aptos"/>
                <a:ea typeface="+mn-lt"/>
                <a:cs typeface="+mn-lt"/>
              </a:rPr>
              <a:t> record, manage, and track customer security deposits. View Security Deposit details including the Division, Payment type, start and return date, status, and reversal reason.</a:t>
            </a:r>
          </a:p>
          <a:p>
            <a:endParaRPr lang="en-US" sz="1200">
              <a:latin typeface="Aptos"/>
            </a:endParaRPr>
          </a:p>
          <a:p>
            <a:r>
              <a:rPr lang="en-US" sz="1200">
                <a:latin typeface="Aptos"/>
              </a:rPr>
              <a:t>The Security Deposit Overview details can be downloaded into an Excel csv file.</a:t>
            </a:r>
          </a:p>
          <a:p>
            <a:endParaRPr lang="en-US" sz="1200">
              <a:latin typeface="Aptos"/>
            </a:endParaRPr>
          </a:p>
          <a:p>
            <a:r>
              <a:rPr lang="en-US" sz="1200">
                <a:latin typeface="Aptos"/>
              </a:rPr>
              <a:t>The options to </a:t>
            </a:r>
            <a:r>
              <a:rPr lang="en-US" sz="1200" b="1">
                <a:latin typeface="Aptos"/>
              </a:rPr>
              <a:t>Create New, Change, Reverse, Release, and Others </a:t>
            </a:r>
            <a:r>
              <a:rPr lang="en-US" sz="1200">
                <a:latin typeface="Aptos"/>
              </a:rPr>
              <a:t>below the Security Deposit Overview are only actionable for certain roles.</a:t>
            </a:r>
          </a:p>
          <a:p>
            <a:endParaRPr lang="en-US" sz="1200">
              <a:latin typeface="Aptos"/>
            </a:endParaRPr>
          </a:p>
          <a:p>
            <a:r>
              <a:rPr lang="en-US" sz="1200">
                <a:latin typeface="Aptos"/>
              </a:rPr>
              <a:t>Certain users have the option to Wave a security deposit for a BP in this view by clicking the field in the top right corner. Like the options at the bottom of the screen, not all roles can complete this action.</a:t>
            </a:r>
          </a:p>
        </p:txBody>
      </p:sp>
      <p:sp>
        <p:nvSpPr>
          <p:cNvPr id="4" name="Rectangle 3">
            <a:extLst>
              <a:ext uri="{FF2B5EF4-FFF2-40B4-BE49-F238E27FC236}">
                <a16:creationId xmlns:a16="http://schemas.microsoft.com/office/drawing/2014/main" id="{B4B6D6C5-4256-6144-5BDA-658A1A0CC18C}"/>
              </a:ext>
            </a:extLst>
          </p:cNvPr>
          <p:cNvSpPr/>
          <p:nvPr/>
        </p:nvSpPr>
        <p:spPr>
          <a:xfrm>
            <a:off x="10128235" y="3236601"/>
            <a:ext cx="2067514" cy="374930"/>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5" name="Rectangle 4">
            <a:extLst>
              <a:ext uri="{FF2B5EF4-FFF2-40B4-BE49-F238E27FC236}">
                <a16:creationId xmlns:a16="http://schemas.microsoft.com/office/drawing/2014/main" id="{CD571BC4-2B1C-64DD-0DF6-A520F8D9AA42}"/>
              </a:ext>
            </a:extLst>
          </p:cNvPr>
          <p:cNvSpPr/>
          <p:nvPr/>
        </p:nvSpPr>
        <p:spPr>
          <a:xfrm>
            <a:off x="6447" y="4562492"/>
            <a:ext cx="2869974" cy="30075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39637049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A4B14-B85B-4F6B-8CD6-6F20A5A7B4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95D2BE-AA1A-DF86-983B-33AC5CDCCCEC}"/>
              </a:ext>
            </a:extLst>
          </p:cNvPr>
          <p:cNvSpPr>
            <a:spLocks noGrp="1"/>
          </p:cNvSpPr>
          <p:nvPr>
            <p:ph type="title"/>
          </p:nvPr>
        </p:nvSpPr>
        <p:spPr>
          <a:xfrm>
            <a:off x="2636" y="109398"/>
            <a:ext cx="11375136" cy="609600"/>
          </a:xfrm>
        </p:spPr>
        <p:txBody>
          <a:bodyPr/>
          <a:lstStyle/>
          <a:p>
            <a:r>
              <a:rPr lang="en-US">
                <a:latin typeface="Montserrat"/>
              </a:rPr>
              <a:t>Service Cloud v2 Security Deposit View</a:t>
            </a:r>
            <a:endParaRPr lang="en-US"/>
          </a:p>
        </p:txBody>
      </p:sp>
      <p:sp>
        <p:nvSpPr>
          <p:cNvPr id="2" name="TextBox 1">
            <a:extLst>
              <a:ext uri="{FF2B5EF4-FFF2-40B4-BE49-F238E27FC236}">
                <a16:creationId xmlns:a16="http://schemas.microsoft.com/office/drawing/2014/main" id="{0F7EA1E0-7E02-3203-AC9D-2790908E0A8C}"/>
              </a:ext>
            </a:extLst>
          </p:cNvPr>
          <p:cNvSpPr txBox="1"/>
          <p:nvPr/>
        </p:nvSpPr>
        <p:spPr>
          <a:xfrm>
            <a:off x="9865211" y="925163"/>
            <a:ext cx="2330278" cy="330552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ptos"/>
              </a:rPr>
              <a:t>In the Security Deposit view of Service Cloud v2, users can review security deposits applied, including Return Date, Amount Requested, Amount Paid, Amount Released, Status, Request Reason, etc. From this screen, users can perform actions like: </a:t>
            </a:r>
          </a:p>
          <a:p>
            <a:pPr>
              <a:spcBef>
                <a:spcPct val="20000"/>
              </a:spcBef>
            </a:pPr>
            <a:endParaRPr lang="en-US" sz="1200">
              <a:latin typeface="Aptos"/>
            </a:endParaRPr>
          </a:p>
          <a:p>
            <a:pPr marL="171450" indent="-171450">
              <a:spcBef>
                <a:spcPct val="20000"/>
              </a:spcBef>
              <a:buFont typeface="Arial"/>
              <a:buChar char="•"/>
            </a:pPr>
            <a:r>
              <a:rPr lang="en-US" sz="1200">
                <a:latin typeface="Aptos"/>
              </a:rPr>
              <a:t>Release the SD </a:t>
            </a:r>
          </a:p>
          <a:p>
            <a:pPr marL="171450" indent="-171450">
              <a:spcBef>
                <a:spcPct val="20000"/>
              </a:spcBef>
              <a:buFont typeface="Arial"/>
              <a:buChar char="•"/>
            </a:pPr>
            <a:r>
              <a:rPr lang="en-US" sz="1200">
                <a:latin typeface="Aptos"/>
              </a:rPr>
              <a:t>Reverse the SD</a:t>
            </a:r>
          </a:p>
          <a:p>
            <a:pPr marL="171450" indent="-171450">
              <a:spcBef>
                <a:spcPct val="20000"/>
              </a:spcBef>
              <a:buFont typeface="Arial"/>
              <a:buChar char="•"/>
            </a:pPr>
            <a:r>
              <a:rPr lang="en-US" sz="1200">
                <a:latin typeface="Aptos"/>
              </a:rPr>
              <a:t>Partial Release the SD</a:t>
            </a:r>
          </a:p>
          <a:p>
            <a:pPr>
              <a:spcBef>
                <a:spcPct val="20000"/>
              </a:spcBef>
            </a:pPr>
            <a:endParaRPr lang="en-US" sz="1200">
              <a:latin typeface="Aptos"/>
            </a:endParaRPr>
          </a:p>
          <a:p>
            <a:pPr>
              <a:spcBef>
                <a:spcPct val="20000"/>
              </a:spcBef>
            </a:pPr>
            <a:endParaRPr lang="en-US" sz="1200">
              <a:latin typeface="Aptos"/>
            </a:endParaRPr>
          </a:p>
          <a:p>
            <a:pPr>
              <a:spcBef>
                <a:spcPct val="20000"/>
              </a:spcBef>
            </a:pPr>
            <a:endParaRPr lang="en-US" sz="1200">
              <a:latin typeface="Aptos"/>
            </a:endParaRPr>
          </a:p>
        </p:txBody>
      </p:sp>
      <p:pic>
        <p:nvPicPr>
          <p:cNvPr id="4" name="Picture 3" descr="A screenshot of a computer&#10;&#10;AI-generated content may be incorrect.">
            <a:extLst>
              <a:ext uri="{FF2B5EF4-FFF2-40B4-BE49-F238E27FC236}">
                <a16:creationId xmlns:a16="http://schemas.microsoft.com/office/drawing/2014/main" id="{05BE193A-A87D-5075-4F5C-1607A2551AEB}"/>
              </a:ext>
            </a:extLst>
          </p:cNvPr>
          <p:cNvPicPr>
            <a:picLocks noChangeAspect="1"/>
          </p:cNvPicPr>
          <p:nvPr/>
        </p:nvPicPr>
        <p:blipFill>
          <a:blip r:embed="rId2"/>
          <a:stretch>
            <a:fillRect/>
          </a:stretch>
        </p:blipFill>
        <p:spPr>
          <a:xfrm>
            <a:off x="465" y="1019175"/>
            <a:ext cx="9858608" cy="4828943"/>
          </a:xfrm>
          <a:prstGeom prst="rect">
            <a:avLst/>
          </a:prstGeom>
        </p:spPr>
      </p:pic>
    </p:spTree>
    <p:extLst>
      <p:ext uri="{BB962C8B-B14F-4D97-AF65-F5344CB8AC3E}">
        <p14:creationId xmlns:p14="http://schemas.microsoft.com/office/powerpoint/2010/main" val="28004105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4594E-D991-A513-CA77-D8E85E3225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1261B5-2861-C3F0-328B-462B11C63423}"/>
              </a:ext>
            </a:extLst>
          </p:cNvPr>
          <p:cNvSpPr>
            <a:spLocks noGrp="1"/>
          </p:cNvSpPr>
          <p:nvPr>
            <p:ph type="title"/>
          </p:nvPr>
        </p:nvSpPr>
        <p:spPr>
          <a:xfrm>
            <a:off x="2636" y="99101"/>
            <a:ext cx="11375136" cy="609600"/>
          </a:xfrm>
        </p:spPr>
        <p:txBody>
          <a:bodyPr/>
          <a:lstStyle/>
          <a:p>
            <a:r>
              <a:rPr lang="en-US">
                <a:latin typeface="Montserrat"/>
              </a:rPr>
              <a:t>Dunning History</a:t>
            </a:r>
            <a:endParaRPr lang="en-US"/>
          </a:p>
        </p:txBody>
      </p:sp>
      <p:sp>
        <p:nvSpPr>
          <p:cNvPr id="8" name="TextBox 7">
            <a:extLst>
              <a:ext uri="{FF2B5EF4-FFF2-40B4-BE49-F238E27FC236}">
                <a16:creationId xmlns:a16="http://schemas.microsoft.com/office/drawing/2014/main" id="{7718E67A-C7F6-3A95-B9FB-ED0DAAB13EC0}"/>
              </a:ext>
            </a:extLst>
          </p:cNvPr>
          <p:cNvSpPr txBox="1"/>
          <p:nvPr/>
        </p:nvSpPr>
        <p:spPr>
          <a:xfrm>
            <a:off x="3634" y="1632564"/>
            <a:ext cx="1417179" cy="415498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Aptos"/>
              </a:rPr>
              <a:t>Dunning History </a:t>
            </a:r>
            <a:r>
              <a:rPr lang="en-US" sz="1200">
                <a:latin typeface="Aptos"/>
              </a:rPr>
              <a:t>can be found in the "Credit &amp; Collections" work center. Users</a:t>
            </a:r>
            <a:r>
              <a:rPr lang="en-US" sz="1200">
                <a:latin typeface="Aptos"/>
                <a:ea typeface="+mn-lt"/>
                <a:cs typeface="+mn-lt"/>
              </a:rPr>
              <a:t> can link line items to interaction records, reverse the latest dunning level, and perform advance dunning.</a:t>
            </a:r>
            <a:endParaRPr lang="en-US"/>
          </a:p>
          <a:p>
            <a:endParaRPr lang="en-US" sz="1200">
              <a:latin typeface="Aptos"/>
              <a:ea typeface="+mn-lt"/>
              <a:cs typeface="+mn-lt"/>
            </a:endParaRPr>
          </a:p>
          <a:p>
            <a:r>
              <a:rPr lang="en-US" sz="1200">
                <a:latin typeface="Aptos"/>
                <a:ea typeface="+mn-lt"/>
                <a:cs typeface="+mn-lt"/>
              </a:rPr>
              <a:t> Users can also see more details when selecting "Dunning Items," "Dunning Activities," and "Dunning Reductions".</a:t>
            </a:r>
            <a:endParaRPr lang="en-US"/>
          </a:p>
        </p:txBody>
      </p:sp>
      <p:pic>
        <p:nvPicPr>
          <p:cNvPr id="6" name="Picture 5" descr="A screenshot of a computer&#10;&#10;AI-generated content may be incorrect.">
            <a:extLst>
              <a:ext uri="{FF2B5EF4-FFF2-40B4-BE49-F238E27FC236}">
                <a16:creationId xmlns:a16="http://schemas.microsoft.com/office/drawing/2014/main" id="{DC979727-44C4-3AC2-0C99-40F8A35D8C63}"/>
              </a:ext>
            </a:extLst>
          </p:cNvPr>
          <p:cNvPicPr>
            <a:picLocks noChangeAspect="1"/>
          </p:cNvPicPr>
          <p:nvPr/>
        </p:nvPicPr>
        <p:blipFill>
          <a:blip r:embed="rId2"/>
          <a:stretch>
            <a:fillRect/>
          </a:stretch>
        </p:blipFill>
        <p:spPr>
          <a:xfrm>
            <a:off x="1423358" y="701409"/>
            <a:ext cx="10768642" cy="2910388"/>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BE5171ED-5FE2-7F1E-636C-03157EF33DD5}"/>
              </a:ext>
            </a:extLst>
          </p:cNvPr>
          <p:cNvPicPr>
            <a:picLocks noChangeAspect="1"/>
          </p:cNvPicPr>
          <p:nvPr/>
        </p:nvPicPr>
        <p:blipFill>
          <a:blip r:embed="rId3"/>
          <a:stretch>
            <a:fillRect/>
          </a:stretch>
        </p:blipFill>
        <p:spPr>
          <a:xfrm>
            <a:off x="1423358" y="3614636"/>
            <a:ext cx="10768642" cy="1138349"/>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5CBAA8F3-4A38-87FF-7F1C-31B78E7CC356}"/>
              </a:ext>
            </a:extLst>
          </p:cNvPr>
          <p:cNvPicPr>
            <a:picLocks noChangeAspect="1"/>
          </p:cNvPicPr>
          <p:nvPr/>
        </p:nvPicPr>
        <p:blipFill>
          <a:blip r:embed="rId4"/>
          <a:stretch>
            <a:fillRect/>
          </a:stretch>
        </p:blipFill>
        <p:spPr>
          <a:xfrm>
            <a:off x="1427473" y="4616024"/>
            <a:ext cx="10777421" cy="1343025"/>
          </a:xfrm>
          <a:prstGeom prst="rect">
            <a:avLst/>
          </a:prstGeom>
        </p:spPr>
      </p:pic>
      <p:pic>
        <p:nvPicPr>
          <p:cNvPr id="4" name="Picture 3">
            <a:extLst>
              <a:ext uri="{FF2B5EF4-FFF2-40B4-BE49-F238E27FC236}">
                <a16:creationId xmlns:a16="http://schemas.microsoft.com/office/drawing/2014/main" id="{2CCE0FE8-7458-188B-4B18-B40B8F12CD3F}"/>
              </a:ext>
            </a:extLst>
          </p:cNvPr>
          <p:cNvPicPr>
            <a:picLocks noChangeAspect="1"/>
          </p:cNvPicPr>
          <p:nvPr/>
        </p:nvPicPr>
        <p:blipFill>
          <a:blip r:embed="rId5"/>
          <a:stretch>
            <a:fillRect/>
          </a:stretch>
        </p:blipFill>
        <p:spPr>
          <a:xfrm>
            <a:off x="1428285" y="5955216"/>
            <a:ext cx="10775795" cy="904178"/>
          </a:xfrm>
          <a:prstGeom prst="rect">
            <a:avLst/>
          </a:prstGeom>
        </p:spPr>
      </p:pic>
    </p:spTree>
    <p:extLst>
      <p:ext uri="{BB962C8B-B14F-4D97-AF65-F5344CB8AC3E}">
        <p14:creationId xmlns:p14="http://schemas.microsoft.com/office/powerpoint/2010/main" val="29979179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93CF-B2CD-6F83-B24C-B542A5130D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513D9FF-551F-4B77-6F76-652A2D376F8C}"/>
              </a:ext>
            </a:extLst>
          </p:cNvPr>
          <p:cNvSpPr>
            <a:spLocks noGrp="1"/>
          </p:cNvSpPr>
          <p:nvPr>
            <p:ph type="title"/>
          </p:nvPr>
        </p:nvSpPr>
        <p:spPr>
          <a:xfrm>
            <a:off x="2636" y="109398"/>
            <a:ext cx="11375136" cy="609600"/>
          </a:xfrm>
        </p:spPr>
        <p:txBody>
          <a:bodyPr/>
          <a:lstStyle/>
          <a:p>
            <a:r>
              <a:rPr lang="en-US">
                <a:latin typeface="Montserrat"/>
              </a:rPr>
              <a:t>Service</a:t>
            </a:r>
            <a:r>
              <a:rPr lang="en-US" sz="4000">
                <a:latin typeface="Montserrat"/>
              </a:rPr>
              <a:t> </a:t>
            </a:r>
            <a:r>
              <a:rPr lang="en-US">
                <a:latin typeface="Montserrat"/>
              </a:rPr>
              <a:t>Cloud v2 Dunning View</a:t>
            </a:r>
            <a:endParaRPr lang="en-US"/>
          </a:p>
        </p:txBody>
      </p:sp>
      <p:sp>
        <p:nvSpPr>
          <p:cNvPr id="2" name="TextBox 1">
            <a:extLst>
              <a:ext uri="{FF2B5EF4-FFF2-40B4-BE49-F238E27FC236}">
                <a16:creationId xmlns:a16="http://schemas.microsoft.com/office/drawing/2014/main" id="{D32A6EEC-6F4D-39E8-00CD-2104BCCDB3B8}"/>
              </a:ext>
            </a:extLst>
          </p:cNvPr>
          <p:cNvSpPr txBox="1"/>
          <p:nvPr/>
        </p:nvSpPr>
        <p:spPr>
          <a:xfrm>
            <a:off x="-3619" y="934455"/>
            <a:ext cx="12189814" cy="249299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ptos"/>
              </a:rPr>
              <a:t>In the Dunning view of Service Cloud v2, users can simulate dunning. A user can view dunning details like: </a:t>
            </a:r>
          </a:p>
          <a:p>
            <a:pPr>
              <a:spcBef>
                <a:spcPct val="20000"/>
              </a:spcBef>
            </a:pPr>
            <a:endParaRPr lang="en-US" sz="1200">
              <a:latin typeface="Aptos"/>
            </a:endParaRPr>
          </a:p>
          <a:p>
            <a:pPr marL="171450" indent="-171450">
              <a:spcBef>
                <a:spcPct val="20000"/>
              </a:spcBef>
              <a:buFont typeface="Arial"/>
              <a:buChar char="•"/>
            </a:pPr>
            <a:r>
              <a:rPr lang="en-US" sz="1200">
                <a:latin typeface="Aptos"/>
              </a:rPr>
              <a:t>Date of Issue</a:t>
            </a:r>
          </a:p>
          <a:p>
            <a:pPr marL="171450" indent="-171450">
              <a:spcBef>
                <a:spcPct val="20000"/>
              </a:spcBef>
              <a:buFont typeface="Arial"/>
              <a:buChar char="•"/>
            </a:pPr>
            <a:r>
              <a:rPr lang="en-US" sz="1200">
                <a:latin typeface="Aptos"/>
              </a:rPr>
              <a:t>Dunning Procedure</a:t>
            </a:r>
          </a:p>
          <a:p>
            <a:pPr marL="171450" indent="-171450">
              <a:spcBef>
                <a:spcPct val="20000"/>
              </a:spcBef>
              <a:buFont typeface="Arial"/>
              <a:buChar char="•"/>
            </a:pPr>
            <a:r>
              <a:rPr lang="en-US" sz="1200">
                <a:latin typeface="Aptos"/>
              </a:rPr>
              <a:t>Dunning Level</a:t>
            </a:r>
          </a:p>
          <a:p>
            <a:pPr marL="171450" indent="-171450">
              <a:spcBef>
                <a:spcPct val="20000"/>
              </a:spcBef>
              <a:buFont typeface="Arial"/>
              <a:buChar char="•"/>
            </a:pPr>
            <a:r>
              <a:rPr lang="en-US" sz="1200">
                <a:latin typeface="Aptos"/>
              </a:rPr>
              <a:t>Dunning Text</a:t>
            </a:r>
          </a:p>
          <a:p>
            <a:pPr marL="171450" indent="-171450">
              <a:spcBef>
                <a:spcPct val="20000"/>
              </a:spcBef>
              <a:buFont typeface="Arial"/>
              <a:buChar char="•"/>
            </a:pPr>
            <a:r>
              <a:rPr lang="en-US" sz="1200">
                <a:latin typeface="Aptos"/>
              </a:rPr>
              <a:t>Collection Strategy </a:t>
            </a:r>
          </a:p>
          <a:p>
            <a:pPr marL="171450" indent="-171450">
              <a:spcBef>
                <a:spcPct val="20000"/>
              </a:spcBef>
              <a:buFont typeface="Arial"/>
              <a:buChar char="•"/>
            </a:pPr>
            <a:r>
              <a:rPr lang="en-US" sz="1200">
                <a:latin typeface="Aptos"/>
              </a:rPr>
              <a:t>Collection Step </a:t>
            </a:r>
          </a:p>
          <a:p>
            <a:pPr marL="171450" indent="-171450">
              <a:spcBef>
                <a:spcPct val="20000"/>
              </a:spcBef>
              <a:buFont typeface="Arial"/>
              <a:buChar char="•"/>
            </a:pPr>
            <a:r>
              <a:rPr lang="en-US" sz="1200">
                <a:latin typeface="Aptos"/>
              </a:rPr>
              <a:t>Balance</a:t>
            </a:r>
          </a:p>
          <a:p>
            <a:pPr marL="171450" indent="-171450">
              <a:spcBef>
                <a:spcPct val="20000"/>
              </a:spcBef>
              <a:buFont typeface="Arial"/>
              <a:buChar char="•"/>
            </a:pPr>
            <a:r>
              <a:rPr lang="en-US" sz="1200">
                <a:latin typeface="Aptos"/>
              </a:rPr>
              <a:t>Print Date</a:t>
            </a:r>
          </a:p>
          <a:p>
            <a:pPr marL="171450" indent="-171450">
              <a:spcBef>
                <a:spcPct val="20000"/>
              </a:spcBef>
              <a:buFont typeface="Arial"/>
              <a:buChar char="•"/>
            </a:pPr>
            <a:endParaRPr lang="en-US" sz="1200">
              <a:latin typeface="Aptos"/>
            </a:endParaRPr>
          </a:p>
        </p:txBody>
      </p:sp>
      <p:pic>
        <p:nvPicPr>
          <p:cNvPr id="5" name="Picture 4" descr="A screenshot of a computer&#10;&#10;AI-generated content may be incorrect.">
            <a:extLst>
              <a:ext uri="{FF2B5EF4-FFF2-40B4-BE49-F238E27FC236}">
                <a16:creationId xmlns:a16="http://schemas.microsoft.com/office/drawing/2014/main" id="{5D7E6097-4C50-261B-1227-5228AD142A35}"/>
              </a:ext>
            </a:extLst>
          </p:cNvPr>
          <p:cNvPicPr>
            <a:picLocks noChangeAspect="1"/>
          </p:cNvPicPr>
          <p:nvPr/>
        </p:nvPicPr>
        <p:blipFill>
          <a:blip r:embed="rId2"/>
          <a:stretch>
            <a:fillRect/>
          </a:stretch>
        </p:blipFill>
        <p:spPr>
          <a:xfrm>
            <a:off x="1720074" y="1366838"/>
            <a:ext cx="10470997" cy="4124325"/>
          </a:xfrm>
          <a:prstGeom prst="rect">
            <a:avLst/>
          </a:prstGeom>
        </p:spPr>
      </p:pic>
    </p:spTree>
    <p:extLst>
      <p:ext uri="{BB962C8B-B14F-4D97-AF65-F5344CB8AC3E}">
        <p14:creationId xmlns:p14="http://schemas.microsoft.com/office/powerpoint/2010/main" val="24317946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03771-096C-062E-98A5-4412E13EB2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DE872E-7A5A-574D-61BA-32B53E6604C7}"/>
              </a:ext>
            </a:extLst>
          </p:cNvPr>
          <p:cNvSpPr>
            <a:spLocks noGrp="1"/>
          </p:cNvSpPr>
          <p:nvPr>
            <p:ph type="title"/>
          </p:nvPr>
        </p:nvSpPr>
        <p:spPr>
          <a:xfrm>
            <a:off x="2636" y="99101"/>
            <a:ext cx="11375136" cy="609600"/>
          </a:xfrm>
        </p:spPr>
        <p:txBody>
          <a:bodyPr/>
          <a:lstStyle/>
          <a:p>
            <a:r>
              <a:rPr lang="en-US">
                <a:latin typeface="Montserrat"/>
              </a:rPr>
              <a:t>Write Off History</a:t>
            </a:r>
            <a:endParaRPr lang="en-US"/>
          </a:p>
        </p:txBody>
      </p:sp>
      <p:sp>
        <p:nvSpPr>
          <p:cNvPr id="8" name="TextBox 7">
            <a:extLst>
              <a:ext uri="{FF2B5EF4-FFF2-40B4-BE49-F238E27FC236}">
                <a16:creationId xmlns:a16="http://schemas.microsoft.com/office/drawing/2014/main" id="{0BBE7A8B-CFB7-4B82-BAC7-44ACB9C88CED}"/>
              </a:ext>
            </a:extLst>
          </p:cNvPr>
          <p:cNvSpPr txBox="1"/>
          <p:nvPr/>
        </p:nvSpPr>
        <p:spPr>
          <a:xfrm>
            <a:off x="3634" y="777638"/>
            <a:ext cx="12187398" cy="341632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Aptos"/>
              </a:rPr>
              <a:t>Write Off History </a:t>
            </a:r>
            <a:r>
              <a:rPr lang="en-US" sz="1200">
                <a:latin typeface="Aptos"/>
              </a:rPr>
              <a:t>can be found in the "Credit &amp; Collections" work center. Users</a:t>
            </a:r>
            <a:r>
              <a:rPr lang="en-US" sz="1200">
                <a:latin typeface="Aptos"/>
                <a:ea typeface="+mn-lt"/>
                <a:cs typeface="+mn-lt"/>
              </a:rPr>
              <a:t> can view information about the customer's write off such as:</a:t>
            </a:r>
          </a:p>
          <a:p>
            <a:endParaRPr lang="en-US" sz="1200">
              <a:latin typeface="Aptos"/>
            </a:endParaRPr>
          </a:p>
          <a:p>
            <a:pPr marL="171450" indent="-171450">
              <a:buFont typeface="Arial"/>
              <a:buChar char="•"/>
            </a:pPr>
            <a:r>
              <a:rPr lang="en-US" sz="1200">
                <a:latin typeface="Aptos"/>
                <a:ea typeface="+mn-lt"/>
                <a:cs typeface="+mn-lt"/>
              </a:rPr>
              <a:t>Write-Off Document Number</a:t>
            </a:r>
          </a:p>
          <a:p>
            <a:pPr marL="171450" indent="-171450">
              <a:buFont typeface="Arial"/>
              <a:buChar char="•"/>
            </a:pPr>
            <a:r>
              <a:rPr lang="en-US" sz="1200">
                <a:latin typeface="Aptos"/>
                <a:ea typeface="+mn-lt"/>
                <a:cs typeface="+mn-lt"/>
              </a:rPr>
              <a:t>Document Number</a:t>
            </a:r>
          </a:p>
          <a:p>
            <a:pPr marL="171450" indent="-171450">
              <a:buFont typeface="Arial"/>
              <a:buChar char="•"/>
            </a:pPr>
            <a:r>
              <a:rPr lang="en-US" sz="1200">
                <a:latin typeface="Aptos"/>
                <a:ea typeface="+mn-lt"/>
                <a:cs typeface="+mn-lt"/>
              </a:rPr>
              <a:t>Item Number</a:t>
            </a:r>
          </a:p>
          <a:p>
            <a:pPr marL="171450" indent="-171450">
              <a:buFont typeface="Arial"/>
              <a:buChar char="•"/>
            </a:pPr>
            <a:r>
              <a:rPr lang="en-US" sz="1200">
                <a:latin typeface="Aptos"/>
                <a:ea typeface="+mn-lt"/>
                <a:cs typeface="+mn-lt"/>
              </a:rPr>
              <a:t>Sub-Item</a:t>
            </a:r>
          </a:p>
          <a:p>
            <a:pPr marL="171450" indent="-171450">
              <a:buFont typeface="Arial"/>
              <a:buChar char="•"/>
            </a:pPr>
            <a:r>
              <a:rPr lang="en-US" sz="1200">
                <a:latin typeface="Aptos"/>
                <a:ea typeface="+mn-lt"/>
                <a:cs typeface="+mn-lt"/>
              </a:rPr>
              <a:t>Business Agreement ID</a:t>
            </a:r>
          </a:p>
          <a:p>
            <a:pPr marL="171450" indent="-171450">
              <a:buFont typeface="Arial"/>
              <a:buChar char="•"/>
            </a:pPr>
            <a:r>
              <a:rPr lang="en-US" sz="1200">
                <a:latin typeface="Aptos"/>
                <a:ea typeface="+mn-lt"/>
                <a:cs typeface="+mn-lt"/>
              </a:rPr>
              <a:t>Amount</a:t>
            </a:r>
          </a:p>
          <a:p>
            <a:pPr marL="171450" indent="-171450">
              <a:buFont typeface="Arial"/>
              <a:buChar char="•"/>
            </a:pPr>
            <a:r>
              <a:rPr lang="en-US" sz="1200">
                <a:latin typeface="Aptos"/>
                <a:ea typeface="+mn-lt"/>
                <a:cs typeface="+mn-lt"/>
              </a:rPr>
              <a:t>Write Off Reason</a:t>
            </a:r>
          </a:p>
          <a:p>
            <a:pPr marL="171450" indent="-171450">
              <a:buFont typeface="Arial"/>
              <a:buChar char="•"/>
            </a:pPr>
            <a:r>
              <a:rPr lang="en-US" sz="1200">
                <a:latin typeface="Aptos"/>
                <a:ea typeface="+mn-lt"/>
                <a:cs typeface="+mn-lt"/>
              </a:rPr>
              <a:t>Recon Date</a:t>
            </a:r>
          </a:p>
          <a:p>
            <a:pPr marL="171450" indent="-171450">
              <a:buFont typeface="Arial"/>
              <a:buChar char="•"/>
            </a:pPr>
            <a:r>
              <a:rPr lang="en-US" sz="1200">
                <a:latin typeface="Aptos"/>
                <a:ea typeface="+mn-lt"/>
                <a:cs typeface="+mn-lt"/>
              </a:rPr>
              <a:t>Statistical Key </a:t>
            </a:r>
          </a:p>
          <a:p>
            <a:pPr marL="171450" indent="-171450">
              <a:buFont typeface="Arial"/>
              <a:buChar char="•"/>
            </a:pPr>
            <a:r>
              <a:rPr lang="en-US" sz="1200">
                <a:latin typeface="Aptos"/>
                <a:ea typeface="+mn-lt"/>
                <a:cs typeface="+mn-lt"/>
              </a:rPr>
              <a:t>Origin</a:t>
            </a:r>
          </a:p>
          <a:p>
            <a:pPr marL="171450" indent="-171450">
              <a:buFont typeface="Arial"/>
              <a:buChar char="•"/>
            </a:pPr>
            <a:r>
              <a:rPr lang="en-US" sz="1200">
                <a:latin typeface="Aptos"/>
                <a:ea typeface="+mn-lt"/>
                <a:cs typeface="+mn-lt"/>
              </a:rPr>
              <a:t>Document Type</a:t>
            </a:r>
          </a:p>
          <a:p>
            <a:pPr marL="171450" indent="-171450">
              <a:buFont typeface="Arial"/>
              <a:buChar char="•"/>
            </a:pPr>
            <a:r>
              <a:rPr lang="en-US" sz="1200">
                <a:latin typeface="Aptos"/>
                <a:ea typeface="+mn-lt"/>
                <a:cs typeface="+mn-lt"/>
              </a:rPr>
              <a:t>Reversed</a:t>
            </a:r>
          </a:p>
          <a:p>
            <a:pPr marL="171450" indent="-171450">
              <a:buFont typeface="Arial"/>
              <a:buChar char="•"/>
            </a:pPr>
            <a:r>
              <a:rPr lang="en-US" sz="1200">
                <a:latin typeface="Aptos"/>
                <a:ea typeface="+mn-lt"/>
                <a:cs typeface="+mn-lt"/>
              </a:rPr>
              <a:t>Date ID</a:t>
            </a:r>
          </a:p>
          <a:p>
            <a:pPr marL="171450" indent="-171450">
              <a:buFont typeface="Arial"/>
              <a:buChar char="•"/>
            </a:pPr>
            <a:r>
              <a:rPr lang="en-US" sz="1200">
                <a:latin typeface="Aptos"/>
                <a:ea typeface="+mn-lt"/>
                <a:cs typeface="+mn-lt"/>
              </a:rPr>
              <a:t>Collection Agency BP</a:t>
            </a:r>
          </a:p>
          <a:p>
            <a:pPr marL="171450" indent="-171450">
              <a:buFont typeface="Arial"/>
              <a:buChar char="•"/>
            </a:pPr>
            <a:r>
              <a:rPr lang="en-US" sz="1200">
                <a:latin typeface="Aptos"/>
                <a:ea typeface="+mn-lt"/>
                <a:cs typeface="+mn-lt"/>
              </a:rPr>
              <a:t>Submission Status</a:t>
            </a:r>
          </a:p>
          <a:p>
            <a:pPr marL="171450" indent="-171450">
              <a:buFont typeface="Arial"/>
              <a:buChar char="•"/>
            </a:pPr>
            <a:endParaRPr lang="en-US" sz="1200">
              <a:latin typeface="Aptos"/>
              <a:ea typeface="+mn-lt"/>
              <a:cs typeface="+mn-lt"/>
            </a:endParaRPr>
          </a:p>
        </p:txBody>
      </p:sp>
      <p:pic>
        <p:nvPicPr>
          <p:cNvPr id="5" name="Picture 4" descr="A screenshot of a computer&#10;&#10;AI-generated content may be incorrect.">
            <a:extLst>
              <a:ext uri="{FF2B5EF4-FFF2-40B4-BE49-F238E27FC236}">
                <a16:creationId xmlns:a16="http://schemas.microsoft.com/office/drawing/2014/main" id="{AEEBD69F-D7B9-3E03-E8DF-7FF438A4BF08}"/>
              </a:ext>
            </a:extLst>
          </p:cNvPr>
          <p:cNvPicPr>
            <a:picLocks noChangeAspect="1"/>
          </p:cNvPicPr>
          <p:nvPr/>
        </p:nvPicPr>
        <p:blipFill>
          <a:blip r:embed="rId2"/>
          <a:stretch>
            <a:fillRect/>
          </a:stretch>
        </p:blipFill>
        <p:spPr>
          <a:xfrm>
            <a:off x="0" y="4016137"/>
            <a:ext cx="12192000" cy="2022409"/>
          </a:xfrm>
          <a:prstGeom prst="rect">
            <a:avLst/>
          </a:prstGeom>
        </p:spPr>
      </p:pic>
    </p:spTree>
    <p:extLst>
      <p:ext uri="{BB962C8B-B14F-4D97-AF65-F5344CB8AC3E}">
        <p14:creationId xmlns:p14="http://schemas.microsoft.com/office/powerpoint/2010/main" val="2499685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FEBF8-324C-4C80-1317-F22A05C13D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B90B33-4BBF-72F8-01A9-4552B68A0C36}"/>
              </a:ext>
            </a:extLst>
          </p:cNvPr>
          <p:cNvSpPr>
            <a:spLocks noGrp="1"/>
          </p:cNvSpPr>
          <p:nvPr>
            <p:ph type="title"/>
          </p:nvPr>
        </p:nvSpPr>
        <p:spPr>
          <a:xfrm>
            <a:off x="2636" y="109398"/>
            <a:ext cx="11375136" cy="609600"/>
          </a:xfrm>
        </p:spPr>
        <p:txBody>
          <a:bodyPr/>
          <a:lstStyle/>
          <a:p>
            <a:r>
              <a:rPr lang="en-US">
                <a:latin typeface="Montserrat"/>
              </a:rPr>
              <a:t>Service</a:t>
            </a:r>
            <a:r>
              <a:rPr lang="en-US" sz="4000">
                <a:latin typeface="Montserrat"/>
              </a:rPr>
              <a:t> </a:t>
            </a:r>
            <a:r>
              <a:rPr lang="en-US">
                <a:latin typeface="Montserrat"/>
              </a:rPr>
              <a:t>Cloud v2 Write Off View</a:t>
            </a:r>
            <a:endParaRPr lang="en-US"/>
          </a:p>
        </p:txBody>
      </p:sp>
      <p:sp>
        <p:nvSpPr>
          <p:cNvPr id="2" name="TextBox 1">
            <a:extLst>
              <a:ext uri="{FF2B5EF4-FFF2-40B4-BE49-F238E27FC236}">
                <a16:creationId xmlns:a16="http://schemas.microsoft.com/office/drawing/2014/main" id="{64A74CED-1A33-46CF-0DDD-6AC91E934F58}"/>
              </a:ext>
            </a:extLst>
          </p:cNvPr>
          <p:cNvSpPr txBox="1"/>
          <p:nvPr/>
        </p:nvSpPr>
        <p:spPr>
          <a:xfrm>
            <a:off x="-3619" y="934455"/>
            <a:ext cx="12199106" cy="227139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ptos"/>
              </a:rPr>
              <a:t>In the Write Off view of Service Cloud v2, users can view details like: </a:t>
            </a:r>
          </a:p>
          <a:p>
            <a:pPr>
              <a:spcBef>
                <a:spcPct val="20000"/>
              </a:spcBef>
            </a:pPr>
            <a:endParaRPr lang="en-US" sz="1200">
              <a:latin typeface="Aptos"/>
            </a:endParaRPr>
          </a:p>
          <a:p>
            <a:pPr marL="171450" indent="-171450">
              <a:spcBef>
                <a:spcPct val="20000"/>
              </a:spcBef>
              <a:buFont typeface="Arial"/>
              <a:buChar char="•"/>
            </a:pPr>
            <a:r>
              <a:rPr lang="en-US" sz="1200">
                <a:latin typeface="Aptos"/>
              </a:rPr>
              <a:t>Write Off Document Number</a:t>
            </a:r>
          </a:p>
          <a:p>
            <a:pPr marL="171450" indent="-171450">
              <a:spcBef>
                <a:spcPct val="20000"/>
              </a:spcBef>
              <a:buFont typeface="Arial"/>
              <a:buChar char="•"/>
            </a:pPr>
            <a:r>
              <a:rPr lang="en-US" sz="1200">
                <a:latin typeface="Aptos"/>
              </a:rPr>
              <a:t>Document Number</a:t>
            </a:r>
          </a:p>
          <a:p>
            <a:pPr marL="171450" indent="-171450">
              <a:spcBef>
                <a:spcPct val="20000"/>
              </a:spcBef>
              <a:buFont typeface="Arial"/>
              <a:buChar char="•"/>
            </a:pPr>
            <a:r>
              <a:rPr lang="en-US" sz="1200">
                <a:latin typeface="Aptos"/>
              </a:rPr>
              <a:t>Write Off Amount</a:t>
            </a:r>
          </a:p>
          <a:p>
            <a:pPr marL="171450" indent="-171450">
              <a:spcBef>
                <a:spcPct val="20000"/>
              </a:spcBef>
              <a:buFont typeface="Arial"/>
              <a:buChar char="•"/>
            </a:pPr>
            <a:r>
              <a:rPr lang="en-US" sz="1200">
                <a:latin typeface="Aptos"/>
              </a:rPr>
              <a:t>Write Off Reason</a:t>
            </a:r>
          </a:p>
          <a:p>
            <a:pPr marL="171450" indent="-171450">
              <a:spcBef>
                <a:spcPct val="20000"/>
              </a:spcBef>
              <a:buFont typeface="Arial"/>
              <a:buChar char="•"/>
            </a:pPr>
            <a:r>
              <a:rPr lang="en-US" sz="1200">
                <a:latin typeface="Aptos"/>
              </a:rPr>
              <a:t>Write Off Date </a:t>
            </a:r>
          </a:p>
          <a:p>
            <a:pPr marL="171450" indent="-171450">
              <a:spcBef>
                <a:spcPct val="20000"/>
              </a:spcBef>
              <a:buFont typeface="Arial"/>
              <a:buChar char="•"/>
            </a:pPr>
            <a:r>
              <a:rPr lang="en-US" sz="1200">
                <a:latin typeface="Aptos"/>
              </a:rPr>
              <a:t>Reversed</a:t>
            </a:r>
          </a:p>
          <a:p>
            <a:pPr marL="171450" indent="-171450">
              <a:spcBef>
                <a:spcPct val="20000"/>
              </a:spcBef>
              <a:buFont typeface="Arial"/>
              <a:buChar char="•"/>
            </a:pPr>
            <a:r>
              <a:rPr lang="en-US" sz="1200">
                <a:latin typeface="Aptos"/>
              </a:rPr>
              <a:t>Write Off Reason Code</a:t>
            </a:r>
          </a:p>
          <a:p>
            <a:pPr marL="171450" indent="-171450">
              <a:spcBef>
                <a:spcPct val="20000"/>
              </a:spcBef>
              <a:buFont typeface="Arial"/>
              <a:buChar char="•"/>
            </a:pPr>
            <a:endParaRPr lang="en-US" sz="1200">
              <a:latin typeface="Aptos"/>
            </a:endParaRPr>
          </a:p>
        </p:txBody>
      </p:sp>
      <p:pic>
        <p:nvPicPr>
          <p:cNvPr id="4" name="Picture 3" descr="A screenshot of a computer&#10;&#10;AI-generated content may be incorrect.">
            <a:extLst>
              <a:ext uri="{FF2B5EF4-FFF2-40B4-BE49-F238E27FC236}">
                <a16:creationId xmlns:a16="http://schemas.microsoft.com/office/drawing/2014/main" id="{FC01870F-1945-7350-F246-0AC6F509FDE0}"/>
              </a:ext>
            </a:extLst>
          </p:cNvPr>
          <p:cNvPicPr>
            <a:picLocks noChangeAspect="1"/>
          </p:cNvPicPr>
          <p:nvPr/>
        </p:nvPicPr>
        <p:blipFill>
          <a:blip r:embed="rId2"/>
          <a:stretch>
            <a:fillRect/>
          </a:stretch>
        </p:blipFill>
        <p:spPr>
          <a:xfrm>
            <a:off x="2025804" y="1710434"/>
            <a:ext cx="10166196" cy="3688034"/>
          </a:xfrm>
          <a:prstGeom prst="rect">
            <a:avLst/>
          </a:prstGeom>
        </p:spPr>
      </p:pic>
    </p:spTree>
    <p:extLst>
      <p:ext uri="{BB962C8B-B14F-4D97-AF65-F5344CB8AC3E}">
        <p14:creationId xmlns:p14="http://schemas.microsoft.com/office/powerpoint/2010/main" val="3255136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848FC-F0F4-DD1A-5C37-3152F3FF2C9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6B7CD5-B1B8-4388-8DAC-79111AEC75B8}"/>
              </a:ext>
            </a:extLst>
          </p:cNvPr>
          <p:cNvSpPr>
            <a:spLocks noGrp="1"/>
          </p:cNvSpPr>
          <p:nvPr>
            <p:ph type="title"/>
          </p:nvPr>
        </p:nvSpPr>
        <p:spPr>
          <a:xfrm>
            <a:off x="2636" y="117686"/>
            <a:ext cx="5780941" cy="591015"/>
          </a:xfrm>
        </p:spPr>
        <p:txBody>
          <a:bodyPr/>
          <a:lstStyle/>
          <a:p>
            <a:r>
              <a:rPr lang="en-US">
                <a:latin typeface="Montserrat"/>
              </a:rPr>
              <a:t>Transfer Open Items</a:t>
            </a:r>
            <a:endParaRPr lang="en-US"/>
          </a:p>
        </p:txBody>
      </p:sp>
      <p:sp>
        <p:nvSpPr>
          <p:cNvPr id="8" name="TextBox 7">
            <a:extLst>
              <a:ext uri="{FF2B5EF4-FFF2-40B4-BE49-F238E27FC236}">
                <a16:creationId xmlns:a16="http://schemas.microsoft.com/office/drawing/2014/main" id="{092A0269-BC71-D584-5F17-77D4B7BE045B}"/>
              </a:ext>
            </a:extLst>
          </p:cNvPr>
          <p:cNvSpPr txBox="1"/>
          <p:nvPr/>
        </p:nvSpPr>
        <p:spPr>
          <a:xfrm>
            <a:off x="3634" y="1000662"/>
            <a:ext cx="5403742" cy="55399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Transfer Open Items </a:t>
            </a:r>
            <a:r>
              <a:rPr lang="en-US" sz="1400">
                <a:latin typeface="Aptos"/>
              </a:rPr>
              <a:t>can be found in the "Credit &amp; Collections" work center. It is a transaction launcher to</a:t>
            </a:r>
            <a:r>
              <a:rPr lang="en-US" sz="1600">
                <a:latin typeface="Aptos"/>
              </a:rPr>
              <a:t> </a:t>
            </a:r>
            <a:endParaRPr lang="en-US" sz="1600">
              <a:latin typeface="Aptos"/>
              <a:ea typeface="+mn-lt"/>
              <a:cs typeface="+mn-lt"/>
            </a:endParaRPr>
          </a:p>
        </p:txBody>
      </p:sp>
      <p:pic>
        <p:nvPicPr>
          <p:cNvPr id="2" name="Picture 1" descr="A screenshot of a computer&#10;&#10;AI-generated content may be incorrect.">
            <a:extLst>
              <a:ext uri="{FF2B5EF4-FFF2-40B4-BE49-F238E27FC236}">
                <a16:creationId xmlns:a16="http://schemas.microsoft.com/office/drawing/2014/main" id="{62797B11-C3BA-1AE9-1228-E802E6E3BB32}"/>
              </a:ext>
            </a:extLst>
          </p:cNvPr>
          <p:cNvPicPr>
            <a:picLocks noChangeAspect="1"/>
          </p:cNvPicPr>
          <p:nvPr/>
        </p:nvPicPr>
        <p:blipFill>
          <a:blip r:embed="rId2"/>
          <a:stretch>
            <a:fillRect/>
          </a:stretch>
        </p:blipFill>
        <p:spPr>
          <a:xfrm>
            <a:off x="397263" y="1713803"/>
            <a:ext cx="4994818" cy="4294614"/>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8A02F0AD-B489-BDEC-FA39-C3D9127DDF0C}"/>
              </a:ext>
            </a:extLst>
          </p:cNvPr>
          <p:cNvPicPr>
            <a:picLocks noChangeAspect="1"/>
          </p:cNvPicPr>
          <p:nvPr/>
        </p:nvPicPr>
        <p:blipFill>
          <a:blip r:embed="rId3"/>
          <a:stretch>
            <a:fillRect/>
          </a:stretch>
        </p:blipFill>
        <p:spPr>
          <a:xfrm>
            <a:off x="5662846" y="1710667"/>
            <a:ext cx="6414043" cy="3696862"/>
          </a:xfrm>
          <a:prstGeom prst="rect">
            <a:avLst/>
          </a:prstGeom>
        </p:spPr>
      </p:pic>
      <p:sp>
        <p:nvSpPr>
          <p:cNvPr id="9" name="Title 2">
            <a:extLst>
              <a:ext uri="{FF2B5EF4-FFF2-40B4-BE49-F238E27FC236}">
                <a16:creationId xmlns:a16="http://schemas.microsoft.com/office/drawing/2014/main" id="{17F629FA-7D50-2885-300B-F69C75C7DB24}"/>
              </a:ext>
            </a:extLst>
          </p:cNvPr>
          <p:cNvSpPr txBox="1">
            <a:spLocks/>
          </p:cNvSpPr>
          <p:nvPr/>
        </p:nvSpPr>
        <p:spPr>
          <a:xfrm>
            <a:off x="5665597" y="112110"/>
            <a:ext cx="5780941" cy="591015"/>
          </a:xfrm>
          <a:prstGeom prst="rect">
            <a:avLst/>
          </a:prstGeom>
        </p:spPr>
        <p:txBody>
          <a:bodyPr vert="horz" lIns="0" tIns="45720" rIns="91440" bIns="0" rtlCol="0" anchor="b">
            <a:noAutofit/>
          </a:bodyPr>
          <a:lst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a:lstStyle>
          <a:p>
            <a:r>
              <a:rPr lang="en-US">
                <a:latin typeface="Montserrat"/>
              </a:rPr>
              <a:t>Online Debit Transfer</a:t>
            </a:r>
            <a:endParaRPr lang="en-US"/>
          </a:p>
        </p:txBody>
      </p:sp>
      <p:sp>
        <p:nvSpPr>
          <p:cNvPr id="10" name="TextBox 9">
            <a:extLst>
              <a:ext uri="{FF2B5EF4-FFF2-40B4-BE49-F238E27FC236}">
                <a16:creationId xmlns:a16="http://schemas.microsoft.com/office/drawing/2014/main" id="{0F5C9C9E-9901-5CE6-A9BE-E4FA8067EC26}"/>
              </a:ext>
            </a:extLst>
          </p:cNvPr>
          <p:cNvSpPr txBox="1"/>
          <p:nvPr/>
        </p:nvSpPr>
        <p:spPr>
          <a:xfrm>
            <a:off x="5662878" y="1000662"/>
            <a:ext cx="6416644" cy="52322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Online Debit Transfer </a:t>
            </a:r>
            <a:r>
              <a:rPr lang="en-US" sz="1400">
                <a:latin typeface="Aptos"/>
              </a:rPr>
              <a:t>can be found in the "Credit &amp; Collections" work center. It is a transaction launcher to </a:t>
            </a:r>
            <a:endParaRPr lang="en-US" sz="1400">
              <a:latin typeface="Aptos"/>
              <a:ea typeface="+mn-lt"/>
              <a:cs typeface="+mn-lt"/>
            </a:endParaRPr>
          </a:p>
        </p:txBody>
      </p:sp>
    </p:spTree>
    <p:extLst>
      <p:ext uri="{BB962C8B-B14F-4D97-AF65-F5344CB8AC3E}">
        <p14:creationId xmlns:p14="http://schemas.microsoft.com/office/powerpoint/2010/main" val="26384686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F4043-B432-8E3F-6E89-D411A1AE30F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D75128-84D1-A1A6-9579-96AF365D1BEF}"/>
              </a:ext>
            </a:extLst>
          </p:cNvPr>
          <p:cNvSpPr>
            <a:spLocks noGrp="1"/>
          </p:cNvSpPr>
          <p:nvPr>
            <p:ph type="title"/>
          </p:nvPr>
        </p:nvSpPr>
        <p:spPr>
          <a:xfrm>
            <a:off x="2636" y="99101"/>
            <a:ext cx="11375136" cy="609600"/>
          </a:xfrm>
        </p:spPr>
        <p:txBody>
          <a:bodyPr/>
          <a:lstStyle/>
          <a:p>
            <a:r>
              <a:rPr lang="en-US">
                <a:latin typeface="Montserrat"/>
              </a:rPr>
              <a:t>Billing Overview</a:t>
            </a:r>
            <a:endParaRPr lang="en-US"/>
          </a:p>
        </p:txBody>
      </p:sp>
      <p:sp>
        <p:nvSpPr>
          <p:cNvPr id="8" name="TextBox 7">
            <a:extLst>
              <a:ext uri="{FF2B5EF4-FFF2-40B4-BE49-F238E27FC236}">
                <a16:creationId xmlns:a16="http://schemas.microsoft.com/office/drawing/2014/main" id="{7A9DFE6C-531E-9291-05E6-AD31A3A34A34}"/>
              </a:ext>
            </a:extLst>
          </p:cNvPr>
          <p:cNvSpPr txBox="1"/>
          <p:nvPr/>
        </p:nvSpPr>
        <p:spPr>
          <a:xfrm>
            <a:off x="9110464" y="1158637"/>
            <a:ext cx="3080569" cy="526297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Aptos"/>
              </a:rPr>
              <a:t>Billing Overview </a:t>
            </a:r>
            <a:r>
              <a:rPr lang="en-US" sz="1200">
                <a:latin typeface="Aptos"/>
              </a:rPr>
              <a:t>can be found in the "Billing / Meter Read" work center. A billing tree view is available along with a consumption history table storing the invoice documents.</a:t>
            </a:r>
          </a:p>
          <a:p>
            <a:endParaRPr lang="en-US" sz="1200">
              <a:latin typeface="Aptos"/>
              <a:ea typeface="+mn-lt"/>
              <a:cs typeface="+mn-lt"/>
            </a:endParaRPr>
          </a:p>
          <a:p>
            <a:r>
              <a:rPr lang="en-US" sz="1200">
                <a:latin typeface="Aptos"/>
                <a:ea typeface="+mn-lt"/>
                <a:cs typeface="+mn-lt"/>
              </a:rPr>
              <a:t>Users can view details of the consumption history such as:</a:t>
            </a:r>
          </a:p>
          <a:p>
            <a:endParaRPr lang="en-US" sz="1200">
              <a:latin typeface="Aptos"/>
            </a:endParaRPr>
          </a:p>
          <a:p>
            <a:pPr marL="171450" indent="-171450">
              <a:buFont typeface="Calibri"/>
              <a:buChar char="-"/>
            </a:pPr>
            <a:r>
              <a:rPr lang="en-US" sz="1200">
                <a:latin typeface="Aptos"/>
              </a:rPr>
              <a:t>Invoice Number</a:t>
            </a:r>
          </a:p>
          <a:p>
            <a:pPr marL="171450" indent="-171450">
              <a:buFont typeface="Calibri"/>
              <a:buChar char="-"/>
            </a:pPr>
            <a:r>
              <a:rPr lang="en-US" sz="1200">
                <a:latin typeface="Aptos"/>
              </a:rPr>
              <a:t>Reversed</a:t>
            </a:r>
          </a:p>
          <a:p>
            <a:pPr marL="171450" indent="-171450">
              <a:buFont typeface="Calibri"/>
              <a:buChar char="-"/>
            </a:pPr>
            <a:r>
              <a:rPr lang="en-US" sz="1200">
                <a:latin typeface="Aptos"/>
              </a:rPr>
              <a:t>Reversal Reason</a:t>
            </a:r>
          </a:p>
          <a:p>
            <a:pPr marL="171450" indent="-171450">
              <a:buFont typeface="Calibri"/>
              <a:buChar char="-"/>
            </a:pPr>
            <a:r>
              <a:rPr lang="en-US" sz="1200">
                <a:latin typeface="Aptos"/>
              </a:rPr>
              <a:t>Device Number / Register</a:t>
            </a:r>
          </a:p>
          <a:p>
            <a:pPr marL="171450" indent="-171450">
              <a:buFont typeface="Calibri"/>
              <a:buChar char="-"/>
            </a:pPr>
            <a:r>
              <a:rPr lang="en-US" sz="1200">
                <a:latin typeface="Aptos"/>
              </a:rPr>
              <a:t>Billing Period</a:t>
            </a:r>
          </a:p>
          <a:p>
            <a:pPr marL="171450" indent="-171450">
              <a:buFont typeface="Calibri"/>
              <a:buChar char="-"/>
            </a:pPr>
            <a:r>
              <a:rPr lang="en-US" sz="1200">
                <a:latin typeface="Aptos"/>
              </a:rPr>
              <a:t>Billing Reason</a:t>
            </a:r>
          </a:p>
          <a:p>
            <a:pPr marL="171450" indent="-171450">
              <a:buFont typeface="Calibri"/>
              <a:buChar char="-"/>
            </a:pPr>
            <a:r>
              <a:rPr lang="en-US" sz="1200">
                <a:latin typeface="Aptos"/>
              </a:rPr>
              <a:t>Billing Type</a:t>
            </a:r>
          </a:p>
          <a:p>
            <a:pPr marL="171450" indent="-171450">
              <a:buFont typeface="Calibri"/>
              <a:buChar char="-"/>
            </a:pPr>
            <a:r>
              <a:rPr lang="en-US" sz="1200">
                <a:latin typeface="Aptos"/>
              </a:rPr>
              <a:t>Meter Reading Old / New</a:t>
            </a:r>
          </a:p>
          <a:p>
            <a:pPr marL="171450" indent="-171450">
              <a:buFont typeface="Calibri"/>
              <a:buChar char="-"/>
            </a:pPr>
            <a:r>
              <a:rPr lang="en-US" sz="1200">
                <a:latin typeface="Aptos"/>
              </a:rPr>
              <a:t>Status</a:t>
            </a:r>
          </a:p>
          <a:p>
            <a:pPr marL="171450" indent="-171450">
              <a:buFont typeface="Calibri"/>
              <a:buChar char="-"/>
            </a:pPr>
            <a:r>
              <a:rPr lang="en-US" sz="1200">
                <a:latin typeface="Aptos"/>
              </a:rPr>
              <a:t>Meter Read Note</a:t>
            </a:r>
          </a:p>
          <a:p>
            <a:pPr marL="171450" indent="-171450">
              <a:buFont typeface="Calibri"/>
              <a:buChar char="-"/>
            </a:pPr>
            <a:r>
              <a:rPr lang="en-US" sz="1200">
                <a:latin typeface="Aptos"/>
              </a:rPr>
              <a:t>Consumption</a:t>
            </a:r>
          </a:p>
          <a:p>
            <a:pPr marL="171450" indent="-171450">
              <a:buFont typeface="Calibri"/>
              <a:buChar char="-"/>
            </a:pPr>
            <a:r>
              <a:rPr lang="en-US" sz="1200">
                <a:latin typeface="Aptos"/>
              </a:rPr>
              <a:t>Billing Quantity</a:t>
            </a:r>
          </a:p>
          <a:p>
            <a:pPr marL="171450" indent="-171450">
              <a:buFont typeface="Calibri"/>
              <a:buChar char="-"/>
            </a:pPr>
            <a:r>
              <a:rPr lang="en-US" sz="1200">
                <a:latin typeface="Aptos"/>
              </a:rPr>
              <a:t>Rate Category </a:t>
            </a:r>
          </a:p>
          <a:p>
            <a:pPr marL="171450" indent="-171450">
              <a:buFont typeface="Calibri"/>
              <a:buChar char="-"/>
            </a:pPr>
            <a:r>
              <a:rPr lang="en-US" sz="1200">
                <a:latin typeface="Aptos"/>
              </a:rPr>
              <a:t>Difference </a:t>
            </a:r>
          </a:p>
          <a:p>
            <a:pPr marL="171450" indent="-171450">
              <a:buFont typeface="Calibri"/>
              <a:buChar char="-"/>
            </a:pPr>
            <a:r>
              <a:rPr lang="en-US" sz="1200">
                <a:latin typeface="Aptos"/>
              </a:rPr>
              <a:t>Register Factor</a:t>
            </a:r>
          </a:p>
          <a:p>
            <a:pPr marL="171450" indent="-171450">
              <a:buFont typeface="Calibri"/>
              <a:buChar char="-"/>
            </a:pPr>
            <a:endParaRPr lang="en-US" sz="1200">
              <a:latin typeface="Aptos"/>
            </a:endParaRPr>
          </a:p>
          <a:p>
            <a:pPr marL="171450" indent="-171450">
              <a:buFont typeface="Calibri"/>
              <a:buChar char="-"/>
            </a:pPr>
            <a:endParaRPr lang="en-US" sz="1200">
              <a:latin typeface="Aptos"/>
            </a:endParaRPr>
          </a:p>
          <a:p>
            <a:pPr marL="171450" indent="-171450">
              <a:buFont typeface="Calibri"/>
              <a:buChar char="-"/>
            </a:pPr>
            <a:endParaRPr lang="en-US" sz="1200">
              <a:latin typeface="Aptos"/>
            </a:endParaRPr>
          </a:p>
          <a:p>
            <a:pPr marL="171450" indent="-171450">
              <a:buFont typeface="Calibri"/>
              <a:buChar char="-"/>
            </a:pPr>
            <a:endParaRPr lang="en-US" sz="1200">
              <a:latin typeface="Aptos"/>
            </a:endParaRPr>
          </a:p>
        </p:txBody>
      </p:sp>
      <p:pic>
        <p:nvPicPr>
          <p:cNvPr id="5" name="Picture 4" descr="A screenshot of a computer&#10;&#10;AI-generated content may be incorrect.">
            <a:extLst>
              <a:ext uri="{FF2B5EF4-FFF2-40B4-BE49-F238E27FC236}">
                <a16:creationId xmlns:a16="http://schemas.microsoft.com/office/drawing/2014/main" id="{FEA6CA73-5E82-6956-D9FA-665839A98B2F}"/>
              </a:ext>
            </a:extLst>
          </p:cNvPr>
          <p:cNvPicPr>
            <a:picLocks noChangeAspect="1"/>
          </p:cNvPicPr>
          <p:nvPr/>
        </p:nvPicPr>
        <p:blipFill>
          <a:blip r:embed="rId2"/>
          <a:stretch>
            <a:fillRect/>
          </a:stretch>
        </p:blipFill>
        <p:spPr>
          <a:xfrm>
            <a:off x="465" y="701597"/>
            <a:ext cx="9105900" cy="5715000"/>
          </a:xfrm>
          <a:prstGeom prst="rect">
            <a:avLst/>
          </a:prstGeom>
        </p:spPr>
      </p:pic>
    </p:spTree>
    <p:extLst>
      <p:ext uri="{BB962C8B-B14F-4D97-AF65-F5344CB8AC3E}">
        <p14:creationId xmlns:p14="http://schemas.microsoft.com/office/powerpoint/2010/main" val="28180252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9701E-49AD-3137-8CB2-7D97F9482C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3BADCC-FCBA-5393-BAD6-A4274DAAD326}"/>
              </a:ext>
            </a:extLst>
          </p:cNvPr>
          <p:cNvSpPr>
            <a:spLocks noGrp="1"/>
          </p:cNvSpPr>
          <p:nvPr>
            <p:ph type="title"/>
          </p:nvPr>
        </p:nvSpPr>
        <p:spPr>
          <a:xfrm>
            <a:off x="2636" y="109398"/>
            <a:ext cx="11375136" cy="609600"/>
          </a:xfrm>
        </p:spPr>
        <p:txBody>
          <a:bodyPr/>
          <a:lstStyle/>
          <a:p>
            <a:r>
              <a:rPr lang="en-US">
                <a:latin typeface="Montserrat"/>
              </a:rPr>
              <a:t>Service Cloud v2 Invoices View</a:t>
            </a:r>
            <a:endParaRPr lang="en-US"/>
          </a:p>
        </p:txBody>
      </p:sp>
      <p:sp>
        <p:nvSpPr>
          <p:cNvPr id="2" name="TextBox 1">
            <a:extLst>
              <a:ext uri="{FF2B5EF4-FFF2-40B4-BE49-F238E27FC236}">
                <a16:creationId xmlns:a16="http://schemas.microsoft.com/office/drawing/2014/main" id="{CBC136D9-B8E0-4331-6EB6-FBA2237E434A}"/>
              </a:ext>
            </a:extLst>
          </p:cNvPr>
          <p:cNvSpPr txBox="1"/>
          <p:nvPr/>
        </p:nvSpPr>
        <p:spPr>
          <a:xfrm>
            <a:off x="5674" y="1445554"/>
            <a:ext cx="1865645" cy="352711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pPr>
            <a:r>
              <a:rPr lang="en-US" sz="1200">
                <a:latin typeface="Aptos"/>
              </a:rPr>
              <a:t>In the Invoices view of Service Cloud v2, users can create an invoice, filter on open items based on posting date or due status and view the PDF of the invoice. Users can see details of the invoice like:</a:t>
            </a:r>
          </a:p>
          <a:p>
            <a:pPr>
              <a:spcBef>
                <a:spcPct val="20000"/>
              </a:spcBef>
            </a:pPr>
            <a:endParaRPr lang="en-US" sz="1200">
              <a:latin typeface="Aptos"/>
            </a:endParaRPr>
          </a:p>
          <a:p>
            <a:pPr marL="171450" indent="-171450">
              <a:spcBef>
                <a:spcPct val="20000"/>
              </a:spcBef>
              <a:buFont typeface="Arial"/>
              <a:buChar char="•"/>
            </a:pPr>
            <a:r>
              <a:rPr lang="en-US" sz="1200">
                <a:latin typeface="Aptos"/>
              </a:rPr>
              <a:t>Document Number</a:t>
            </a:r>
          </a:p>
          <a:p>
            <a:pPr marL="171450" indent="-171450">
              <a:spcBef>
                <a:spcPct val="20000"/>
              </a:spcBef>
              <a:buFont typeface="Arial"/>
              <a:buChar char="•"/>
            </a:pPr>
            <a:r>
              <a:rPr lang="en-US" sz="1200">
                <a:latin typeface="Aptos"/>
              </a:rPr>
              <a:t>Invoice Date</a:t>
            </a:r>
          </a:p>
          <a:p>
            <a:pPr marL="171450" indent="-171450">
              <a:spcBef>
                <a:spcPct val="20000"/>
              </a:spcBef>
              <a:buFont typeface="Arial"/>
              <a:buChar char="•"/>
            </a:pPr>
            <a:r>
              <a:rPr lang="en-US" sz="1200">
                <a:latin typeface="Aptos"/>
              </a:rPr>
              <a:t>Amount Due</a:t>
            </a:r>
          </a:p>
          <a:p>
            <a:pPr marL="171450" indent="-171450">
              <a:spcBef>
                <a:spcPct val="20000"/>
              </a:spcBef>
              <a:buFont typeface="Arial"/>
              <a:buChar char="•"/>
            </a:pPr>
            <a:r>
              <a:rPr lang="en-US" sz="1200">
                <a:latin typeface="Aptos"/>
              </a:rPr>
              <a:t>Due Date</a:t>
            </a:r>
          </a:p>
          <a:p>
            <a:pPr marL="171450" indent="-171450">
              <a:spcBef>
                <a:spcPct val="20000"/>
              </a:spcBef>
              <a:buFont typeface="Arial"/>
              <a:buChar char="•"/>
            </a:pPr>
            <a:r>
              <a:rPr lang="en-US" sz="1200">
                <a:latin typeface="Aptos"/>
              </a:rPr>
              <a:t>Payments</a:t>
            </a:r>
          </a:p>
          <a:p>
            <a:pPr marL="171450" indent="-171450">
              <a:spcBef>
                <a:spcPct val="20000"/>
              </a:spcBef>
              <a:buFont typeface="Arial"/>
              <a:buChar char="•"/>
            </a:pPr>
            <a:r>
              <a:rPr lang="en-US" sz="1200">
                <a:latin typeface="Aptos"/>
              </a:rPr>
              <a:t>Open Amount</a:t>
            </a:r>
          </a:p>
          <a:p>
            <a:pPr marL="171450" indent="-171450">
              <a:spcBef>
                <a:spcPct val="20000"/>
              </a:spcBef>
              <a:buFont typeface="Arial"/>
              <a:buChar char="•"/>
            </a:pPr>
            <a:r>
              <a:rPr lang="en-US" sz="1200">
                <a:latin typeface="Aptos"/>
              </a:rPr>
              <a:t>Reversed</a:t>
            </a:r>
          </a:p>
        </p:txBody>
      </p:sp>
      <p:pic>
        <p:nvPicPr>
          <p:cNvPr id="5" name="Picture 4" descr="A screenshot of a computer&#10;&#10;AI-generated content may be incorrect.">
            <a:extLst>
              <a:ext uri="{FF2B5EF4-FFF2-40B4-BE49-F238E27FC236}">
                <a16:creationId xmlns:a16="http://schemas.microsoft.com/office/drawing/2014/main" id="{B019AEBF-65D0-592B-F4CA-8DAD15B9BD20}"/>
              </a:ext>
            </a:extLst>
          </p:cNvPr>
          <p:cNvPicPr>
            <a:picLocks noChangeAspect="1"/>
          </p:cNvPicPr>
          <p:nvPr/>
        </p:nvPicPr>
        <p:blipFill>
          <a:blip r:embed="rId2"/>
          <a:stretch>
            <a:fillRect/>
          </a:stretch>
        </p:blipFill>
        <p:spPr>
          <a:xfrm>
            <a:off x="1863764" y="1086664"/>
            <a:ext cx="10332302" cy="4238625"/>
          </a:xfrm>
          <a:prstGeom prst="rect">
            <a:avLst/>
          </a:prstGeom>
        </p:spPr>
      </p:pic>
    </p:spTree>
    <p:extLst>
      <p:ext uri="{BB962C8B-B14F-4D97-AF65-F5344CB8AC3E}">
        <p14:creationId xmlns:p14="http://schemas.microsoft.com/office/powerpoint/2010/main" val="32063120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EA6E-7A0A-9158-4C92-51094BED4F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4C5F9E6-3576-ABCE-2B99-6F16E81FF1D4}"/>
              </a:ext>
            </a:extLst>
          </p:cNvPr>
          <p:cNvSpPr>
            <a:spLocks noGrp="1"/>
          </p:cNvSpPr>
          <p:nvPr>
            <p:ph type="title"/>
          </p:nvPr>
        </p:nvSpPr>
        <p:spPr>
          <a:xfrm>
            <a:off x="268904" y="4970926"/>
            <a:ext cx="10831690" cy="1887074"/>
          </a:xfrm>
        </p:spPr>
        <p:txBody>
          <a:bodyPr/>
          <a:lstStyle/>
          <a:p>
            <a:r>
              <a:rPr lang="en-US" sz="4250" b="1">
                <a:latin typeface="Montserrat"/>
              </a:rPr>
              <a:t>BREAK!  - 10 mins</a:t>
            </a:r>
            <a:endParaRPr lang="en-US"/>
          </a:p>
        </p:txBody>
      </p:sp>
    </p:spTree>
    <p:extLst>
      <p:ext uri="{BB962C8B-B14F-4D97-AF65-F5344CB8AC3E}">
        <p14:creationId xmlns:p14="http://schemas.microsoft.com/office/powerpoint/2010/main" val="19636814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464DB-6BCE-600F-DFC7-D0862600C1B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AD1F050-5AB8-5CAC-CBBB-4BA7E18D5658}"/>
              </a:ext>
            </a:extLst>
          </p:cNvPr>
          <p:cNvSpPr>
            <a:spLocks noGrp="1"/>
          </p:cNvSpPr>
          <p:nvPr>
            <p:ph type="title"/>
          </p:nvPr>
        </p:nvSpPr>
        <p:spPr>
          <a:xfrm>
            <a:off x="268904" y="4970926"/>
            <a:ext cx="10831690" cy="1887074"/>
          </a:xfrm>
        </p:spPr>
        <p:txBody>
          <a:bodyPr/>
          <a:lstStyle/>
          <a:p>
            <a:r>
              <a:rPr lang="en-US" sz="4250" b="1">
                <a:latin typeface="Montserrat"/>
              </a:rPr>
              <a:t>03</a:t>
            </a:r>
            <a:r>
              <a:rPr lang="en-US" sz="4250">
                <a:latin typeface="Montserrat"/>
              </a:rPr>
              <a:t> </a:t>
            </a:r>
            <a:r>
              <a:rPr lang="en-US" sz="4400">
                <a:latin typeface="Montserrat"/>
              </a:rPr>
              <a:t>Current &amp; Future State Assumptions</a:t>
            </a:r>
            <a:endParaRPr lang="en-US"/>
          </a:p>
        </p:txBody>
      </p:sp>
    </p:spTree>
    <p:extLst>
      <p:ext uri="{BB962C8B-B14F-4D97-AF65-F5344CB8AC3E}">
        <p14:creationId xmlns:p14="http://schemas.microsoft.com/office/powerpoint/2010/main" val="25423675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736A9F5-6FA5-6E90-4540-7E81EB75C05C}"/>
              </a:ext>
            </a:extLst>
          </p:cNvPr>
          <p:cNvSpPr>
            <a:spLocks noGrp="1"/>
          </p:cNvSpPr>
          <p:nvPr>
            <p:ph idx="1"/>
          </p:nvPr>
        </p:nvSpPr>
        <p:spPr/>
        <p:txBody>
          <a:bodyPr vert="horz" lIns="0" tIns="45720" rIns="91440" bIns="45720" rtlCol="0" anchor="t">
            <a:normAutofit/>
          </a:bodyPr>
          <a:lstStyle/>
          <a:p>
            <a:pPr>
              <a:spcBef>
                <a:spcPts val="0"/>
              </a:spcBef>
              <a:spcAft>
                <a:spcPts val="300"/>
              </a:spcAft>
            </a:pPr>
            <a:endParaRPr lang="en-US" sz="1800">
              <a:latin typeface="Montserrat"/>
            </a:endParaRPr>
          </a:p>
          <a:p>
            <a:pPr>
              <a:spcBef>
                <a:spcPts val="0"/>
              </a:spcBef>
              <a:spcAft>
                <a:spcPts val="300"/>
              </a:spcAft>
            </a:pPr>
            <a:r>
              <a:rPr lang="en-US" sz="1800">
                <a:latin typeface="Montserrat"/>
              </a:rPr>
              <a:t>Contact Accounts or Contracts will not be created in Service Cloud v2 individually. They will only be created during a move in process. </a:t>
            </a:r>
          </a:p>
          <a:p>
            <a:pPr>
              <a:spcBef>
                <a:spcPts val="0"/>
              </a:spcBef>
              <a:spcAft>
                <a:spcPts val="300"/>
              </a:spcAft>
            </a:pPr>
            <a:endParaRPr lang="en-US" sz="1800">
              <a:latin typeface="Montserrat"/>
            </a:endParaRPr>
          </a:p>
          <a:p>
            <a:pPr marL="285750" indent="-285750">
              <a:spcBef>
                <a:spcPts val="0"/>
              </a:spcBef>
              <a:spcAft>
                <a:spcPts val="300"/>
              </a:spcAft>
              <a:buFont typeface="Arial"/>
              <a:buChar char="•"/>
            </a:pPr>
            <a:r>
              <a:rPr lang="en-US" sz="1800">
                <a:latin typeface="Montserrat"/>
              </a:rPr>
              <a:t>DQM does not validate Street 3. </a:t>
            </a:r>
          </a:p>
          <a:p>
            <a:pPr marL="742950" lvl="1" indent="-285750">
              <a:spcBef>
                <a:spcPts val="0"/>
              </a:spcBef>
              <a:spcAft>
                <a:spcPts val="300"/>
              </a:spcAft>
              <a:buFont typeface="Arial"/>
              <a:buChar char="-"/>
            </a:pPr>
            <a:r>
              <a:rPr lang="en-US" sz="1800">
                <a:latin typeface="Montserrat"/>
              </a:rPr>
              <a:t>It is utilized as the PMB (Private Mailbox) details </a:t>
            </a:r>
          </a:p>
          <a:p>
            <a:pPr marL="742950" lvl="1" indent="-285750">
              <a:spcBef>
                <a:spcPts val="0"/>
              </a:spcBef>
              <a:spcAft>
                <a:spcPts val="300"/>
              </a:spcAft>
              <a:buFont typeface="Arial"/>
              <a:buChar char="-"/>
            </a:pPr>
            <a:r>
              <a:rPr lang="en-US" sz="1800">
                <a:latin typeface="Montserrat"/>
              </a:rPr>
              <a:t>PO Box details get added onto the Street field for DQM validation </a:t>
            </a:r>
          </a:p>
          <a:p>
            <a:pPr marL="742950" lvl="1" indent="-285750">
              <a:spcBef>
                <a:spcPts val="0"/>
              </a:spcBef>
              <a:spcAft>
                <a:spcPts val="300"/>
              </a:spcAft>
              <a:buFont typeface="Arial"/>
              <a:buChar char="-"/>
            </a:pPr>
            <a:endParaRPr lang="en-US" sz="1800">
              <a:latin typeface="Montserrat"/>
            </a:endParaRPr>
          </a:p>
          <a:p>
            <a:pPr marL="742950" lvl="1" indent="-285750">
              <a:spcBef>
                <a:spcPts val="0"/>
              </a:spcBef>
              <a:spcAft>
                <a:spcPts val="300"/>
              </a:spcAft>
              <a:buFont typeface="Arial"/>
              <a:buChar char="-"/>
            </a:pPr>
            <a:endParaRPr lang="en-US" sz="1800">
              <a:latin typeface="Montserrat"/>
            </a:endParaRPr>
          </a:p>
          <a:p>
            <a:pPr marL="742950" lvl="1" indent="-285750">
              <a:spcBef>
                <a:spcPts val="0"/>
              </a:spcBef>
              <a:spcAft>
                <a:spcPts val="300"/>
              </a:spcAft>
              <a:buFont typeface="Arial"/>
              <a:buChar char="-"/>
            </a:pPr>
            <a:endParaRPr lang="en-US" sz="1800">
              <a:latin typeface="Montserrat"/>
            </a:endParaRPr>
          </a:p>
        </p:txBody>
      </p:sp>
      <p:sp>
        <p:nvSpPr>
          <p:cNvPr id="2" name="Title 1">
            <a:extLst>
              <a:ext uri="{FF2B5EF4-FFF2-40B4-BE49-F238E27FC236}">
                <a16:creationId xmlns:a16="http://schemas.microsoft.com/office/drawing/2014/main" id="{78C12FBF-5B23-4CEF-91CF-208E41B8A0A1}"/>
              </a:ext>
            </a:extLst>
          </p:cNvPr>
          <p:cNvSpPr>
            <a:spLocks noGrp="1"/>
          </p:cNvSpPr>
          <p:nvPr>
            <p:ph type="title"/>
          </p:nvPr>
        </p:nvSpPr>
        <p:spPr/>
        <p:txBody>
          <a:bodyPr>
            <a:normAutofit/>
          </a:bodyPr>
          <a:lstStyle/>
          <a:p>
            <a:r>
              <a:rPr lang="en-US">
                <a:latin typeface="Montserrat"/>
              </a:rPr>
              <a:t>Assumptions for Future State</a:t>
            </a:r>
          </a:p>
        </p:txBody>
      </p:sp>
    </p:spTree>
    <p:extLst>
      <p:ext uri="{BB962C8B-B14F-4D97-AF65-F5344CB8AC3E}">
        <p14:creationId xmlns:p14="http://schemas.microsoft.com/office/powerpoint/2010/main" val="19290588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736A9F5-6FA5-6E90-4540-7E81EB75C05C}"/>
              </a:ext>
            </a:extLst>
          </p:cNvPr>
          <p:cNvSpPr>
            <a:spLocks noGrp="1"/>
          </p:cNvSpPr>
          <p:nvPr>
            <p:ph idx="1"/>
          </p:nvPr>
        </p:nvSpPr>
        <p:spPr/>
        <p:txBody>
          <a:bodyPr vert="horz" lIns="0" tIns="45720" rIns="91440" bIns="45720" rtlCol="0" anchor="t">
            <a:normAutofit/>
          </a:bodyPr>
          <a:lstStyle/>
          <a:p>
            <a:pPr>
              <a:spcBef>
                <a:spcPts val="0"/>
              </a:spcBef>
              <a:spcAft>
                <a:spcPts val="300"/>
              </a:spcAft>
            </a:pPr>
            <a:endParaRPr lang="en-US" sz="1800">
              <a:latin typeface="Montserrat"/>
            </a:endParaRPr>
          </a:p>
          <a:p>
            <a:pPr marL="285750" indent="-285750">
              <a:spcBef>
                <a:spcPts val="0"/>
              </a:spcBef>
              <a:spcAft>
                <a:spcPts val="300"/>
              </a:spcAft>
              <a:buFont typeface="Arial,Sans-Serif"/>
              <a:buChar char="•"/>
            </a:pPr>
            <a:r>
              <a:rPr lang="en-US" sz="1800">
                <a:latin typeface="Montserrat"/>
              </a:rPr>
              <a:t>Contact Accounts or Contracts will not be created in Service Cloud v2 individually. They will only be created during a move in process. </a:t>
            </a:r>
          </a:p>
          <a:p>
            <a:pPr marL="285750" indent="-285750">
              <a:spcBef>
                <a:spcPts val="0"/>
              </a:spcBef>
              <a:spcAft>
                <a:spcPts val="300"/>
              </a:spcAft>
              <a:buFont typeface="Arial,Sans-Serif"/>
              <a:buChar char="•"/>
            </a:pPr>
            <a:endParaRPr lang="en-US" sz="1800">
              <a:latin typeface="Montserrat"/>
            </a:endParaRPr>
          </a:p>
          <a:p>
            <a:pPr marL="285750" indent="-285750">
              <a:spcBef>
                <a:spcPts val="0"/>
              </a:spcBef>
              <a:spcAft>
                <a:spcPts val="300"/>
              </a:spcAft>
              <a:buFont typeface="Arial,Sans-Serif"/>
              <a:buChar char="•"/>
            </a:pPr>
            <a:r>
              <a:rPr lang="en-US" sz="1800">
                <a:latin typeface="Montserrat"/>
              </a:rPr>
              <a:t>Service Cloud will not expose PO box address fields as DQM does not validate those fields.</a:t>
            </a:r>
          </a:p>
          <a:p>
            <a:pPr>
              <a:spcBef>
                <a:spcPts val="0"/>
              </a:spcBef>
              <a:spcAft>
                <a:spcPts val="300"/>
              </a:spcAft>
            </a:pPr>
            <a:endParaRPr lang="en-US" sz="1800">
              <a:latin typeface="Montserrat"/>
            </a:endParaRPr>
          </a:p>
          <a:p>
            <a:pPr marL="285750" indent="-285750">
              <a:spcBef>
                <a:spcPts val="0"/>
              </a:spcBef>
              <a:spcAft>
                <a:spcPts val="300"/>
              </a:spcAft>
              <a:buFont typeface="Arial,Sans-Serif"/>
              <a:buChar char="•"/>
            </a:pPr>
            <a:r>
              <a:rPr lang="en-US" sz="1800">
                <a:latin typeface="Montserrat"/>
              </a:rPr>
              <a:t>Street 3 is used as the PMB (Private Mailbox) details. This field also does not get validated by DQM.</a:t>
            </a:r>
          </a:p>
          <a:p>
            <a:pPr marL="285750" indent="-285750">
              <a:spcBef>
                <a:spcPts val="0"/>
              </a:spcBef>
              <a:spcAft>
                <a:spcPts val="300"/>
              </a:spcAft>
              <a:buFont typeface="Arial,Sans-Serif"/>
              <a:buChar char="•"/>
            </a:pPr>
            <a:endParaRPr lang="en-US" sz="1800">
              <a:latin typeface="Montserrat"/>
            </a:endParaRPr>
          </a:p>
          <a:p>
            <a:pPr marL="285750" indent="-285750">
              <a:spcBef>
                <a:spcPts val="0"/>
              </a:spcBef>
              <a:spcAft>
                <a:spcPts val="300"/>
              </a:spcAft>
              <a:buFont typeface="Arial,Sans-Serif"/>
              <a:buChar char="•"/>
            </a:pPr>
            <a:r>
              <a:rPr lang="en-US" sz="1800">
                <a:latin typeface="Montserrat"/>
              </a:rPr>
              <a:t>PO Box details get added onto the Street field for DQM validation. </a:t>
            </a:r>
            <a:endParaRPr lang="en-US"/>
          </a:p>
          <a:p>
            <a:pPr marL="285750" indent="-285750">
              <a:spcBef>
                <a:spcPts val="0"/>
              </a:spcBef>
              <a:spcAft>
                <a:spcPts val="300"/>
              </a:spcAft>
              <a:buFont typeface="Arial,Sans-Serif"/>
              <a:buChar char="•"/>
            </a:pPr>
            <a:endParaRPr lang="en-US" sz="1800">
              <a:latin typeface="Montserrat"/>
            </a:endParaRPr>
          </a:p>
          <a:p>
            <a:pPr marL="285750" indent="-285750">
              <a:spcBef>
                <a:spcPts val="0"/>
              </a:spcBef>
              <a:spcAft>
                <a:spcPts val="300"/>
              </a:spcAft>
              <a:buFont typeface="Arial,Sans-Serif"/>
              <a:buChar char="•"/>
            </a:pPr>
            <a:r>
              <a:rPr lang="en-US" sz="1800" b="1">
                <a:latin typeface="Montserrat"/>
              </a:rPr>
              <a:t>The ability to create, change, display switch documents will be available in S/4HANA only</a:t>
            </a:r>
          </a:p>
          <a:p>
            <a:pPr marL="742950" lvl="1" indent="-285750">
              <a:spcBef>
                <a:spcPts val="0"/>
              </a:spcBef>
              <a:spcAft>
                <a:spcPts val="300"/>
              </a:spcAft>
              <a:buFont typeface="Arial"/>
              <a:buChar char="-"/>
            </a:pPr>
            <a:endParaRPr lang="en-US" sz="1800">
              <a:latin typeface="Montserrat"/>
            </a:endParaRPr>
          </a:p>
          <a:p>
            <a:pPr marL="742950" lvl="1" indent="-285750">
              <a:spcBef>
                <a:spcPts val="0"/>
              </a:spcBef>
              <a:spcAft>
                <a:spcPts val="300"/>
              </a:spcAft>
              <a:buFont typeface="Arial"/>
              <a:buChar char="-"/>
            </a:pPr>
            <a:endParaRPr lang="en-US" sz="1800">
              <a:latin typeface="Montserrat"/>
            </a:endParaRPr>
          </a:p>
          <a:p>
            <a:pPr marL="742950" lvl="1" indent="-285750">
              <a:spcBef>
                <a:spcPts val="0"/>
              </a:spcBef>
              <a:spcAft>
                <a:spcPts val="300"/>
              </a:spcAft>
              <a:buFont typeface="Arial"/>
              <a:buChar char="-"/>
            </a:pPr>
            <a:endParaRPr lang="en-US" sz="1800">
              <a:latin typeface="Montserrat"/>
            </a:endParaRPr>
          </a:p>
        </p:txBody>
      </p:sp>
      <p:sp>
        <p:nvSpPr>
          <p:cNvPr id="2" name="Title 1">
            <a:extLst>
              <a:ext uri="{FF2B5EF4-FFF2-40B4-BE49-F238E27FC236}">
                <a16:creationId xmlns:a16="http://schemas.microsoft.com/office/drawing/2014/main" id="{78C12FBF-5B23-4CEF-91CF-208E41B8A0A1}"/>
              </a:ext>
            </a:extLst>
          </p:cNvPr>
          <p:cNvSpPr>
            <a:spLocks noGrp="1"/>
          </p:cNvSpPr>
          <p:nvPr>
            <p:ph type="title"/>
          </p:nvPr>
        </p:nvSpPr>
        <p:spPr/>
        <p:txBody>
          <a:bodyPr>
            <a:normAutofit/>
          </a:bodyPr>
          <a:lstStyle/>
          <a:p>
            <a:r>
              <a:rPr lang="en-US">
                <a:latin typeface="Montserrat"/>
              </a:rPr>
              <a:t>Assumptions for Future State</a:t>
            </a:r>
          </a:p>
        </p:txBody>
      </p:sp>
    </p:spTree>
    <p:extLst>
      <p:ext uri="{BB962C8B-B14F-4D97-AF65-F5344CB8AC3E}">
        <p14:creationId xmlns:p14="http://schemas.microsoft.com/office/powerpoint/2010/main" val="19290588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110D1-425A-90D7-587B-A3CBCF8172DB}"/>
              </a:ext>
            </a:extLst>
          </p:cNvPr>
          <p:cNvSpPr>
            <a:spLocks noGrp="1"/>
          </p:cNvSpPr>
          <p:nvPr>
            <p:ph type="title"/>
          </p:nvPr>
        </p:nvSpPr>
        <p:spPr/>
        <p:txBody>
          <a:bodyPr>
            <a:normAutofit/>
          </a:bodyPr>
          <a:lstStyle/>
          <a:p>
            <a:r>
              <a:rPr lang="en-US">
                <a:latin typeface="Montserrat"/>
              </a:rPr>
              <a:t>Custom Fields</a:t>
            </a:r>
            <a:endParaRPr lang="en-US"/>
          </a:p>
        </p:txBody>
      </p:sp>
      <p:graphicFrame>
        <p:nvGraphicFramePr>
          <p:cNvPr id="3" name="Table 2">
            <a:extLst>
              <a:ext uri="{FF2B5EF4-FFF2-40B4-BE49-F238E27FC236}">
                <a16:creationId xmlns:a16="http://schemas.microsoft.com/office/drawing/2014/main" id="{7ED798C3-46BD-9742-9A80-BCF62A7B10F3}"/>
              </a:ext>
            </a:extLst>
          </p:cNvPr>
          <p:cNvGraphicFramePr>
            <a:graphicFrameLocks noGrp="1"/>
          </p:cNvGraphicFramePr>
          <p:nvPr/>
        </p:nvGraphicFramePr>
        <p:xfrm>
          <a:off x="594731" y="1050072"/>
          <a:ext cx="10495316" cy="4448784"/>
        </p:xfrm>
        <a:graphic>
          <a:graphicData uri="http://schemas.openxmlformats.org/drawingml/2006/table">
            <a:tbl>
              <a:tblPr firstRow="1" bandRow="1">
                <a:tableStyleId>{6E25E649-3F16-4E02-A733-19D2CDBF48F0}</a:tableStyleId>
              </a:tblPr>
              <a:tblGrid>
                <a:gridCol w="1975104">
                  <a:extLst>
                    <a:ext uri="{9D8B030D-6E8A-4147-A177-3AD203B41FA5}">
                      <a16:colId xmlns:a16="http://schemas.microsoft.com/office/drawing/2014/main" val="4007391429"/>
                    </a:ext>
                  </a:extLst>
                </a:gridCol>
                <a:gridCol w="1938527">
                  <a:extLst>
                    <a:ext uri="{9D8B030D-6E8A-4147-A177-3AD203B41FA5}">
                      <a16:colId xmlns:a16="http://schemas.microsoft.com/office/drawing/2014/main" val="3145092465"/>
                    </a:ext>
                  </a:extLst>
                </a:gridCol>
                <a:gridCol w="6581685">
                  <a:extLst>
                    <a:ext uri="{9D8B030D-6E8A-4147-A177-3AD203B41FA5}">
                      <a16:colId xmlns:a16="http://schemas.microsoft.com/office/drawing/2014/main" val="4151160705"/>
                    </a:ext>
                  </a:extLst>
                </a:gridCol>
              </a:tblGrid>
              <a:tr h="365019">
                <a:tc>
                  <a:txBody>
                    <a:bodyPr/>
                    <a:lstStyle/>
                    <a:p>
                      <a:r>
                        <a:rPr lang="en-US" sz="1400"/>
                        <a:t>Field Name</a:t>
                      </a:r>
                    </a:p>
                  </a:txBody>
                  <a:tcPr/>
                </a:tc>
                <a:tc>
                  <a:txBody>
                    <a:bodyPr/>
                    <a:lstStyle/>
                    <a:p>
                      <a:r>
                        <a:rPr lang="en-US" sz="1400"/>
                        <a:t>Technical Field Name</a:t>
                      </a:r>
                    </a:p>
                  </a:txBody>
                  <a:tcPr/>
                </a:tc>
                <a:tc>
                  <a:txBody>
                    <a:bodyPr/>
                    <a:lstStyle/>
                    <a:p>
                      <a:r>
                        <a:rPr lang="en-US" sz="1400"/>
                        <a:t>Description</a:t>
                      </a:r>
                    </a:p>
                  </a:txBody>
                  <a:tcPr/>
                </a:tc>
                <a:extLst>
                  <a:ext uri="{0D108BD9-81ED-4DB2-BD59-A6C34878D82A}">
                    <a16:rowId xmlns:a16="http://schemas.microsoft.com/office/drawing/2014/main" val="3025888633"/>
                  </a:ext>
                </a:extLst>
              </a:tr>
              <a:tr h="2997200">
                <a:tc>
                  <a:txBody>
                    <a:bodyPr/>
                    <a:lstStyle/>
                    <a:p>
                      <a:r>
                        <a:rPr lang="en-US" sz="1400" b="1"/>
                        <a:t>No Auto Credit Transfers</a:t>
                      </a:r>
                    </a:p>
                  </a:txBody>
                  <a:tcPr/>
                </a:tc>
                <a:tc>
                  <a:txBody>
                    <a:bodyPr/>
                    <a:lstStyle/>
                    <a:p>
                      <a:endParaRPr lang="en-US" sz="1400"/>
                    </a:p>
                  </a:txBody>
                  <a:tcPr/>
                </a:tc>
                <a:tc>
                  <a:txBody>
                    <a:bodyPr/>
                    <a:lstStyle/>
                    <a:p>
                      <a:pPr marL="285750" lvl="0" indent="-285750" algn="l">
                        <a:lnSpc>
                          <a:spcPct val="100000"/>
                        </a:lnSpc>
                        <a:spcBef>
                          <a:spcPts val="0"/>
                        </a:spcBef>
                        <a:spcAft>
                          <a:spcPts val="0"/>
                        </a:spcAft>
                        <a:buFont typeface="Arial"/>
                        <a:buChar char="•"/>
                      </a:pPr>
                      <a:r>
                        <a:rPr lang="en-US" sz="1400" u="none" strike="noStrike" noProof="0">
                          <a:solidFill>
                            <a:srgbClr val="303A46"/>
                          </a:solidFill>
                        </a:rPr>
                        <a:t>When a debit or credit moves from one property to another it can cause a lot of frustration for these customers and re-work for ourselves when they call and request that credits be moved back. While checked, any credits this BP has will be refunded rather than move to another account.   </a:t>
                      </a:r>
                    </a:p>
                    <a:p>
                      <a:pPr marL="285750" lvl="0" indent="-285750" algn="l">
                        <a:lnSpc>
                          <a:spcPct val="100000"/>
                        </a:lnSpc>
                        <a:spcBef>
                          <a:spcPts val="0"/>
                        </a:spcBef>
                        <a:spcAft>
                          <a:spcPts val="0"/>
                        </a:spcAft>
                        <a:buFont typeface="Arial"/>
                        <a:buChar char="•"/>
                      </a:pPr>
                      <a:r>
                        <a:rPr lang="en-US" sz="1400" b="1" u="none" strike="noStrike" noProof="0">
                          <a:solidFill>
                            <a:schemeClr val="tx1"/>
                          </a:solidFill>
                        </a:rPr>
                        <a:t>Please use this only when credit transfers are a hardship </a:t>
                      </a:r>
                      <a:r>
                        <a:rPr lang="en-US" sz="1400" u="none" strike="noStrike" noProof="0">
                          <a:solidFill>
                            <a:srgbClr val="303A46"/>
                          </a:solidFill>
                        </a:rPr>
                        <a:t>to a property management customer, it’s to the company’s advantage to apply the credit to another account. Please note: If a BP has had 3 turnoff notices (dunning level 5) within the past 2 years this needs special attention. </a:t>
                      </a:r>
                      <a:r>
                        <a:rPr lang="en-US" sz="1400" u="none" strike="noStrike" noProof="0">
                          <a:solidFill>
                            <a:srgbClr val="000000"/>
                          </a:solidFill>
                        </a:rPr>
                        <a:t>Previously</a:t>
                      </a:r>
                      <a:r>
                        <a:rPr lang="en-US" sz="1400" u="none" strike="noStrike" noProof="0">
                          <a:solidFill>
                            <a:srgbClr val="303A46"/>
                          </a:solidFill>
                        </a:rPr>
                        <a:t> this option would have been blocked and would have required team leader approval.  CSRs now can override this block, however, this should only be done after deciding this is the best business decision for both the customer and the company.   </a:t>
                      </a:r>
                    </a:p>
                    <a:p>
                      <a:pPr lvl="0">
                        <a:buNone/>
                      </a:pPr>
                      <a:endParaRPr lang="en-US" sz="1400" u="none" strike="noStrike" noProof="0">
                        <a:solidFill>
                          <a:srgbClr val="303A46"/>
                        </a:solidFill>
                      </a:endParaRPr>
                    </a:p>
                  </a:txBody>
                  <a:tcPr/>
                </a:tc>
                <a:extLst>
                  <a:ext uri="{0D108BD9-81ED-4DB2-BD59-A6C34878D82A}">
                    <a16:rowId xmlns:a16="http://schemas.microsoft.com/office/drawing/2014/main" val="3113989416"/>
                  </a:ext>
                </a:extLst>
              </a:tr>
              <a:tr h="638784">
                <a:tc>
                  <a:txBody>
                    <a:bodyPr/>
                    <a:lstStyle/>
                    <a:p>
                      <a:r>
                        <a:rPr lang="en-US" sz="1400" b="1"/>
                        <a:t>Do Not Solicit – VAPS</a:t>
                      </a:r>
                    </a:p>
                  </a:txBody>
                  <a:tcPr/>
                </a:tc>
                <a:tc>
                  <a:txBody>
                    <a:bodyPr/>
                    <a:lstStyle/>
                    <a:p>
                      <a:endParaRPr lang="en-US" sz="1400"/>
                    </a:p>
                  </a:txBody>
                  <a:tcPr/>
                </a:tc>
                <a:tc>
                  <a:txBody>
                    <a:bodyPr/>
                    <a:lstStyle/>
                    <a:p>
                      <a:pPr lvl="0">
                        <a:buNone/>
                      </a:pPr>
                      <a:r>
                        <a:rPr lang="en-US" sz="1400" u="none" strike="noStrike" noProof="0">
                          <a:solidFill>
                            <a:srgbClr val="000000"/>
                          </a:solidFill>
                        </a:rPr>
                        <a:t>CSRs are only able to add the flag, not remove it - verify with the customer before choosing to save.</a:t>
                      </a:r>
                      <a:endParaRPr lang="en-US" sz="1400"/>
                    </a:p>
                  </a:txBody>
                  <a:tcPr/>
                </a:tc>
                <a:extLst>
                  <a:ext uri="{0D108BD9-81ED-4DB2-BD59-A6C34878D82A}">
                    <a16:rowId xmlns:a16="http://schemas.microsoft.com/office/drawing/2014/main" val="924902486"/>
                  </a:ext>
                </a:extLst>
              </a:tr>
            </a:tbl>
          </a:graphicData>
        </a:graphic>
      </p:graphicFrame>
    </p:spTree>
    <p:extLst>
      <p:ext uri="{BB962C8B-B14F-4D97-AF65-F5344CB8AC3E}">
        <p14:creationId xmlns:p14="http://schemas.microsoft.com/office/powerpoint/2010/main" val="9717772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68904" y="4970926"/>
            <a:ext cx="7731139" cy="1887074"/>
          </a:xfrm>
        </p:spPr>
        <p:txBody>
          <a:bodyPr/>
          <a:lstStyle/>
          <a:p>
            <a:r>
              <a:rPr lang="en-US" sz="4250" b="1">
                <a:latin typeface="Montserrat"/>
              </a:rPr>
              <a:t>04</a:t>
            </a:r>
            <a:r>
              <a:rPr lang="en-US" sz="4250">
                <a:latin typeface="Montserrat"/>
              </a:rPr>
              <a:t> Key Decisions </a:t>
            </a:r>
            <a:endParaRPr lang="en-US" sz="4250"/>
          </a:p>
        </p:txBody>
      </p:sp>
    </p:spTree>
    <p:extLst>
      <p:ext uri="{BB962C8B-B14F-4D97-AF65-F5344CB8AC3E}">
        <p14:creationId xmlns:p14="http://schemas.microsoft.com/office/powerpoint/2010/main" val="11846506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475B2-63A2-7BB7-EF0D-741DD642E779}"/>
              </a:ext>
            </a:extLst>
          </p:cNvPr>
          <p:cNvSpPr>
            <a:spLocks noGrp="1"/>
          </p:cNvSpPr>
          <p:nvPr>
            <p:ph type="title"/>
          </p:nvPr>
        </p:nvSpPr>
        <p:spPr/>
        <p:txBody>
          <a:bodyPr>
            <a:normAutofit fontScale="90000"/>
          </a:bodyPr>
          <a:lstStyle/>
          <a:p>
            <a:r>
              <a:rPr lang="en-US"/>
              <a:t>Key Open Question</a:t>
            </a:r>
          </a:p>
        </p:txBody>
      </p:sp>
      <p:sp>
        <p:nvSpPr>
          <p:cNvPr id="3" name="TextBox 2">
            <a:extLst>
              <a:ext uri="{FF2B5EF4-FFF2-40B4-BE49-F238E27FC236}">
                <a16:creationId xmlns:a16="http://schemas.microsoft.com/office/drawing/2014/main" id="{45FFA685-70DD-011B-0D95-7E93B038B65A}"/>
              </a:ext>
            </a:extLst>
          </p:cNvPr>
          <p:cNvSpPr txBox="1"/>
          <p:nvPr/>
        </p:nvSpPr>
        <p:spPr>
          <a:xfrm>
            <a:off x="420623" y="1783080"/>
            <a:ext cx="6949441" cy="3139321"/>
          </a:xfrm>
          <a:prstGeom prst="rect">
            <a:avLst/>
          </a:prstGeom>
          <a:noFill/>
        </p:spPr>
        <p:txBody>
          <a:bodyPr wrap="square" lIns="91440" tIns="45720" rIns="91440" bIns="45720" rtlCol="0" anchor="t">
            <a:spAutoFit/>
          </a:bodyPr>
          <a:lstStyle/>
          <a:p>
            <a:pPr marL="342900" indent="-342900">
              <a:buAutoNum type="arabicPeriod"/>
            </a:pPr>
            <a:r>
              <a:rPr lang="en-US">
                <a:latin typeface="Montserrat"/>
              </a:rPr>
              <a:t>Moving forward will Consumers continue to utilize Street 3 instead of PO Box fields?</a:t>
            </a:r>
          </a:p>
          <a:p>
            <a:pPr marL="342900" indent="-342900">
              <a:buAutoNum type="arabicPeriod"/>
            </a:pPr>
            <a:r>
              <a:rPr lang="en-US">
                <a:latin typeface="Montserrat"/>
              </a:rPr>
              <a:t>How is the BP Type getting determined ? What is this value being used for? </a:t>
            </a:r>
          </a:p>
          <a:p>
            <a:pPr marL="342900" indent="-342900">
              <a:buAutoNum type="arabicPeriod"/>
            </a:pPr>
            <a:r>
              <a:rPr lang="en-US">
                <a:latin typeface="Montserrat"/>
              </a:rPr>
              <a:t>Custom SSN and Driver's license field. What was the intention of this and not using standard ? </a:t>
            </a:r>
          </a:p>
          <a:p>
            <a:pPr marL="342900" indent="-342900">
              <a:buAutoNum type="arabicPeriod"/>
            </a:pPr>
            <a:endParaRPr lang="en-US">
              <a:latin typeface="Montserrat"/>
            </a:endParaRPr>
          </a:p>
          <a:p>
            <a:pPr marL="342900" indent="-342900">
              <a:buAutoNum type="arabicPeriod"/>
            </a:pPr>
            <a:endParaRPr lang="en-US">
              <a:latin typeface="Montserrat"/>
            </a:endParaRPr>
          </a:p>
          <a:p>
            <a:pPr marL="342900" indent="-342900">
              <a:buAutoNum type="arabicPeriod"/>
            </a:pPr>
            <a:endParaRPr lang="en-US">
              <a:latin typeface="Montserrat"/>
            </a:endParaRPr>
          </a:p>
          <a:p>
            <a:pPr marL="342900" indent="-342900">
              <a:buAutoNum type="arabicPeriod"/>
            </a:pPr>
            <a:endParaRPr lang="en-US">
              <a:latin typeface="Montserrat"/>
            </a:endParaRPr>
          </a:p>
          <a:p>
            <a:pPr marL="342900" indent="-342900">
              <a:buAutoNum type="arabicPeriod"/>
            </a:pPr>
            <a:endParaRPr lang="en-US">
              <a:latin typeface="Montserrat"/>
            </a:endParaRPr>
          </a:p>
        </p:txBody>
      </p:sp>
      <p:pic>
        <p:nvPicPr>
          <p:cNvPr id="7" name="Picture 6">
            <a:extLst>
              <a:ext uri="{FF2B5EF4-FFF2-40B4-BE49-F238E27FC236}">
                <a16:creationId xmlns:a16="http://schemas.microsoft.com/office/drawing/2014/main" id="{C805D91E-CE38-9BA1-FFAB-6E788846A171}"/>
              </a:ext>
            </a:extLst>
          </p:cNvPr>
          <p:cNvPicPr>
            <a:picLocks noChangeAspect="1"/>
          </p:cNvPicPr>
          <p:nvPr/>
        </p:nvPicPr>
        <p:blipFill>
          <a:blip r:embed="rId2"/>
          <a:stretch>
            <a:fillRect/>
          </a:stretch>
        </p:blipFill>
        <p:spPr>
          <a:xfrm>
            <a:off x="8195072" y="437960"/>
            <a:ext cx="3453484" cy="3177012"/>
          </a:xfrm>
          <a:prstGeom prst="rect">
            <a:avLst/>
          </a:prstGeom>
        </p:spPr>
      </p:pic>
      <p:cxnSp>
        <p:nvCxnSpPr>
          <p:cNvPr id="9" name="Connector: Curved 8">
            <a:extLst>
              <a:ext uri="{FF2B5EF4-FFF2-40B4-BE49-F238E27FC236}">
                <a16:creationId xmlns:a16="http://schemas.microsoft.com/office/drawing/2014/main" id="{091CA09B-4521-D61F-9432-FF7D0C8D35CD}"/>
              </a:ext>
            </a:extLst>
          </p:cNvPr>
          <p:cNvCxnSpPr>
            <a:cxnSpLocks/>
            <a:endCxn id="7" idx="1"/>
          </p:cNvCxnSpPr>
          <p:nvPr/>
        </p:nvCxnSpPr>
        <p:spPr>
          <a:xfrm flipV="1">
            <a:off x="7205472" y="2026466"/>
            <a:ext cx="989600" cy="49727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20228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F6546-0917-2223-2132-83F51DBFF8C7}"/>
              </a:ext>
            </a:extLst>
          </p:cNvPr>
          <p:cNvSpPr>
            <a:spLocks noGrp="1"/>
          </p:cNvSpPr>
          <p:nvPr>
            <p:ph type="title"/>
          </p:nvPr>
        </p:nvSpPr>
        <p:spPr/>
        <p:txBody>
          <a:bodyPr>
            <a:normAutofit fontScale="90000"/>
          </a:bodyPr>
          <a:lstStyle/>
          <a:p>
            <a:r>
              <a:rPr lang="en-US">
                <a:latin typeface="Montserrat"/>
              </a:rPr>
              <a:t>Potential Decisions captured in BMD Workshop A-1</a:t>
            </a:r>
            <a:endParaRPr lang="en-US"/>
          </a:p>
        </p:txBody>
      </p:sp>
      <p:graphicFrame>
        <p:nvGraphicFramePr>
          <p:cNvPr id="3" name="Table 2">
            <a:extLst>
              <a:ext uri="{FF2B5EF4-FFF2-40B4-BE49-F238E27FC236}">
                <a16:creationId xmlns:a16="http://schemas.microsoft.com/office/drawing/2014/main" id="{8740627D-C5BA-801D-DFB3-C01B63327E67}"/>
              </a:ext>
            </a:extLst>
          </p:cNvPr>
          <p:cNvGraphicFramePr>
            <a:graphicFrameLocks noGrp="1"/>
          </p:cNvGraphicFramePr>
          <p:nvPr>
            <p:extLst>
              <p:ext uri="{D42A27DB-BD31-4B8C-83A1-F6EECF244321}">
                <p14:modId xmlns:p14="http://schemas.microsoft.com/office/powerpoint/2010/main" val="507899850"/>
              </p:ext>
            </p:extLst>
          </p:nvPr>
        </p:nvGraphicFramePr>
        <p:xfrm>
          <a:off x="589350" y="1518780"/>
          <a:ext cx="10655805" cy="3579981"/>
        </p:xfrm>
        <a:graphic>
          <a:graphicData uri="http://schemas.openxmlformats.org/drawingml/2006/table">
            <a:tbl>
              <a:tblPr firstRow="1" bandRow="1">
                <a:tableStyleId>{5C22544A-7EE6-4342-B048-85BDC9FD1C3A}</a:tableStyleId>
              </a:tblPr>
              <a:tblGrid>
                <a:gridCol w="3535679">
                  <a:extLst>
                    <a:ext uri="{9D8B030D-6E8A-4147-A177-3AD203B41FA5}">
                      <a16:colId xmlns:a16="http://schemas.microsoft.com/office/drawing/2014/main" val="1902017279"/>
                    </a:ext>
                  </a:extLst>
                </a:gridCol>
                <a:gridCol w="7120126">
                  <a:extLst>
                    <a:ext uri="{9D8B030D-6E8A-4147-A177-3AD203B41FA5}">
                      <a16:colId xmlns:a16="http://schemas.microsoft.com/office/drawing/2014/main" val="2080141570"/>
                    </a:ext>
                  </a:extLst>
                </a:gridCol>
              </a:tblGrid>
              <a:tr h="520392">
                <a:tc>
                  <a:txBody>
                    <a:bodyPr/>
                    <a:lstStyle/>
                    <a:p>
                      <a:r>
                        <a:rPr lang="en-US" sz="1200"/>
                        <a:t>Decision</a:t>
                      </a:r>
                    </a:p>
                  </a:txBody>
                  <a:tcPr/>
                </a:tc>
                <a:tc>
                  <a:txBody>
                    <a:bodyPr/>
                    <a:lstStyle/>
                    <a:p>
                      <a:pPr lvl="0">
                        <a:buNone/>
                      </a:pPr>
                      <a:r>
                        <a:rPr lang="en-US" sz="1200"/>
                        <a:t>Notes / Action Required</a:t>
                      </a:r>
                    </a:p>
                  </a:txBody>
                  <a:tcPr/>
                </a:tc>
                <a:extLst>
                  <a:ext uri="{0D108BD9-81ED-4DB2-BD59-A6C34878D82A}">
                    <a16:rowId xmlns:a16="http://schemas.microsoft.com/office/drawing/2014/main" val="708663119"/>
                  </a:ext>
                </a:extLst>
              </a:tr>
              <a:tr h="753198">
                <a:tc>
                  <a:txBody>
                    <a:bodyPr/>
                    <a:lstStyle/>
                    <a:p>
                      <a:pPr lvl="0">
                        <a:buNone/>
                      </a:pPr>
                      <a:r>
                        <a:rPr lang="en-US" sz="1400">
                          <a:latin typeface="Aptos"/>
                        </a:rPr>
                        <a:t>Titles should not auto populate gender in V2</a:t>
                      </a:r>
                    </a:p>
                  </a:txBody>
                  <a:tcPr/>
                </a:tc>
                <a:tc>
                  <a:txBody>
                    <a:bodyPr/>
                    <a:lstStyle/>
                    <a:p>
                      <a:pPr lvl="0">
                        <a:buNone/>
                      </a:pPr>
                      <a:r>
                        <a:rPr lang="en-US" sz="1400" b="0" i="0" u="none" strike="noStrike" noProof="0">
                          <a:latin typeface="Aptos"/>
                        </a:rPr>
                        <a:t>In Service Cloud V2, gender should not be defaulted based on other fields. There have been many issues in current state with customers not being identified with the correct title.</a:t>
                      </a:r>
                      <a:endParaRPr lang="en-US" sz="1400">
                        <a:latin typeface="Aptos"/>
                      </a:endParaRPr>
                    </a:p>
                  </a:txBody>
                  <a:tcPr/>
                </a:tc>
                <a:extLst>
                  <a:ext uri="{0D108BD9-81ED-4DB2-BD59-A6C34878D82A}">
                    <a16:rowId xmlns:a16="http://schemas.microsoft.com/office/drawing/2014/main" val="2020594675"/>
                  </a:ext>
                </a:extLst>
              </a:tr>
              <a:tr h="972312">
                <a:tc>
                  <a:txBody>
                    <a:bodyPr/>
                    <a:lstStyle/>
                    <a:p>
                      <a:r>
                        <a:rPr lang="en-US" sz="1400">
                          <a:latin typeface="Aptos"/>
                        </a:rPr>
                        <a:t>Will PO Box Fields be needed for future state? </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a:ea typeface="Calibri"/>
                          <a:cs typeface="Calibri"/>
                        </a:rPr>
                        <a:t>Need to check if there are PO Boxes that are utilizing fields in CRM7, need to determine if we need this for future state. (DQM is not validating these fields)</a:t>
                      </a:r>
                    </a:p>
                    <a:p>
                      <a:pPr lvl="0" algn="l">
                        <a:lnSpc>
                          <a:spcPct val="100000"/>
                        </a:lnSpc>
                        <a:spcBef>
                          <a:spcPts val="0"/>
                        </a:spcBef>
                        <a:spcAft>
                          <a:spcPts val="0"/>
                        </a:spcAft>
                        <a:buNone/>
                      </a:pPr>
                      <a:r>
                        <a:rPr lang="en-US" sz="1400" b="0" i="0" u="none" strike="noStrike" noProof="0">
                          <a:solidFill>
                            <a:srgbClr val="000000"/>
                          </a:solidFill>
                          <a:latin typeface="Aptos"/>
                        </a:rPr>
                        <a:t>Confirmed: Private PO Box Field is currently being used so will need that for the future state</a:t>
                      </a:r>
                      <a:endParaRPr lang="en-US" sz="1400">
                        <a:latin typeface="Aptos"/>
                      </a:endParaRPr>
                    </a:p>
                  </a:txBody>
                  <a:tcPr/>
                </a:tc>
                <a:extLst>
                  <a:ext uri="{0D108BD9-81ED-4DB2-BD59-A6C34878D82A}">
                    <a16:rowId xmlns:a16="http://schemas.microsoft.com/office/drawing/2014/main" val="1105393934"/>
                  </a:ext>
                </a:extLst>
              </a:tr>
              <a:tr h="602559">
                <a:tc>
                  <a:txBody>
                    <a:bodyPr/>
                    <a:lstStyle/>
                    <a:p>
                      <a:pPr lvl="0">
                        <a:buNone/>
                      </a:pPr>
                      <a:r>
                        <a:rPr lang="en-US" sz="1400" b="0" i="0" u="none" strike="noStrike" noProof="0">
                          <a:latin typeface="Aptos"/>
                        </a:rPr>
                        <a:t>Will we need to show VAPS DNS or Info Release in SC V2 for Org BPs?</a:t>
                      </a:r>
                      <a:endParaRPr lang="en-US" sz="1400"/>
                    </a:p>
                  </a:txBody>
                  <a:tcPr/>
                </a:tc>
                <a:tc>
                  <a:txBody>
                    <a:bodyPr/>
                    <a:lstStyle/>
                    <a:p>
                      <a:pPr lvl="0" algn="l">
                        <a:lnSpc>
                          <a:spcPct val="100000"/>
                        </a:lnSpc>
                        <a:spcBef>
                          <a:spcPts val="0"/>
                        </a:spcBef>
                        <a:spcAft>
                          <a:spcPts val="0"/>
                        </a:spcAft>
                        <a:buNone/>
                      </a:pPr>
                      <a:r>
                        <a:rPr lang="en-US" sz="1400" b="0" i="0" u="none" strike="noStrike" noProof="0"/>
                        <a:t>Business Center wants the DNS flags (INFO RELEASE) - they do not need the Do Not Solicit-VAPS they will use INFO RELEASE in BP so they can add this flag vs. having to send it to Digital Ops to add.</a:t>
                      </a:r>
                      <a:endParaRPr lang="en-US" sz="1400"/>
                    </a:p>
                  </a:txBody>
                  <a:tcPr/>
                </a:tc>
                <a:extLst>
                  <a:ext uri="{0D108BD9-81ED-4DB2-BD59-A6C34878D82A}">
                    <a16:rowId xmlns:a16="http://schemas.microsoft.com/office/drawing/2014/main" val="3483130447"/>
                  </a:ext>
                </a:extLst>
              </a:tr>
              <a:tr h="602559">
                <a:tc>
                  <a:txBody>
                    <a:bodyPr/>
                    <a:lstStyle/>
                    <a:p>
                      <a:pPr lvl="0">
                        <a:buNone/>
                      </a:pPr>
                      <a:r>
                        <a:rPr lang="en-US" sz="1400" b="0" i="0" u="none" strike="noStrike" noProof="0">
                          <a:latin typeface="Aptos"/>
                        </a:rPr>
                        <a:t>Coding for Notes Interaction in Service Cloud V2</a:t>
                      </a:r>
                      <a:endParaRPr lang="en-US" sz="1400">
                        <a:latin typeface="Aptos"/>
                      </a:endParaRP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a:rPr>
                        <a:t>Currently in CRM7 the Notes Interaction is coded through ECC. Need to decide how we will be doing this for Service Cloud.</a:t>
                      </a:r>
                      <a:endParaRPr lang="en-US" sz="1400">
                        <a:latin typeface="Aptos"/>
                      </a:endParaRPr>
                    </a:p>
                  </a:txBody>
                  <a:tcPr/>
                </a:tc>
                <a:extLst>
                  <a:ext uri="{0D108BD9-81ED-4DB2-BD59-A6C34878D82A}">
                    <a16:rowId xmlns:a16="http://schemas.microsoft.com/office/drawing/2014/main" val="3778411054"/>
                  </a:ext>
                </a:extLst>
              </a:tr>
            </a:tbl>
          </a:graphicData>
        </a:graphic>
      </p:graphicFrame>
    </p:spTree>
    <p:extLst>
      <p:ext uri="{BB962C8B-B14F-4D97-AF65-F5344CB8AC3E}">
        <p14:creationId xmlns:p14="http://schemas.microsoft.com/office/powerpoint/2010/main" val="391861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2EDE2-C629-0ECC-E66B-8A4A13EDFA2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597FD0F-3E1D-D644-5432-29FF22D04E82}"/>
              </a:ext>
            </a:extLst>
          </p:cNvPr>
          <p:cNvSpPr>
            <a:spLocks noGrp="1"/>
          </p:cNvSpPr>
          <p:nvPr>
            <p:ph type="title"/>
          </p:nvPr>
        </p:nvSpPr>
        <p:spPr>
          <a:xfrm>
            <a:off x="268904" y="4970926"/>
            <a:ext cx="10831690" cy="1887074"/>
          </a:xfrm>
        </p:spPr>
        <p:txBody>
          <a:bodyPr/>
          <a:lstStyle/>
          <a:p>
            <a:r>
              <a:rPr lang="en-US" sz="4250" b="1">
                <a:latin typeface="Montserrat"/>
              </a:rPr>
              <a:t>05</a:t>
            </a:r>
            <a:r>
              <a:rPr lang="en-US" sz="4250">
                <a:latin typeface="Montserrat"/>
              </a:rPr>
              <a:t> </a:t>
            </a:r>
            <a:r>
              <a:rPr lang="en-US" sz="4400">
                <a:latin typeface="Montserrat"/>
              </a:rPr>
              <a:t>FRICE-W</a:t>
            </a:r>
            <a:endParaRPr lang="en-US"/>
          </a:p>
        </p:txBody>
      </p:sp>
    </p:spTree>
    <p:extLst>
      <p:ext uri="{BB962C8B-B14F-4D97-AF65-F5344CB8AC3E}">
        <p14:creationId xmlns:p14="http://schemas.microsoft.com/office/powerpoint/2010/main" val="30937264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B50B024-5B2C-73D1-0F65-38C1CBB14B5B}"/>
              </a:ext>
            </a:extLst>
          </p:cNvPr>
          <p:cNvSpPr>
            <a:spLocks noGrp="1"/>
          </p:cNvSpPr>
          <p:nvPr>
            <p:ph idx="1"/>
          </p:nvPr>
        </p:nvSpPr>
        <p:spPr/>
        <p:txBody>
          <a:bodyPr vert="horz" lIns="0" tIns="45720" rIns="91440" bIns="45720" rtlCol="0" anchor="t">
            <a:normAutofit/>
          </a:bodyPr>
          <a:lstStyle/>
          <a:p>
            <a:pPr marL="342900" indent="-342900">
              <a:spcBef>
                <a:spcPts val="0"/>
              </a:spcBef>
              <a:spcAft>
                <a:spcPts val="300"/>
              </a:spcAft>
              <a:buAutoNum type="arabicPeriod"/>
            </a:pPr>
            <a:r>
              <a:rPr lang="en-US" sz="1800">
                <a:latin typeface="Montserrat"/>
              </a:rPr>
              <a:t>ID Masking </a:t>
            </a:r>
            <a:r>
              <a:rPr lang="en-US" sz="1800" b="1">
                <a:latin typeface="Montserrat"/>
              </a:rPr>
              <a:t>Enhancement</a:t>
            </a:r>
            <a:endParaRPr lang="en-US" sz="1800">
              <a:latin typeface="Montserrat"/>
            </a:endParaRPr>
          </a:p>
          <a:p>
            <a:pPr marL="342900" indent="-342900">
              <a:spcBef>
                <a:spcPts val="0"/>
              </a:spcBef>
              <a:spcAft>
                <a:spcPts val="300"/>
              </a:spcAft>
              <a:buAutoNum type="arabicPeriod"/>
            </a:pPr>
            <a:r>
              <a:rPr lang="en-US" sz="1800">
                <a:latin typeface="Montserrat"/>
              </a:rPr>
              <a:t>ID types format and length validation </a:t>
            </a:r>
            <a:r>
              <a:rPr lang="en-US" sz="1800" b="1">
                <a:latin typeface="Montserrat"/>
              </a:rPr>
              <a:t>Enhancement</a:t>
            </a:r>
            <a:endParaRPr lang="en-US" sz="1800">
              <a:latin typeface="Montserrat"/>
            </a:endParaRPr>
          </a:p>
          <a:p>
            <a:pPr marL="800100" lvl="1" indent="-342900">
              <a:spcBef>
                <a:spcPts val="0"/>
              </a:spcBef>
              <a:spcAft>
                <a:spcPts val="300"/>
              </a:spcAft>
              <a:buAutoNum type="arabicPeriod"/>
            </a:pPr>
            <a:r>
              <a:rPr lang="en-US" sz="1800">
                <a:latin typeface="Montserrat"/>
              </a:rPr>
              <a:t>Drivers License format and length</a:t>
            </a:r>
            <a:endParaRPr lang="en-US"/>
          </a:p>
          <a:p>
            <a:pPr marL="800100" lvl="1" indent="-342900">
              <a:spcBef>
                <a:spcPts val="0"/>
              </a:spcBef>
              <a:spcAft>
                <a:spcPts val="300"/>
              </a:spcAft>
              <a:buAutoNum type="arabicPeriod"/>
            </a:pPr>
            <a:r>
              <a:rPr lang="en-US" sz="1800">
                <a:latin typeface="Montserrat"/>
              </a:rPr>
              <a:t>Social Security format and length </a:t>
            </a:r>
            <a:endParaRPr lang="en-US"/>
          </a:p>
          <a:p>
            <a:pPr marL="342900" indent="-342900">
              <a:spcBef>
                <a:spcPts val="0"/>
              </a:spcBef>
              <a:spcAft>
                <a:spcPts val="300"/>
              </a:spcAft>
              <a:buAutoNum type="arabicPeriod"/>
            </a:pPr>
            <a:r>
              <a:rPr lang="en-US" sz="1800">
                <a:latin typeface="Montserrat"/>
              </a:rPr>
              <a:t>DQM address validation - </a:t>
            </a:r>
            <a:r>
              <a:rPr lang="en-US" sz="1800" b="1">
                <a:latin typeface="Montserrat"/>
              </a:rPr>
              <a:t>Interface</a:t>
            </a:r>
            <a:endParaRPr lang="en-US" sz="1800">
              <a:latin typeface="Montserrat"/>
            </a:endParaRPr>
          </a:p>
          <a:p>
            <a:pPr marL="342900" indent="-342900">
              <a:spcBef>
                <a:spcPts val="0"/>
              </a:spcBef>
              <a:spcAft>
                <a:spcPts val="300"/>
              </a:spcAft>
              <a:buAutoNum type="arabicPeriod"/>
            </a:pPr>
            <a:r>
              <a:rPr lang="en-US" sz="1800">
                <a:latin typeface="Montserrat"/>
              </a:rPr>
              <a:t>Business Partner Field Enhancements (Custom fields) - </a:t>
            </a:r>
            <a:r>
              <a:rPr lang="en-US" sz="1800" b="1">
                <a:latin typeface="Montserrat"/>
              </a:rPr>
              <a:t>Enhancements</a:t>
            </a:r>
            <a:endParaRPr lang="en-US"/>
          </a:p>
          <a:p>
            <a:pPr marL="342900" indent="-342900">
              <a:spcBef>
                <a:spcPts val="0"/>
              </a:spcBef>
              <a:spcAft>
                <a:spcPts val="300"/>
              </a:spcAft>
              <a:buAutoNum type="arabicPeriod"/>
            </a:pPr>
            <a:r>
              <a:rPr lang="en-US" sz="1800">
                <a:latin typeface="Montserrat"/>
              </a:rPr>
              <a:t>Contract Account Field Enhancements- </a:t>
            </a:r>
            <a:r>
              <a:rPr lang="en-US" sz="1800" b="1">
                <a:latin typeface="Montserrat"/>
              </a:rPr>
              <a:t>Enhancement</a:t>
            </a:r>
            <a:endParaRPr lang="en-US" sz="1800">
              <a:latin typeface="Montserrat"/>
            </a:endParaRPr>
          </a:p>
          <a:p>
            <a:pPr marL="342900" indent="-342900">
              <a:spcBef>
                <a:spcPts val="0"/>
              </a:spcBef>
              <a:spcAft>
                <a:spcPts val="300"/>
              </a:spcAft>
              <a:buAutoNum type="arabicPeriod"/>
            </a:pPr>
            <a:r>
              <a:rPr lang="en-US" sz="1800">
                <a:latin typeface="Montserrat"/>
              </a:rPr>
              <a:t>Recon Key on Payment List – </a:t>
            </a:r>
            <a:r>
              <a:rPr lang="en-US" sz="1800" b="1">
                <a:latin typeface="Montserrat"/>
              </a:rPr>
              <a:t>Enhancement</a:t>
            </a:r>
          </a:p>
          <a:p>
            <a:pPr marL="342900" indent="-342900">
              <a:spcBef>
                <a:spcPts val="0"/>
              </a:spcBef>
              <a:spcAft>
                <a:spcPts val="300"/>
              </a:spcAft>
              <a:buAutoNum type="arabicPeriod"/>
            </a:pPr>
            <a:r>
              <a:rPr lang="en-US" sz="1800">
                <a:latin typeface="Montserrat"/>
              </a:rPr>
              <a:t>Address Maintenance – </a:t>
            </a:r>
            <a:r>
              <a:rPr lang="en-US" sz="1800" b="1">
                <a:latin typeface="Montserrat"/>
              </a:rPr>
              <a:t>Enhancement </a:t>
            </a:r>
          </a:p>
        </p:txBody>
      </p:sp>
      <p:sp>
        <p:nvSpPr>
          <p:cNvPr id="2" name="Title 1">
            <a:extLst>
              <a:ext uri="{FF2B5EF4-FFF2-40B4-BE49-F238E27FC236}">
                <a16:creationId xmlns:a16="http://schemas.microsoft.com/office/drawing/2014/main" id="{27854201-7694-B80E-BB57-4FB9BB6516B4}"/>
              </a:ext>
            </a:extLst>
          </p:cNvPr>
          <p:cNvSpPr>
            <a:spLocks noGrp="1"/>
          </p:cNvSpPr>
          <p:nvPr>
            <p:ph type="title"/>
          </p:nvPr>
        </p:nvSpPr>
        <p:spPr/>
        <p:txBody>
          <a:bodyPr>
            <a:normAutofit/>
          </a:bodyPr>
          <a:lstStyle/>
          <a:p>
            <a:r>
              <a:rPr lang="en-US">
                <a:latin typeface="Montserrat"/>
              </a:rPr>
              <a:t>FRICE-W Identified</a:t>
            </a:r>
          </a:p>
        </p:txBody>
      </p:sp>
    </p:spTree>
    <p:extLst>
      <p:ext uri="{BB962C8B-B14F-4D97-AF65-F5344CB8AC3E}">
        <p14:creationId xmlns:p14="http://schemas.microsoft.com/office/powerpoint/2010/main" val="25453895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AE8D7-1EFB-05D1-51F6-7FE02C066DD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C66E776-CABB-A883-38E3-FB62E6868850}"/>
              </a:ext>
            </a:extLst>
          </p:cNvPr>
          <p:cNvSpPr>
            <a:spLocks noGrp="1"/>
          </p:cNvSpPr>
          <p:nvPr>
            <p:ph type="title"/>
          </p:nvPr>
        </p:nvSpPr>
        <p:spPr>
          <a:xfrm>
            <a:off x="268904" y="4970926"/>
            <a:ext cx="10831690" cy="1887074"/>
          </a:xfrm>
        </p:spPr>
        <p:txBody>
          <a:bodyPr/>
          <a:lstStyle/>
          <a:p>
            <a:r>
              <a:rPr lang="en-US" sz="4250" b="1">
                <a:latin typeface="Montserrat"/>
              </a:rPr>
              <a:t>06</a:t>
            </a:r>
            <a:r>
              <a:rPr lang="en-US" sz="4250">
                <a:latin typeface="Montserrat"/>
              </a:rPr>
              <a:t> Drafted </a:t>
            </a:r>
            <a:r>
              <a:rPr lang="en-US" sz="4400">
                <a:latin typeface="Montserrat"/>
              </a:rPr>
              <a:t>User Stories</a:t>
            </a:r>
            <a:endParaRPr lang="en-US"/>
          </a:p>
        </p:txBody>
      </p:sp>
    </p:spTree>
    <p:extLst>
      <p:ext uri="{BB962C8B-B14F-4D97-AF65-F5344CB8AC3E}">
        <p14:creationId xmlns:p14="http://schemas.microsoft.com/office/powerpoint/2010/main" val="11804158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69E81-EF5E-7959-2041-1D04A53FC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A383F-4927-0444-587E-4284181D7C5E}"/>
              </a:ext>
            </a:extLst>
          </p:cNvPr>
          <p:cNvSpPr>
            <a:spLocks noGrp="1"/>
          </p:cNvSpPr>
          <p:nvPr>
            <p:ph type="title"/>
          </p:nvPr>
        </p:nvSpPr>
        <p:spPr>
          <a:xfrm>
            <a:off x="414528" y="148149"/>
            <a:ext cx="11375136" cy="609600"/>
          </a:xfrm>
        </p:spPr>
        <p:txBody>
          <a:bodyPr>
            <a:normAutofit fontScale="90000"/>
          </a:bodyPr>
          <a:lstStyle/>
          <a:p>
            <a:r>
              <a:rPr lang="en-US">
                <a:latin typeface="Montserrat"/>
              </a:rPr>
              <a:t>User Stories for Create and Maintain Business Master Data</a:t>
            </a:r>
            <a:endParaRPr lang="en-US"/>
          </a:p>
        </p:txBody>
      </p:sp>
      <p:graphicFrame>
        <p:nvGraphicFramePr>
          <p:cNvPr id="8" name="Table 7">
            <a:extLst>
              <a:ext uri="{FF2B5EF4-FFF2-40B4-BE49-F238E27FC236}">
                <a16:creationId xmlns:a16="http://schemas.microsoft.com/office/drawing/2014/main" id="{EBD8FAA2-4B6C-BC4B-328F-08ECDE8FD127}"/>
              </a:ext>
            </a:extLst>
          </p:cNvPr>
          <p:cNvGraphicFramePr>
            <a:graphicFrameLocks noGrp="1"/>
          </p:cNvGraphicFramePr>
          <p:nvPr>
            <p:extLst>
              <p:ext uri="{D42A27DB-BD31-4B8C-83A1-F6EECF244321}">
                <p14:modId xmlns:p14="http://schemas.microsoft.com/office/powerpoint/2010/main" val="3618540032"/>
              </p:ext>
            </p:extLst>
          </p:nvPr>
        </p:nvGraphicFramePr>
        <p:xfrm>
          <a:off x="190500" y="802105"/>
          <a:ext cx="11736378" cy="6042308"/>
        </p:xfrm>
        <a:graphic>
          <a:graphicData uri="http://schemas.openxmlformats.org/drawingml/2006/table">
            <a:tbl>
              <a:tblPr firstRow="1" bandRow="1">
                <a:tableStyleId>{5C22544A-7EE6-4342-B048-85BDC9FD1C3A}</a:tableStyleId>
              </a:tblPr>
              <a:tblGrid>
                <a:gridCol w="4058467">
                  <a:extLst>
                    <a:ext uri="{9D8B030D-6E8A-4147-A177-3AD203B41FA5}">
                      <a16:colId xmlns:a16="http://schemas.microsoft.com/office/drawing/2014/main" val="1397567261"/>
                    </a:ext>
                  </a:extLst>
                </a:gridCol>
                <a:gridCol w="7677911">
                  <a:extLst>
                    <a:ext uri="{9D8B030D-6E8A-4147-A177-3AD203B41FA5}">
                      <a16:colId xmlns:a16="http://schemas.microsoft.com/office/drawing/2014/main" val="1493299998"/>
                    </a:ext>
                  </a:extLst>
                </a:gridCol>
              </a:tblGrid>
              <a:tr h="170409">
                <a:tc>
                  <a:txBody>
                    <a:bodyPr/>
                    <a:lstStyle/>
                    <a:p>
                      <a:pPr lvl="0">
                        <a:buNone/>
                      </a:pPr>
                      <a:r>
                        <a:rPr lang="en-US" sz="1200">
                          <a:effectLst/>
                        </a:rPr>
                        <a:t>User Story</a:t>
                      </a:r>
                    </a:p>
                  </a:txBody>
                  <a:tcPr marL="0" marR="0" marT="0" marB="0" anchor="ctr"/>
                </a:tc>
                <a:tc>
                  <a:txBody>
                    <a:bodyPr/>
                    <a:lstStyle/>
                    <a:p>
                      <a:pPr lvl="0">
                        <a:buNone/>
                      </a:pPr>
                      <a:r>
                        <a:rPr lang="en-US" sz="1200">
                          <a:effectLst/>
                        </a:rPr>
                        <a:t>Acceptance Criteria</a:t>
                      </a:r>
                    </a:p>
                  </a:txBody>
                  <a:tcPr marL="0" marR="0" marT="0" marB="0" anchor="ctr"/>
                </a:tc>
                <a:extLst>
                  <a:ext uri="{0D108BD9-81ED-4DB2-BD59-A6C34878D82A}">
                    <a16:rowId xmlns:a16="http://schemas.microsoft.com/office/drawing/2014/main" val="848898239"/>
                  </a:ext>
                </a:extLst>
              </a:tr>
              <a:tr h="2130117">
                <a:tc>
                  <a:txBody>
                    <a:bodyPr/>
                    <a:lstStyle/>
                    <a:p>
                      <a:pPr marL="0" indent="0" algn="l">
                        <a:buNone/>
                      </a:pPr>
                      <a:r>
                        <a:rPr lang="en-US" sz="1000">
                          <a:effectLst/>
                        </a:rPr>
                        <a:t>As a Service Cloud v2 agent or CSR, I want to </a:t>
                      </a:r>
                      <a:r>
                        <a:rPr lang="en-US" sz="1000" b="1">
                          <a:effectLst/>
                        </a:rPr>
                        <a:t>create</a:t>
                      </a:r>
                      <a:r>
                        <a:rPr lang="en-US" sz="1000">
                          <a:effectLst/>
                        </a:rPr>
                        <a:t> an individual customer (person) and Account (organization) and have it successfully replicate to S/4HANA with the right number range. </a:t>
                      </a:r>
                      <a:endParaRPr lang="en-US" sz="1000" dirty="0">
                        <a:effectLst/>
                      </a:endParaRPr>
                    </a:p>
                  </a:txBody>
                  <a:tcPr marL="0" marR="0" marT="0" marB="0" anchor="ctr"/>
                </a:tc>
                <a:tc>
                  <a:txBody>
                    <a:bodyPr/>
                    <a:lstStyle/>
                    <a:p>
                      <a:pPr marL="0" indent="0" algn="l">
                        <a:buNone/>
                      </a:pPr>
                      <a:r>
                        <a:rPr lang="en-US" sz="1000" dirty="0">
                          <a:effectLst/>
                        </a:rPr>
                        <a:t>Able to enter First Name / Last Name</a:t>
                      </a:r>
                      <a:br>
                        <a:rPr lang="en-US" sz="1000" dirty="0">
                          <a:effectLst/>
                        </a:rPr>
                      </a:br>
                      <a:r>
                        <a:rPr lang="en-US" sz="1000" b="0" i="0" u="none" strike="noStrike" noProof="0" dirty="0">
                          <a:solidFill>
                            <a:srgbClr val="000000"/>
                          </a:solidFill>
                          <a:effectLst/>
                          <a:latin typeface="Montserrat"/>
                        </a:rPr>
                        <a:t>Able to enter Account Name</a:t>
                      </a:r>
                      <a:br>
                        <a:rPr lang="en-US" sz="1000" dirty="0">
                          <a:effectLst/>
                        </a:rPr>
                      </a:br>
                      <a:r>
                        <a:rPr lang="en-US" sz="1000" b="0" i="0" u="none" strike="noStrike" noProof="0" dirty="0">
                          <a:solidFill>
                            <a:srgbClr val="000000"/>
                          </a:solidFill>
                          <a:effectLst/>
                          <a:latin typeface="Montserrat"/>
                        </a:rPr>
                        <a:t>Able to enter address details</a:t>
                      </a:r>
                      <a:br>
                        <a:rPr lang="en-US" sz="1000" dirty="0">
                          <a:effectLst/>
                        </a:rPr>
                      </a:br>
                      <a:r>
                        <a:rPr lang="en-US" sz="1000" b="0" i="0" u="none" strike="noStrike" noProof="0" dirty="0">
                          <a:solidFill>
                            <a:srgbClr val="000000"/>
                          </a:solidFill>
                          <a:effectLst/>
                          <a:latin typeface="Montserrat"/>
                        </a:rPr>
                        <a:t>Able to enter Id Types</a:t>
                      </a:r>
                      <a:br>
                        <a:rPr lang="en-US" sz="1000" dirty="0">
                          <a:effectLst/>
                        </a:rPr>
                      </a:br>
                      <a:r>
                        <a:rPr lang="en-US" sz="1000" b="0" i="0" u="none" strike="noStrike" noProof="0" dirty="0">
                          <a:solidFill>
                            <a:srgbClr val="000000"/>
                          </a:solidFill>
                          <a:effectLst/>
                          <a:latin typeface="Montserrat"/>
                        </a:rPr>
                        <a:t>Able to enter Birth Date</a:t>
                      </a:r>
                      <a:br>
                        <a:rPr lang="en-US" sz="1000" dirty="0">
                          <a:effectLst/>
                        </a:rPr>
                      </a:br>
                      <a:r>
                        <a:rPr lang="en-US" sz="1000" b="0" i="0" u="none" strike="noStrike" noProof="0" dirty="0">
                          <a:solidFill>
                            <a:srgbClr val="000000"/>
                          </a:solidFill>
                          <a:effectLst/>
                          <a:latin typeface="Montserrat"/>
                        </a:rPr>
                        <a:t>Able to enter Relationships</a:t>
                      </a:r>
                      <a:br>
                        <a:rPr lang="en-US" sz="1000" dirty="0">
                          <a:effectLst/>
                        </a:rPr>
                      </a:br>
                      <a:r>
                        <a:rPr lang="en-US" sz="1000" b="0" i="0" u="none" strike="noStrike" noProof="0">
                          <a:solidFill>
                            <a:srgbClr val="000000"/>
                          </a:solidFill>
                          <a:effectLst/>
                          <a:latin typeface="Montserrat"/>
                        </a:rPr>
                        <a:t>Able to enter Legal Forms</a:t>
                      </a:r>
                      <a:br>
                        <a:rPr lang="en-US" sz="1000" dirty="0">
                          <a:effectLst/>
                        </a:rPr>
                      </a:br>
                      <a:r>
                        <a:rPr lang="en-US" sz="1000">
                          <a:effectLst/>
                        </a:rPr>
                        <a:t>Able to enter independent telephone number (both landline and mobile) and email </a:t>
                      </a:r>
                      <a:endParaRPr lang="en-US" sz="1000"/>
                    </a:p>
                    <a:p>
                      <a:pPr marL="0" lvl="0" indent="0" algn="l">
                        <a:buNone/>
                      </a:pPr>
                      <a:r>
                        <a:rPr lang="en-US" sz="1000" b="0" i="0" u="none" strike="noStrike" noProof="0" dirty="0">
                          <a:solidFill>
                            <a:srgbClr val="000000"/>
                          </a:solidFill>
                          <a:effectLst/>
                          <a:latin typeface="Montserrat"/>
                        </a:rPr>
                        <a:t>Able to enter dependent telephone number, mile, fax and email </a:t>
                      </a:r>
                      <a:br>
                        <a:rPr lang="en-US" sz="1000" dirty="0">
                          <a:effectLst/>
                        </a:rPr>
                      </a:br>
                      <a:r>
                        <a:rPr lang="en-US" sz="1000" dirty="0">
                          <a:effectLst/>
                        </a:rPr>
                        <a:t>Able to enter custom fields (Cam Zone, Employee Classification, household income etc.)</a:t>
                      </a:r>
                    </a:p>
                    <a:p>
                      <a:pPr marL="0" lvl="0" indent="0" algn="l">
                        <a:buNone/>
                      </a:pPr>
                      <a:r>
                        <a:rPr lang="en-US" sz="1000">
                          <a:effectLst/>
                        </a:rPr>
                        <a:t>Able to enter Classification</a:t>
                      </a:r>
                      <a:endParaRPr lang="en-US" sz="1000" dirty="0">
                        <a:effectLst/>
                      </a:endParaRPr>
                    </a:p>
                    <a:p>
                      <a:pPr marL="0" lvl="0" indent="0" algn="l">
                        <a:buNone/>
                      </a:pPr>
                      <a:r>
                        <a:rPr lang="en-US" sz="1000">
                          <a:effectLst/>
                        </a:rPr>
                        <a:t>Able to add info Release</a:t>
                      </a:r>
                      <a:endParaRPr lang="en-US" sz="1000" dirty="0">
                        <a:effectLst/>
                      </a:endParaRPr>
                    </a:p>
                    <a:p>
                      <a:pPr marL="0" marR="0" lvl="0" indent="0" algn="l" defTabSz="609585" rtl="0" eaLnBrk="1" fontAlgn="auto" latinLnBrk="0" hangingPunct="1">
                        <a:lnSpc>
                          <a:spcPct val="100000"/>
                        </a:lnSpc>
                        <a:spcBef>
                          <a:spcPts val="0"/>
                        </a:spcBef>
                        <a:spcAft>
                          <a:spcPts val="0"/>
                        </a:spcAft>
                        <a:buClrTx/>
                        <a:buSzTx/>
                        <a:buFontTx/>
                        <a:buNone/>
                        <a:tabLst/>
                        <a:defRPr/>
                      </a:pPr>
                      <a:r>
                        <a:rPr lang="en-US" sz="1000">
                          <a:effectLst/>
                        </a:rPr>
                        <a:t>Able to flag for “no credit transfer”</a:t>
                      </a:r>
                      <a:endParaRPr lang="en-US" sz="1000" dirty="0">
                        <a:effectLst/>
                      </a:endParaRPr>
                    </a:p>
                    <a:p>
                      <a:pPr marL="0" lvl="0" indent="0" algn="l">
                        <a:lnSpc>
                          <a:spcPct val="100000"/>
                        </a:lnSpc>
                        <a:spcBef>
                          <a:spcPts val="0"/>
                        </a:spcBef>
                        <a:spcAft>
                          <a:spcPts val="0"/>
                        </a:spcAft>
                        <a:buNone/>
                      </a:pPr>
                      <a:r>
                        <a:rPr lang="en-US" sz="1000" b="0" i="0" u="none" strike="noStrike" noProof="0">
                          <a:effectLst/>
                          <a:highlight>
                            <a:srgbClr val="FFFF00"/>
                          </a:highlight>
                          <a:latin typeface="Montserrat"/>
                        </a:rPr>
                        <a:t>Able to add a DBA for a person working as a business</a:t>
                      </a:r>
                      <a:endParaRPr lang="en-US" sz="1000">
                        <a:highlight>
                          <a:srgbClr val="FFFF00"/>
                        </a:highlight>
                      </a:endParaRPr>
                    </a:p>
                    <a:p>
                      <a:pPr marL="0" marR="0" lvl="0" indent="0" algn="l">
                        <a:lnSpc>
                          <a:spcPct val="100000"/>
                        </a:lnSpc>
                        <a:spcBef>
                          <a:spcPts val="0"/>
                        </a:spcBef>
                        <a:spcAft>
                          <a:spcPts val="0"/>
                        </a:spcAft>
                        <a:buNone/>
                      </a:pPr>
                      <a:r>
                        <a:rPr lang="en-US" sz="1000" b="0" i="0" u="none" strike="noStrike" noProof="0" dirty="0">
                          <a:effectLst/>
                          <a:highlight>
                            <a:srgbClr val="FFFF00"/>
                          </a:highlight>
                          <a:latin typeface="Montserrat"/>
                        </a:rPr>
                        <a:t>Able to enter suffix: Jr., Sr., III </a:t>
                      </a:r>
                      <a:r>
                        <a:rPr lang="en-US" sz="1000" b="0" i="0" u="none" strike="noStrike" noProof="0" dirty="0" err="1">
                          <a:effectLst/>
                          <a:highlight>
                            <a:srgbClr val="FFFF00"/>
                          </a:highlight>
                          <a:latin typeface="Montserrat"/>
                        </a:rPr>
                        <a:t>etc</a:t>
                      </a:r>
                      <a:endParaRPr lang="en-US" sz="1000" dirty="0" err="1">
                        <a:highlight>
                          <a:srgbClr val="FFFF00"/>
                        </a:highlight>
                      </a:endParaRPr>
                    </a:p>
                  </a:txBody>
                  <a:tcPr marL="0" marR="0" marT="0" marB="0" anchor="ctr"/>
                </a:tc>
                <a:extLst>
                  <a:ext uri="{0D108BD9-81ED-4DB2-BD59-A6C34878D82A}">
                    <a16:rowId xmlns:a16="http://schemas.microsoft.com/office/drawing/2014/main" val="2577219088"/>
                  </a:ext>
                </a:extLst>
              </a:tr>
              <a:tr h="426023">
                <a:tc>
                  <a:txBody>
                    <a:bodyPr/>
                    <a:lstStyle/>
                    <a:p>
                      <a:pPr lvl="0" algn="l">
                        <a:buNone/>
                      </a:pPr>
                      <a:r>
                        <a:rPr lang="en-US" sz="1000" b="0" i="0" u="none" strike="noStrike" noProof="0">
                          <a:solidFill>
                            <a:srgbClr val="000000"/>
                          </a:solidFill>
                          <a:effectLst/>
                          <a:latin typeface="Montserrat"/>
                        </a:rPr>
                        <a:t>As a Service Cloud v2 agent or CSR, I want to </a:t>
                      </a:r>
                      <a:r>
                        <a:rPr lang="en-US" sz="1000" b="1" i="0" u="none" strike="noStrike" noProof="0">
                          <a:solidFill>
                            <a:srgbClr val="000000"/>
                          </a:solidFill>
                          <a:effectLst/>
                          <a:latin typeface="Montserrat"/>
                        </a:rPr>
                        <a:t>create</a:t>
                      </a:r>
                      <a:r>
                        <a:rPr lang="en-US" sz="1000" b="0" i="0" u="none" strike="noStrike" noProof="0">
                          <a:solidFill>
                            <a:srgbClr val="000000"/>
                          </a:solidFill>
                          <a:effectLst/>
                          <a:latin typeface="Montserrat"/>
                        </a:rPr>
                        <a:t> a Contact Person and have it successfully replicate to S/4HANA with the right number range. </a:t>
                      </a:r>
                      <a:endParaRPr lang="en-US" sz="1000" dirty="0">
                        <a:effectLst/>
                      </a:endParaRPr>
                    </a:p>
                  </a:txBody>
                  <a:tcPr marL="0" marR="0" marT="0" marB="0" anchor="ctr"/>
                </a:tc>
                <a:tc>
                  <a:txBody>
                    <a:bodyPr/>
                    <a:lstStyle/>
                    <a:p>
                      <a:pPr algn="l">
                        <a:buNone/>
                      </a:pPr>
                      <a:r>
                        <a:rPr lang="en-US" sz="1000" b="0" i="0" u="none" strike="noStrike" noProof="0" dirty="0">
                          <a:solidFill>
                            <a:srgbClr val="000000"/>
                          </a:solidFill>
                          <a:effectLst/>
                          <a:latin typeface="Montserrat"/>
                        </a:rPr>
                        <a:t>Able to enter First Name / Last Name</a:t>
                      </a:r>
                      <a:br>
                        <a:rPr lang="en-US" sz="1000" b="0" i="0" u="none" strike="noStrike" noProof="0" dirty="0">
                          <a:solidFill>
                            <a:srgbClr val="000000"/>
                          </a:solidFill>
                          <a:effectLst/>
                          <a:latin typeface="Montserrat"/>
                        </a:rPr>
                      </a:br>
                      <a:r>
                        <a:rPr lang="en-US" sz="1000" b="0" i="0" u="none" strike="noStrike" noProof="0">
                          <a:solidFill>
                            <a:srgbClr val="000000"/>
                          </a:solidFill>
                          <a:effectLst/>
                          <a:latin typeface="Montserrat"/>
                        </a:rPr>
                        <a:t>Able to enter Account Name</a:t>
                      </a:r>
                      <a:br>
                        <a:rPr lang="en-US" sz="1000" b="0" i="0" u="none" strike="noStrike" noProof="0" dirty="0">
                          <a:solidFill>
                            <a:srgbClr val="000000"/>
                          </a:solidFill>
                          <a:effectLst/>
                          <a:latin typeface="Montserrat"/>
                        </a:rPr>
                      </a:br>
                      <a:r>
                        <a:rPr lang="en-US" sz="1000" b="0" i="0" u="none" strike="noStrike" noProof="0">
                          <a:solidFill>
                            <a:srgbClr val="000000"/>
                          </a:solidFill>
                          <a:effectLst/>
                          <a:latin typeface="Montserrat"/>
                        </a:rPr>
                        <a:t>Able to enter phone number and email</a:t>
                      </a:r>
                      <a:endParaRPr lang="en-US" sz="1000">
                        <a:effectLst/>
                      </a:endParaRPr>
                    </a:p>
                  </a:txBody>
                  <a:tcPr marL="0" marR="0" marT="0" marB="0" anchor="ctr"/>
                </a:tc>
                <a:extLst>
                  <a:ext uri="{0D108BD9-81ED-4DB2-BD59-A6C34878D82A}">
                    <a16:rowId xmlns:a16="http://schemas.microsoft.com/office/drawing/2014/main" val="2195492008"/>
                  </a:ext>
                </a:extLst>
              </a:tr>
              <a:tr h="2414141">
                <a:tc>
                  <a:txBody>
                    <a:bodyPr/>
                    <a:lstStyle/>
                    <a:p>
                      <a:pPr lvl="0" algn="l">
                        <a:buNone/>
                      </a:pPr>
                      <a:r>
                        <a:rPr lang="en-US" sz="1000" b="0" i="0" u="none" strike="noStrike" noProof="0">
                          <a:solidFill>
                            <a:srgbClr val="000000"/>
                          </a:solidFill>
                          <a:effectLst/>
                          <a:latin typeface="Montserrat"/>
                        </a:rPr>
                        <a:t>As a Service Cloud v2 agent or CSR, I want to </a:t>
                      </a:r>
                      <a:r>
                        <a:rPr lang="en-US" sz="1000" b="1" i="0" u="none" strike="noStrike" noProof="0">
                          <a:solidFill>
                            <a:srgbClr val="000000"/>
                          </a:solidFill>
                          <a:effectLst/>
                          <a:latin typeface="Montserrat"/>
                        </a:rPr>
                        <a:t>edit</a:t>
                      </a:r>
                      <a:r>
                        <a:rPr lang="en-US" sz="1000" b="0" i="0" u="none" strike="noStrike" noProof="0">
                          <a:solidFill>
                            <a:srgbClr val="000000"/>
                          </a:solidFill>
                          <a:effectLst/>
                          <a:latin typeface="Montserrat"/>
                        </a:rPr>
                        <a:t> an individual customer (person) and account (organization) and have it successfully replicate to S/4HANA with the right number range. </a:t>
                      </a:r>
                      <a:endParaRPr lang="en-US" sz="1000" dirty="0">
                        <a:effectLst/>
                      </a:endParaRPr>
                    </a:p>
                  </a:txBody>
                  <a:tcPr marL="0" marR="0" marT="0" marB="0" anchor="ctr"/>
                </a:tc>
                <a:tc>
                  <a:txBody>
                    <a:bodyPr/>
                    <a:lstStyle/>
                    <a:p>
                      <a:pPr marL="0" indent="0" algn="l">
                        <a:buNone/>
                      </a:pPr>
                      <a:r>
                        <a:rPr lang="en-US" sz="1000">
                          <a:effectLst/>
                        </a:rPr>
                        <a:t>Able to edit address details and successfully replicate</a:t>
                      </a:r>
                      <a:endParaRPr lang="en-US" sz="1000" dirty="0">
                        <a:effectLst/>
                      </a:endParaRPr>
                    </a:p>
                    <a:p>
                      <a:pPr marL="0" indent="0" algn="l">
                        <a:buNone/>
                      </a:pPr>
                      <a:r>
                        <a:rPr lang="en-US" sz="1000" dirty="0">
                          <a:effectLst/>
                        </a:rPr>
                        <a:t>Able to assign different addresses (fix) to various different contract accounts</a:t>
                      </a:r>
                      <a:br>
                        <a:rPr lang="en-US" sz="1000" dirty="0">
                          <a:effectLst/>
                        </a:rPr>
                      </a:br>
                      <a:r>
                        <a:rPr lang="en-US" sz="1000" b="0" i="0" u="none" strike="noStrike" noProof="0" dirty="0">
                          <a:solidFill>
                            <a:srgbClr val="000000"/>
                          </a:solidFill>
                          <a:effectLst/>
                          <a:latin typeface="Montserrat"/>
                        </a:rPr>
                        <a:t>Able to edit ID types and successfully replicate</a:t>
                      </a:r>
                      <a:br>
                        <a:rPr lang="en-US" sz="1000" dirty="0">
                          <a:effectLst/>
                        </a:rPr>
                      </a:br>
                      <a:r>
                        <a:rPr lang="en-US" sz="1000" b="0" i="0" u="none" strike="noStrike" noProof="0" dirty="0">
                          <a:solidFill>
                            <a:srgbClr val="000000"/>
                          </a:solidFill>
                          <a:effectLst/>
                          <a:latin typeface="Montserrat"/>
                        </a:rPr>
                        <a:t>Able to edit Name Title and successfully replicate</a:t>
                      </a:r>
                      <a:br>
                        <a:rPr lang="en-US" sz="1000" dirty="0">
                          <a:effectLst/>
                        </a:rPr>
                      </a:br>
                      <a:r>
                        <a:rPr lang="en-US" sz="1000" b="0" i="0" u="none" strike="noStrike" noProof="0" dirty="0">
                          <a:solidFill>
                            <a:srgbClr val="000000"/>
                          </a:solidFill>
                          <a:effectLst/>
                          <a:latin typeface="Montserrat"/>
                        </a:rPr>
                        <a:t>Able to edit Name Suffix and successfully replicate</a:t>
                      </a:r>
                      <a:br>
                        <a:rPr lang="en-US" sz="1000" dirty="0">
                          <a:effectLst/>
                        </a:rPr>
                      </a:br>
                      <a:r>
                        <a:rPr lang="en-US" sz="1000" b="0" i="0" u="none" strike="noStrike" noProof="0" dirty="0">
                          <a:solidFill>
                            <a:srgbClr val="000000"/>
                          </a:solidFill>
                          <a:effectLst/>
                          <a:latin typeface="Montserrat"/>
                        </a:rPr>
                        <a:t>Able to edit independent telephone number </a:t>
                      </a:r>
                      <a:r>
                        <a:rPr lang="en-US" sz="1000" dirty="0">
                          <a:effectLst/>
                        </a:rPr>
                        <a:t>(both landline and mobile) </a:t>
                      </a:r>
                      <a:r>
                        <a:rPr lang="en-US" sz="1000" b="0" i="0" u="none" strike="noStrike" noProof="0" dirty="0">
                          <a:solidFill>
                            <a:srgbClr val="000000"/>
                          </a:solidFill>
                          <a:effectLst/>
                          <a:latin typeface="Montserrat"/>
                        </a:rPr>
                        <a:t>  and email  successfully replicate</a:t>
                      </a:r>
                      <a:endParaRPr lang="en-US" sz="1000" dirty="0"/>
                    </a:p>
                    <a:p>
                      <a:pPr marL="0" lvl="0" indent="0" algn="l">
                        <a:buNone/>
                      </a:pPr>
                      <a:r>
                        <a:rPr lang="en-US" sz="1000" b="0" i="0" u="none" strike="noStrike" noProof="0" dirty="0">
                          <a:solidFill>
                            <a:srgbClr val="000000"/>
                          </a:solidFill>
                          <a:effectLst/>
                          <a:latin typeface="Montserrat"/>
                        </a:rPr>
                        <a:t>Able to edit dependent telephone, mobile number, fax  and email successfully replicate</a:t>
                      </a:r>
                    </a:p>
                    <a:p>
                      <a:pPr marL="0" lvl="0" indent="0" algn="l">
                        <a:buNone/>
                      </a:pPr>
                      <a:r>
                        <a:rPr lang="en-US" sz="1000" b="0" i="0" u="none" strike="noStrike" noProof="0" dirty="0">
                          <a:solidFill>
                            <a:srgbClr val="000000"/>
                          </a:solidFill>
                          <a:effectLst/>
                          <a:latin typeface="Montserrat"/>
                        </a:rPr>
                        <a:t>Able to edit custom fields (CAM Zone, Employee Classification, household income, etc.) and successfully replicate</a:t>
                      </a:r>
                      <a:br>
                        <a:rPr lang="en-US" sz="1000" dirty="0">
                          <a:effectLst/>
                        </a:rPr>
                      </a:br>
                      <a:r>
                        <a:rPr lang="en-US" sz="1000" b="0" i="0" u="none" strike="noStrike" noProof="0" dirty="0">
                          <a:solidFill>
                            <a:srgbClr val="000000"/>
                          </a:solidFill>
                          <a:effectLst/>
                          <a:latin typeface="Montserrat"/>
                        </a:rPr>
                        <a:t>Able to edit birth date and successfully replicate</a:t>
                      </a:r>
                      <a:br>
                        <a:rPr lang="en-US" sz="1000" dirty="0">
                          <a:effectLst/>
                        </a:rPr>
                      </a:br>
                      <a:r>
                        <a:rPr lang="en-US" sz="1000" dirty="0">
                          <a:effectLst/>
                        </a:rPr>
                        <a:t>Able to edit relationships and successfully replicate.</a:t>
                      </a:r>
                      <a:br>
                        <a:rPr lang="en-US" sz="1000" dirty="0">
                          <a:effectLst/>
                        </a:rPr>
                      </a:br>
                      <a:r>
                        <a:rPr lang="en-US" sz="1000" dirty="0">
                          <a:effectLst/>
                        </a:rPr>
                        <a:t>Able to identify Risk and Controls</a:t>
                      </a:r>
                      <a:endParaRPr lang="en-US"/>
                    </a:p>
                    <a:p>
                      <a:pPr marL="0" marR="0" lvl="0" indent="0" algn="l" defTabSz="609585" rtl="0" eaLnBrk="1" fontAlgn="auto" latinLnBrk="0" hangingPunct="1">
                        <a:lnSpc>
                          <a:spcPct val="100000"/>
                        </a:lnSpc>
                        <a:spcBef>
                          <a:spcPts val="0"/>
                        </a:spcBef>
                        <a:spcAft>
                          <a:spcPts val="0"/>
                        </a:spcAft>
                        <a:buClrTx/>
                        <a:buSzTx/>
                        <a:buFontTx/>
                        <a:buNone/>
                        <a:tabLst/>
                        <a:defRPr/>
                      </a:pPr>
                      <a:r>
                        <a:rPr lang="en-US" sz="1000">
                          <a:effectLst/>
                        </a:rPr>
                        <a:t>Able to edit Classification</a:t>
                      </a:r>
                      <a:endParaRPr lang="en-US" sz="1000" dirty="0">
                        <a:effectLst/>
                      </a:endParaRPr>
                    </a:p>
                    <a:p>
                      <a:pPr marL="0" marR="0" lvl="0" indent="0" algn="l" defTabSz="609585" rtl="0" eaLnBrk="1" fontAlgn="auto" latinLnBrk="0" hangingPunct="1">
                        <a:lnSpc>
                          <a:spcPct val="100000"/>
                        </a:lnSpc>
                        <a:spcBef>
                          <a:spcPts val="0"/>
                        </a:spcBef>
                        <a:spcAft>
                          <a:spcPts val="0"/>
                        </a:spcAft>
                        <a:buClrTx/>
                        <a:buSzTx/>
                        <a:buFontTx/>
                        <a:buNone/>
                        <a:tabLst/>
                        <a:defRPr/>
                      </a:pPr>
                      <a:r>
                        <a:rPr lang="en-US" sz="1000">
                          <a:effectLst/>
                        </a:rPr>
                        <a:t>Able to flag for “no credit transfer”</a:t>
                      </a:r>
                      <a:endParaRPr lang="en-US" sz="1000" dirty="0">
                        <a:effectLst/>
                      </a:endParaRPr>
                    </a:p>
                    <a:p>
                      <a:pPr marL="0" marR="0" lvl="0" indent="0" algn="l" defTabSz="609585" rtl="0" eaLnBrk="1" fontAlgn="auto" latinLnBrk="0" hangingPunct="1">
                        <a:lnSpc>
                          <a:spcPct val="100000"/>
                        </a:lnSpc>
                        <a:spcBef>
                          <a:spcPts val="0"/>
                        </a:spcBef>
                        <a:spcAft>
                          <a:spcPts val="0"/>
                        </a:spcAft>
                        <a:buClrTx/>
                        <a:buSzTx/>
                        <a:buFontTx/>
                        <a:buNone/>
                        <a:tabLst/>
                        <a:defRPr/>
                      </a:pPr>
                      <a:r>
                        <a:rPr lang="en-US" sz="1000">
                          <a:effectLst/>
                        </a:rPr>
                        <a:t>Able to edit info Release</a:t>
                      </a:r>
                      <a:endParaRPr lang="en-US" sz="1000" dirty="0">
                        <a:effectLst/>
                      </a:endParaRPr>
                    </a:p>
                    <a:p>
                      <a:pPr marL="0" marR="0" lvl="0" indent="0" algn="l" defTabSz="609585" rtl="0" eaLnBrk="1" fontAlgn="auto" latinLnBrk="0" hangingPunct="1">
                        <a:lnSpc>
                          <a:spcPct val="100000"/>
                        </a:lnSpc>
                        <a:spcBef>
                          <a:spcPts val="0"/>
                        </a:spcBef>
                        <a:spcAft>
                          <a:spcPts val="0"/>
                        </a:spcAft>
                        <a:buClrTx/>
                        <a:buSzTx/>
                        <a:buFontTx/>
                        <a:buNone/>
                        <a:tabLst/>
                        <a:defRPr/>
                      </a:pPr>
                      <a:r>
                        <a:rPr lang="en-US" sz="1000">
                          <a:effectLst/>
                        </a:rPr>
                        <a:t>Able to edit relationships</a:t>
                      </a:r>
                      <a:endParaRPr lang="en-US" sz="1000" dirty="0">
                        <a:effectLst/>
                      </a:endParaRPr>
                    </a:p>
                    <a:p>
                      <a:pPr marL="0" lvl="0" indent="0" algn="l">
                        <a:lnSpc>
                          <a:spcPct val="100000"/>
                        </a:lnSpc>
                        <a:spcBef>
                          <a:spcPts val="0"/>
                        </a:spcBef>
                        <a:spcAft>
                          <a:spcPts val="0"/>
                        </a:spcAft>
                        <a:buNone/>
                      </a:pPr>
                      <a:r>
                        <a:rPr lang="en-US" sz="1000" b="0" i="0" u="none" strike="noStrike" noProof="0" dirty="0">
                          <a:effectLst/>
                          <a:highlight>
                            <a:srgbClr val="FFFF00"/>
                          </a:highlight>
                          <a:latin typeface="Montserrat"/>
                        </a:rPr>
                        <a:t>Able to edit or delete a password</a:t>
                      </a:r>
                      <a:endParaRPr lang="en-US" sz="1000" dirty="0">
                        <a:highlight>
                          <a:srgbClr val="FFFF00"/>
                        </a:highlight>
                      </a:endParaRPr>
                    </a:p>
                    <a:p>
                      <a:pPr marL="0" marR="0" lvl="0" indent="0" algn="l">
                        <a:lnSpc>
                          <a:spcPct val="100000"/>
                        </a:lnSpc>
                        <a:spcBef>
                          <a:spcPts val="0"/>
                        </a:spcBef>
                        <a:spcAft>
                          <a:spcPts val="0"/>
                        </a:spcAft>
                        <a:buNone/>
                      </a:pPr>
                      <a:r>
                        <a:rPr lang="en-US" sz="1000" b="0" i="0" u="none" strike="noStrike" noProof="0">
                          <a:effectLst/>
                          <a:highlight>
                            <a:srgbClr val="FFFF00"/>
                          </a:highlight>
                          <a:latin typeface="Montserrat"/>
                        </a:rPr>
                        <a:t>Able to edit suffix ex: Jr, Sr, III</a:t>
                      </a:r>
                      <a:endParaRPr lang="en-US" sz="1000">
                        <a:highlight>
                          <a:srgbClr val="FFFF00"/>
                        </a:highlight>
                      </a:endParaRPr>
                    </a:p>
                  </a:txBody>
                  <a:tcPr marL="0" marR="0" marT="0" marB="0" anchor="ctr"/>
                </a:tc>
                <a:extLst>
                  <a:ext uri="{0D108BD9-81ED-4DB2-BD59-A6C34878D82A}">
                    <a16:rowId xmlns:a16="http://schemas.microsoft.com/office/drawing/2014/main" val="121390121"/>
                  </a:ext>
                </a:extLst>
              </a:tr>
              <a:tr h="525428">
                <a:tc>
                  <a:txBody>
                    <a:bodyPr/>
                    <a:lstStyle/>
                    <a:p>
                      <a:pPr lvl="0" algn="l">
                        <a:buNone/>
                      </a:pPr>
                      <a:r>
                        <a:rPr lang="en-US" sz="1000" b="0" i="0" u="none" strike="noStrike" noProof="0">
                          <a:solidFill>
                            <a:srgbClr val="000000"/>
                          </a:solidFill>
                          <a:effectLst/>
                          <a:latin typeface="Montserrat"/>
                        </a:rPr>
                        <a:t>As a Service Cloud v2 agent or CSR, I want to </a:t>
                      </a:r>
                      <a:r>
                        <a:rPr lang="en-US" sz="1000" b="1" i="0" u="none" strike="noStrike" noProof="0">
                          <a:solidFill>
                            <a:srgbClr val="000000"/>
                          </a:solidFill>
                          <a:effectLst/>
                          <a:latin typeface="Montserrat"/>
                        </a:rPr>
                        <a:t>edit</a:t>
                      </a:r>
                      <a:r>
                        <a:rPr lang="en-US" sz="1000" b="0" i="0" u="none" strike="noStrike" noProof="0">
                          <a:solidFill>
                            <a:srgbClr val="000000"/>
                          </a:solidFill>
                          <a:effectLst/>
                          <a:latin typeface="Montserrat"/>
                        </a:rPr>
                        <a:t> a contact person and have it successfully replicate to S/4HANA with the right number range. </a:t>
                      </a:r>
                      <a:endParaRPr lang="en-US" sz="1000">
                        <a:effectLst/>
                      </a:endParaRPr>
                    </a:p>
                  </a:txBody>
                  <a:tcPr marL="0" marR="0" marT="0" marB="0" anchor="ctr"/>
                </a:tc>
                <a:tc>
                  <a:txBody>
                    <a:bodyPr/>
                    <a:lstStyle/>
                    <a:p>
                      <a:pPr lvl="0" algn="l">
                        <a:buNone/>
                      </a:pPr>
                      <a:r>
                        <a:rPr lang="en-US" sz="1000" b="0" i="0" u="none" strike="noStrike" noProof="0">
                          <a:solidFill>
                            <a:srgbClr val="000000"/>
                          </a:solidFill>
                          <a:effectLst/>
                          <a:latin typeface="+mn-lt"/>
                        </a:rPr>
                        <a:t>Able to edit First Name / Last Name</a:t>
                      </a:r>
                      <a:br>
                        <a:rPr lang="en-US" sz="1000" b="0" i="0" u="none" strike="noStrike" noProof="0" dirty="0">
                          <a:solidFill>
                            <a:srgbClr val="000000"/>
                          </a:solidFill>
                          <a:effectLst/>
                          <a:latin typeface="+mn-lt"/>
                        </a:rPr>
                      </a:br>
                      <a:r>
                        <a:rPr lang="en-US" sz="1000" b="0" i="0" u="none" strike="noStrike" noProof="0">
                          <a:solidFill>
                            <a:srgbClr val="000000"/>
                          </a:solidFill>
                          <a:effectLst/>
                          <a:latin typeface="+mn-lt"/>
                        </a:rPr>
                        <a:t>Able to edit Account Name</a:t>
                      </a:r>
                      <a:br>
                        <a:rPr lang="en-US" sz="1000" b="0" i="0" u="none" strike="noStrike" noProof="0" dirty="0">
                          <a:solidFill>
                            <a:srgbClr val="000000"/>
                          </a:solidFill>
                          <a:effectLst/>
                          <a:latin typeface="+mn-lt"/>
                        </a:rPr>
                      </a:br>
                      <a:r>
                        <a:rPr lang="en-US" sz="1000" b="0" i="0" u="none" strike="noStrike" noProof="0" dirty="0">
                          <a:solidFill>
                            <a:srgbClr val="000000"/>
                          </a:solidFill>
                          <a:effectLst/>
                          <a:latin typeface="+mn-lt"/>
                        </a:rPr>
                        <a:t>Able to edit phone number and email</a:t>
                      </a:r>
                      <a:endParaRPr lang="en-US" sz="1000">
                        <a:effectLst/>
                      </a:endParaRPr>
                    </a:p>
                  </a:txBody>
                  <a:tcPr marL="0" marR="0" marT="0" marB="0" anchor="ctr"/>
                </a:tc>
                <a:extLst>
                  <a:ext uri="{0D108BD9-81ED-4DB2-BD59-A6C34878D82A}">
                    <a16:rowId xmlns:a16="http://schemas.microsoft.com/office/drawing/2014/main" val="2274021173"/>
                  </a:ext>
                </a:extLst>
              </a:tr>
            </a:tbl>
          </a:graphicData>
        </a:graphic>
      </p:graphicFrame>
    </p:spTree>
    <p:extLst>
      <p:ext uri="{BB962C8B-B14F-4D97-AF65-F5344CB8AC3E}">
        <p14:creationId xmlns:p14="http://schemas.microsoft.com/office/powerpoint/2010/main" val="22182068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73127-A0B3-1E03-B615-63ABD373B7BE}"/>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9BEA02E7-1985-B3EF-410E-1BE82D25E3A6}"/>
              </a:ext>
            </a:extLst>
          </p:cNvPr>
          <p:cNvGraphicFramePr>
            <a:graphicFrameLocks noGrp="1"/>
          </p:cNvGraphicFramePr>
          <p:nvPr>
            <p:extLst>
              <p:ext uri="{D42A27DB-BD31-4B8C-83A1-F6EECF244321}">
                <p14:modId xmlns:p14="http://schemas.microsoft.com/office/powerpoint/2010/main" val="4019986875"/>
              </p:ext>
            </p:extLst>
          </p:nvPr>
        </p:nvGraphicFramePr>
        <p:xfrm>
          <a:off x="68238" y="773373"/>
          <a:ext cx="12005224" cy="5760720"/>
        </p:xfrm>
        <a:graphic>
          <a:graphicData uri="http://schemas.openxmlformats.org/drawingml/2006/table">
            <a:tbl>
              <a:tblPr firstRow="1" bandRow="1">
                <a:tableStyleId>{5C22544A-7EE6-4342-B048-85BDC9FD1C3A}</a:tableStyleId>
              </a:tblPr>
              <a:tblGrid>
                <a:gridCol w="4333163">
                  <a:extLst>
                    <a:ext uri="{9D8B030D-6E8A-4147-A177-3AD203B41FA5}">
                      <a16:colId xmlns:a16="http://schemas.microsoft.com/office/drawing/2014/main" val="1397567261"/>
                    </a:ext>
                  </a:extLst>
                </a:gridCol>
                <a:gridCol w="7672061">
                  <a:extLst>
                    <a:ext uri="{9D8B030D-6E8A-4147-A177-3AD203B41FA5}">
                      <a16:colId xmlns:a16="http://schemas.microsoft.com/office/drawing/2014/main" val="1493299998"/>
                    </a:ext>
                  </a:extLst>
                </a:gridCol>
              </a:tblGrid>
              <a:tr h="162148">
                <a:tc>
                  <a:txBody>
                    <a:bodyPr/>
                    <a:lstStyle/>
                    <a:p>
                      <a:pPr lvl="0">
                        <a:buNone/>
                      </a:pPr>
                      <a:r>
                        <a:rPr lang="en-US" sz="1200">
                          <a:effectLst/>
                        </a:rPr>
                        <a:t>User Story</a:t>
                      </a:r>
                    </a:p>
                  </a:txBody>
                  <a:tcPr marL="0" marR="0" marT="0" marB="0" anchor="ctr"/>
                </a:tc>
                <a:tc>
                  <a:txBody>
                    <a:bodyPr/>
                    <a:lstStyle/>
                    <a:p>
                      <a:pPr lvl="0">
                        <a:buNone/>
                      </a:pPr>
                      <a:r>
                        <a:rPr lang="en-US" sz="1200">
                          <a:effectLst/>
                        </a:rPr>
                        <a:t>Acceptance Criteria</a:t>
                      </a:r>
                    </a:p>
                  </a:txBody>
                  <a:tcPr marL="0" marR="0" marT="0" marB="0" anchor="ctr"/>
                </a:tc>
                <a:extLst>
                  <a:ext uri="{0D108BD9-81ED-4DB2-BD59-A6C34878D82A}">
                    <a16:rowId xmlns:a16="http://schemas.microsoft.com/office/drawing/2014/main" val="848898239"/>
                  </a:ext>
                </a:extLst>
              </a:tr>
              <a:tr h="810739">
                <a:tc>
                  <a:txBody>
                    <a:bodyPr/>
                    <a:lstStyle/>
                    <a:p>
                      <a:pPr>
                        <a:buNone/>
                      </a:pPr>
                      <a:r>
                        <a:rPr lang="en-US" sz="1000">
                          <a:effectLst/>
                        </a:rPr>
                        <a:t>As a Service Cloud v2 agent or CSR, I want to </a:t>
                      </a:r>
                      <a:r>
                        <a:rPr lang="en-US" sz="1000" b="1">
                          <a:effectLst/>
                        </a:rPr>
                        <a:t>search</a:t>
                      </a:r>
                      <a:r>
                        <a:rPr lang="en-US" sz="1000">
                          <a:effectLst/>
                        </a:rPr>
                        <a:t> an individual customer (person) and Account (organization) in Service Cloud v2</a:t>
                      </a:r>
                      <a:endParaRPr lang="en-US" sz="1000" dirty="0">
                        <a:effectLst/>
                      </a:endParaRPr>
                    </a:p>
                  </a:txBody>
                  <a:tcPr marL="0" marR="0" marT="0" marB="0" anchor="ctr"/>
                </a:tc>
                <a:tc>
                  <a:txBody>
                    <a:bodyPr/>
                    <a:lstStyle/>
                    <a:p>
                      <a:pPr>
                        <a:buNone/>
                      </a:pPr>
                      <a:r>
                        <a:rPr lang="en-US" sz="1000">
                          <a:effectLst/>
                        </a:rPr>
                        <a:t> Able to search by First Name / Last Name</a:t>
                      </a:r>
                      <a:br>
                        <a:rPr lang="en-US" sz="1000" dirty="0">
                          <a:effectLst/>
                        </a:rPr>
                      </a:br>
                      <a:r>
                        <a:rPr lang="en-US" sz="1000" b="0" i="0" u="none" strike="noStrike" noProof="0">
                          <a:solidFill>
                            <a:srgbClr val="000000"/>
                          </a:solidFill>
                          <a:effectLst/>
                          <a:latin typeface="Montserrat"/>
                        </a:rPr>
                        <a:t>Able to search by Account Name</a:t>
                      </a:r>
                      <a:br>
                        <a:rPr lang="en-US" sz="1000" dirty="0">
                          <a:effectLst/>
                        </a:rPr>
                      </a:br>
                      <a:r>
                        <a:rPr lang="en-US" sz="1000" b="0" i="0" u="none" strike="noStrike" noProof="0" dirty="0">
                          <a:solidFill>
                            <a:srgbClr val="000000"/>
                          </a:solidFill>
                          <a:effectLst/>
                          <a:latin typeface="Montserrat"/>
                        </a:rPr>
                        <a:t>Able to search by  address details</a:t>
                      </a:r>
                      <a:br>
                        <a:rPr lang="en-US" sz="1000" dirty="0">
                          <a:effectLst/>
                        </a:rPr>
                      </a:br>
                      <a:r>
                        <a:rPr lang="en-US" sz="1000" b="0" i="0" u="none" strike="noStrike" noProof="0" dirty="0">
                          <a:solidFill>
                            <a:srgbClr val="000000"/>
                          </a:solidFill>
                          <a:effectLst/>
                          <a:latin typeface="Montserrat"/>
                        </a:rPr>
                        <a:t>Able to search by Id Types</a:t>
                      </a:r>
                      <a:br>
                        <a:rPr lang="en-US" sz="1000" dirty="0">
                          <a:effectLst/>
                        </a:rPr>
                      </a:br>
                      <a:r>
                        <a:rPr lang="en-US" sz="1000" dirty="0">
                          <a:effectLst/>
                        </a:rPr>
                        <a:t>Able to search by telephone number and email</a:t>
                      </a:r>
                    </a:p>
                    <a:p>
                      <a:pPr lvl="0">
                        <a:buNone/>
                      </a:pPr>
                      <a:r>
                        <a:rPr lang="en-US" sz="1000" b="0" i="0" u="none" strike="noStrike" noProof="0">
                          <a:effectLst/>
                          <a:highlight>
                            <a:srgbClr val="FFFF00"/>
                          </a:highlight>
                          <a:latin typeface="Montserrat"/>
                        </a:rPr>
                        <a:t>Able to use address to find customer</a:t>
                      </a:r>
                      <a:endParaRPr lang="en-US" sz="1000">
                        <a:highlight>
                          <a:srgbClr val="FFFF00"/>
                        </a:highlight>
                      </a:endParaRPr>
                    </a:p>
                  </a:txBody>
                  <a:tcPr marL="0" marR="0" marT="0" marB="0" anchor="ctr"/>
                </a:tc>
                <a:extLst>
                  <a:ext uri="{0D108BD9-81ED-4DB2-BD59-A6C34878D82A}">
                    <a16:rowId xmlns:a16="http://schemas.microsoft.com/office/drawing/2014/main" val="2577219088"/>
                  </a:ext>
                </a:extLst>
              </a:tr>
              <a:tr h="405369">
                <a:tc>
                  <a:txBody>
                    <a:bodyPr/>
                    <a:lstStyle/>
                    <a:p>
                      <a:pPr lvl="0">
                        <a:buNone/>
                      </a:pPr>
                      <a:r>
                        <a:rPr lang="en-US" sz="1000" b="0" i="0" u="none" strike="noStrike" noProof="0">
                          <a:solidFill>
                            <a:srgbClr val="000000"/>
                          </a:solidFill>
                          <a:effectLst/>
                          <a:latin typeface="Montserrat"/>
                        </a:rPr>
                        <a:t>As a Service Cloud v2 agent or CSR, I want to </a:t>
                      </a:r>
                      <a:r>
                        <a:rPr lang="en-US" sz="1000" b="1" i="0" u="none" strike="noStrike" noProof="0">
                          <a:solidFill>
                            <a:srgbClr val="000000"/>
                          </a:solidFill>
                          <a:effectLst/>
                          <a:latin typeface="Montserrat"/>
                        </a:rPr>
                        <a:t>search</a:t>
                      </a:r>
                      <a:r>
                        <a:rPr lang="en-US" sz="1000" b="0" i="0" u="none" strike="noStrike" noProof="0">
                          <a:solidFill>
                            <a:srgbClr val="000000"/>
                          </a:solidFill>
                          <a:effectLst/>
                          <a:latin typeface="Montserrat"/>
                        </a:rPr>
                        <a:t> a Contact Person in Service Cloud v2</a:t>
                      </a:r>
                      <a:endParaRPr lang="en-US" sz="1000" b="0" i="0" u="none" strike="noStrike" noProof="0" dirty="0">
                        <a:solidFill>
                          <a:srgbClr val="000000"/>
                        </a:solidFill>
                        <a:effectLst/>
                        <a:latin typeface="Montserrat"/>
                      </a:endParaRPr>
                    </a:p>
                  </a:txBody>
                  <a:tcPr marL="0" marR="0" marT="0" marB="0" anchor="ctr"/>
                </a:tc>
                <a:tc>
                  <a:txBody>
                    <a:bodyPr/>
                    <a:lstStyle/>
                    <a:p>
                      <a:pPr marL="0" lvl="0" indent="0">
                        <a:buNone/>
                      </a:pPr>
                      <a:r>
                        <a:rPr lang="en-US" sz="1000" b="0" i="0" u="none" strike="noStrike" noProof="0">
                          <a:solidFill>
                            <a:srgbClr val="000000"/>
                          </a:solidFill>
                          <a:effectLst/>
                          <a:latin typeface="Montserrat"/>
                        </a:rPr>
                        <a:t>Able to search by First Name / Last Name</a:t>
                      </a:r>
                      <a:br>
                        <a:rPr lang="en-US" sz="1000" b="0" i="0" u="none" strike="noStrike" noProof="0" dirty="0">
                          <a:solidFill>
                            <a:srgbClr val="000000"/>
                          </a:solidFill>
                          <a:effectLst/>
                          <a:latin typeface="Montserrat"/>
                        </a:rPr>
                      </a:br>
                      <a:r>
                        <a:rPr lang="en-US" sz="1000" b="0" i="0" u="none" strike="noStrike" noProof="0">
                          <a:solidFill>
                            <a:srgbClr val="000000"/>
                          </a:solidFill>
                          <a:effectLst/>
                          <a:latin typeface="Montserrat"/>
                        </a:rPr>
                        <a:t>Able to search by Account Name</a:t>
                      </a:r>
                      <a:br>
                        <a:rPr lang="en-US" sz="1000" dirty="0">
                          <a:effectLst/>
                        </a:rPr>
                      </a:br>
                      <a:r>
                        <a:rPr lang="en-US" sz="1000" dirty="0">
                          <a:effectLst/>
                        </a:rPr>
                        <a:t>Able to search by phone number</a:t>
                      </a:r>
                    </a:p>
                  </a:txBody>
                  <a:tcPr marL="0" marR="0" marT="0" marB="0" anchor="ctr"/>
                </a:tc>
                <a:extLst>
                  <a:ext uri="{0D108BD9-81ED-4DB2-BD59-A6C34878D82A}">
                    <a16:rowId xmlns:a16="http://schemas.microsoft.com/office/drawing/2014/main" val="2195492008"/>
                  </a:ext>
                </a:extLst>
              </a:tr>
              <a:tr h="1351231">
                <a:tc>
                  <a:txBody>
                    <a:bodyPr/>
                    <a:lstStyle/>
                    <a:p>
                      <a:pPr lvl="0">
                        <a:buNone/>
                      </a:pPr>
                      <a:r>
                        <a:rPr lang="en-US" sz="1000" b="0" i="0" u="none" strike="noStrike" noProof="0">
                          <a:solidFill>
                            <a:srgbClr val="000000"/>
                          </a:solidFill>
                          <a:effectLst/>
                          <a:latin typeface="Montserrat"/>
                        </a:rPr>
                        <a:t>As a Service Cloud v2 agent or CSR, I want to </a:t>
                      </a:r>
                      <a:r>
                        <a:rPr lang="en-US" sz="1000" b="1" i="0" u="none" strike="noStrike" noProof="0">
                          <a:solidFill>
                            <a:srgbClr val="000000"/>
                          </a:solidFill>
                          <a:effectLst/>
                          <a:latin typeface="Montserrat"/>
                        </a:rPr>
                        <a:t>view </a:t>
                      </a:r>
                      <a:r>
                        <a:rPr lang="en-US" sz="1000" b="0" i="0" u="none" strike="noStrike" noProof="0">
                          <a:solidFill>
                            <a:srgbClr val="000000"/>
                          </a:solidFill>
                          <a:effectLst/>
                          <a:latin typeface="Montserrat"/>
                        </a:rPr>
                        <a:t>a Contract Account (business agreement)</a:t>
                      </a:r>
                      <a:endParaRPr lang="en-US" sz="1000" b="0" i="0" u="none" strike="noStrike" noProof="0" dirty="0">
                        <a:solidFill>
                          <a:srgbClr val="000000"/>
                        </a:solidFill>
                        <a:effectLst/>
                        <a:latin typeface="Montserrat"/>
                      </a:endParaRPr>
                    </a:p>
                  </a:txBody>
                  <a:tcPr marL="0" marR="0" marT="0" marB="0" anchor="ctr"/>
                </a:tc>
                <a:tc>
                  <a:txBody>
                    <a:bodyPr/>
                    <a:lstStyle/>
                    <a:p>
                      <a:pPr>
                        <a:buNone/>
                      </a:pPr>
                      <a:r>
                        <a:rPr lang="en-US" sz="1000">
                          <a:effectLst/>
                        </a:rPr>
                        <a:t>Able to view Financial Postings</a:t>
                      </a:r>
                      <a:endParaRPr lang="en-US" sz="1000" dirty="0"/>
                    </a:p>
                    <a:p>
                      <a:pPr lvl="0">
                        <a:buNone/>
                      </a:pPr>
                      <a:r>
                        <a:rPr lang="en-US" sz="1000" b="0" i="0" u="none" strike="noStrike" noProof="0">
                          <a:solidFill>
                            <a:srgbClr val="000000"/>
                          </a:solidFill>
                          <a:effectLst/>
                          <a:latin typeface="Montserrat"/>
                        </a:rPr>
                        <a:t>Able to view Open Items</a:t>
                      </a:r>
                      <a:br>
                        <a:rPr lang="en-US" sz="1000" dirty="0">
                          <a:effectLst/>
                        </a:rPr>
                      </a:br>
                      <a:r>
                        <a:rPr lang="en-US" sz="1000" b="0" i="0" u="none" strike="noStrike" noProof="0" dirty="0">
                          <a:solidFill>
                            <a:srgbClr val="000000"/>
                          </a:solidFill>
                          <a:effectLst/>
                          <a:latin typeface="Montserrat"/>
                        </a:rPr>
                        <a:t>Able to view Payments</a:t>
                      </a:r>
                      <a:br>
                        <a:rPr lang="en-US" sz="1000" dirty="0">
                          <a:effectLst/>
                        </a:rPr>
                      </a:br>
                      <a:r>
                        <a:rPr lang="en-US" sz="1000" b="0" i="0" u="none" strike="noStrike" noProof="0" dirty="0">
                          <a:solidFill>
                            <a:srgbClr val="000000"/>
                          </a:solidFill>
                          <a:effectLst/>
                          <a:latin typeface="Montserrat"/>
                        </a:rPr>
                        <a:t>Able to view Security Deposits</a:t>
                      </a:r>
                      <a:br>
                        <a:rPr lang="en-US" sz="1000" dirty="0">
                          <a:effectLst/>
                        </a:rPr>
                      </a:br>
                      <a:r>
                        <a:rPr lang="en-US" sz="1000" b="0" i="0" u="none" strike="noStrike" noProof="0" dirty="0">
                          <a:solidFill>
                            <a:srgbClr val="000000"/>
                          </a:solidFill>
                          <a:effectLst/>
                          <a:latin typeface="Montserrat"/>
                        </a:rPr>
                        <a:t>Able to view Dunning History</a:t>
                      </a:r>
                      <a:br>
                        <a:rPr lang="en-US" sz="1000" dirty="0">
                          <a:effectLst/>
                        </a:rPr>
                      </a:br>
                      <a:r>
                        <a:rPr lang="en-US" sz="1000" b="0" i="0" u="none" strike="noStrike" noProof="0" dirty="0">
                          <a:solidFill>
                            <a:srgbClr val="000000"/>
                          </a:solidFill>
                          <a:effectLst/>
                          <a:latin typeface="Montserrat"/>
                        </a:rPr>
                        <a:t>Able to view Invoice details</a:t>
                      </a:r>
                      <a:br>
                        <a:rPr lang="en-US" sz="1000" dirty="0">
                          <a:effectLst/>
                        </a:rPr>
                      </a:br>
                      <a:r>
                        <a:rPr lang="en-US" sz="1000" b="0" i="0" u="none" strike="noStrike" noProof="0" dirty="0">
                          <a:solidFill>
                            <a:srgbClr val="000000"/>
                          </a:solidFill>
                          <a:effectLst/>
                          <a:latin typeface="Montserrat"/>
                        </a:rPr>
                        <a:t>Able to view Write Offs</a:t>
                      </a:r>
                      <a:br>
                        <a:rPr lang="en-US" sz="1000" dirty="0">
                          <a:effectLst/>
                        </a:rPr>
                      </a:br>
                      <a:r>
                        <a:rPr lang="en-US" sz="1000" dirty="0">
                          <a:effectLst/>
                        </a:rPr>
                        <a:t>Able to view Creditworthiness</a:t>
                      </a:r>
                    </a:p>
                    <a:p>
                      <a:pPr lvl="0" algn="l">
                        <a:lnSpc>
                          <a:spcPct val="100000"/>
                        </a:lnSpc>
                        <a:spcBef>
                          <a:spcPts val="0"/>
                        </a:spcBef>
                        <a:spcAft>
                          <a:spcPts val="0"/>
                        </a:spcAft>
                        <a:buNone/>
                      </a:pPr>
                      <a:r>
                        <a:rPr lang="en-US" sz="1000" b="0" i="0" u="none" strike="noStrike" noProof="0">
                          <a:effectLst/>
                          <a:highlight>
                            <a:srgbClr val="FFFF00"/>
                          </a:highlight>
                          <a:latin typeface="Montserrat"/>
                        </a:rPr>
                        <a:t>Able to view ESM (Energy Solutions Manager) if assigned</a:t>
                      </a:r>
                      <a:endParaRPr lang="en-US" sz="1000">
                        <a:highlight>
                          <a:srgbClr val="FFFF00"/>
                        </a:highlight>
                      </a:endParaRPr>
                    </a:p>
                    <a:p>
                      <a:pPr lvl="0" algn="l">
                        <a:lnSpc>
                          <a:spcPct val="100000"/>
                        </a:lnSpc>
                        <a:spcBef>
                          <a:spcPts val="0"/>
                        </a:spcBef>
                        <a:spcAft>
                          <a:spcPts val="0"/>
                        </a:spcAft>
                        <a:buNone/>
                      </a:pPr>
                      <a:r>
                        <a:rPr lang="en-US" sz="1000" b="0" i="0" u="none" strike="noStrike" noProof="0">
                          <a:effectLst/>
                          <a:highlight>
                            <a:srgbClr val="FFFF00"/>
                          </a:highlight>
                          <a:latin typeface="Montserrat"/>
                        </a:rPr>
                        <a:t>Able to view account history breakdown - same view of all items, open and closed </a:t>
                      </a:r>
                      <a:endParaRPr lang="en-US" sz="1000">
                        <a:highlight>
                          <a:srgbClr val="FFFF00"/>
                        </a:highlight>
                      </a:endParaRPr>
                    </a:p>
                  </a:txBody>
                  <a:tcPr marL="0" marR="0" marT="0" marB="0" anchor="ctr"/>
                </a:tc>
                <a:extLst>
                  <a:ext uri="{0D108BD9-81ED-4DB2-BD59-A6C34878D82A}">
                    <a16:rowId xmlns:a16="http://schemas.microsoft.com/office/drawing/2014/main" val="121390121"/>
                  </a:ext>
                </a:extLst>
              </a:tr>
              <a:tr h="810739">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Montserrat"/>
                        </a:rPr>
                        <a:t>As a Service Cloud V2 Agent or CSR I want to view payment history and details.</a:t>
                      </a:r>
                      <a:endParaRPr lang="en-US" sz="1000" b="0" i="0" u="none" strike="noStrike" noProof="0" dirty="0">
                        <a:solidFill>
                          <a:srgbClr val="000000"/>
                        </a:solidFill>
                        <a:effectLst/>
                        <a:latin typeface="Montserrat"/>
                      </a:endParaRPr>
                    </a:p>
                  </a:txBody>
                  <a:tcPr marL="0" marR="0" marT="0" marB="0" anchor="ct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FF00"/>
                          </a:highlight>
                          <a:latin typeface="Montserrat"/>
                        </a:rPr>
                        <a:t>Able to view the amount of the payment</a:t>
                      </a:r>
                      <a:br>
                        <a:rPr lang="en-US" sz="1000" b="0" i="0" u="none" strike="noStrike" noProof="0" dirty="0">
                          <a:solidFill>
                            <a:srgbClr val="000000"/>
                          </a:solidFill>
                          <a:effectLst/>
                          <a:highlight>
                            <a:srgbClr val="FFFF00"/>
                          </a:highlight>
                          <a:latin typeface="Montserrat"/>
                        </a:rPr>
                      </a:br>
                      <a:r>
                        <a:rPr lang="en-US" sz="1000" b="0" i="0" u="none" strike="noStrike" noProof="0">
                          <a:solidFill>
                            <a:srgbClr val="000000"/>
                          </a:solidFill>
                          <a:effectLst/>
                          <a:highlight>
                            <a:srgbClr val="FFFF00"/>
                          </a:highlight>
                          <a:latin typeface="Montserrat"/>
                        </a:rPr>
                        <a:t>Able to view the date of the payment</a:t>
                      </a:r>
                      <a:br>
                        <a:rPr lang="en-US" sz="1000" b="0" i="0" u="none" strike="noStrike" noProof="0" dirty="0">
                          <a:solidFill>
                            <a:srgbClr val="000000"/>
                          </a:solidFill>
                          <a:effectLst/>
                          <a:highlight>
                            <a:srgbClr val="FFFF00"/>
                          </a:highlight>
                          <a:latin typeface="Montserrat"/>
                        </a:rPr>
                      </a:br>
                      <a:r>
                        <a:rPr lang="en-US" sz="1000" b="0" i="0" u="none" strike="noStrike" noProof="0">
                          <a:solidFill>
                            <a:srgbClr val="000000"/>
                          </a:solidFill>
                          <a:effectLst/>
                          <a:highlight>
                            <a:srgbClr val="FFFF00"/>
                          </a:highlight>
                          <a:latin typeface="Montserrat"/>
                        </a:rPr>
                        <a:t>Able to view what the payments covered</a:t>
                      </a:r>
                      <a:br>
                        <a:rPr lang="en-US" sz="1000" b="0" i="0" u="none" strike="noStrike" noProof="0" dirty="0">
                          <a:solidFill>
                            <a:srgbClr val="000000"/>
                          </a:solidFill>
                          <a:effectLst/>
                          <a:highlight>
                            <a:srgbClr val="FFFF00"/>
                          </a:highlight>
                          <a:latin typeface="Montserrat"/>
                        </a:rPr>
                      </a:br>
                      <a:r>
                        <a:rPr lang="en-US" sz="1000" b="0" i="0" u="none" strike="noStrike" noProof="0">
                          <a:solidFill>
                            <a:srgbClr val="000000"/>
                          </a:solidFill>
                          <a:effectLst/>
                          <a:highlight>
                            <a:srgbClr val="FFFF00"/>
                          </a:highlight>
                          <a:latin typeface="Montserrat"/>
                        </a:rPr>
                        <a:t>Able to view if a payment went to multiple accounts</a:t>
                      </a:r>
                      <a:br>
                        <a:rPr lang="en-US" sz="1000" b="0" i="0" u="none" strike="noStrike" noProof="0" dirty="0">
                          <a:solidFill>
                            <a:srgbClr val="000000"/>
                          </a:solidFill>
                          <a:effectLst/>
                          <a:highlight>
                            <a:srgbClr val="FFFF00"/>
                          </a:highlight>
                          <a:latin typeface="Montserrat"/>
                        </a:rPr>
                      </a:br>
                      <a:r>
                        <a:rPr lang="en-US" sz="1000" b="0" i="0" u="none" strike="noStrike" noProof="0">
                          <a:solidFill>
                            <a:srgbClr val="000000"/>
                          </a:solidFill>
                          <a:effectLst/>
                          <a:highlight>
                            <a:srgbClr val="FFFF00"/>
                          </a:highlight>
                          <a:latin typeface="Montserrat"/>
                        </a:rPr>
                        <a:t>Able to see if a payment was declined and why</a:t>
                      </a:r>
                      <a:br>
                        <a:rPr lang="en-US" sz="1000" b="0" i="0" u="none" strike="noStrike" noProof="0" dirty="0">
                          <a:solidFill>
                            <a:srgbClr val="000000"/>
                          </a:solidFill>
                          <a:effectLst/>
                          <a:highlight>
                            <a:srgbClr val="FFFF00"/>
                          </a:highlight>
                          <a:latin typeface="Montserrat"/>
                        </a:rPr>
                      </a:br>
                      <a:r>
                        <a:rPr lang="en-US" sz="1000" b="0" i="0" u="none" strike="noStrike" noProof="0">
                          <a:solidFill>
                            <a:srgbClr val="000000"/>
                          </a:solidFill>
                          <a:effectLst/>
                          <a:highlight>
                            <a:srgbClr val="FFFF00"/>
                          </a:highlight>
                          <a:latin typeface="Montserrat"/>
                        </a:rPr>
                        <a:t>Able to view the origin of the payment (rec key)</a:t>
                      </a:r>
                      <a:endParaRPr lang="en-US" sz="1000" b="0" i="0" u="none" strike="noStrike" noProof="0" dirty="0">
                        <a:solidFill>
                          <a:srgbClr val="000000"/>
                        </a:solidFill>
                        <a:effectLst/>
                        <a:highlight>
                          <a:srgbClr val="FFFF00"/>
                        </a:highlight>
                        <a:latin typeface="Montserrat"/>
                      </a:endParaRPr>
                    </a:p>
                  </a:txBody>
                  <a:tcPr marL="0" marR="0" marT="0" marB="0" anchor="ctr"/>
                </a:tc>
                <a:extLst>
                  <a:ext uri="{0D108BD9-81ED-4DB2-BD59-A6C34878D82A}">
                    <a16:rowId xmlns:a16="http://schemas.microsoft.com/office/drawing/2014/main" val="2048114335"/>
                  </a:ext>
                </a:extLst>
              </a:tr>
              <a:tr h="405369">
                <a:tc>
                  <a:txBody>
                    <a:bodyPr/>
                    <a:lstStyle/>
                    <a:p>
                      <a:pPr lvl="0">
                        <a:buNone/>
                      </a:pPr>
                      <a:r>
                        <a:rPr lang="en-US" sz="1000" b="0" i="0" u="none" strike="noStrike" noProof="0">
                          <a:solidFill>
                            <a:srgbClr val="000000"/>
                          </a:solidFill>
                          <a:effectLst/>
                          <a:latin typeface="Montserrat"/>
                        </a:rPr>
                        <a:t>As a Service Cloud v2 agent or CSR, I want to make a manual adjustment to the customer's account</a:t>
                      </a:r>
                      <a:endParaRPr lang="en-US" sz="1000" b="0" i="0" u="none" strike="noStrike" noProof="0" dirty="0">
                        <a:solidFill>
                          <a:srgbClr val="000000"/>
                        </a:solidFill>
                        <a:effectLst/>
                        <a:latin typeface="Montserrat"/>
                      </a:endParaRPr>
                    </a:p>
                  </a:txBody>
                  <a:tcPr marL="0" marR="0" marT="0" marB="0" anchor="ctr"/>
                </a:tc>
                <a:tc>
                  <a:txBody>
                    <a:bodyPr/>
                    <a:lstStyle/>
                    <a:p>
                      <a:pPr>
                        <a:buNone/>
                      </a:pPr>
                      <a:r>
                        <a:rPr lang="en-US" sz="1000">
                          <a:effectLst/>
                        </a:rPr>
                        <a:t>Able to perform this action as an agent</a:t>
                      </a:r>
                      <a:endParaRPr lang="en-US" sz="1000" dirty="0"/>
                    </a:p>
                    <a:p>
                      <a:pPr lvl="0" algn="l">
                        <a:lnSpc>
                          <a:spcPct val="100000"/>
                        </a:lnSpc>
                        <a:spcBef>
                          <a:spcPts val="0"/>
                        </a:spcBef>
                        <a:spcAft>
                          <a:spcPts val="0"/>
                        </a:spcAft>
                        <a:buNone/>
                      </a:pPr>
                      <a:r>
                        <a:rPr lang="en-US" sz="1000" b="0" i="0" u="none" strike="noStrike" noProof="0">
                          <a:effectLst/>
                          <a:highlight>
                            <a:srgbClr val="FFFF00"/>
                          </a:highlight>
                          <a:latin typeface="Montserrat"/>
                        </a:rPr>
                        <a:t>Able to process amends as a CSR (form submission)</a:t>
                      </a:r>
                      <a:endParaRPr lang="en-US" sz="1000">
                        <a:highlight>
                          <a:srgbClr val="FFFF00"/>
                        </a:highlight>
                      </a:endParaRPr>
                    </a:p>
                    <a:p>
                      <a:pPr lvl="0">
                        <a:buNone/>
                      </a:pPr>
                      <a:r>
                        <a:rPr lang="en-US" sz="1000" b="0" i="0" u="none" strike="noStrike" noProof="0" dirty="0">
                          <a:effectLst/>
                          <a:highlight>
                            <a:srgbClr val="FFFF00"/>
                          </a:highlight>
                          <a:latin typeface="Montserrat"/>
                        </a:rPr>
                        <a:t>Able to </a:t>
                      </a:r>
                      <a:r>
                        <a:rPr lang="en-US" sz="1000" b="0" i="0" u="none" strike="noStrike" noProof="0" dirty="0" err="1">
                          <a:effectLst/>
                          <a:highlight>
                            <a:srgbClr val="FFFF00"/>
                          </a:highlight>
                          <a:latin typeface="Montserrat"/>
                        </a:rPr>
                        <a:t>p</a:t>
                      </a:r>
                      <a:r>
                        <a:rPr lang="en-US" sz="1000" b="0" i="0" u="none" strike="noStrike" noProof="0" dirty="0" err="1">
                          <a:solidFill>
                            <a:srgbClr val="000000"/>
                          </a:solidFill>
                          <a:effectLst/>
                          <a:highlight>
                            <a:srgbClr val="FFFF00"/>
                          </a:highlight>
                          <a:latin typeface="Montserrat"/>
                        </a:rPr>
                        <a:t>process</a:t>
                      </a:r>
                      <a:r>
                        <a:rPr lang="en-US" sz="1000" b="0" i="0" u="none" strike="noStrike" noProof="0" dirty="0">
                          <a:solidFill>
                            <a:srgbClr val="000000"/>
                          </a:solidFill>
                          <a:effectLst/>
                          <a:highlight>
                            <a:srgbClr val="FFFF00"/>
                          </a:highlight>
                          <a:latin typeface="Montserrat"/>
                        </a:rPr>
                        <a:t> amends </a:t>
                      </a:r>
                      <a:r>
                        <a:rPr lang="en-US" sz="1000" b="0" i="0" u="none" strike="noStrike" noProof="0" dirty="0">
                          <a:effectLst/>
                          <a:highlight>
                            <a:srgbClr val="FFFF00"/>
                          </a:highlight>
                          <a:latin typeface="Montserrat"/>
                        </a:rPr>
                        <a:t> as an Agent (can process amends directly to accounts)</a:t>
                      </a:r>
                      <a:endParaRPr lang="en-US" sz="1000">
                        <a:highlight>
                          <a:srgbClr val="FFFF00"/>
                        </a:highlight>
                      </a:endParaRPr>
                    </a:p>
                  </a:txBody>
                  <a:tcPr marL="0" marR="0" marT="0" marB="0" anchor="ctr"/>
                </a:tc>
                <a:extLst>
                  <a:ext uri="{0D108BD9-81ED-4DB2-BD59-A6C34878D82A}">
                    <a16:rowId xmlns:a16="http://schemas.microsoft.com/office/drawing/2014/main" val="2969389668"/>
                  </a:ext>
                </a:extLst>
              </a:tr>
              <a:tr h="270246">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FF00"/>
                          </a:highlight>
                          <a:latin typeface="Montserrat"/>
                        </a:rPr>
                        <a:t>As a Service Cloud V2 Agent or CSR, I want to be able to view bill statements   </a:t>
                      </a:r>
                      <a:endParaRPr lang="en-US" sz="1000" b="0" i="0" u="none" strike="noStrike" noProof="0" dirty="0">
                        <a:solidFill>
                          <a:srgbClr val="000000"/>
                        </a:solidFill>
                        <a:effectLst/>
                        <a:highlight>
                          <a:srgbClr val="FFFF00"/>
                        </a:highlight>
                        <a:latin typeface="Montserrat"/>
                      </a:endParaRPr>
                    </a:p>
                  </a:txBody>
                  <a:tcPr marL="0" marR="0" marT="0" marB="0" anchor="ct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FF00"/>
                          </a:highlight>
                          <a:latin typeface="Montserrat"/>
                        </a:rPr>
                        <a:t>Able to view invoice pdf past 12 months.</a:t>
                      </a:r>
                    </a:p>
                    <a:p>
                      <a:pPr lvl="0" algn="l">
                        <a:lnSpc>
                          <a:spcPct val="100000"/>
                        </a:lnSpc>
                        <a:spcBef>
                          <a:spcPts val="0"/>
                        </a:spcBef>
                        <a:spcAft>
                          <a:spcPts val="0"/>
                        </a:spcAft>
                        <a:buNone/>
                      </a:pPr>
                      <a:r>
                        <a:rPr lang="en-US" sz="1000" b="0" i="0" u="none" strike="noStrike" noProof="0">
                          <a:solidFill>
                            <a:srgbClr val="000000"/>
                          </a:solidFill>
                          <a:effectLst/>
                          <a:highlight>
                            <a:srgbClr val="FFFF00"/>
                          </a:highlight>
                          <a:latin typeface="Montserrat"/>
                        </a:rPr>
                        <a:t>Able to view cancelled bills."</a:t>
                      </a:r>
                      <a:endParaRPr lang="en-US" sz="1000">
                        <a:highlight>
                          <a:srgbClr val="FFFF00"/>
                        </a:highlight>
                      </a:endParaRPr>
                    </a:p>
                  </a:txBody>
                  <a:tcPr marL="0" marR="0" marT="0" marB="0" anchor="ctr"/>
                </a:tc>
                <a:extLst>
                  <a:ext uri="{0D108BD9-81ED-4DB2-BD59-A6C34878D82A}">
                    <a16:rowId xmlns:a16="http://schemas.microsoft.com/office/drawing/2014/main" val="2800031763"/>
                  </a:ext>
                </a:extLst>
              </a:tr>
              <a:tr h="270246">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000" b="0" i="0" u="none" strike="noStrike" noProof="0" dirty="0">
                          <a:solidFill>
                            <a:srgbClr val="000000"/>
                          </a:solidFill>
                          <a:effectLst/>
                          <a:latin typeface="+mn-lt"/>
                        </a:rPr>
                        <a:t>As a Service Cloud V2 Agent or CSR, I want to be able to be able to perform process refunds</a:t>
                      </a:r>
                    </a:p>
                  </a:txBody>
                  <a:tcPr marL="0" marR="0" marT="0" marB="0" anchor="ctr"/>
                </a:tc>
                <a:tc>
                  <a:txBody>
                    <a:bodyPr/>
                    <a:lstStyle/>
                    <a:p>
                      <a:pPr lvl="0" algn="l">
                        <a:lnSpc>
                          <a:spcPct val="100000"/>
                        </a:lnSpc>
                        <a:spcBef>
                          <a:spcPts val="0"/>
                        </a:spcBef>
                        <a:spcAft>
                          <a:spcPts val="0"/>
                        </a:spcAft>
                        <a:buNone/>
                      </a:pPr>
                      <a:r>
                        <a:rPr lang="en-US" sz="1000" b="0" i="0" u="none" strike="noStrike" noProof="0" dirty="0">
                          <a:effectLst/>
                          <a:highlight>
                            <a:srgbClr val="FFFF00"/>
                          </a:highlight>
                          <a:latin typeface="Montserrat"/>
                        </a:rPr>
                        <a:t>Able to change the date that a refund is released (BC agents are able to process) </a:t>
                      </a:r>
                      <a:endParaRPr lang="en-US" sz="1000">
                        <a:highlight>
                          <a:srgbClr val="FFFF00"/>
                        </a:highlight>
                      </a:endParaRPr>
                    </a:p>
                    <a:p>
                      <a:pPr lvl="0">
                        <a:buNone/>
                      </a:pPr>
                      <a:r>
                        <a:rPr lang="en-US" sz="1000" b="0" i="0" u="none" strike="noStrike" noProof="0">
                          <a:effectLst/>
                          <a:highlight>
                            <a:srgbClr val="FFFF00"/>
                          </a:highlight>
                          <a:latin typeface="Montserrat"/>
                        </a:rPr>
                        <a:t>Able to select open items for a partial refund</a:t>
                      </a:r>
                      <a:endParaRPr lang="en-US" sz="1000">
                        <a:highlight>
                          <a:srgbClr val="FFFF00"/>
                        </a:highlight>
                      </a:endParaRPr>
                    </a:p>
                  </a:txBody>
                  <a:tcPr marL="0" marR="0" marT="0" marB="0" anchor="ctr"/>
                </a:tc>
                <a:extLst>
                  <a:ext uri="{0D108BD9-81ED-4DB2-BD59-A6C34878D82A}">
                    <a16:rowId xmlns:a16="http://schemas.microsoft.com/office/drawing/2014/main" val="1460117334"/>
                  </a:ext>
                </a:extLst>
              </a:tr>
              <a:tr h="270245">
                <a:tc>
                  <a:txBody>
                    <a:bodyPr/>
                    <a:lstStyle/>
                    <a:p>
                      <a:pPr lvl="0">
                        <a:buNone/>
                      </a:pPr>
                      <a:r>
                        <a:rPr lang="en-US" sz="1000">
                          <a:effectLst/>
                        </a:rPr>
                        <a:t>As a Service Cloud V2 Agent or CSR I want to view all accounts tied to a single Business Partner. So that I can support customers with multiple properties.</a:t>
                      </a:r>
                      <a:endParaRPr lang="en-US"/>
                    </a:p>
                  </a:txBody>
                  <a:tcPr anchor="ctr"/>
                </a:tc>
                <a:tc>
                  <a:txBody>
                    <a:bodyPr/>
                    <a:lstStyle/>
                    <a:p>
                      <a:pPr lvl="0">
                        <a:buNone/>
                      </a:pPr>
                      <a:r>
                        <a:rPr lang="en-US" sz="1000">
                          <a:effectLst/>
                        </a:rPr>
                        <a:t>List all active and inactive accounts. </a:t>
                      </a:r>
                      <a:br>
                        <a:rPr lang="en-US" sz="1000" dirty="0">
                          <a:effectLst/>
                        </a:rPr>
                      </a:br>
                      <a:r>
                        <a:rPr lang="en-US" sz="1000">
                          <a:effectLst/>
                        </a:rPr>
                        <a:t>Consolidated balance view</a:t>
                      </a:r>
                      <a:br>
                        <a:rPr lang="en-US" sz="1000" dirty="0">
                          <a:effectLst/>
                        </a:rPr>
                      </a:br>
                      <a:r>
                        <a:rPr lang="en-US" sz="1000">
                          <a:effectLst/>
                        </a:rPr>
                        <a:t>Ability to drill into each account </a:t>
                      </a:r>
                      <a:br>
                        <a:rPr lang="en-US" sz="1000" dirty="0">
                          <a:effectLst/>
                        </a:rPr>
                      </a:br>
                      <a:r>
                        <a:rPr lang="en-US" sz="1000">
                          <a:effectLst/>
                        </a:rPr>
                        <a:t>Cross account interactions visible at bp level </a:t>
                      </a:r>
                      <a:endParaRPr lang="en-US" sz="1000"/>
                    </a:p>
                  </a:txBody>
                  <a:tcPr anchor="ctr"/>
                </a:tc>
                <a:extLst>
                  <a:ext uri="{0D108BD9-81ED-4DB2-BD59-A6C34878D82A}">
                    <a16:rowId xmlns:a16="http://schemas.microsoft.com/office/drawing/2014/main" val="1109538024"/>
                  </a:ext>
                </a:extLst>
              </a:tr>
            </a:tbl>
          </a:graphicData>
        </a:graphic>
      </p:graphicFrame>
      <p:sp>
        <p:nvSpPr>
          <p:cNvPr id="12" name="Title 1">
            <a:extLst>
              <a:ext uri="{FF2B5EF4-FFF2-40B4-BE49-F238E27FC236}">
                <a16:creationId xmlns:a16="http://schemas.microsoft.com/office/drawing/2014/main" id="{EC14DE4A-8AC4-677E-8FC2-42B2A0FC074D}"/>
              </a:ext>
            </a:extLst>
          </p:cNvPr>
          <p:cNvSpPr>
            <a:spLocks noGrp="1"/>
          </p:cNvSpPr>
          <p:nvPr>
            <p:ph type="title"/>
          </p:nvPr>
        </p:nvSpPr>
        <p:spPr>
          <a:xfrm>
            <a:off x="414528" y="148149"/>
            <a:ext cx="11375136" cy="609600"/>
          </a:xfrm>
        </p:spPr>
        <p:txBody>
          <a:bodyPr>
            <a:normAutofit fontScale="90000"/>
          </a:bodyPr>
          <a:lstStyle/>
          <a:p>
            <a:r>
              <a:rPr lang="en-US">
                <a:latin typeface="Montserrat"/>
              </a:rPr>
              <a:t>User Stories for Create and Maintain Business Master Data</a:t>
            </a:r>
            <a:endParaRPr lang="en-US"/>
          </a:p>
        </p:txBody>
      </p:sp>
    </p:spTree>
    <p:extLst>
      <p:ext uri="{BB962C8B-B14F-4D97-AF65-F5344CB8AC3E}">
        <p14:creationId xmlns:p14="http://schemas.microsoft.com/office/powerpoint/2010/main" val="67856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8D72A52-2CC5-A991-4D0C-8D75FB0412A7}"/>
              </a:ext>
            </a:extLst>
          </p:cNvPr>
          <p:cNvGraphicFramePr>
            <a:graphicFrameLocks noGrp="1"/>
          </p:cNvGraphicFramePr>
          <p:nvPr>
            <p:extLst>
              <p:ext uri="{D42A27DB-BD31-4B8C-83A1-F6EECF244321}">
                <p14:modId xmlns:p14="http://schemas.microsoft.com/office/powerpoint/2010/main" val="3663471119"/>
              </p:ext>
            </p:extLst>
          </p:nvPr>
        </p:nvGraphicFramePr>
        <p:xfrm>
          <a:off x="215660" y="1020792"/>
          <a:ext cx="11705838" cy="5809358"/>
        </p:xfrm>
        <a:graphic>
          <a:graphicData uri="http://schemas.openxmlformats.org/drawingml/2006/table">
            <a:tbl>
              <a:tblPr firstRow="1" bandRow="1">
                <a:tableStyleId>{5C22544A-7EE6-4342-B048-85BDC9FD1C3A}</a:tableStyleId>
              </a:tblPr>
              <a:tblGrid>
                <a:gridCol w="4544914">
                  <a:extLst>
                    <a:ext uri="{9D8B030D-6E8A-4147-A177-3AD203B41FA5}">
                      <a16:colId xmlns:a16="http://schemas.microsoft.com/office/drawing/2014/main" val="1397567261"/>
                    </a:ext>
                  </a:extLst>
                </a:gridCol>
                <a:gridCol w="7160924">
                  <a:extLst>
                    <a:ext uri="{9D8B030D-6E8A-4147-A177-3AD203B41FA5}">
                      <a16:colId xmlns:a16="http://schemas.microsoft.com/office/drawing/2014/main" val="1493299998"/>
                    </a:ext>
                  </a:extLst>
                </a:gridCol>
              </a:tblGrid>
              <a:tr h="139313">
                <a:tc>
                  <a:txBody>
                    <a:bodyPr/>
                    <a:lstStyle/>
                    <a:p>
                      <a:pPr lvl="0">
                        <a:buNone/>
                      </a:pPr>
                      <a:r>
                        <a:rPr lang="en-US" sz="1000">
                          <a:effectLst/>
                        </a:rPr>
                        <a:t>User Story</a:t>
                      </a:r>
                      <a:endParaRPr lang="en-US" sz="1000" dirty="0"/>
                    </a:p>
                  </a:txBody>
                  <a:tcPr marL="0" marR="0" marT="0" marB="0" anchor="ctr"/>
                </a:tc>
                <a:tc>
                  <a:txBody>
                    <a:bodyPr/>
                    <a:lstStyle/>
                    <a:p>
                      <a:pPr lvl="0">
                        <a:buNone/>
                      </a:pPr>
                      <a:r>
                        <a:rPr lang="en-US" sz="1000">
                          <a:effectLst/>
                        </a:rPr>
                        <a:t>Acceptance Criteria</a:t>
                      </a:r>
                      <a:endParaRPr lang="en-US" sz="1000" dirty="0"/>
                    </a:p>
                  </a:txBody>
                  <a:tcPr marL="0" marR="0" marT="0" marB="0" anchor="ctr"/>
                </a:tc>
                <a:extLst>
                  <a:ext uri="{0D108BD9-81ED-4DB2-BD59-A6C34878D82A}">
                    <a16:rowId xmlns:a16="http://schemas.microsoft.com/office/drawing/2014/main" val="848898239"/>
                  </a:ext>
                </a:extLst>
              </a:tr>
              <a:tr h="362216">
                <a:tc>
                  <a:txBody>
                    <a:bodyPr/>
                    <a:lstStyle/>
                    <a:p>
                      <a:pPr lvl="0">
                        <a:buNone/>
                      </a:pPr>
                      <a:r>
                        <a:rPr lang="en-US" sz="1000">
                          <a:solidFill>
                            <a:srgbClr val="000000"/>
                          </a:solidFill>
                          <a:effectLst/>
                        </a:rPr>
                        <a:t>As a Service Cloud V2 Agent or CSR I want to be able to view alternate dunning recipient (3rd party notification)</a:t>
                      </a:r>
                      <a:endParaRPr lang="en-US" sz="1000">
                        <a:solidFill>
                          <a:srgbClr val="000000"/>
                        </a:solidFill>
                      </a:endParaRPr>
                    </a:p>
                  </a:txBody>
                  <a:tcPr anchor="ctr"/>
                </a:tc>
                <a:tc>
                  <a:txBody>
                    <a:bodyPr/>
                    <a:lstStyle/>
                    <a:p>
                      <a:pPr lvl="0">
                        <a:buNone/>
                      </a:pPr>
                      <a:r>
                        <a:rPr lang="en-US" sz="1000">
                          <a:solidFill>
                            <a:srgbClr val="000000"/>
                          </a:solidFill>
                          <a:effectLst/>
                        </a:rPr>
                        <a:t>Able to view if customer is enrolled with a 3rd party notification</a:t>
                      </a:r>
                      <a:endParaRPr lang="en-US" sz="1000">
                        <a:solidFill>
                          <a:srgbClr val="000000"/>
                        </a:solidFill>
                      </a:endParaRPr>
                    </a:p>
                  </a:txBody>
                  <a:tcPr anchor="ctr"/>
                </a:tc>
                <a:extLst>
                  <a:ext uri="{0D108BD9-81ED-4DB2-BD59-A6C34878D82A}">
                    <a16:rowId xmlns:a16="http://schemas.microsoft.com/office/drawing/2014/main" val="998090357"/>
                  </a:ext>
                </a:extLst>
              </a:tr>
              <a:tr h="501529">
                <a:tc>
                  <a:txBody>
                    <a:bodyPr/>
                    <a:lstStyle/>
                    <a:p>
                      <a:pPr lvl="0">
                        <a:buNone/>
                      </a:pPr>
                      <a:r>
                        <a:rPr lang="en-US" sz="1000">
                          <a:solidFill>
                            <a:srgbClr val="000000"/>
                          </a:solidFill>
                          <a:effectLst/>
                        </a:rPr>
                        <a:t>As a Service Cloud V2 Agent or CSR I want to be able to add/change/remove alternate dunning recipient (3rd party notification)</a:t>
                      </a:r>
                      <a:endParaRPr lang="en-US" sz="1000">
                        <a:solidFill>
                          <a:srgbClr val="000000"/>
                        </a:solidFill>
                      </a:endParaRPr>
                    </a:p>
                  </a:txBody>
                  <a:tcPr anchor="ctr"/>
                </a:tc>
                <a:tc>
                  <a:txBody>
                    <a:bodyPr/>
                    <a:lstStyle/>
                    <a:p>
                      <a:pPr lvl="0">
                        <a:buNone/>
                      </a:pPr>
                      <a:r>
                        <a:rPr lang="en-US" sz="1000">
                          <a:solidFill>
                            <a:srgbClr val="000000"/>
                          </a:solidFill>
                          <a:effectLst/>
                        </a:rPr>
                        <a:t>Able to add/change/remove recipient for 3rd party notification and ensure replication</a:t>
                      </a:r>
                      <a:endParaRPr lang="en-US" sz="1000">
                        <a:solidFill>
                          <a:srgbClr val="000000"/>
                        </a:solidFill>
                      </a:endParaRPr>
                    </a:p>
                  </a:txBody>
                  <a:tcPr anchor="ctr"/>
                </a:tc>
                <a:extLst>
                  <a:ext uri="{0D108BD9-81ED-4DB2-BD59-A6C34878D82A}">
                    <a16:rowId xmlns:a16="http://schemas.microsoft.com/office/drawing/2014/main" val="2756162050"/>
                  </a:ext>
                </a:extLst>
              </a:tr>
              <a:tr h="557255">
                <a:tc>
                  <a:txBody>
                    <a:bodyPr/>
                    <a:lstStyle/>
                    <a:p>
                      <a:pPr lvl="0" algn="l">
                        <a:lnSpc>
                          <a:spcPct val="100000"/>
                        </a:lnSpc>
                        <a:spcBef>
                          <a:spcPts val="0"/>
                        </a:spcBef>
                        <a:spcAft>
                          <a:spcPts val="0"/>
                        </a:spcAft>
                        <a:buNone/>
                      </a:pPr>
                      <a:r>
                        <a:rPr lang="en-US" sz="1000" u="none" strike="noStrike" noProof="0">
                          <a:solidFill>
                            <a:srgbClr val="000000"/>
                          </a:solidFill>
                          <a:effectLst/>
                        </a:rPr>
                        <a:t>As a Service Cloud V2 Agent or CSR I want to be able to place a dunning hold/interest lock on an account </a:t>
                      </a:r>
                      <a:endParaRPr lang="en-US" sz="1000"/>
                    </a:p>
                  </a:txBody>
                  <a:tcPr marL="0" marR="0" marT="0" marB="0" anchor="ctr"/>
                </a:tc>
                <a:tc>
                  <a:txBody>
                    <a:bodyPr/>
                    <a:lstStyle/>
                    <a:p>
                      <a:pPr lvl="0" algn="l">
                        <a:lnSpc>
                          <a:spcPct val="100000"/>
                        </a:lnSpc>
                        <a:spcBef>
                          <a:spcPts val="0"/>
                        </a:spcBef>
                        <a:spcAft>
                          <a:spcPts val="0"/>
                        </a:spcAft>
                        <a:buNone/>
                      </a:pPr>
                      <a:r>
                        <a:rPr lang="en-US" sz="1000" u="none" strike="noStrike" noProof="0" dirty="0">
                          <a:solidFill>
                            <a:srgbClr val="000000"/>
                          </a:solidFill>
                          <a:effectLst/>
                        </a:rPr>
                        <a:t>Able to perform this action as an agent </a:t>
                      </a:r>
                      <a:endParaRPr lang="en-US" sz="1000" dirty="0"/>
                    </a:p>
                    <a:p>
                      <a:pPr lvl="0" algn="l">
                        <a:lnSpc>
                          <a:spcPct val="100000"/>
                        </a:lnSpc>
                        <a:spcBef>
                          <a:spcPts val="0"/>
                        </a:spcBef>
                        <a:spcAft>
                          <a:spcPts val="0"/>
                        </a:spcAft>
                        <a:buNone/>
                      </a:pPr>
                      <a:r>
                        <a:rPr lang="en-US" sz="1000" u="none" strike="noStrike" noProof="0">
                          <a:solidFill>
                            <a:srgbClr val="000000"/>
                          </a:solidFill>
                          <a:effectLst/>
                        </a:rPr>
                        <a:t>Able to choose different dunning lock reasons </a:t>
                      </a:r>
                      <a:endParaRPr lang="en-US" sz="1000" dirty="0"/>
                    </a:p>
                    <a:p>
                      <a:pPr lvl="0" algn="l">
                        <a:lnSpc>
                          <a:spcPct val="100000"/>
                        </a:lnSpc>
                        <a:spcBef>
                          <a:spcPts val="0"/>
                        </a:spcBef>
                        <a:spcAft>
                          <a:spcPts val="0"/>
                        </a:spcAft>
                        <a:buNone/>
                      </a:pPr>
                      <a:r>
                        <a:rPr lang="en-US" sz="1000" u="none" strike="noStrike" noProof="0" dirty="0">
                          <a:solidFill>
                            <a:srgbClr val="000000"/>
                          </a:solidFill>
                          <a:effectLst/>
                        </a:rPr>
                        <a:t>Able to remove a dunning hold/interest lock </a:t>
                      </a:r>
                      <a:endParaRPr lang="en-US" sz="1000" dirty="0"/>
                    </a:p>
                    <a:p>
                      <a:pPr lvl="0" algn="l">
                        <a:lnSpc>
                          <a:spcPct val="100000"/>
                        </a:lnSpc>
                        <a:spcBef>
                          <a:spcPts val="0"/>
                        </a:spcBef>
                        <a:spcAft>
                          <a:spcPts val="0"/>
                        </a:spcAft>
                        <a:buNone/>
                      </a:pPr>
                      <a:r>
                        <a:rPr lang="en-US" sz="1000" u="none" strike="noStrike" noProof="0">
                          <a:solidFill>
                            <a:srgbClr val="000000"/>
                          </a:solidFill>
                          <a:effectLst/>
                        </a:rPr>
                        <a:t>Able to see who placed the hold </a:t>
                      </a:r>
                      <a:endParaRPr lang="en-US" sz="1000"/>
                    </a:p>
                  </a:txBody>
                  <a:tcPr marL="0" marR="0" marT="0" marB="0" anchor="ctr"/>
                </a:tc>
                <a:extLst>
                  <a:ext uri="{0D108BD9-81ED-4DB2-BD59-A6C34878D82A}">
                    <a16:rowId xmlns:a16="http://schemas.microsoft.com/office/drawing/2014/main" val="1725503973"/>
                  </a:ext>
                </a:extLst>
              </a:tr>
              <a:tr h="417942">
                <a:tc>
                  <a:txBody>
                    <a:bodyPr/>
                    <a:lstStyle/>
                    <a:p>
                      <a:pPr lvl="0" algn="l">
                        <a:lnSpc>
                          <a:spcPct val="100000"/>
                        </a:lnSpc>
                        <a:spcBef>
                          <a:spcPts val="0"/>
                        </a:spcBef>
                        <a:spcAft>
                          <a:spcPts val="0"/>
                        </a:spcAft>
                        <a:buNone/>
                      </a:pPr>
                      <a:endParaRPr lang="en-US" sz="1000" dirty="0"/>
                    </a:p>
                    <a:p>
                      <a:pPr lvl="0" algn="l">
                        <a:lnSpc>
                          <a:spcPct val="100000"/>
                        </a:lnSpc>
                        <a:spcBef>
                          <a:spcPts val="0"/>
                        </a:spcBef>
                        <a:spcAft>
                          <a:spcPts val="0"/>
                        </a:spcAft>
                        <a:buNone/>
                      </a:pPr>
                      <a:r>
                        <a:rPr lang="en-US" sz="1000" u="none" strike="noStrike" noProof="0" dirty="0">
                          <a:solidFill>
                            <a:srgbClr val="000000"/>
                          </a:solidFill>
                          <a:effectLst/>
                        </a:rPr>
                        <a:t>As a Service Cloud V2 Agent or CSR, I want to be able to be able to reset dunning</a:t>
                      </a:r>
                      <a:endParaRPr lang="en-US" sz="1000" dirty="0"/>
                    </a:p>
                  </a:txBody>
                  <a:tcPr marL="0" marR="0" marT="0" marB="0" anchor="ctr"/>
                </a:tc>
                <a:tc>
                  <a:txBody>
                    <a:bodyPr/>
                    <a:lstStyle/>
                    <a:p>
                      <a:pPr lvl="0" algn="l">
                        <a:lnSpc>
                          <a:spcPct val="100000"/>
                        </a:lnSpc>
                        <a:spcBef>
                          <a:spcPts val="0"/>
                        </a:spcBef>
                        <a:spcAft>
                          <a:spcPts val="0"/>
                        </a:spcAft>
                        <a:buNone/>
                      </a:pPr>
                      <a:r>
                        <a:rPr lang="en-US" sz="1000" u="none" strike="noStrike" noProof="0">
                          <a:solidFill>
                            <a:srgbClr val="000000"/>
                          </a:solidFill>
                          <a:effectLst/>
                        </a:rPr>
                        <a:t>Able to select single or multiple lines for dunning notices to be reversed </a:t>
                      </a:r>
                      <a:endParaRPr lang="en-US" sz="1000" dirty="0"/>
                    </a:p>
                  </a:txBody>
                  <a:tcPr marL="0" marR="0" marT="0" marB="0" anchor="ctr"/>
                </a:tc>
                <a:extLst>
                  <a:ext uri="{0D108BD9-81ED-4DB2-BD59-A6C34878D82A}">
                    <a16:rowId xmlns:a16="http://schemas.microsoft.com/office/drawing/2014/main" val="2596979914"/>
                  </a:ext>
                </a:extLst>
              </a:tr>
              <a:tr h="1198099">
                <a:tc>
                  <a:txBody>
                    <a:bodyPr/>
                    <a:lstStyle/>
                    <a:p>
                      <a:pPr lvl="0">
                        <a:buNone/>
                      </a:pPr>
                      <a:r>
                        <a:rPr lang="en-US" sz="1000" dirty="0">
                          <a:effectLst/>
                        </a:rPr>
                        <a:t>As a service cloud V2 agent or </a:t>
                      </a:r>
                      <a:r>
                        <a:rPr lang="en-US" sz="1000" dirty="0" err="1">
                          <a:effectLst/>
                        </a:rPr>
                        <a:t>csr</a:t>
                      </a:r>
                      <a:r>
                        <a:rPr lang="en-US" sz="1000" dirty="0">
                          <a:effectLst/>
                        </a:rPr>
                        <a:t> </a:t>
                      </a:r>
                      <a:r>
                        <a:rPr lang="en-US" sz="1000" dirty="0" err="1">
                          <a:effectLst/>
                        </a:rPr>
                        <a:t>i</a:t>
                      </a:r>
                      <a:r>
                        <a:rPr lang="en-US" sz="1000" dirty="0">
                          <a:effectLst/>
                        </a:rPr>
                        <a:t> want to have access to meter information</a:t>
                      </a:r>
                      <a:endParaRPr lang="en-US" sz="1000" dirty="0"/>
                    </a:p>
                  </a:txBody>
                  <a:tcPr anchor="ctr"/>
                </a:tc>
                <a:tc>
                  <a:txBody>
                    <a:bodyPr/>
                    <a:lstStyle/>
                    <a:p>
                      <a:pPr lvl="0">
                        <a:buNone/>
                      </a:pPr>
                      <a:r>
                        <a:rPr lang="en-US" sz="1000" dirty="0">
                          <a:effectLst/>
                        </a:rPr>
                        <a:t>Able to view meter read history</a:t>
                      </a:r>
                      <a:br>
                        <a:rPr lang="en-US" sz="1000" dirty="0">
                          <a:effectLst/>
                        </a:rPr>
                      </a:br>
                      <a:r>
                        <a:rPr lang="en-US" sz="1000" dirty="0">
                          <a:effectLst/>
                        </a:rPr>
                        <a:t>Able to view where meter is placed at property</a:t>
                      </a:r>
                      <a:br>
                        <a:rPr lang="en-US" sz="1000" dirty="0">
                          <a:effectLst/>
                        </a:rPr>
                      </a:br>
                      <a:r>
                        <a:rPr lang="en-US" sz="1000" dirty="0">
                          <a:effectLst/>
                        </a:rPr>
                        <a:t>Able to see if AMI/AMR or Manual meter</a:t>
                      </a:r>
                      <a:br>
                        <a:rPr lang="en-US" sz="1000" dirty="0">
                          <a:effectLst/>
                        </a:rPr>
                      </a:br>
                      <a:r>
                        <a:rPr lang="en-US" sz="1000" dirty="0">
                          <a:effectLst/>
                        </a:rPr>
                        <a:t>Able to enter manual meter read from customer</a:t>
                      </a:r>
                      <a:br>
                        <a:rPr lang="en-US" sz="1000" dirty="0">
                          <a:effectLst/>
                        </a:rPr>
                      </a:br>
                      <a:r>
                        <a:rPr lang="en-US" sz="1000" dirty="0">
                          <a:effectLst/>
                        </a:rPr>
                        <a:t>Able to view if meter read is actual, estimated </a:t>
                      </a:r>
                      <a:r>
                        <a:rPr lang="en-US" sz="1000" dirty="0" err="1">
                          <a:effectLst/>
                        </a:rPr>
                        <a:t>etc</a:t>
                      </a:r>
                      <a:br>
                        <a:rPr lang="en-US" sz="1000" dirty="0">
                          <a:effectLst/>
                        </a:rPr>
                      </a:br>
                      <a:r>
                        <a:rPr lang="en-US" sz="1000" dirty="0">
                          <a:effectLst/>
                        </a:rPr>
                        <a:t>Able to view size of meter allowance (1ph vs 3ph </a:t>
                      </a:r>
                      <a:r>
                        <a:rPr lang="en-US" sz="1000" dirty="0" err="1">
                          <a:effectLst/>
                        </a:rPr>
                        <a:t>etc</a:t>
                      </a:r>
                      <a:r>
                        <a:rPr lang="en-US" sz="1000" dirty="0">
                          <a:effectLst/>
                        </a:rPr>
                        <a:t>)</a:t>
                      </a:r>
                      <a:br>
                        <a:rPr lang="en-US" sz="1000" dirty="0">
                          <a:effectLst/>
                        </a:rPr>
                      </a:br>
                      <a:r>
                        <a:rPr lang="en-US" sz="1000" dirty="0">
                          <a:effectLst/>
                        </a:rPr>
                        <a:t>Able to view size of gas meter, </a:t>
                      </a:r>
                      <a:r>
                        <a:rPr lang="en-US" sz="1000" dirty="0" err="1">
                          <a:effectLst/>
                        </a:rPr>
                        <a:t>ie</a:t>
                      </a:r>
                      <a:r>
                        <a:rPr lang="en-US" sz="1000" dirty="0">
                          <a:effectLst/>
                        </a:rPr>
                        <a:t>: elevated pressure with a temp corrector, MV90 meter (Business Center)</a:t>
                      </a:r>
                      <a:br>
                        <a:rPr lang="en-US" sz="1000" dirty="0">
                          <a:effectLst/>
                        </a:rPr>
                      </a:br>
                      <a:r>
                        <a:rPr lang="en-US" sz="1000" dirty="0">
                          <a:effectLst/>
                        </a:rPr>
                        <a:t>Able to view Process ID information for MV90 data upload for primary move in/out</a:t>
                      </a:r>
                      <a:endParaRPr lang="en-US" sz="1000" dirty="0"/>
                    </a:p>
                  </a:txBody>
                  <a:tcPr anchor="ctr"/>
                </a:tc>
                <a:extLst>
                  <a:ext uri="{0D108BD9-81ED-4DB2-BD59-A6C34878D82A}">
                    <a16:rowId xmlns:a16="http://schemas.microsoft.com/office/drawing/2014/main" val="121390121"/>
                  </a:ext>
                </a:extLst>
              </a:tr>
              <a:tr h="780158">
                <a:tc>
                  <a:txBody>
                    <a:bodyPr/>
                    <a:lstStyle/>
                    <a:p>
                      <a:pPr lvl="0">
                        <a:buNone/>
                      </a:pPr>
                      <a:r>
                        <a:rPr lang="en-US" sz="1000" dirty="0">
                          <a:effectLst/>
                        </a:rPr>
                        <a:t>As a service cloud V2 agent or </a:t>
                      </a:r>
                      <a:r>
                        <a:rPr lang="en-US" sz="1000" dirty="0" err="1">
                          <a:effectLst/>
                        </a:rPr>
                        <a:t>csr</a:t>
                      </a:r>
                      <a:r>
                        <a:rPr lang="en-US" sz="1000" dirty="0">
                          <a:effectLst/>
                        </a:rPr>
                        <a:t> </a:t>
                      </a:r>
                      <a:r>
                        <a:rPr lang="en-US" sz="1000" dirty="0" err="1">
                          <a:effectLst/>
                        </a:rPr>
                        <a:t>i</a:t>
                      </a:r>
                      <a:r>
                        <a:rPr lang="en-US" sz="1000" dirty="0">
                          <a:effectLst/>
                        </a:rPr>
                        <a:t> want to have access to premise object details and notes </a:t>
                      </a:r>
                      <a:endParaRPr lang="en-US" sz="1000" dirty="0"/>
                    </a:p>
                  </a:txBody>
                  <a:tcPr anchor="ctr"/>
                </a:tc>
                <a:tc>
                  <a:txBody>
                    <a:bodyPr/>
                    <a:lstStyle/>
                    <a:p>
                      <a:pPr lvl="0">
                        <a:buNone/>
                      </a:pPr>
                      <a:r>
                        <a:rPr lang="en-US" sz="1000">
                          <a:effectLst/>
                        </a:rPr>
                        <a:t>Able to view special instructions related to meter access, including animals on site or hours of operation for a business</a:t>
                      </a:r>
                      <a:br>
                        <a:rPr lang="en-US" sz="1000" dirty="0">
                          <a:effectLst/>
                        </a:rPr>
                      </a:br>
                      <a:r>
                        <a:rPr lang="en-US" sz="1000">
                          <a:effectLst/>
                        </a:rPr>
                        <a:t>Able to view if key permit is needed for access to meter (typically seasonal locations or meters inside building)</a:t>
                      </a:r>
                      <a:br>
                        <a:rPr lang="en-US" sz="1000" dirty="0">
                          <a:effectLst/>
                        </a:rPr>
                      </a:br>
                      <a:r>
                        <a:rPr lang="en-US" sz="1000">
                          <a:effectLst/>
                        </a:rPr>
                        <a:t>Able to view theft or fraud note.</a:t>
                      </a:r>
                      <a:endParaRPr lang="en-US" sz="1000" dirty="0">
                        <a:effectLst/>
                      </a:endParaRPr>
                    </a:p>
                  </a:txBody>
                  <a:tcPr anchor="ctr"/>
                </a:tc>
                <a:extLst>
                  <a:ext uri="{0D108BD9-81ED-4DB2-BD59-A6C34878D82A}">
                    <a16:rowId xmlns:a16="http://schemas.microsoft.com/office/drawing/2014/main" val="2969389668"/>
                  </a:ext>
                </a:extLst>
              </a:tr>
              <a:tr h="501529">
                <a:tc>
                  <a:txBody>
                    <a:bodyPr/>
                    <a:lstStyle/>
                    <a:p>
                      <a:pPr lvl="0">
                        <a:buNone/>
                      </a:pPr>
                      <a:r>
                        <a:rPr lang="en-US" sz="1000" dirty="0">
                          <a:effectLst/>
                        </a:rPr>
                        <a:t>As a service cloud V2 agent or </a:t>
                      </a:r>
                      <a:r>
                        <a:rPr lang="en-US" sz="1000" dirty="0" err="1">
                          <a:effectLst/>
                        </a:rPr>
                        <a:t>csr</a:t>
                      </a:r>
                      <a:r>
                        <a:rPr lang="en-US" sz="1000" dirty="0">
                          <a:effectLst/>
                        </a:rPr>
                        <a:t> I want to be able to change due date </a:t>
                      </a:r>
                      <a:endParaRPr lang="en-US" sz="1000" dirty="0"/>
                    </a:p>
                  </a:txBody>
                  <a:tcPr anchor="ctr"/>
                </a:tc>
                <a:tc>
                  <a:txBody>
                    <a:bodyPr/>
                    <a:lstStyle/>
                    <a:p>
                      <a:pPr lvl="0">
                        <a:buNone/>
                      </a:pPr>
                      <a:r>
                        <a:rPr lang="en-US" sz="1000" dirty="0">
                          <a:effectLst/>
                        </a:rPr>
                        <a:t>Able to change due date for billing based on customer request if applicable.  </a:t>
                      </a:r>
                      <a:br>
                        <a:rPr lang="en-US" sz="1000" dirty="0">
                          <a:effectLst/>
                        </a:rPr>
                      </a:br>
                      <a:r>
                        <a:rPr lang="en-US" sz="1000" dirty="0">
                          <a:effectLst/>
                        </a:rPr>
                        <a:t>Able to confirm successful completion</a:t>
                      </a:r>
                      <a:br>
                        <a:rPr lang="en-US" sz="1000" dirty="0">
                          <a:effectLst/>
                        </a:rPr>
                      </a:br>
                      <a:r>
                        <a:rPr lang="en-US" sz="1000" dirty="0">
                          <a:effectLst/>
                        </a:rPr>
                        <a:t>Able to confirm the date it was submitted for change</a:t>
                      </a:r>
                      <a:endParaRPr lang="en-US" sz="1000" dirty="0"/>
                    </a:p>
                  </a:txBody>
                  <a:tcPr anchor="ctr"/>
                </a:tc>
                <a:extLst>
                  <a:ext uri="{0D108BD9-81ED-4DB2-BD59-A6C34878D82A}">
                    <a16:rowId xmlns:a16="http://schemas.microsoft.com/office/drawing/2014/main" val="707206181"/>
                  </a:ext>
                </a:extLst>
              </a:tr>
              <a:tr h="919472">
                <a:tc>
                  <a:txBody>
                    <a:bodyPr/>
                    <a:lstStyle/>
                    <a:p>
                      <a:pPr lvl="0">
                        <a:buNone/>
                      </a:pPr>
                      <a:r>
                        <a:rPr lang="en-US" sz="1000">
                          <a:effectLst/>
                        </a:rPr>
                        <a:t>As a Service Cloud V2 Agent or CSR I want to view different dunning aspects</a:t>
                      </a:r>
                      <a:endParaRPr lang="en-US" sz="1000" dirty="0">
                        <a:effectLst/>
                      </a:endParaRPr>
                    </a:p>
                  </a:txBody>
                  <a:tcPr anchor="ctr"/>
                </a:tc>
                <a:tc>
                  <a:txBody>
                    <a:bodyPr/>
                    <a:lstStyle/>
                    <a:p>
                      <a:pPr lvl="0">
                        <a:buNone/>
                      </a:pPr>
                      <a:r>
                        <a:rPr lang="en-US" sz="1000" dirty="0">
                          <a:effectLst/>
                        </a:rPr>
                        <a:t>Able to view dunning level</a:t>
                      </a:r>
                      <a:br>
                        <a:rPr lang="en-US" sz="1000" dirty="0">
                          <a:effectLst/>
                        </a:rPr>
                      </a:br>
                      <a:r>
                        <a:rPr lang="en-US" sz="1000" dirty="0">
                          <a:effectLst/>
                        </a:rPr>
                        <a:t>Able to view what is included in the dunning/SNP notice</a:t>
                      </a:r>
                      <a:br>
                        <a:rPr lang="en-US" sz="1000" dirty="0">
                          <a:effectLst/>
                        </a:rPr>
                      </a:br>
                      <a:r>
                        <a:rPr lang="en-US" sz="1000" dirty="0">
                          <a:effectLst/>
                        </a:rPr>
                        <a:t>Able to see what collection agency received info</a:t>
                      </a:r>
                      <a:br>
                        <a:rPr lang="en-US" sz="1000" dirty="0">
                          <a:effectLst/>
                        </a:rPr>
                      </a:br>
                      <a:r>
                        <a:rPr lang="en-US" sz="1000" dirty="0">
                          <a:effectLst/>
                        </a:rPr>
                        <a:t>Able to see date of issue and date of expiration for dunning/SNP notice</a:t>
                      </a:r>
                      <a:br>
                        <a:rPr lang="en-US" sz="1000" dirty="0">
                          <a:effectLst/>
                        </a:rPr>
                      </a:br>
                      <a:r>
                        <a:rPr lang="en-US" sz="1000" dirty="0">
                          <a:effectLst/>
                        </a:rPr>
                        <a:t>Able to view which acct sent a dunning notice (lg apt calls has SNP but doesn't have copy and no idea which acct)</a:t>
                      </a:r>
                      <a:endParaRPr lang="en-US" sz="1000" dirty="0"/>
                    </a:p>
                  </a:txBody>
                  <a:tcPr anchor="ctr"/>
                </a:tc>
                <a:extLst>
                  <a:ext uri="{0D108BD9-81ED-4DB2-BD59-A6C34878D82A}">
                    <a16:rowId xmlns:a16="http://schemas.microsoft.com/office/drawing/2014/main" val="2023229057"/>
                  </a:ext>
                </a:extLst>
              </a:tr>
            </a:tbl>
          </a:graphicData>
        </a:graphic>
      </p:graphicFrame>
      <p:sp>
        <p:nvSpPr>
          <p:cNvPr id="11" name="Title 1">
            <a:extLst>
              <a:ext uri="{FF2B5EF4-FFF2-40B4-BE49-F238E27FC236}">
                <a16:creationId xmlns:a16="http://schemas.microsoft.com/office/drawing/2014/main" id="{7D2E227F-D7FB-E7F0-AC62-68738BAE4D17}"/>
              </a:ext>
            </a:extLst>
          </p:cNvPr>
          <p:cNvSpPr>
            <a:spLocks noGrp="1"/>
          </p:cNvSpPr>
          <p:nvPr>
            <p:ph type="title"/>
          </p:nvPr>
        </p:nvSpPr>
        <p:spPr>
          <a:xfrm>
            <a:off x="414528" y="349432"/>
            <a:ext cx="11375136" cy="609600"/>
          </a:xfrm>
        </p:spPr>
        <p:txBody>
          <a:bodyPr>
            <a:normAutofit fontScale="90000"/>
          </a:bodyPr>
          <a:lstStyle/>
          <a:p>
            <a:r>
              <a:rPr lang="en-US" dirty="0">
                <a:latin typeface="Montserrat"/>
              </a:rPr>
              <a:t>User Stories for Create and Maintain Business Master Data </a:t>
            </a:r>
            <a:r>
              <a:rPr lang="en-US" b="1">
                <a:highlight>
                  <a:srgbClr val="FFFF00"/>
                </a:highlight>
                <a:latin typeface="Montserrat"/>
              </a:rPr>
              <a:t>(ALL ADDED)</a:t>
            </a:r>
            <a:endParaRPr lang="en-US" b="1">
              <a:highlight>
                <a:srgbClr val="FFFF00"/>
              </a:highlight>
            </a:endParaRPr>
          </a:p>
        </p:txBody>
      </p:sp>
    </p:spTree>
    <p:extLst>
      <p:ext uri="{BB962C8B-B14F-4D97-AF65-F5344CB8AC3E}">
        <p14:creationId xmlns:p14="http://schemas.microsoft.com/office/powerpoint/2010/main" val="10846951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1B7A7-926A-D78A-1974-6294D1A5F2B4}"/>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DBD116A-053A-7EDA-93C7-942AF18DA1BE}"/>
              </a:ext>
            </a:extLst>
          </p:cNvPr>
          <p:cNvGraphicFramePr>
            <a:graphicFrameLocks noGrp="1"/>
          </p:cNvGraphicFramePr>
          <p:nvPr/>
        </p:nvGraphicFramePr>
        <p:xfrm>
          <a:off x="1263650" y="1737360"/>
          <a:ext cx="9664700" cy="1057275"/>
        </p:xfrm>
        <a:graphic>
          <a:graphicData uri="http://schemas.openxmlformats.org/drawingml/2006/table">
            <a:tbl>
              <a:tblPr bandRow="1">
                <a:tableStyleId>{5C22544A-7EE6-4342-B048-85BDC9FD1C3A}</a:tableStyleId>
              </a:tblPr>
              <a:tblGrid>
                <a:gridCol w="5473700">
                  <a:extLst>
                    <a:ext uri="{9D8B030D-6E8A-4147-A177-3AD203B41FA5}">
                      <a16:colId xmlns:a16="http://schemas.microsoft.com/office/drawing/2014/main" val="3989206378"/>
                    </a:ext>
                  </a:extLst>
                </a:gridCol>
                <a:gridCol w="4191000">
                  <a:extLst>
                    <a:ext uri="{9D8B030D-6E8A-4147-A177-3AD203B41FA5}">
                      <a16:colId xmlns:a16="http://schemas.microsoft.com/office/drawing/2014/main" val="1951926676"/>
                    </a:ext>
                  </a:extLst>
                </a:gridCol>
              </a:tblGrid>
              <a:tr h="1057275">
                <a:tc>
                  <a:txBody>
                    <a:bodyPr/>
                    <a:lstStyle/>
                    <a:p>
                      <a:pPr>
                        <a:buNone/>
                      </a:pPr>
                      <a:endParaRPr lang="en-US" dirty="0">
                        <a:effectLst/>
                      </a:endParaRPr>
                    </a:p>
                  </a:txBody>
                  <a:tcPr anchor="ctr">
                    <a:lnL>
                      <a:noFill/>
                    </a:lnL>
                    <a:lnR>
                      <a:noFill/>
                    </a:lnR>
                    <a:lnT>
                      <a:noFill/>
                    </a:lnT>
                    <a:lnB>
                      <a:noFill/>
                    </a:lnB>
                    <a:noFill/>
                  </a:tcPr>
                </a:tc>
                <a:tc>
                  <a:txBody>
                    <a:bodyPr/>
                    <a:lstStyle/>
                    <a:p>
                      <a:pPr>
                        <a:buNone/>
                      </a:pPr>
                      <a:endParaRPr lang="en-US" dirty="0">
                        <a:effectLst/>
                      </a:endParaRPr>
                    </a:p>
                  </a:txBody>
                  <a:tcPr anchor="ctr">
                    <a:lnL>
                      <a:noFill/>
                    </a:lnL>
                    <a:lnR>
                      <a:noFill/>
                    </a:lnR>
                    <a:lnT>
                      <a:noFill/>
                    </a:lnT>
                    <a:lnB>
                      <a:noFill/>
                    </a:lnB>
                    <a:noFill/>
                  </a:tcPr>
                </a:tc>
                <a:extLst>
                  <a:ext uri="{0D108BD9-81ED-4DB2-BD59-A6C34878D82A}">
                    <a16:rowId xmlns:a16="http://schemas.microsoft.com/office/drawing/2014/main" val="3790162340"/>
                  </a:ext>
                </a:extLst>
              </a:tr>
            </a:tbl>
          </a:graphicData>
        </a:graphic>
      </p:graphicFrame>
      <p:graphicFrame>
        <p:nvGraphicFramePr>
          <p:cNvPr id="9" name="Table 8">
            <a:extLst>
              <a:ext uri="{FF2B5EF4-FFF2-40B4-BE49-F238E27FC236}">
                <a16:creationId xmlns:a16="http://schemas.microsoft.com/office/drawing/2014/main" id="{64CE4032-91EB-D9B3-9F3D-539B8394E7EA}"/>
              </a:ext>
            </a:extLst>
          </p:cNvPr>
          <p:cNvGraphicFramePr>
            <a:graphicFrameLocks noGrp="1"/>
          </p:cNvGraphicFramePr>
          <p:nvPr/>
        </p:nvGraphicFramePr>
        <p:xfrm>
          <a:off x="1263650" y="1737360"/>
          <a:ext cx="9664700" cy="1057275"/>
        </p:xfrm>
        <a:graphic>
          <a:graphicData uri="http://schemas.openxmlformats.org/drawingml/2006/table">
            <a:tbl>
              <a:tblPr bandRow="1">
                <a:tableStyleId>{5C22544A-7EE6-4342-B048-85BDC9FD1C3A}</a:tableStyleId>
              </a:tblPr>
              <a:tblGrid>
                <a:gridCol w="5473700">
                  <a:extLst>
                    <a:ext uri="{9D8B030D-6E8A-4147-A177-3AD203B41FA5}">
                      <a16:colId xmlns:a16="http://schemas.microsoft.com/office/drawing/2014/main" val="2161873706"/>
                    </a:ext>
                  </a:extLst>
                </a:gridCol>
                <a:gridCol w="4191000">
                  <a:extLst>
                    <a:ext uri="{9D8B030D-6E8A-4147-A177-3AD203B41FA5}">
                      <a16:colId xmlns:a16="http://schemas.microsoft.com/office/drawing/2014/main" val="386123023"/>
                    </a:ext>
                  </a:extLst>
                </a:gridCol>
              </a:tblGrid>
              <a:tr h="1057275">
                <a:tc>
                  <a:txBody>
                    <a:bodyPr/>
                    <a:lstStyle/>
                    <a:p>
                      <a:pPr>
                        <a:buNone/>
                      </a:pPr>
                      <a:endParaRPr lang="en-US" dirty="0">
                        <a:effectLst/>
                      </a:endParaRPr>
                    </a:p>
                  </a:txBody>
                  <a:tcPr anchor="ctr">
                    <a:lnL>
                      <a:noFill/>
                    </a:lnL>
                    <a:lnR>
                      <a:noFill/>
                    </a:lnR>
                    <a:lnT>
                      <a:noFill/>
                    </a:lnT>
                    <a:lnB>
                      <a:noFill/>
                    </a:lnB>
                    <a:noFill/>
                  </a:tcPr>
                </a:tc>
                <a:tc>
                  <a:txBody>
                    <a:bodyPr/>
                    <a:lstStyle/>
                    <a:p>
                      <a:pPr>
                        <a:buNone/>
                      </a:pPr>
                      <a:endParaRPr lang="en-US" dirty="0">
                        <a:effectLst/>
                      </a:endParaRPr>
                    </a:p>
                  </a:txBody>
                  <a:tcPr anchor="ctr">
                    <a:lnL>
                      <a:noFill/>
                    </a:lnL>
                    <a:lnR>
                      <a:noFill/>
                    </a:lnR>
                    <a:lnT>
                      <a:noFill/>
                    </a:lnT>
                    <a:lnB>
                      <a:noFill/>
                    </a:lnB>
                    <a:noFill/>
                  </a:tcPr>
                </a:tc>
                <a:extLst>
                  <a:ext uri="{0D108BD9-81ED-4DB2-BD59-A6C34878D82A}">
                    <a16:rowId xmlns:a16="http://schemas.microsoft.com/office/drawing/2014/main" val="3223025999"/>
                  </a:ext>
                </a:extLst>
              </a:tr>
            </a:tbl>
          </a:graphicData>
        </a:graphic>
      </p:graphicFrame>
      <p:graphicFrame>
        <p:nvGraphicFramePr>
          <p:cNvPr id="2" name="Table 1">
            <a:extLst>
              <a:ext uri="{FF2B5EF4-FFF2-40B4-BE49-F238E27FC236}">
                <a16:creationId xmlns:a16="http://schemas.microsoft.com/office/drawing/2014/main" id="{EF52571B-A263-7961-7822-4D44E9B39149}"/>
              </a:ext>
            </a:extLst>
          </p:cNvPr>
          <p:cNvGraphicFramePr>
            <a:graphicFrameLocks noGrp="1"/>
          </p:cNvGraphicFramePr>
          <p:nvPr>
            <p:extLst>
              <p:ext uri="{D42A27DB-BD31-4B8C-83A1-F6EECF244321}">
                <p14:modId xmlns:p14="http://schemas.microsoft.com/office/powerpoint/2010/main" val="1458496197"/>
              </p:ext>
            </p:extLst>
          </p:nvPr>
        </p:nvGraphicFramePr>
        <p:xfrm>
          <a:off x="416943" y="1078301"/>
          <a:ext cx="11085120" cy="5703630"/>
        </p:xfrm>
        <a:graphic>
          <a:graphicData uri="http://schemas.openxmlformats.org/drawingml/2006/table">
            <a:tbl>
              <a:tblPr firstRow="1" bandRow="1">
                <a:tableStyleId>{5C22544A-7EE6-4342-B048-85BDC9FD1C3A}</a:tableStyleId>
              </a:tblPr>
              <a:tblGrid>
                <a:gridCol w="5542560">
                  <a:extLst>
                    <a:ext uri="{9D8B030D-6E8A-4147-A177-3AD203B41FA5}">
                      <a16:colId xmlns:a16="http://schemas.microsoft.com/office/drawing/2014/main" val="1895157082"/>
                    </a:ext>
                  </a:extLst>
                </a:gridCol>
                <a:gridCol w="5542560">
                  <a:extLst>
                    <a:ext uri="{9D8B030D-6E8A-4147-A177-3AD203B41FA5}">
                      <a16:colId xmlns:a16="http://schemas.microsoft.com/office/drawing/2014/main" val="2629886364"/>
                    </a:ext>
                  </a:extLst>
                </a:gridCol>
              </a:tblGrid>
              <a:tr h="244005">
                <a:tc>
                  <a:txBody>
                    <a:bodyPr/>
                    <a:lstStyle/>
                    <a:p>
                      <a:r>
                        <a:rPr lang="en-US" sz="1000"/>
                        <a:t>User Story</a:t>
                      </a:r>
                      <a:endParaRPr lang="en-US" sz="1000" dirty="0"/>
                    </a:p>
                  </a:txBody>
                  <a:tcPr/>
                </a:tc>
                <a:tc>
                  <a:txBody>
                    <a:bodyPr/>
                    <a:lstStyle/>
                    <a:p>
                      <a:r>
                        <a:rPr lang="en-US" sz="1000"/>
                        <a:t>Acceptance Criteria</a:t>
                      </a:r>
                      <a:endParaRPr lang="en-US" sz="1000" dirty="0"/>
                    </a:p>
                  </a:txBody>
                  <a:tcPr/>
                </a:tc>
                <a:extLst>
                  <a:ext uri="{0D108BD9-81ED-4DB2-BD59-A6C34878D82A}">
                    <a16:rowId xmlns:a16="http://schemas.microsoft.com/office/drawing/2014/main" val="3489575875"/>
                  </a:ext>
                </a:extLst>
              </a:tr>
              <a:tr h="427010">
                <a:tc>
                  <a:txBody>
                    <a:bodyPr/>
                    <a:lstStyle/>
                    <a:p>
                      <a:pPr lvl="0">
                        <a:buNone/>
                      </a:pPr>
                      <a:r>
                        <a:rPr lang="en-US" sz="1000" u="none" strike="noStrike" noProof="0">
                          <a:effectLst/>
                        </a:rPr>
                        <a:t>As a Service Cloud V2 Agent or CSR I want to be able to create/change/deactivate a payment arrangement    </a:t>
                      </a:r>
                      <a:endParaRPr lang="en-US"/>
                    </a:p>
                  </a:txBody>
                  <a:tcPr marL="0" marR="0" marT="0" marB="0" anchor="ctr"/>
                </a:tc>
                <a:tc>
                  <a:txBody>
                    <a:bodyPr/>
                    <a:lstStyle/>
                    <a:p>
                      <a:pPr lvl="0" algn="l">
                        <a:lnSpc>
                          <a:spcPct val="100000"/>
                        </a:lnSpc>
                        <a:spcBef>
                          <a:spcPts val="0"/>
                        </a:spcBef>
                        <a:spcAft>
                          <a:spcPts val="0"/>
                        </a:spcAft>
                        <a:buNone/>
                      </a:pPr>
                      <a:r>
                        <a:rPr lang="en-US" sz="1000" u="none" strike="noStrike" noProof="0">
                          <a:solidFill>
                            <a:srgbClr val="000000"/>
                          </a:solidFill>
                          <a:effectLst/>
                        </a:rPr>
                        <a:t>Able to perform this action as an agent</a:t>
                      </a:r>
                    </a:p>
                  </a:txBody>
                  <a:tcPr marL="0" marR="0" marT="0" marB="0" anchor="ctr"/>
                </a:tc>
                <a:extLst>
                  <a:ext uri="{0D108BD9-81ED-4DB2-BD59-A6C34878D82A}">
                    <a16:rowId xmlns:a16="http://schemas.microsoft.com/office/drawing/2014/main" val="419311395"/>
                  </a:ext>
                </a:extLst>
              </a:tr>
              <a:tr h="427010">
                <a:tc>
                  <a:txBody>
                    <a:bodyPr/>
                    <a:lstStyle/>
                    <a:p>
                      <a:pPr lvl="0" algn="l">
                        <a:lnSpc>
                          <a:spcPct val="100000"/>
                        </a:lnSpc>
                        <a:spcBef>
                          <a:spcPts val="0"/>
                        </a:spcBef>
                        <a:spcAft>
                          <a:spcPts val="0"/>
                        </a:spcAft>
                        <a:buNone/>
                      </a:pPr>
                      <a:r>
                        <a:rPr lang="en-US" sz="1000" u="none" strike="noStrike" noProof="0">
                          <a:solidFill>
                            <a:srgbClr val="000000"/>
                          </a:solidFill>
                          <a:effectLst/>
                        </a:rPr>
                        <a:t>As a Service Cloud V2 Agent or CSR, I want to be able to be able to reverse LPC </a:t>
                      </a:r>
                      <a:endParaRPr lang="en-US" sz="1000"/>
                    </a:p>
                  </a:txBody>
                  <a:tcPr marL="0" marR="0" marT="0" marB="0" anchor="ctr"/>
                </a:tc>
                <a:tc>
                  <a:txBody>
                    <a:bodyPr/>
                    <a:lstStyle/>
                    <a:p>
                      <a:pPr lvl="0" algn="l">
                        <a:lnSpc>
                          <a:spcPct val="100000"/>
                        </a:lnSpc>
                        <a:spcBef>
                          <a:spcPts val="0"/>
                        </a:spcBef>
                        <a:spcAft>
                          <a:spcPts val="0"/>
                        </a:spcAft>
                        <a:buNone/>
                      </a:pPr>
                      <a:r>
                        <a:rPr lang="en-US" sz="1000" u="none" strike="noStrike" noProof="0">
                          <a:solidFill>
                            <a:srgbClr val="000000"/>
                          </a:solidFill>
                          <a:effectLst/>
                        </a:rPr>
                        <a:t>Able to select singular lines or multiple lines to reverse LPC </a:t>
                      </a:r>
                    </a:p>
                  </a:txBody>
                  <a:tcPr marL="0" marR="0" marT="0" marB="0" anchor="ctr"/>
                </a:tc>
                <a:extLst>
                  <a:ext uri="{0D108BD9-81ED-4DB2-BD59-A6C34878D82A}">
                    <a16:rowId xmlns:a16="http://schemas.microsoft.com/office/drawing/2014/main" val="2789427513"/>
                  </a:ext>
                </a:extLst>
              </a:tr>
              <a:tr h="427010">
                <a:tc>
                  <a:txBody>
                    <a:bodyPr/>
                    <a:lstStyle/>
                    <a:p>
                      <a:pPr lvl="0">
                        <a:buNone/>
                      </a:pPr>
                      <a:r>
                        <a:rPr lang="en-US" sz="1000" dirty="0">
                          <a:effectLst/>
                        </a:rPr>
                        <a:t>As a Service Cloud V2 Agent or CSR I want to be able to view the account determination ID </a:t>
                      </a:r>
                      <a:r>
                        <a:rPr lang="en-US" sz="1000" strike="noStrike" dirty="0">
                          <a:effectLst/>
                        </a:rPr>
                        <a:t>regarding </a:t>
                      </a:r>
                      <a:r>
                        <a:rPr lang="en-US" sz="1000" dirty="0">
                          <a:effectLst/>
                        </a:rPr>
                        <a:t>taxable account information (CAA3)</a:t>
                      </a:r>
                      <a:endParaRPr lang="en-US" sz="1000" dirty="0"/>
                    </a:p>
                  </a:txBody>
                  <a:tcPr anchor="ctr"/>
                </a:tc>
                <a:tc>
                  <a:txBody>
                    <a:bodyPr/>
                    <a:lstStyle/>
                    <a:p>
                      <a:pPr lvl="0">
                        <a:buNone/>
                      </a:pPr>
                      <a:r>
                        <a:rPr lang="en-US" sz="1000" dirty="0">
                          <a:effectLst/>
                        </a:rPr>
                        <a:t>Able to successfully determine if an account is tax exempt</a:t>
                      </a:r>
                      <a:endParaRPr lang="en-US" sz="1000" dirty="0"/>
                    </a:p>
                  </a:txBody>
                  <a:tcPr anchor="ctr"/>
                </a:tc>
                <a:extLst>
                  <a:ext uri="{0D108BD9-81ED-4DB2-BD59-A6C34878D82A}">
                    <a16:rowId xmlns:a16="http://schemas.microsoft.com/office/drawing/2014/main" val="3572862095"/>
                  </a:ext>
                </a:extLst>
              </a:tr>
              <a:tr h="549012">
                <a:tc>
                  <a:txBody>
                    <a:bodyPr/>
                    <a:lstStyle/>
                    <a:p>
                      <a:pPr lvl="0">
                        <a:buNone/>
                      </a:pPr>
                      <a:r>
                        <a:rPr lang="en-US" sz="1000" dirty="0">
                          <a:effectLst/>
                        </a:rPr>
                        <a:t>As a Service Cloud V2 Agent want to be able to change the account determination ID regarding taxable account information – Business Center Only (CAA2)</a:t>
                      </a:r>
                      <a:endParaRPr lang="en-US" sz="1000" dirty="0"/>
                    </a:p>
                  </a:txBody>
                  <a:tcPr anchor="ctr"/>
                </a:tc>
                <a:tc>
                  <a:txBody>
                    <a:bodyPr/>
                    <a:lstStyle/>
                    <a:p>
                      <a:pPr lvl="0">
                        <a:buNone/>
                      </a:pPr>
                      <a:r>
                        <a:rPr lang="en-US" sz="1000">
                          <a:effectLst/>
                        </a:rPr>
                        <a:t>Able to change the account determination based on tax exemption update/change</a:t>
                      </a:r>
                      <a:endParaRPr lang="en-US" sz="1000" dirty="0"/>
                    </a:p>
                  </a:txBody>
                  <a:tcPr anchor="ctr"/>
                </a:tc>
                <a:extLst>
                  <a:ext uri="{0D108BD9-81ED-4DB2-BD59-A6C34878D82A}">
                    <a16:rowId xmlns:a16="http://schemas.microsoft.com/office/drawing/2014/main" val="4037686311"/>
                  </a:ext>
                </a:extLst>
              </a:tr>
              <a:tr h="457511">
                <a:tc>
                  <a:txBody>
                    <a:bodyPr/>
                    <a:lstStyle/>
                    <a:p>
                      <a:pPr lvl="0">
                        <a:buNone/>
                      </a:pPr>
                      <a:r>
                        <a:rPr lang="en-US" sz="1000" b="0" i="0" u="none" strike="noStrike" noProof="0" dirty="0">
                          <a:solidFill>
                            <a:srgbClr val="000000"/>
                          </a:solidFill>
                          <a:effectLst/>
                          <a:latin typeface="Montserrat"/>
                        </a:rPr>
                        <a:t>As a Service Cloud V2 Agent or CSR, I want to be able to be able to edit contract account (business agreement) fields.  </a:t>
                      </a:r>
                      <a:r>
                        <a:rPr lang="en-US" sz="1000" b="0" i="0" u="none" strike="noStrike" noProof="0" dirty="0" err="1">
                          <a:solidFill>
                            <a:srgbClr val="000000"/>
                          </a:solidFill>
                          <a:effectLst/>
                          <a:latin typeface="Montserrat"/>
                        </a:rPr>
                        <a:t>i.e</a:t>
                      </a:r>
                      <a:r>
                        <a:rPr lang="en-US" sz="1000" b="0" i="0" u="none" strike="noStrike" noProof="0" dirty="0">
                          <a:solidFill>
                            <a:srgbClr val="000000"/>
                          </a:solidFill>
                          <a:effectLst/>
                          <a:latin typeface="Montserrat"/>
                        </a:rPr>
                        <a:t> payment terms, dunning (collection strategy) and others via Mashup/Embedded CAA2 view if best option</a:t>
                      </a:r>
                      <a:endParaRPr lang="en-US"/>
                    </a:p>
                  </a:txBody>
                  <a:tcPr marL="0" marR="0" marT="0" marB="0" anchor="ctr"/>
                </a:tc>
                <a:tc>
                  <a:txBody>
                    <a:bodyPr/>
                    <a:lstStyle/>
                    <a:p>
                      <a:pPr marL="0" lvl="0" indent="0">
                        <a:buNone/>
                      </a:pPr>
                      <a:r>
                        <a:rPr lang="en-US" sz="1000" dirty="0">
                          <a:effectLst/>
                        </a:rPr>
                        <a:t>Able to change payments terms</a:t>
                      </a:r>
                      <a:endParaRPr lang="en-US"/>
                    </a:p>
                    <a:p>
                      <a:pPr marL="0" lvl="0" indent="0">
                        <a:buNone/>
                      </a:pPr>
                      <a:r>
                        <a:rPr lang="en-US" sz="1000">
                          <a:effectLst/>
                        </a:rPr>
                        <a:t>Able to change Collection Strategy</a:t>
                      </a:r>
                      <a:endParaRPr lang="en-US" sz="1000" dirty="0">
                        <a:effectLst/>
                      </a:endParaRPr>
                    </a:p>
                  </a:txBody>
                  <a:tcPr marL="0" marR="0" marT="0" marB="0" anchor="ctr"/>
                </a:tc>
                <a:extLst>
                  <a:ext uri="{0D108BD9-81ED-4DB2-BD59-A6C34878D82A}">
                    <a16:rowId xmlns:a16="http://schemas.microsoft.com/office/drawing/2014/main" val="589256225"/>
                  </a:ext>
                </a:extLst>
              </a:tr>
              <a:tr h="457511">
                <a:tc>
                  <a:txBody>
                    <a:bodyPr/>
                    <a:lstStyle/>
                    <a:p>
                      <a:pPr lvl="0">
                        <a:buNone/>
                      </a:pPr>
                      <a:r>
                        <a:rPr lang="en-US" sz="1000" b="0" i="0" u="none" strike="noStrike" noProof="0" dirty="0">
                          <a:solidFill>
                            <a:srgbClr val="000000"/>
                          </a:solidFill>
                          <a:effectLst/>
                          <a:latin typeface="+mn-lt"/>
                        </a:rPr>
                        <a:t>As a Service Cloud V2 Agent or CSR, I want to be able to be able to perform online balance transfers via Mashup/Embedded CAA2 view if best option</a:t>
                      </a:r>
                      <a:endParaRPr lang="en-US" sz="1000" b="0" i="0" u="none" strike="noStrike" noProof="0">
                        <a:solidFill>
                          <a:srgbClr val="000000"/>
                        </a:solidFill>
                        <a:effectLst/>
                        <a:latin typeface="Montserrat"/>
                      </a:endParaRPr>
                    </a:p>
                  </a:txBody>
                  <a:tcPr marL="0" marR="0" marT="0" marB="0" anchor="ctr"/>
                </a:tc>
                <a:tc>
                  <a:txBody>
                    <a:bodyPr/>
                    <a:lstStyle/>
                    <a:p>
                      <a:pPr lvl="0" algn="l">
                        <a:lnSpc>
                          <a:spcPct val="100000"/>
                        </a:lnSpc>
                        <a:spcBef>
                          <a:spcPts val="0"/>
                        </a:spcBef>
                        <a:spcAft>
                          <a:spcPts val="0"/>
                        </a:spcAft>
                        <a:buNone/>
                      </a:pPr>
                      <a:r>
                        <a:rPr lang="en-US" sz="1000" b="0" i="0" u="none" strike="noStrike" noProof="0">
                          <a:effectLst/>
                          <a:latin typeface="Montserrat"/>
                        </a:rPr>
                        <a:t>Able to perform this action as an agent</a:t>
                      </a:r>
                      <a:endParaRPr lang="en-US" sz="1000"/>
                    </a:p>
                    <a:p>
                      <a:pPr lvl="0">
                        <a:buNone/>
                      </a:pPr>
                      <a:r>
                        <a:rPr lang="en-US" sz="1000" b="0" i="0" u="none" strike="noStrike" noProof="0" dirty="0">
                          <a:effectLst/>
                          <a:latin typeface="Montserrat"/>
                        </a:rPr>
                        <a:t>Need to confirm the target acct is same BP only/should be able to choose account if there are multiple active accounts</a:t>
                      </a:r>
                      <a:endParaRPr lang="en-US" sz="1000"/>
                    </a:p>
                  </a:txBody>
                  <a:tcPr marL="0" marR="0" marT="0" marB="0" anchor="ctr"/>
                </a:tc>
                <a:extLst>
                  <a:ext uri="{0D108BD9-81ED-4DB2-BD59-A6C34878D82A}">
                    <a16:rowId xmlns:a16="http://schemas.microsoft.com/office/drawing/2014/main" val="1674967517"/>
                  </a:ext>
                </a:extLst>
              </a:tr>
              <a:tr h="427010">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Montserrat"/>
                        </a:rPr>
                        <a:t>Able to view billing delivery method, </a:t>
                      </a:r>
                      <a:r>
                        <a:rPr lang="en-US" sz="1000" b="0" i="0" u="none" strike="noStrike" noProof="0" dirty="0" err="1">
                          <a:solidFill>
                            <a:srgbClr val="000000"/>
                          </a:solidFill>
                          <a:effectLst/>
                          <a:latin typeface="Montserrat"/>
                        </a:rPr>
                        <a:t>ie</a:t>
                      </a:r>
                      <a:r>
                        <a:rPr lang="en-US" sz="1000" b="0" i="0" u="none" strike="noStrike" noProof="0" dirty="0">
                          <a:solidFill>
                            <a:srgbClr val="000000"/>
                          </a:solidFill>
                          <a:effectLst/>
                          <a:latin typeface="Montserrat"/>
                        </a:rPr>
                        <a:t>: paper/</a:t>
                      </a:r>
                      <a:r>
                        <a:rPr lang="en-US" sz="1000" b="0" i="0" u="none" strike="noStrike" noProof="0" dirty="0" err="1">
                          <a:solidFill>
                            <a:srgbClr val="000000"/>
                          </a:solidFill>
                          <a:effectLst/>
                          <a:latin typeface="Montserrat"/>
                        </a:rPr>
                        <a:t>ebill</a:t>
                      </a:r>
                      <a:r>
                        <a:rPr lang="en-US" sz="1000" b="0" i="0" u="none" strike="noStrike" noProof="0" dirty="0">
                          <a:solidFill>
                            <a:srgbClr val="000000"/>
                          </a:solidFill>
                          <a:effectLst/>
                          <a:latin typeface="Montserrat"/>
                        </a:rPr>
                        <a:t>/</a:t>
                      </a:r>
                      <a:r>
                        <a:rPr lang="en-US" sz="1000" b="0" i="0" u="none" strike="noStrike" noProof="0" dirty="0" err="1">
                          <a:solidFill>
                            <a:srgbClr val="000000"/>
                          </a:solidFill>
                          <a:effectLst/>
                          <a:latin typeface="Montserrat"/>
                        </a:rPr>
                        <a:t>BillTrust</a:t>
                      </a:r>
                      <a:r>
                        <a:rPr lang="en-US" sz="1000" b="0" i="0" u="none" strike="noStrike" noProof="0" dirty="0">
                          <a:solidFill>
                            <a:srgbClr val="000000"/>
                          </a:solidFill>
                          <a:effectLst/>
                          <a:latin typeface="Montserrat"/>
                        </a:rPr>
                        <a:t> (BC customers) (CAA3) </a:t>
                      </a:r>
                      <a:endParaRPr lang="en-US" sz="1000"/>
                    </a:p>
                  </a:txBody>
                  <a:tcPr marL="0" marR="0" marT="0" marB="0" anchor="ct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Montserrat"/>
                        </a:rPr>
                        <a:t>Able to view delivery method on one screen instead of needing to view in multiple locations </a:t>
                      </a:r>
                      <a:endParaRPr lang="en-US"/>
                    </a:p>
                  </a:txBody>
                  <a:tcPr marL="0" marR="0" marT="0" marB="0" anchor="ctr"/>
                </a:tc>
                <a:extLst>
                  <a:ext uri="{0D108BD9-81ED-4DB2-BD59-A6C34878D82A}">
                    <a16:rowId xmlns:a16="http://schemas.microsoft.com/office/drawing/2014/main" val="1494429037"/>
                  </a:ext>
                </a:extLst>
              </a:tr>
              <a:tr h="716766">
                <a:tc>
                  <a:txBody>
                    <a:bodyPr/>
                    <a:lstStyle/>
                    <a:p>
                      <a:pPr lvl="0">
                        <a:buNone/>
                      </a:pPr>
                      <a:r>
                        <a:rPr lang="en-US" sz="1000">
                          <a:effectLst/>
                        </a:rPr>
                        <a:t>As a Service Cloud V2 Agent or CSR I want to be able to view write off history and details</a:t>
                      </a:r>
                      <a:endParaRPr lang="en-US" sz="1000" dirty="0">
                        <a:effectLst/>
                      </a:endParaRPr>
                    </a:p>
                  </a:txBody>
                  <a:tcPr anchor="ctr"/>
                </a:tc>
                <a:tc>
                  <a:txBody>
                    <a:bodyPr/>
                    <a:lstStyle/>
                    <a:p>
                      <a:pPr lvl="0">
                        <a:buNone/>
                      </a:pPr>
                      <a:r>
                        <a:rPr lang="en-US" sz="1000" dirty="0">
                          <a:effectLst/>
                        </a:rPr>
                        <a:t>Able to view write off date, amount, reason, collection agency, reason, business account number, origin</a:t>
                      </a:r>
                      <a:br>
                        <a:rPr lang="en-US" sz="1000" dirty="0">
                          <a:effectLst/>
                        </a:rPr>
                      </a:br>
                      <a:r>
                        <a:rPr lang="en-US" sz="1000" dirty="0">
                          <a:effectLst/>
                        </a:rPr>
                        <a:t>Able to provide all details to customer if needed and utilize to help answer questions</a:t>
                      </a:r>
                      <a:endParaRPr lang="en-US" sz="1000"/>
                    </a:p>
                  </a:txBody>
                  <a:tcPr anchor="ctr"/>
                </a:tc>
                <a:extLst>
                  <a:ext uri="{0D108BD9-81ED-4DB2-BD59-A6C34878D82A}">
                    <a16:rowId xmlns:a16="http://schemas.microsoft.com/office/drawing/2014/main" val="1818642356"/>
                  </a:ext>
                </a:extLst>
              </a:tr>
              <a:tr h="427010">
                <a:tc>
                  <a:txBody>
                    <a:bodyPr/>
                    <a:lstStyle/>
                    <a:p>
                      <a:pPr lvl="0">
                        <a:buNone/>
                      </a:pPr>
                      <a:r>
                        <a:rPr lang="en-US" sz="1000">
                          <a:effectLst/>
                        </a:rPr>
                        <a:t>As a Service Cloud V2  Agent or CSR I want the system to proactively detect duplicate business partners  -</a:t>
                      </a:r>
                      <a:r>
                        <a:rPr lang="en-US" sz="1000" b="1">
                          <a:effectLst/>
                          <a:highlight>
                            <a:srgbClr val="00FF00"/>
                          </a:highlight>
                        </a:rPr>
                        <a:t> NEED TO ADD ONTO DUP BP CHECK?</a:t>
                      </a:r>
                    </a:p>
                  </a:txBody>
                  <a:tcPr anchor="ctr"/>
                </a:tc>
                <a:tc>
                  <a:txBody>
                    <a:bodyPr/>
                    <a:lstStyle/>
                    <a:p>
                      <a:pPr lvl="0">
                        <a:buNone/>
                      </a:pPr>
                      <a:r>
                        <a:rPr lang="en-US" sz="1000">
                          <a:effectLst/>
                        </a:rPr>
                        <a:t>System flags duplicate personal identification for person and tax id for organization during bp creation </a:t>
                      </a:r>
                      <a:endParaRPr lang="en-US" sz="1000"/>
                    </a:p>
                  </a:txBody>
                  <a:tcPr anchor="ctr"/>
                </a:tc>
                <a:extLst>
                  <a:ext uri="{0D108BD9-81ED-4DB2-BD59-A6C34878D82A}">
                    <a16:rowId xmlns:a16="http://schemas.microsoft.com/office/drawing/2014/main" val="665396457"/>
                  </a:ext>
                </a:extLst>
              </a:tr>
              <a:tr h="427009">
                <a:tc>
                  <a:txBody>
                    <a:bodyPr/>
                    <a:lstStyle/>
                    <a:p>
                      <a:pPr lvl="0">
                        <a:buNone/>
                      </a:pPr>
                      <a:r>
                        <a:rPr lang="en-US" sz="1000" b="1">
                          <a:effectLst/>
                          <a:highlight>
                            <a:srgbClr val="00FF00"/>
                          </a:highlight>
                        </a:rPr>
                        <a:t>ADD IN ADDRESS MAINTENANCE USER STORY HERE</a:t>
                      </a:r>
                    </a:p>
                  </a:txBody>
                  <a:tcPr anchor="ctr"/>
                </a:tc>
                <a:tc>
                  <a:txBody>
                    <a:bodyPr/>
                    <a:lstStyle/>
                    <a:p>
                      <a:pPr lvl="0">
                        <a:buNone/>
                      </a:pPr>
                      <a:endParaRPr lang="en-US" sz="1000" dirty="0">
                        <a:effectLst/>
                      </a:endParaRPr>
                    </a:p>
                  </a:txBody>
                  <a:tcPr anchor="ctr"/>
                </a:tc>
                <a:extLst>
                  <a:ext uri="{0D108BD9-81ED-4DB2-BD59-A6C34878D82A}">
                    <a16:rowId xmlns:a16="http://schemas.microsoft.com/office/drawing/2014/main" val="3722941471"/>
                  </a:ext>
                </a:extLst>
              </a:tr>
              <a:tr h="716766">
                <a:tc>
                  <a:txBody>
                    <a:bodyPr/>
                    <a:lstStyle/>
                    <a:p>
                      <a:pPr lvl="0">
                        <a:buNone/>
                      </a:pPr>
                      <a:r>
                        <a:rPr lang="en-US" sz="1000" dirty="0">
                          <a:effectLst/>
                        </a:rPr>
                        <a:t>As a Service Cloud V2 Agent or CSR I want addresses to be validated and standardized during entry,</a:t>
                      </a:r>
                      <a:br>
                        <a:rPr lang="en-US" sz="1000" dirty="0">
                          <a:effectLst/>
                        </a:rPr>
                      </a:br>
                      <a:r>
                        <a:rPr lang="en-US" sz="1000" dirty="0">
                          <a:effectLst/>
                        </a:rPr>
                        <a:t>so that mailing, billing, and service accuracy improves.</a:t>
                      </a:r>
                      <a:endParaRPr lang="en-US"/>
                    </a:p>
                  </a:txBody>
                  <a:tcPr anchor="ctr"/>
                </a:tc>
                <a:tc>
                  <a:txBody>
                    <a:bodyPr/>
                    <a:lstStyle/>
                    <a:p>
                      <a:pPr lvl="0">
                        <a:buNone/>
                      </a:pPr>
                      <a:r>
                        <a:rPr lang="en-US" sz="1000">
                          <a:effectLst/>
                        </a:rPr>
                        <a:t>Address validation occurs in real-time</a:t>
                      </a:r>
                      <a:br>
                        <a:rPr lang="en-US" sz="1000" dirty="0">
                          <a:effectLst/>
                        </a:rPr>
                      </a:br>
                      <a:r>
                        <a:rPr lang="en-US" sz="1000">
                          <a:effectLst/>
                        </a:rPr>
                        <a:t>Standard format is applied automatically</a:t>
                      </a:r>
                      <a:br>
                        <a:rPr lang="en-US" sz="1000" dirty="0">
                          <a:effectLst/>
                        </a:rPr>
                      </a:br>
                      <a:r>
                        <a:rPr lang="en-US" sz="1000">
                          <a:effectLst/>
                        </a:rPr>
                        <a:t>Invalid addresses are flagged before save</a:t>
                      </a:r>
                      <a:br>
                        <a:rPr lang="en-US" sz="1000" dirty="0">
                          <a:effectLst/>
                        </a:rPr>
                      </a:br>
                      <a:r>
                        <a:rPr lang="en-US" sz="1000">
                          <a:effectLst/>
                        </a:rPr>
                        <a:t>User can override with justification</a:t>
                      </a:r>
                      <a:endParaRPr lang="en-US" sz="1000" dirty="0">
                        <a:effectLst/>
                      </a:endParaRPr>
                    </a:p>
                  </a:txBody>
                  <a:tcPr anchor="ctr"/>
                </a:tc>
                <a:extLst>
                  <a:ext uri="{0D108BD9-81ED-4DB2-BD59-A6C34878D82A}">
                    <a16:rowId xmlns:a16="http://schemas.microsoft.com/office/drawing/2014/main" val="2937731356"/>
                  </a:ext>
                </a:extLst>
              </a:tr>
            </a:tbl>
          </a:graphicData>
        </a:graphic>
      </p:graphicFrame>
      <p:sp>
        <p:nvSpPr>
          <p:cNvPr id="15" name="Title 1">
            <a:extLst>
              <a:ext uri="{FF2B5EF4-FFF2-40B4-BE49-F238E27FC236}">
                <a16:creationId xmlns:a16="http://schemas.microsoft.com/office/drawing/2014/main" id="{0BA21E64-F654-F836-3B6F-56916C705022}"/>
              </a:ext>
            </a:extLst>
          </p:cNvPr>
          <p:cNvSpPr>
            <a:spLocks noGrp="1"/>
          </p:cNvSpPr>
          <p:nvPr>
            <p:ph type="title"/>
          </p:nvPr>
        </p:nvSpPr>
        <p:spPr>
          <a:xfrm>
            <a:off x="414528" y="349432"/>
            <a:ext cx="11375136" cy="609600"/>
          </a:xfrm>
        </p:spPr>
        <p:txBody>
          <a:bodyPr>
            <a:normAutofit fontScale="90000"/>
          </a:bodyPr>
          <a:lstStyle/>
          <a:p>
            <a:r>
              <a:rPr lang="en-US" dirty="0">
                <a:latin typeface="Montserrat"/>
              </a:rPr>
              <a:t>User Stories for Create and Maintain Business Master Data </a:t>
            </a:r>
            <a:r>
              <a:rPr lang="en-US" b="1">
                <a:highlight>
                  <a:srgbClr val="FFFF00"/>
                </a:highlight>
                <a:latin typeface="Montserrat"/>
              </a:rPr>
              <a:t>(ALL ADDED)</a:t>
            </a:r>
            <a:endParaRPr lang="en-US" b="1">
              <a:highlight>
                <a:srgbClr val="FFFF00"/>
              </a:highlight>
            </a:endParaRPr>
          </a:p>
        </p:txBody>
      </p:sp>
    </p:spTree>
    <p:extLst>
      <p:ext uri="{BB962C8B-B14F-4D97-AF65-F5344CB8AC3E}">
        <p14:creationId xmlns:p14="http://schemas.microsoft.com/office/powerpoint/2010/main" val="38365210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04800" y="152400"/>
            <a:ext cx="11582400" cy="381000"/>
          </a:xfrm>
          <a:prstGeom prst="rect">
            <a:avLst/>
          </a:prstGeom>
          <a:noFill/>
        </p:spPr>
        <p:txBody>
          <a:bodyPr wrap="square">
            <a:spAutoFit/>
          </a:bodyPr>
          <a:lstStyle/>
          <a:p>
            <a:pPr algn="l">
              <a:defRPr sz="1800" b="1">
                <a:solidFill>
                  <a:srgbClr val="000000"/>
                </a:solidFill>
                <a:latin typeface="IBM Plex Sans Regular (Body)"/>
              </a:defRPr>
            </a:pPr>
            <a:r>
              <a:rPr lang="en-US"/>
              <a:t>Create </a:t>
            </a:r>
            <a:r>
              <a:t>and </a:t>
            </a:r>
            <a:r>
              <a:rPr lang="en-US"/>
              <a:t>Maintain Business Partner</a:t>
            </a:r>
          </a:p>
        </p:txBody>
      </p:sp>
      <p:graphicFrame>
        <p:nvGraphicFramePr>
          <p:cNvPr id="3" name="Table 2"/>
          <p:cNvGraphicFramePr>
            <a:graphicFrameLocks noGrp="1"/>
          </p:cNvGraphicFramePr>
          <p:nvPr>
            <p:extLst>
              <p:ext uri="{D42A27DB-BD31-4B8C-83A1-F6EECF244321}">
                <p14:modId xmlns:p14="http://schemas.microsoft.com/office/powerpoint/2010/main" val="261719404"/>
              </p:ext>
            </p:extLst>
          </p:nvPr>
        </p:nvGraphicFramePr>
        <p:xfrm>
          <a:off x="304800" y="609600"/>
          <a:ext cx="11582400" cy="81381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638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28600">
                <a:tc>
                  <a:txBody>
                    <a:bodyPr/>
                    <a:lstStyle/>
                    <a:p>
                      <a:pPr>
                        <a:defRPr sz="800" b="1">
                          <a:latin typeface="IBM Plex Sans Regular (Body)"/>
                        </a:defRPr>
                      </a:pPr>
                      <a:r>
                        <a:rPr lang="en-US" sz="900"/>
                        <a:t>User Story Name</a:t>
                      </a:r>
                    </a:p>
                  </a:txBody>
                  <a:tcPr/>
                </a:tc>
                <a:tc>
                  <a:txBody>
                    <a:bodyPr/>
                    <a:lstStyle/>
                    <a:p>
                      <a:pPr>
                        <a:defRPr sz="800" b="1">
                          <a:latin typeface="IBM Plex Sans Regular (Body)"/>
                        </a:defRPr>
                      </a:pPr>
                      <a:r>
                        <a:rPr lang="en-US" sz="900"/>
                        <a:t>User Story Description</a:t>
                      </a:r>
                    </a:p>
                  </a:txBody>
                  <a:tcPr/>
                </a:tc>
                <a:tc>
                  <a:txBody>
                    <a:bodyPr/>
                    <a:lstStyle/>
                    <a:p>
                      <a:pPr>
                        <a:defRPr sz="800" b="1">
                          <a:latin typeface="IBM Plex Sans Regular (Body)"/>
                        </a:defRPr>
                      </a:pPr>
                      <a:r>
                        <a:rPr lang="en-US" sz="900"/>
                        <a:t>Acceptance Criteria</a:t>
                      </a:r>
                    </a:p>
                  </a:txBody>
                  <a:tcPr/>
                </a:tc>
                <a:tc>
                  <a:txBody>
                    <a:bodyPr/>
                    <a:lstStyle/>
                    <a:p>
                      <a:pPr>
                        <a:defRPr sz="800" b="1">
                          <a:latin typeface="IBM Plex Sans Regular (Body)"/>
                        </a:defRPr>
                      </a:pPr>
                      <a:r>
                        <a:rPr lang="en-US" sz="900"/>
                        <a:t>Process ID</a:t>
                      </a:r>
                    </a:p>
                  </a:txBody>
                  <a:tcPr/>
                </a:tc>
                <a:extLst>
                  <a:ext uri="{0D108BD9-81ED-4DB2-BD59-A6C34878D82A}">
                    <a16:rowId xmlns:a16="http://schemas.microsoft.com/office/drawing/2014/main" val="10000"/>
                  </a:ext>
                </a:extLst>
              </a:tr>
              <a:tr h="571500">
                <a:tc>
                  <a:txBody>
                    <a:bodyPr/>
                    <a:lstStyle/>
                    <a:p>
                      <a:pPr>
                        <a:defRPr sz="600" b="0">
                          <a:latin typeface="IBM Plex Sans Regular (Body)"/>
                        </a:defRPr>
                      </a:pPr>
                      <a:r>
                        <a:rPr lang="en-US" sz="900"/>
                        <a:t>Create Utilities-Relevant Business Partner</a:t>
                      </a:r>
                    </a:p>
                  </a:txBody>
                  <a:tcPr/>
                </a:tc>
                <a:tc>
                  <a:txBody>
                    <a:bodyPr/>
                    <a:lstStyle/>
                    <a:p>
                      <a:pPr>
                        <a:defRPr sz="600" b="0">
                          <a:latin typeface="IBM Plex Sans Regular (Body)"/>
                        </a:defRPr>
                      </a:pPr>
                      <a:r>
                        <a:rPr lang="en-US" sz="900"/>
                        <a:t>As a customer master data specialist, the user wants to create a utilities-relevant business partner with required roles and organizational assignments so that downstream billing, receivables, and interaction processes can execute without master data gaps.</a:t>
                      </a:r>
                    </a:p>
                  </a:txBody>
                  <a:tcPr/>
                </a:tc>
                <a:tc>
                  <a:txBody>
                    <a:bodyPr/>
                    <a:lstStyle/>
                    <a:p>
                      <a:pPr>
                        <a:defRPr sz="600" b="0">
                          <a:latin typeface="IBM Plex Sans Regular (Body)"/>
                        </a:defRPr>
                      </a:pPr>
                      <a:r>
                        <a:rPr lang="en-US" sz="900"/>
                        <a:t>Business partner is created using the correct BP grouping with internal number assignment as per configuration BP roles BUP001, FLCU00, and FLCU01 are assigned and active At least one company code view and one sales area view are maintained and saved without errors Tax classification and tax numbers are captured for all relevant jurisdictions and pass standard checks Partner is set to utilities-relevant with industry code and account group attributes as per template Save action completes without error and BP status is active and searchable in BP transaction and via API_BUSINESS_PARTNER</a:t>
                      </a:r>
                    </a:p>
                  </a:txBody>
                  <a:tcPr/>
                </a:tc>
                <a:tc>
                  <a:txBody>
                    <a:bodyPr/>
                    <a:lstStyle/>
                    <a:p>
                      <a:pPr>
                        <a:defRPr sz="600" b="0">
                          <a:latin typeface="IBM Plex Sans Regular (Body)"/>
                        </a:defRPr>
                      </a:pPr>
                      <a:endParaRPr lang="en-US" sz="900"/>
                    </a:p>
                  </a:txBody>
                  <a:tcPr/>
                </a:tc>
                <a:extLst>
                  <a:ext uri="{0D108BD9-81ED-4DB2-BD59-A6C34878D82A}">
                    <a16:rowId xmlns:a16="http://schemas.microsoft.com/office/drawing/2014/main" val="10001"/>
                  </a:ext>
                </a:extLst>
              </a:tr>
              <a:tr h="571500">
                <a:tc>
                  <a:txBody>
                    <a:bodyPr/>
                    <a:lstStyle/>
                    <a:p>
                      <a:pPr>
                        <a:defRPr sz="600" b="0">
                          <a:latin typeface="IBM Plex Sans Regular (Body)"/>
                        </a:defRPr>
                      </a:pPr>
                      <a:r>
                        <a:rPr sz="900"/>
                        <a:t>Maintain Time-Dependent Addresses and Contact Data</a:t>
                      </a:r>
                    </a:p>
                  </a:txBody>
                  <a:tcPr/>
                </a:tc>
                <a:tc>
                  <a:txBody>
                    <a:bodyPr/>
                    <a:lstStyle/>
                    <a:p>
                      <a:pPr>
                        <a:defRPr sz="600" b="0">
                          <a:latin typeface="IBM Plex Sans Regular (Body)"/>
                        </a:defRPr>
                      </a:pPr>
                      <a:r>
                        <a:rPr sz="900"/>
                        <a:t>As a customer service representative, the user wants to maintain time-dependent postal, service, and correspondence addresses with validated communication channels so that customer contact and document delivery are accurate and compliant.</a:t>
                      </a:r>
                    </a:p>
                  </a:txBody>
                  <a:tcPr/>
                </a:tc>
                <a:tc>
                  <a:txBody>
                    <a:bodyPr/>
                    <a:lstStyle/>
                    <a:p>
                      <a:pPr>
                        <a:defRPr sz="600" b="0">
                          <a:latin typeface="IBM Plex Sans Regular (Body)"/>
                        </a:defRPr>
                      </a:pPr>
                      <a:r>
                        <a:rPr sz="900"/>
                        <a:t>Primary postal address is maintained with country-specific fields validated against postal rules Time-dependent address validity periods do not overlap and future-dated records are accepted Separate correspondence and service addresses are captured and flagged correctly Email, phone, and mobile numbers are formatted per country rules and verified using standard checks Address and communication data changes are saved with change documents capturing before/after values and user/time</a:t>
                      </a:r>
                    </a:p>
                  </a:txBody>
                  <a:tcPr/>
                </a:tc>
                <a:tc>
                  <a:txBody>
                    <a:bodyPr/>
                    <a:lstStyle/>
                    <a:p>
                      <a:pPr>
                        <a:defRPr sz="600" b="0">
                          <a:latin typeface="IBM Plex Sans Regular (Body)"/>
                        </a:defRPr>
                      </a:pPr>
                      <a:endParaRPr sz="900"/>
                    </a:p>
                  </a:txBody>
                  <a:tcPr/>
                </a:tc>
                <a:extLst>
                  <a:ext uri="{0D108BD9-81ED-4DB2-BD59-A6C34878D82A}">
                    <a16:rowId xmlns:a16="http://schemas.microsoft.com/office/drawing/2014/main" val="10002"/>
                  </a:ext>
                </a:extLst>
              </a:tr>
              <a:tr h="571500">
                <a:tc>
                  <a:txBody>
                    <a:bodyPr/>
                    <a:lstStyle/>
                    <a:p>
                      <a:pPr>
                        <a:defRPr sz="600" b="0">
                          <a:latin typeface="IBM Plex Sans Regular (Body)"/>
                        </a:defRPr>
                      </a:pPr>
                      <a:r>
                        <a:rPr sz="900"/>
                        <a:t>Bank Details and SEPA Mandate Setup</a:t>
                      </a:r>
                    </a:p>
                  </a:txBody>
                  <a:tcPr/>
                </a:tc>
                <a:tc>
                  <a:txBody>
                    <a:bodyPr/>
                    <a:lstStyle/>
                    <a:p>
                      <a:pPr>
                        <a:defRPr sz="600" b="0">
                          <a:latin typeface="IBM Plex Sans Regular (Body)"/>
                        </a:defRPr>
                      </a:pPr>
                      <a:r>
                        <a:rPr sz="900"/>
                        <a:t>As an accounts receivable specialist, the user wants to record bank details and create SEPA direct debit mandates so that automated collections can be executed without rework.</a:t>
                      </a:r>
                    </a:p>
                  </a:txBody>
                  <a:tcPr/>
                </a:tc>
                <a:tc>
                  <a:txBody>
                    <a:bodyPr/>
                    <a:lstStyle/>
                    <a:p>
                      <a:pPr>
                        <a:defRPr sz="600" b="0">
                          <a:latin typeface="IBM Plex Sans Regular (Body)"/>
                        </a:defRPr>
                      </a:pPr>
                      <a:r>
                        <a:rPr sz="900"/>
                        <a:t>Bank account with IBAN and BIC is created and set to standard for collections SEPA mandate is created for the business partner with unique mandate reference and signed date SEPA mandate validity dates are set and status is active Bank data and mandate pass duplicate and format checks and are stored with appropriate authorization objects enforced Mandate and bank details are retrievable via standard reports and API with consistent data</a:t>
                      </a:r>
                    </a:p>
                  </a:txBody>
                  <a:tcPr/>
                </a:tc>
                <a:tc>
                  <a:txBody>
                    <a:bodyPr/>
                    <a:lstStyle/>
                    <a:p>
                      <a:pPr>
                        <a:defRPr sz="600" b="0">
                          <a:latin typeface="IBM Plex Sans Regular (Body)"/>
                        </a:defRPr>
                      </a:pPr>
                      <a:endParaRPr sz="900"/>
                    </a:p>
                  </a:txBody>
                  <a:tcPr/>
                </a:tc>
                <a:extLst>
                  <a:ext uri="{0D108BD9-81ED-4DB2-BD59-A6C34878D82A}">
                    <a16:rowId xmlns:a16="http://schemas.microsoft.com/office/drawing/2014/main" val="10003"/>
                  </a:ext>
                </a:extLst>
              </a:tr>
              <a:tr h="571500">
                <a:tc>
                  <a:txBody>
                    <a:bodyPr/>
                    <a:lstStyle/>
                    <a:p>
                      <a:pPr>
                        <a:defRPr sz="600" b="0">
                          <a:latin typeface="IBM Plex Sans Regular (Body)"/>
                        </a:defRPr>
                      </a:pPr>
                      <a:r>
                        <a:rPr sz="900"/>
                        <a:t>Credit Profile and Limit Maintenance</a:t>
                      </a:r>
                    </a:p>
                  </a:txBody>
                  <a:tcPr/>
                </a:tc>
                <a:tc>
                  <a:txBody>
                    <a:bodyPr/>
                    <a:lstStyle/>
                    <a:p>
                      <a:pPr>
                        <a:defRPr sz="600" b="0">
                          <a:latin typeface="IBM Plex Sans Regular (Body)"/>
                        </a:defRPr>
                      </a:pPr>
                      <a:r>
                        <a:rPr sz="900"/>
                        <a:t>As a credit analyst, the user wants to assign a credit segment and maintain a credit limit and scoring on the business partner so that credit exposure controls are applied in billing and receivables.</a:t>
                      </a:r>
                    </a:p>
                  </a:txBody>
                  <a:tcPr/>
                </a:tc>
                <a:tc>
                  <a:txBody>
                    <a:bodyPr/>
                    <a:lstStyle/>
                    <a:p>
                      <a:pPr>
                        <a:defRPr sz="600" b="0">
                          <a:latin typeface="IBM Plex Sans Regular (Body)"/>
                        </a:defRPr>
                      </a:pPr>
                      <a:r>
                        <a:rPr sz="900"/>
                        <a:t>Business partner is assigned to the configured credit segment for utilities Credit limit, risk category, and validity dates are maintained and saved without errors Credit exposure calculation runs without inconsistencies and shows the updated limit Changes trigger approval workflow when thresholds are exceeded and activation occurs only after approval Credit master data is visible in UKM_BP and via CDS views used by dunning and invoicing checks</a:t>
                      </a:r>
                    </a:p>
                  </a:txBody>
                  <a:tcPr/>
                </a:tc>
                <a:tc>
                  <a:txBody>
                    <a:bodyPr/>
                    <a:lstStyle/>
                    <a:p>
                      <a:pPr>
                        <a:defRPr sz="600" b="0">
                          <a:latin typeface="IBM Plex Sans Regular (Body)"/>
                        </a:defRPr>
                      </a:pPr>
                      <a:endParaRPr sz="900"/>
                    </a:p>
                  </a:txBody>
                  <a:tcPr/>
                </a:tc>
                <a:extLst>
                  <a:ext uri="{0D108BD9-81ED-4DB2-BD59-A6C34878D82A}">
                    <a16:rowId xmlns:a16="http://schemas.microsoft.com/office/drawing/2014/main" val="10004"/>
                  </a:ext>
                </a:extLst>
              </a:tr>
              <a:tr h="571500">
                <a:tc>
                  <a:txBody>
                    <a:bodyPr/>
                    <a:lstStyle/>
                    <a:p>
                      <a:pPr>
                        <a:defRPr sz="600" b="0">
                          <a:latin typeface="IBM Plex Sans Regular (Body)"/>
                        </a:defRPr>
                      </a:pPr>
                      <a:r>
                        <a:rPr sz="900"/>
                        <a:t>CVI Synchronization to Customer Master</a:t>
                      </a:r>
                    </a:p>
                  </a:txBody>
                  <a:tcPr/>
                </a:tc>
                <a:tc>
                  <a:txBody>
                    <a:bodyPr/>
                    <a:lstStyle/>
                    <a:p>
                      <a:pPr>
                        <a:defRPr sz="600" b="0">
                          <a:latin typeface="IBM Plex Sans Regular (Body)"/>
                        </a:defRPr>
                      </a:pPr>
                      <a:r>
                        <a:rPr sz="900"/>
                        <a:t>As a solution architect, the user wants business partners to synchronize to customer master data via CVI so that SD-integrated processes can operate with consistent master data.</a:t>
                      </a:r>
                    </a:p>
                  </a:txBody>
                  <a:tcPr/>
                </a:tc>
                <a:tc>
                  <a:txBody>
                    <a:bodyPr/>
                    <a:lstStyle/>
                    <a:p>
                      <a:pPr>
                        <a:defRPr sz="600" b="0">
                          <a:latin typeface="IBM Plex Sans Regular (Body)"/>
                        </a:defRPr>
                      </a:pPr>
                      <a:r>
                        <a:rPr sz="900"/>
                        <a:t>Creation or change of BP triggers CVI synchronization without errors Corresponding KNA1 and related tables are created or updated with consistent keys per mapping Sales area and company code data remain in sync with BP role data CVI synchronization logs show status green and no unresolved errors MDS link entries exist and reference the BP and customer numbers correctly</a:t>
                      </a:r>
                    </a:p>
                  </a:txBody>
                  <a:tcPr/>
                </a:tc>
                <a:tc>
                  <a:txBody>
                    <a:bodyPr/>
                    <a:lstStyle/>
                    <a:p>
                      <a:pPr>
                        <a:defRPr sz="600" b="0">
                          <a:latin typeface="IBM Plex Sans Regular (Body)"/>
                        </a:defRPr>
                      </a:pPr>
                      <a:endParaRPr sz="900"/>
                    </a:p>
                  </a:txBody>
                  <a:tcPr/>
                </a:tc>
                <a:extLst>
                  <a:ext uri="{0D108BD9-81ED-4DB2-BD59-A6C34878D82A}">
                    <a16:rowId xmlns:a16="http://schemas.microsoft.com/office/drawing/2014/main" val="10005"/>
                  </a:ext>
                </a:extLst>
              </a:tr>
              <a:tr h="571500">
                <a:tc>
                  <a:txBody>
                    <a:bodyPr/>
                    <a:lstStyle/>
                    <a:p>
                      <a:pPr>
                        <a:defRPr sz="600" b="0">
                          <a:latin typeface="IBM Plex Sans Regular (Body)"/>
                        </a:defRPr>
                      </a:pPr>
                      <a:r>
                        <a:rPr sz="900"/>
                        <a:t>Duplicate Detection and Merge Handling</a:t>
                      </a:r>
                    </a:p>
                  </a:txBody>
                  <a:tcPr/>
                </a:tc>
                <a:tc>
                  <a:txBody>
                    <a:bodyPr/>
                    <a:lstStyle/>
                    <a:p>
                      <a:pPr>
                        <a:defRPr sz="600" b="0">
                          <a:latin typeface="IBM Plex Sans Regular (Body)"/>
                        </a:defRPr>
                      </a:pPr>
                      <a:r>
                        <a:rPr sz="900"/>
                        <a:t>As a data governance lead, the user wants automatic duplicate detection with controlled merge actions so that the business partner registry remains unique and reliable.</a:t>
                      </a:r>
                    </a:p>
                  </a:txBody>
                  <a:tcPr/>
                </a:tc>
                <a:tc>
                  <a:txBody>
                    <a:bodyPr/>
                    <a:lstStyle/>
                    <a:p>
                      <a:pPr>
                        <a:defRPr sz="600" b="0">
                          <a:latin typeface="IBM Plex Sans Regular (Body)"/>
                        </a:defRPr>
                      </a:pPr>
                      <a:r>
                        <a:rPr sz="900"/>
                        <a:t>On save, system performs fuzzy duplicate check across name, address, tax IDs, and email Potential duplicates above configured threshold are presented with actionable match details User can link as relationship or proceed with merge based on authorization and rules Merge consolidates addresses, bank details, and roles without data loss and retains change documents Post-merge, obsolete BP is blocked and cross-references are updated in dependent objects</a:t>
                      </a:r>
                    </a:p>
                  </a:txBody>
                  <a:tcPr/>
                </a:tc>
                <a:tc>
                  <a:txBody>
                    <a:bodyPr/>
                    <a:lstStyle/>
                    <a:p>
                      <a:pPr>
                        <a:defRPr sz="600" b="0">
                          <a:latin typeface="IBM Plex Sans Regular (Body)"/>
                        </a:defRPr>
                      </a:pPr>
                      <a:endParaRPr sz="900"/>
                    </a:p>
                  </a:txBody>
                  <a:tcPr/>
                </a:tc>
                <a:extLst>
                  <a:ext uri="{0D108BD9-81ED-4DB2-BD59-A6C34878D82A}">
                    <a16:rowId xmlns:a16="http://schemas.microsoft.com/office/drawing/2014/main" val="10006"/>
                  </a:ext>
                </a:extLst>
              </a:tr>
              <a:tr h="571500">
                <a:tc>
                  <a:txBody>
                    <a:bodyPr/>
                    <a:lstStyle/>
                    <a:p>
                      <a:pPr>
                        <a:defRPr sz="600" b="0">
                          <a:latin typeface="IBM Plex Sans Regular (Body)"/>
                        </a:defRPr>
                      </a:pPr>
                      <a:r>
                        <a:rPr sz="900"/>
                        <a:t>Tax and Exemption Certificate Management</a:t>
                      </a:r>
                    </a:p>
                  </a:txBody>
                  <a:tcPr/>
                </a:tc>
                <a:tc>
                  <a:txBody>
                    <a:bodyPr/>
                    <a:lstStyle/>
                    <a:p>
                      <a:pPr>
                        <a:defRPr sz="600" b="0">
                          <a:latin typeface="IBM Plex Sans Regular (Body)"/>
                        </a:defRPr>
                      </a:pPr>
                      <a:r>
                        <a:rPr sz="900"/>
                        <a:t>As a billing specialist, the user wants to maintain tax numbers and exemption certificates on the business partner so that tax determination in invoicing is correct.</a:t>
                      </a:r>
                    </a:p>
                  </a:txBody>
                  <a:tcPr/>
                </a:tc>
                <a:tc>
                  <a:txBody>
                    <a:bodyPr/>
                    <a:lstStyle/>
                    <a:p>
                      <a:pPr>
                        <a:defRPr sz="600" b="0">
                          <a:latin typeface="IBM Plex Sans Regular (Body)"/>
                        </a:defRPr>
                      </a:pPr>
                      <a:r>
                        <a:rPr sz="900"/>
                        <a:t>VAT registration numbers are validated per country algorithm and stored with issuing country Per sales area tax classifications are maintained and consistent with exemption status Tax exemption certificates are recorded with certificate ID, authority, validity dates, and uploaded copy Expired exemptions trigger warnings and are not applied in pricing and billing simulations Tax data is available to billing via standard determination and passes test invoice checks</a:t>
                      </a:r>
                    </a:p>
                  </a:txBody>
                  <a:tcPr/>
                </a:tc>
                <a:tc>
                  <a:txBody>
                    <a:bodyPr/>
                    <a:lstStyle/>
                    <a:p>
                      <a:pPr>
                        <a:defRPr sz="600" b="0">
                          <a:latin typeface="IBM Plex Sans Regular (Body)"/>
                        </a:defRPr>
                      </a:pPr>
                      <a:endParaRPr sz="900"/>
                    </a:p>
                  </a:txBody>
                  <a:tcPr/>
                </a:tc>
                <a:extLst>
                  <a:ext uri="{0D108BD9-81ED-4DB2-BD59-A6C34878D82A}">
                    <a16:rowId xmlns:a16="http://schemas.microsoft.com/office/drawing/2014/main" val="10007"/>
                  </a:ext>
                </a:extLst>
              </a:tr>
              <a:tr h="571500">
                <a:tc>
                  <a:txBody>
                    <a:bodyPr/>
                    <a:lstStyle/>
                    <a:p>
                      <a:pPr>
                        <a:defRPr sz="600" b="0">
                          <a:latin typeface="IBM Plex Sans Regular (Body)"/>
                        </a:defRPr>
                      </a:pPr>
                      <a:r>
                        <a:rPr sz="900"/>
                        <a:t>Data Privacy Blocking and Deletion Marking</a:t>
                      </a:r>
                    </a:p>
                  </a:txBody>
                  <a:tcPr/>
                </a:tc>
                <a:tc>
                  <a:txBody>
                    <a:bodyPr/>
                    <a:lstStyle/>
                    <a:p>
                      <a:pPr>
                        <a:defRPr sz="600" b="0">
                          <a:latin typeface="IBM Plex Sans Regular (Body)"/>
                        </a:defRPr>
                      </a:pPr>
                      <a:r>
                        <a:rPr sz="900"/>
                        <a:t>As a data protection officer, the user wants to block processing and mark business partners for deletion according to retention rules so that privacy requirements are met.</a:t>
                      </a:r>
                    </a:p>
                  </a:txBody>
                  <a:tcPr/>
                </a:tc>
                <a:tc>
                  <a:txBody>
                    <a:bodyPr/>
                    <a:lstStyle/>
                    <a:p>
                      <a:pPr>
                        <a:defRPr sz="600" b="0">
                          <a:latin typeface="IBM Plex Sans Regular (Body)"/>
                        </a:defRPr>
                      </a:pPr>
                      <a:r>
                        <a:rPr sz="900"/>
                        <a:t>Business partner can be blocked for all processing with a reason code and effective date Mark for deletion can be set at general, company code, and sales area level independently Blocked and deletion-marked records are excluded from operational selection in standard transactions and APIs Archiving eligibility is determined and flagged according to configured residence rules Audit log records user, timestamp, and reason for block and deletion mark changes</a:t>
                      </a:r>
                    </a:p>
                  </a:txBody>
                  <a:tcPr/>
                </a:tc>
                <a:tc>
                  <a:txBody>
                    <a:bodyPr/>
                    <a:lstStyle/>
                    <a:p>
                      <a:pPr>
                        <a:defRPr sz="600" b="0">
                          <a:latin typeface="IBM Plex Sans Regular (Body)"/>
                        </a:defRPr>
                      </a:pPr>
                      <a:endParaRPr sz="900"/>
                    </a:p>
                  </a:txBody>
                  <a:tcPr/>
                </a:tc>
                <a:extLst>
                  <a:ext uri="{0D108BD9-81ED-4DB2-BD59-A6C34878D82A}">
                    <a16:rowId xmlns:a16="http://schemas.microsoft.com/office/drawing/2014/main" val="10008"/>
                  </a:ext>
                </a:extLst>
              </a:tr>
              <a:tr h="571500">
                <a:tc>
                  <a:txBody>
                    <a:bodyPr/>
                    <a:lstStyle/>
                    <a:p>
                      <a:pPr>
                        <a:defRPr sz="600" b="0">
                          <a:latin typeface="IBM Plex Sans Regular (Body)"/>
                        </a:defRPr>
                      </a:pPr>
                      <a:r>
                        <a:rPr sz="900"/>
                        <a:t>Outbound Replication to Customer Engagement Systems</a:t>
                      </a:r>
                    </a:p>
                  </a:txBody>
                  <a:tcPr/>
                </a:tc>
                <a:tc>
                  <a:txBody>
                    <a:bodyPr/>
                    <a:lstStyle/>
                    <a:p>
                      <a:pPr>
                        <a:defRPr sz="600" b="0">
                          <a:latin typeface="IBM Plex Sans Regular (Body)"/>
                        </a:defRPr>
                      </a:pPr>
                      <a:r>
                        <a:rPr sz="900"/>
                        <a:t>As an integration manager, the user wants to replicate business partner data to external customer engagement systems so that agents have up-to-date customer profiles.</a:t>
                      </a:r>
                    </a:p>
                  </a:txBody>
                  <a:tcPr/>
                </a:tc>
                <a:tc>
                  <a:txBody>
                    <a:bodyPr/>
                    <a:lstStyle/>
                    <a:p>
                      <a:pPr>
                        <a:defRPr sz="600" b="0">
                          <a:latin typeface="IBM Plex Sans Regular (Body)"/>
                        </a:defRPr>
                      </a:pPr>
                      <a:r>
                        <a:rPr sz="900"/>
                        <a:t>BP create and change events trigger outbound messages via DRF or API_BUSINESS_PARTNER Payload contains required identification, address, contact, role, and credit attributes as per interface contract Successful calls return HTTP 201 or equivalent and failures are logged with retriable error handling Delta updates only transmit changed fields with correct timestamps and sequence End-to-end replication is verifiable via monitoring with no pending errors after processing</a:t>
                      </a:r>
                    </a:p>
                  </a:txBody>
                  <a:tcPr/>
                </a:tc>
                <a:tc>
                  <a:txBody>
                    <a:bodyPr/>
                    <a:lstStyle/>
                    <a:p>
                      <a:pPr>
                        <a:defRPr sz="600" b="0">
                          <a:latin typeface="IBM Plex Sans Regular (Body)"/>
                        </a:defRPr>
                      </a:pPr>
                      <a:endParaRPr sz="900"/>
                    </a:p>
                  </a:txBody>
                  <a:tcPr/>
                </a:tc>
                <a:extLst>
                  <a:ext uri="{0D108BD9-81ED-4DB2-BD59-A6C34878D82A}">
                    <a16:rowId xmlns:a16="http://schemas.microsoft.com/office/drawing/2014/main" val="10009"/>
                  </a:ext>
                </a:extLst>
              </a:tr>
              <a:tr h="571500">
                <a:tc>
                  <a:txBody>
                    <a:bodyPr/>
                    <a:lstStyle/>
                    <a:p>
                      <a:pPr>
                        <a:defRPr sz="600" b="0">
                          <a:latin typeface="IBM Plex Sans Regular (Body)"/>
                        </a:defRPr>
                      </a:pPr>
                      <a:r>
                        <a:rPr sz="900"/>
                        <a:t>Controlled Change with Approval and Audit</a:t>
                      </a:r>
                    </a:p>
                  </a:txBody>
                  <a:tcPr/>
                </a:tc>
                <a:tc>
                  <a:txBody>
                    <a:bodyPr/>
                    <a:lstStyle/>
                    <a:p>
                      <a:pPr>
                        <a:defRPr sz="600" b="0">
                          <a:latin typeface="IBM Plex Sans Regular (Body)"/>
                        </a:defRPr>
                      </a:pPr>
                      <a:r>
                        <a:rPr sz="900"/>
                        <a:t>As a master data steward, the user wants business partner changes to follow a controlled approval process with full auditability so that data quality and compliance are maintained.</a:t>
                      </a:r>
                    </a:p>
                  </a:txBody>
                  <a:tcPr/>
                </a:tc>
                <a:tc>
                  <a:txBody>
                    <a:bodyPr/>
                    <a:lstStyle/>
                    <a:p>
                      <a:pPr>
                        <a:defRPr sz="600" b="0">
                          <a:latin typeface="IBM Plex Sans Regular (Body)"/>
                        </a:defRPr>
                      </a:pPr>
                      <a:r>
                        <a:rPr sz="900"/>
                        <a:t>Change requests are created for critical fields and routed to approvers based on rules Changes are not active until approval is granted; rejected requests do not alter active data All field-level changes are captured with old and new values, user, timestamp, and approval outcome Segregation of duties is enforced so creators cannot approve their own changes Reports and APIs can retrieve the full change history for any BP over a specified period</a:t>
                      </a:r>
                    </a:p>
                  </a:txBody>
                  <a:tcPr/>
                </a:tc>
                <a:tc>
                  <a:txBody>
                    <a:bodyPr/>
                    <a:lstStyle/>
                    <a:p>
                      <a:pPr>
                        <a:defRPr sz="600" b="0">
                          <a:latin typeface="IBM Plex Sans Regular (Body)"/>
                        </a:defRPr>
                      </a:pPr>
                      <a:endParaRPr sz="900"/>
                    </a:p>
                  </a:txBody>
                  <a:tcPr/>
                </a:tc>
                <a:extLst>
                  <a:ext uri="{0D108BD9-81ED-4DB2-BD59-A6C34878D82A}">
                    <a16:rowId xmlns:a16="http://schemas.microsoft.com/office/drawing/2014/main" val="10010"/>
                  </a:ext>
                </a:extLst>
              </a:tr>
            </a:tbl>
          </a:graphicData>
        </a:graphic>
      </p:graphicFrame>
      <p:sp>
        <p:nvSpPr>
          <p:cNvPr id="5" name="Rectangle 4">
            <a:extLst>
              <a:ext uri="{FF2B5EF4-FFF2-40B4-BE49-F238E27FC236}">
                <a16:creationId xmlns:a16="http://schemas.microsoft.com/office/drawing/2014/main" id="{8F0736AE-12C3-460E-C07D-18283DC2204A}"/>
              </a:ext>
            </a:extLst>
          </p:cNvPr>
          <p:cNvSpPr/>
          <p:nvPr/>
        </p:nvSpPr>
        <p:spPr>
          <a:xfrm>
            <a:off x="8371490" y="-174734"/>
            <a:ext cx="1972002" cy="914399"/>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Workshop Deck Generator</a:t>
            </a:r>
            <a:endParaRPr lang="en-US"/>
          </a:p>
        </p:txBody>
      </p:sp>
    </p:spTree>
    <p:extLst>
      <p:ext uri="{BB962C8B-B14F-4D97-AF65-F5344CB8AC3E}">
        <p14:creationId xmlns:p14="http://schemas.microsoft.com/office/powerpoint/2010/main" val="928417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04800" y="152400"/>
            <a:ext cx="11582400" cy="381000"/>
          </a:xfrm>
          <a:prstGeom prst="rect">
            <a:avLst/>
          </a:prstGeom>
          <a:noFill/>
        </p:spPr>
        <p:txBody>
          <a:bodyPr wrap="square">
            <a:spAutoFit/>
          </a:bodyPr>
          <a:lstStyle/>
          <a:p>
            <a:pPr algn="l">
              <a:defRPr sz="1800" b="1">
                <a:solidFill>
                  <a:srgbClr val="000000"/>
                </a:solidFill>
                <a:latin typeface="IBM Plex Sans Regular (Body)"/>
              </a:defRPr>
            </a:pPr>
            <a:r>
              <a:rPr lang="en-US"/>
              <a:t>Display Business Partner</a:t>
            </a:r>
          </a:p>
        </p:txBody>
      </p:sp>
      <p:graphicFrame>
        <p:nvGraphicFramePr>
          <p:cNvPr id="3" name="Table 2"/>
          <p:cNvGraphicFramePr>
            <a:graphicFrameLocks noGrp="1"/>
          </p:cNvGraphicFramePr>
          <p:nvPr>
            <p:extLst>
              <p:ext uri="{D42A27DB-BD31-4B8C-83A1-F6EECF244321}">
                <p14:modId xmlns:p14="http://schemas.microsoft.com/office/powerpoint/2010/main" val="460401182"/>
              </p:ext>
            </p:extLst>
          </p:nvPr>
        </p:nvGraphicFramePr>
        <p:xfrm>
          <a:off x="304800" y="609600"/>
          <a:ext cx="11582400" cy="93878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638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28600">
                <a:tc>
                  <a:txBody>
                    <a:bodyPr/>
                    <a:lstStyle/>
                    <a:p>
                      <a:pPr>
                        <a:defRPr sz="800" b="1">
                          <a:latin typeface="IBM Plex Sans Regular (Body)"/>
                        </a:defRPr>
                      </a:pPr>
                      <a:r>
                        <a:rPr lang="en-US" sz="1000"/>
                        <a:t>User Story Name</a:t>
                      </a:r>
                    </a:p>
                  </a:txBody>
                  <a:tcPr/>
                </a:tc>
                <a:tc>
                  <a:txBody>
                    <a:bodyPr/>
                    <a:lstStyle/>
                    <a:p>
                      <a:pPr>
                        <a:defRPr sz="800" b="1">
                          <a:latin typeface="IBM Plex Sans Regular (Body)"/>
                        </a:defRPr>
                      </a:pPr>
                      <a:r>
                        <a:rPr lang="en-US" sz="1000"/>
                        <a:t>User Story Description</a:t>
                      </a:r>
                    </a:p>
                  </a:txBody>
                  <a:tcPr/>
                </a:tc>
                <a:tc>
                  <a:txBody>
                    <a:bodyPr/>
                    <a:lstStyle/>
                    <a:p>
                      <a:pPr>
                        <a:defRPr sz="800" b="1">
                          <a:latin typeface="IBM Plex Sans Regular (Body)"/>
                        </a:defRPr>
                      </a:pPr>
                      <a:r>
                        <a:rPr lang="en-US" sz="1000"/>
                        <a:t>Acceptance Criteria</a:t>
                      </a:r>
                    </a:p>
                  </a:txBody>
                  <a:tcPr/>
                </a:tc>
                <a:tc>
                  <a:txBody>
                    <a:bodyPr/>
                    <a:lstStyle/>
                    <a:p>
                      <a:pPr>
                        <a:defRPr sz="800" b="1">
                          <a:latin typeface="IBM Plex Sans Regular (Body)"/>
                        </a:defRPr>
                      </a:pPr>
                      <a:r>
                        <a:rPr lang="en-US" sz="1000"/>
                        <a:t>Process ID</a:t>
                      </a:r>
                    </a:p>
                  </a:txBody>
                  <a:tcPr/>
                </a:tc>
                <a:extLst>
                  <a:ext uri="{0D108BD9-81ED-4DB2-BD59-A6C34878D82A}">
                    <a16:rowId xmlns:a16="http://schemas.microsoft.com/office/drawing/2014/main" val="10000"/>
                  </a:ext>
                </a:extLst>
              </a:tr>
              <a:tr h="571500">
                <a:tc>
                  <a:txBody>
                    <a:bodyPr/>
                    <a:lstStyle/>
                    <a:p>
                      <a:pPr>
                        <a:defRPr sz="600" b="0">
                          <a:latin typeface="IBM Plex Sans Regular (Body)"/>
                        </a:defRPr>
                      </a:pPr>
                      <a:r>
                        <a:rPr lang="en-US" sz="1000"/>
                        <a:t>Verify Business Partner Identity During Customer Contact</a:t>
                      </a:r>
                    </a:p>
                  </a:txBody>
                  <a:tcPr/>
                </a:tc>
                <a:tc>
                  <a:txBody>
                    <a:bodyPr/>
                    <a:lstStyle/>
                    <a:p>
                      <a:pPr>
                        <a:defRPr sz="600" b="0">
                          <a:latin typeface="IBM Plex Sans Regular (Body)"/>
                        </a:defRPr>
                      </a:pPr>
                      <a:r>
                        <a:rPr lang="en-US" sz="1000"/>
                        <a:t>As a customer service representative, the user wants to quickly display the correct business partner record so that the interaction can proceed with verified identity and accurate context.</a:t>
                      </a:r>
                    </a:p>
                  </a:txBody>
                  <a:tcPr/>
                </a:tc>
                <a:tc>
                  <a:txBody>
                    <a:bodyPr/>
                    <a:lstStyle/>
                    <a:p>
                      <a:pPr>
                        <a:defRPr sz="600" b="0">
                          <a:latin typeface="IBM Plex Sans Regular (Body)"/>
                        </a:defRPr>
                      </a:pPr>
                      <a:r>
                        <a:rPr lang="en-US" sz="1000"/>
                        <a:t>System supports search by BP number, name, contract account, service address, email, phone, and tax ID with exact, wildcard, and phonetic options Search returns matching BPs with number, name, status, city, and primary role within 3 seconds for up to 50,000 records Selecting a record opens BP display in read-only mode with no edit actions visible Displayed header shows BP number, lifecycle status, BP grouping, and account group where applicable Audit log records user ID, timestamp, and BP number for each display event</a:t>
                      </a:r>
                    </a:p>
                  </a:txBody>
                  <a:tcPr/>
                </a:tc>
                <a:tc>
                  <a:txBody>
                    <a:bodyPr/>
                    <a:lstStyle/>
                    <a:p>
                      <a:pPr>
                        <a:defRPr sz="600" b="0">
                          <a:latin typeface="IBM Plex Sans Regular (Body)"/>
                        </a:defRPr>
                      </a:pPr>
                      <a:endParaRPr lang="en-US" sz="1000"/>
                    </a:p>
                  </a:txBody>
                  <a:tcPr/>
                </a:tc>
                <a:extLst>
                  <a:ext uri="{0D108BD9-81ED-4DB2-BD59-A6C34878D82A}">
                    <a16:rowId xmlns:a16="http://schemas.microsoft.com/office/drawing/2014/main" val="10001"/>
                  </a:ext>
                </a:extLst>
              </a:tr>
              <a:tr h="571500">
                <a:tc>
                  <a:txBody>
                    <a:bodyPr/>
                    <a:lstStyle/>
                    <a:p>
                      <a:pPr>
                        <a:defRPr sz="600" b="0">
                          <a:latin typeface="IBM Plex Sans Regular (Body)"/>
                        </a:defRPr>
                      </a:pPr>
                      <a:r>
                        <a:rPr sz="1000"/>
                        <a:t>Display Utilities-Specific BP Context</a:t>
                      </a:r>
                    </a:p>
                  </a:txBody>
                  <a:tcPr/>
                </a:tc>
                <a:tc>
                  <a:txBody>
                    <a:bodyPr/>
                    <a:lstStyle/>
                    <a:p>
                      <a:pPr>
                        <a:defRPr sz="600" b="0">
                          <a:latin typeface="IBM Plex Sans Regular (Body)"/>
                        </a:defRPr>
                      </a:pPr>
                      <a:r>
                        <a:rPr sz="1000"/>
                        <a:t>As a customer service representative, the user wants to display utilities-specific structures linked to the business partner so that service context is immediately available during the interaction.</a:t>
                      </a:r>
                    </a:p>
                  </a:txBody>
                  <a:tcPr/>
                </a:tc>
                <a:tc>
                  <a:txBody>
                    <a:bodyPr/>
                    <a:lstStyle/>
                    <a:p>
                      <a:pPr>
                        <a:defRPr sz="600" b="0">
                          <a:latin typeface="IBM Plex Sans Regular (Body)"/>
                        </a:defRPr>
                      </a:pPr>
                      <a:r>
                        <a:rPr sz="1000"/>
                        <a:t>BP display shows linked contract accounts with company code, status, dunning level, and main payment method BP display shows contracts with status, contract account, division, rate category, and validity dates BP display shows associated premises, connection objects, and installations with supply status Navigation links open related objects (contract account, contract, premise) in display mode in the same session All counts and links reflect current data as of display time without caching discrepancies</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2"/>
                  </a:ext>
                </a:extLst>
              </a:tr>
              <a:tr h="571500">
                <a:tc>
                  <a:txBody>
                    <a:bodyPr/>
                    <a:lstStyle/>
                    <a:p>
                      <a:pPr>
                        <a:defRPr sz="600" b="0">
                          <a:latin typeface="IBM Plex Sans Regular (Body)"/>
                        </a:defRPr>
                      </a:pPr>
                      <a:r>
                        <a:rPr sz="1000"/>
                        <a:t>Display Contact and Communication Data</a:t>
                      </a:r>
                    </a:p>
                  </a:txBody>
                  <a:tcPr/>
                </a:tc>
                <a:tc>
                  <a:txBody>
                    <a:bodyPr/>
                    <a:lstStyle/>
                    <a:p>
                      <a:pPr>
                        <a:defRPr sz="600" b="0">
                          <a:latin typeface="IBM Plex Sans Regular (Body)"/>
                        </a:defRPr>
                      </a:pPr>
                      <a:r>
                        <a:rPr sz="1000"/>
                        <a:t>As a customer service representative, the user wants to display verified contact and communication channels for the business partner so that outreach is compliant and effective.</a:t>
                      </a:r>
                    </a:p>
                  </a:txBody>
                  <a:tcPr/>
                </a:tc>
                <a:tc>
                  <a:txBody>
                    <a:bodyPr/>
                    <a:lstStyle/>
                    <a:p>
                      <a:pPr>
                        <a:defRPr sz="600" b="0">
                          <a:latin typeface="IBM Plex Sans Regular (Body)"/>
                        </a:defRPr>
                      </a:pPr>
                      <a:r>
                        <a:rPr sz="1000"/>
                        <a:t>BP display shows primary and alternative addresses with validity periods and address usage BP display shows phone, mobile, email, and preferred communication channel with do-not-contact indicators Time zone and language are displayed for call scheduling and correspondence selection Data origin and last change user/timestamp are visible for each communication field Masked display of sensitive fields follows authorization settings while preserving search usability</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3"/>
                  </a:ext>
                </a:extLst>
              </a:tr>
              <a:tr h="571500">
                <a:tc>
                  <a:txBody>
                    <a:bodyPr/>
                    <a:lstStyle/>
                    <a:p>
                      <a:pPr>
                        <a:defRPr sz="600" b="0">
                          <a:latin typeface="IBM Plex Sans Regular (Body)"/>
                        </a:defRPr>
                      </a:pPr>
                      <a:r>
                        <a:rPr sz="1000"/>
                        <a:t>Display Billing and Receivables Snapshot</a:t>
                      </a:r>
                    </a:p>
                  </a:txBody>
                  <a:tcPr/>
                </a:tc>
                <a:tc>
                  <a:txBody>
                    <a:bodyPr/>
                    <a:lstStyle/>
                    <a:p>
                      <a:pPr>
                        <a:defRPr sz="600" b="0">
                          <a:latin typeface="IBM Plex Sans Regular (Body)"/>
                        </a:defRPr>
                      </a:pPr>
                      <a:r>
                        <a:rPr sz="1000"/>
                        <a:t>As a billing specialist, the user wants to display the receivables status linked to the business partner so that billing-related inquiries are answered accurately.</a:t>
                      </a:r>
                    </a:p>
                  </a:txBody>
                  <a:tcPr/>
                </a:tc>
                <a:tc>
                  <a:txBody>
                    <a:bodyPr/>
                    <a:lstStyle/>
                    <a:p>
                      <a:pPr>
                        <a:defRPr sz="600" b="0">
                          <a:latin typeface="IBM Plex Sans Regular (Body)"/>
                        </a:defRPr>
                      </a:pPr>
                      <a:r>
                        <a:rPr sz="1000"/>
                        <a:t>Open item summary shows total open, overdue, and disputed amounts by contract account currency Dunning status shows current dunning level, last dunned date, dunning lock indicator, and reason Payment behavior shows last payment date, amount, payment method, and any active promise-to-pay All figures reconcile to FI-CA totals as of current posting date with no more than 5 seconds latency Access respects authorization objects restricting financial data visibility</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4"/>
                  </a:ext>
                </a:extLst>
              </a:tr>
              <a:tr h="571500">
                <a:tc>
                  <a:txBody>
                    <a:bodyPr/>
                    <a:lstStyle/>
                    <a:p>
                      <a:pPr>
                        <a:defRPr sz="600" b="0">
                          <a:latin typeface="IBM Plex Sans Regular (Body)"/>
                        </a:defRPr>
                      </a:pPr>
                      <a:r>
                        <a:rPr sz="1000"/>
                        <a:t>Display Credit Profile and Exposure</a:t>
                      </a:r>
                    </a:p>
                  </a:txBody>
                  <a:tcPr/>
                </a:tc>
                <a:tc>
                  <a:txBody>
                    <a:bodyPr/>
                    <a:lstStyle/>
                    <a:p>
                      <a:pPr>
                        <a:defRPr sz="600" b="0">
                          <a:latin typeface="IBM Plex Sans Regular (Body)"/>
                        </a:defRPr>
                      </a:pPr>
                      <a:r>
                        <a:rPr sz="1000"/>
                        <a:t>As a credit analyst, the user wants to display the business partner’s credit profile so that credit-sensitive decisions are informed and compliant.</a:t>
                      </a:r>
                    </a:p>
                  </a:txBody>
                  <a:tcPr/>
                </a:tc>
                <a:tc>
                  <a:txBody>
                    <a:bodyPr/>
                    <a:lstStyle/>
                    <a:p>
                      <a:pPr>
                        <a:defRPr sz="600" b="0">
                          <a:latin typeface="IBM Plex Sans Regular (Body)"/>
                        </a:defRPr>
                      </a:pPr>
                      <a:r>
                        <a:rPr sz="1000"/>
                        <a:t>Credit segment and risk class are displayed with effective dates Credit limit and current exposure are shown per segment with utilization percentage Block indicators for order, delivery, and billing are displayed with reason codes Score, rating source, and last review date are displayed when available Values match SAP Credit Management data at time of display</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5"/>
                  </a:ext>
                </a:extLst>
              </a:tr>
              <a:tr h="571500">
                <a:tc>
                  <a:txBody>
                    <a:bodyPr/>
                    <a:lstStyle/>
                    <a:p>
                      <a:pPr>
                        <a:defRPr sz="600" b="0">
                          <a:latin typeface="IBM Plex Sans Regular (Body)"/>
                        </a:defRPr>
                      </a:pPr>
                      <a:r>
                        <a:rPr sz="1000"/>
                        <a:t>Display Roles and Relationships</a:t>
                      </a:r>
                    </a:p>
                  </a:txBody>
                  <a:tcPr/>
                </a:tc>
                <a:tc>
                  <a:txBody>
                    <a:bodyPr/>
                    <a:lstStyle/>
                    <a:p>
                      <a:pPr>
                        <a:defRPr sz="600" b="0">
                          <a:latin typeface="IBM Plex Sans Regular (Body)"/>
                        </a:defRPr>
                      </a:pPr>
                      <a:r>
                        <a:rPr sz="1000"/>
                        <a:t>As a data steward, the user wants to display business partner roles and relationships so that downstream process impact is understood.</a:t>
                      </a:r>
                    </a:p>
                  </a:txBody>
                  <a:tcPr/>
                </a:tc>
                <a:tc>
                  <a:txBody>
                    <a:bodyPr/>
                    <a:lstStyle/>
                    <a:p>
                      <a:pPr>
                        <a:defRPr sz="600" b="0">
                          <a:latin typeface="IBM Plex Sans Regular (Body)"/>
                        </a:defRPr>
                      </a:pPr>
                      <a:r>
                        <a:rPr sz="1000"/>
                        <a:t>All assigned BP roles are listed with validity periods and organizational data where applicable Customer hierarchy, payer, bill-to, and contact person relationships display role, partner function, and validity Relationship navigation opens linked BP records in display mode Inconsistencies such as overlapping or expired validities are flagged visually Displayed data aligns with table relationships in real time without stale cache</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6"/>
                  </a:ext>
                </a:extLst>
              </a:tr>
              <a:tr h="571500">
                <a:tc>
                  <a:txBody>
                    <a:bodyPr/>
                    <a:lstStyle/>
                    <a:p>
                      <a:pPr>
                        <a:defRPr sz="600" b="0">
                          <a:latin typeface="IBM Plex Sans Regular (Body)"/>
                        </a:defRPr>
                      </a:pPr>
                      <a:r>
                        <a:rPr sz="1000"/>
                        <a:t>Display Data Privacy and Consent Indicators</a:t>
                      </a:r>
                    </a:p>
                  </a:txBody>
                  <a:tcPr/>
                </a:tc>
                <a:tc>
                  <a:txBody>
                    <a:bodyPr/>
                    <a:lstStyle/>
                    <a:p>
                      <a:pPr>
                        <a:defRPr sz="600" b="0">
                          <a:latin typeface="IBM Plex Sans Regular (Body)"/>
                        </a:defRPr>
                      </a:pPr>
                      <a:r>
                        <a:rPr sz="1000"/>
                        <a:t>As a compliance officer, the user wants to display data privacy settings and consents for the business partner so that interactions comply with regulatory requirements.</a:t>
                      </a:r>
                    </a:p>
                  </a:txBody>
                  <a:tcPr/>
                </a:tc>
                <a:tc>
                  <a:txBody>
                    <a:bodyPr/>
                    <a:lstStyle/>
                    <a:p>
                      <a:pPr>
                        <a:defRPr sz="600" b="0">
                          <a:latin typeface="IBM Plex Sans Regular (Body)"/>
                        </a:defRPr>
                      </a:pPr>
                      <a:r>
                        <a:rPr sz="1000"/>
                        <a:t>Data protection lock and retention category indicators are displayed with scope and effective dates Marketing consent and channel-specific opt-in/opt-out statuses are displayed with source and timestamp Tax identification numbers and exemption certificates are displayed with jurisdiction and validity System prevents exposure of fields restricted by data privacy roles and masking rules Display includes last privacy audit event with user and timestamp</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7"/>
                  </a:ext>
                </a:extLst>
              </a:tr>
              <a:tr h="571500">
                <a:tc>
                  <a:txBody>
                    <a:bodyPr/>
                    <a:lstStyle/>
                    <a:p>
                      <a:pPr>
                        <a:defRPr sz="600" b="0">
                          <a:latin typeface="IBM Plex Sans Regular (Body)"/>
                        </a:defRPr>
                      </a:pPr>
                      <a:r>
                        <a:rPr sz="1000"/>
                        <a:t>Display Recent Interaction History</a:t>
                      </a:r>
                    </a:p>
                  </a:txBody>
                  <a:tcPr/>
                </a:tc>
                <a:tc>
                  <a:txBody>
                    <a:bodyPr/>
                    <a:lstStyle/>
                    <a:p>
                      <a:pPr>
                        <a:defRPr sz="600" b="0">
                          <a:latin typeface="IBM Plex Sans Regular (Body)"/>
                        </a:defRPr>
                      </a:pPr>
                      <a:r>
                        <a:rPr sz="1000"/>
                        <a:t>As a customer service representative, the user wants to display recent interactions associated to the business partner so that the current inquiry is handled with full context.</a:t>
                      </a:r>
                    </a:p>
                  </a:txBody>
                  <a:tcPr/>
                </a:tc>
                <a:tc>
                  <a:txBody>
                    <a:bodyPr/>
                    <a:lstStyle/>
                    <a:p>
                      <a:pPr>
                        <a:defRPr sz="600" b="0">
                          <a:latin typeface="IBM Plex Sans Regular (Body)"/>
                        </a:defRPr>
                      </a:pPr>
                      <a:r>
                        <a:rPr sz="1000"/>
                        <a:t>List shows last 12 months of interactions with date, channel, category, status, and reference object Filtering by channel, category, and status is available and responds within 2 seconds Selecting an interaction opens the interaction record in display mode Notes and attachments indicators are visible; content opens read-only per authorization Interaction count and details reconcile with service records for the BP</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8"/>
                  </a:ext>
                </a:extLst>
              </a:tr>
              <a:tr h="571500">
                <a:tc>
                  <a:txBody>
                    <a:bodyPr/>
                    <a:lstStyle/>
                    <a:p>
                      <a:pPr>
                        <a:defRPr sz="600" b="0">
                          <a:latin typeface="IBM Plex Sans Regular (Body)"/>
                        </a:defRPr>
                      </a:pPr>
                      <a:r>
                        <a:rPr sz="1000"/>
                        <a:t>Enforce Display-Only Authorization Controls</a:t>
                      </a:r>
                    </a:p>
                  </a:txBody>
                  <a:tcPr/>
                </a:tc>
                <a:tc>
                  <a:txBody>
                    <a:bodyPr/>
                    <a:lstStyle/>
                    <a:p>
                      <a:pPr>
                        <a:defRPr sz="600" b="0">
                          <a:latin typeface="IBM Plex Sans Regular (Body)"/>
                        </a:defRPr>
                      </a:pPr>
                      <a:r>
                        <a:rPr sz="1000"/>
                        <a:t>As a security administrator, the user wants display of business partner data to be restricted to authorized users so that confidentiality and segregation of duties are maintained.</a:t>
                      </a:r>
                    </a:p>
                  </a:txBody>
                  <a:tcPr/>
                </a:tc>
                <a:tc>
                  <a:txBody>
                    <a:bodyPr/>
                    <a:lstStyle/>
                    <a:p>
                      <a:pPr>
                        <a:defRPr sz="600" b="0">
                          <a:latin typeface="IBM Plex Sans Regular (Body)"/>
                        </a:defRPr>
                      </a:pPr>
                      <a:r>
                        <a:rPr sz="1000"/>
                        <a:t>Users without display authorization cannot open BP records and receive a standardized authorization error Users with display authorization cannot access edit actions, mass change, or API write endpoints from the display app Field-level masking applies to sensitive attributes based on authorization objects and roles All access attempts are logged with user, timestamp, BP number, and outcome Authorization changes take effect immediately without requiring client restart</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9"/>
                  </a:ext>
                </a:extLst>
              </a:tr>
              <a:tr h="571500">
                <a:tc>
                  <a:txBody>
                    <a:bodyPr/>
                    <a:lstStyle/>
                    <a:p>
                      <a:pPr>
                        <a:defRPr sz="600" b="0">
                          <a:latin typeface="IBM Plex Sans Regular (Body)"/>
                        </a:defRPr>
                      </a:pPr>
                      <a:r>
                        <a:rPr sz="1000"/>
                        <a:t>Display Data Quality and Completeness Indicators</a:t>
                      </a:r>
                    </a:p>
                  </a:txBody>
                  <a:tcPr/>
                </a:tc>
                <a:tc>
                  <a:txBody>
                    <a:bodyPr/>
                    <a:lstStyle/>
                    <a:p>
                      <a:pPr>
                        <a:defRPr sz="600" b="0">
                          <a:latin typeface="IBM Plex Sans Regular (Body)"/>
                        </a:defRPr>
                      </a:pPr>
                      <a:r>
                        <a:rPr sz="1000"/>
                        <a:t>As a data steward, the user wants to display data quality indicators for the business partner so that remediation actions can be prioritized.</a:t>
                      </a:r>
                    </a:p>
                  </a:txBody>
                  <a:tcPr/>
                </a:tc>
                <a:tc>
                  <a:txBody>
                    <a:bodyPr/>
                    <a:lstStyle/>
                    <a:p>
                      <a:pPr>
                        <a:defRPr sz="600" b="0">
                          <a:latin typeface="IBM Plex Sans Regular (Body)"/>
                        </a:defRPr>
                      </a:pPr>
                      <a:r>
                        <a:rPr sz="1000"/>
                        <a:t>Completeness score is displayed based on configured mandatory/conditional attributes for assigned roles Duplicate check status and potential duplicate references are displayed with confidence score Address validation status and last validation date are displayed Inconsistencies such as mismatched tax jurisdiction or invalid contact channels are highlighted Indicators update in real time upon data changes made in upstream systems</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10"/>
                  </a:ext>
                </a:extLst>
              </a:tr>
            </a:tbl>
          </a:graphicData>
        </a:graphic>
      </p:graphicFrame>
      <p:sp>
        <p:nvSpPr>
          <p:cNvPr id="5" name="Rectangle 4">
            <a:extLst>
              <a:ext uri="{FF2B5EF4-FFF2-40B4-BE49-F238E27FC236}">
                <a16:creationId xmlns:a16="http://schemas.microsoft.com/office/drawing/2014/main" id="{0039CD98-B662-04ED-841C-3E245D2D4F14}"/>
              </a:ext>
            </a:extLst>
          </p:cNvPr>
          <p:cNvSpPr/>
          <p:nvPr/>
        </p:nvSpPr>
        <p:spPr>
          <a:xfrm>
            <a:off x="8371490" y="-174734"/>
            <a:ext cx="1972002" cy="914399"/>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Workshop Deck Generator</a:t>
            </a:r>
            <a:endParaRPr lang="en-US"/>
          </a:p>
        </p:txBody>
      </p:sp>
    </p:spTree>
    <p:extLst>
      <p:ext uri="{BB962C8B-B14F-4D97-AF65-F5344CB8AC3E}">
        <p14:creationId xmlns:p14="http://schemas.microsoft.com/office/powerpoint/2010/main" val="34688378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04800" y="152400"/>
            <a:ext cx="11582400" cy="381000"/>
          </a:xfrm>
          <a:prstGeom prst="rect">
            <a:avLst/>
          </a:prstGeom>
          <a:noFill/>
        </p:spPr>
        <p:txBody>
          <a:bodyPr wrap="square">
            <a:spAutoFit/>
          </a:bodyPr>
          <a:lstStyle/>
          <a:p>
            <a:pPr algn="l">
              <a:defRPr sz="1800" b="1">
                <a:solidFill>
                  <a:srgbClr val="000000"/>
                </a:solidFill>
                <a:latin typeface="IBM Plex Sans Regular (Body)"/>
              </a:defRPr>
            </a:pPr>
            <a:r>
              <a:rPr lang="en-US"/>
              <a:t>Display Invoices</a:t>
            </a:r>
          </a:p>
        </p:txBody>
      </p:sp>
      <p:graphicFrame>
        <p:nvGraphicFramePr>
          <p:cNvPr id="3" name="Table 2"/>
          <p:cNvGraphicFramePr>
            <a:graphicFrameLocks noGrp="1"/>
          </p:cNvGraphicFramePr>
          <p:nvPr>
            <p:extLst>
              <p:ext uri="{D42A27DB-BD31-4B8C-83A1-F6EECF244321}">
                <p14:modId xmlns:p14="http://schemas.microsoft.com/office/powerpoint/2010/main" val="3794204446"/>
              </p:ext>
            </p:extLst>
          </p:nvPr>
        </p:nvGraphicFramePr>
        <p:xfrm>
          <a:off x="304800" y="609600"/>
          <a:ext cx="11582400" cy="101803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638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28600">
                <a:tc>
                  <a:txBody>
                    <a:bodyPr/>
                    <a:lstStyle/>
                    <a:p>
                      <a:pPr>
                        <a:defRPr sz="800" b="1">
                          <a:latin typeface="IBM Plex Sans Regular (Body)"/>
                        </a:defRPr>
                      </a:pPr>
                      <a:r>
                        <a:rPr lang="en-US" sz="1000"/>
                        <a:t>User Story Name</a:t>
                      </a:r>
                    </a:p>
                  </a:txBody>
                  <a:tcPr/>
                </a:tc>
                <a:tc>
                  <a:txBody>
                    <a:bodyPr/>
                    <a:lstStyle/>
                    <a:p>
                      <a:pPr>
                        <a:defRPr sz="800" b="1">
                          <a:latin typeface="IBM Plex Sans Regular (Body)"/>
                        </a:defRPr>
                      </a:pPr>
                      <a:r>
                        <a:rPr lang="en-US" sz="1000"/>
                        <a:t>User Story Description</a:t>
                      </a:r>
                    </a:p>
                  </a:txBody>
                  <a:tcPr/>
                </a:tc>
                <a:tc>
                  <a:txBody>
                    <a:bodyPr/>
                    <a:lstStyle/>
                    <a:p>
                      <a:pPr>
                        <a:defRPr sz="800" b="1">
                          <a:latin typeface="IBM Plex Sans Regular (Body)"/>
                        </a:defRPr>
                      </a:pPr>
                      <a:r>
                        <a:rPr lang="en-US" sz="1000"/>
                        <a:t>Acceptance Criteria</a:t>
                      </a:r>
                    </a:p>
                  </a:txBody>
                  <a:tcPr/>
                </a:tc>
                <a:tc>
                  <a:txBody>
                    <a:bodyPr/>
                    <a:lstStyle/>
                    <a:p>
                      <a:pPr>
                        <a:defRPr sz="800" b="1">
                          <a:latin typeface="IBM Plex Sans Regular (Body)"/>
                        </a:defRPr>
                      </a:pPr>
                      <a:r>
                        <a:rPr lang="en-US" sz="1000"/>
                        <a:t>Process ID</a:t>
                      </a:r>
                    </a:p>
                  </a:txBody>
                  <a:tcPr/>
                </a:tc>
                <a:extLst>
                  <a:ext uri="{0D108BD9-81ED-4DB2-BD59-A6C34878D82A}">
                    <a16:rowId xmlns:a16="http://schemas.microsoft.com/office/drawing/2014/main" val="10000"/>
                  </a:ext>
                </a:extLst>
              </a:tr>
              <a:tr h="476250">
                <a:tc>
                  <a:txBody>
                    <a:bodyPr/>
                    <a:lstStyle/>
                    <a:p>
                      <a:pPr>
                        <a:defRPr sz="600" b="0">
                          <a:latin typeface="IBM Plex Sans Regular (Body)"/>
                        </a:defRPr>
                      </a:pPr>
                      <a:r>
                        <a:rPr lang="en-US" sz="1000"/>
                        <a:t>Search and Display Customer Invoices</a:t>
                      </a:r>
                    </a:p>
                  </a:txBody>
                  <a:tcPr/>
                </a:tc>
                <a:tc>
                  <a:txBody>
                    <a:bodyPr/>
                    <a:lstStyle/>
                    <a:p>
                      <a:pPr>
                        <a:defRPr sz="600" b="0">
                          <a:latin typeface="IBM Plex Sans Regular (Body)"/>
                        </a:defRPr>
                      </a:pPr>
                      <a:r>
                        <a:rPr lang="en-US" sz="1000"/>
                        <a:t>As a customer service representative, the user wants to search and display invoices for a customer so that inquiries can be resolved quickly and accurately.</a:t>
                      </a:r>
                    </a:p>
                  </a:txBody>
                  <a:tcPr/>
                </a:tc>
                <a:tc>
                  <a:txBody>
                    <a:bodyPr/>
                    <a:lstStyle/>
                    <a:p>
                      <a:pPr>
                        <a:defRPr sz="600" b="0">
                          <a:latin typeface="IBM Plex Sans Regular (Body)"/>
                        </a:defRPr>
                      </a:pPr>
                      <a:r>
                        <a:rPr lang="en-US" sz="1000"/>
                        <a:t>User can search by Business Partner, Contract Account, Invoice Number, Company Code, and Billing/Posting Date range Search returns only invoices the user is authorized to view based on assigned company codes and contract accounts Search results show Invoice Number, Document Date, Posting Date, Company Code, Currency, Gross Amount, Open Amount, Status, and Due Date Results can be sorted by Posting Date, Due Date, and Amount Results refresh within 3 seconds for up to 500 invoices</a:t>
                      </a:r>
                    </a:p>
                  </a:txBody>
                  <a:tcPr/>
                </a:tc>
                <a:tc>
                  <a:txBody>
                    <a:bodyPr/>
                    <a:lstStyle/>
                    <a:p>
                      <a:pPr>
                        <a:defRPr sz="600" b="0">
                          <a:latin typeface="IBM Plex Sans Regular (Body)"/>
                        </a:defRPr>
                      </a:pPr>
                      <a:endParaRPr lang="en-US" sz="1000"/>
                    </a:p>
                  </a:txBody>
                  <a:tcPr/>
                </a:tc>
                <a:extLst>
                  <a:ext uri="{0D108BD9-81ED-4DB2-BD59-A6C34878D82A}">
                    <a16:rowId xmlns:a16="http://schemas.microsoft.com/office/drawing/2014/main" val="10001"/>
                  </a:ext>
                </a:extLst>
              </a:tr>
              <a:tr h="476250">
                <a:tc>
                  <a:txBody>
                    <a:bodyPr/>
                    <a:lstStyle/>
                    <a:p>
                      <a:pPr>
                        <a:defRPr sz="600" b="0">
                          <a:latin typeface="IBM Plex Sans Regular (Body)"/>
                        </a:defRPr>
                      </a:pPr>
                      <a:r>
                        <a:rPr sz="1000"/>
                        <a:t>View Invoice Header and Line-Item Details</a:t>
                      </a:r>
                    </a:p>
                  </a:txBody>
                  <a:tcPr/>
                </a:tc>
                <a:tc>
                  <a:txBody>
                    <a:bodyPr/>
                    <a:lstStyle/>
                    <a:p>
                      <a:pPr>
                        <a:defRPr sz="600" b="0">
                          <a:latin typeface="IBM Plex Sans Regular (Body)"/>
                        </a:defRPr>
                      </a:pPr>
                      <a:r>
                        <a:rPr sz="1000"/>
                        <a:t>As a customer service representative, the user wants to view invoice header and line-item details so that billing components and totals can be verified.</a:t>
                      </a:r>
                    </a:p>
                  </a:txBody>
                  <a:tcPr/>
                </a:tc>
                <a:tc>
                  <a:txBody>
                    <a:bodyPr/>
                    <a:lstStyle/>
                    <a:p>
                      <a:pPr>
                        <a:defRPr sz="600" b="0">
                          <a:latin typeface="IBM Plex Sans Regular (Body)"/>
                        </a:defRPr>
                      </a:pPr>
                      <a:r>
                        <a:rPr sz="1000"/>
                        <a:t>Invoice detail displays Billing Period Start/End, Document Date, Posting Date, Payment Terms, Payment Method, and Payer Line items show description, quantity/consumption, tariff or rate, net amount, tax, and total Totals reconcile: sum of line items plus taxes equals gross amount Displayed currency matches document currency and amounts align with FI-CA document Tax details show tax code, tax base, and tax amount per applicable jurisdiction</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2"/>
                  </a:ext>
                </a:extLst>
              </a:tr>
              <a:tr h="476250">
                <a:tc>
                  <a:txBody>
                    <a:bodyPr/>
                    <a:lstStyle/>
                    <a:p>
                      <a:pPr>
                        <a:defRPr sz="600" b="0">
                          <a:latin typeface="IBM Plex Sans Regular (Body)"/>
                        </a:defRPr>
                      </a:pPr>
                      <a:r>
                        <a:rPr sz="1000"/>
                        <a:t>Display Invoice Status and Collections Indicators</a:t>
                      </a:r>
                    </a:p>
                  </a:txBody>
                  <a:tcPr/>
                </a:tc>
                <a:tc>
                  <a:txBody>
                    <a:bodyPr/>
                    <a:lstStyle/>
                    <a:p>
                      <a:pPr>
                        <a:defRPr sz="600" b="0">
                          <a:latin typeface="IBM Plex Sans Regular (Body)"/>
                        </a:defRPr>
                      </a:pPr>
                      <a:r>
                        <a:rPr sz="1000"/>
                        <a:t>As a customer service representative, the user wants to see invoice payment status and collections indicators so that the account situation can be communicated accurately.</a:t>
                      </a:r>
                    </a:p>
                  </a:txBody>
                  <a:tcPr/>
                </a:tc>
                <a:tc>
                  <a:txBody>
                    <a:bodyPr/>
                    <a:lstStyle/>
                    <a:p>
                      <a:pPr>
                        <a:defRPr sz="600" b="0">
                          <a:latin typeface="IBM Plex Sans Regular (Body)"/>
                        </a:defRPr>
                      </a:pPr>
                      <a:r>
                        <a:rPr sz="1000"/>
                        <a:t>Invoice shows Open, Partially Paid, Paid, Reversed, or Cancelled status Invoice displays Dunning Level, Dunning Block, and Dunning Date when applicable Open Amount and Cleared Amount reflect latest clearing documents Due Date and Days Past Due are calculated based on payment terms and posting date Collections-relevant flags are visible when the invoice is included in active collections</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3"/>
                  </a:ext>
                </a:extLst>
              </a:tr>
              <a:tr h="476250">
                <a:tc>
                  <a:txBody>
                    <a:bodyPr/>
                    <a:lstStyle/>
                    <a:p>
                      <a:pPr>
                        <a:defRPr sz="600" b="0">
                          <a:latin typeface="IBM Plex Sans Regular (Body)"/>
                        </a:defRPr>
                      </a:pPr>
                      <a:r>
                        <a:rPr sz="1000"/>
                        <a:t>Navigate to Related Documents</a:t>
                      </a:r>
                    </a:p>
                  </a:txBody>
                  <a:tcPr/>
                </a:tc>
                <a:tc>
                  <a:txBody>
                    <a:bodyPr/>
                    <a:lstStyle/>
                    <a:p>
                      <a:pPr>
                        <a:defRPr sz="600" b="0">
                          <a:latin typeface="IBM Plex Sans Regular (Body)"/>
                        </a:defRPr>
                      </a:pPr>
                      <a:r>
                        <a:rPr sz="1000"/>
                        <a:t>As an accounts receivable specialist, the user wants to navigate from an invoice to related billing and FI-CA documents so that payment and clearing details can be validated.</a:t>
                      </a:r>
                    </a:p>
                  </a:txBody>
                  <a:tcPr/>
                </a:tc>
                <a:tc>
                  <a:txBody>
                    <a:bodyPr/>
                    <a:lstStyle/>
                    <a:p>
                      <a:pPr>
                        <a:defRPr sz="600" b="0">
                          <a:latin typeface="IBM Plex Sans Regular (Body)"/>
                        </a:defRPr>
                      </a:pPr>
                      <a:r>
                        <a:rPr sz="1000"/>
                        <a:t>From invoice detail, user can open the linked Billing Document and Metering/Billing data From invoice detail, user can open the FI-CA Document and related Clearing Items Related Credit Memo, Reversal, and Rebill documents are visible with document numbers and dates Document flow shows predecessor and successor relationships Navigation respects user authorization for each related document</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4"/>
                  </a:ext>
                </a:extLst>
              </a:tr>
              <a:tr h="476250">
                <a:tc>
                  <a:txBody>
                    <a:bodyPr/>
                    <a:lstStyle/>
                    <a:p>
                      <a:pPr>
                        <a:defRPr sz="600" b="0">
                          <a:latin typeface="IBM Plex Sans Regular (Body)"/>
                        </a:defRPr>
                      </a:pPr>
                      <a:r>
                        <a:rPr sz="1000"/>
                        <a:t>Generate and Send Invoice PDF Copy</a:t>
                      </a:r>
                    </a:p>
                  </a:txBody>
                  <a:tcPr/>
                </a:tc>
                <a:tc>
                  <a:txBody>
                    <a:bodyPr/>
                    <a:lstStyle/>
                    <a:p>
                      <a:pPr>
                        <a:defRPr sz="600" b="0">
                          <a:latin typeface="IBM Plex Sans Regular (Body)"/>
                        </a:defRPr>
                      </a:pPr>
                      <a:r>
                        <a:rPr sz="1000"/>
                        <a:t>As a customer service representative, the user wants to generate and send a PDF copy of an invoice so that the customer receives an accurate duplicate for reference.</a:t>
                      </a:r>
                    </a:p>
                  </a:txBody>
                  <a:tcPr/>
                </a:tc>
                <a:tc>
                  <a:txBody>
                    <a:bodyPr/>
                    <a:lstStyle/>
                    <a:p>
                      <a:pPr>
                        <a:defRPr sz="600" b="0">
                          <a:latin typeface="IBM Plex Sans Regular (Body)"/>
                        </a:defRPr>
                      </a:pPr>
                      <a:r>
                        <a:rPr sz="1000"/>
                        <a:t>User can render the official invoice form as PDF matching the posted document totals PDF reflects current correspondence language from Business Partner master User can email the PDF to the correspondence email stored on the account with optional ad-hoc email entry if permitted A correspondence log entry is created with timestamp, recipient, and document reference Email sending failures provide an actionable error and do not update the correspondence log as sent</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5"/>
                  </a:ext>
                </a:extLst>
              </a:tr>
              <a:tr h="476250">
                <a:tc>
                  <a:txBody>
                    <a:bodyPr/>
                    <a:lstStyle/>
                    <a:p>
                      <a:pPr>
                        <a:defRPr sz="600" b="0">
                          <a:latin typeface="IBM Plex Sans Regular (Body)"/>
                        </a:defRPr>
                      </a:pPr>
                      <a:r>
                        <a:rPr sz="1000"/>
                        <a:t>Display Cancellation and Rebill Relationships</a:t>
                      </a:r>
                    </a:p>
                  </a:txBody>
                  <a:tcPr/>
                </a:tc>
                <a:tc>
                  <a:txBody>
                    <a:bodyPr/>
                    <a:lstStyle/>
                    <a:p>
                      <a:pPr>
                        <a:defRPr sz="600" b="0">
                          <a:latin typeface="IBM Plex Sans Regular (Body)"/>
                        </a:defRPr>
                      </a:pPr>
                      <a:r>
                        <a:rPr sz="1000"/>
                        <a:t>As a billing analyst, the user wants to view cancellation and rebill relationships for invoices so that billing corrections can be explained and verified.</a:t>
                      </a:r>
                    </a:p>
                  </a:txBody>
                  <a:tcPr/>
                </a:tc>
                <a:tc>
                  <a:txBody>
                    <a:bodyPr/>
                    <a:lstStyle/>
                    <a:p>
                      <a:pPr>
                        <a:defRPr sz="600" b="0">
                          <a:latin typeface="IBM Plex Sans Regular (Body)"/>
                        </a:defRPr>
                      </a:pPr>
                      <a:r>
                        <a:rPr sz="1000"/>
                        <a:t>Cancelled invoices display the cancellation document number and reason Rebilled invoices display predecessor and successor invoice numbers Net customer impact shows original amount, reversal amount, and new amount Only active, posted documents are included in the relationship view Tooltips or details show cancellation reason codes and descriptions</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6"/>
                  </a:ext>
                </a:extLst>
              </a:tr>
              <a:tr h="476250">
                <a:tc>
                  <a:txBody>
                    <a:bodyPr/>
                    <a:lstStyle/>
                    <a:p>
                      <a:pPr>
                        <a:defRPr sz="600" b="0">
                          <a:latin typeface="IBM Plex Sans Regular (Body)"/>
                        </a:defRPr>
                      </a:pPr>
                      <a:r>
                        <a:rPr sz="1000"/>
                        <a:t>Display Metering and Consumption Context</a:t>
                      </a:r>
                    </a:p>
                  </a:txBody>
                  <a:tcPr/>
                </a:tc>
                <a:tc>
                  <a:txBody>
                    <a:bodyPr/>
                    <a:lstStyle/>
                    <a:p>
                      <a:pPr>
                        <a:defRPr sz="600" b="0">
                          <a:latin typeface="IBM Plex Sans Regular (Body)"/>
                        </a:defRPr>
                      </a:pPr>
                      <a:r>
                        <a:rPr sz="1000"/>
                        <a:t>As a call center agent, the user wants to view meter reading periods and consumption used for an invoice so that consumption-related disputes can be addressed.</a:t>
                      </a:r>
                    </a:p>
                  </a:txBody>
                  <a:tcPr/>
                </a:tc>
                <a:tc>
                  <a:txBody>
                    <a:bodyPr/>
                    <a:lstStyle/>
                    <a:p>
                      <a:pPr>
                        <a:defRPr sz="600" b="0">
                          <a:latin typeface="IBM Plex Sans Regular (Body)"/>
                        </a:defRPr>
                      </a:pPr>
                      <a:r>
                        <a:rPr sz="1000"/>
                        <a:t>Invoice detail shows meter reading period start/end and billing cycle Consumption quantities and units are displayed per register or service Applied tariff or price component references are visible for each consumption line Links to underlying meter readings and estimation indicators are available Time-of-use and seasonal factors are displayed when applicable</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7"/>
                  </a:ext>
                </a:extLst>
              </a:tr>
              <a:tr h="476250">
                <a:tc>
                  <a:txBody>
                    <a:bodyPr/>
                    <a:lstStyle/>
                    <a:p>
                      <a:pPr>
                        <a:defRPr sz="600" b="0">
                          <a:latin typeface="IBM Plex Sans Regular (Body)"/>
                        </a:defRPr>
                      </a:pPr>
                      <a:r>
                        <a:rPr sz="1000"/>
                        <a:t>Invoice Aging and Dunning View</a:t>
                      </a:r>
                    </a:p>
                  </a:txBody>
                  <a:tcPr/>
                </a:tc>
                <a:tc>
                  <a:txBody>
                    <a:bodyPr/>
                    <a:lstStyle/>
                    <a:p>
                      <a:pPr>
                        <a:defRPr sz="600" b="0">
                          <a:latin typeface="IBM Plex Sans Regular (Body)"/>
                        </a:defRPr>
                      </a:pPr>
                      <a:r>
                        <a:rPr sz="1000"/>
                        <a:t>As a credit controller, the user wants to view invoice-level aging and dunning history so that collection actions can be prioritized.</a:t>
                      </a:r>
                    </a:p>
                  </a:txBody>
                  <a:tcPr/>
                </a:tc>
                <a:tc>
                  <a:txBody>
                    <a:bodyPr/>
                    <a:lstStyle/>
                    <a:p>
                      <a:pPr>
                        <a:defRPr sz="600" b="0">
                          <a:latin typeface="IBM Plex Sans Regular (Body)"/>
                        </a:defRPr>
                      </a:pPr>
                      <a:r>
                        <a:rPr sz="1000"/>
                        <a:t>Aging buckets are shown for the invoice based on company code configuration Dunning history lists level changes with dates and notices sent Promise-to-pay or payment arrangement status is indicated when linked to the invoice Aging recalculates in real time using current system date Export includes aging bucket and dunning level for selected invoices</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8"/>
                  </a:ext>
                </a:extLst>
              </a:tr>
              <a:tr h="476250">
                <a:tc>
                  <a:txBody>
                    <a:bodyPr/>
                    <a:lstStyle/>
                    <a:p>
                      <a:pPr>
                        <a:defRPr sz="600" b="0">
                          <a:latin typeface="IBM Plex Sans Regular (Body)"/>
                        </a:defRPr>
                      </a:pPr>
                      <a:r>
                        <a:rPr sz="1000"/>
                        <a:t>Authorization and Data Protection Controls</a:t>
                      </a:r>
                    </a:p>
                  </a:txBody>
                  <a:tcPr/>
                </a:tc>
                <a:tc>
                  <a:txBody>
                    <a:bodyPr/>
                    <a:lstStyle/>
                    <a:p>
                      <a:pPr>
                        <a:defRPr sz="600" b="0">
                          <a:latin typeface="IBM Plex Sans Regular (Body)"/>
                        </a:defRPr>
                      </a:pPr>
                      <a:r>
                        <a:rPr sz="1000"/>
                        <a:t>As a customer service supervisor, the user wants invoice display to enforce role-based access and data protection so that sensitive information is safeguarded.</a:t>
                      </a:r>
                    </a:p>
                  </a:txBody>
                  <a:tcPr/>
                </a:tc>
                <a:tc>
                  <a:txBody>
                    <a:bodyPr/>
                    <a:lstStyle/>
                    <a:p>
                      <a:pPr>
                        <a:defRPr sz="600" b="0">
                          <a:latin typeface="IBM Plex Sans Regular (Body)"/>
                        </a:defRPr>
                      </a:pPr>
                      <a:r>
                        <a:rPr sz="1000"/>
                        <a:t>Users can only display invoices for authorized company codes, contract accounts, and divisions Attempt to access unauthorized invoices is blocked with an explicit authorization error Personally identifiable contact data is masked when the user role requires masking Download and email actions are disabled when the user lacks the corresponding authorization All display and send actions are logged with user ID, timestamp, and document number</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09"/>
                  </a:ext>
                </a:extLst>
              </a:tr>
              <a:tr h="476250">
                <a:tc>
                  <a:txBody>
                    <a:bodyPr/>
                    <a:lstStyle/>
                    <a:p>
                      <a:pPr>
                        <a:defRPr sz="600" b="0">
                          <a:latin typeface="IBM Plex Sans Regular (Body)"/>
                        </a:defRPr>
                      </a:pPr>
                      <a:r>
                        <a:rPr sz="1000"/>
                        <a:t>Export Invoice List</a:t>
                      </a:r>
                    </a:p>
                  </a:txBody>
                  <a:tcPr/>
                </a:tc>
                <a:tc>
                  <a:txBody>
                    <a:bodyPr/>
                    <a:lstStyle/>
                    <a:p>
                      <a:pPr>
                        <a:defRPr sz="600" b="0">
                          <a:latin typeface="IBM Plex Sans Regular (Body)"/>
                        </a:defRPr>
                      </a:pPr>
                      <a:r>
                        <a:rPr sz="1000"/>
                        <a:t>As a billing analyst, the user wants to export the filtered invoice list so that external analysis can be performed.</a:t>
                      </a:r>
                    </a:p>
                  </a:txBody>
                  <a:tcPr/>
                </a:tc>
                <a:tc>
                  <a:txBody>
                    <a:bodyPr/>
                    <a:lstStyle/>
                    <a:p>
                      <a:pPr>
                        <a:defRPr sz="600" b="0">
                          <a:latin typeface="IBM Plex Sans Regular (Body)"/>
                        </a:defRPr>
                      </a:pPr>
                      <a:r>
                        <a:rPr sz="1000"/>
                        <a:t>User can export the current result set to CSV with applied filters Export includes selected columns: Invoice Number, Posting Date, Due Date, Currency, Gross Amount, Open Amount, Status, Dunning Level Export respects authorization and excludes restricted invoices File encoding is UTF-8 and numeric fields use a period as decimal separator Exports of up to 10,000 rows complete within 10 seconds</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10"/>
                  </a:ext>
                </a:extLst>
              </a:tr>
              <a:tr h="476250">
                <a:tc>
                  <a:txBody>
                    <a:bodyPr/>
                    <a:lstStyle/>
                    <a:p>
                      <a:pPr>
                        <a:defRPr sz="600" b="0">
                          <a:latin typeface="IBM Plex Sans Regular (Body)"/>
                        </a:defRPr>
                      </a:pPr>
                      <a:r>
                        <a:rPr sz="1000"/>
                        <a:t>Multi-Currency and Language Display</a:t>
                      </a:r>
                    </a:p>
                  </a:txBody>
                  <a:tcPr/>
                </a:tc>
                <a:tc>
                  <a:txBody>
                    <a:bodyPr/>
                    <a:lstStyle/>
                    <a:p>
                      <a:pPr>
                        <a:defRPr sz="600" b="0">
                          <a:latin typeface="IBM Plex Sans Regular (Body)"/>
                        </a:defRPr>
                      </a:pPr>
                      <a:r>
                        <a:rPr sz="1000"/>
                        <a:t>As an accounts receivable specialist, the user wants invoices to display in the correct currency and language so that customer communications are consistent with master data.</a:t>
                      </a:r>
                    </a:p>
                  </a:txBody>
                  <a:tcPr/>
                </a:tc>
                <a:tc>
                  <a:txBody>
                    <a:bodyPr/>
                    <a:lstStyle/>
                    <a:p>
                      <a:pPr>
                        <a:defRPr sz="600" b="0">
                          <a:latin typeface="IBM Plex Sans Regular (Body)"/>
                        </a:defRPr>
                      </a:pPr>
                      <a:r>
                        <a:rPr sz="1000"/>
                        <a:t>Invoice amounts display in document currency with a view toggle to local currency Exchange rate date and rate used for local currency are displayed Date, number, and currency formats follow the user’s logon locale PDF output uses the customer’s correspondence language from master data Mixed-currency scenarios show currency per line where applicable</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11"/>
                  </a:ext>
                </a:extLst>
              </a:tr>
              <a:tr h="476250">
                <a:tc>
                  <a:txBody>
                    <a:bodyPr/>
                    <a:lstStyle/>
                    <a:p>
                      <a:pPr>
                        <a:defRPr sz="600" b="0">
                          <a:latin typeface="IBM Plex Sans Regular (Body)"/>
                        </a:defRPr>
                      </a:pPr>
                      <a:r>
                        <a:rPr sz="1000"/>
                        <a:t>Performance and Usability Standards</a:t>
                      </a:r>
                    </a:p>
                  </a:txBody>
                  <a:tcPr/>
                </a:tc>
                <a:tc>
                  <a:txBody>
                    <a:bodyPr/>
                    <a:lstStyle/>
                    <a:p>
                      <a:pPr>
                        <a:defRPr sz="600" b="0">
                          <a:latin typeface="IBM Plex Sans Regular (Body)"/>
                        </a:defRPr>
                      </a:pPr>
                      <a:r>
                        <a:rPr sz="1000"/>
                        <a:t>As a customer experience lead, the user wants invoice display to meet performance and usability standards so that agent handling time is minimized.</a:t>
                      </a:r>
                    </a:p>
                  </a:txBody>
                  <a:tcPr/>
                </a:tc>
                <a:tc>
                  <a:txBody>
                    <a:bodyPr/>
                    <a:lstStyle/>
                    <a:p>
                      <a:pPr>
                        <a:defRPr sz="600" b="0">
                          <a:latin typeface="IBM Plex Sans Regular (Body)"/>
                        </a:defRPr>
                      </a:pPr>
                      <a:r>
                        <a:rPr sz="1000"/>
                        <a:t>Initial invoice list search returns within 3 seconds for up to 500 invoices Invoice detail loads within 2 seconds including line items UI supports column selection and persistent user-specific layouts All fields are accessible via keyboard navigation and screen reader labels are present Session timeouts do not result in partial downloads or corrupt PDF generation</a:t>
                      </a:r>
                    </a:p>
                  </a:txBody>
                  <a:tcPr/>
                </a:tc>
                <a:tc>
                  <a:txBody>
                    <a:bodyPr/>
                    <a:lstStyle/>
                    <a:p>
                      <a:pPr>
                        <a:defRPr sz="600" b="0">
                          <a:latin typeface="IBM Plex Sans Regular (Body)"/>
                        </a:defRPr>
                      </a:pPr>
                      <a:endParaRPr sz="1000"/>
                    </a:p>
                  </a:txBody>
                  <a:tcPr/>
                </a:tc>
                <a:extLst>
                  <a:ext uri="{0D108BD9-81ED-4DB2-BD59-A6C34878D82A}">
                    <a16:rowId xmlns:a16="http://schemas.microsoft.com/office/drawing/2014/main" val="10012"/>
                  </a:ext>
                </a:extLst>
              </a:tr>
            </a:tbl>
          </a:graphicData>
        </a:graphic>
      </p:graphicFrame>
      <p:sp>
        <p:nvSpPr>
          <p:cNvPr id="4" name="Rectangle 3">
            <a:extLst>
              <a:ext uri="{FF2B5EF4-FFF2-40B4-BE49-F238E27FC236}">
                <a16:creationId xmlns:a16="http://schemas.microsoft.com/office/drawing/2014/main" id="{F4F94454-3BF8-F157-7383-DA0E150A0E69}"/>
              </a:ext>
            </a:extLst>
          </p:cNvPr>
          <p:cNvSpPr/>
          <p:nvPr/>
        </p:nvSpPr>
        <p:spPr>
          <a:xfrm>
            <a:off x="8523890" y="-22334"/>
            <a:ext cx="1972002" cy="914399"/>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latin typeface="Montserrat"/>
              </a:rPr>
              <a:t>Workshop Deck Generator</a:t>
            </a:r>
            <a:endParaRPr lang="en-US"/>
          </a:p>
        </p:txBody>
      </p:sp>
    </p:spTree>
    <p:extLst>
      <p:ext uri="{BB962C8B-B14F-4D97-AF65-F5344CB8AC3E}">
        <p14:creationId xmlns:p14="http://schemas.microsoft.com/office/powerpoint/2010/main" val="4145929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18839-C2B4-DE01-C0BC-B9EA86BA288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130418-35EB-D35C-512F-CF63AE52F10A}"/>
              </a:ext>
            </a:extLst>
          </p:cNvPr>
          <p:cNvSpPr>
            <a:spLocks noGrp="1"/>
          </p:cNvSpPr>
          <p:nvPr>
            <p:ph type="title"/>
          </p:nvPr>
        </p:nvSpPr>
        <p:spPr>
          <a:xfrm>
            <a:off x="520544" y="5127738"/>
            <a:ext cx="6613591" cy="612967"/>
          </a:xfrm>
        </p:spPr>
        <p:txBody>
          <a:bodyPr/>
          <a:lstStyle/>
          <a:p>
            <a:r>
              <a:rPr lang="en-US" sz="4250" b="1">
                <a:latin typeface="Montserrat"/>
              </a:rPr>
              <a:t>07</a:t>
            </a:r>
            <a:r>
              <a:rPr lang="en-US" sz="4250">
                <a:latin typeface="Montserrat"/>
              </a:rPr>
              <a:t> 3</a:t>
            </a:r>
            <a:r>
              <a:rPr lang="en-US" sz="4250" baseline="30000">
                <a:latin typeface="Montserrat"/>
              </a:rPr>
              <a:t>rd</a:t>
            </a:r>
            <a:r>
              <a:rPr lang="en-US" sz="4250">
                <a:latin typeface="Montserrat"/>
              </a:rPr>
              <a:t> Party Integration </a:t>
            </a:r>
            <a:br>
              <a:rPr lang="en-US" sz="4250"/>
            </a:br>
            <a:endParaRPr lang="en-US" sz="4250"/>
          </a:p>
        </p:txBody>
      </p:sp>
    </p:spTree>
    <p:extLst>
      <p:ext uri="{BB962C8B-B14F-4D97-AF65-F5344CB8AC3E}">
        <p14:creationId xmlns:p14="http://schemas.microsoft.com/office/powerpoint/2010/main" val="33516407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1C7EB-2025-3482-3E62-316CCB06BE0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68CE16-1C83-C975-FBC9-524241A4E5C9}"/>
              </a:ext>
            </a:extLst>
          </p:cNvPr>
          <p:cNvSpPr>
            <a:spLocks noGrp="1"/>
          </p:cNvSpPr>
          <p:nvPr>
            <p:ph type="title"/>
          </p:nvPr>
        </p:nvSpPr>
        <p:spPr/>
        <p:txBody>
          <a:bodyPr/>
          <a:lstStyle/>
          <a:p>
            <a:r>
              <a:rPr lang="en-US"/>
              <a:t> </a:t>
            </a:r>
          </a:p>
        </p:txBody>
      </p:sp>
      <p:sp>
        <p:nvSpPr>
          <p:cNvPr id="35" name="Title 2">
            <a:extLst>
              <a:ext uri="{FF2B5EF4-FFF2-40B4-BE49-F238E27FC236}">
                <a16:creationId xmlns:a16="http://schemas.microsoft.com/office/drawing/2014/main" id="{031383CB-42DB-C494-B363-D700D596A1CF}"/>
              </a:ext>
            </a:extLst>
          </p:cNvPr>
          <p:cNvSpPr txBox="1">
            <a:spLocks/>
          </p:cNvSpPr>
          <p:nvPr/>
        </p:nvSpPr>
        <p:spPr>
          <a:xfrm>
            <a:off x="414528" y="223923"/>
            <a:ext cx="11375136" cy="609600"/>
          </a:xfrm>
          <a:prstGeom prst="rect">
            <a:avLst/>
          </a:prstGeom>
        </p:spPr>
        <p:txBody>
          <a:bodyPr vert="horz" lIns="0" tIns="45720" rIns="91440" bIns="0" rtlCol="0" anchor="b">
            <a:noAutofit/>
          </a:bodyPr>
          <a:lst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a:lstStyle>
          <a:p>
            <a:r>
              <a:rPr lang="en-US" b="1">
                <a:latin typeface="Montserrat"/>
              </a:rPr>
              <a:t>Direct and Indirect Integrations with CRM &amp; ECC</a:t>
            </a:r>
          </a:p>
        </p:txBody>
      </p:sp>
      <p:sp>
        <p:nvSpPr>
          <p:cNvPr id="10" name="Rectangle 9">
            <a:extLst>
              <a:ext uri="{FF2B5EF4-FFF2-40B4-BE49-F238E27FC236}">
                <a16:creationId xmlns:a16="http://schemas.microsoft.com/office/drawing/2014/main" id="{AE96CABD-60C0-ECA3-92CB-9890F6711421}"/>
              </a:ext>
            </a:extLst>
          </p:cNvPr>
          <p:cNvSpPr/>
          <p:nvPr/>
        </p:nvSpPr>
        <p:spPr>
          <a:xfrm>
            <a:off x="474697" y="2188798"/>
            <a:ext cx="1712344" cy="495156"/>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latin typeface="Montserrat" pitchFamily="2" charset="77"/>
              </a:rPr>
              <a:t>Power App</a:t>
            </a:r>
          </a:p>
        </p:txBody>
      </p:sp>
      <p:sp>
        <p:nvSpPr>
          <p:cNvPr id="23" name="Rectangle 22">
            <a:extLst>
              <a:ext uri="{FF2B5EF4-FFF2-40B4-BE49-F238E27FC236}">
                <a16:creationId xmlns:a16="http://schemas.microsoft.com/office/drawing/2014/main" id="{D96DE3AB-C914-8F22-58AA-D4175309853B}"/>
              </a:ext>
            </a:extLst>
          </p:cNvPr>
          <p:cNvSpPr/>
          <p:nvPr/>
        </p:nvSpPr>
        <p:spPr>
          <a:xfrm>
            <a:off x="474697" y="2936420"/>
            <a:ext cx="1712343" cy="495156"/>
          </a:xfrm>
          <a:prstGeom prst="rect">
            <a:avLst/>
          </a:prstGeom>
          <a:solidFill>
            <a:schemeClr val="accent4"/>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latin typeface="Montserrat" pitchFamily="2" charset="77"/>
              </a:rPr>
              <a:t>DQM</a:t>
            </a:r>
          </a:p>
        </p:txBody>
      </p:sp>
      <p:sp>
        <p:nvSpPr>
          <p:cNvPr id="11" name="Rounded Rectangle 10">
            <a:extLst>
              <a:ext uri="{FF2B5EF4-FFF2-40B4-BE49-F238E27FC236}">
                <a16:creationId xmlns:a16="http://schemas.microsoft.com/office/drawing/2014/main" id="{04119078-CDFE-5685-FDCF-E84DD9C09A51}"/>
              </a:ext>
            </a:extLst>
          </p:cNvPr>
          <p:cNvSpPr/>
          <p:nvPr/>
        </p:nvSpPr>
        <p:spPr>
          <a:xfrm>
            <a:off x="7225083" y="2206641"/>
            <a:ext cx="3573243" cy="2731384"/>
          </a:xfrm>
          <a:prstGeom prst="roundRect">
            <a:avLst>
              <a:gd name="adj" fmla="val 9339"/>
            </a:avLst>
          </a:prstGeom>
          <a:solidFill>
            <a:schemeClr val="accent1">
              <a:lumMod val="20000"/>
              <a:lumOff val="80000"/>
              <a:alpha val="66350"/>
            </a:schemeClr>
          </a:solidFill>
          <a:ln w="38100">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t"/>
          <a:lstStyle/>
          <a:p>
            <a:pPr algn="ctr"/>
            <a:endParaRPr lang="en-US" sz="2800" b="1">
              <a:solidFill>
                <a:schemeClr val="tx1"/>
              </a:solidFill>
              <a:latin typeface="Montserrat"/>
            </a:endParaRPr>
          </a:p>
        </p:txBody>
      </p:sp>
      <p:sp>
        <p:nvSpPr>
          <p:cNvPr id="7" name="Rectangle 6">
            <a:extLst>
              <a:ext uri="{FF2B5EF4-FFF2-40B4-BE49-F238E27FC236}">
                <a16:creationId xmlns:a16="http://schemas.microsoft.com/office/drawing/2014/main" id="{FC8D4B5D-E395-D201-AE89-BCD5B36590C4}"/>
              </a:ext>
            </a:extLst>
          </p:cNvPr>
          <p:cNvSpPr/>
          <p:nvPr/>
        </p:nvSpPr>
        <p:spPr>
          <a:xfrm>
            <a:off x="9120498" y="3575678"/>
            <a:ext cx="1260455" cy="458365"/>
          </a:xfrm>
          <a:prstGeom prst="rect">
            <a:avLst/>
          </a:prstGeom>
          <a:solidFill>
            <a:schemeClr val="accent5"/>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Kubra</a:t>
            </a:r>
          </a:p>
        </p:txBody>
      </p:sp>
      <p:sp>
        <p:nvSpPr>
          <p:cNvPr id="36" name="Rectangle 35">
            <a:extLst>
              <a:ext uri="{FF2B5EF4-FFF2-40B4-BE49-F238E27FC236}">
                <a16:creationId xmlns:a16="http://schemas.microsoft.com/office/drawing/2014/main" id="{039984AC-7F8D-B538-A4C4-0736792B8FC8}"/>
              </a:ext>
            </a:extLst>
          </p:cNvPr>
          <p:cNvSpPr/>
          <p:nvPr/>
        </p:nvSpPr>
        <p:spPr>
          <a:xfrm>
            <a:off x="578011" y="9352031"/>
            <a:ext cx="1097280" cy="377851"/>
          </a:xfrm>
          <a:prstGeom prst="rect">
            <a:avLst/>
          </a:prstGeom>
          <a:solidFill>
            <a:srgbClr val="7030A0"/>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GridX</a:t>
            </a:r>
            <a:r>
              <a:rPr lang="en-US" sz="800">
                <a:latin typeface="Montserrat" pitchFamily="2" charset="77"/>
              </a:rPr>
              <a:t> (Was </a:t>
            </a:r>
            <a:r>
              <a:rPr lang="en-US" sz="800" err="1">
                <a:latin typeface="Montserrat" pitchFamily="2" charset="77"/>
              </a:rPr>
              <a:t>Uplight</a:t>
            </a:r>
            <a:r>
              <a:rPr lang="en-US" sz="800">
                <a:latin typeface="Montserrat" pitchFamily="2" charset="77"/>
              </a:rPr>
              <a:t>)</a:t>
            </a:r>
          </a:p>
        </p:txBody>
      </p:sp>
      <p:sp>
        <p:nvSpPr>
          <p:cNvPr id="44" name="Rectangle 43">
            <a:extLst>
              <a:ext uri="{FF2B5EF4-FFF2-40B4-BE49-F238E27FC236}">
                <a16:creationId xmlns:a16="http://schemas.microsoft.com/office/drawing/2014/main" id="{22295313-FEC6-3D12-B894-4B6C064B9965}"/>
              </a:ext>
            </a:extLst>
          </p:cNvPr>
          <p:cNvSpPr/>
          <p:nvPr/>
        </p:nvSpPr>
        <p:spPr>
          <a:xfrm>
            <a:off x="1793292"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Customer Portal Admin (CE)</a:t>
            </a:r>
          </a:p>
        </p:txBody>
      </p:sp>
      <p:sp>
        <p:nvSpPr>
          <p:cNvPr id="52" name="Rectangle 51">
            <a:extLst>
              <a:ext uri="{FF2B5EF4-FFF2-40B4-BE49-F238E27FC236}">
                <a16:creationId xmlns:a16="http://schemas.microsoft.com/office/drawing/2014/main" id="{0A9A3B7B-3F7F-EFB2-E44A-6ECF93E7B47D}"/>
              </a:ext>
            </a:extLst>
          </p:cNvPr>
          <p:cNvSpPr/>
          <p:nvPr/>
        </p:nvSpPr>
        <p:spPr>
          <a:xfrm>
            <a:off x="2979578"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Mobile Phone Application (Apollo) (CE)</a:t>
            </a:r>
          </a:p>
        </p:txBody>
      </p:sp>
      <p:sp>
        <p:nvSpPr>
          <p:cNvPr id="29" name="Rectangle 28">
            <a:extLst>
              <a:ext uri="{FF2B5EF4-FFF2-40B4-BE49-F238E27FC236}">
                <a16:creationId xmlns:a16="http://schemas.microsoft.com/office/drawing/2014/main" id="{DD5C26CB-EA45-BB8C-CCF7-2387D7D7B9E7}"/>
              </a:ext>
            </a:extLst>
          </p:cNvPr>
          <p:cNvSpPr/>
          <p:nvPr/>
        </p:nvSpPr>
        <p:spPr>
          <a:xfrm>
            <a:off x="4187618" y="9354351"/>
            <a:ext cx="1097280" cy="377851"/>
          </a:xfrm>
          <a:prstGeom prst="rect">
            <a:avLst/>
          </a:prstGeom>
          <a:solidFill>
            <a:schemeClr val="accent2">
              <a:lumMod val="75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OnCourse</a:t>
            </a:r>
            <a:r>
              <a:rPr lang="en-US" sz="800">
                <a:latin typeface="Montserrat" pitchFamily="2" charset="77"/>
              </a:rPr>
              <a:t> Home Solutions (OHS)</a:t>
            </a:r>
          </a:p>
        </p:txBody>
      </p:sp>
      <p:sp>
        <p:nvSpPr>
          <p:cNvPr id="21" name="Rectangle 20">
            <a:extLst>
              <a:ext uri="{FF2B5EF4-FFF2-40B4-BE49-F238E27FC236}">
                <a16:creationId xmlns:a16="http://schemas.microsoft.com/office/drawing/2014/main" id="{67286139-B1ED-0E08-6FED-6C5E9F9F6F1B}"/>
              </a:ext>
            </a:extLst>
          </p:cNvPr>
          <p:cNvSpPr/>
          <p:nvPr/>
        </p:nvSpPr>
        <p:spPr>
          <a:xfrm>
            <a:off x="7659255" y="3591626"/>
            <a:ext cx="1260455" cy="458365"/>
          </a:xfrm>
          <a:prstGeom prst="rect">
            <a:avLst/>
          </a:prstGeom>
          <a:solidFill>
            <a:schemeClr val="accent4">
              <a:lumMod val="60000"/>
              <a:lumOff val="4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err="1">
                <a:latin typeface="Montserrat" pitchFamily="2" charset="77"/>
              </a:rPr>
              <a:t>FiServ</a:t>
            </a:r>
            <a:endParaRPr lang="en-US" sz="1000">
              <a:latin typeface="Montserrat" pitchFamily="2" charset="77"/>
            </a:endParaRPr>
          </a:p>
        </p:txBody>
      </p:sp>
      <p:sp>
        <p:nvSpPr>
          <p:cNvPr id="16" name="Rectangle 15">
            <a:extLst>
              <a:ext uri="{FF2B5EF4-FFF2-40B4-BE49-F238E27FC236}">
                <a16:creationId xmlns:a16="http://schemas.microsoft.com/office/drawing/2014/main" id="{53E34024-068E-F020-1F20-F32ED0A3B298}"/>
              </a:ext>
            </a:extLst>
          </p:cNvPr>
          <p:cNvSpPr/>
          <p:nvPr/>
        </p:nvSpPr>
        <p:spPr>
          <a:xfrm>
            <a:off x="1793292" y="9784059"/>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Helvey</a:t>
            </a:r>
          </a:p>
        </p:txBody>
      </p:sp>
      <p:sp>
        <p:nvSpPr>
          <p:cNvPr id="8" name="Rectangle 7">
            <a:extLst>
              <a:ext uri="{FF2B5EF4-FFF2-40B4-BE49-F238E27FC236}">
                <a16:creationId xmlns:a16="http://schemas.microsoft.com/office/drawing/2014/main" id="{67B924FC-BC63-0139-DADD-DE892BF80E53}"/>
              </a:ext>
            </a:extLst>
          </p:cNvPr>
          <p:cNvSpPr/>
          <p:nvPr/>
        </p:nvSpPr>
        <p:spPr>
          <a:xfrm>
            <a:off x="586365" y="9784059"/>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Paymentus</a:t>
            </a:r>
            <a:endParaRPr lang="en-US" sz="800">
              <a:latin typeface="Montserrat" pitchFamily="2" charset="77"/>
            </a:endParaRPr>
          </a:p>
        </p:txBody>
      </p:sp>
      <p:sp>
        <p:nvSpPr>
          <p:cNvPr id="67" name="Rectangle 66">
            <a:extLst>
              <a:ext uri="{FF2B5EF4-FFF2-40B4-BE49-F238E27FC236}">
                <a16:creationId xmlns:a16="http://schemas.microsoft.com/office/drawing/2014/main" id="{9C4249A7-2CDC-5DF9-6EE4-5BB42EBE24C9}"/>
              </a:ext>
            </a:extLst>
          </p:cNvPr>
          <p:cNvSpPr/>
          <p:nvPr/>
        </p:nvSpPr>
        <p:spPr>
          <a:xfrm>
            <a:off x="4190575" y="9784059"/>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State of Michigan</a:t>
            </a:r>
          </a:p>
        </p:txBody>
      </p:sp>
      <p:sp>
        <p:nvSpPr>
          <p:cNvPr id="70" name="Rectangle 69">
            <a:extLst>
              <a:ext uri="{FF2B5EF4-FFF2-40B4-BE49-F238E27FC236}">
                <a16:creationId xmlns:a16="http://schemas.microsoft.com/office/drawing/2014/main" id="{E0B93E64-C3F2-B089-69A8-5A9FF13B84A6}"/>
              </a:ext>
            </a:extLst>
          </p:cNvPr>
          <p:cNvSpPr/>
          <p:nvPr/>
        </p:nvSpPr>
        <p:spPr>
          <a:xfrm>
            <a:off x="2971224" y="10253482"/>
            <a:ext cx="1097280" cy="377851"/>
          </a:xfrm>
          <a:prstGeom prst="rect">
            <a:avLst/>
          </a:prstGeom>
          <a:solidFill>
            <a:schemeClr val="accent4">
              <a:lumMod val="60000"/>
              <a:lumOff val="4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DebtNext</a:t>
            </a:r>
            <a:endParaRPr lang="en-US" sz="800">
              <a:latin typeface="Montserrat" pitchFamily="2" charset="77"/>
            </a:endParaRPr>
          </a:p>
        </p:txBody>
      </p:sp>
      <p:sp>
        <p:nvSpPr>
          <p:cNvPr id="37" name="Rectangle 36">
            <a:extLst>
              <a:ext uri="{FF2B5EF4-FFF2-40B4-BE49-F238E27FC236}">
                <a16:creationId xmlns:a16="http://schemas.microsoft.com/office/drawing/2014/main" id="{9C481D93-C281-FC71-2FAC-59BBDE90F79D}"/>
              </a:ext>
            </a:extLst>
          </p:cNvPr>
          <p:cNvSpPr/>
          <p:nvPr/>
        </p:nvSpPr>
        <p:spPr>
          <a:xfrm>
            <a:off x="2971224" y="9352031"/>
            <a:ext cx="1097280" cy="377851"/>
          </a:xfrm>
          <a:prstGeom prst="rect">
            <a:avLst/>
          </a:prstGeom>
          <a:solidFill>
            <a:srgbClr val="7030A0"/>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Powerely</a:t>
            </a:r>
            <a:endParaRPr lang="en-US" sz="800">
              <a:latin typeface="Montserrat" pitchFamily="2" charset="77"/>
            </a:endParaRPr>
          </a:p>
        </p:txBody>
      </p:sp>
      <p:sp>
        <p:nvSpPr>
          <p:cNvPr id="14" name="Rectangle 13">
            <a:extLst>
              <a:ext uri="{FF2B5EF4-FFF2-40B4-BE49-F238E27FC236}">
                <a16:creationId xmlns:a16="http://schemas.microsoft.com/office/drawing/2014/main" id="{ECE34F5C-B45B-B10E-A97C-41085F8DECF9}"/>
              </a:ext>
            </a:extLst>
          </p:cNvPr>
          <p:cNvSpPr/>
          <p:nvPr/>
        </p:nvSpPr>
        <p:spPr>
          <a:xfrm>
            <a:off x="5382240"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Lorton</a:t>
            </a:r>
          </a:p>
        </p:txBody>
      </p:sp>
      <p:sp>
        <p:nvSpPr>
          <p:cNvPr id="62" name="Rectangle 61">
            <a:extLst>
              <a:ext uri="{FF2B5EF4-FFF2-40B4-BE49-F238E27FC236}">
                <a16:creationId xmlns:a16="http://schemas.microsoft.com/office/drawing/2014/main" id="{00D6BCD0-6617-74AE-5AFF-A2D864814232}"/>
              </a:ext>
            </a:extLst>
          </p:cNvPr>
          <p:cNvSpPr/>
          <p:nvPr/>
        </p:nvSpPr>
        <p:spPr>
          <a:xfrm>
            <a:off x="1784938" y="9352031"/>
            <a:ext cx="1097280" cy="377851"/>
          </a:xfrm>
          <a:prstGeom prst="rect">
            <a:avLst/>
          </a:prstGeom>
          <a:solidFill>
            <a:srgbClr val="7030A0"/>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Sagewell</a:t>
            </a:r>
            <a:endParaRPr lang="en-US" sz="800">
              <a:latin typeface="Montserrat" pitchFamily="2" charset="77"/>
            </a:endParaRPr>
          </a:p>
        </p:txBody>
      </p:sp>
      <p:sp>
        <p:nvSpPr>
          <p:cNvPr id="86" name="Rectangle 85">
            <a:extLst>
              <a:ext uri="{FF2B5EF4-FFF2-40B4-BE49-F238E27FC236}">
                <a16:creationId xmlns:a16="http://schemas.microsoft.com/office/drawing/2014/main" id="{DD1D7EA8-6974-A136-F680-78EDACCA8839}"/>
              </a:ext>
            </a:extLst>
          </p:cNvPr>
          <p:cNvSpPr/>
          <p:nvPr/>
        </p:nvSpPr>
        <p:spPr>
          <a:xfrm>
            <a:off x="586365" y="10242106"/>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THAW</a:t>
            </a:r>
          </a:p>
        </p:txBody>
      </p:sp>
      <p:sp>
        <p:nvSpPr>
          <p:cNvPr id="19" name="Rectangle 18">
            <a:extLst>
              <a:ext uri="{FF2B5EF4-FFF2-40B4-BE49-F238E27FC236}">
                <a16:creationId xmlns:a16="http://schemas.microsoft.com/office/drawing/2014/main" id="{AD024CB5-FA58-306F-1989-47330FB1A9BB}"/>
              </a:ext>
            </a:extLst>
          </p:cNvPr>
          <p:cNvSpPr/>
          <p:nvPr/>
        </p:nvSpPr>
        <p:spPr>
          <a:xfrm>
            <a:off x="1793292" y="10242106"/>
            <a:ext cx="1097280" cy="377851"/>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DHHS</a:t>
            </a:r>
          </a:p>
        </p:txBody>
      </p:sp>
      <p:sp>
        <p:nvSpPr>
          <p:cNvPr id="34" name="Rectangle 33">
            <a:extLst>
              <a:ext uri="{FF2B5EF4-FFF2-40B4-BE49-F238E27FC236}">
                <a16:creationId xmlns:a16="http://schemas.microsoft.com/office/drawing/2014/main" id="{F4003E20-6B4B-8E7B-09E8-160C75D8D8EC}"/>
              </a:ext>
            </a:extLst>
          </p:cNvPr>
          <p:cNvSpPr/>
          <p:nvPr/>
        </p:nvSpPr>
        <p:spPr>
          <a:xfrm>
            <a:off x="7663028" y="4172802"/>
            <a:ext cx="1254935" cy="447919"/>
          </a:xfrm>
          <a:prstGeom prst="rect">
            <a:avLst/>
          </a:prstGeom>
          <a:solidFill>
            <a:schemeClr val="accent2">
              <a:lumMod val="75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MS (COMET)</a:t>
            </a:r>
          </a:p>
        </p:txBody>
      </p:sp>
      <p:sp>
        <p:nvSpPr>
          <p:cNvPr id="40" name="Rectangle 39">
            <a:extLst>
              <a:ext uri="{FF2B5EF4-FFF2-40B4-BE49-F238E27FC236}">
                <a16:creationId xmlns:a16="http://schemas.microsoft.com/office/drawing/2014/main" id="{18A9686D-F459-8956-70A3-21AF0DBCD9E8}"/>
              </a:ext>
            </a:extLst>
          </p:cNvPr>
          <p:cNvSpPr/>
          <p:nvPr/>
        </p:nvSpPr>
        <p:spPr>
          <a:xfrm>
            <a:off x="586365"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err="1">
                <a:latin typeface="Montserrat" pitchFamily="2" charset="77"/>
              </a:rPr>
              <a:t>CleanPower</a:t>
            </a:r>
            <a:endParaRPr lang="en-US" sz="800">
              <a:latin typeface="Montserrat" pitchFamily="2" charset="77"/>
            </a:endParaRPr>
          </a:p>
        </p:txBody>
      </p:sp>
      <p:sp>
        <p:nvSpPr>
          <p:cNvPr id="75" name="Rectangle 74">
            <a:extLst>
              <a:ext uri="{FF2B5EF4-FFF2-40B4-BE49-F238E27FC236}">
                <a16:creationId xmlns:a16="http://schemas.microsoft.com/office/drawing/2014/main" id="{46DCACCE-5CC7-BB3E-3A0F-EF00632F24C6}"/>
              </a:ext>
            </a:extLst>
          </p:cNvPr>
          <p:cNvSpPr/>
          <p:nvPr/>
        </p:nvSpPr>
        <p:spPr>
          <a:xfrm>
            <a:off x="4187618" y="8918072"/>
            <a:ext cx="1097280" cy="377851"/>
          </a:xfrm>
          <a:prstGeom prst="rect">
            <a:avLst/>
          </a:prstGeom>
          <a:solidFill>
            <a:schemeClr val="accent1">
              <a:lumMod val="5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a:latin typeface="Montserrat" pitchFamily="2" charset="77"/>
              </a:rPr>
              <a:t>DRMS </a:t>
            </a:r>
          </a:p>
        </p:txBody>
      </p:sp>
      <p:sp>
        <p:nvSpPr>
          <p:cNvPr id="27" name="Rectangle 26">
            <a:extLst>
              <a:ext uri="{FF2B5EF4-FFF2-40B4-BE49-F238E27FC236}">
                <a16:creationId xmlns:a16="http://schemas.microsoft.com/office/drawing/2014/main" id="{17C08ED0-71EF-221F-69D9-4944183279D1}"/>
              </a:ext>
            </a:extLst>
          </p:cNvPr>
          <p:cNvSpPr/>
          <p:nvPr/>
        </p:nvSpPr>
        <p:spPr>
          <a:xfrm>
            <a:off x="3801252" y="1481552"/>
            <a:ext cx="2130799" cy="3538849"/>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latin typeface="Montserrat" pitchFamily="2" charset="77"/>
              </a:rPr>
              <a:t>CRM 7</a:t>
            </a:r>
          </a:p>
        </p:txBody>
      </p:sp>
      <p:sp>
        <p:nvSpPr>
          <p:cNvPr id="54" name="TextBox 53">
            <a:extLst>
              <a:ext uri="{FF2B5EF4-FFF2-40B4-BE49-F238E27FC236}">
                <a16:creationId xmlns:a16="http://schemas.microsoft.com/office/drawing/2014/main" id="{BE20C2DC-7C25-6C64-01D4-745BC9BDB06E}"/>
              </a:ext>
            </a:extLst>
          </p:cNvPr>
          <p:cNvSpPr txBox="1"/>
          <p:nvPr/>
        </p:nvSpPr>
        <p:spPr>
          <a:xfrm>
            <a:off x="456090" y="1303505"/>
            <a:ext cx="2332080" cy="584775"/>
          </a:xfrm>
          <a:prstGeom prst="rect">
            <a:avLst/>
          </a:prstGeom>
          <a:noFill/>
          <a:ln>
            <a:noFill/>
          </a:ln>
        </p:spPr>
        <p:txBody>
          <a:bodyPr wrap="square" rtlCol="0">
            <a:spAutoFit/>
          </a:bodyPr>
          <a:lstStyle/>
          <a:p>
            <a:r>
              <a:rPr lang="en-US" sz="1600" b="1">
                <a:latin typeface="Montserrat" pitchFamily="2" charset="77"/>
              </a:rPr>
              <a:t>Direct Integrations With CRM 7</a:t>
            </a:r>
          </a:p>
        </p:txBody>
      </p:sp>
      <p:cxnSp>
        <p:nvCxnSpPr>
          <p:cNvPr id="68" name="Straight Arrow Connector 67">
            <a:extLst>
              <a:ext uri="{FF2B5EF4-FFF2-40B4-BE49-F238E27FC236}">
                <a16:creationId xmlns:a16="http://schemas.microsoft.com/office/drawing/2014/main" id="{BD4BFA3B-5E29-49F6-61BF-D1451E5A46B6}"/>
              </a:ext>
            </a:extLst>
          </p:cNvPr>
          <p:cNvCxnSpPr>
            <a:cxnSpLocks/>
          </p:cNvCxnSpPr>
          <p:nvPr/>
        </p:nvCxnSpPr>
        <p:spPr>
          <a:xfrm>
            <a:off x="2302490" y="3225461"/>
            <a:ext cx="1206862" cy="0"/>
          </a:xfrm>
          <a:prstGeom prst="straightConnector1">
            <a:avLst/>
          </a:prstGeom>
          <a:ln w="57150">
            <a:solidFill>
              <a:schemeClr val="accent4">
                <a:lumMod val="50000"/>
              </a:schemeClr>
            </a:solidFill>
            <a:prstDash val="solid"/>
            <a:headEnd type="arrow"/>
            <a:tailEnd type="arrow"/>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20E8E444-159E-2170-CB17-348FCC7B2D0F}"/>
              </a:ext>
            </a:extLst>
          </p:cNvPr>
          <p:cNvCxnSpPr>
            <a:cxnSpLocks/>
          </p:cNvCxnSpPr>
          <p:nvPr/>
        </p:nvCxnSpPr>
        <p:spPr>
          <a:xfrm>
            <a:off x="2316867" y="2510394"/>
            <a:ext cx="1206862" cy="0"/>
          </a:xfrm>
          <a:prstGeom prst="straightConnector1">
            <a:avLst/>
          </a:prstGeom>
          <a:ln w="57150">
            <a:solidFill>
              <a:schemeClr val="accent4">
                <a:lumMod val="50000"/>
              </a:schemeClr>
            </a:solidFill>
            <a:prstDash val="solid"/>
            <a:headEnd type="arrow"/>
            <a:tailEnd type="arrow"/>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29B2F08-7CFE-CEB0-DDD6-E8813DAE54B2}"/>
              </a:ext>
            </a:extLst>
          </p:cNvPr>
          <p:cNvSpPr txBox="1"/>
          <p:nvPr/>
        </p:nvSpPr>
        <p:spPr>
          <a:xfrm>
            <a:off x="7062051" y="1306153"/>
            <a:ext cx="3699416" cy="584775"/>
          </a:xfrm>
          <a:prstGeom prst="rect">
            <a:avLst/>
          </a:prstGeom>
          <a:noFill/>
          <a:ln>
            <a:noFill/>
          </a:ln>
        </p:spPr>
        <p:txBody>
          <a:bodyPr wrap="square" lIns="91440" tIns="45720" rIns="91440" bIns="45720" rtlCol="0" anchor="t">
            <a:spAutoFit/>
          </a:bodyPr>
          <a:lstStyle/>
          <a:p>
            <a:r>
              <a:rPr lang="en-US" sz="1600" b="1">
                <a:latin typeface="Montserrat"/>
              </a:rPr>
              <a:t>3rd Party Integrations with ECC</a:t>
            </a:r>
            <a:endParaRPr lang="en-US">
              <a:latin typeface="Montserrat"/>
            </a:endParaRPr>
          </a:p>
          <a:p>
            <a:r>
              <a:rPr lang="en-US" sz="1600" b="1">
                <a:latin typeface="Montserrat"/>
              </a:rPr>
              <a:t>(Not an exhaustive List)</a:t>
            </a:r>
            <a:endParaRPr lang="en-US"/>
          </a:p>
        </p:txBody>
      </p:sp>
      <p:sp>
        <p:nvSpPr>
          <p:cNvPr id="32" name="Rectangle 31">
            <a:extLst>
              <a:ext uri="{FF2B5EF4-FFF2-40B4-BE49-F238E27FC236}">
                <a16:creationId xmlns:a16="http://schemas.microsoft.com/office/drawing/2014/main" id="{5956ABBF-5CD1-EEE4-0EB1-CBA90985DF9C}"/>
              </a:ext>
            </a:extLst>
          </p:cNvPr>
          <p:cNvSpPr/>
          <p:nvPr/>
        </p:nvSpPr>
        <p:spPr>
          <a:xfrm>
            <a:off x="8797145" y="9375640"/>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GCI</a:t>
            </a:r>
          </a:p>
        </p:txBody>
      </p:sp>
      <p:sp>
        <p:nvSpPr>
          <p:cNvPr id="26" name="Rectangle 25">
            <a:extLst>
              <a:ext uri="{FF2B5EF4-FFF2-40B4-BE49-F238E27FC236}">
                <a16:creationId xmlns:a16="http://schemas.microsoft.com/office/drawing/2014/main" id="{873AEED1-933C-98B8-89A6-7C434C3A819A}"/>
              </a:ext>
            </a:extLst>
          </p:cNvPr>
          <p:cNvSpPr/>
          <p:nvPr/>
        </p:nvSpPr>
        <p:spPr>
          <a:xfrm>
            <a:off x="9111739" y="4172236"/>
            <a:ext cx="1263895" cy="462320"/>
          </a:xfrm>
          <a:prstGeom prst="rect">
            <a:avLst/>
          </a:prstGeom>
          <a:solidFill>
            <a:schemeClr val="accent2">
              <a:lumMod val="75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err="1">
                <a:latin typeface="Montserrat" pitchFamily="2" charset="77"/>
              </a:rPr>
              <a:t>BillTrust</a:t>
            </a:r>
            <a:endParaRPr lang="en-US" sz="1050">
              <a:latin typeface="Montserrat" pitchFamily="2" charset="77"/>
            </a:endParaRPr>
          </a:p>
        </p:txBody>
      </p:sp>
      <p:sp>
        <p:nvSpPr>
          <p:cNvPr id="57" name="Rectangle 56">
            <a:extLst>
              <a:ext uri="{FF2B5EF4-FFF2-40B4-BE49-F238E27FC236}">
                <a16:creationId xmlns:a16="http://schemas.microsoft.com/office/drawing/2014/main" id="{90CEB06C-1D32-33D2-64A6-CCBE2EC8318C}"/>
              </a:ext>
            </a:extLst>
          </p:cNvPr>
          <p:cNvSpPr/>
          <p:nvPr/>
        </p:nvSpPr>
        <p:spPr>
          <a:xfrm>
            <a:off x="8797145" y="9818728"/>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MISO</a:t>
            </a:r>
          </a:p>
        </p:txBody>
      </p:sp>
      <p:sp>
        <p:nvSpPr>
          <p:cNvPr id="59" name="Rectangle 58">
            <a:extLst>
              <a:ext uri="{FF2B5EF4-FFF2-40B4-BE49-F238E27FC236}">
                <a16:creationId xmlns:a16="http://schemas.microsoft.com/office/drawing/2014/main" id="{B25F7F49-6595-5AB0-1809-105FAD7702F4}"/>
              </a:ext>
            </a:extLst>
          </p:cNvPr>
          <p:cNvSpPr/>
          <p:nvPr/>
        </p:nvSpPr>
        <p:spPr>
          <a:xfrm>
            <a:off x="6561579" y="9818728"/>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err="1">
                <a:latin typeface="Montserrat" pitchFamily="2" charset="77"/>
              </a:rPr>
              <a:t>DegreeDays.Net</a:t>
            </a:r>
            <a:endParaRPr lang="en-US" sz="900">
              <a:latin typeface="Montserrat" pitchFamily="2" charset="77"/>
            </a:endParaRPr>
          </a:p>
        </p:txBody>
      </p:sp>
      <p:sp>
        <p:nvSpPr>
          <p:cNvPr id="61" name="Rectangle 60">
            <a:extLst>
              <a:ext uri="{FF2B5EF4-FFF2-40B4-BE49-F238E27FC236}">
                <a16:creationId xmlns:a16="http://schemas.microsoft.com/office/drawing/2014/main" id="{79CC4301-56E9-5319-7635-158E55531EEC}"/>
              </a:ext>
            </a:extLst>
          </p:cNvPr>
          <p:cNvSpPr/>
          <p:nvPr/>
        </p:nvSpPr>
        <p:spPr>
          <a:xfrm>
            <a:off x="9854831" y="9375639"/>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My Meter is gone</a:t>
            </a:r>
          </a:p>
        </p:txBody>
      </p:sp>
      <p:sp>
        <p:nvSpPr>
          <p:cNvPr id="66" name="Rectangle 65">
            <a:extLst>
              <a:ext uri="{FF2B5EF4-FFF2-40B4-BE49-F238E27FC236}">
                <a16:creationId xmlns:a16="http://schemas.microsoft.com/office/drawing/2014/main" id="{848D3D58-0075-4D72-BA80-7098321BC7F2}"/>
              </a:ext>
            </a:extLst>
          </p:cNvPr>
          <p:cNvSpPr/>
          <p:nvPr/>
        </p:nvSpPr>
        <p:spPr>
          <a:xfrm>
            <a:off x="7688381" y="8932552"/>
            <a:ext cx="1014456" cy="353054"/>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5</a:t>
            </a:r>
            <a:r>
              <a:rPr lang="en-US" sz="900" baseline="30000">
                <a:latin typeface="Montserrat" pitchFamily="2" charset="77"/>
              </a:rPr>
              <a:t>th</a:t>
            </a:r>
            <a:r>
              <a:rPr lang="en-US" sz="900">
                <a:latin typeface="Montserrat" pitchFamily="2" charset="77"/>
              </a:rPr>
              <a:t> and Third</a:t>
            </a:r>
          </a:p>
        </p:txBody>
      </p:sp>
      <p:sp>
        <p:nvSpPr>
          <p:cNvPr id="71" name="Rectangle 70">
            <a:extLst>
              <a:ext uri="{FF2B5EF4-FFF2-40B4-BE49-F238E27FC236}">
                <a16:creationId xmlns:a16="http://schemas.microsoft.com/office/drawing/2014/main" id="{C31D3832-C75F-CD2C-6BB0-C960B530DFF7}"/>
              </a:ext>
            </a:extLst>
          </p:cNvPr>
          <p:cNvSpPr/>
          <p:nvPr/>
        </p:nvSpPr>
        <p:spPr>
          <a:xfrm>
            <a:off x="6561579" y="8932552"/>
            <a:ext cx="1014456" cy="353054"/>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JP Morgan</a:t>
            </a:r>
          </a:p>
        </p:txBody>
      </p:sp>
      <p:sp>
        <p:nvSpPr>
          <p:cNvPr id="72" name="Rectangle 71">
            <a:extLst>
              <a:ext uri="{FF2B5EF4-FFF2-40B4-BE49-F238E27FC236}">
                <a16:creationId xmlns:a16="http://schemas.microsoft.com/office/drawing/2014/main" id="{40F1E827-E0D2-99F1-3ABE-832418F0A02F}"/>
              </a:ext>
            </a:extLst>
          </p:cNvPr>
          <p:cNvSpPr/>
          <p:nvPr/>
        </p:nvSpPr>
        <p:spPr>
          <a:xfrm>
            <a:off x="7688381" y="9375639"/>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ESG</a:t>
            </a:r>
          </a:p>
        </p:txBody>
      </p:sp>
      <p:sp>
        <p:nvSpPr>
          <p:cNvPr id="22" name="Rectangle 21">
            <a:extLst>
              <a:ext uri="{FF2B5EF4-FFF2-40B4-BE49-F238E27FC236}">
                <a16:creationId xmlns:a16="http://schemas.microsoft.com/office/drawing/2014/main" id="{853DD6D1-280C-2FE0-6518-A704A6D4039D}"/>
              </a:ext>
            </a:extLst>
          </p:cNvPr>
          <p:cNvSpPr/>
          <p:nvPr/>
        </p:nvSpPr>
        <p:spPr>
          <a:xfrm>
            <a:off x="7659255" y="2395207"/>
            <a:ext cx="1263895" cy="462322"/>
          </a:xfrm>
          <a:prstGeom prst="rect">
            <a:avLst/>
          </a:prstGeom>
          <a:solidFill>
            <a:schemeClr val="accent1">
              <a:lumMod val="5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a:latin typeface="Montserrat" pitchFamily="2" charset="77"/>
              </a:rPr>
              <a:t>Equifax</a:t>
            </a:r>
          </a:p>
        </p:txBody>
      </p:sp>
      <p:sp>
        <p:nvSpPr>
          <p:cNvPr id="24" name="Rectangle 23">
            <a:extLst>
              <a:ext uri="{FF2B5EF4-FFF2-40B4-BE49-F238E27FC236}">
                <a16:creationId xmlns:a16="http://schemas.microsoft.com/office/drawing/2014/main" id="{16C5B2E1-C763-5BF4-C44F-C10EA42F1615}"/>
              </a:ext>
            </a:extLst>
          </p:cNvPr>
          <p:cNvSpPr/>
          <p:nvPr/>
        </p:nvSpPr>
        <p:spPr>
          <a:xfrm>
            <a:off x="7659255" y="2997010"/>
            <a:ext cx="1263894" cy="447944"/>
          </a:xfrm>
          <a:prstGeom prst="rect">
            <a:avLst/>
          </a:prstGeom>
          <a:solidFill>
            <a:srgbClr val="7030A0"/>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a:latin typeface="Montserrat" pitchFamily="2" charset="77"/>
              </a:rPr>
              <a:t>Honeywell</a:t>
            </a:r>
          </a:p>
        </p:txBody>
      </p:sp>
      <p:sp>
        <p:nvSpPr>
          <p:cNvPr id="31" name="Rectangle 30">
            <a:extLst>
              <a:ext uri="{FF2B5EF4-FFF2-40B4-BE49-F238E27FC236}">
                <a16:creationId xmlns:a16="http://schemas.microsoft.com/office/drawing/2014/main" id="{DC5E3FDA-33F7-EE35-01B8-43273C952ADB}"/>
              </a:ext>
            </a:extLst>
          </p:cNvPr>
          <p:cNvSpPr/>
          <p:nvPr/>
        </p:nvSpPr>
        <p:spPr>
          <a:xfrm>
            <a:off x="9111739" y="2396178"/>
            <a:ext cx="1263894" cy="462322"/>
          </a:xfrm>
          <a:prstGeom prst="rect">
            <a:avLst/>
          </a:prstGeom>
          <a:solidFill>
            <a:schemeClr val="accent1">
              <a:lumMod val="5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err="1">
                <a:latin typeface="Montserrat" pitchFamily="2" charset="77"/>
              </a:rPr>
              <a:t>Riverstar</a:t>
            </a:r>
            <a:endParaRPr lang="en-US" sz="1050">
              <a:latin typeface="Montserrat" pitchFamily="2" charset="77"/>
            </a:endParaRPr>
          </a:p>
        </p:txBody>
      </p:sp>
      <p:sp>
        <p:nvSpPr>
          <p:cNvPr id="45" name="Rectangle 44">
            <a:extLst>
              <a:ext uri="{FF2B5EF4-FFF2-40B4-BE49-F238E27FC236}">
                <a16:creationId xmlns:a16="http://schemas.microsoft.com/office/drawing/2014/main" id="{6710CA1D-3288-EFA2-2B95-7118E4970C1A}"/>
              </a:ext>
            </a:extLst>
          </p:cNvPr>
          <p:cNvSpPr/>
          <p:nvPr/>
        </p:nvSpPr>
        <p:spPr>
          <a:xfrm>
            <a:off x="9111739" y="2990793"/>
            <a:ext cx="1263894" cy="462322"/>
          </a:xfrm>
          <a:prstGeom prst="rect">
            <a:avLst/>
          </a:prstGeom>
          <a:solidFill>
            <a:schemeClr val="accent1">
              <a:lumMod val="50000"/>
            </a:schemeClr>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0">
                <a:latin typeface="Montserrat" pitchFamily="2" charset="77"/>
              </a:rPr>
              <a:t>ISIS</a:t>
            </a:r>
          </a:p>
        </p:txBody>
      </p:sp>
      <p:sp>
        <p:nvSpPr>
          <p:cNvPr id="103" name="Rectangle 102">
            <a:extLst>
              <a:ext uri="{FF2B5EF4-FFF2-40B4-BE49-F238E27FC236}">
                <a16:creationId xmlns:a16="http://schemas.microsoft.com/office/drawing/2014/main" id="{784F114C-AB78-07EE-CB62-3C6AE2423850}"/>
              </a:ext>
            </a:extLst>
          </p:cNvPr>
          <p:cNvSpPr/>
          <p:nvPr/>
        </p:nvSpPr>
        <p:spPr>
          <a:xfrm>
            <a:off x="7688381" y="9818728"/>
            <a:ext cx="1014456" cy="353054"/>
          </a:xfrm>
          <a:prstGeom prst="rect">
            <a:avLst/>
          </a:prstGeom>
          <a:solidFill>
            <a:schemeClr val="accent2">
              <a:lumMod val="75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Itron (In Review)</a:t>
            </a:r>
          </a:p>
        </p:txBody>
      </p:sp>
      <p:sp>
        <p:nvSpPr>
          <p:cNvPr id="30" name="Rectangle 29">
            <a:extLst>
              <a:ext uri="{FF2B5EF4-FFF2-40B4-BE49-F238E27FC236}">
                <a16:creationId xmlns:a16="http://schemas.microsoft.com/office/drawing/2014/main" id="{FA1E794F-4631-CE82-27DF-96FFF32DC587}"/>
              </a:ext>
            </a:extLst>
          </p:cNvPr>
          <p:cNvSpPr/>
          <p:nvPr/>
        </p:nvSpPr>
        <p:spPr>
          <a:xfrm>
            <a:off x="8797145" y="8932553"/>
            <a:ext cx="1014456" cy="353054"/>
          </a:xfrm>
          <a:prstGeom prst="rect">
            <a:avLst/>
          </a:prstGeom>
          <a:solidFill>
            <a:schemeClr val="accent4">
              <a:lumMod val="60000"/>
              <a:lumOff val="40000"/>
            </a:schemeClr>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Harris and Harris</a:t>
            </a:r>
          </a:p>
        </p:txBody>
      </p:sp>
      <p:sp>
        <p:nvSpPr>
          <p:cNvPr id="28" name="Rectangle 27">
            <a:extLst>
              <a:ext uri="{FF2B5EF4-FFF2-40B4-BE49-F238E27FC236}">
                <a16:creationId xmlns:a16="http://schemas.microsoft.com/office/drawing/2014/main" id="{CDAC9B75-77ED-B424-5E41-189F49BCADCA}"/>
              </a:ext>
            </a:extLst>
          </p:cNvPr>
          <p:cNvSpPr/>
          <p:nvPr/>
        </p:nvSpPr>
        <p:spPr>
          <a:xfrm>
            <a:off x="474696" y="3684044"/>
            <a:ext cx="1712343" cy="495156"/>
          </a:xfrm>
          <a:prstGeom prst="rect">
            <a:avLst/>
          </a:prstGeom>
          <a:solidFill>
            <a:schemeClr val="accent4"/>
          </a:solidFill>
          <a:ln w="57150">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b="1" err="1">
                <a:latin typeface="Montserrat"/>
              </a:rPr>
              <a:t>Paymentus</a:t>
            </a:r>
            <a:endParaRPr lang="en-US" sz="1400" b="1" err="1"/>
          </a:p>
        </p:txBody>
      </p:sp>
      <p:cxnSp>
        <p:nvCxnSpPr>
          <p:cNvPr id="17" name="Straight Arrow Connector 16">
            <a:extLst>
              <a:ext uri="{FF2B5EF4-FFF2-40B4-BE49-F238E27FC236}">
                <a16:creationId xmlns:a16="http://schemas.microsoft.com/office/drawing/2014/main" id="{2A3969CE-061E-8745-E85D-563702A60865}"/>
              </a:ext>
            </a:extLst>
          </p:cNvPr>
          <p:cNvCxnSpPr>
            <a:cxnSpLocks/>
          </p:cNvCxnSpPr>
          <p:nvPr/>
        </p:nvCxnSpPr>
        <p:spPr>
          <a:xfrm>
            <a:off x="2359999" y="3933753"/>
            <a:ext cx="1206862" cy="0"/>
          </a:xfrm>
          <a:prstGeom prst="straightConnector1">
            <a:avLst/>
          </a:prstGeom>
          <a:ln w="57150">
            <a:solidFill>
              <a:schemeClr val="accent4">
                <a:lumMod val="50000"/>
              </a:schemeClr>
            </a:solidFill>
            <a:prstDash val="solid"/>
            <a:headEnd type="arrow"/>
            <a:tailEnd type="arrow"/>
          </a:ln>
        </p:spPr>
        <p:style>
          <a:lnRef idx="2">
            <a:schemeClr val="accent1"/>
          </a:lnRef>
          <a:fillRef idx="0">
            <a:schemeClr val="accent1"/>
          </a:fillRef>
          <a:effectRef idx="1">
            <a:schemeClr val="accent1"/>
          </a:effectRef>
          <a:fontRef idx="minor">
            <a:schemeClr val="tx1"/>
          </a:fontRef>
        </p:style>
      </p:cxnSp>
      <p:grpSp>
        <p:nvGrpSpPr>
          <p:cNvPr id="69" name="Group 68">
            <a:extLst>
              <a:ext uri="{FF2B5EF4-FFF2-40B4-BE49-F238E27FC236}">
                <a16:creationId xmlns:a16="http://schemas.microsoft.com/office/drawing/2014/main" id="{6A9C35A3-621A-1025-2955-36D78E2079B0}"/>
              </a:ext>
            </a:extLst>
          </p:cNvPr>
          <p:cNvGrpSpPr/>
          <p:nvPr/>
        </p:nvGrpSpPr>
        <p:grpSpPr>
          <a:xfrm>
            <a:off x="6106369" y="5466270"/>
            <a:ext cx="4880143" cy="641841"/>
            <a:chOff x="6593264" y="5388745"/>
            <a:chExt cx="4436497" cy="776625"/>
          </a:xfrm>
        </p:grpSpPr>
        <p:sp>
          <p:nvSpPr>
            <p:cNvPr id="41" name="Rectangle 40">
              <a:extLst>
                <a:ext uri="{FF2B5EF4-FFF2-40B4-BE49-F238E27FC236}">
                  <a16:creationId xmlns:a16="http://schemas.microsoft.com/office/drawing/2014/main" id="{DFDC6A2C-0E1E-A61F-0880-1604C22FE9E9}"/>
                </a:ext>
              </a:extLst>
            </p:cNvPr>
            <p:cNvSpPr/>
            <p:nvPr/>
          </p:nvSpPr>
          <p:spPr>
            <a:xfrm>
              <a:off x="6690270" y="5721657"/>
              <a:ext cx="755703" cy="343501"/>
            </a:xfrm>
            <a:prstGeom prst="rect">
              <a:avLst/>
            </a:prstGeom>
            <a:solidFill>
              <a:schemeClr val="accent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Cust Svc</a:t>
              </a:r>
            </a:p>
          </p:txBody>
        </p:sp>
        <p:sp>
          <p:nvSpPr>
            <p:cNvPr id="48" name="Rectangle 47">
              <a:extLst>
                <a:ext uri="{FF2B5EF4-FFF2-40B4-BE49-F238E27FC236}">
                  <a16:creationId xmlns:a16="http://schemas.microsoft.com/office/drawing/2014/main" id="{0B395266-8816-20FE-9C48-53627AA52047}"/>
                </a:ext>
              </a:extLst>
            </p:cNvPr>
            <p:cNvSpPr/>
            <p:nvPr/>
          </p:nvSpPr>
          <p:spPr>
            <a:xfrm>
              <a:off x="7540088" y="5721656"/>
              <a:ext cx="755703" cy="343501"/>
            </a:xfrm>
            <a:prstGeom prst="rect">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Billing</a:t>
              </a:r>
            </a:p>
          </p:txBody>
        </p:sp>
        <p:sp>
          <p:nvSpPr>
            <p:cNvPr id="49" name="Rectangle 48">
              <a:extLst>
                <a:ext uri="{FF2B5EF4-FFF2-40B4-BE49-F238E27FC236}">
                  <a16:creationId xmlns:a16="http://schemas.microsoft.com/office/drawing/2014/main" id="{F8DDFA14-E664-F229-BA5D-92851E480E0E}"/>
                </a:ext>
              </a:extLst>
            </p:cNvPr>
            <p:cNvSpPr/>
            <p:nvPr/>
          </p:nvSpPr>
          <p:spPr>
            <a:xfrm>
              <a:off x="9239724" y="5717159"/>
              <a:ext cx="755703" cy="343501"/>
            </a:xfrm>
            <a:prstGeom prst="rect">
              <a:avLst/>
            </a:prstGeom>
            <a:solidFill>
              <a:schemeClr val="accent4">
                <a:lumMod val="60000"/>
                <a:lumOff val="4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Payment and Collections</a:t>
              </a:r>
            </a:p>
          </p:txBody>
        </p:sp>
        <p:sp>
          <p:nvSpPr>
            <p:cNvPr id="51" name="Rectangle 50">
              <a:extLst>
                <a:ext uri="{FF2B5EF4-FFF2-40B4-BE49-F238E27FC236}">
                  <a16:creationId xmlns:a16="http://schemas.microsoft.com/office/drawing/2014/main" id="{0FCE5828-31F0-0A60-13E2-83951F69EDAB}"/>
                </a:ext>
              </a:extLst>
            </p:cNvPr>
            <p:cNvSpPr/>
            <p:nvPr/>
          </p:nvSpPr>
          <p:spPr>
            <a:xfrm>
              <a:off x="8389906" y="5717159"/>
              <a:ext cx="755703" cy="343501"/>
            </a:xfrm>
            <a:prstGeom prst="rect">
              <a:avLst/>
            </a:prstGeom>
            <a:solidFill>
              <a:srgbClr val="7030A0"/>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Programs</a:t>
              </a:r>
            </a:p>
          </p:txBody>
        </p:sp>
        <p:sp>
          <p:nvSpPr>
            <p:cNvPr id="55" name="Rectangle 54">
              <a:extLst>
                <a:ext uri="{FF2B5EF4-FFF2-40B4-BE49-F238E27FC236}">
                  <a16:creationId xmlns:a16="http://schemas.microsoft.com/office/drawing/2014/main" id="{FD07CD3E-BF65-FDF6-306B-1FC996D6A6B2}"/>
                </a:ext>
              </a:extLst>
            </p:cNvPr>
            <p:cNvSpPr/>
            <p:nvPr/>
          </p:nvSpPr>
          <p:spPr>
            <a:xfrm>
              <a:off x="10082145" y="5717158"/>
              <a:ext cx="755703" cy="343501"/>
            </a:xfrm>
            <a:prstGeom prst="rect">
              <a:avLst/>
            </a:prstGeom>
            <a:solidFill>
              <a:schemeClr val="accent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a:latin typeface="Montserrat" pitchFamily="2" charset="77"/>
                </a:rPr>
                <a:t>Digital</a:t>
              </a:r>
            </a:p>
          </p:txBody>
        </p:sp>
        <p:sp>
          <p:nvSpPr>
            <p:cNvPr id="56" name="TextBox 55">
              <a:extLst>
                <a:ext uri="{FF2B5EF4-FFF2-40B4-BE49-F238E27FC236}">
                  <a16:creationId xmlns:a16="http://schemas.microsoft.com/office/drawing/2014/main" id="{D11D2612-4730-73C2-01D3-9B5350D90235}"/>
                </a:ext>
              </a:extLst>
            </p:cNvPr>
            <p:cNvSpPr txBox="1"/>
            <p:nvPr/>
          </p:nvSpPr>
          <p:spPr>
            <a:xfrm>
              <a:off x="6651409" y="5405848"/>
              <a:ext cx="792205" cy="276999"/>
            </a:xfrm>
            <a:prstGeom prst="rect">
              <a:avLst/>
            </a:prstGeom>
            <a:noFill/>
            <a:ln>
              <a:noFill/>
            </a:ln>
          </p:spPr>
          <p:txBody>
            <a:bodyPr wrap="none" rtlCol="0">
              <a:spAutoFit/>
            </a:bodyPr>
            <a:lstStyle/>
            <a:p>
              <a:pPr algn="l"/>
              <a:r>
                <a:rPr lang="en-US" sz="1200" b="1">
                  <a:latin typeface="Montserrat" pitchFamily="2" charset="77"/>
                </a:rPr>
                <a:t>Legend</a:t>
              </a:r>
            </a:p>
          </p:txBody>
        </p:sp>
        <p:sp>
          <p:nvSpPr>
            <p:cNvPr id="58" name="Rectangle 57">
              <a:extLst>
                <a:ext uri="{FF2B5EF4-FFF2-40B4-BE49-F238E27FC236}">
                  <a16:creationId xmlns:a16="http://schemas.microsoft.com/office/drawing/2014/main" id="{6C911BD5-DF01-B7AF-106B-7ECB6C11A6C7}"/>
                </a:ext>
              </a:extLst>
            </p:cNvPr>
            <p:cNvSpPr/>
            <p:nvPr/>
          </p:nvSpPr>
          <p:spPr>
            <a:xfrm>
              <a:off x="6593264" y="5388745"/>
              <a:ext cx="4436497" cy="776625"/>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grpSp>
      <p:cxnSp>
        <p:nvCxnSpPr>
          <p:cNvPr id="73" name="Straight Arrow Connector 72">
            <a:extLst>
              <a:ext uri="{FF2B5EF4-FFF2-40B4-BE49-F238E27FC236}">
                <a16:creationId xmlns:a16="http://schemas.microsoft.com/office/drawing/2014/main" id="{70984020-3362-B4E0-3994-3D16412A8B23}"/>
              </a:ext>
            </a:extLst>
          </p:cNvPr>
          <p:cNvCxnSpPr>
            <a:cxnSpLocks/>
          </p:cNvCxnSpPr>
          <p:nvPr/>
        </p:nvCxnSpPr>
        <p:spPr>
          <a:xfrm>
            <a:off x="6026223" y="2697299"/>
            <a:ext cx="904939" cy="0"/>
          </a:xfrm>
          <a:prstGeom prst="straightConnector1">
            <a:avLst/>
          </a:prstGeom>
          <a:ln w="28575">
            <a:solidFill>
              <a:srgbClr val="4472C4"/>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A17AB080-F6DD-0F5B-772A-6B9130C04AAA}"/>
              </a:ext>
            </a:extLst>
          </p:cNvPr>
          <p:cNvCxnSpPr>
            <a:cxnSpLocks/>
          </p:cNvCxnSpPr>
          <p:nvPr/>
        </p:nvCxnSpPr>
        <p:spPr>
          <a:xfrm>
            <a:off x="6054977" y="3186129"/>
            <a:ext cx="904939" cy="0"/>
          </a:xfrm>
          <a:prstGeom prst="straightConnector1">
            <a:avLst/>
          </a:prstGeom>
          <a:ln w="28575">
            <a:solidFill>
              <a:srgbClr val="4472C4"/>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64343FD4-2ADD-FF53-6FCF-2554C8BC0441}"/>
              </a:ext>
            </a:extLst>
          </p:cNvPr>
          <p:cNvCxnSpPr>
            <a:cxnSpLocks/>
          </p:cNvCxnSpPr>
          <p:nvPr/>
        </p:nvCxnSpPr>
        <p:spPr>
          <a:xfrm>
            <a:off x="6054977" y="3775601"/>
            <a:ext cx="904939" cy="0"/>
          </a:xfrm>
          <a:prstGeom prst="straightConnector1">
            <a:avLst/>
          </a:prstGeom>
          <a:ln w="28575">
            <a:solidFill>
              <a:srgbClr val="4472C4"/>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2B6D499E-8EBB-D939-6EE7-D1BF0D6215CF}"/>
              </a:ext>
            </a:extLst>
          </p:cNvPr>
          <p:cNvCxnSpPr>
            <a:cxnSpLocks/>
          </p:cNvCxnSpPr>
          <p:nvPr/>
        </p:nvCxnSpPr>
        <p:spPr>
          <a:xfrm>
            <a:off x="6083731" y="4264430"/>
            <a:ext cx="904939" cy="0"/>
          </a:xfrm>
          <a:prstGeom prst="straightConnector1">
            <a:avLst/>
          </a:prstGeom>
          <a:ln w="28575">
            <a:solidFill>
              <a:srgbClr val="4472C4"/>
            </a:solidFill>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C265D6FE-F8D5-C072-932C-8B9EFC1A3369}"/>
              </a:ext>
            </a:extLst>
          </p:cNvPr>
          <p:cNvSpPr/>
          <p:nvPr/>
        </p:nvSpPr>
        <p:spPr>
          <a:xfrm>
            <a:off x="474695" y="4402250"/>
            <a:ext cx="1712343" cy="495156"/>
          </a:xfrm>
          <a:prstGeom prst="rect">
            <a:avLst/>
          </a:prstGeom>
          <a:solidFill>
            <a:schemeClr val="accent4"/>
          </a:solidFill>
          <a:ln w="57150">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b="1">
                <a:latin typeface="Montserrat"/>
              </a:rPr>
              <a:t>Energy Use Dashboard</a:t>
            </a:r>
            <a:endParaRPr lang="en-US"/>
          </a:p>
        </p:txBody>
      </p:sp>
      <p:cxnSp>
        <p:nvCxnSpPr>
          <p:cNvPr id="6" name="Straight Arrow Connector 5">
            <a:extLst>
              <a:ext uri="{FF2B5EF4-FFF2-40B4-BE49-F238E27FC236}">
                <a16:creationId xmlns:a16="http://schemas.microsoft.com/office/drawing/2014/main" id="{DF20645E-7523-643D-52D7-3A0A2AC7BC28}"/>
              </a:ext>
            </a:extLst>
          </p:cNvPr>
          <p:cNvCxnSpPr>
            <a:cxnSpLocks/>
          </p:cNvCxnSpPr>
          <p:nvPr/>
        </p:nvCxnSpPr>
        <p:spPr>
          <a:xfrm>
            <a:off x="2359998" y="4599407"/>
            <a:ext cx="1206862" cy="0"/>
          </a:xfrm>
          <a:prstGeom prst="straightConnector1">
            <a:avLst/>
          </a:prstGeom>
          <a:ln w="57150">
            <a:solidFill>
              <a:schemeClr val="accent4">
                <a:lumMod val="50000"/>
              </a:schemeClr>
            </a:solidFill>
            <a:prstDash val="solid"/>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04870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8B1C4-66C6-E4C5-33CB-E873CE8B0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8750B-80A9-3759-00E2-7796EC77173C}"/>
              </a:ext>
            </a:extLst>
          </p:cNvPr>
          <p:cNvSpPr>
            <a:spLocks noGrp="1"/>
          </p:cNvSpPr>
          <p:nvPr>
            <p:ph type="title"/>
          </p:nvPr>
        </p:nvSpPr>
        <p:spPr>
          <a:xfrm>
            <a:off x="616122" y="5046940"/>
            <a:ext cx="6270458" cy="1072100"/>
          </a:xfrm>
        </p:spPr>
        <p:txBody>
          <a:bodyPr/>
          <a:lstStyle/>
          <a:p>
            <a:r>
              <a:rPr lang="en-US" sz="4250" b="1">
                <a:latin typeface="Montserrat"/>
              </a:rPr>
              <a:t>08 </a:t>
            </a:r>
            <a:r>
              <a:rPr lang="en-US" sz="4250">
                <a:latin typeface="Montserrat"/>
              </a:rPr>
              <a:t>Data Migration</a:t>
            </a:r>
            <a:endParaRPr lang="en-US" sz="4250"/>
          </a:p>
        </p:txBody>
      </p:sp>
    </p:spTree>
    <p:extLst>
      <p:ext uri="{BB962C8B-B14F-4D97-AF65-F5344CB8AC3E}">
        <p14:creationId xmlns:p14="http://schemas.microsoft.com/office/powerpoint/2010/main" val="20525073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8E552-A664-270D-D320-04C752E55B5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E60EE52-89F9-8837-0A7E-2CEF9D6BFD8B}"/>
              </a:ext>
            </a:extLst>
          </p:cNvPr>
          <p:cNvSpPr>
            <a:spLocks noGrp="1"/>
          </p:cNvSpPr>
          <p:nvPr>
            <p:ph idx="1"/>
          </p:nvPr>
        </p:nvSpPr>
        <p:spPr/>
        <p:txBody>
          <a:bodyPr vert="horz" lIns="0" tIns="45720" rIns="91440" bIns="45720" rtlCol="0" anchor="t">
            <a:normAutofit/>
          </a:bodyPr>
          <a:lstStyle/>
          <a:p>
            <a:pPr>
              <a:spcBef>
                <a:spcPts val="0"/>
              </a:spcBef>
            </a:pPr>
            <a:r>
              <a:rPr lang="en-US" sz="1800" b="1">
                <a:latin typeface="Montserrat"/>
              </a:rPr>
              <a:t>CRMD_ACTIVITY_H</a:t>
            </a:r>
            <a:endParaRPr lang="en-US" sz="1800" b="1"/>
          </a:p>
          <a:p>
            <a:pPr>
              <a:spcBef>
                <a:spcPts val="0"/>
              </a:spcBef>
            </a:pPr>
            <a:r>
              <a:rPr lang="en-US" sz="1800" b="1">
                <a:latin typeface="Montserrat"/>
              </a:rPr>
              <a:t>CRMD_ORDERADM_H</a:t>
            </a:r>
            <a:endParaRPr lang="en-US" sz="1800" b="1"/>
          </a:p>
          <a:p>
            <a:pPr>
              <a:spcBef>
                <a:spcPts val="0"/>
              </a:spcBef>
            </a:pPr>
            <a:r>
              <a:rPr lang="en-US" sz="1800" b="1">
                <a:latin typeface="Montserrat"/>
              </a:rPr>
              <a:t>CRMD_ORDERADM_I</a:t>
            </a:r>
          </a:p>
          <a:p>
            <a:pPr>
              <a:spcBef>
                <a:spcPts val="0"/>
              </a:spcBef>
            </a:pPr>
            <a:r>
              <a:rPr lang="en-US" sz="1800" b="1">
                <a:latin typeface="Montserrat"/>
              </a:rPr>
              <a:t>CRMV_LINKPARTNER</a:t>
            </a:r>
            <a:endParaRPr lang="en-US" sz="1800" b="1"/>
          </a:p>
          <a:p>
            <a:pPr>
              <a:spcBef>
                <a:spcPts val="0"/>
              </a:spcBef>
            </a:pPr>
            <a:endParaRPr lang="en-US" sz="1800" b="1"/>
          </a:p>
          <a:p>
            <a:pPr>
              <a:spcBef>
                <a:spcPts val="0"/>
              </a:spcBef>
            </a:pPr>
            <a:endParaRPr lang="en-US" sz="1800" b="1"/>
          </a:p>
          <a:p>
            <a:pPr>
              <a:spcBef>
                <a:spcPts val="0"/>
              </a:spcBef>
            </a:pPr>
            <a:endParaRPr lang="en-US" sz="1800" b="1"/>
          </a:p>
          <a:p>
            <a:pPr>
              <a:spcBef>
                <a:spcPts val="0"/>
              </a:spcBef>
            </a:pPr>
            <a:endParaRPr lang="en-US" sz="1800" b="1"/>
          </a:p>
          <a:p>
            <a:pPr>
              <a:spcBef>
                <a:spcPts val="0"/>
              </a:spcBef>
            </a:pPr>
            <a:endParaRPr lang="en-US" sz="1800" b="1"/>
          </a:p>
        </p:txBody>
      </p:sp>
      <p:sp>
        <p:nvSpPr>
          <p:cNvPr id="2" name="Title 1">
            <a:extLst>
              <a:ext uri="{FF2B5EF4-FFF2-40B4-BE49-F238E27FC236}">
                <a16:creationId xmlns:a16="http://schemas.microsoft.com/office/drawing/2014/main" id="{64D5DCA3-1176-A063-C84B-C1B74490AC0B}"/>
              </a:ext>
            </a:extLst>
          </p:cNvPr>
          <p:cNvSpPr>
            <a:spLocks noGrp="1"/>
          </p:cNvSpPr>
          <p:nvPr>
            <p:ph type="title"/>
          </p:nvPr>
        </p:nvSpPr>
        <p:spPr/>
        <p:txBody>
          <a:bodyPr>
            <a:normAutofit/>
          </a:bodyPr>
          <a:lstStyle/>
          <a:p>
            <a:r>
              <a:rPr lang="en-US">
                <a:latin typeface="Montserrat"/>
              </a:rPr>
              <a:t>Potential Tables</a:t>
            </a:r>
            <a:endParaRPr lang="en-US"/>
          </a:p>
        </p:txBody>
      </p:sp>
    </p:spTree>
    <p:extLst>
      <p:ext uri="{BB962C8B-B14F-4D97-AF65-F5344CB8AC3E}">
        <p14:creationId xmlns:p14="http://schemas.microsoft.com/office/powerpoint/2010/main" val="32582739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602E-2C3B-4F08-5E75-F752CAE78886}"/>
              </a:ext>
            </a:extLst>
          </p:cNvPr>
          <p:cNvSpPr>
            <a:spLocks noGrp="1"/>
          </p:cNvSpPr>
          <p:nvPr>
            <p:ph type="title"/>
          </p:nvPr>
        </p:nvSpPr>
        <p:spPr>
          <a:xfrm>
            <a:off x="747502" y="3148509"/>
            <a:ext cx="6270458" cy="2490996"/>
          </a:xfrm>
        </p:spPr>
        <p:txBody>
          <a:bodyPr/>
          <a:lstStyle/>
          <a:p>
            <a:r>
              <a:rPr lang="en-US" sz="4250" b="1">
                <a:latin typeface="Montserrat"/>
              </a:rPr>
              <a:t>09 </a:t>
            </a:r>
            <a:r>
              <a:rPr lang="en-US" sz="4250">
                <a:latin typeface="Montserrat"/>
              </a:rPr>
              <a:t>Key Decisions, </a:t>
            </a:r>
            <a:br>
              <a:rPr lang="en-US" sz="4250">
                <a:latin typeface="Montserrat"/>
              </a:rPr>
            </a:br>
            <a:r>
              <a:rPr lang="en-US" sz="4250">
                <a:latin typeface="Montserrat"/>
              </a:rPr>
              <a:t>Action Items, </a:t>
            </a:r>
            <a:br>
              <a:rPr lang="en-US" sz="4250">
                <a:latin typeface="Montserrat"/>
              </a:rPr>
            </a:br>
            <a:r>
              <a:rPr lang="en-US" sz="4250">
                <a:latin typeface="Montserrat"/>
              </a:rPr>
              <a:t>Change Impacts, Wrap-Up &amp; Next Steps</a:t>
            </a:r>
            <a:endParaRPr lang="en-US"/>
          </a:p>
        </p:txBody>
      </p:sp>
    </p:spTree>
    <p:extLst>
      <p:ext uri="{BB962C8B-B14F-4D97-AF65-F5344CB8AC3E}">
        <p14:creationId xmlns:p14="http://schemas.microsoft.com/office/powerpoint/2010/main" val="2749544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619D-0B81-725C-05C0-A444FD63FF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AD21A1-7636-1E92-BA74-97C118A0BF07}"/>
              </a:ext>
            </a:extLst>
          </p:cNvPr>
          <p:cNvSpPr>
            <a:spLocks noGrp="1"/>
          </p:cNvSpPr>
          <p:nvPr>
            <p:ph type="sldNum" sz="quarter" idx="12"/>
          </p:nvPr>
        </p:nvSpPr>
        <p:spPr>
          <a:xfrm>
            <a:off x="11381562" y="6316519"/>
            <a:ext cx="609601" cy="365760"/>
          </a:xfrm>
          <a:prstGeom prst="rect">
            <a:avLst/>
          </a:prstGeom>
        </p:spPr>
        <p:txBody>
          <a:bodyPr vert="horz" lIns="91440" tIns="45720" rIns="91440" bIns="45720" rtlCol="0" anchor="b"/>
          <a:lstStyle>
            <a:defPPr>
              <a:defRPr lang="en-US"/>
            </a:defPPr>
            <a:lvl1pPr marL="0" algn="r" defTabSz="914400" rtl="0" eaLnBrk="1" latinLnBrk="0" hangingPunct="1">
              <a:defRPr sz="1067" b="0" i="0" kern="1200" baseline="0">
                <a:solidFill>
                  <a:schemeClr val="bg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09585" rtl="0" eaLnBrk="1" fontAlgn="auto" latinLnBrk="0" hangingPunct="1">
              <a:lnSpc>
                <a:spcPct val="100000"/>
              </a:lnSpc>
              <a:spcBef>
                <a:spcPts val="0"/>
              </a:spcBef>
              <a:spcAft>
                <a:spcPts val="0"/>
              </a:spcAft>
              <a:buClrTx/>
              <a:buSzTx/>
              <a:buFontTx/>
              <a:buNone/>
              <a:tabLst/>
              <a:defRPr/>
            </a:pPr>
            <a:fld id="{EA69B7C6-3FEA-7848-A062-37F8F6368D00}" type="slidenum">
              <a:rPr kumimoji="0" lang="en-US" sz="1067" b="0" i="0" u="none" strike="noStrike" kern="1200" cap="none" spc="0" normalizeH="0" baseline="0" noProof="0" smtClean="0">
                <a:ln>
                  <a:noFill/>
                </a:ln>
                <a:solidFill>
                  <a:srgbClr val="FFFEFE"/>
                </a:solidFill>
                <a:effectLst/>
                <a:uLnTx/>
                <a:uFillTx/>
                <a:latin typeface="Montserrat" pitchFamily="2" charset="77"/>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53</a:t>
            </a:fld>
            <a:endParaRPr kumimoji="0" lang="en-US" sz="1067" b="0" i="0" u="none" strike="noStrike" kern="1200" cap="none" spc="0" normalizeH="0" baseline="0" noProof="0">
              <a:ln>
                <a:noFill/>
              </a:ln>
              <a:solidFill>
                <a:srgbClr val="FFFEFE"/>
              </a:solidFill>
              <a:effectLst/>
              <a:uLnTx/>
              <a:uFillTx/>
              <a:latin typeface="Montserrat" pitchFamily="2" charset="77"/>
              <a:ea typeface="+mn-ea"/>
              <a:cs typeface="+mn-cs"/>
            </a:endParaRPr>
          </a:p>
        </p:txBody>
      </p:sp>
      <p:sp>
        <p:nvSpPr>
          <p:cNvPr id="4" name="Title 3">
            <a:extLst>
              <a:ext uri="{FF2B5EF4-FFF2-40B4-BE49-F238E27FC236}">
                <a16:creationId xmlns:a16="http://schemas.microsoft.com/office/drawing/2014/main" id="{5F241765-29E7-B65E-EF47-99994A77E9E2}"/>
              </a:ext>
            </a:extLst>
          </p:cNvPr>
          <p:cNvSpPr>
            <a:spLocks noGrp="1"/>
          </p:cNvSpPr>
          <p:nvPr>
            <p:ph type="title"/>
          </p:nvPr>
        </p:nvSpPr>
        <p:spPr>
          <a:xfrm>
            <a:off x="211328" y="-140006"/>
            <a:ext cx="11375136" cy="609600"/>
          </a:xfrm>
        </p:spPr>
        <p:txBody>
          <a:bodyPr/>
          <a:lstStyle/>
          <a:p>
            <a:r>
              <a:rPr lang="en-US" sz="2000" b="1">
                <a:latin typeface="Montserrat"/>
              </a:rPr>
              <a:t>Program Charging	(CE Internal Only)			</a:t>
            </a:r>
            <a:endParaRPr lang="en-US" sz="1600" b="1">
              <a:latin typeface="Montserrat"/>
            </a:endParaRPr>
          </a:p>
        </p:txBody>
      </p:sp>
      <p:sp>
        <p:nvSpPr>
          <p:cNvPr id="3" name="Rectangle 5">
            <a:extLst>
              <a:ext uri="{FF2B5EF4-FFF2-40B4-BE49-F238E27FC236}">
                <a16:creationId xmlns:a16="http://schemas.microsoft.com/office/drawing/2014/main" id="{0E3C419A-8C28-8621-94F2-6BC57951C181}"/>
              </a:ext>
            </a:extLst>
          </p:cNvPr>
          <p:cNvSpPr>
            <a:spLocks noChangeArrowheads="1"/>
          </p:cNvSpPr>
          <p:nvPr/>
        </p:nvSpPr>
        <p:spPr bwMode="auto">
          <a:xfrm>
            <a:off x="211328" y="552364"/>
            <a:ext cx="11769344"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The Change &amp; Why:</a:t>
            </a:r>
            <a:endParaRPr lang="en-US" altLang="en-US" sz="1100" b="1"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a:cs typeface="Arial"/>
              </a:rPr>
              <a:t>We need to track O&amp;M costs more precisely. OCM and Data Conversion must be charged separately from End User Training and from Design/Build/Deployment work. This change is retroactive from February for Accounting, Rate case discovery, and audit. </a:t>
            </a:r>
            <a:endParaRPr 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Ask: </a:t>
            </a:r>
            <a:endParaRPr lang="en-US" altLang="en-US" sz="1100" b="1" i="0" u="sng"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Pls follow the instructions below that apply to you based on your staffing category on the </a:t>
            </a:r>
            <a:r>
              <a:rPr kumimoji="0" lang="en-US" altLang="en-US" sz="1100" b="0" i="0" u="none" strike="noStrike" kern="1200" cap="none" spc="0" normalizeH="0" baseline="0" noProof="0" err="1">
                <a:ln>
                  <a:noFill/>
                </a:ln>
                <a:solidFill>
                  <a:srgbClr val="000000"/>
                </a:solidFill>
                <a:effectLst/>
                <a:uLnTx/>
                <a:uFillTx/>
                <a:latin typeface="Arial"/>
                <a:ea typeface="Aptos" panose="020B0004020202020204" pitchFamily="34" charset="0"/>
                <a:cs typeface="Arial"/>
              </a:rPr>
              <a:t>LaunchPad</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program. It is critical to track costs in the correct cost buckets.</a:t>
            </a:r>
            <a:endParaRPr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Business Partner (BP) Core Team (Use SAP*):</a:t>
            </a:r>
            <a:endParaRPr lang="en-US" altLang="en-US" sz="1100" b="1"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Continue 100% allocation as before. (BP&amp;A handles this automatically behind the scenes and no time entry is needed except for the two scenarios below) </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OCM and Data Conversion activities; Use SAP to bill IO 6520973.</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End User Training; Use SAP to bill IO 6519532.</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endParaRPr lang="en-US" altLang="en-US" sz="1100" b="0" i="0" u="sng" strike="noStrike" kern="1200" cap="none" spc="0" normalizeH="0" baseline="0" noProof="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IT Core Team (Use Clarity):</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lvl="2" indent="-171450" eaLnBrk="0" fontAlgn="base" hangingPunct="0">
              <a:spcBef>
                <a:spcPct val="0"/>
              </a:spcBef>
              <a:spcAft>
                <a:spcPct val="0"/>
              </a:spcAft>
              <a:buFont typeface="Arial" panose="020B0604020202020204" pitchFamily="34" charset="0"/>
              <a:buChar char="•"/>
            </a:pPr>
            <a:r>
              <a:rPr lang="en-US" sz="1100">
                <a:solidFill>
                  <a:srgbClr val="000000"/>
                </a:solidFill>
                <a:highlight>
                  <a:srgbClr val="FFFF00"/>
                </a:highlight>
                <a:latin typeface="Arial"/>
                <a:cs typeface="Arial"/>
              </a:rPr>
              <a:t>S4- Customer – Design/Development/Testing/Deploy Clarity Task</a:t>
            </a:r>
            <a:endParaRPr lang="en-US" altLang="en-US" sz="1100">
              <a:solidFill>
                <a:srgbClr val="000000"/>
              </a:solidFill>
              <a:highlight>
                <a:srgbClr val="FFFF00"/>
              </a:highlight>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Clarity Timesheets will now be used for time charging, and the allocation mechanism is discontinued. Submit timesheets from February 2nd for a one-time catchup.  </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Separate tasks for OCM, End User Training, and Data Conversion are available; Find them using keywords OCM, End User Training, and Data Conversion and charge them as applicable.</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Extended BP Team (use SAP*):</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6520973 for OCM and Data Conversion.</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6519532 for End User Training.</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Use new IO </a:t>
            </a:r>
            <a:r>
              <a:rPr kumimoji="0" lang="en-US" sz="1100" b="0" i="0" u="none" strike="noStrike" kern="1200" cap="none" spc="0" normalizeH="0" baseline="0" noProof="0">
                <a:ln>
                  <a:noFill/>
                </a:ln>
                <a:solidFill>
                  <a:srgbClr val="000000"/>
                </a:solidFill>
                <a:effectLst/>
                <a:highlight>
                  <a:srgbClr val="FFFF00"/>
                </a:highlight>
                <a:uLnTx/>
                <a:uFillTx/>
                <a:latin typeface="Arial"/>
                <a:cs typeface="Arial"/>
              </a:rPr>
              <a:t>6521411 </a:t>
            </a: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for all other tasks.</a:t>
            </a:r>
            <a:endParaRPr lang="en-US" altLang="en-US" sz="1100" b="0" i="0" u="none"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Extended IT Team (Use Clarity):</a:t>
            </a:r>
            <a:endParaRPr lang="en-US" altLang="en-US" sz="1100" b="1" i="0" u="sng"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S4- Customer – Design/Development/Testing/Deploy Clarity Task</a:t>
            </a:r>
            <a:endParaRPr kumimoji="0" lang="en-US" altLang="en-US" sz="1100" b="0" i="0" u="none" strike="noStrike" kern="1200" cap="none" spc="0" normalizeH="0" baseline="0" noProof="0">
              <a:ln>
                <a:noFill/>
              </a:ln>
              <a:solidFill>
                <a:srgbClr val="000000"/>
              </a:solidFill>
              <a:effectLst/>
              <a:uLnTx/>
              <a:uFillTx/>
              <a:latin typeface="Arial"/>
              <a:ea typeface="+mn-ea"/>
              <a:cs typeface="Arial"/>
            </a:endParaRPr>
          </a:p>
          <a:p>
            <a:pPr marL="1085850" marR="0" lvl="2" indent="-171450" algn="l" defTabSz="914400" rtl="0" eaLnBrk="1" fontAlgn="auto"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specific tasks for OCM, End User Training, and Data Conversion; ID the tasks using the keywords OCM, End User Training, and Data Conversion.</a:t>
            </a:r>
            <a:endParaRPr 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other tasks as appropriate.</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*SAP Timesheet Submission Instructions (for BPs)</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Follow ESS steps (screen shot below): 1. Open ESS timesheet. 2. Enter IO number in work order field. 3. Select WORK code under ATT-ABS. 4. Add OCM, End User Training, or Data Conversion in comments. 5. Enter hours worked.</a:t>
            </a:r>
            <a:endParaRPr lang="en-US" altLang="en-US" sz="1100" b="0"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800" b="0" i="0" u="none" strike="noStrike" kern="1200" cap="none" spc="0" normalizeH="0" baseline="0" noProof="0">
              <a:ln>
                <a:noFill/>
              </a:ln>
              <a:solidFill>
                <a:srgbClr val="000000"/>
              </a:solidFill>
              <a:effectLst/>
              <a:uLnTx/>
              <a:uFillTx/>
              <a:latin typeface="Arial" panose="020B0604020202020204" pitchFamily="34" charset="0"/>
              <a:cs typeface="Arial"/>
            </a:endParaRPr>
          </a:p>
        </p:txBody>
      </p:sp>
      <p:pic>
        <p:nvPicPr>
          <p:cNvPr id="7" name="Picture 6">
            <a:extLst>
              <a:ext uri="{FF2B5EF4-FFF2-40B4-BE49-F238E27FC236}">
                <a16:creationId xmlns:a16="http://schemas.microsoft.com/office/drawing/2014/main" id="{70E62B9E-43CB-BEB2-4EBC-D41DFC90D1F5}"/>
              </a:ext>
            </a:extLst>
          </p:cNvPr>
          <p:cNvPicPr>
            <a:picLocks noChangeAspect="1"/>
          </p:cNvPicPr>
          <p:nvPr/>
        </p:nvPicPr>
        <p:blipFill>
          <a:blip r:embed="rId2"/>
          <a:stretch>
            <a:fillRect/>
          </a:stretch>
        </p:blipFill>
        <p:spPr>
          <a:xfrm>
            <a:off x="769840" y="5670487"/>
            <a:ext cx="9777075" cy="552478"/>
          </a:xfrm>
          <a:prstGeom prst="rect">
            <a:avLst/>
          </a:prstGeom>
        </p:spPr>
      </p:pic>
    </p:spTree>
    <p:extLst>
      <p:ext uri="{BB962C8B-B14F-4D97-AF65-F5344CB8AC3E}">
        <p14:creationId xmlns:p14="http://schemas.microsoft.com/office/powerpoint/2010/main" val="4340595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51D53-481A-185E-D984-FA9598BE3B88}"/>
              </a:ext>
            </a:extLst>
          </p:cNvPr>
          <p:cNvSpPr>
            <a:spLocks noGrp="1"/>
          </p:cNvSpPr>
          <p:nvPr>
            <p:ph type="title"/>
          </p:nvPr>
        </p:nvSpPr>
        <p:spPr/>
        <p:txBody>
          <a:bodyPr>
            <a:normAutofit/>
          </a:bodyPr>
          <a:lstStyle/>
          <a:p>
            <a:endParaRPr lang="en-US"/>
          </a:p>
        </p:txBody>
      </p:sp>
      <p:pic>
        <p:nvPicPr>
          <p:cNvPr id="3" name="Picture 2" descr="A screenshot of a computer screen&#10;&#10;AI-generated content may be incorrect.">
            <a:extLst>
              <a:ext uri="{FF2B5EF4-FFF2-40B4-BE49-F238E27FC236}">
                <a16:creationId xmlns:a16="http://schemas.microsoft.com/office/drawing/2014/main" id="{1CD099DD-E19B-BA46-F868-C8F1E22025FE}"/>
              </a:ext>
            </a:extLst>
          </p:cNvPr>
          <p:cNvPicPr>
            <a:picLocks noChangeAspect="1"/>
          </p:cNvPicPr>
          <p:nvPr/>
        </p:nvPicPr>
        <p:blipFill>
          <a:blip r:embed="rId2"/>
          <a:stretch>
            <a:fillRect/>
          </a:stretch>
        </p:blipFill>
        <p:spPr>
          <a:xfrm>
            <a:off x="1290182" y="1710567"/>
            <a:ext cx="8387765" cy="3015093"/>
          </a:xfrm>
          <a:prstGeom prst="rect">
            <a:avLst/>
          </a:prstGeom>
        </p:spPr>
      </p:pic>
    </p:spTree>
    <p:extLst>
      <p:ext uri="{BB962C8B-B14F-4D97-AF65-F5344CB8AC3E}">
        <p14:creationId xmlns:p14="http://schemas.microsoft.com/office/powerpoint/2010/main" val="3826172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3E2D3-E4CF-50D9-7FC0-8EF79A46C28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AD76E23-F28F-AF89-0C9A-6AEC655520F6}"/>
              </a:ext>
            </a:extLst>
          </p:cNvPr>
          <p:cNvSpPr>
            <a:spLocks noGrp="1"/>
          </p:cNvSpPr>
          <p:nvPr>
            <p:ph type="title"/>
          </p:nvPr>
        </p:nvSpPr>
        <p:spPr/>
        <p:txBody>
          <a:bodyPr/>
          <a:lstStyle/>
          <a:p>
            <a:r>
              <a:rPr lang="en-US" b="1"/>
              <a:t>WORKSHOP OBJECTIVES AND OUTCOMES</a:t>
            </a:r>
          </a:p>
        </p:txBody>
      </p:sp>
      <p:sp>
        <p:nvSpPr>
          <p:cNvPr id="4" name="TextBox 3">
            <a:extLst>
              <a:ext uri="{FF2B5EF4-FFF2-40B4-BE49-F238E27FC236}">
                <a16:creationId xmlns:a16="http://schemas.microsoft.com/office/drawing/2014/main" id="{628DC531-38D8-1B1C-8CCA-BA605CFFCF43}"/>
              </a:ext>
            </a:extLst>
          </p:cNvPr>
          <p:cNvSpPr txBox="1"/>
          <p:nvPr/>
        </p:nvSpPr>
        <p:spPr>
          <a:xfrm>
            <a:off x="342714" y="1333093"/>
            <a:ext cx="5404310" cy="163121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a:ln>
                  <a:noFill/>
                </a:ln>
                <a:solidFill>
                  <a:srgbClr val="0067A4"/>
                </a:solidFill>
                <a:effectLst/>
                <a:uLnTx/>
                <a:uFillTx/>
                <a:latin typeface="Montserrat" pitchFamily="2" charset="77"/>
                <a:ea typeface="+mn-ea"/>
                <a:cs typeface="+mn-cs"/>
              </a:rPr>
              <a:t>OBJECTIVES</a:t>
            </a:r>
          </a:p>
          <a:p>
            <a:pPr marL="285750" indent="-285750">
              <a:spcAft>
                <a:spcPts val="600"/>
              </a:spcAft>
              <a:buFont typeface="Arial" panose="020B0604020202020204" pitchFamily="34" charset="0"/>
              <a:buChar char="•"/>
              <a:defRPr/>
            </a:pPr>
            <a:r>
              <a:rPr lang="en-US" sz="1600">
                <a:solidFill>
                  <a:srgbClr val="000000"/>
                </a:solidFill>
                <a:latin typeface="Montserrat"/>
              </a:rPr>
              <a:t>Confirm</a:t>
            </a:r>
            <a:r>
              <a:rPr kumimoji="0" lang="en-US" sz="1600" b="0" i="0" u="none" strike="noStrike" kern="1200" cap="none" spc="0" normalizeH="0" baseline="0" noProof="0">
                <a:ln>
                  <a:noFill/>
                </a:ln>
                <a:solidFill>
                  <a:srgbClr val="000000"/>
                </a:solidFill>
                <a:effectLst/>
                <a:uLnTx/>
                <a:uFillTx/>
                <a:latin typeface="Montserrat"/>
              </a:rPr>
              <a:t> As-Is Process</a:t>
            </a:r>
            <a:r>
              <a:rPr lang="en-US" sz="1600">
                <a:solidFill>
                  <a:srgbClr val="000000"/>
                </a:solidFill>
                <a:latin typeface="Montserrat"/>
              </a:rPr>
              <a:t> maps to future state</a:t>
            </a:r>
            <a:endParaRPr lang="en-US" sz="1600" b="0" i="0" u="none" strike="noStrike" kern="1200" cap="none" spc="0" normalizeH="0" baseline="0" noProof="0">
              <a:ln>
                <a:noFill/>
              </a:ln>
              <a:solidFill>
                <a:srgbClr val="000000"/>
              </a:solidFill>
              <a:effectLst/>
              <a:uLnTx/>
              <a:uFillTx/>
              <a:latin typeface="Montserrat"/>
            </a:endParaRPr>
          </a:p>
          <a:p>
            <a:pPr marL="285750" indent="-285750">
              <a:spcAft>
                <a:spcPts val="600"/>
              </a:spcAft>
              <a:buFont typeface="Arial" panose="020B0604020202020204" pitchFamily="34" charset="0"/>
              <a:buChar char="•"/>
              <a:defRPr/>
            </a:pPr>
            <a:r>
              <a:rPr kumimoji="0" lang="en-US" sz="1600" b="0" i="0" u="none" strike="noStrike" kern="1200" cap="none" spc="0" normalizeH="0" baseline="0" noProof="0">
                <a:ln>
                  <a:noFill/>
                </a:ln>
                <a:solidFill>
                  <a:srgbClr val="000000"/>
                </a:solidFill>
                <a:effectLst/>
                <a:uLnTx/>
                <a:uFillTx/>
                <a:latin typeface="Montserrat"/>
              </a:rPr>
              <a:t>Define </a:t>
            </a:r>
            <a:r>
              <a:rPr lang="en-US" sz="1600">
                <a:solidFill>
                  <a:srgbClr val="000000"/>
                </a:solidFill>
                <a:latin typeface="Montserrat"/>
              </a:rPr>
              <a:t>BMD Process Procedures</a:t>
            </a:r>
            <a:endParaRPr lang="en-US" sz="1600" b="0" i="0" u="none" strike="noStrike" kern="1200" cap="none" spc="0" normalizeH="0" baseline="0" noProof="0">
              <a:ln>
                <a:noFill/>
              </a:ln>
              <a:solidFill>
                <a:srgbClr val="000000"/>
              </a:solidFill>
              <a:effectLst/>
              <a:uLnTx/>
              <a:uFillTx/>
              <a:latin typeface="Montserrat" pitchFamily="2" charset="77"/>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a:rPr>
              <a:t>Identify key data, reporting and cross-functional requirements</a:t>
            </a:r>
            <a:endParaRPr lang="en-US" sz="1600" b="0" i="0" u="none" strike="noStrike" kern="1200" cap="none" spc="0" normalizeH="0" baseline="0" noProof="0">
              <a:ln>
                <a:noFill/>
              </a:ln>
              <a:solidFill>
                <a:srgbClr val="000000"/>
              </a:solidFill>
              <a:effectLst/>
              <a:uLnTx/>
              <a:uFillTx/>
              <a:latin typeface="Montserrat"/>
            </a:endParaRPr>
          </a:p>
        </p:txBody>
      </p:sp>
      <p:sp>
        <p:nvSpPr>
          <p:cNvPr id="5" name="TextBox 4">
            <a:extLst>
              <a:ext uri="{FF2B5EF4-FFF2-40B4-BE49-F238E27FC236}">
                <a16:creationId xmlns:a16="http://schemas.microsoft.com/office/drawing/2014/main" id="{571B263F-2D7E-6E61-53F6-31FA9638A4B5}"/>
              </a:ext>
            </a:extLst>
          </p:cNvPr>
          <p:cNvSpPr txBox="1"/>
          <p:nvPr/>
        </p:nvSpPr>
        <p:spPr>
          <a:xfrm>
            <a:off x="6250006" y="1328093"/>
            <a:ext cx="5592590" cy="170816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a:ln>
                  <a:noFill/>
                </a:ln>
                <a:solidFill>
                  <a:srgbClr val="0067A4"/>
                </a:solidFill>
                <a:effectLst/>
                <a:uLnTx/>
                <a:uFillTx/>
                <a:latin typeface="Montserrat" pitchFamily="2" charset="77"/>
                <a:ea typeface="+mn-ea"/>
                <a:cs typeface="+mn-cs"/>
              </a:rPr>
              <a:t>OUTCOMES / INPUTS TO DELIVERABLES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pitchFamily="2" charset="77"/>
                <a:ea typeface="+mn-ea"/>
                <a:cs typeface="+mn-cs"/>
              </a:rPr>
              <a:t>Updated User Story / Task in Azure DevOps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pitchFamily="2" charset="77"/>
                <a:ea typeface="+mn-ea"/>
                <a:cs typeface="+mn-cs"/>
              </a:rPr>
              <a:t>Documented Change Impacts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pitchFamily="2" charset="77"/>
                <a:ea typeface="+mn-ea"/>
                <a:cs typeface="+mn-cs"/>
              </a:rPr>
              <a:t>Identified gaps / WRICEFs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Montserrat" pitchFamily="2" charset="77"/>
                <a:ea typeface="+mn-ea"/>
                <a:cs typeface="+mn-cs"/>
              </a:rPr>
              <a:t>Understand Remediation Scope </a:t>
            </a:r>
          </a:p>
        </p:txBody>
      </p:sp>
      <p:pic>
        <p:nvPicPr>
          <p:cNvPr id="17" name="Picture 2" descr="http://silhouettesfree.com/professions-and-occupations/students/wall-clock-silhouette-image.png">
            <a:extLst>
              <a:ext uri="{FF2B5EF4-FFF2-40B4-BE49-F238E27FC236}">
                <a16:creationId xmlns:a16="http://schemas.microsoft.com/office/drawing/2014/main" id="{CEF9D2AC-AF70-BA65-31F2-7E8654DAC5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4572" y="427129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https://cdn1.iconfinder.com/data/icons/computer-and-internet/512/prohibited_no_laptop_forbidden-512.png">
            <a:extLst>
              <a:ext uri="{FF2B5EF4-FFF2-40B4-BE49-F238E27FC236}">
                <a16:creationId xmlns:a16="http://schemas.microsoft.com/office/drawing/2014/main" id="{7042D374-8C11-057C-7F7B-3ECDEA85832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46866" y="427129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https://d30y9cdsu7xlg0.cloudfront.net/png/143730-200.png">
            <a:extLst>
              <a:ext uri="{FF2B5EF4-FFF2-40B4-BE49-F238E27FC236}">
                <a16:creationId xmlns:a16="http://schemas.microsoft.com/office/drawing/2014/main" id="{D263ABC9-815A-ACBE-CAC6-5C263D5E1A6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87236" y="427129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descr="https://image.freepik.com/free-icon/boy-raising-hand-for-question_318-43988.png">
            <a:extLst>
              <a:ext uri="{FF2B5EF4-FFF2-40B4-BE49-F238E27FC236}">
                <a16:creationId xmlns:a16="http://schemas.microsoft.com/office/drawing/2014/main" id="{F525F44D-72F7-54EB-3549-0DCB6259C552}"/>
              </a:ext>
            </a:extLst>
          </p:cNvPr>
          <p:cNvPicPr>
            <a:picLocks noChangeAspect="1" noChangeArrowheads="1"/>
          </p:cNvPicPr>
          <p:nvPr/>
        </p:nvPicPr>
        <p:blipFill>
          <a:blip r:embed="rId6" cstate="print">
            <a:clrChange>
              <a:clrFrom>
                <a:srgbClr val="FFFFFF"/>
              </a:clrFrom>
              <a:clrTo>
                <a:srgbClr val="FFFFFF">
                  <a:alpha val="0"/>
                </a:srgbClr>
              </a:clrTo>
            </a:clrChange>
            <a:duotone>
              <a:prstClr val="black"/>
              <a:srgbClr val="FFCFE1">
                <a:tint val="45000"/>
                <a:satMod val="400000"/>
              </a:srgbClr>
            </a:duotone>
            <a:extLst>
              <a:ext uri="{28A0092B-C50C-407E-A947-70E740481C1C}">
                <a14:useLocalDpi xmlns:a14="http://schemas.microsoft.com/office/drawing/2010/main" val="0"/>
              </a:ext>
            </a:extLst>
          </a:blip>
          <a:srcRect/>
          <a:stretch>
            <a:fillRect/>
          </a:stretch>
        </p:blipFill>
        <p:spPr bwMode="auto">
          <a:xfrm>
            <a:off x="4167051" y="427129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21" name="Graphic 20" descr="Web cam">
            <a:extLst>
              <a:ext uri="{FF2B5EF4-FFF2-40B4-BE49-F238E27FC236}">
                <a16:creationId xmlns:a16="http://schemas.microsoft.com/office/drawing/2014/main" id="{D08B6782-7F7E-0644-4B22-51E80A262E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47790" y="4271297"/>
            <a:ext cx="365760" cy="365760"/>
          </a:xfrm>
          <a:prstGeom prst="rect">
            <a:avLst/>
          </a:prstGeom>
        </p:spPr>
      </p:pic>
      <p:pic>
        <p:nvPicPr>
          <p:cNvPr id="22" name="Graphic 21" descr="Radio microphone">
            <a:extLst>
              <a:ext uri="{FF2B5EF4-FFF2-40B4-BE49-F238E27FC236}">
                <a16:creationId xmlns:a16="http://schemas.microsoft.com/office/drawing/2014/main" id="{582F9016-8306-568A-689C-9A626CBCE2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07421" y="4271297"/>
            <a:ext cx="365760" cy="365760"/>
          </a:xfrm>
          <a:prstGeom prst="rect">
            <a:avLst/>
          </a:prstGeom>
        </p:spPr>
      </p:pic>
      <p:pic>
        <p:nvPicPr>
          <p:cNvPr id="23" name="Graphic 22" descr="Questions">
            <a:extLst>
              <a:ext uri="{FF2B5EF4-FFF2-40B4-BE49-F238E27FC236}">
                <a16:creationId xmlns:a16="http://schemas.microsoft.com/office/drawing/2014/main" id="{30ECF821-B183-9789-83D9-2E0BC47F45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27606" y="4271297"/>
            <a:ext cx="365760" cy="365760"/>
          </a:xfrm>
          <a:prstGeom prst="rect">
            <a:avLst/>
          </a:prstGeom>
        </p:spPr>
      </p:pic>
      <p:sp>
        <p:nvSpPr>
          <p:cNvPr id="24" name="TextBox 23">
            <a:extLst>
              <a:ext uri="{FF2B5EF4-FFF2-40B4-BE49-F238E27FC236}">
                <a16:creationId xmlns:a16="http://schemas.microsoft.com/office/drawing/2014/main" id="{FA0BE638-6195-BE91-7641-934925D8596E}"/>
              </a:ext>
            </a:extLst>
          </p:cNvPr>
          <p:cNvSpPr txBox="1"/>
          <p:nvPr/>
        </p:nvSpPr>
        <p:spPr>
          <a:xfrm>
            <a:off x="345045" y="4027764"/>
            <a:ext cx="771045" cy="18466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spAutoFit/>
          </a:bodyPr>
          <a:lstStyle/>
          <a:p>
            <a:pPr marL="0" marR="0" lvl="0" indent="0" algn="l" defTabSz="182889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72725"/>
                </a:solidFill>
                <a:effectLst/>
                <a:uLnTx/>
                <a:uFillTx/>
                <a:latin typeface="Montserrat" pitchFamily="2" charset="77"/>
                <a:ea typeface="+mn-ea"/>
                <a:cs typeface="+mn-cs"/>
              </a:rPr>
              <a:t>In Person </a:t>
            </a:r>
          </a:p>
        </p:txBody>
      </p:sp>
      <p:sp>
        <p:nvSpPr>
          <p:cNvPr id="25" name="TextBox 24">
            <a:extLst>
              <a:ext uri="{FF2B5EF4-FFF2-40B4-BE49-F238E27FC236}">
                <a16:creationId xmlns:a16="http://schemas.microsoft.com/office/drawing/2014/main" id="{E48132CB-7FCC-A69F-BB25-6CCC3B98F051}"/>
              </a:ext>
            </a:extLst>
          </p:cNvPr>
          <p:cNvSpPr txBox="1"/>
          <p:nvPr/>
        </p:nvSpPr>
        <p:spPr>
          <a:xfrm>
            <a:off x="10658034" y="4027764"/>
            <a:ext cx="914400" cy="18466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rtlCol="0">
            <a:spAutoFit/>
          </a:bodyPr>
          <a:lstStyle/>
          <a:p>
            <a:pPr marL="0" marR="0" lvl="0" indent="0" algn="r" defTabSz="182889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272725"/>
                </a:solidFill>
                <a:effectLst/>
                <a:uLnTx/>
                <a:uFillTx/>
                <a:latin typeface="Montserrat" pitchFamily="2" charset="77"/>
                <a:ea typeface="+mn-ea"/>
                <a:cs typeface="+mn-cs"/>
              </a:rPr>
              <a:t>Virtual</a:t>
            </a:r>
          </a:p>
        </p:txBody>
      </p:sp>
      <p:cxnSp>
        <p:nvCxnSpPr>
          <p:cNvPr id="26" name="Straight Arrow Connector 25">
            <a:extLst>
              <a:ext uri="{FF2B5EF4-FFF2-40B4-BE49-F238E27FC236}">
                <a16:creationId xmlns:a16="http://schemas.microsoft.com/office/drawing/2014/main" id="{A1C21047-94FC-3732-876A-62CA5D5EA418}"/>
              </a:ext>
            </a:extLst>
          </p:cNvPr>
          <p:cNvCxnSpPr>
            <a:cxnSpLocks/>
          </p:cNvCxnSpPr>
          <p:nvPr/>
        </p:nvCxnSpPr>
        <p:spPr bwMode="auto">
          <a:xfrm>
            <a:off x="1116331" y="4120097"/>
            <a:ext cx="9875520" cy="0"/>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A6AC6777-6D58-61AC-0627-C2F3F639E422}"/>
              </a:ext>
            </a:extLst>
          </p:cNvPr>
          <p:cNvGrpSpPr/>
          <p:nvPr/>
        </p:nvGrpSpPr>
        <p:grpSpPr>
          <a:xfrm>
            <a:off x="342714" y="4654694"/>
            <a:ext cx="1559028" cy="512594"/>
            <a:chOff x="109722" y="1185524"/>
            <a:chExt cx="832655" cy="816522"/>
          </a:xfrm>
        </p:grpSpPr>
        <p:sp>
          <p:nvSpPr>
            <p:cNvPr id="68" name="Rounded Rectangle 67">
              <a:extLst>
                <a:ext uri="{FF2B5EF4-FFF2-40B4-BE49-F238E27FC236}">
                  <a16:creationId xmlns:a16="http://schemas.microsoft.com/office/drawing/2014/main" id="{F532B5CD-114B-4931-9927-049AEA0BEDEB}"/>
                </a:ext>
              </a:extLst>
            </p:cNvPr>
            <p:cNvSpPr/>
            <p:nvPr/>
          </p:nvSpPr>
          <p:spPr>
            <a:xfrm>
              <a:off x="10972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0"/>
              </a:schemeClr>
            </a:fillRef>
            <a:effectRef idx="0">
              <a:schemeClr val="accent5">
                <a:alpha val="9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9" name="Rounded Rectangle 4">
              <a:extLst>
                <a:ext uri="{FF2B5EF4-FFF2-40B4-BE49-F238E27FC236}">
                  <a16:creationId xmlns:a16="http://schemas.microsoft.com/office/drawing/2014/main" id="{24DA735C-5090-E8FD-96D0-BB3018286348}"/>
                </a:ext>
              </a:extLst>
            </p:cNvPr>
            <p:cNvSpPr txBox="1"/>
            <p:nvPr/>
          </p:nvSpPr>
          <p:spPr>
            <a:xfrm>
              <a:off x="13411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Start and End the workshop on time</a:t>
              </a: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pSp>
      <p:grpSp>
        <p:nvGrpSpPr>
          <p:cNvPr id="29" name="Group 28">
            <a:extLst>
              <a:ext uri="{FF2B5EF4-FFF2-40B4-BE49-F238E27FC236}">
                <a16:creationId xmlns:a16="http://schemas.microsoft.com/office/drawing/2014/main" id="{AD82B528-082F-B8D6-3BEC-75CD0F998FE0}"/>
              </a:ext>
            </a:extLst>
          </p:cNvPr>
          <p:cNvGrpSpPr/>
          <p:nvPr/>
        </p:nvGrpSpPr>
        <p:grpSpPr>
          <a:xfrm>
            <a:off x="348418" y="5207475"/>
            <a:ext cx="1559028" cy="512594"/>
            <a:chOff x="109722" y="2342893"/>
            <a:chExt cx="832655" cy="816522"/>
          </a:xfrm>
        </p:grpSpPr>
        <p:sp>
          <p:nvSpPr>
            <p:cNvPr id="66" name="Rounded Rectangle 65">
              <a:extLst>
                <a:ext uri="{FF2B5EF4-FFF2-40B4-BE49-F238E27FC236}">
                  <a16:creationId xmlns:a16="http://schemas.microsoft.com/office/drawing/2014/main" id="{1C6FF50D-FBD4-E25B-08C5-711A9524CEB7}"/>
                </a:ext>
              </a:extLst>
            </p:cNvPr>
            <p:cNvSpPr/>
            <p:nvPr/>
          </p:nvSpPr>
          <p:spPr>
            <a:xfrm>
              <a:off x="10972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3077"/>
              </a:schemeClr>
            </a:fillRef>
            <a:effectRef idx="0">
              <a:schemeClr val="accent5">
                <a:alpha val="90000"/>
                <a:hueOff val="0"/>
                <a:satOff val="0"/>
                <a:lumOff val="0"/>
                <a:alphaOff val="-3077"/>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7" name="Rounded Rectangle 6">
              <a:extLst>
                <a:ext uri="{FF2B5EF4-FFF2-40B4-BE49-F238E27FC236}">
                  <a16:creationId xmlns:a16="http://schemas.microsoft.com/office/drawing/2014/main" id="{D3AAF436-B481-9D02-4995-DF6E5B38BE1C}"/>
                </a:ext>
              </a:extLst>
            </p:cNvPr>
            <p:cNvSpPr txBox="1"/>
            <p:nvPr/>
          </p:nvSpPr>
          <p:spPr>
            <a:xfrm>
              <a:off x="13411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Please allow time for breaks</a:t>
              </a:r>
            </a:p>
          </p:txBody>
        </p:sp>
      </p:grpSp>
      <p:grpSp>
        <p:nvGrpSpPr>
          <p:cNvPr id="30" name="Group 29">
            <a:extLst>
              <a:ext uri="{FF2B5EF4-FFF2-40B4-BE49-F238E27FC236}">
                <a16:creationId xmlns:a16="http://schemas.microsoft.com/office/drawing/2014/main" id="{816235F8-9765-4604-589C-963A7198DF9C}"/>
              </a:ext>
            </a:extLst>
          </p:cNvPr>
          <p:cNvGrpSpPr/>
          <p:nvPr/>
        </p:nvGrpSpPr>
        <p:grpSpPr>
          <a:xfrm>
            <a:off x="1962107" y="4654694"/>
            <a:ext cx="1559028" cy="512594"/>
            <a:chOff x="1228602" y="1185524"/>
            <a:chExt cx="832655" cy="816522"/>
          </a:xfrm>
        </p:grpSpPr>
        <p:sp>
          <p:nvSpPr>
            <p:cNvPr id="64" name="Rounded Rectangle 63">
              <a:extLst>
                <a:ext uri="{FF2B5EF4-FFF2-40B4-BE49-F238E27FC236}">
                  <a16:creationId xmlns:a16="http://schemas.microsoft.com/office/drawing/2014/main" id="{140404EE-D379-848E-FF0D-19718C2D22E3}"/>
                </a:ext>
              </a:extLst>
            </p:cNvPr>
            <p:cNvSpPr/>
            <p:nvPr/>
          </p:nvSpPr>
          <p:spPr>
            <a:xfrm>
              <a:off x="122860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6154"/>
              </a:schemeClr>
            </a:fillRef>
            <a:effectRef idx="0">
              <a:schemeClr val="accent5">
                <a:alpha val="90000"/>
                <a:hueOff val="0"/>
                <a:satOff val="0"/>
                <a:lumOff val="0"/>
                <a:alphaOff val="-6154"/>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5" name="Rounded Rectangle 8">
              <a:extLst>
                <a:ext uri="{FF2B5EF4-FFF2-40B4-BE49-F238E27FC236}">
                  <a16:creationId xmlns:a16="http://schemas.microsoft.com/office/drawing/2014/main" id="{7963A6DD-923E-781E-FAB0-462F2CFE1B4C}"/>
                </a:ext>
              </a:extLst>
            </p:cNvPr>
            <p:cNvSpPr txBox="1"/>
            <p:nvPr/>
          </p:nvSpPr>
          <p:spPr>
            <a:xfrm>
              <a:off x="125299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Please keep side conversations to a minimum </a:t>
              </a:r>
            </a:p>
          </p:txBody>
        </p:sp>
      </p:grpSp>
      <p:grpSp>
        <p:nvGrpSpPr>
          <p:cNvPr id="31" name="Group 30">
            <a:extLst>
              <a:ext uri="{FF2B5EF4-FFF2-40B4-BE49-F238E27FC236}">
                <a16:creationId xmlns:a16="http://schemas.microsoft.com/office/drawing/2014/main" id="{47191676-84D9-A898-88B1-9B5BDE743516}"/>
              </a:ext>
            </a:extLst>
          </p:cNvPr>
          <p:cNvGrpSpPr/>
          <p:nvPr/>
        </p:nvGrpSpPr>
        <p:grpSpPr>
          <a:xfrm>
            <a:off x="1966860" y="5207475"/>
            <a:ext cx="1559028" cy="512594"/>
            <a:chOff x="1228602" y="2342893"/>
            <a:chExt cx="832655" cy="816522"/>
          </a:xfrm>
        </p:grpSpPr>
        <p:sp>
          <p:nvSpPr>
            <p:cNvPr id="62" name="Rounded Rectangle 61">
              <a:extLst>
                <a:ext uri="{FF2B5EF4-FFF2-40B4-BE49-F238E27FC236}">
                  <a16:creationId xmlns:a16="http://schemas.microsoft.com/office/drawing/2014/main" id="{C891F521-73D0-44B1-FA9D-D14B2771119C}"/>
                </a:ext>
              </a:extLst>
            </p:cNvPr>
            <p:cNvSpPr/>
            <p:nvPr/>
          </p:nvSpPr>
          <p:spPr>
            <a:xfrm>
              <a:off x="122860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9231"/>
              </a:schemeClr>
            </a:fillRef>
            <a:effectRef idx="0">
              <a:schemeClr val="accent5">
                <a:alpha val="90000"/>
                <a:hueOff val="0"/>
                <a:satOff val="0"/>
                <a:lumOff val="0"/>
                <a:alphaOff val="-9231"/>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3" name="Rounded Rectangle 10">
              <a:extLst>
                <a:ext uri="{FF2B5EF4-FFF2-40B4-BE49-F238E27FC236}">
                  <a16:creationId xmlns:a16="http://schemas.microsoft.com/office/drawing/2014/main" id="{31E86CF0-80DB-E998-7664-C7E4C04ADBE9}"/>
                </a:ext>
              </a:extLst>
            </p:cNvPr>
            <p:cNvSpPr txBox="1"/>
            <p:nvPr/>
          </p:nvSpPr>
          <p:spPr>
            <a:xfrm>
              <a:off x="125299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alt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Cell phones, laptops, and tablets switched off</a:t>
              </a: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endParaRPr>
            </a:p>
          </p:txBody>
        </p:sp>
      </p:grpSp>
      <p:grpSp>
        <p:nvGrpSpPr>
          <p:cNvPr id="32" name="Group 31">
            <a:extLst>
              <a:ext uri="{FF2B5EF4-FFF2-40B4-BE49-F238E27FC236}">
                <a16:creationId xmlns:a16="http://schemas.microsoft.com/office/drawing/2014/main" id="{77C0F2EB-C992-C767-376A-A96DF4B9B09F}"/>
              </a:ext>
            </a:extLst>
          </p:cNvPr>
          <p:cNvGrpSpPr/>
          <p:nvPr/>
        </p:nvGrpSpPr>
        <p:grpSpPr>
          <a:xfrm>
            <a:off x="3581500" y="4654694"/>
            <a:ext cx="1559028" cy="512594"/>
            <a:chOff x="2347482" y="1185524"/>
            <a:chExt cx="832655" cy="816522"/>
          </a:xfrm>
        </p:grpSpPr>
        <p:sp>
          <p:nvSpPr>
            <p:cNvPr id="60" name="Rounded Rectangle 59">
              <a:extLst>
                <a:ext uri="{FF2B5EF4-FFF2-40B4-BE49-F238E27FC236}">
                  <a16:creationId xmlns:a16="http://schemas.microsoft.com/office/drawing/2014/main" id="{37AACF82-E0AB-D8BE-FF7E-89B91F1960B8}"/>
                </a:ext>
              </a:extLst>
            </p:cNvPr>
            <p:cNvSpPr/>
            <p:nvPr/>
          </p:nvSpPr>
          <p:spPr>
            <a:xfrm>
              <a:off x="234748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12308"/>
              </a:schemeClr>
            </a:fillRef>
            <a:effectRef idx="0">
              <a:schemeClr val="accent5">
                <a:alpha val="90000"/>
                <a:hueOff val="0"/>
                <a:satOff val="0"/>
                <a:lumOff val="0"/>
                <a:alphaOff val="-12308"/>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61" name="Rounded Rectangle 12">
              <a:extLst>
                <a:ext uri="{FF2B5EF4-FFF2-40B4-BE49-F238E27FC236}">
                  <a16:creationId xmlns:a16="http://schemas.microsoft.com/office/drawing/2014/main" id="{E0DC1E64-1E46-06B5-C3C9-407437AFA306}"/>
                </a:ext>
              </a:extLst>
            </p:cNvPr>
            <p:cNvSpPr txBox="1"/>
            <p:nvPr/>
          </p:nvSpPr>
          <p:spPr>
            <a:xfrm>
              <a:off x="237187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Questions are encouraged</a:t>
              </a:r>
            </a:p>
          </p:txBody>
        </p:sp>
      </p:grpSp>
      <p:grpSp>
        <p:nvGrpSpPr>
          <p:cNvPr id="33" name="Group 32">
            <a:extLst>
              <a:ext uri="{FF2B5EF4-FFF2-40B4-BE49-F238E27FC236}">
                <a16:creationId xmlns:a16="http://schemas.microsoft.com/office/drawing/2014/main" id="{ADF274AD-5D61-CC62-7E0C-8E05EAB9453C}"/>
              </a:ext>
            </a:extLst>
          </p:cNvPr>
          <p:cNvGrpSpPr/>
          <p:nvPr/>
        </p:nvGrpSpPr>
        <p:grpSpPr>
          <a:xfrm>
            <a:off x="3585302" y="5207475"/>
            <a:ext cx="1559028" cy="512594"/>
            <a:chOff x="2347482" y="2342893"/>
            <a:chExt cx="832655" cy="816522"/>
          </a:xfrm>
        </p:grpSpPr>
        <p:sp>
          <p:nvSpPr>
            <p:cNvPr id="58" name="Rounded Rectangle 57">
              <a:extLst>
                <a:ext uri="{FF2B5EF4-FFF2-40B4-BE49-F238E27FC236}">
                  <a16:creationId xmlns:a16="http://schemas.microsoft.com/office/drawing/2014/main" id="{D6D3C0BA-3B73-8CA2-F807-8507067C0DB0}"/>
                </a:ext>
              </a:extLst>
            </p:cNvPr>
            <p:cNvSpPr/>
            <p:nvPr/>
          </p:nvSpPr>
          <p:spPr>
            <a:xfrm>
              <a:off x="234748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15385"/>
              </a:schemeClr>
            </a:fillRef>
            <a:effectRef idx="0">
              <a:schemeClr val="accent5">
                <a:alpha val="90000"/>
                <a:hueOff val="0"/>
                <a:satOff val="0"/>
                <a:lumOff val="0"/>
                <a:alphaOff val="-15385"/>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9" name="Rounded Rectangle 14">
              <a:extLst>
                <a:ext uri="{FF2B5EF4-FFF2-40B4-BE49-F238E27FC236}">
                  <a16:creationId xmlns:a16="http://schemas.microsoft.com/office/drawing/2014/main" id="{B028EFB8-3397-5062-CE34-372454D95BC9}"/>
                </a:ext>
              </a:extLst>
            </p:cNvPr>
            <p:cNvSpPr txBox="1"/>
            <p:nvPr/>
          </p:nvSpPr>
          <p:spPr>
            <a:xfrm>
              <a:off x="237187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Please ensure your understanding </a:t>
              </a:r>
            </a:p>
          </p:txBody>
        </p:sp>
      </p:grpSp>
      <p:grpSp>
        <p:nvGrpSpPr>
          <p:cNvPr id="34" name="Group 33">
            <a:extLst>
              <a:ext uri="{FF2B5EF4-FFF2-40B4-BE49-F238E27FC236}">
                <a16:creationId xmlns:a16="http://schemas.microsoft.com/office/drawing/2014/main" id="{F131B986-839C-9CAD-AA14-C57E27AD63D1}"/>
              </a:ext>
            </a:extLst>
          </p:cNvPr>
          <p:cNvGrpSpPr/>
          <p:nvPr/>
        </p:nvGrpSpPr>
        <p:grpSpPr>
          <a:xfrm>
            <a:off x="5200893" y="4654694"/>
            <a:ext cx="1559028" cy="512594"/>
            <a:chOff x="3466362" y="1185524"/>
            <a:chExt cx="832655" cy="816522"/>
          </a:xfrm>
        </p:grpSpPr>
        <p:sp>
          <p:nvSpPr>
            <p:cNvPr id="56" name="Rounded Rectangle 55">
              <a:extLst>
                <a:ext uri="{FF2B5EF4-FFF2-40B4-BE49-F238E27FC236}">
                  <a16:creationId xmlns:a16="http://schemas.microsoft.com/office/drawing/2014/main" id="{D5DBA21C-0F34-D22A-D00B-1460E3A18477}"/>
                </a:ext>
              </a:extLst>
            </p:cNvPr>
            <p:cNvSpPr/>
            <p:nvPr/>
          </p:nvSpPr>
          <p:spPr>
            <a:xfrm>
              <a:off x="346636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18462"/>
              </a:schemeClr>
            </a:fillRef>
            <a:effectRef idx="0">
              <a:schemeClr val="accent5">
                <a:alpha val="90000"/>
                <a:hueOff val="0"/>
                <a:satOff val="0"/>
                <a:lumOff val="0"/>
                <a:alphaOff val="-18462"/>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7" name="Rounded Rectangle 16">
              <a:extLst>
                <a:ext uri="{FF2B5EF4-FFF2-40B4-BE49-F238E27FC236}">
                  <a16:creationId xmlns:a16="http://schemas.microsoft.com/office/drawing/2014/main" id="{26211487-27B8-DBBA-B9AD-622E556A7DF3}"/>
                </a:ext>
              </a:extLst>
            </p:cNvPr>
            <p:cNvSpPr txBox="1"/>
            <p:nvPr/>
          </p:nvSpPr>
          <p:spPr>
            <a:xfrm>
              <a:off x="349075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000000"/>
                  </a:solidFill>
                  <a:effectLst/>
                  <a:uLnTx/>
                  <a:uFillTx/>
                  <a:latin typeface="Montserrat" pitchFamily="2" charset="77"/>
                  <a:ea typeface="Open Sans" panose="020B0606030504020204" pitchFamily="34" charset="0"/>
                  <a:cs typeface="Open Sans" panose="020B0606030504020204" pitchFamily="34" charset="0"/>
                </a:rPr>
                <a:t>Try not to use acronyms (when possible)</a:t>
              </a: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pSp>
      <p:grpSp>
        <p:nvGrpSpPr>
          <p:cNvPr id="35" name="Group 34">
            <a:extLst>
              <a:ext uri="{FF2B5EF4-FFF2-40B4-BE49-F238E27FC236}">
                <a16:creationId xmlns:a16="http://schemas.microsoft.com/office/drawing/2014/main" id="{ECA732C5-BB97-1DB5-DCAA-E73764EFC52B}"/>
              </a:ext>
            </a:extLst>
          </p:cNvPr>
          <p:cNvGrpSpPr/>
          <p:nvPr/>
        </p:nvGrpSpPr>
        <p:grpSpPr>
          <a:xfrm>
            <a:off x="5203744" y="5207475"/>
            <a:ext cx="1559028" cy="512594"/>
            <a:chOff x="3466362" y="2342893"/>
            <a:chExt cx="832655" cy="816522"/>
          </a:xfrm>
        </p:grpSpPr>
        <p:sp>
          <p:nvSpPr>
            <p:cNvPr id="54" name="Rounded Rectangle 53">
              <a:extLst>
                <a:ext uri="{FF2B5EF4-FFF2-40B4-BE49-F238E27FC236}">
                  <a16:creationId xmlns:a16="http://schemas.microsoft.com/office/drawing/2014/main" id="{D243EBB7-73FE-FB67-631E-0164DD808921}"/>
                </a:ext>
              </a:extLst>
            </p:cNvPr>
            <p:cNvSpPr/>
            <p:nvPr/>
          </p:nvSpPr>
          <p:spPr>
            <a:xfrm>
              <a:off x="346636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21538"/>
              </a:schemeClr>
            </a:fillRef>
            <a:effectRef idx="0">
              <a:schemeClr val="accent5">
                <a:alpha val="90000"/>
                <a:hueOff val="0"/>
                <a:satOff val="0"/>
                <a:lumOff val="0"/>
                <a:alphaOff val="-21538"/>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5" name="Rounded Rectangle 18">
              <a:extLst>
                <a:ext uri="{FF2B5EF4-FFF2-40B4-BE49-F238E27FC236}">
                  <a16:creationId xmlns:a16="http://schemas.microsoft.com/office/drawing/2014/main" id="{5EC9452F-4CC2-AAFF-2F16-AF65F2B3F93D}"/>
                </a:ext>
              </a:extLst>
            </p:cNvPr>
            <p:cNvSpPr txBox="1"/>
            <p:nvPr/>
          </p:nvSpPr>
          <p:spPr>
            <a:xfrm>
              <a:off x="349075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Resist the temptation to multitask</a:t>
              </a: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pSp>
      <p:grpSp>
        <p:nvGrpSpPr>
          <p:cNvPr id="36" name="Group 35">
            <a:extLst>
              <a:ext uri="{FF2B5EF4-FFF2-40B4-BE49-F238E27FC236}">
                <a16:creationId xmlns:a16="http://schemas.microsoft.com/office/drawing/2014/main" id="{812E246B-A25B-B075-819D-19345086D873}"/>
              </a:ext>
            </a:extLst>
          </p:cNvPr>
          <p:cNvGrpSpPr/>
          <p:nvPr/>
        </p:nvGrpSpPr>
        <p:grpSpPr>
          <a:xfrm>
            <a:off x="6820286" y="4654694"/>
            <a:ext cx="1559028" cy="512594"/>
            <a:chOff x="4585242" y="1185524"/>
            <a:chExt cx="832655" cy="816522"/>
          </a:xfrm>
        </p:grpSpPr>
        <p:sp>
          <p:nvSpPr>
            <p:cNvPr id="52" name="Rounded Rectangle 51">
              <a:extLst>
                <a:ext uri="{FF2B5EF4-FFF2-40B4-BE49-F238E27FC236}">
                  <a16:creationId xmlns:a16="http://schemas.microsoft.com/office/drawing/2014/main" id="{2AE64420-989C-AB74-8CF3-63457249758E}"/>
                </a:ext>
              </a:extLst>
            </p:cNvPr>
            <p:cNvSpPr/>
            <p:nvPr/>
          </p:nvSpPr>
          <p:spPr>
            <a:xfrm>
              <a:off x="458524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24615"/>
              </a:schemeClr>
            </a:fillRef>
            <a:effectRef idx="0">
              <a:schemeClr val="accent5">
                <a:alpha val="90000"/>
                <a:hueOff val="0"/>
                <a:satOff val="0"/>
                <a:lumOff val="0"/>
                <a:alphaOff val="-24615"/>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3" name="Rounded Rectangle 20">
              <a:extLst>
                <a:ext uri="{FF2B5EF4-FFF2-40B4-BE49-F238E27FC236}">
                  <a16:creationId xmlns:a16="http://schemas.microsoft.com/office/drawing/2014/main" id="{0B18D7D4-EBA3-A1B6-D8C1-FF75A7277A5C}"/>
                </a:ext>
              </a:extLst>
            </p:cNvPr>
            <p:cNvSpPr txBox="1"/>
            <p:nvPr/>
          </p:nvSpPr>
          <p:spPr>
            <a:xfrm>
              <a:off x="460963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Unmute yourself to speak, and then mute immediately after</a:t>
              </a:r>
            </a:p>
          </p:txBody>
        </p:sp>
      </p:grpSp>
      <p:grpSp>
        <p:nvGrpSpPr>
          <p:cNvPr id="37" name="Group 36">
            <a:extLst>
              <a:ext uri="{FF2B5EF4-FFF2-40B4-BE49-F238E27FC236}">
                <a16:creationId xmlns:a16="http://schemas.microsoft.com/office/drawing/2014/main" id="{AE3ABBDF-03B8-B9C9-2776-5BC95E8BF507}"/>
              </a:ext>
            </a:extLst>
          </p:cNvPr>
          <p:cNvGrpSpPr/>
          <p:nvPr/>
        </p:nvGrpSpPr>
        <p:grpSpPr>
          <a:xfrm>
            <a:off x="6822186" y="5207475"/>
            <a:ext cx="1559028" cy="512594"/>
            <a:chOff x="4585242" y="2342893"/>
            <a:chExt cx="832655" cy="816522"/>
          </a:xfrm>
        </p:grpSpPr>
        <p:sp>
          <p:nvSpPr>
            <p:cNvPr id="50" name="Rounded Rectangle 49">
              <a:extLst>
                <a:ext uri="{FF2B5EF4-FFF2-40B4-BE49-F238E27FC236}">
                  <a16:creationId xmlns:a16="http://schemas.microsoft.com/office/drawing/2014/main" id="{37EC8D1C-41FB-7C62-0301-DCFD9A7500B7}"/>
                </a:ext>
              </a:extLst>
            </p:cNvPr>
            <p:cNvSpPr/>
            <p:nvPr/>
          </p:nvSpPr>
          <p:spPr>
            <a:xfrm>
              <a:off x="458524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27692"/>
              </a:schemeClr>
            </a:fillRef>
            <a:effectRef idx="0">
              <a:schemeClr val="accent5">
                <a:alpha val="90000"/>
                <a:hueOff val="0"/>
                <a:satOff val="0"/>
                <a:lumOff val="0"/>
                <a:alphaOff val="-27692"/>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1" name="Rounded Rectangle 22">
              <a:extLst>
                <a:ext uri="{FF2B5EF4-FFF2-40B4-BE49-F238E27FC236}">
                  <a16:creationId xmlns:a16="http://schemas.microsoft.com/office/drawing/2014/main" id="{7F073BEF-C19C-67C1-C58E-699904529A59}"/>
                </a:ext>
              </a:extLst>
            </p:cNvPr>
            <p:cNvSpPr txBox="1"/>
            <p:nvPr/>
          </p:nvSpPr>
          <p:spPr>
            <a:xfrm>
              <a:off x="460963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If background noise hand off to a colleague and mute to reestablish your environment</a:t>
              </a:r>
            </a:p>
          </p:txBody>
        </p:sp>
      </p:grpSp>
      <p:grpSp>
        <p:nvGrpSpPr>
          <p:cNvPr id="38" name="Group 37">
            <a:extLst>
              <a:ext uri="{FF2B5EF4-FFF2-40B4-BE49-F238E27FC236}">
                <a16:creationId xmlns:a16="http://schemas.microsoft.com/office/drawing/2014/main" id="{8A8CD917-B877-CE57-632D-3F83062D3B38}"/>
              </a:ext>
            </a:extLst>
          </p:cNvPr>
          <p:cNvGrpSpPr/>
          <p:nvPr/>
        </p:nvGrpSpPr>
        <p:grpSpPr>
          <a:xfrm>
            <a:off x="8439679" y="4654694"/>
            <a:ext cx="1559028" cy="512594"/>
            <a:chOff x="5704122" y="1185524"/>
            <a:chExt cx="832655" cy="816522"/>
          </a:xfrm>
        </p:grpSpPr>
        <p:sp>
          <p:nvSpPr>
            <p:cNvPr id="48" name="Rounded Rectangle 47">
              <a:extLst>
                <a:ext uri="{FF2B5EF4-FFF2-40B4-BE49-F238E27FC236}">
                  <a16:creationId xmlns:a16="http://schemas.microsoft.com/office/drawing/2014/main" id="{776C4F89-95E0-6312-42EC-22E7A60D0B66}"/>
                </a:ext>
              </a:extLst>
            </p:cNvPr>
            <p:cNvSpPr/>
            <p:nvPr/>
          </p:nvSpPr>
          <p:spPr>
            <a:xfrm>
              <a:off x="570412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30769"/>
              </a:schemeClr>
            </a:fillRef>
            <a:effectRef idx="0">
              <a:schemeClr val="accent5">
                <a:alpha val="90000"/>
                <a:hueOff val="0"/>
                <a:satOff val="0"/>
                <a:lumOff val="0"/>
                <a:alphaOff val="-30769"/>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49" name="Rounded Rectangle 24">
              <a:extLst>
                <a:ext uri="{FF2B5EF4-FFF2-40B4-BE49-F238E27FC236}">
                  <a16:creationId xmlns:a16="http://schemas.microsoft.com/office/drawing/2014/main" id="{E2F7ED90-B078-8E48-8B4E-9D5655257945}"/>
                </a:ext>
              </a:extLst>
            </p:cNvPr>
            <p:cNvSpPr txBox="1"/>
            <p:nvPr/>
          </p:nvSpPr>
          <p:spPr>
            <a:xfrm>
              <a:off x="572851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All questions to be posted in the meeting chat</a:t>
              </a:r>
            </a:p>
          </p:txBody>
        </p:sp>
      </p:grpSp>
      <p:grpSp>
        <p:nvGrpSpPr>
          <p:cNvPr id="39" name="Group 38">
            <a:extLst>
              <a:ext uri="{FF2B5EF4-FFF2-40B4-BE49-F238E27FC236}">
                <a16:creationId xmlns:a16="http://schemas.microsoft.com/office/drawing/2014/main" id="{1A177820-F90A-7DBC-D9DB-3920553D170E}"/>
              </a:ext>
            </a:extLst>
          </p:cNvPr>
          <p:cNvGrpSpPr/>
          <p:nvPr/>
        </p:nvGrpSpPr>
        <p:grpSpPr>
          <a:xfrm>
            <a:off x="8440628" y="5207475"/>
            <a:ext cx="1559028" cy="512594"/>
            <a:chOff x="5704122" y="2342893"/>
            <a:chExt cx="832655" cy="816522"/>
          </a:xfrm>
        </p:grpSpPr>
        <p:sp>
          <p:nvSpPr>
            <p:cNvPr id="46" name="Rounded Rectangle 45">
              <a:extLst>
                <a:ext uri="{FF2B5EF4-FFF2-40B4-BE49-F238E27FC236}">
                  <a16:creationId xmlns:a16="http://schemas.microsoft.com/office/drawing/2014/main" id="{3BC9E641-1340-E934-87D3-C78D370C35A9}"/>
                </a:ext>
              </a:extLst>
            </p:cNvPr>
            <p:cNvSpPr/>
            <p:nvPr/>
          </p:nvSpPr>
          <p:spPr>
            <a:xfrm>
              <a:off x="570412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33846"/>
              </a:schemeClr>
            </a:fillRef>
            <a:effectRef idx="0">
              <a:schemeClr val="accent5">
                <a:alpha val="90000"/>
                <a:hueOff val="0"/>
                <a:satOff val="0"/>
                <a:lumOff val="0"/>
                <a:alphaOff val="-33846"/>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47" name="Rounded Rectangle 26">
              <a:extLst>
                <a:ext uri="{FF2B5EF4-FFF2-40B4-BE49-F238E27FC236}">
                  <a16:creationId xmlns:a16="http://schemas.microsoft.com/office/drawing/2014/main" id="{330372A5-555D-44FA-DB2A-332944DF0550}"/>
                </a:ext>
              </a:extLst>
            </p:cNvPr>
            <p:cNvSpPr txBox="1"/>
            <p:nvPr/>
          </p:nvSpPr>
          <p:spPr>
            <a:xfrm>
              <a:off x="572851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Use the “raise hand” feature to ask questions</a:t>
              </a:r>
            </a:p>
          </p:txBody>
        </p:sp>
      </p:grpSp>
      <p:grpSp>
        <p:nvGrpSpPr>
          <p:cNvPr id="40" name="Group 39">
            <a:extLst>
              <a:ext uri="{FF2B5EF4-FFF2-40B4-BE49-F238E27FC236}">
                <a16:creationId xmlns:a16="http://schemas.microsoft.com/office/drawing/2014/main" id="{C61F1E71-17B1-1976-50A0-33A534A02632}"/>
              </a:ext>
            </a:extLst>
          </p:cNvPr>
          <p:cNvGrpSpPr/>
          <p:nvPr/>
        </p:nvGrpSpPr>
        <p:grpSpPr>
          <a:xfrm>
            <a:off x="10059069" y="4654694"/>
            <a:ext cx="1559028" cy="512594"/>
            <a:chOff x="6823002" y="1185524"/>
            <a:chExt cx="832655" cy="816522"/>
          </a:xfrm>
        </p:grpSpPr>
        <p:sp>
          <p:nvSpPr>
            <p:cNvPr id="44" name="Rounded Rectangle 43">
              <a:extLst>
                <a:ext uri="{FF2B5EF4-FFF2-40B4-BE49-F238E27FC236}">
                  <a16:creationId xmlns:a16="http://schemas.microsoft.com/office/drawing/2014/main" id="{11557442-4481-0759-17EE-A69BACFD45A7}"/>
                </a:ext>
              </a:extLst>
            </p:cNvPr>
            <p:cNvSpPr/>
            <p:nvPr/>
          </p:nvSpPr>
          <p:spPr>
            <a:xfrm>
              <a:off x="6823002" y="1185524"/>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36923"/>
              </a:schemeClr>
            </a:fillRef>
            <a:effectRef idx="0">
              <a:schemeClr val="accent5">
                <a:alpha val="90000"/>
                <a:hueOff val="0"/>
                <a:satOff val="0"/>
                <a:lumOff val="0"/>
                <a:alphaOff val="-36923"/>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45" name="Rounded Rectangle 28">
              <a:extLst>
                <a:ext uri="{FF2B5EF4-FFF2-40B4-BE49-F238E27FC236}">
                  <a16:creationId xmlns:a16="http://schemas.microsoft.com/office/drawing/2014/main" id="{872E7D29-3F83-3E6E-EE73-F12E70863006}"/>
                </a:ext>
              </a:extLst>
            </p:cNvPr>
            <p:cNvSpPr txBox="1"/>
            <p:nvPr/>
          </p:nvSpPr>
          <p:spPr>
            <a:xfrm>
              <a:off x="6847390" y="1185524"/>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Ensure that everyone has their cameras on when possible</a:t>
              </a:r>
              <a:endParaRPr kumimoji="0" lang="en-US" alt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endParaRPr>
            </a:p>
          </p:txBody>
        </p:sp>
      </p:grpSp>
      <p:grpSp>
        <p:nvGrpSpPr>
          <p:cNvPr id="41" name="Group 40">
            <a:extLst>
              <a:ext uri="{FF2B5EF4-FFF2-40B4-BE49-F238E27FC236}">
                <a16:creationId xmlns:a16="http://schemas.microsoft.com/office/drawing/2014/main" id="{7535A541-9C01-9759-13B2-FAE9AB6C1F24}"/>
              </a:ext>
            </a:extLst>
          </p:cNvPr>
          <p:cNvGrpSpPr/>
          <p:nvPr/>
        </p:nvGrpSpPr>
        <p:grpSpPr>
          <a:xfrm>
            <a:off x="10059069" y="5207475"/>
            <a:ext cx="1559028" cy="512594"/>
            <a:chOff x="6823002" y="2342893"/>
            <a:chExt cx="832655" cy="816522"/>
          </a:xfrm>
        </p:grpSpPr>
        <p:sp>
          <p:nvSpPr>
            <p:cNvPr id="42" name="Rounded Rectangle 41">
              <a:extLst>
                <a:ext uri="{FF2B5EF4-FFF2-40B4-BE49-F238E27FC236}">
                  <a16:creationId xmlns:a16="http://schemas.microsoft.com/office/drawing/2014/main" id="{6276BDC2-CB8E-D950-817F-022948BDDC5C}"/>
                </a:ext>
              </a:extLst>
            </p:cNvPr>
            <p:cNvSpPr/>
            <p:nvPr/>
          </p:nvSpPr>
          <p:spPr>
            <a:xfrm>
              <a:off x="6823002" y="2342893"/>
              <a:ext cx="832655" cy="816522"/>
            </a:xfrm>
            <a:prstGeom prst="roundRect">
              <a:avLst>
                <a:gd name="adj" fmla="val 10000"/>
              </a:avLst>
            </a:prstGeom>
          </p:spPr>
          <p:style>
            <a:lnRef idx="2">
              <a:schemeClr val="lt1">
                <a:hueOff val="0"/>
                <a:satOff val="0"/>
                <a:lumOff val="0"/>
                <a:alphaOff val="0"/>
              </a:schemeClr>
            </a:lnRef>
            <a:fillRef idx="1">
              <a:schemeClr val="accent5">
                <a:alpha val="90000"/>
                <a:hueOff val="0"/>
                <a:satOff val="0"/>
                <a:lumOff val="0"/>
                <a:alphaOff val="-40000"/>
              </a:schemeClr>
            </a:fillRef>
            <a:effectRef idx="0">
              <a:schemeClr val="accent5">
                <a:alpha val="90000"/>
                <a:hueOff val="0"/>
                <a:satOff val="0"/>
                <a:lumOff val="0"/>
                <a:alphaOff val="-4000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43" name="Rounded Rectangle 30">
              <a:extLst>
                <a:ext uri="{FF2B5EF4-FFF2-40B4-BE49-F238E27FC236}">
                  <a16:creationId xmlns:a16="http://schemas.microsoft.com/office/drawing/2014/main" id="{B209A6BE-2FE7-642B-3E99-D3BBA631DFD9}"/>
                </a:ext>
              </a:extLst>
            </p:cNvPr>
            <p:cNvSpPr txBox="1"/>
            <p:nvPr/>
          </p:nvSpPr>
          <p:spPr>
            <a:xfrm>
              <a:off x="6847390" y="2342893"/>
              <a:ext cx="783879" cy="792134"/>
            </a:xfrm>
            <a:prstGeom prst="rect">
              <a:avLst/>
            </a:prstGeom>
            <a:ln w="6350">
              <a:solidFill>
                <a:schemeClr val="accent3"/>
              </a:solidFill>
            </a:ln>
          </p:spPr>
          <p:style>
            <a:lnRef idx="2">
              <a:schemeClr val="accent2"/>
            </a:lnRef>
            <a:fillRef idx="1">
              <a:schemeClr val="lt1"/>
            </a:fillRef>
            <a:effectRef idx="0">
              <a:schemeClr val="accent2"/>
            </a:effectRef>
            <a:fontRef idx="minor">
              <a:schemeClr val="dk1"/>
            </a:fontRef>
          </p:style>
          <p:txBody>
            <a:bodyPr spcFirstLastPara="0" vert="horz" wrap="square" lIns="20320" tIns="15240" rIns="20320" bIns="15240" numCol="1" spcCol="1270" anchor="ctr" anchorCtr="0">
              <a:noAutofit/>
            </a:bodyPr>
            <a:lstStyle/>
            <a:p>
              <a:pPr marL="0" marR="0" lvl="0" indent="0" algn="ctr" defTabSz="355600" rtl="0" eaLnBrk="1" fontAlgn="auto" latinLnBrk="0" hangingPunct="1">
                <a:lnSpc>
                  <a:spcPct val="90000"/>
                </a:lnSpc>
                <a:spcBef>
                  <a:spcPct val="0"/>
                </a:spcBef>
                <a:spcAft>
                  <a:spcPct val="350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rPr>
                <a:t>For troubleshooting, individually contact the host (Scrum Master)</a:t>
              </a:r>
              <a:endParaRPr kumimoji="0" lang="en-US" altLang="en-US" sz="900" b="0" i="0" u="none" strike="noStrike" kern="1200" cap="none" spc="0" normalizeH="0" baseline="0" noProof="0">
                <a:ln>
                  <a:noFill/>
                </a:ln>
                <a:solidFill>
                  <a:srgbClr val="000000"/>
                </a:solidFill>
                <a:effectLst/>
                <a:uLnTx/>
                <a:uFillTx/>
                <a:latin typeface="Montserrat" pitchFamily="2" charset="77"/>
                <a:ea typeface="+mn-ea"/>
                <a:cs typeface="Arial" panose="020B0604020202020204" pitchFamily="34" charset="0"/>
              </a:endParaRPr>
            </a:p>
          </p:txBody>
        </p:sp>
      </p:grpSp>
      <p:sp>
        <p:nvSpPr>
          <p:cNvPr id="71" name="TextBox 70">
            <a:extLst>
              <a:ext uri="{FF2B5EF4-FFF2-40B4-BE49-F238E27FC236}">
                <a16:creationId xmlns:a16="http://schemas.microsoft.com/office/drawing/2014/main" id="{D7ED1848-D680-5453-745E-3FD8DEB22A0F}"/>
              </a:ext>
            </a:extLst>
          </p:cNvPr>
          <p:cNvSpPr txBox="1"/>
          <p:nvPr/>
        </p:nvSpPr>
        <p:spPr>
          <a:xfrm>
            <a:off x="3278250" y="3821748"/>
            <a:ext cx="540431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800" b="1" i="0" u="none" strike="noStrike" kern="1200" cap="none" spc="0" normalizeH="0" baseline="0" noProof="0">
                <a:ln>
                  <a:noFill/>
                </a:ln>
                <a:solidFill>
                  <a:srgbClr val="0067A4"/>
                </a:solidFill>
                <a:effectLst/>
                <a:uLnTx/>
                <a:uFillTx/>
                <a:latin typeface="Montserrat" pitchFamily="2" charset="77"/>
                <a:ea typeface="+mn-ea"/>
                <a:cs typeface="+mn-cs"/>
              </a:rPr>
              <a:t>GROUND</a:t>
            </a:r>
            <a:r>
              <a:rPr kumimoji="0" lang="en-US" sz="1800" b="0" i="0" u="none" strike="noStrike" kern="1200" cap="none" spc="0" normalizeH="0" baseline="0" noProof="0">
                <a:ln>
                  <a:noFill/>
                </a:ln>
                <a:solidFill>
                  <a:srgbClr val="0067A4"/>
                </a:solidFill>
                <a:effectLst/>
                <a:uLnTx/>
                <a:uFillTx/>
                <a:latin typeface="Montserrat" pitchFamily="2" charset="77"/>
                <a:ea typeface="+mn-ea"/>
                <a:cs typeface="+mn-cs"/>
              </a:rPr>
              <a:t> </a:t>
            </a:r>
            <a:r>
              <a:rPr kumimoji="0" lang="en-US" sz="1800" b="1" i="0" u="none" strike="noStrike" kern="1200" cap="none" spc="0" normalizeH="0" baseline="0" noProof="0">
                <a:ln>
                  <a:noFill/>
                </a:ln>
                <a:solidFill>
                  <a:srgbClr val="0067A4"/>
                </a:solidFill>
                <a:effectLst/>
                <a:uLnTx/>
                <a:uFillTx/>
                <a:latin typeface="Montserrat" pitchFamily="2" charset="77"/>
                <a:ea typeface="+mn-ea"/>
                <a:cs typeface="+mn-cs"/>
              </a:rPr>
              <a:t>RULES</a:t>
            </a:r>
            <a:endParaRPr kumimoji="0" lang="en-US"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1654858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9D662-8D48-81D6-84A2-C8709A15EA62}"/>
            </a:ext>
          </a:extLst>
        </p:cNvPr>
        <p:cNvGrpSpPr/>
        <p:nvPr/>
      </p:nvGrpSpPr>
      <p:grpSpPr>
        <a:xfrm>
          <a:off x="0" y="0"/>
          <a:ext cx="0" cy="0"/>
          <a:chOff x="0" y="0"/>
          <a:chExt cx="0" cy="0"/>
        </a:xfrm>
      </p:grpSpPr>
      <p:sp>
        <p:nvSpPr>
          <p:cNvPr id="23" name="Content Placeholder 22">
            <a:extLst>
              <a:ext uri="{FF2B5EF4-FFF2-40B4-BE49-F238E27FC236}">
                <a16:creationId xmlns:a16="http://schemas.microsoft.com/office/drawing/2014/main" id="{578B0FB8-54F3-D2E7-66F5-9C89BDE8C115}"/>
              </a:ext>
            </a:extLst>
          </p:cNvPr>
          <p:cNvSpPr>
            <a:spLocks noGrp="1"/>
          </p:cNvSpPr>
          <p:nvPr>
            <p:ph idx="1"/>
          </p:nvPr>
        </p:nvSpPr>
        <p:spPr>
          <a:xfrm>
            <a:off x="414528" y="885827"/>
            <a:ext cx="11375136" cy="5228821"/>
          </a:xfrm>
        </p:spPr>
        <p:txBody>
          <a:bodyPr vert="horz" lIns="0" tIns="45720" rIns="91440" bIns="45720" rtlCol="0" anchor="t">
            <a:normAutofit/>
          </a:bodyPr>
          <a:lstStyle/>
          <a:p>
            <a:r>
              <a:rPr lang="en-US" sz="1800">
                <a:latin typeface="Montserrat"/>
              </a:rPr>
              <a:t>Offer a holistic view of all the key elements of the to-be process including organization/roles, configuration or customization if needed, data, reporting, security, and controls requirements. Define the target-state ownership and L3 processes. Document key assumptions/decisions and outline any FRICE-W's and reports. </a:t>
            </a:r>
          </a:p>
          <a:p>
            <a:endParaRPr lang="en-US" sz="2100"/>
          </a:p>
        </p:txBody>
      </p:sp>
      <p:sp>
        <p:nvSpPr>
          <p:cNvPr id="2" name="Title 1">
            <a:extLst>
              <a:ext uri="{FF2B5EF4-FFF2-40B4-BE49-F238E27FC236}">
                <a16:creationId xmlns:a16="http://schemas.microsoft.com/office/drawing/2014/main" id="{E4186259-2493-2CC7-3EB5-E2EBF814D359}"/>
              </a:ext>
            </a:extLst>
          </p:cNvPr>
          <p:cNvSpPr>
            <a:spLocks noGrp="1"/>
          </p:cNvSpPr>
          <p:nvPr>
            <p:ph type="title"/>
          </p:nvPr>
        </p:nvSpPr>
        <p:spPr>
          <a:xfrm>
            <a:off x="247840" y="272224"/>
            <a:ext cx="11375136" cy="609600"/>
          </a:xfrm>
        </p:spPr>
        <p:txBody>
          <a:bodyPr>
            <a:normAutofit/>
          </a:bodyPr>
          <a:lstStyle/>
          <a:p>
            <a:r>
              <a:rPr lang="en-US">
                <a:latin typeface="Montserrat"/>
              </a:rPr>
              <a:t>Objective</a:t>
            </a:r>
            <a:endParaRPr lang="en-US"/>
          </a:p>
        </p:txBody>
      </p:sp>
      <p:graphicFrame>
        <p:nvGraphicFramePr>
          <p:cNvPr id="5" name="Diagram 4">
            <a:extLst>
              <a:ext uri="{FF2B5EF4-FFF2-40B4-BE49-F238E27FC236}">
                <a16:creationId xmlns:a16="http://schemas.microsoft.com/office/drawing/2014/main" id="{112F556A-3369-C152-1FCE-12AB9A0D9E14}"/>
              </a:ext>
            </a:extLst>
          </p:cNvPr>
          <p:cNvGraphicFramePr/>
          <p:nvPr>
            <p:extLst>
              <p:ext uri="{D42A27DB-BD31-4B8C-83A1-F6EECF244321}">
                <p14:modId xmlns:p14="http://schemas.microsoft.com/office/powerpoint/2010/main" val="1284552801"/>
              </p:ext>
            </p:extLst>
          </p:nvPr>
        </p:nvGraphicFramePr>
        <p:xfrm>
          <a:off x="2222500" y="2084545"/>
          <a:ext cx="7770813" cy="38751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43759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96FEC-D8F9-D4C2-CA18-D5EC593E56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9D9EF7-2836-8111-C917-EFC987C961BA}"/>
              </a:ext>
            </a:extLst>
          </p:cNvPr>
          <p:cNvSpPr>
            <a:spLocks noGrp="1"/>
          </p:cNvSpPr>
          <p:nvPr>
            <p:ph type="title"/>
          </p:nvPr>
        </p:nvSpPr>
        <p:spPr>
          <a:xfrm>
            <a:off x="153761" y="291436"/>
            <a:ext cx="3057526" cy="2207924"/>
          </a:xfrm>
        </p:spPr>
        <p:txBody>
          <a:bodyPr>
            <a:normAutofit fontScale="90000"/>
          </a:bodyPr>
          <a:lstStyle/>
          <a:p>
            <a:r>
              <a:rPr lang="en-US">
                <a:latin typeface="Montserrat"/>
              </a:rPr>
              <a:t>Maintain Person BP in CRM</a:t>
            </a:r>
          </a:p>
        </p:txBody>
      </p:sp>
      <p:sp>
        <p:nvSpPr>
          <p:cNvPr id="6" name="TextBox 5">
            <a:extLst>
              <a:ext uri="{FF2B5EF4-FFF2-40B4-BE49-F238E27FC236}">
                <a16:creationId xmlns:a16="http://schemas.microsoft.com/office/drawing/2014/main" id="{D6A8859C-1BFA-1603-9727-E25E7D0A9CDB}"/>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pic>
        <p:nvPicPr>
          <p:cNvPr id="5" name="Picture 4">
            <a:extLst>
              <a:ext uri="{FF2B5EF4-FFF2-40B4-BE49-F238E27FC236}">
                <a16:creationId xmlns:a16="http://schemas.microsoft.com/office/drawing/2014/main" id="{8C44E7E0-67DA-C33C-A9C6-3BA68E9D8901}"/>
              </a:ext>
            </a:extLst>
          </p:cNvPr>
          <p:cNvPicPr>
            <a:picLocks noChangeAspect="1"/>
          </p:cNvPicPr>
          <p:nvPr/>
        </p:nvPicPr>
        <p:blipFill>
          <a:blip r:embed="rId2"/>
          <a:stretch>
            <a:fillRect/>
          </a:stretch>
        </p:blipFill>
        <p:spPr>
          <a:xfrm>
            <a:off x="3211286" y="248996"/>
            <a:ext cx="8826954" cy="2609984"/>
          </a:xfrm>
          <a:prstGeom prst="rect">
            <a:avLst/>
          </a:prstGeom>
          <a:effectLst>
            <a:innerShdw blurRad="114300">
              <a:prstClr val="black"/>
            </a:innerShdw>
          </a:effectLst>
        </p:spPr>
      </p:pic>
      <p:graphicFrame>
        <p:nvGraphicFramePr>
          <p:cNvPr id="13" name="Table 12">
            <a:extLst>
              <a:ext uri="{FF2B5EF4-FFF2-40B4-BE49-F238E27FC236}">
                <a16:creationId xmlns:a16="http://schemas.microsoft.com/office/drawing/2014/main" id="{66F81D9D-D0BD-3809-D4C3-CEBB28A00FE3}"/>
              </a:ext>
            </a:extLst>
          </p:cNvPr>
          <p:cNvGraphicFramePr>
            <a:graphicFrameLocks noGrp="1"/>
          </p:cNvGraphicFramePr>
          <p:nvPr/>
        </p:nvGraphicFramePr>
        <p:xfrm>
          <a:off x="1485900" y="3182106"/>
          <a:ext cx="9220200" cy="3294516"/>
        </p:xfrm>
        <a:graphic>
          <a:graphicData uri="http://schemas.openxmlformats.org/drawingml/2006/table">
            <a:tbl>
              <a:tblPr firstRow="1" bandRow="1">
                <a:tableStyleId>{5C22544A-7EE6-4342-B048-85BDC9FD1C3A}</a:tableStyleId>
              </a:tblPr>
              <a:tblGrid>
                <a:gridCol w="1583743">
                  <a:extLst>
                    <a:ext uri="{9D8B030D-6E8A-4147-A177-3AD203B41FA5}">
                      <a16:colId xmlns:a16="http://schemas.microsoft.com/office/drawing/2014/main" val="4084044958"/>
                    </a:ext>
                  </a:extLst>
                </a:gridCol>
                <a:gridCol w="948053">
                  <a:extLst>
                    <a:ext uri="{9D8B030D-6E8A-4147-A177-3AD203B41FA5}">
                      <a16:colId xmlns:a16="http://schemas.microsoft.com/office/drawing/2014/main" val="3615934369"/>
                    </a:ext>
                  </a:extLst>
                </a:gridCol>
                <a:gridCol w="806870">
                  <a:extLst>
                    <a:ext uri="{9D8B030D-6E8A-4147-A177-3AD203B41FA5}">
                      <a16:colId xmlns:a16="http://schemas.microsoft.com/office/drawing/2014/main" val="73187036"/>
                    </a:ext>
                  </a:extLst>
                </a:gridCol>
                <a:gridCol w="858926">
                  <a:extLst>
                    <a:ext uri="{9D8B030D-6E8A-4147-A177-3AD203B41FA5}">
                      <a16:colId xmlns:a16="http://schemas.microsoft.com/office/drawing/2014/main" val="3147726669"/>
                    </a:ext>
                  </a:extLst>
                </a:gridCol>
                <a:gridCol w="2142977">
                  <a:extLst>
                    <a:ext uri="{9D8B030D-6E8A-4147-A177-3AD203B41FA5}">
                      <a16:colId xmlns:a16="http://schemas.microsoft.com/office/drawing/2014/main" val="2929055363"/>
                    </a:ext>
                  </a:extLst>
                </a:gridCol>
                <a:gridCol w="913671">
                  <a:extLst>
                    <a:ext uri="{9D8B030D-6E8A-4147-A177-3AD203B41FA5}">
                      <a16:colId xmlns:a16="http://schemas.microsoft.com/office/drawing/2014/main" val="2386789796"/>
                    </a:ext>
                  </a:extLst>
                </a:gridCol>
                <a:gridCol w="890941">
                  <a:extLst>
                    <a:ext uri="{9D8B030D-6E8A-4147-A177-3AD203B41FA5}">
                      <a16:colId xmlns:a16="http://schemas.microsoft.com/office/drawing/2014/main" val="2536028979"/>
                    </a:ext>
                  </a:extLst>
                </a:gridCol>
                <a:gridCol w="1075019">
                  <a:extLst>
                    <a:ext uri="{9D8B030D-6E8A-4147-A177-3AD203B41FA5}">
                      <a16:colId xmlns:a16="http://schemas.microsoft.com/office/drawing/2014/main" val="1126145318"/>
                    </a:ext>
                  </a:extLst>
                </a:gridCol>
              </a:tblGrid>
              <a:tr h="253588">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extLst>
                  <a:ext uri="{0D108BD9-81ED-4DB2-BD59-A6C34878D82A}">
                    <a16:rowId xmlns:a16="http://schemas.microsoft.com/office/drawing/2014/main" val="4282288673"/>
                  </a:ext>
                </a:extLst>
              </a:tr>
              <a:tr h="253588">
                <a:tc>
                  <a:txBody>
                    <a:bodyPr/>
                    <a:lstStyle/>
                    <a:p>
                      <a:r>
                        <a:rPr lang="en-US" sz="1050"/>
                        <a:t>First Name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Apartment</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49373528"/>
                  </a:ext>
                </a:extLst>
              </a:tr>
              <a:tr h="253588">
                <a:tc>
                  <a:txBody>
                    <a:bodyPr/>
                    <a:lstStyle/>
                    <a:p>
                      <a:r>
                        <a:rPr lang="en-US" sz="1050"/>
                        <a:t>Last Name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Building</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100861940"/>
                  </a:ext>
                </a:extLst>
              </a:tr>
              <a:tr h="253588">
                <a:tc>
                  <a:txBody>
                    <a:bodyPr/>
                    <a:lstStyle/>
                    <a:p>
                      <a:r>
                        <a:rPr lang="en-US" sz="1050"/>
                        <a:t>Middle Name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Room</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011119898"/>
                  </a:ext>
                </a:extLst>
              </a:tr>
              <a:tr h="253588">
                <a:tc>
                  <a:txBody>
                    <a:bodyPr/>
                    <a:lstStyle/>
                    <a:p>
                      <a:r>
                        <a:rPr lang="en-US" sz="1050"/>
                        <a:t>Title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Floor</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045713161"/>
                  </a:ext>
                </a:extLst>
              </a:tr>
              <a:tr h="253588">
                <a:tc>
                  <a:txBody>
                    <a:bodyPr/>
                    <a:lstStyle/>
                    <a:p>
                      <a:r>
                        <a:rPr lang="en-US" sz="1050"/>
                        <a:t>Suffix</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City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815704308"/>
                  </a:ext>
                </a:extLst>
              </a:tr>
              <a:tr h="253588">
                <a:tc>
                  <a:txBody>
                    <a:bodyPr/>
                    <a:lstStyle/>
                    <a:p>
                      <a:r>
                        <a:rPr lang="en-US" sz="1050"/>
                        <a:t>Drivers License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State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729228727"/>
                  </a:ext>
                </a:extLst>
              </a:tr>
              <a:tr h="253588">
                <a:tc>
                  <a:txBody>
                    <a:bodyPr/>
                    <a:lstStyle/>
                    <a:p>
                      <a:r>
                        <a:rPr lang="en-US" sz="1050"/>
                        <a:t>Drivers License State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Zip Code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316147996"/>
                  </a:ext>
                </a:extLst>
              </a:tr>
              <a:tr h="253588">
                <a:tc>
                  <a:txBody>
                    <a:bodyPr/>
                    <a:lstStyle/>
                    <a:p>
                      <a:r>
                        <a:rPr lang="en-US" sz="1050"/>
                        <a:t>Drivers License Country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Country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extLst>
                  <a:ext uri="{0D108BD9-81ED-4DB2-BD59-A6C34878D82A}">
                    <a16:rowId xmlns:a16="http://schemas.microsoft.com/office/drawing/2014/main" val="3573349906"/>
                  </a:ext>
                </a:extLst>
              </a:tr>
              <a:tr h="253588">
                <a:tc>
                  <a:txBody>
                    <a:bodyPr/>
                    <a:lstStyle/>
                    <a:p>
                      <a:r>
                        <a:rPr lang="en-US" sz="1050"/>
                        <a:t>Social Security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PMB</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970660839"/>
                  </a:ext>
                </a:extLst>
              </a:tr>
              <a:tr h="253588">
                <a:tc>
                  <a:txBody>
                    <a:bodyPr/>
                    <a:lstStyle/>
                    <a:p>
                      <a:r>
                        <a:rPr lang="en-US" sz="1050"/>
                        <a:t>Tax Jurisdiction</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tc>
                  <a:txBody>
                    <a:bodyPr/>
                    <a:lstStyle/>
                    <a:p>
                      <a:r>
                        <a:rPr lang="en-US" sz="1050"/>
                        <a:t>Address Dependent Landline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5980212"/>
                  </a:ext>
                </a:extLst>
              </a:tr>
              <a:tr h="253588">
                <a:tc>
                  <a:txBody>
                    <a:bodyPr/>
                    <a:lstStyle/>
                    <a:p>
                      <a:r>
                        <a:rPr lang="en-US" sz="1050"/>
                        <a:t>House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Address Dependent Mobile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1003096985"/>
                  </a:ext>
                </a:extLst>
              </a:tr>
              <a:tr h="171298">
                <a:tc>
                  <a:txBody>
                    <a:bodyPr/>
                    <a:lstStyle/>
                    <a:p>
                      <a:r>
                        <a:rPr lang="en-US" sz="1050"/>
                        <a:t>Street</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Address Dependent Email</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242324598"/>
                  </a:ext>
                </a:extLst>
              </a:tr>
            </a:tbl>
          </a:graphicData>
        </a:graphic>
      </p:graphicFrame>
    </p:spTree>
    <p:extLst>
      <p:ext uri="{BB962C8B-B14F-4D97-AF65-F5344CB8AC3E}">
        <p14:creationId xmlns:p14="http://schemas.microsoft.com/office/powerpoint/2010/main" val="23917442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55766" y="4425702"/>
            <a:ext cx="6483035" cy="1887074"/>
          </a:xfrm>
        </p:spPr>
        <p:txBody>
          <a:bodyPr/>
          <a:lstStyle/>
          <a:p>
            <a:r>
              <a:rPr lang="en-US" sz="4250" b="1">
                <a:latin typeface="Montserrat"/>
              </a:rPr>
              <a:t>02</a:t>
            </a:r>
            <a:r>
              <a:rPr lang="en-US" sz="4250">
                <a:latin typeface="Montserrat"/>
              </a:rPr>
              <a:t> (L3) </a:t>
            </a:r>
            <a:r>
              <a:rPr lang="en-US" sz="4400">
                <a:latin typeface="Montserrat"/>
              </a:rPr>
              <a:t>Create Business Master Data</a:t>
            </a:r>
            <a:endParaRPr lang="en-US"/>
          </a:p>
        </p:txBody>
      </p:sp>
    </p:spTree>
    <p:extLst>
      <p:ext uri="{BB962C8B-B14F-4D97-AF65-F5344CB8AC3E}">
        <p14:creationId xmlns:p14="http://schemas.microsoft.com/office/powerpoint/2010/main" val="28280658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B0A90-C1A5-0B52-017E-17C1C2F179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637AB3-A485-D8B8-99EC-E9CD869BA706}"/>
              </a:ext>
            </a:extLst>
          </p:cNvPr>
          <p:cNvSpPr>
            <a:spLocks noGrp="1"/>
          </p:cNvSpPr>
          <p:nvPr>
            <p:ph type="title"/>
          </p:nvPr>
        </p:nvSpPr>
        <p:spPr>
          <a:xfrm>
            <a:off x="-1021" y="5686"/>
            <a:ext cx="12186923" cy="743456"/>
          </a:xfrm>
        </p:spPr>
        <p:txBody>
          <a:bodyPr>
            <a:normAutofit/>
          </a:bodyPr>
          <a:lstStyle/>
          <a:p>
            <a:r>
              <a:rPr lang="en-US" sz="3200">
                <a:latin typeface="Montserrat"/>
              </a:rPr>
              <a:t>Business Partner Number Ranges and Replication</a:t>
            </a:r>
          </a:p>
        </p:txBody>
      </p:sp>
      <p:sp>
        <p:nvSpPr>
          <p:cNvPr id="6" name="TextBox 5">
            <a:extLst>
              <a:ext uri="{FF2B5EF4-FFF2-40B4-BE49-F238E27FC236}">
                <a16:creationId xmlns:a16="http://schemas.microsoft.com/office/drawing/2014/main" id="{D4AC7B8F-0085-B017-915D-859C0EA92D63}"/>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284AB7F5-0036-94DE-070B-1B8490A13AB2}"/>
              </a:ext>
            </a:extLst>
          </p:cNvPr>
          <p:cNvSpPr txBox="1"/>
          <p:nvPr/>
        </p:nvSpPr>
        <p:spPr>
          <a:xfrm>
            <a:off x="-7917" y="955788"/>
            <a:ext cx="12172947"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When creating a new business partner from SAP S4HANA, SAP will use the internal number range configured in SAP S4HANA. Once the business partner is saved, the business partner </a:t>
            </a:r>
            <a:r>
              <a:rPr lang="en-US">
                <a:ea typeface="+mn-lt"/>
                <a:cs typeface="+mn-lt"/>
              </a:rPr>
              <a:t>1006483279 as an example. Replication from SAP S4HANA to SAP Service Cloud v2 will be triggered. The external number in SAP Service Cloud v2 will be used to create the same business partner number created in S4HANA. Therefore, business partner 1006483279 now exists in both systems. </a:t>
            </a:r>
          </a:p>
          <a:p>
            <a:endParaRPr lang="en-US"/>
          </a:p>
          <a:p>
            <a:r>
              <a:rPr lang="en-US"/>
              <a:t>When creating a new business partner from SAP Service Cloud v2, SAP will use the internal number range configured in Service Cloud v2. Once the business partner is saved, the business partner </a:t>
            </a:r>
            <a:r>
              <a:rPr lang="en-US">
                <a:ea typeface="+mn-lt"/>
                <a:cs typeface="+mn-lt"/>
              </a:rPr>
              <a:t>1031941770</a:t>
            </a:r>
            <a:r>
              <a:rPr lang="en-US"/>
              <a:t> as an example. Replication from SAP Service Cloud v2 to SAP S4HANA will be triggered. The external number in SAP S4HANA will be used to create the same business partner number created in S4HANA. Therefore, business partner 1031941770 now exists in both systems. </a:t>
            </a:r>
          </a:p>
        </p:txBody>
      </p:sp>
      <p:graphicFrame>
        <p:nvGraphicFramePr>
          <p:cNvPr id="8" name="Table 7">
            <a:extLst>
              <a:ext uri="{FF2B5EF4-FFF2-40B4-BE49-F238E27FC236}">
                <a16:creationId xmlns:a16="http://schemas.microsoft.com/office/drawing/2014/main" id="{610337C4-32BD-DD95-73FA-AB11EB79895C}"/>
              </a:ext>
            </a:extLst>
          </p:cNvPr>
          <p:cNvGraphicFramePr>
            <a:graphicFrameLocks noGrp="1"/>
          </p:cNvGraphicFramePr>
          <p:nvPr/>
        </p:nvGraphicFramePr>
        <p:xfrm>
          <a:off x="167494" y="3753697"/>
          <a:ext cx="10974078" cy="1220340"/>
        </p:xfrm>
        <a:graphic>
          <a:graphicData uri="http://schemas.openxmlformats.org/drawingml/2006/table">
            <a:tbl>
              <a:tblPr firstRow="1" bandRow="1">
                <a:tableStyleId>{5C22544A-7EE6-4342-B048-85BDC9FD1C3A}</a:tableStyleId>
              </a:tblPr>
              <a:tblGrid>
                <a:gridCol w="920922">
                  <a:extLst>
                    <a:ext uri="{9D8B030D-6E8A-4147-A177-3AD203B41FA5}">
                      <a16:colId xmlns:a16="http://schemas.microsoft.com/office/drawing/2014/main" val="1859295381"/>
                    </a:ext>
                  </a:extLst>
                </a:gridCol>
                <a:gridCol w="1402635">
                  <a:extLst>
                    <a:ext uri="{9D8B030D-6E8A-4147-A177-3AD203B41FA5}">
                      <a16:colId xmlns:a16="http://schemas.microsoft.com/office/drawing/2014/main" val="4125018432"/>
                    </a:ext>
                  </a:extLst>
                </a:gridCol>
                <a:gridCol w="1586817">
                  <a:extLst>
                    <a:ext uri="{9D8B030D-6E8A-4147-A177-3AD203B41FA5}">
                      <a16:colId xmlns:a16="http://schemas.microsoft.com/office/drawing/2014/main" val="2752329662"/>
                    </a:ext>
                  </a:extLst>
                </a:gridCol>
                <a:gridCol w="595054">
                  <a:extLst>
                    <a:ext uri="{9D8B030D-6E8A-4147-A177-3AD203B41FA5}">
                      <a16:colId xmlns:a16="http://schemas.microsoft.com/office/drawing/2014/main" val="1372701946"/>
                    </a:ext>
                  </a:extLst>
                </a:gridCol>
                <a:gridCol w="1275121">
                  <a:extLst>
                    <a:ext uri="{9D8B030D-6E8A-4147-A177-3AD203B41FA5}">
                      <a16:colId xmlns:a16="http://schemas.microsoft.com/office/drawing/2014/main" val="1122817577"/>
                    </a:ext>
                  </a:extLst>
                </a:gridCol>
                <a:gridCol w="1416803">
                  <a:extLst>
                    <a:ext uri="{9D8B030D-6E8A-4147-A177-3AD203B41FA5}">
                      <a16:colId xmlns:a16="http://schemas.microsoft.com/office/drawing/2014/main" val="709650641"/>
                    </a:ext>
                  </a:extLst>
                </a:gridCol>
                <a:gridCol w="2626622">
                  <a:extLst>
                    <a:ext uri="{9D8B030D-6E8A-4147-A177-3AD203B41FA5}">
                      <a16:colId xmlns:a16="http://schemas.microsoft.com/office/drawing/2014/main" val="3379084665"/>
                    </a:ext>
                  </a:extLst>
                </a:gridCol>
                <a:gridCol w="1150104">
                  <a:extLst>
                    <a:ext uri="{9D8B030D-6E8A-4147-A177-3AD203B41FA5}">
                      <a16:colId xmlns:a16="http://schemas.microsoft.com/office/drawing/2014/main" val="7774650"/>
                    </a:ext>
                  </a:extLst>
                </a:gridCol>
              </a:tblGrid>
              <a:tr h="498917">
                <a:tc>
                  <a:txBody>
                    <a:bodyPr/>
                    <a:lstStyle/>
                    <a:p>
                      <a:pPr lvl="0" algn="ctr">
                        <a:buNone/>
                      </a:pPr>
                      <a:r>
                        <a:rPr lang="en-US" sz="1400"/>
                        <a:t>No</a:t>
                      </a:r>
                    </a:p>
                  </a:txBody>
                  <a:tcPr/>
                </a:tc>
                <a:tc>
                  <a:txBody>
                    <a:bodyPr/>
                    <a:lstStyle/>
                    <a:p>
                      <a:pPr lvl="0" algn="ctr">
                        <a:buNone/>
                      </a:pPr>
                      <a:r>
                        <a:rPr lang="en-US" sz="1400"/>
                        <a:t>From No</a:t>
                      </a:r>
                    </a:p>
                  </a:txBody>
                  <a:tcPr/>
                </a:tc>
                <a:tc>
                  <a:txBody>
                    <a:bodyPr/>
                    <a:lstStyle/>
                    <a:p>
                      <a:pPr lvl="0" algn="ctr">
                        <a:buNone/>
                      </a:pPr>
                      <a:r>
                        <a:rPr lang="en-US" sz="1400"/>
                        <a:t>To No</a:t>
                      </a:r>
                    </a:p>
                  </a:txBody>
                  <a:tcPr/>
                </a:tc>
                <a:tc>
                  <a:txBody>
                    <a:bodyPr/>
                    <a:lstStyle/>
                    <a:p>
                      <a:pPr lvl="0" algn="ctr">
                        <a:buNone/>
                      </a:pPr>
                      <a:r>
                        <a:rPr lang="en-US" sz="1400"/>
                        <a:t>Ext</a:t>
                      </a:r>
                    </a:p>
                  </a:txBody>
                  <a:tcPr/>
                </a:tc>
                <a:tc>
                  <a:txBody>
                    <a:bodyPr/>
                    <a:lstStyle/>
                    <a:p>
                      <a:pPr lvl="0" algn="ctr">
                        <a:buNone/>
                      </a:pPr>
                      <a:r>
                        <a:rPr lang="en-US" sz="1400"/>
                        <a:t>Grouping</a:t>
                      </a:r>
                    </a:p>
                  </a:txBody>
                  <a:tcPr/>
                </a:tc>
                <a:tc>
                  <a:txBody>
                    <a:bodyPr/>
                    <a:lstStyle/>
                    <a:p>
                      <a:pPr lvl="0" algn="ctr">
                        <a:buNone/>
                      </a:pPr>
                      <a:r>
                        <a:rPr lang="en-US" sz="1400"/>
                        <a:t>Short Name</a:t>
                      </a:r>
                    </a:p>
                  </a:txBody>
                  <a:tcPr/>
                </a:tc>
                <a:tc>
                  <a:txBody>
                    <a:bodyPr/>
                    <a:lstStyle/>
                    <a:p>
                      <a:pPr lvl="0" algn="ctr">
                        <a:buNone/>
                      </a:pPr>
                      <a:r>
                        <a:rPr lang="en-US" sz="1400"/>
                        <a:t>Description</a:t>
                      </a:r>
                    </a:p>
                  </a:txBody>
                  <a:tcPr/>
                </a:tc>
                <a:tc>
                  <a:txBody>
                    <a:bodyPr/>
                    <a:lstStyle/>
                    <a:p>
                      <a:pPr lvl="0" algn="ctr">
                        <a:buNone/>
                      </a:pPr>
                      <a:r>
                        <a:rPr lang="en-US" sz="1400"/>
                        <a:t>Number Range</a:t>
                      </a:r>
                    </a:p>
                  </a:txBody>
                  <a:tcPr/>
                </a:tc>
                <a:extLst>
                  <a:ext uri="{0D108BD9-81ED-4DB2-BD59-A6C34878D82A}">
                    <a16:rowId xmlns:a16="http://schemas.microsoft.com/office/drawing/2014/main" val="2425112939"/>
                  </a:ext>
                </a:extLst>
              </a:tr>
              <a:tr h="351090">
                <a:tc>
                  <a:txBody>
                    <a:bodyPr/>
                    <a:lstStyle/>
                    <a:p>
                      <a:pPr lvl="0" algn="ctr">
                        <a:buNone/>
                      </a:pPr>
                      <a:r>
                        <a:rPr lang="en-US" sz="1400"/>
                        <a:t>01</a:t>
                      </a:r>
                    </a:p>
                  </a:txBody>
                  <a:tcPr/>
                </a:tc>
                <a:tc>
                  <a:txBody>
                    <a:bodyPr/>
                    <a:lstStyle/>
                    <a:p>
                      <a:pPr lvl="0" algn="ctr">
                        <a:buNone/>
                      </a:pPr>
                      <a:r>
                        <a:rPr lang="en-US" sz="1400"/>
                        <a:t>1000000000</a:t>
                      </a:r>
                    </a:p>
                  </a:txBody>
                  <a:tcPr/>
                </a:tc>
                <a:tc>
                  <a:txBody>
                    <a:bodyPr/>
                    <a:lstStyle/>
                    <a:p>
                      <a:pPr lvl="0" algn="ctr">
                        <a:buNone/>
                      </a:pPr>
                      <a:r>
                        <a:rPr lang="en-US" sz="1400"/>
                        <a:t>1029999999</a:t>
                      </a:r>
                    </a:p>
                  </a:txBody>
                  <a:tcPr/>
                </a:tc>
                <a:tc>
                  <a:txBody>
                    <a:bodyPr/>
                    <a:lstStyle/>
                    <a:p>
                      <a:pPr lvl="0" algn="ctr">
                        <a:buNone/>
                      </a:pPr>
                      <a:endParaRPr lang="en-US" sz="1400"/>
                    </a:p>
                  </a:txBody>
                  <a:tcPr/>
                </a:tc>
                <a:tc>
                  <a:txBody>
                    <a:bodyPr/>
                    <a:lstStyle/>
                    <a:p>
                      <a:pPr lvl="0" algn="ctr">
                        <a:buNone/>
                      </a:pPr>
                      <a:r>
                        <a:rPr lang="en-US" sz="1400"/>
                        <a:t>0001</a:t>
                      </a:r>
                    </a:p>
                  </a:txBody>
                  <a:tcPr/>
                </a:tc>
                <a:tc>
                  <a:txBody>
                    <a:bodyPr/>
                    <a:lstStyle/>
                    <a:p>
                      <a:pPr lvl="0" algn="ctr">
                        <a:buNone/>
                      </a:pPr>
                      <a:r>
                        <a:rPr lang="en-US" sz="1400"/>
                        <a:t>ECC BP's</a:t>
                      </a:r>
                    </a:p>
                  </a:txBody>
                  <a:tcPr/>
                </a:tc>
                <a:tc>
                  <a:txBody>
                    <a:bodyPr/>
                    <a:lstStyle/>
                    <a:p>
                      <a:pPr lvl="0" algn="ctr">
                        <a:buNone/>
                      </a:pPr>
                      <a:r>
                        <a:rPr lang="en-US" sz="1400"/>
                        <a:t>BP's Created in ECC</a:t>
                      </a:r>
                    </a:p>
                  </a:txBody>
                  <a:tcPr/>
                </a:tc>
                <a:tc>
                  <a:txBody>
                    <a:bodyPr/>
                    <a:lstStyle/>
                    <a:p>
                      <a:pPr lvl="0" algn="ctr">
                        <a:buNone/>
                      </a:pPr>
                      <a:r>
                        <a:rPr lang="en-US" sz="1400"/>
                        <a:t>01</a:t>
                      </a:r>
                    </a:p>
                  </a:txBody>
                  <a:tcPr/>
                </a:tc>
                <a:extLst>
                  <a:ext uri="{0D108BD9-81ED-4DB2-BD59-A6C34878D82A}">
                    <a16:rowId xmlns:a16="http://schemas.microsoft.com/office/drawing/2014/main" val="1939654581"/>
                  </a:ext>
                </a:extLst>
              </a:tr>
              <a:tr h="351090">
                <a:tc>
                  <a:txBody>
                    <a:bodyPr/>
                    <a:lstStyle/>
                    <a:p>
                      <a:pPr lvl="0" algn="ctr">
                        <a:buNone/>
                      </a:pPr>
                      <a:r>
                        <a:rPr lang="en-US" sz="1400"/>
                        <a:t>02</a:t>
                      </a:r>
                    </a:p>
                  </a:txBody>
                  <a:tcPr/>
                </a:tc>
                <a:tc>
                  <a:txBody>
                    <a:bodyPr/>
                    <a:lstStyle/>
                    <a:p>
                      <a:pPr lvl="0" algn="ctr">
                        <a:buNone/>
                      </a:pPr>
                      <a:r>
                        <a:rPr lang="en-US" sz="1400"/>
                        <a:t>1030000000</a:t>
                      </a:r>
                    </a:p>
                  </a:txBody>
                  <a:tcPr/>
                </a:tc>
                <a:tc>
                  <a:txBody>
                    <a:bodyPr/>
                    <a:lstStyle/>
                    <a:p>
                      <a:pPr lvl="0" algn="ctr">
                        <a:buNone/>
                      </a:pPr>
                      <a:r>
                        <a:rPr lang="en-US" sz="1400"/>
                        <a:t>1999999999</a:t>
                      </a:r>
                    </a:p>
                  </a:txBody>
                  <a:tcPr/>
                </a:tc>
                <a:tc>
                  <a:txBody>
                    <a:bodyPr/>
                    <a:lstStyle/>
                    <a:p>
                      <a:pPr lvl="0" algn="ctr">
                        <a:buNone/>
                      </a:pPr>
                      <a:r>
                        <a:rPr lang="en-US" sz="1400"/>
                        <a:t>X</a:t>
                      </a:r>
                    </a:p>
                  </a:txBody>
                  <a:tcPr/>
                </a:tc>
                <a:tc>
                  <a:txBody>
                    <a:bodyPr/>
                    <a:lstStyle/>
                    <a:p>
                      <a:pPr lvl="0" algn="ctr">
                        <a:buNone/>
                      </a:pPr>
                      <a:r>
                        <a:rPr lang="en-US" sz="1400"/>
                        <a:t>0003</a:t>
                      </a:r>
                    </a:p>
                  </a:txBody>
                  <a:tcPr/>
                </a:tc>
                <a:tc>
                  <a:txBody>
                    <a:bodyPr/>
                    <a:lstStyle/>
                    <a:p>
                      <a:pPr lvl="0" algn="ctr">
                        <a:buNone/>
                      </a:pPr>
                      <a:r>
                        <a:rPr lang="en-US" sz="1400"/>
                        <a:t>CRM BP's</a:t>
                      </a:r>
                    </a:p>
                  </a:txBody>
                  <a:tcPr/>
                </a:tc>
                <a:tc>
                  <a:txBody>
                    <a:bodyPr/>
                    <a:lstStyle/>
                    <a:p>
                      <a:pPr lvl="0" algn="ctr">
                        <a:buNone/>
                      </a:pPr>
                      <a:r>
                        <a:rPr lang="en-US" sz="1400"/>
                        <a:t>BP's Created in CRM</a:t>
                      </a:r>
                    </a:p>
                  </a:txBody>
                  <a:tcPr/>
                </a:tc>
                <a:tc>
                  <a:txBody>
                    <a:bodyPr/>
                    <a:lstStyle/>
                    <a:p>
                      <a:pPr lvl="0" algn="ctr">
                        <a:buNone/>
                      </a:pPr>
                      <a:r>
                        <a:rPr lang="en-US" sz="1400"/>
                        <a:t>02</a:t>
                      </a:r>
                    </a:p>
                  </a:txBody>
                  <a:tcPr/>
                </a:tc>
                <a:extLst>
                  <a:ext uri="{0D108BD9-81ED-4DB2-BD59-A6C34878D82A}">
                    <a16:rowId xmlns:a16="http://schemas.microsoft.com/office/drawing/2014/main" val="1922440080"/>
                  </a:ext>
                </a:extLst>
              </a:tr>
            </a:tbl>
          </a:graphicData>
        </a:graphic>
      </p:graphicFrame>
      <p:sp>
        <p:nvSpPr>
          <p:cNvPr id="9" name="TextBox 8">
            <a:extLst>
              <a:ext uri="{FF2B5EF4-FFF2-40B4-BE49-F238E27FC236}">
                <a16:creationId xmlns:a16="http://schemas.microsoft.com/office/drawing/2014/main" id="{9746EAB8-EDDE-F2A4-3C82-B5E33C12A844}"/>
              </a:ext>
            </a:extLst>
          </p:cNvPr>
          <p:cNvSpPr txBox="1"/>
          <p:nvPr/>
        </p:nvSpPr>
        <p:spPr>
          <a:xfrm>
            <a:off x="10323" y="5408863"/>
            <a:ext cx="111371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*Note*</a:t>
            </a:r>
            <a:r>
              <a:rPr lang="en-US"/>
              <a:t> employees will be created in S4HANA with an internal number range starting with 5* and replicate to Service Cloud v2 with an external number range starting with 8*. This is the same process that occurs today.  </a:t>
            </a:r>
          </a:p>
        </p:txBody>
      </p:sp>
    </p:spTree>
    <p:extLst>
      <p:ext uri="{BB962C8B-B14F-4D97-AF65-F5344CB8AC3E}">
        <p14:creationId xmlns:p14="http://schemas.microsoft.com/office/powerpoint/2010/main" val="40927502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5204-DBC3-A7D2-63EC-AC4CD2F1C2AB}"/>
              </a:ext>
            </a:extLst>
          </p:cNvPr>
          <p:cNvSpPr>
            <a:spLocks noGrp="1"/>
          </p:cNvSpPr>
          <p:nvPr>
            <p:ph type="title"/>
          </p:nvPr>
        </p:nvSpPr>
        <p:spPr>
          <a:xfrm>
            <a:off x="140684" y="200787"/>
            <a:ext cx="3409855" cy="609600"/>
          </a:xfrm>
        </p:spPr>
        <p:txBody>
          <a:bodyPr>
            <a:normAutofit fontScale="90000"/>
          </a:bodyPr>
          <a:lstStyle/>
          <a:p>
            <a:r>
              <a:rPr lang="en-US"/>
              <a:t>BP Roles </a:t>
            </a:r>
          </a:p>
        </p:txBody>
      </p:sp>
      <p:graphicFrame>
        <p:nvGraphicFramePr>
          <p:cNvPr id="3" name="Table 2">
            <a:extLst>
              <a:ext uri="{FF2B5EF4-FFF2-40B4-BE49-F238E27FC236}">
                <a16:creationId xmlns:a16="http://schemas.microsoft.com/office/drawing/2014/main" id="{C3BD8FBF-9355-3492-1902-E1ACF134C9CA}"/>
              </a:ext>
            </a:extLst>
          </p:cNvPr>
          <p:cNvGraphicFramePr>
            <a:graphicFrameLocks noGrp="1"/>
          </p:cNvGraphicFramePr>
          <p:nvPr/>
        </p:nvGraphicFramePr>
        <p:xfrm>
          <a:off x="4951083" y="196931"/>
          <a:ext cx="6835100" cy="5739793"/>
        </p:xfrm>
        <a:graphic>
          <a:graphicData uri="http://schemas.openxmlformats.org/drawingml/2006/table">
            <a:tbl>
              <a:tblPr firstRow="1" bandRow="1">
                <a:tableStyleId>{5C22544A-7EE6-4342-B048-85BDC9FD1C3A}</a:tableStyleId>
              </a:tblPr>
              <a:tblGrid>
                <a:gridCol w="2388358">
                  <a:extLst>
                    <a:ext uri="{9D8B030D-6E8A-4147-A177-3AD203B41FA5}">
                      <a16:colId xmlns:a16="http://schemas.microsoft.com/office/drawing/2014/main" val="1563910559"/>
                    </a:ext>
                  </a:extLst>
                </a:gridCol>
                <a:gridCol w="4446742">
                  <a:extLst>
                    <a:ext uri="{9D8B030D-6E8A-4147-A177-3AD203B41FA5}">
                      <a16:colId xmlns:a16="http://schemas.microsoft.com/office/drawing/2014/main" val="1136100710"/>
                    </a:ext>
                  </a:extLst>
                </a:gridCol>
              </a:tblGrid>
              <a:tr h="322455">
                <a:tc>
                  <a:txBody>
                    <a:bodyPr/>
                    <a:lstStyle/>
                    <a:p>
                      <a:pPr algn="ctr"/>
                      <a:r>
                        <a:rPr lang="en-US" sz="1600">
                          <a:solidFill>
                            <a:srgbClr val="FFC000"/>
                          </a:solidFill>
                        </a:rPr>
                        <a:t>Custom BP Role in ECC</a:t>
                      </a:r>
                    </a:p>
                  </a:txBody>
                  <a:tcPr/>
                </a:tc>
                <a:tc>
                  <a:txBody>
                    <a:bodyPr/>
                    <a:lstStyle/>
                    <a:p>
                      <a:pPr algn="ctr"/>
                      <a:r>
                        <a:rPr lang="en-US" sz="1600"/>
                        <a:t>Description</a:t>
                      </a:r>
                    </a:p>
                  </a:txBody>
                  <a:tcPr/>
                </a:tc>
                <a:extLst>
                  <a:ext uri="{0D108BD9-81ED-4DB2-BD59-A6C34878D82A}">
                    <a16:rowId xmlns:a16="http://schemas.microsoft.com/office/drawing/2014/main" val="3462280352"/>
                  </a:ext>
                </a:extLst>
              </a:tr>
              <a:tr h="322455">
                <a:tc>
                  <a:txBody>
                    <a:bodyPr/>
                    <a:lstStyle/>
                    <a:p>
                      <a:pPr lvl="0">
                        <a:buNone/>
                      </a:pPr>
                      <a:r>
                        <a:rPr lang="en-US" sz="1600" b="1"/>
                        <a:t>Z3PRTY</a:t>
                      </a:r>
                    </a:p>
                  </a:txBody>
                  <a:tcPr/>
                </a:tc>
                <a:tc>
                  <a:txBody>
                    <a:bodyPr/>
                    <a:lstStyle/>
                    <a:p>
                      <a:r>
                        <a:rPr lang="en-US" sz="1600" b="1"/>
                        <a:t>Authorized 3rd Party</a:t>
                      </a:r>
                    </a:p>
                  </a:txBody>
                  <a:tcPr/>
                </a:tc>
                <a:extLst>
                  <a:ext uri="{0D108BD9-81ED-4DB2-BD59-A6C34878D82A}">
                    <a16:rowId xmlns:a16="http://schemas.microsoft.com/office/drawing/2014/main" val="2108041550"/>
                  </a:ext>
                </a:extLst>
              </a:tr>
              <a:tr h="322455">
                <a:tc>
                  <a:txBody>
                    <a:bodyPr/>
                    <a:lstStyle/>
                    <a:p>
                      <a:pPr lvl="0">
                        <a:buNone/>
                      </a:pPr>
                      <a:r>
                        <a:rPr lang="en-US" sz="1600" b="1"/>
                        <a:t>ZCORPD</a:t>
                      </a:r>
                    </a:p>
                  </a:txBody>
                  <a:tcPr/>
                </a:tc>
                <a:tc>
                  <a:txBody>
                    <a:bodyPr/>
                    <a:lstStyle/>
                    <a:p>
                      <a:r>
                        <a:rPr lang="en-US" sz="1600" b="1"/>
                        <a:t>Corporate Division</a:t>
                      </a:r>
                    </a:p>
                  </a:txBody>
                  <a:tcPr/>
                </a:tc>
                <a:extLst>
                  <a:ext uri="{0D108BD9-81ED-4DB2-BD59-A6C34878D82A}">
                    <a16:rowId xmlns:a16="http://schemas.microsoft.com/office/drawing/2014/main" val="2063194364"/>
                  </a:ext>
                </a:extLst>
              </a:tr>
              <a:tr h="322455">
                <a:tc>
                  <a:txBody>
                    <a:bodyPr/>
                    <a:lstStyle/>
                    <a:p>
                      <a:r>
                        <a:rPr lang="en-US" sz="1600" b="1"/>
                        <a:t>ZE_CAM</a:t>
                      </a:r>
                    </a:p>
                  </a:txBody>
                  <a:tcPr/>
                </a:tc>
                <a:tc>
                  <a:txBody>
                    <a:bodyPr/>
                    <a:lstStyle/>
                    <a:p>
                      <a:r>
                        <a:rPr lang="en-US" sz="1600" b="1"/>
                        <a:t>Employee-CAM</a:t>
                      </a:r>
                    </a:p>
                  </a:txBody>
                  <a:tcPr/>
                </a:tc>
                <a:extLst>
                  <a:ext uri="{0D108BD9-81ED-4DB2-BD59-A6C34878D82A}">
                    <a16:rowId xmlns:a16="http://schemas.microsoft.com/office/drawing/2014/main" val="1970437893"/>
                  </a:ext>
                </a:extLst>
              </a:tr>
              <a:tr h="322455">
                <a:tc>
                  <a:txBody>
                    <a:bodyPr/>
                    <a:lstStyle/>
                    <a:p>
                      <a:r>
                        <a:rPr lang="en-US" sz="1600"/>
                        <a:t>ZES001</a:t>
                      </a:r>
                    </a:p>
                  </a:txBody>
                  <a:tcPr/>
                </a:tc>
                <a:tc>
                  <a:txBody>
                    <a:bodyPr/>
                    <a:lstStyle/>
                    <a:p>
                      <a:r>
                        <a:rPr lang="en-US" sz="1600"/>
                        <a:t>ES Services Customer</a:t>
                      </a:r>
                    </a:p>
                  </a:txBody>
                  <a:tcPr/>
                </a:tc>
                <a:extLst>
                  <a:ext uri="{0D108BD9-81ED-4DB2-BD59-A6C34878D82A}">
                    <a16:rowId xmlns:a16="http://schemas.microsoft.com/office/drawing/2014/main" val="3471108391"/>
                  </a:ext>
                </a:extLst>
              </a:tr>
              <a:tr h="322455">
                <a:tc>
                  <a:txBody>
                    <a:bodyPr/>
                    <a:lstStyle/>
                    <a:p>
                      <a:r>
                        <a:rPr lang="en-US" sz="1600"/>
                        <a:t>ZFAE30</a:t>
                      </a:r>
                    </a:p>
                  </a:txBody>
                  <a:tcPr/>
                </a:tc>
                <a:tc>
                  <a:txBody>
                    <a:bodyPr/>
                    <a:lstStyle/>
                    <a:p>
                      <a:r>
                        <a:rPr lang="en-US" sz="1600"/>
                        <a:t>Occupant 3- Contractor</a:t>
                      </a:r>
                    </a:p>
                  </a:txBody>
                  <a:tcPr/>
                </a:tc>
                <a:extLst>
                  <a:ext uri="{0D108BD9-81ED-4DB2-BD59-A6C34878D82A}">
                    <a16:rowId xmlns:a16="http://schemas.microsoft.com/office/drawing/2014/main" val="1043134829"/>
                  </a:ext>
                </a:extLst>
              </a:tr>
              <a:tr h="322455">
                <a:tc>
                  <a:txBody>
                    <a:bodyPr/>
                    <a:lstStyle/>
                    <a:p>
                      <a:r>
                        <a:rPr lang="en-US" sz="1600"/>
                        <a:t>ZFAI10</a:t>
                      </a:r>
                    </a:p>
                  </a:txBody>
                  <a:tcPr/>
                </a:tc>
                <a:tc>
                  <a:txBody>
                    <a:bodyPr/>
                    <a:lstStyle/>
                    <a:p>
                      <a:r>
                        <a:rPr lang="en-US" sz="1600"/>
                        <a:t>Occupant 1 - Employee</a:t>
                      </a:r>
                    </a:p>
                  </a:txBody>
                  <a:tcPr/>
                </a:tc>
                <a:extLst>
                  <a:ext uri="{0D108BD9-81ED-4DB2-BD59-A6C34878D82A}">
                    <a16:rowId xmlns:a16="http://schemas.microsoft.com/office/drawing/2014/main" val="2184882742"/>
                  </a:ext>
                </a:extLst>
              </a:tr>
              <a:tr h="322455">
                <a:tc>
                  <a:txBody>
                    <a:bodyPr/>
                    <a:lstStyle/>
                    <a:p>
                      <a:r>
                        <a:rPr lang="en-US" sz="1600"/>
                        <a:t>ZFAI20</a:t>
                      </a:r>
                    </a:p>
                  </a:txBody>
                  <a:tcPr/>
                </a:tc>
                <a:tc>
                  <a:txBody>
                    <a:bodyPr/>
                    <a:lstStyle/>
                    <a:p>
                      <a:r>
                        <a:rPr lang="en-US" sz="1600"/>
                        <a:t>Occupant 2 – Cost Center</a:t>
                      </a:r>
                    </a:p>
                  </a:txBody>
                  <a:tcPr/>
                </a:tc>
                <a:extLst>
                  <a:ext uri="{0D108BD9-81ED-4DB2-BD59-A6C34878D82A}">
                    <a16:rowId xmlns:a16="http://schemas.microsoft.com/office/drawing/2014/main" val="101593901"/>
                  </a:ext>
                </a:extLst>
              </a:tr>
              <a:tr h="322455">
                <a:tc>
                  <a:txBody>
                    <a:bodyPr/>
                    <a:lstStyle/>
                    <a:p>
                      <a:pPr lvl="0">
                        <a:buNone/>
                      </a:pPr>
                      <a:r>
                        <a:rPr lang="en-US" sz="1600"/>
                        <a:t>ZFAI40</a:t>
                      </a:r>
                    </a:p>
                  </a:txBody>
                  <a:tcPr/>
                </a:tc>
                <a:tc>
                  <a:txBody>
                    <a:bodyPr/>
                    <a:lstStyle/>
                    <a:p>
                      <a:pPr lvl="0">
                        <a:buNone/>
                      </a:pPr>
                      <a:r>
                        <a:rPr lang="en-US" sz="1600"/>
                        <a:t>Field Leader</a:t>
                      </a:r>
                    </a:p>
                  </a:txBody>
                  <a:tcPr/>
                </a:tc>
                <a:extLst>
                  <a:ext uri="{0D108BD9-81ED-4DB2-BD59-A6C34878D82A}">
                    <a16:rowId xmlns:a16="http://schemas.microsoft.com/office/drawing/2014/main" val="615229678"/>
                  </a:ext>
                </a:extLst>
              </a:tr>
              <a:tr h="322455">
                <a:tc>
                  <a:txBody>
                    <a:bodyPr/>
                    <a:lstStyle/>
                    <a:p>
                      <a:pPr lvl="0">
                        <a:buNone/>
                      </a:pPr>
                      <a:r>
                        <a:rPr lang="en-US" sz="1600" b="1"/>
                        <a:t>ZIDE</a:t>
                      </a:r>
                    </a:p>
                  </a:txBody>
                  <a:tcPr/>
                </a:tc>
                <a:tc>
                  <a:txBody>
                    <a:bodyPr/>
                    <a:lstStyle/>
                    <a:p>
                      <a:pPr lvl="0">
                        <a:buNone/>
                      </a:pPr>
                      <a:r>
                        <a:rPr lang="en-US" sz="1600" b="1"/>
                        <a:t>IDE Contract Partner</a:t>
                      </a:r>
                    </a:p>
                  </a:txBody>
                  <a:tcPr/>
                </a:tc>
                <a:extLst>
                  <a:ext uri="{0D108BD9-81ED-4DB2-BD59-A6C34878D82A}">
                    <a16:rowId xmlns:a16="http://schemas.microsoft.com/office/drawing/2014/main" val="243461039"/>
                  </a:ext>
                </a:extLst>
              </a:tr>
              <a:tr h="322455">
                <a:tc>
                  <a:txBody>
                    <a:bodyPr/>
                    <a:lstStyle/>
                    <a:p>
                      <a:pPr lvl="0">
                        <a:buNone/>
                      </a:pPr>
                      <a:r>
                        <a:rPr lang="en-US" sz="1600" b="1"/>
                        <a:t>ZPARNT</a:t>
                      </a:r>
                    </a:p>
                  </a:txBody>
                  <a:tcPr/>
                </a:tc>
                <a:tc>
                  <a:txBody>
                    <a:bodyPr/>
                    <a:lstStyle/>
                    <a:p>
                      <a:pPr lvl="0">
                        <a:buNone/>
                      </a:pPr>
                      <a:r>
                        <a:rPr lang="en-US" sz="1600" b="1"/>
                        <a:t>Parent</a:t>
                      </a:r>
                    </a:p>
                  </a:txBody>
                  <a:tcPr/>
                </a:tc>
                <a:extLst>
                  <a:ext uri="{0D108BD9-81ED-4DB2-BD59-A6C34878D82A}">
                    <a16:rowId xmlns:a16="http://schemas.microsoft.com/office/drawing/2014/main" val="3374779250"/>
                  </a:ext>
                </a:extLst>
              </a:tr>
              <a:tr h="375313">
                <a:tc>
                  <a:txBody>
                    <a:bodyPr/>
                    <a:lstStyle/>
                    <a:p>
                      <a:pPr lvl="0">
                        <a:buNone/>
                      </a:pPr>
                      <a:r>
                        <a:rPr lang="en-US" sz="1600"/>
                        <a:t>ZSC001</a:t>
                      </a:r>
                    </a:p>
                  </a:txBody>
                  <a:tcPr/>
                </a:tc>
                <a:tc>
                  <a:txBody>
                    <a:bodyPr/>
                    <a:lstStyle/>
                    <a:p>
                      <a:pPr lvl="0">
                        <a:buNone/>
                      </a:pPr>
                      <a:r>
                        <a:rPr lang="en-US" sz="1600"/>
                        <a:t>SC Business Partner</a:t>
                      </a:r>
                    </a:p>
                  </a:txBody>
                  <a:tcPr/>
                </a:tc>
                <a:extLst>
                  <a:ext uri="{0D108BD9-81ED-4DB2-BD59-A6C34878D82A}">
                    <a16:rowId xmlns:a16="http://schemas.microsoft.com/office/drawing/2014/main" val="614171918"/>
                  </a:ext>
                </a:extLst>
              </a:tr>
              <a:tr h="324134">
                <a:tc>
                  <a:txBody>
                    <a:bodyPr/>
                    <a:lstStyle/>
                    <a:p>
                      <a:pPr lvl="0">
                        <a:buNone/>
                      </a:pPr>
                      <a:r>
                        <a:rPr lang="en-US" sz="1600" b="1"/>
                        <a:t>ZSUBSD</a:t>
                      </a:r>
                    </a:p>
                  </a:txBody>
                  <a:tcPr/>
                </a:tc>
                <a:tc>
                  <a:txBody>
                    <a:bodyPr/>
                    <a:lstStyle/>
                    <a:p>
                      <a:pPr lvl="0">
                        <a:buNone/>
                      </a:pPr>
                      <a:r>
                        <a:rPr lang="en-US" sz="1600" b="1"/>
                        <a:t>Subsidiary</a:t>
                      </a:r>
                    </a:p>
                  </a:txBody>
                  <a:tcPr/>
                </a:tc>
                <a:extLst>
                  <a:ext uri="{0D108BD9-81ED-4DB2-BD59-A6C34878D82A}">
                    <a16:rowId xmlns:a16="http://schemas.microsoft.com/office/drawing/2014/main" val="562830134"/>
                  </a:ext>
                </a:extLst>
              </a:tr>
              <a:tr h="322455">
                <a:tc>
                  <a:txBody>
                    <a:bodyPr/>
                    <a:lstStyle/>
                    <a:p>
                      <a:pPr lvl="0">
                        <a:buNone/>
                      </a:pPr>
                      <a:r>
                        <a:rPr lang="en-US" sz="1600" b="1"/>
                        <a:t>ZSVCPR</a:t>
                      </a:r>
                    </a:p>
                  </a:txBody>
                  <a:tcPr/>
                </a:tc>
                <a:tc>
                  <a:txBody>
                    <a:bodyPr/>
                    <a:lstStyle/>
                    <a:p>
                      <a:pPr lvl="0">
                        <a:buNone/>
                      </a:pPr>
                      <a:r>
                        <a:rPr lang="en-US" sz="1600" b="1"/>
                        <a:t>Service Provider</a:t>
                      </a:r>
                    </a:p>
                  </a:txBody>
                  <a:tcPr/>
                </a:tc>
                <a:extLst>
                  <a:ext uri="{0D108BD9-81ED-4DB2-BD59-A6C34878D82A}">
                    <a16:rowId xmlns:a16="http://schemas.microsoft.com/office/drawing/2014/main" val="2452127989"/>
                  </a:ext>
                </a:extLst>
              </a:tr>
              <a:tr h="322455">
                <a:tc>
                  <a:txBody>
                    <a:bodyPr/>
                    <a:lstStyle/>
                    <a:p>
                      <a:pPr lvl="0">
                        <a:buNone/>
                      </a:pPr>
                      <a:r>
                        <a:rPr lang="en-US" sz="1600"/>
                        <a:t>ZTA001</a:t>
                      </a:r>
                    </a:p>
                  </a:txBody>
                  <a:tcPr/>
                </a:tc>
                <a:tc>
                  <a:txBody>
                    <a:bodyPr/>
                    <a:lstStyle/>
                    <a:p>
                      <a:pPr lvl="0">
                        <a:buNone/>
                      </a:pPr>
                      <a:r>
                        <a:rPr lang="en-US" sz="1600"/>
                        <a:t>TA Business Partner-Vend</a:t>
                      </a:r>
                    </a:p>
                  </a:txBody>
                  <a:tcPr/>
                </a:tc>
                <a:extLst>
                  <a:ext uri="{0D108BD9-81ED-4DB2-BD59-A6C34878D82A}">
                    <a16:rowId xmlns:a16="http://schemas.microsoft.com/office/drawing/2014/main" val="825951031"/>
                  </a:ext>
                </a:extLst>
              </a:tr>
              <a:tr h="322455">
                <a:tc>
                  <a:txBody>
                    <a:bodyPr/>
                    <a:lstStyle/>
                    <a:p>
                      <a:pPr lvl="0">
                        <a:buNone/>
                      </a:pPr>
                      <a:r>
                        <a:rPr lang="en-US" sz="1600"/>
                        <a:t>ZTA002</a:t>
                      </a:r>
                    </a:p>
                  </a:txBody>
                  <a:tcPr/>
                </a:tc>
                <a:tc>
                  <a:txBody>
                    <a:bodyPr/>
                    <a:lstStyle/>
                    <a:p>
                      <a:pPr lvl="0">
                        <a:buNone/>
                      </a:pPr>
                      <a:r>
                        <a:rPr lang="en-US" sz="1600"/>
                        <a:t>TA Business Partner-CMS</a:t>
                      </a:r>
                    </a:p>
                  </a:txBody>
                  <a:tcPr/>
                </a:tc>
                <a:extLst>
                  <a:ext uri="{0D108BD9-81ED-4DB2-BD59-A6C34878D82A}">
                    <a16:rowId xmlns:a16="http://schemas.microsoft.com/office/drawing/2014/main" val="1422431102"/>
                  </a:ext>
                </a:extLst>
              </a:tr>
              <a:tr h="322455">
                <a:tc>
                  <a:txBody>
                    <a:bodyPr/>
                    <a:lstStyle/>
                    <a:p>
                      <a:pPr lvl="0">
                        <a:buNone/>
                      </a:pPr>
                      <a:r>
                        <a:rPr lang="en-US" sz="1600"/>
                        <a:t>ZTA003</a:t>
                      </a:r>
                    </a:p>
                  </a:txBody>
                  <a:tcPr/>
                </a:tc>
                <a:tc>
                  <a:txBody>
                    <a:bodyPr/>
                    <a:lstStyle/>
                    <a:p>
                      <a:pPr lvl="0">
                        <a:buNone/>
                      </a:pPr>
                      <a:r>
                        <a:rPr lang="en-US" sz="1600"/>
                        <a:t>TA-SG-E2E-BusinessPartner</a:t>
                      </a:r>
                    </a:p>
                  </a:txBody>
                  <a:tcPr/>
                </a:tc>
                <a:extLst>
                  <a:ext uri="{0D108BD9-81ED-4DB2-BD59-A6C34878D82A}">
                    <a16:rowId xmlns:a16="http://schemas.microsoft.com/office/drawing/2014/main" val="2825771477"/>
                  </a:ext>
                </a:extLst>
              </a:tr>
            </a:tbl>
          </a:graphicData>
        </a:graphic>
      </p:graphicFrame>
      <p:sp>
        <p:nvSpPr>
          <p:cNvPr id="4" name="TextBox 3">
            <a:extLst>
              <a:ext uri="{FF2B5EF4-FFF2-40B4-BE49-F238E27FC236}">
                <a16:creationId xmlns:a16="http://schemas.microsoft.com/office/drawing/2014/main" id="{8CBD055E-ABF4-54BD-B70A-3CF83127C7FB}"/>
              </a:ext>
            </a:extLst>
          </p:cNvPr>
          <p:cNvSpPr txBox="1"/>
          <p:nvPr/>
        </p:nvSpPr>
        <p:spPr>
          <a:xfrm>
            <a:off x="-3867" y="811041"/>
            <a:ext cx="4933947" cy="2346796"/>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Montserrat"/>
              </a:rPr>
              <a:t>When a Business Partner is created n SAP, the business partner will assume one or more roles to show the nature of the business that is occurring between the business parter and Consumers. </a:t>
            </a:r>
          </a:p>
          <a:p>
            <a:endParaRPr lang="en-US" sz="1050">
              <a:latin typeface="Montserrat" pitchFamily="2" charset="77"/>
            </a:endParaRPr>
          </a:p>
          <a:p>
            <a:r>
              <a:rPr lang="en-US" sz="1050">
                <a:latin typeface="Montserrat"/>
              </a:rPr>
              <a:t>If the business partner is the utility customer of Consumers, the business partner will have the "Contract Partner" (MKK) role. Once the business partner is created, the role can be modified, or additional roles can be assigned. </a:t>
            </a:r>
          </a:p>
          <a:p>
            <a:endParaRPr lang="en-US" sz="1050">
              <a:latin typeface="Montserrat"/>
            </a:endParaRPr>
          </a:p>
          <a:p>
            <a:r>
              <a:rPr lang="en-US" sz="1050" b="1">
                <a:latin typeface="Montserrat"/>
              </a:rPr>
              <a:t>Consumers has 53 Business Partner Roles in CRM7 and 119 Business Partner Roles in ECC. Service Cloud will map the 53 roles to the corresponding S4HANA roles. </a:t>
            </a:r>
            <a:r>
              <a:rPr lang="en-US" sz="1050">
                <a:latin typeface="Montserrat"/>
              </a:rPr>
              <a:t>The following are the custom z roles that will remain in the future state. </a:t>
            </a:r>
          </a:p>
          <a:p>
            <a:endParaRPr lang="en-US" sz="1000">
              <a:latin typeface="Montserrat"/>
            </a:endParaRPr>
          </a:p>
        </p:txBody>
      </p:sp>
      <p:graphicFrame>
        <p:nvGraphicFramePr>
          <p:cNvPr id="5" name="Table 4">
            <a:extLst>
              <a:ext uri="{FF2B5EF4-FFF2-40B4-BE49-F238E27FC236}">
                <a16:creationId xmlns:a16="http://schemas.microsoft.com/office/drawing/2014/main" id="{E6C973E1-6B0C-5023-E88A-262DB2D5CB09}"/>
              </a:ext>
            </a:extLst>
          </p:cNvPr>
          <p:cNvGraphicFramePr>
            <a:graphicFrameLocks noGrp="1"/>
          </p:cNvGraphicFramePr>
          <p:nvPr/>
        </p:nvGraphicFramePr>
        <p:xfrm>
          <a:off x="142875" y="3119437"/>
          <a:ext cx="4689974" cy="3036316"/>
        </p:xfrm>
        <a:graphic>
          <a:graphicData uri="http://schemas.openxmlformats.org/drawingml/2006/table">
            <a:tbl>
              <a:tblPr firstRow="1" bandRow="1">
                <a:tableStyleId>{5C22544A-7EE6-4342-B048-85BDC9FD1C3A}</a:tableStyleId>
              </a:tblPr>
              <a:tblGrid>
                <a:gridCol w="2344987">
                  <a:extLst>
                    <a:ext uri="{9D8B030D-6E8A-4147-A177-3AD203B41FA5}">
                      <a16:colId xmlns:a16="http://schemas.microsoft.com/office/drawing/2014/main" val="2792330185"/>
                    </a:ext>
                  </a:extLst>
                </a:gridCol>
                <a:gridCol w="2344987">
                  <a:extLst>
                    <a:ext uri="{9D8B030D-6E8A-4147-A177-3AD203B41FA5}">
                      <a16:colId xmlns:a16="http://schemas.microsoft.com/office/drawing/2014/main" val="136402847"/>
                    </a:ext>
                  </a:extLst>
                </a:gridCol>
              </a:tblGrid>
              <a:tr h="526542">
                <a:tc>
                  <a:txBody>
                    <a:bodyPr/>
                    <a:lstStyle/>
                    <a:p>
                      <a:pPr algn="ctr"/>
                      <a:r>
                        <a:rPr lang="en-US" sz="1600" b="1" kern="1200">
                          <a:solidFill>
                            <a:srgbClr val="FFC000"/>
                          </a:solidFill>
                          <a:latin typeface="+mn-lt"/>
                          <a:ea typeface="+mn-ea"/>
                          <a:cs typeface="+mn-cs"/>
                        </a:rPr>
                        <a:t>Custom BP Roles in CRM</a:t>
                      </a:r>
                    </a:p>
                  </a:txBody>
                  <a:tcPr anchor="ctr"/>
                </a:tc>
                <a:tc>
                  <a:txBody>
                    <a:bodyPr/>
                    <a:lstStyle/>
                    <a:p>
                      <a:pPr algn="ctr"/>
                      <a:r>
                        <a:rPr lang="en-US" sz="1600" b="1" kern="1200">
                          <a:solidFill>
                            <a:schemeClr val="lt1"/>
                          </a:solidFill>
                          <a:latin typeface="+mn-lt"/>
                          <a:ea typeface="+mn-ea"/>
                          <a:cs typeface="+mn-cs"/>
                        </a:rPr>
                        <a:t>Description</a:t>
                      </a:r>
                    </a:p>
                  </a:txBody>
                  <a:tcPr anchor="ctr"/>
                </a:tc>
                <a:extLst>
                  <a:ext uri="{0D108BD9-81ED-4DB2-BD59-A6C34878D82A}">
                    <a16:rowId xmlns:a16="http://schemas.microsoft.com/office/drawing/2014/main" val="2065999821"/>
                  </a:ext>
                </a:extLst>
              </a:tr>
              <a:tr h="351028">
                <a:tc>
                  <a:txBody>
                    <a:bodyPr/>
                    <a:lstStyle/>
                    <a:p>
                      <a:pPr lvl="0">
                        <a:buNone/>
                      </a:pPr>
                      <a:r>
                        <a:rPr lang="en-US" sz="1600" b="1" i="0" u="none" strike="noStrike" noProof="0">
                          <a:solidFill>
                            <a:srgbClr val="000000"/>
                          </a:solidFill>
                          <a:latin typeface="Montserrat"/>
                        </a:rPr>
                        <a:t>Z3PRTY</a:t>
                      </a:r>
                      <a:endParaRPr lang="en-US" b="1"/>
                    </a:p>
                  </a:txBody>
                  <a:tcPr/>
                </a:tc>
                <a:tc>
                  <a:txBody>
                    <a:bodyPr/>
                    <a:lstStyle/>
                    <a:p>
                      <a:pPr lvl="0">
                        <a:buNone/>
                      </a:pPr>
                      <a:r>
                        <a:rPr lang="en-US" sz="1600" b="0" i="0" u="none" strike="noStrike" noProof="0">
                          <a:solidFill>
                            <a:srgbClr val="000000"/>
                          </a:solidFill>
                          <a:latin typeface="Montserrat"/>
                        </a:rPr>
                        <a:t>Authorized 3rd Party</a:t>
                      </a:r>
                      <a:endParaRPr lang="en-US"/>
                    </a:p>
                  </a:txBody>
                  <a:tcPr/>
                </a:tc>
                <a:extLst>
                  <a:ext uri="{0D108BD9-81ED-4DB2-BD59-A6C34878D82A}">
                    <a16:rowId xmlns:a16="http://schemas.microsoft.com/office/drawing/2014/main" val="414274974"/>
                  </a:ext>
                </a:extLst>
              </a:tr>
              <a:tr h="351028">
                <a:tc>
                  <a:txBody>
                    <a:bodyPr/>
                    <a:lstStyle/>
                    <a:p>
                      <a:pPr lvl="0">
                        <a:buNone/>
                      </a:pPr>
                      <a:r>
                        <a:rPr lang="en-US" sz="1600" b="1" i="0" u="none" strike="noStrike" noProof="0">
                          <a:solidFill>
                            <a:srgbClr val="000000"/>
                          </a:solidFill>
                          <a:latin typeface="Montserrat"/>
                        </a:rPr>
                        <a:t>ZCORPD</a:t>
                      </a:r>
                      <a:endParaRPr lang="en-US" b="1"/>
                    </a:p>
                  </a:txBody>
                  <a:tcPr/>
                </a:tc>
                <a:tc>
                  <a:txBody>
                    <a:bodyPr/>
                    <a:lstStyle/>
                    <a:p>
                      <a:pPr lvl="0">
                        <a:buNone/>
                      </a:pPr>
                      <a:r>
                        <a:rPr lang="en-US" sz="1600" b="0" i="0" u="none" strike="noStrike" noProof="0">
                          <a:solidFill>
                            <a:srgbClr val="000000"/>
                          </a:solidFill>
                          <a:latin typeface="Montserrat"/>
                        </a:rPr>
                        <a:t>Corporate Division</a:t>
                      </a:r>
                      <a:endParaRPr lang="en-US"/>
                    </a:p>
                  </a:txBody>
                  <a:tcPr/>
                </a:tc>
                <a:extLst>
                  <a:ext uri="{0D108BD9-81ED-4DB2-BD59-A6C34878D82A}">
                    <a16:rowId xmlns:a16="http://schemas.microsoft.com/office/drawing/2014/main" val="3229761996"/>
                  </a:ext>
                </a:extLst>
              </a:tr>
              <a:tr h="351028">
                <a:tc>
                  <a:txBody>
                    <a:bodyPr/>
                    <a:lstStyle/>
                    <a:p>
                      <a:pPr lvl="0">
                        <a:buNone/>
                      </a:pPr>
                      <a:r>
                        <a:rPr lang="en-US" sz="1600" b="1" i="0" u="none" strike="noStrike" noProof="0">
                          <a:solidFill>
                            <a:srgbClr val="000000"/>
                          </a:solidFill>
                          <a:latin typeface="Montserrat"/>
                        </a:rPr>
                        <a:t>ZE_CAM</a:t>
                      </a:r>
                      <a:endParaRPr lang="en-US" b="1"/>
                    </a:p>
                  </a:txBody>
                  <a:tcPr/>
                </a:tc>
                <a:tc>
                  <a:txBody>
                    <a:bodyPr/>
                    <a:lstStyle/>
                    <a:p>
                      <a:pPr lvl="0">
                        <a:buNone/>
                      </a:pPr>
                      <a:r>
                        <a:rPr lang="en-US" sz="1600" b="0" i="0" u="none" strike="noStrike" noProof="0">
                          <a:solidFill>
                            <a:srgbClr val="000000"/>
                          </a:solidFill>
                          <a:latin typeface="Montserrat"/>
                        </a:rPr>
                        <a:t>Employee-CAM</a:t>
                      </a:r>
                      <a:endParaRPr lang="en-US"/>
                    </a:p>
                  </a:txBody>
                  <a:tcPr/>
                </a:tc>
                <a:extLst>
                  <a:ext uri="{0D108BD9-81ED-4DB2-BD59-A6C34878D82A}">
                    <a16:rowId xmlns:a16="http://schemas.microsoft.com/office/drawing/2014/main" val="3891566193"/>
                  </a:ext>
                </a:extLst>
              </a:tr>
              <a:tr h="351028">
                <a:tc>
                  <a:txBody>
                    <a:bodyPr/>
                    <a:lstStyle/>
                    <a:p>
                      <a:pPr lvl="0">
                        <a:buNone/>
                      </a:pPr>
                      <a:r>
                        <a:rPr lang="en-US" sz="1600" b="1"/>
                        <a:t>ZIDE</a:t>
                      </a:r>
                      <a:endParaRPr lang="en-US" b="1"/>
                    </a:p>
                  </a:txBody>
                  <a:tcPr/>
                </a:tc>
                <a:tc>
                  <a:txBody>
                    <a:bodyPr/>
                    <a:lstStyle/>
                    <a:p>
                      <a:pPr lvl="0">
                        <a:buNone/>
                      </a:pPr>
                      <a:r>
                        <a:rPr lang="en-US" sz="1600" b="0" i="0" u="none" strike="noStrike" noProof="0">
                          <a:solidFill>
                            <a:srgbClr val="000000"/>
                          </a:solidFill>
                          <a:latin typeface="Montserrat"/>
                        </a:rPr>
                        <a:t>IDE Contract Partner</a:t>
                      </a:r>
                      <a:endParaRPr lang="en-US"/>
                    </a:p>
                  </a:txBody>
                  <a:tcPr/>
                </a:tc>
                <a:extLst>
                  <a:ext uri="{0D108BD9-81ED-4DB2-BD59-A6C34878D82A}">
                    <a16:rowId xmlns:a16="http://schemas.microsoft.com/office/drawing/2014/main" val="1349095150"/>
                  </a:ext>
                </a:extLst>
              </a:tr>
              <a:tr h="351028">
                <a:tc>
                  <a:txBody>
                    <a:bodyPr/>
                    <a:lstStyle/>
                    <a:p>
                      <a:pPr lvl="0">
                        <a:buNone/>
                      </a:pPr>
                      <a:r>
                        <a:rPr lang="en-US" sz="1600" b="1"/>
                        <a:t>ZPARNT</a:t>
                      </a:r>
                      <a:endParaRPr lang="en-US" b="1"/>
                    </a:p>
                  </a:txBody>
                  <a:tcPr/>
                </a:tc>
                <a:tc>
                  <a:txBody>
                    <a:bodyPr/>
                    <a:lstStyle/>
                    <a:p>
                      <a:pPr lvl="0">
                        <a:buNone/>
                      </a:pPr>
                      <a:r>
                        <a:rPr lang="en-US" sz="1600" b="0" i="0" u="none" strike="noStrike" noProof="0">
                          <a:solidFill>
                            <a:srgbClr val="000000"/>
                          </a:solidFill>
                          <a:latin typeface="Montserrat"/>
                        </a:rPr>
                        <a:t>Parent</a:t>
                      </a:r>
                      <a:endParaRPr lang="en-US"/>
                    </a:p>
                  </a:txBody>
                  <a:tcPr/>
                </a:tc>
                <a:extLst>
                  <a:ext uri="{0D108BD9-81ED-4DB2-BD59-A6C34878D82A}">
                    <a16:rowId xmlns:a16="http://schemas.microsoft.com/office/drawing/2014/main" val="3011054916"/>
                  </a:ext>
                </a:extLst>
              </a:tr>
              <a:tr h="351028">
                <a:tc>
                  <a:txBody>
                    <a:bodyPr/>
                    <a:lstStyle/>
                    <a:p>
                      <a:pPr lvl="0">
                        <a:buNone/>
                      </a:pPr>
                      <a:r>
                        <a:rPr lang="en-US" sz="1600" b="1"/>
                        <a:t>ZSUBSD</a:t>
                      </a:r>
                      <a:endParaRPr lang="en-US" b="1"/>
                    </a:p>
                  </a:txBody>
                  <a:tcPr/>
                </a:tc>
                <a:tc>
                  <a:txBody>
                    <a:bodyPr/>
                    <a:lstStyle/>
                    <a:p>
                      <a:pPr lvl="0">
                        <a:buNone/>
                      </a:pPr>
                      <a:r>
                        <a:rPr lang="en-US" sz="1600" b="0" i="0" u="none" strike="noStrike" noProof="0">
                          <a:solidFill>
                            <a:srgbClr val="000000"/>
                          </a:solidFill>
                          <a:latin typeface="Montserrat"/>
                        </a:rPr>
                        <a:t>Subsidiary</a:t>
                      </a:r>
                      <a:endParaRPr lang="en-US"/>
                    </a:p>
                  </a:txBody>
                  <a:tcPr/>
                </a:tc>
                <a:extLst>
                  <a:ext uri="{0D108BD9-81ED-4DB2-BD59-A6C34878D82A}">
                    <a16:rowId xmlns:a16="http://schemas.microsoft.com/office/drawing/2014/main" val="494181651"/>
                  </a:ext>
                </a:extLst>
              </a:tr>
              <a:tr h="351028">
                <a:tc>
                  <a:txBody>
                    <a:bodyPr/>
                    <a:lstStyle/>
                    <a:p>
                      <a:pPr lvl="0">
                        <a:buNone/>
                      </a:pPr>
                      <a:r>
                        <a:rPr lang="en-US" sz="1600" b="1"/>
                        <a:t>ZSVCPR</a:t>
                      </a:r>
                      <a:endParaRPr lang="en-US" b="1"/>
                    </a:p>
                  </a:txBody>
                  <a:tcPr/>
                </a:tc>
                <a:tc>
                  <a:txBody>
                    <a:bodyPr/>
                    <a:lstStyle/>
                    <a:p>
                      <a:pPr lvl="0">
                        <a:buNone/>
                      </a:pPr>
                      <a:r>
                        <a:rPr lang="en-US" sz="1600" b="0" i="0" u="none" strike="noStrike" noProof="0">
                          <a:solidFill>
                            <a:srgbClr val="000000"/>
                          </a:solidFill>
                          <a:latin typeface="Montserrat"/>
                        </a:rPr>
                        <a:t>Service Provider</a:t>
                      </a:r>
                      <a:endParaRPr lang="en-US"/>
                    </a:p>
                  </a:txBody>
                  <a:tcPr/>
                </a:tc>
                <a:extLst>
                  <a:ext uri="{0D108BD9-81ED-4DB2-BD59-A6C34878D82A}">
                    <a16:rowId xmlns:a16="http://schemas.microsoft.com/office/drawing/2014/main" val="1937261014"/>
                  </a:ext>
                </a:extLst>
              </a:tr>
            </a:tbl>
          </a:graphicData>
        </a:graphic>
      </p:graphicFrame>
    </p:spTree>
    <p:extLst>
      <p:ext uri="{BB962C8B-B14F-4D97-AF65-F5344CB8AC3E}">
        <p14:creationId xmlns:p14="http://schemas.microsoft.com/office/powerpoint/2010/main" val="37181270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D2C12-8B3D-A98B-F2F4-22DD095F8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BBA53-C3F9-2511-8401-7C3B940F5143}"/>
              </a:ext>
            </a:extLst>
          </p:cNvPr>
          <p:cNvSpPr>
            <a:spLocks noGrp="1"/>
          </p:cNvSpPr>
          <p:nvPr>
            <p:ph type="title"/>
          </p:nvPr>
        </p:nvSpPr>
        <p:spPr/>
        <p:txBody>
          <a:bodyPr>
            <a:normAutofit/>
          </a:bodyPr>
          <a:lstStyle/>
          <a:p>
            <a:r>
              <a:rPr lang="en-US">
                <a:latin typeface="Montserrat"/>
              </a:rPr>
              <a:t>Business Partner Role Mapping  </a:t>
            </a:r>
          </a:p>
        </p:txBody>
      </p:sp>
      <p:graphicFrame>
        <p:nvGraphicFramePr>
          <p:cNvPr id="5" name="Table 4">
            <a:extLst>
              <a:ext uri="{FF2B5EF4-FFF2-40B4-BE49-F238E27FC236}">
                <a16:creationId xmlns:a16="http://schemas.microsoft.com/office/drawing/2014/main" id="{92F4F39A-F855-66F4-7151-F3AF79986634}"/>
              </a:ext>
            </a:extLst>
          </p:cNvPr>
          <p:cNvGraphicFramePr>
            <a:graphicFrameLocks noGrp="1"/>
          </p:cNvGraphicFramePr>
          <p:nvPr/>
        </p:nvGraphicFramePr>
        <p:xfrm>
          <a:off x="83344" y="1452563"/>
          <a:ext cx="12019088" cy="4440428"/>
        </p:xfrm>
        <a:graphic>
          <a:graphicData uri="http://schemas.openxmlformats.org/drawingml/2006/table">
            <a:tbl>
              <a:tblPr firstRow="1" bandRow="1">
                <a:tableStyleId>{5C22544A-7EE6-4342-B048-85BDC9FD1C3A}</a:tableStyleId>
              </a:tblPr>
              <a:tblGrid>
                <a:gridCol w="1569491">
                  <a:extLst>
                    <a:ext uri="{9D8B030D-6E8A-4147-A177-3AD203B41FA5}">
                      <a16:colId xmlns:a16="http://schemas.microsoft.com/office/drawing/2014/main" val="2792330185"/>
                    </a:ext>
                  </a:extLst>
                </a:gridCol>
                <a:gridCol w="3258403">
                  <a:extLst>
                    <a:ext uri="{9D8B030D-6E8A-4147-A177-3AD203B41FA5}">
                      <a16:colId xmlns:a16="http://schemas.microsoft.com/office/drawing/2014/main" val="136402847"/>
                    </a:ext>
                  </a:extLst>
                </a:gridCol>
                <a:gridCol w="1705967">
                  <a:extLst>
                    <a:ext uri="{9D8B030D-6E8A-4147-A177-3AD203B41FA5}">
                      <a16:colId xmlns:a16="http://schemas.microsoft.com/office/drawing/2014/main" val="3283775382"/>
                    </a:ext>
                  </a:extLst>
                </a:gridCol>
                <a:gridCol w="2393132">
                  <a:extLst>
                    <a:ext uri="{9D8B030D-6E8A-4147-A177-3AD203B41FA5}">
                      <a16:colId xmlns:a16="http://schemas.microsoft.com/office/drawing/2014/main" val="4042153328"/>
                    </a:ext>
                  </a:extLst>
                </a:gridCol>
                <a:gridCol w="3092095">
                  <a:extLst>
                    <a:ext uri="{9D8B030D-6E8A-4147-A177-3AD203B41FA5}">
                      <a16:colId xmlns:a16="http://schemas.microsoft.com/office/drawing/2014/main" val="2552122475"/>
                    </a:ext>
                  </a:extLst>
                </a:gridCol>
              </a:tblGrid>
              <a:tr h="526542">
                <a:tc>
                  <a:txBody>
                    <a:bodyPr/>
                    <a:lstStyle/>
                    <a:p>
                      <a:pPr algn="ctr"/>
                      <a:r>
                        <a:rPr lang="en-US" sz="1600" b="1" kern="1200">
                          <a:solidFill>
                            <a:schemeClr val="lt1"/>
                          </a:solidFill>
                          <a:latin typeface="+mn-lt"/>
                          <a:ea typeface="+mn-ea"/>
                          <a:cs typeface="+mn-cs"/>
                        </a:rPr>
                        <a:t>Custom BP Roles in CRM</a:t>
                      </a:r>
                    </a:p>
                  </a:txBody>
                  <a:tcPr anchor="ctr"/>
                </a:tc>
                <a:tc>
                  <a:txBody>
                    <a:bodyPr/>
                    <a:lstStyle/>
                    <a:p>
                      <a:pPr algn="ctr"/>
                      <a:r>
                        <a:rPr lang="en-US" sz="1600" b="1" kern="1200">
                          <a:solidFill>
                            <a:schemeClr val="lt1"/>
                          </a:solidFill>
                          <a:latin typeface="+mn-lt"/>
                          <a:ea typeface="+mn-ea"/>
                          <a:cs typeface="+mn-cs"/>
                        </a:rPr>
                        <a:t>Description</a:t>
                      </a:r>
                    </a:p>
                  </a:txBody>
                  <a:tcPr anchor="ctr"/>
                </a:tc>
                <a:tc>
                  <a:txBody>
                    <a:bodyPr/>
                    <a:lstStyle/>
                    <a:p>
                      <a:pPr lvl="0" algn="ctr">
                        <a:buNone/>
                      </a:pPr>
                      <a:r>
                        <a:rPr lang="en-US" sz="1600" b="1" kern="1200">
                          <a:solidFill>
                            <a:schemeClr val="lt1"/>
                          </a:solidFill>
                          <a:latin typeface="+mn-lt"/>
                          <a:ea typeface="+mn-ea"/>
                          <a:cs typeface="+mn-cs"/>
                        </a:rPr>
                        <a:t>Direction of Replication</a:t>
                      </a:r>
                    </a:p>
                  </a:txBody>
                  <a:tcPr anchor="ctr"/>
                </a:tc>
                <a:tc>
                  <a:txBody>
                    <a:bodyPr/>
                    <a:lstStyle/>
                    <a:p>
                      <a:pPr lvl="0" algn="ctr">
                        <a:buNone/>
                      </a:pPr>
                      <a:r>
                        <a:rPr lang="en-US" sz="1600" b="1" i="0" u="none" strike="noStrike" kern="1200" noProof="0">
                          <a:solidFill>
                            <a:srgbClr val="FFFEFE"/>
                          </a:solidFill>
                          <a:latin typeface="Montserrat"/>
                          <a:ea typeface="+mn-ea"/>
                          <a:cs typeface="+mn-cs"/>
                        </a:rPr>
                        <a:t>Custom BP Role in ECC</a:t>
                      </a:r>
                      <a:endParaRPr lang="en-US"/>
                    </a:p>
                  </a:txBody>
                  <a:tcPr anchor="ctr"/>
                </a:tc>
                <a:tc>
                  <a:txBody>
                    <a:bodyPr/>
                    <a:lstStyle/>
                    <a:p>
                      <a:pPr lvl="0" algn="ctr">
                        <a:lnSpc>
                          <a:spcPct val="100000"/>
                        </a:lnSpc>
                        <a:spcBef>
                          <a:spcPts val="0"/>
                        </a:spcBef>
                        <a:spcAft>
                          <a:spcPts val="0"/>
                        </a:spcAft>
                        <a:buNone/>
                      </a:pPr>
                      <a:r>
                        <a:rPr lang="en-US" sz="1600" b="1" i="0" u="none" strike="noStrike" kern="1200" noProof="0">
                          <a:solidFill>
                            <a:srgbClr val="FFFEFE"/>
                          </a:solidFill>
                          <a:latin typeface="Montserrat"/>
                          <a:ea typeface="+mn-ea"/>
                          <a:cs typeface="+mn-cs"/>
                        </a:rPr>
                        <a:t>Description</a:t>
                      </a:r>
                    </a:p>
                    <a:p>
                      <a:pPr lvl="0" algn="ctr">
                        <a:buNone/>
                      </a:pPr>
                      <a:endParaRPr lang="en-US" sz="1600" b="1" kern="1200">
                        <a:solidFill>
                          <a:schemeClr val="lt1"/>
                        </a:solidFill>
                        <a:latin typeface="+mn-lt"/>
                        <a:ea typeface="+mn-ea"/>
                        <a:cs typeface="+mn-cs"/>
                      </a:endParaRPr>
                    </a:p>
                  </a:txBody>
                  <a:tcPr anchor="ctr"/>
                </a:tc>
                <a:extLst>
                  <a:ext uri="{0D108BD9-81ED-4DB2-BD59-A6C34878D82A}">
                    <a16:rowId xmlns:a16="http://schemas.microsoft.com/office/drawing/2014/main" val="2065999821"/>
                  </a:ext>
                </a:extLst>
              </a:tr>
              <a:tr h="351028">
                <a:tc>
                  <a:txBody>
                    <a:bodyPr/>
                    <a:lstStyle/>
                    <a:p>
                      <a:pPr lvl="0">
                        <a:buNone/>
                      </a:pPr>
                      <a:r>
                        <a:rPr lang="en-US" sz="1600" b="0" i="0" u="none" strike="noStrike" noProof="0">
                          <a:solidFill>
                            <a:srgbClr val="000000"/>
                          </a:solidFill>
                          <a:latin typeface="Montserrat"/>
                        </a:rPr>
                        <a:t>Z3PRTY</a:t>
                      </a:r>
                      <a:endParaRPr lang="en-US"/>
                    </a:p>
                  </a:txBody>
                  <a:tcPr/>
                </a:tc>
                <a:tc>
                  <a:txBody>
                    <a:bodyPr/>
                    <a:lstStyle/>
                    <a:p>
                      <a:pPr lvl="0">
                        <a:buNone/>
                      </a:pPr>
                      <a:r>
                        <a:rPr lang="en-US" sz="1600" b="0" i="0" u="none" strike="noStrike" noProof="0">
                          <a:solidFill>
                            <a:srgbClr val="000000"/>
                          </a:solidFill>
                          <a:latin typeface="Montserrat"/>
                        </a:rPr>
                        <a:t>Authorized 3rd Party</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Z3PRTY</a:t>
                      </a:r>
                      <a:endParaRPr lang="en-US"/>
                    </a:p>
                  </a:txBody>
                  <a:tcPr/>
                </a:tc>
                <a:tc>
                  <a:txBody>
                    <a:bodyPr/>
                    <a:lstStyle/>
                    <a:p>
                      <a:pPr lvl="0">
                        <a:buNone/>
                      </a:pPr>
                      <a:r>
                        <a:rPr lang="en-US" sz="1600" b="0" i="0" u="none" strike="noStrike" noProof="0">
                          <a:solidFill>
                            <a:srgbClr val="000000"/>
                          </a:solidFill>
                          <a:latin typeface="Montserrat"/>
                        </a:rPr>
                        <a:t>Authorized 3rd Party</a:t>
                      </a:r>
                    </a:p>
                  </a:txBody>
                  <a:tcPr/>
                </a:tc>
                <a:extLst>
                  <a:ext uri="{0D108BD9-81ED-4DB2-BD59-A6C34878D82A}">
                    <a16:rowId xmlns:a16="http://schemas.microsoft.com/office/drawing/2014/main" val="414274974"/>
                  </a:ext>
                </a:extLst>
              </a:tr>
              <a:tr h="351028">
                <a:tc>
                  <a:txBody>
                    <a:bodyPr/>
                    <a:lstStyle/>
                    <a:p>
                      <a:pPr lvl="0">
                        <a:buNone/>
                      </a:pPr>
                      <a:r>
                        <a:rPr lang="en-US" sz="1600" b="0" i="0" u="none" strike="noStrike" noProof="0">
                          <a:solidFill>
                            <a:srgbClr val="000000"/>
                          </a:solidFill>
                          <a:latin typeface="Montserrat"/>
                        </a:rPr>
                        <a:t>ZCORPD</a:t>
                      </a:r>
                      <a:endParaRPr lang="en-US"/>
                    </a:p>
                  </a:txBody>
                  <a:tcPr/>
                </a:tc>
                <a:tc>
                  <a:txBody>
                    <a:bodyPr/>
                    <a:lstStyle/>
                    <a:p>
                      <a:pPr lvl="0">
                        <a:buNone/>
                      </a:pPr>
                      <a:r>
                        <a:rPr lang="en-US" sz="1600" b="0" i="0" u="none" strike="noStrike" noProof="0">
                          <a:solidFill>
                            <a:srgbClr val="000000"/>
                          </a:solidFill>
                          <a:latin typeface="Montserrat"/>
                        </a:rPr>
                        <a:t>Corporate Division</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ZCORPD</a:t>
                      </a:r>
                      <a:endParaRPr lang="en-US"/>
                    </a:p>
                  </a:txBody>
                  <a:tcPr/>
                </a:tc>
                <a:tc>
                  <a:txBody>
                    <a:bodyPr/>
                    <a:lstStyle/>
                    <a:p>
                      <a:pPr lvl="0">
                        <a:buNone/>
                      </a:pPr>
                      <a:r>
                        <a:rPr lang="en-US" sz="1600" b="0" i="0" u="none" strike="noStrike" noProof="0">
                          <a:solidFill>
                            <a:srgbClr val="000000"/>
                          </a:solidFill>
                          <a:latin typeface="Montserrat"/>
                        </a:rPr>
                        <a:t>Corporate Division</a:t>
                      </a:r>
                    </a:p>
                  </a:txBody>
                  <a:tcPr/>
                </a:tc>
                <a:extLst>
                  <a:ext uri="{0D108BD9-81ED-4DB2-BD59-A6C34878D82A}">
                    <a16:rowId xmlns:a16="http://schemas.microsoft.com/office/drawing/2014/main" val="3229761996"/>
                  </a:ext>
                </a:extLst>
              </a:tr>
              <a:tr h="351028">
                <a:tc>
                  <a:txBody>
                    <a:bodyPr/>
                    <a:lstStyle/>
                    <a:p>
                      <a:pPr lvl="0">
                        <a:buNone/>
                      </a:pPr>
                      <a:r>
                        <a:rPr lang="en-US" sz="1600" b="0" i="0" u="none" strike="noStrike" noProof="0">
                          <a:solidFill>
                            <a:srgbClr val="000000"/>
                          </a:solidFill>
                          <a:latin typeface="Montserrat"/>
                        </a:rPr>
                        <a:t>ZE_CAM</a:t>
                      </a:r>
                      <a:endParaRPr lang="en-US"/>
                    </a:p>
                  </a:txBody>
                  <a:tcPr/>
                </a:tc>
                <a:tc>
                  <a:txBody>
                    <a:bodyPr/>
                    <a:lstStyle/>
                    <a:p>
                      <a:pPr lvl="0">
                        <a:buNone/>
                      </a:pPr>
                      <a:r>
                        <a:rPr lang="en-US" sz="1600" b="0" i="0" u="none" strike="noStrike" noProof="0">
                          <a:solidFill>
                            <a:srgbClr val="000000"/>
                          </a:solidFill>
                          <a:latin typeface="Montserrat"/>
                        </a:rPr>
                        <a:t>Employee-CAM</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ZE_CAM</a:t>
                      </a:r>
                      <a:endParaRPr lang="en-US"/>
                    </a:p>
                  </a:txBody>
                  <a:tcPr/>
                </a:tc>
                <a:tc>
                  <a:txBody>
                    <a:bodyPr/>
                    <a:lstStyle/>
                    <a:p>
                      <a:pPr lvl="0">
                        <a:buNone/>
                      </a:pPr>
                      <a:r>
                        <a:rPr lang="en-US" sz="1600" b="0" i="0" u="none" strike="noStrike" noProof="0">
                          <a:solidFill>
                            <a:srgbClr val="000000"/>
                          </a:solidFill>
                          <a:latin typeface="Montserrat"/>
                        </a:rPr>
                        <a:t>Employee-CAM</a:t>
                      </a:r>
                    </a:p>
                  </a:txBody>
                  <a:tcPr/>
                </a:tc>
                <a:extLst>
                  <a:ext uri="{0D108BD9-81ED-4DB2-BD59-A6C34878D82A}">
                    <a16:rowId xmlns:a16="http://schemas.microsoft.com/office/drawing/2014/main" val="3891566193"/>
                  </a:ext>
                </a:extLst>
              </a:tr>
              <a:tr h="351028">
                <a:tc>
                  <a:txBody>
                    <a:bodyPr/>
                    <a:lstStyle/>
                    <a:p>
                      <a:pPr lvl="0">
                        <a:buNone/>
                      </a:pPr>
                      <a:r>
                        <a:rPr lang="en-US" sz="1600"/>
                        <a:t>ZIDE</a:t>
                      </a:r>
                      <a:endParaRPr lang="en-US"/>
                    </a:p>
                  </a:txBody>
                  <a:tcPr/>
                </a:tc>
                <a:tc>
                  <a:txBody>
                    <a:bodyPr/>
                    <a:lstStyle/>
                    <a:p>
                      <a:pPr lvl="0">
                        <a:buNone/>
                      </a:pPr>
                      <a:r>
                        <a:rPr lang="en-US" sz="1600" b="0" i="0" u="none" strike="noStrike" noProof="0">
                          <a:solidFill>
                            <a:srgbClr val="000000"/>
                          </a:solidFill>
                          <a:latin typeface="Montserrat"/>
                        </a:rPr>
                        <a:t>IDE Contract Partner</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ZIDE</a:t>
                      </a:r>
                      <a:endParaRPr lang="en-US"/>
                    </a:p>
                  </a:txBody>
                  <a:tcPr/>
                </a:tc>
                <a:tc>
                  <a:txBody>
                    <a:bodyPr/>
                    <a:lstStyle/>
                    <a:p>
                      <a:pPr lvl="0">
                        <a:buNone/>
                      </a:pPr>
                      <a:r>
                        <a:rPr lang="en-US" sz="1600" b="0" i="0" u="none" strike="noStrike" kern="1200" noProof="0">
                          <a:solidFill>
                            <a:srgbClr val="000000"/>
                          </a:solidFill>
                          <a:latin typeface="Montserrat"/>
                          <a:ea typeface="+mn-ea"/>
                          <a:cs typeface="+mn-cs"/>
                        </a:rPr>
                        <a:t>IDE Contract Partner</a:t>
                      </a:r>
                      <a:endParaRPr lang="en-US" sz="16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1349095150"/>
                  </a:ext>
                </a:extLst>
              </a:tr>
              <a:tr h="351028">
                <a:tc>
                  <a:txBody>
                    <a:bodyPr/>
                    <a:lstStyle/>
                    <a:p>
                      <a:pPr lvl="0">
                        <a:buNone/>
                      </a:pPr>
                      <a:r>
                        <a:rPr lang="en-US" sz="1600"/>
                        <a:t>ZPARNT</a:t>
                      </a:r>
                      <a:endParaRPr lang="en-US"/>
                    </a:p>
                  </a:txBody>
                  <a:tcPr/>
                </a:tc>
                <a:tc>
                  <a:txBody>
                    <a:bodyPr/>
                    <a:lstStyle/>
                    <a:p>
                      <a:pPr lvl="0">
                        <a:buNone/>
                      </a:pPr>
                      <a:r>
                        <a:rPr lang="en-US" sz="1600" b="0" i="0" u="none" strike="noStrike" noProof="0">
                          <a:solidFill>
                            <a:srgbClr val="000000"/>
                          </a:solidFill>
                          <a:latin typeface="Montserrat"/>
                        </a:rPr>
                        <a:t>Parent</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ZPARNT</a:t>
                      </a:r>
                      <a:endParaRPr lang="en-US"/>
                    </a:p>
                  </a:txBody>
                  <a:tcPr/>
                </a:tc>
                <a:tc>
                  <a:txBody>
                    <a:bodyPr/>
                    <a:lstStyle/>
                    <a:p>
                      <a:pPr lvl="0">
                        <a:buNone/>
                      </a:pPr>
                      <a:r>
                        <a:rPr lang="en-US" sz="1600" b="0" i="0" u="none" strike="noStrike" kern="1200" noProof="0">
                          <a:solidFill>
                            <a:srgbClr val="000000"/>
                          </a:solidFill>
                          <a:latin typeface="Montserrat"/>
                          <a:ea typeface="+mn-ea"/>
                          <a:cs typeface="+mn-cs"/>
                        </a:rPr>
                        <a:t>Parent</a:t>
                      </a:r>
                      <a:endParaRPr lang="en-US" sz="16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3011054916"/>
                  </a:ext>
                </a:extLst>
              </a:tr>
              <a:tr h="351028">
                <a:tc>
                  <a:txBody>
                    <a:bodyPr/>
                    <a:lstStyle/>
                    <a:p>
                      <a:pPr lvl="0">
                        <a:buNone/>
                      </a:pPr>
                      <a:r>
                        <a:rPr lang="en-US" sz="1600"/>
                        <a:t>ZSUBSD</a:t>
                      </a:r>
                      <a:endParaRPr lang="en-US"/>
                    </a:p>
                  </a:txBody>
                  <a:tcPr/>
                </a:tc>
                <a:tc>
                  <a:txBody>
                    <a:bodyPr/>
                    <a:lstStyle/>
                    <a:p>
                      <a:pPr lvl="0">
                        <a:buNone/>
                      </a:pPr>
                      <a:r>
                        <a:rPr lang="en-US" sz="1600" b="0" i="0" u="none" strike="noStrike" noProof="0">
                          <a:solidFill>
                            <a:srgbClr val="000000"/>
                          </a:solidFill>
                          <a:latin typeface="Montserrat"/>
                        </a:rPr>
                        <a:t>Subsidiary</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kern="1200" noProof="0">
                          <a:solidFill>
                            <a:srgbClr val="000000"/>
                          </a:solidFill>
                          <a:latin typeface="Montserrat"/>
                          <a:ea typeface="+mn-ea"/>
                          <a:cs typeface="+mn-cs"/>
                        </a:rPr>
                        <a:t>ZSUBSD</a:t>
                      </a:r>
                      <a:endParaRPr lang="en-US"/>
                    </a:p>
                  </a:txBody>
                  <a:tcPr/>
                </a:tc>
                <a:tc>
                  <a:txBody>
                    <a:bodyPr/>
                    <a:lstStyle/>
                    <a:p>
                      <a:pPr lvl="0">
                        <a:buNone/>
                      </a:pPr>
                      <a:r>
                        <a:rPr lang="en-US" sz="1600" b="0" i="0" u="none" strike="noStrike" kern="1200" noProof="0">
                          <a:solidFill>
                            <a:srgbClr val="000000"/>
                          </a:solidFill>
                          <a:latin typeface="Montserrat"/>
                          <a:ea typeface="+mn-ea"/>
                          <a:cs typeface="+mn-cs"/>
                        </a:rPr>
                        <a:t>Subsidiary</a:t>
                      </a:r>
                      <a:endParaRPr lang="en-US" sz="16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494181651"/>
                  </a:ext>
                </a:extLst>
              </a:tr>
              <a:tr h="351028">
                <a:tc>
                  <a:txBody>
                    <a:bodyPr/>
                    <a:lstStyle/>
                    <a:p>
                      <a:pPr lvl="0">
                        <a:buNone/>
                      </a:pPr>
                      <a:r>
                        <a:rPr lang="en-US" sz="1600"/>
                        <a:t>ZSVCPR</a:t>
                      </a:r>
                      <a:endParaRPr lang="en-US"/>
                    </a:p>
                  </a:txBody>
                  <a:tcPr/>
                </a:tc>
                <a:tc>
                  <a:txBody>
                    <a:bodyPr/>
                    <a:lstStyle/>
                    <a:p>
                      <a:pPr lvl="0">
                        <a:buNone/>
                      </a:pPr>
                      <a:r>
                        <a:rPr lang="en-US" sz="1600" b="0" i="0" u="none" strike="noStrike" noProof="0">
                          <a:solidFill>
                            <a:srgbClr val="000000"/>
                          </a:solidFill>
                          <a:latin typeface="Montserrat"/>
                        </a:rPr>
                        <a:t>Service Provider</a:t>
                      </a:r>
                      <a:endParaRPr lang="en-US"/>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ZSVCPR</a:t>
                      </a:r>
                      <a:endParaRPr lang="en-US"/>
                    </a:p>
                  </a:txBody>
                  <a:tcPr/>
                </a:tc>
                <a:tc>
                  <a:txBody>
                    <a:bodyPr/>
                    <a:lstStyle/>
                    <a:p>
                      <a:pPr lvl="0">
                        <a:buNone/>
                      </a:pPr>
                      <a:r>
                        <a:rPr lang="en-US" sz="1600" b="0" i="0" u="none" strike="noStrike" noProof="0">
                          <a:solidFill>
                            <a:srgbClr val="000000"/>
                          </a:solidFill>
                          <a:latin typeface="Montserrat"/>
                        </a:rPr>
                        <a:t>Service Provider</a:t>
                      </a:r>
                    </a:p>
                  </a:txBody>
                  <a:tcPr/>
                </a:tc>
                <a:extLst>
                  <a:ext uri="{0D108BD9-81ED-4DB2-BD59-A6C34878D82A}">
                    <a16:rowId xmlns:a16="http://schemas.microsoft.com/office/drawing/2014/main" val="1937261014"/>
                  </a:ext>
                </a:extLst>
              </a:tr>
              <a:tr h="351028">
                <a:tc>
                  <a:txBody>
                    <a:bodyPr/>
                    <a:lstStyle/>
                    <a:p>
                      <a:pPr lvl="0">
                        <a:buNone/>
                      </a:pPr>
                      <a:r>
                        <a:rPr lang="en-US" sz="1600" b="1"/>
                        <a:t>CRM000</a:t>
                      </a:r>
                    </a:p>
                  </a:txBody>
                  <a:tcPr/>
                </a:tc>
                <a:tc>
                  <a:txBody>
                    <a:bodyPr/>
                    <a:lstStyle/>
                    <a:p>
                      <a:pPr lvl="0">
                        <a:buNone/>
                      </a:pPr>
                      <a:r>
                        <a:rPr lang="en-US" sz="1600" b="1" i="0" u="none" strike="noStrike" noProof="0">
                          <a:solidFill>
                            <a:srgbClr val="000000"/>
                          </a:solidFill>
                          <a:latin typeface="Montserrat"/>
                        </a:rPr>
                        <a:t>Sold-To </a:t>
                      </a:r>
                      <a:r>
                        <a:rPr lang="en-US" sz="1600" b="1" i="0" u="none" strike="noStrike" noProof="0" err="1">
                          <a:solidFill>
                            <a:srgbClr val="000000"/>
                          </a:solidFill>
                          <a:latin typeface="Montserrat"/>
                        </a:rPr>
                        <a:t>Party</a:t>
                      </a:r>
                      <a:endParaRPr lang="en-US" sz="1600" b="1" i="0" u="none" strike="noStrike" noProof="0">
                        <a:solidFill>
                          <a:srgbClr val="000000"/>
                        </a:solidFill>
                        <a:latin typeface="Montserrat"/>
                      </a:endParaRP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1" i="0" u="none" strike="noStrike" noProof="0">
                          <a:solidFill>
                            <a:srgbClr val="000000"/>
                          </a:solidFill>
                          <a:latin typeface="Montserrat"/>
                        </a:rPr>
                        <a:t>MKK</a:t>
                      </a:r>
                    </a:p>
                  </a:txBody>
                  <a:tcPr/>
                </a:tc>
                <a:tc>
                  <a:txBody>
                    <a:bodyPr/>
                    <a:lstStyle/>
                    <a:p>
                      <a:pPr lvl="0">
                        <a:buNone/>
                      </a:pPr>
                      <a:r>
                        <a:rPr lang="en-US" sz="1600" b="1" i="0" u="none" strike="noStrike" noProof="0">
                          <a:solidFill>
                            <a:srgbClr val="000000"/>
                          </a:solidFill>
                          <a:latin typeface="Montserrat"/>
                        </a:rPr>
                        <a:t>Contract Partner</a:t>
                      </a:r>
                    </a:p>
                  </a:txBody>
                  <a:tcPr/>
                </a:tc>
                <a:extLst>
                  <a:ext uri="{0D108BD9-81ED-4DB2-BD59-A6C34878D82A}">
                    <a16:rowId xmlns:a16="http://schemas.microsoft.com/office/drawing/2014/main" val="36569017"/>
                  </a:ext>
                </a:extLst>
              </a:tr>
              <a:tr h="351028">
                <a:tc>
                  <a:txBody>
                    <a:bodyPr/>
                    <a:lstStyle/>
                    <a:p>
                      <a:pPr lvl="0">
                        <a:buNone/>
                      </a:pPr>
                      <a:r>
                        <a:rPr lang="en-US" sz="1600" b="1"/>
                        <a:t>BUP001</a:t>
                      </a:r>
                    </a:p>
                  </a:txBody>
                  <a:tcPr/>
                </a:tc>
                <a:tc>
                  <a:txBody>
                    <a:bodyPr/>
                    <a:lstStyle/>
                    <a:p>
                      <a:pPr lvl="0">
                        <a:buNone/>
                      </a:pPr>
                      <a:r>
                        <a:rPr lang="en-US" sz="1600" b="1" i="0" u="none" strike="noStrike" noProof="0">
                          <a:solidFill>
                            <a:srgbClr val="000000"/>
                          </a:solidFill>
                          <a:latin typeface="Montserrat"/>
                        </a:rPr>
                        <a:t>Contact Person</a:t>
                      </a: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1" i="0" u="none" strike="noStrike" noProof="0">
                          <a:solidFill>
                            <a:srgbClr val="000000"/>
                          </a:solidFill>
                          <a:latin typeface="Montserrat"/>
                        </a:rPr>
                        <a:t>BUP001</a:t>
                      </a:r>
                    </a:p>
                  </a:txBody>
                  <a:tcPr/>
                </a:tc>
                <a:tc>
                  <a:txBody>
                    <a:bodyPr/>
                    <a:lstStyle/>
                    <a:p>
                      <a:pPr lvl="0">
                        <a:buNone/>
                      </a:pPr>
                      <a:r>
                        <a:rPr lang="en-US" sz="1600" b="1" i="0" u="none" strike="noStrike" noProof="0">
                          <a:solidFill>
                            <a:srgbClr val="000000"/>
                          </a:solidFill>
                          <a:latin typeface="Montserrat"/>
                        </a:rPr>
                        <a:t>Contact Person</a:t>
                      </a:r>
                    </a:p>
                  </a:txBody>
                  <a:tcPr/>
                </a:tc>
                <a:extLst>
                  <a:ext uri="{0D108BD9-81ED-4DB2-BD59-A6C34878D82A}">
                    <a16:rowId xmlns:a16="http://schemas.microsoft.com/office/drawing/2014/main" val="10149700"/>
                  </a:ext>
                </a:extLst>
              </a:tr>
              <a:tr h="351028">
                <a:tc>
                  <a:txBody>
                    <a:bodyPr/>
                    <a:lstStyle/>
                    <a:p>
                      <a:pPr lvl="0">
                        <a:buNone/>
                      </a:pPr>
                      <a:r>
                        <a:rPr lang="en-US" sz="1600"/>
                        <a:t>BUP003</a:t>
                      </a:r>
                    </a:p>
                  </a:txBody>
                  <a:tcPr/>
                </a:tc>
                <a:tc>
                  <a:txBody>
                    <a:bodyPr/>
                    <a:lstStyle/>
                    <a:p>
                      <a:pPr lvl="0">
                        <a:buNone/>
                      </a:pPr>
                      <a:r>
                        <a:rPr lang="en-US" sz="1600" b="0" i="0" u="none" strike="noStrike" noProof="0">
                          <a:solidFill>
                            <a:srgbClr val="000000"/>
                          </a:solidFill>
                          <a:latin typeface="Montserrat"/>
                        </a:rPr>
                        <a:t>Employee</a:t>
                      </a: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r>
                        <a:rPr lang="en-US" sz="1600" b="0" i="0" u="none" strike="noStrike" noProof="0">
                          <a:solidFill>
                            <a:srgbClr val="000000"/>
                          </a:solidFill>
                          <a:latin typeface="Montserrat"/>
                        </a:rPr>
                        <a:t>BUP003</a:t>
                      </a:r>
                    </a:p>
                  </a:txBody>
                  <a:tcPr/>
                </a:tc>
                <a:tc>
                  <a:txBody>
                    <a:bodyPr/>
                    <a:lstStyle/>
                    <a:p>
                      <a:pPr lvl="0">
                        <a:buNone/>
                      </a:pPr>
                      <a:r>
                        <a:rPr lang="en-US" sz="1600" b="0" i="0" u="none" strike="noStrike" noProof="0">
                          <a:solidFill>
                            <a:srgbClr val="000000"/>
                          </a:solidFill>
                          <a:latin typeface="Montserrat"/>
                        </a:rPr>
                        <a:t>Employee</a:t>
                      </a:r>
                    </a:p>
                  </a:txBody>
                  <a:tcPr/>
                </a:tc>
                <a:extLst>
                  <a:ext uri="{0D108BD9-81ED-4DB2-BD59-A6C34878D82A}">
                    <a16:rowId xmlns:a16="http://schemas.microsoft.com/office/drawing/2014/main" val="736552222"/>
                  </a:ext>
                </a:extLst>
              </a:tr>
              <a:tr h="351028">
                <a:tc>
                  <a:txBody>
                    <a:bodyPr/>
                    <a:lstStyle/>
                    <a:p>
                      <a:pPr lvl="0">
                        <a:buNone/>
                      </a:pPr>
                      <a:endParaRPr lang="en-US" sz="1600"/>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endParaRPr lang="en-US" sz="1600" b="0" i="0" u="none" strike="noStrike" noProof="0">
                        <a:solidFill>
                          <a:srgbClr val="000000"/>
                        </a:solidFill>
                        <a:latin typeface="Montserrat"/>
                      </a:endParaRPr>
                    </a:p>
                  </a:txBody>
                  <a:tcPr/>
                </a:tc>
                <a:tc>
                  <a:txBody>
                    <a:bodyPr/>
                    <a:lstStyle/>
                    <a:p>
                      <a:pPr lvl="0">
                        <a:buNone/>
                      </a:pPr>
                      <a:endParaRPr lang="en-US" sz="1600" b="0" i="0" u="none" strike="noStrike" noProof="0">
                        <a:solidFill>
                          <a:srgbClr val="000000"/>
                        </a:solidFill>
                        <a:latin typeface="Montserrat"/>
                      </a:endParaRPr>
                    </a:p>
                  </a:txBody>
                  <a:tcPr/>
                </a:tc>
                <a:extLst>
                  <a:ext uri="{0D108BD9-81ED-4DB2-BD59-A6C34878D82A}">
                    <a16:rowId xmlns:a16="http://schemas.microsoft.com/office/drawing/2014/main" val="3885607363"/>
                  </a:ext>
                </a:extLst>
              </a:tr>
            </a:tbl>
          </a:graphicData>
        </a:graphic>
      </p:graphicFrame>
      <p:sp>
        <p:nvSpPr>
          <p:cNvPr id="9" name="Arrow: Left 8">
            <a:extLst>
              <a:ext uri="{FF2B5EF4-FFF2-40B4-BE49-F238E27FC236}">
                <a16:creationId xmlns:a16="http://schemas.microsoft.com/office/drawing/2014/main" id="{EAEDC19F-FC4B-8ADF-7FA2-7999C729F732}"/>
              </a:ext>
            </a:extLst>
          </p:cNvPr>
          <p:cNvSpPr/>
          <p:nvPr/>
        </p:nvSpPr>
        <p:spPr>
          <a:xfrm>
            <a:off x="5309140" y="2246089"/>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0" name="Arrow: Left 9">
            <a:extLst>
              <a:ext uri="{FF2B5EF4-FFF2-40B4-BE49-F238E27FC236}">
                <a16:creationId xmlns:a16="http://schemas.microsoft.com/office/drawing/2014/main" id="{18BFED7A-8625-C6C7-7CE2-2F2DAA67FC83}"/>
              </a:ext>
            </a:extLst>
          </p:cNvPr>
          <p:cNvSpPr/>
          <p:nvPr/>
        </p:nvSpPr>
        <p:spPr>
          <a:xfrm>
            <a:off x="5309139" y="2603277"/>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1" name="Arrow: Left 10">
            <a:extLst>
              <a:ext uri="{FF2B5EF4-FFF2-40B4-BE49-F238E27FC236}">
                <a16:creationId xmlns:a16="http://schemas.microsoft.com/office/drawing/2014/main" id="{1D1B70A1-D473-348D-6189-5DE0489D2F74}"/>
              </a:ext>
            </a:extLst>
          </p:cNvPr>
          <p:cNvSpPr/>
          <p:nvPr/>
        </p:nvSpPr>
        <p:spPr>
          <a:xfrm>
            <a:off x="5309139" y="2960465"/>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2" name="Arrow: Left 11">
            <a:extLst>
              <a:ext uri="{FF2B5EF4-FFF2-40B4-BE49-F238E27FC236}">
                <a16:creationId xmlns:a16="http://schemas.microsoft.com/office/drawing/2014/main" id="{B4031250-E103-AB7A-1F9C-9607488C91A2}"/>
              </a:ext>
            </a:extLst>
          </p:cNvPr>
          <p:cNvSpPr/>
          <p:nvPr/>
        </p:nvSpPr>
        <p:spPr>
          <a:xfrm>
            <a:off x="5309139" y="3317653"/>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3" name="Arrow: Left 12">
            <a:extLst>
              <a:ext uri="{FF2B5EF4-FFF2-40B4-BE49-F238E27FC236}">
                <a16:creationId xmlns:a16="http://schemas.microsoft.com/office/drawing/2014/main" id="{88A56C08-7FCD-DDC5-6FDB-6F7461613AA1}"/>
              </a:ext>
            </a:extLst>
          </p:cNvPr>
          <p:cNvSpPr/>
          <p:nvPr/>
        </p:nvSpPr>
        <p:spPr>
          <a:xfrm>
            <a:off x="5309139" y="3674840"/>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4" name="Arrow: Left 13">
            <a:extLst>
              <a:ext uri="{FF2B5EF4-FFF2-40B4-BE49-F238E27FC236}">
                <a16:creationId xmlns:a16="http://schemas.microsoft.com/office/drawing/2014/main" id="{EE539CAA-05AF-2E98-6977-B9222AE2F151}"/>
              </a:ext>
            </a:extLst>
          </p:cNvPr>
          <p:cNvSpPr/>
          <p:nvPr/>
        </p:nvSpPr>
        <p:spPr>
          <a:xfrm>
            <a:off x="5309139" y="4032028"/>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5" name="Arrow: Left 14">
            <a:extLst>
              <a:ext uri="{FF2B5EF4-FFF2-40B4-BE49-F238E27FC236}">
                <a16:creationId xmlns:a16="http://schemas.microsoft.com/office/drawing/2014/main" id="{1790DC80-A2A1-CA7C-25E5-775AEF2FA50F}"/>
              </a:ext>
            </a:extLst>
          </p:cNvPr>
          <p:cNvSpPr/>
          <p:nvPr/>
        </p:nvSpPr>
        <p:spPr>
          <a:xfrm>
            <a:off x="5309139" y="4389215"/>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3" name="Arrow: Left-Right 2">
            <a:extLst>
              <a:ext uri="{FF2B5EF4-FFF2-40B4-BE49-F238E27FC236}">
                <a16:creationId xmlns:a16="http://schemas.microsoft.com/office/drawing/2014/main" id="{5A9C809B-50E3-D6A8-3A6F-C759D39F5EB2}"/>
              </a:ext>
            </a:extLst>
          </p:cNvPr>
          <p:cNvSpPr/>
          <p:nvPr/>
        </p:nvSpPr>
        <p:spPr>
          <a:xfrm>
            <a:off x="5309330" y="4722590"/>
            <a:ext cx="823246" cy="353662"/>
          </a:xfrm>
          <a:prstGeom prst="lef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6" name="Arrow: Left 5">
            <a:extLst>
              <a:ext uri="{FF2B5EF4-FFF2-40B4-BE49-F238E27FC236}">
                <a16:creationId xmlns:a16="http://schemas.microsoft.com/office/drawing/2014/main" id="{1F8AFE4F-5004-4EFE-44A5-8F8ED3561FDF}"/>
              </a:ext>
            </a:extLst>
          </p:cNvPr>
          <p:cNvSpPr/>
          <p:nvPr/>
        </p:nvSpPr>
        <p:spPr>
          <a:xfrm>
            <a:off x="5309139" y="5389340"/>
            <a:ext cx="787908" cy="365569"/>
          </a:xfrm>
          <a:prstGeom prst="lef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8" name="Arrow: Left-Right 7">
            <a:extLst>
              <a:ext uri="{FF2B5EF4-FFF2-40B4-BE49-F238E27FC236}">
                <a16:creationId xmlns:a16="http://schemas.microsoft.com/office/drawing/2014/main" id="{F980ED86-2F47-B01E-C693-8D1A840A2C5F}"/>
              </a:ext>
            </a:extLst>
          </p:cNvPr>
          <p:cNvSpPr/>
          <p:nvPr/>
        </p:nvSpPr>
        <p:spPr>
          <a:xfrm>
            <a:off x="5309329" y="5075156"/>
            <a:ext cx="823246" cy="353662"/>
          </a:xfrm>
          <a:prstGeom prst="lef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31394014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E2AD4-3483-5D08-521E-428B017A4B6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CAA2AB-DDC8-6554-FC50-C4662E13B7DF}"/>
              </a:ext>
            </a:extLst>
          </p:cNvPr>
          <p:cNvSpPr>
            <a:spLocks noGrp="1"/>
          </p:cNvSpPr>
          <p:nvPr>
            <p:ph type="title"/>
          </p:nvPr>
        </p:nvSpPr>
        <p:spPr>
          <a:xfrm>
            <a:off x="-1021" y="4974"/>
            <a:ext cx="2819402" cy="1886456"/>
          </a:xfrm>
        </p:spPr>
        <p:txBody>
          <a:bodyPr>
            <a:normAutofit/>
          </a:bodyPr>
          <a:lstStyle/>
          <a:p>
            <a:r>
              <a:rPr lang="en-US" sz="3200">
                <a:latin typeface="Montserrat"/>
              </a:rPr>
              <a:t>Create Person BP in CRM</a:t>
            </a:r>
          </a:p>
        </p:txBody>
      </p:sp>
      <p:sp>
        <p:nvSpPr>
          <p:cNvPr id="6" name="TextBox 5">
            <a:extLst>
              <a:ext uri="{FF2B5EF4-FFF2-40B4-BE49-F238E27FC236}">
                <a16:creationId xmlns:a16="http://schemas.microsoft.com/office/drawing/2014/main" id="{B8046A68-1988-91C7-5925-F3741991218D}"/>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pic>
        <p:nvPicPr>
          <p:cNvPr id="5" name="Picture 4">
            <a:extLst>
              <a:ext uri="{FF2B5EF4-FFF2-40B4-BE49-F238E27FC236}">
                <a16:creationId xmlns:a16="http://schemas.microsoft.com/office/drawing/2014/main" id="{9CF92372-F93A-B205-D330-4C58DCB47FD9}"/>
              </a:ext>
            </a:extLst>
          </p:cNvPr>
          <p:cNvPicPr>
            <a:picLocks noChangeAspect="1"/>
          </p:cNvPicPr>
          <p:nvPr/>
        </p:nvPicPr>
        <p:blipFill>
          <a:blip r:embed="rId2"/>
          <a:stretch>
            <a:fillRect/>
          </a:stretch>
        </p:blipFill>
        <p:spPr>
          <a:xfrm>
            <a:off x="3211286" y="248996"/>
            <a:ext cx="8826954" cy="2609984"/>
          </a:xfrm>
          <a:prstGeom prst="rect">
            <a:avLst/>
          </a:prstGeom>
          <a:effectLst>
            <a:innerShdw blurRad="114300">
              <a:prstClr val="black"/>
            </a:innerShdw>
          </a:effectLst>
        </p:spPr>
      </p:pic>
      <p:graphicFrame>
        <p:nvGraphicFramePr>
          <p:cNvPr id="13" name="Table 12">
            <a:extLst>
              <a:ext uri="{FF2B5EF4-FFF2-40B4-BE49-F238E27FC236}">
                <a16:creationId xmlns:a16="http://schemas.microsoft.com/office/drawing/2014/main" id="{AA9825A5-73DC-ABED-C037-EC840B1D223F}"/>
              </a:ext>
            </a:extLst>
          </p:cNvPr>
          <p:cNvGraphicFramePr>
            <a:graphicFrameLocks noGrp="1"/>
          </p:cNvGraphicFramePr>
          <p:nvPr/>
        </p:nvGraphicFramePr>
        <p:xfrm>
          <a:off x="2816149" y="3081464"/>
          <a:ext cx="9220200" cy="3294516"/>
        </p:xfrm>
        <a:graphic>
          <a:graphicData uri="http://schemas.openxmlformats.org/drawingml/2006/table">
            <a:tbl>
              <a:tblPr firstRow="1" bandRow="1">
                <a:tableStyleId>{5C22544A-7EE6-4342-B048-85BDC9FD1C3A}</a:tableStyleId>
              </a:tblPr>
              <a:tblGrid>
                <a:gridCol w="1583743">
                  <a:extLst>
                    <a:ext uri="{9D8B030D-6E8A-4147-A177-3AD203B41FA5}">
                      <a16:colId xmlns:a16="http://schemas.microsoft.com/office/drawing/2014/main" val="4084044958"/>
                    </a:ext>
                  </a:extLst>
                </a:gridCol>
                <a:gridCol w="948053">
                  <a:extLst>
                    <a:ext uri="{9D8B030D-6E8A-4147-A177-3AD203B41FA5}">
                      <a16:colId xmlns:a16="http://schemas.microsoft.com/office/drawing/2014/main" val="3615934369"/>
                    </a:ext>
                  </a:extLst>
                </a:gridCol>
                <a:gridCol w="806870">
                  <a:extLst>
                    <a:ext uri="{9D8B030D-6E8A-4147-A177-3AD203B41FA5}">
                      <a16:colId xmlns:a16="http://schemas.microsoft.com/office/drawing/2014/main" val="73187036"/>
                    </a:ext>
                  </a:extLst>
                </a:gridCol>
                <a:gridCol w="858926">
                  <a:extLst>
                    <a:ext uri="{9D8B030D-6E8A-4147-A177-3AD203B41FA5}">
                      <a16:colId xmlns:a16="http://schemas.microsoft.com/office/drawing/2014/main" val="3147726669"/>
                    </a:ext>
                  </a:extLst>
                </a:gridCol>
                <a:gridCol w="2142977">
                  <a:extLst>
                    <a:ext uri="{9D8B030D-6E8A-4147-A177-3AD203B41FA5}">
                      <a16:colId xmlns:a16="http://schemas.microsoft.com/office/drawing/2014/main" val="2929055363"/>
                    </a:ext>
                  </a:extLst>
                </a:gridCol>
                <a:gridCol w="913671">
                  <a:extLst>
                    <a:ext uri="{9D8B030D-6E8A-4147-A177-3AD203B41FA5}">
                      <a16:colId xmlns:a16="http://schemas.microsoft.com/office/drawing/2014/main" val="2386789796"/>
                    </a:ext>
                  </a:extLst>
                </a:gridCol>
                <a:gridCol w="890941">
                  <a:extLst>
                    <a:ext uri="{9D8B030D-6E8A-4147-A177-3AD203B41FA5}">
                      <a16:colId xmlns:a16="http://schemas.microsoft.com/office/drawing/2014/main" val="2536028979"/>
                    </a:ext>
                  </a:extLst>
                </a:gridCol>
                <a:gridCol w="1075019">
                  <a:extLst>
                    <a:ext uri="{9D8B030D-6E8A-4147-A177-3AD203B41FA5}">
                      <a16:colId xmlns:a16="http://schemas.microsoft.com/office/drawing/2014/main" val="1126145318"/>
                    </a:ext>
                  </a:extLst>
                </a:gridCol>
              </a:tblGrid>
              <a:tr h="253588">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extLst>
                  <a:ext uri="{0D108BD9-81ED-4DB2-BD59-A6C34878D82A}">
                    <a16:rowId xmlns:a16="http://schemas.microsoft.com/office/drawing/2014/main" val="4282288673"/>
                  </a:ext>
                </a:extLst>
              </a:tr>
              <a:tr h="253588">
                <a:tc>
                  <a:txBody>
                    <a:bodyPr/>
                    <a:lstStyle/>
                    <a:p>
                      <a:r>
                        <a:rPr lang="en-US" sz="1050"/>
                        <a:t>First Name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Apartment</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49373528"/>
                  </a:ext>
                </a:extLst>
              </a:tr>
              <a:tr h="253588">
                <a:tc>
                  <a:txBody>
                    <a:bodyPr/>
                    <a:lstStyle/>
                    <a:p>
                      <a:r>
                        <a:rPr lang="en-US" sz="1050"/>
                        <a:t>Last Name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Building</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100861940"/>
                  </a:ext>
                </a:extLst>
              </a:tr>
              <a:tr h="253588">
                <a:tc>
                  <a:txBody>
                    <a:bodyPr/>
                    <a:lstStyle/>
                    <a:p>
                      <a:r>
                        <a:rPr lang="en-US" sz="1050"/>
                        <a:t>Middle Name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Room</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011119898"/>
                  </a:ext>
                </a:extLst>
              </a:tr>
              <a:tr h="253588">
                <a:tc>
                  <a:txBody>
                    <a:bodyPr/>
                    <a:lstStyle/>
                    <a:p>
                      <a:r>
                        <a:rPr lang="en-US" sz="1050"/>
                        <a:t>Title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Floor</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045713161"/>
                  </a:ext>
                </a:extLst>
              </a:tr>
              <a:tr h="253588">
                <a:tc>
                  <a:txBody>
                    <a:bodyPr/>
                    <a:lstStyle/>
                    <a:p>
                      <a:r>
                        <a:rPr lang="en-US" sz="1050"/>
                        <a:t>Suffix</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City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815704308"/>
                  </a:ext>
                </a:extLst>
              </a:tr>
              <a:tr h="253588">
                <a:tc>
                  <a:txBody>
                    <a:bodyPr/>
                    <a:lstStyle/>
                    <a:p>
                      <a:r>
                        <a:rPr lang="en-US" sz="1050"/>
                        <a:t>Drivers License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State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729228727"/>
                  </a:ext>
                </a:extLst>
              </a:tr>
              <a:tr h="253588">
                <a:tc>
                  <a:txBody>
                    <a:bodyPr/>
                    <a:lstStyle/>
                    <a:p>
                      <a:r>
                        <a:rPr lang="en-US" sz="1050"/>
                        <a:t>Drivers License State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Zip Code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316147996"/>
                  </a:ext>
                </a:extLst>
              </a:tr>
              <a:tr h="253588">
                <a:tc>
                  <a:txBody>
                    <a:bodyPr/>
                    <a:lstStyle/>
                    <a:p>
                      <a:r>
                        <a:rPr lang="en-US" sz="1050"/>
                        <a:t>Drivers License Country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Country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extLst>
                  <a:ext uri="{0D108BD9-81ED-4DB2-BD59-A6C34878D82A}">
                    <a16:rowId xmlns:a16="http://schemas.microsoft.com/office/drawing/2014/main" val="3573349906"/>
                  </a:ext>
                </a:extLst>
              </a:tr>
              <a:tr h="253588">
                <a:tc>
                  <a:txBody>
                    <a:bodyPr/>
                    <a:lstStyle/>
                    <a:p>
                      <a:r>
                        <a:rPr lang="en-US" sz="1050"/>
                        <a:t>Social Security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PMB</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970660839"/>
                  </a:ext>
                </a:extLst>
              </a:tr>
              <a:tr h="253588">
                <a:tc>
                  <a:txBody>
                    <a:bodyPr/>
                    <a:lstStyle/>
                    <a:p>
                      <a:r>
                        <a:rPr lang="en-US" sz="1050" b="1"/>
                        <a:t>Tax Jurisdiction</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tc>
                  <a:txBody>
                    <a:bodyPr/>
                    <a:lstStyle/>
                    <a:p>
                      <a:r>
                        <a:rPr lang="en-US" sz="1050"/>
                        <a:t>Address Dependent Landline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5980212"/>
                  </a:ext>
                </a:extLst>
              </a:tr>
              <a:tr h="253588">
                <a:tc>
                  <a:txBody>
                    <a:bodyPr/>
                    <a:lstStyle/>
                    <a:p>
                      <a:r>
                        <a:rPr lang="en-US" sz="1050"/>
                        <a:t>House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Address Dependent Mobile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1003096985"/>
                  </a:ext>
                </a:extLst>
              </a:tr>
              <a:tr h="171298">
                <a:tc>
                  <a:txBody>
                    <a:bodyPr/>
                    <a:lstStyle/>
                    <a:p>
                      <a:r>
                        <a:rPr lang="en-US" sz="1050"/>
                        <a:t>Street</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Address Dependent Email</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242324598"/>
                  </a:ext>
                </a:extLst>
              </a:tr>
            </a:tbl>
          </a:graphicData>
        </a:graphic>
      </p:graphicFrame>
      <p:sp>
        <p:nvSpPr>
          <p:cNvPr id="2" name="TextBox 1">
            <a:extLst>
              <a:ext uri="{FF2B5EF4-FFF2-40B4-BE49-F238E27FC236}">
                <a16:creationId xmlns:a16="http://schemas.microsoft.com/office/drawing/2014/main" id="{CD456246-1629-F2AE-F607-FC04C37EA333}"/>
              </a:ext>
            </a:extLst>
          </p:cNvPr>
          <p:cNvSpPr txBox="1"/>
          <p:nvPr/>
        </p:nvSpPr>
        <p:spPr>
          <a:xfrm>
            <a:off x="68270" y="2321201"/>
            <a:ext cx="27432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 person BP has several data elements (i.e., fields) which a user </a:t>
            </a:r>
            <a:r>
              <a:rPr lang="en-US" err="1"/>
              <a:t>wi</a:t>
            </a:r>
            <a:r>
              <a:rPr lang="en-US"/>
              <a:t>ll enter to better understand the attributes of the person. </a:t>
            </a:r>
          </a:p>
          <a:p>
            <a:endParaRPr lang="en-US"/>
          </a:p>
          <a:p>
            <a:r>
              <a:rPr lang="en-US"/>
              <a:t>Some key fields include:</a:t>
            </a:r>
          </a:p>
          <a:p>
            <a:pPr marL="285750" indent="-285750">
              <a:buFont typeface="Calibri"/>
              <a:buChar char="-"/>
            </a:pPr>
            <a:r>
              <a:rPr lang="en-US"/>
              <a:t>First Name </a:t>
            </a:r>
          </a:p>
          <a:p>
            <a:pPr marL="285750" indent="-285750">
              <a:buFont typeface="Calibri"/>
              <a:buChar char="-"/>
            </a:pPr>
            <a:r>
              <a:rPr lang="en-US"/>
              <a:t>Last Name</a:t>
            </a:r>
          </a:p>
          <a:p>
            <a:pPr marL="285750" indent="-285750">
              <a:buFont typeface="Calibri"/>
              <a:buChar char="-"/>
            </a:pPr>
            <a:r>
              <a:rPr lang="en-US"/>
              <a:t>Title</a:t>
            </a:r>
          </a:p>
          <a:p>
            <a:pPr marL="285750" indent="-285750">
              <a:buFont typeface="Calibri"/>
              <a:buChar char="-"/>
            </a:pPr>
            <a:r>
              <a:rPr lang="en-US"/>
              <a:t>Suffix</a:t>
            </a:r>
          </a:p>
          <a:p>
            <a:pPr marL="285750" indent="-285750">
              <a:buFont typeface="Calibri"/>
              <a:buChar char="-"/>
            </a:pPr>
            <a:r>
              <a:rPr lang="en-US"/>
              <a:t>ID Types</a:t>
            </a:r>
          </a:p>
          <a:p>
            <a:pPr marL="742950" lvl="1" indent="-285750">
              <a:buFont typeface="Courier New"/>
              <a:buChar char="o"/>
            </a:pPr>
            <a:r>
              <a:rPr lang="en-US"/>
              <a:t>Social Security</a:t>
            </a:r>
          </a:p>
          <a:p>
            <a:pPr marL="742950" lvl="1" indent="-285750">
              <a:buFont typeface="Courier New"/>
              <a:buChar char="o"/>
            </a:pPr>
            <a:r>
              <a:rPr lang="en-US"/>
              <a:t>Driver's </a:t>
            </a:r>
            <a:r>
              <a:rPr lang="en-US" err="1"/>
              <a:t>Licen</a:t>
            </a:r>
            <a:r>
              <a:rPr lang="en-US"/>
              <a:t>se</a:t>
            </a:r>
          </a:p>
        </p:txBody>
      </p:sp>
    </p:spTree>
    <p:extLst>
      <p:ext uri="{BB962C8B-B14F-4D97-AF65-F5344CB8AC3E}">
        <p14:creationId xmlns:p14="http://schemas.microsoft.com/office/powerpoint/2010/main" val="11751589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C1FFA-CEA1-A2E8-C1FB-ACBB36703A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1849B2-4F4B-7540-AEC5-641C31D0646A}"/>
              </a:ext>
            </a:extLst>
          </p:cNvPr>
          <p:cNvSpPr>
            <a:spLocks noGrp="1"/>
          </p:cNvSpPr>
          <p:nvPr>
            <p:ph type="title"/>
          </p:nvPr>
        </p:nvSpPr>
        <p:spPr>
          <a:xfrm>
            <a:off x="-1021" y="5686"/>
            <a:ext cx="5041041" cy="1338236"/>
          </a:xfrm>
        </p:spPr>
        <p:txBody>
          <a:bodyPr>
            <a:normAutofit/>
          </a:bodyPr>
          <a:lstStyle/>
          <a:p>
            <a:r>
              <a:rPr lang="en-US" sz="3200">
                <a:latin typeface="Montserrat"/>
              </a:rPr>
              <a:t>Create Organization BP in CRM</a:t>
            </a:r>
          </a:p>
        </p:txBody>
      </p:sp>
      <p:sp>
        <p:nvSpPr>
          <p:cNvPr id="6" name="TextBox 5">
            <a:extLst>
              <a:ext uri="{FF2B5EF4-FFF2-40B4-BE49-F238E27FC236}">
                <a16:creationId xmlns:a16="http://schemas.microsoft.com/office/drawing/2014/main" id="{576BD2E4-1969-5357-C8D7-5DBDCABE965E}"/>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graphicFrame>
        <p:nvGraphicFramePr>
          <p:cNvPr id="13" name="Table 12">
            <a:extLst>
              <a:ext uri="{FF2B5EF4-FFF2-40B4-BE49-F238E27FC236}">
                <a16:creationId xmlns:a16="http://schemas.microsoft.com/office/drawing/2014/main" id="{23E3CA3E-9F2A-C791-22C4-26D269C2DE24}"/>
              </a:ext>
            </a:extLst>
          </p:cNvPr>
          <p:cNvGraphicFramePr>
            <a:graphicFrameLocks noGrp="1"/>
          </p:cNvGraphicFramePr>
          <p:nvPr/>
        </p:nvGraphicFramePr>
        <p:xfrm>
          <a:off x="2841197" y="3426829"/>
          <a:ext cx="9220195" cy="3294516"/>
        </p:xfrm>
        <a:graphic>
          <a:graphicData uri="http://schemas.openxmlformats.org/drawingml/2006/table">
            <a:tbl>
              <a:tblPr firstRow="1" bandRow="1">
                <a:tableStyleId>{5C22544A-7EE6-4342-B048-85BDC9FD1C3A}</a:tableStyleId>
              </a:tblPr>
              <a:tblGrid>
                <a:gridCol w="1583742">
                  <a:extLst>
                    <a:ext uri="{9D8B030D-6E8A-4147-A177-3AD203B41FA5}">
                      <a16:colId xmlns:a16="http://schemas.microsoft.com/office/drawing/2014/main" val="4084044958"/>
                    </a:ext>
                  </a:extLst>
                </a:gridCol>
                <a:gridCol w="948052">
                  <a:extLst>
                    <a:ext uri="{9D8B030D-6E8A-4147-A177-3AD203B41FA5}">
                      <a16:colId xmlns:a16="http://schemas.microsoft.com/office/drawing/2014/main" val="3615934369"/>
                    </a:ext>
                  </a:extLst>
                </a:gridCol>
                <a:gridCol w="806870">
                  <a:extLst>
                    <a:ext uri="{9D8B030D-6E8A-4147-A177-3AD203B41FA5}">
                      <a16:colId xmlns:a16="http://schemas.microsoft.com/office/drawing/2014/main" val="73187036"/>
                    </a:ext>
                  </a:extLst>
                </a:gridCol>
                <a:gridCol w="858926">
                  <a:extLst>
                    <a:ext uri="{9D8B030D-6E8A-4147-A177-3AD203B41FA5}">
                      <a16:colId xmlns:a16="http://schemas.microsoft.com/office/drawing/2014/main" val="3147726669"/>
                    </a:ext>
                  </a:extLst>
                </a:gridCol>
                <a:gridCol w="2142976">
                  <a:extLst>
                    <a:ext uri="{9D8B030D-6E8A-4147-A177-3AD203B41FA5}">
                      <a16:colId xmlns:a16="http://schemas.microsoft.com/office/drawing/2014/main" val="2929055363"/>
                    </a:ext>
                  </a:extLst>
                </a:gridCol>
                <a:gridCol w="913670">
                  <a:extLst>
                    <a:ext uri="{9D8B030D-6E8A-4147-A177-3AD203B41FA5}">
                      <a16:colId xmlns:a16="http://schemas.microsoft.com/office/drawing/2014/main" val="2386789796"/>
                    </a:ext>
                  </a:extLst>
                </a:gridCol>
                <a:gridCol w="890940">
                  <a:extLst>
                    <a:ext uri="{9D8B030D-6E8A-4147-A177-3AD203B41FA5}">
                      <a16:colId xmlns:a16="http://schemas.microsoft.com/office/drawing/2014/main" val="2536028979"/>
                    </a:ext>
                  </a:extLst>
                </a:gridCol>
                <a:gridCol w="1075019">
                  <a:extLst>
                    <a:ext uri="{9D8B030D-6E8A-4147-A177-3AD203B41FA5}">
                      <a16:colId xmlns:a16="http://schemas.microsoft.com/office/drawing/2014/main" val="1126145318"/>
                    </a:ext>
                  </a:extLst>
                </a:gridCol>
              </a:tblGrid>
              <a:tr h="253588">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tc>
                  <a:txBody>
                    <a:bodyPr/>
                    <a:lstStyle/>
                    <a:p>
                      <a:pPr algn="ctr"/>
                      <a:r>
                        <a:rPr lang="en-US" sz="1050"/>
                        <a:t>Field</a:t>
                      </a:r>
                    </a:p>
                  </a:txBody>
                  <a:tcPr anchor="ctr"/>
                </a:tc>
                <a:tc>
                  <a:txBody>
                    <a:bodyPr/>
                    <a:lstStyle/>
                    <a:p>
                      <a:pPr algn="ctr"/>
                      <a:r>
                        <a:rPr lang="en-US" sz="1050"/>
                        <a:t>Mandatory</a:t>
                      </a:r>
                    </a:p>
                  </a:txBody>
                  <a:tcPr anchor="ctr"/>
                </a:tc>
                <a:tc>
                  <a:txBody>
                    <a:bodyPr/>
                    <a:lstStyle/>
                    <a:p>
                      <a:pPr algn="ctr"/>
                      <a:r>
                        <a:rPr lang="en-US" sz="1050"/>
                        <a:t>Optional</a:t>
                      </a:r>
                    </a:p>
                  </a:txBody>
                  <a:tcPr anchor="ctr"/>
                </a:tc>
                <a:tc>
                  <a:txBody>
                    <a:bodyPr/>
                    <a:lstStyle/>
                    <a:p>
                      <a:pPr algn="ctr"/>
                      <a:r>
                        <a:rPr lang="en-US" sz="1050"/>
                        <a:t>Defaulted</a:t>
                      </a:r>
                    </a:p>
                  </a:txBody>
                  <a:tcPr anchor="ctr"/>
                </a:tc>
                <a:extLst>
                  <a:ext uri="{0D108BD9-81ED-4DB2-BD59-A6C34878D82A}">
                    <a16:rowId xmlns:a16="http://schemas.microsoft.com/office/drawing/2014/main" val="4282288673"/>
                  </a:ext>
                </a:extLst>
              </a:tr>
              <a:tr h="253588">
                <a:tc>
                  <a:txBody>
                    <a:bodyPr/>
                    <a:lstStyle/>
                    <a:p>
                      <a:r>
                        <a:rPr lang="en-US" sz="1050"/>
                        <a:t>Name 1</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r>
                        <a:rPr lang="en-US" sz="1050"/>
                        <a:t>Zip Code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849373528"/>
                  </a:ext>
                </a:extLst>
              </a:tr>
              <a:tr h="253588">
                <a:tc>
                  <a:txBody>
                    <a:bodyPr/>
                    <a:lstStyle/>
                    <a:p>
                      <a:r>
                        <a:rPr lang="en-US" sz="1050"/>
                        <a:t>Name 2</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Country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extLst>
                  <a:ext uri="{0D108BD9-81ED-4DB2-BD59-A6C34878D82A}">
                    <a16:rowId xmlns:a16="http://schemas.microsoft.com/office/drawing/2014/main" val="100861940"/>
                  </a:ext>
                </a:extLst>
              </a:tr>
              <a:tr h="253588">
                <a:tc>
                  <a:txBody>
                    <a:bodyPr/>
                    <a:lstStyle/>
                    <a:p>
                      <a:r>
                        <a:rPr lang="en-US" sz="1050"/>
                        <a:t>Tax Identification</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r>
                        <a:rPr lang="en-US" sz="1050"/>
                        <a:t>PMB</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011119898"/>
                  </a:ext>
                </a:extLst>
              </a:tr>
              <a:tr h="253588">
                <a:tc>
                  <a:txBody>
                    <a:bodyPr/>
                    <a:lstStyle/>
                    <a:p>
                      <a:r>
                        <a:rPr lang="en-US" sz="1050"/>
                        <a:t>Tax Jurisdiction</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r>
                        <a:rPr lang="en-US" sz="1050"/>
                        <a:t>X</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Address Dependent Landline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045713161"/>
                  </a:ext>
                </a:extLst>
              </a:tr>
              <a:tr h="253588">
                <a:tc>
                  <a:txBody>
                    <a:bodyPr/>
                    <a:lstStyle/>
                    <a:p>
                      <a:r>
                        <a:rPr lang="en-US" sz="1050"/>
                        <a:t>House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Address Dependent Mobile #</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815704308"/>
                  </a:ext>
                </a:extLst>
              </a:tr>
              <a:tr h="253588">
                <a:tc>
                  <a:txBody>
                    <a:bodyPr/>
                    <a:lstStyle/>
                    <a:p>
                      <a:r>
                        <a:rPr lang="en-US" sz="1050"/>
                        <a:t>Street</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Address Dependent Email</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729228727"/>
                  </a:ext>
                </a:extLst>
              </a:tr>
              <a:tr h="253588">
                <a:tc>
                  <a:txBody>
                    <a:bodyPr/>
                    <a:lstStyle/>
                    <a:p>
                      <a:r>
                        <a:rPr lang="en-US" sz="1050"/>
                        <a:t>Apartment</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CAM Zone</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2316147996"/>
                  </a:ext>
                </a:extLst>
              </a:tr>
              <a:tr h="253588">
                <a:tc>
                  <a:txBody>
                    <a:bodyPr/>
                    <a:lstStyle/>
                    <a:p>
                      <a:r>
                        <a:rPr lang="en-US" sz="1050"/>
                        <a:t>Building</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Classification</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extLst>
                  <a:ext uri="{0D108BD9-81ED-4DB2-BD59-A6C34878D82A}">
                    <a16:rowId xmlns:a16="http://schemas.microsoft.com/office/drawing/2014/main" val="3573349906"/>
                  </a:ext>
                </a:extLst>
              </a:tr>
              <a:tr h="253588">
                <a:tc>
                  <a:txBody>
                    <a:bodyPr/>
                    <a:lstStyle/>
                    <a:p>
                      <a:r>
                        <a:rPr lang="en-US" sz="1050"/>
                        <a:t>Room</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endParaRPr lang="en-US" sz="1050"/>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2970660839"/>
                  </a:ext>
                </a:extLst>
              </a:tr>
              <a:tr h="253588">
                <a:tc>
                  <a:txBody>
                    <a:bodyPr/>
                    <a:lstStyle/>
                    <a:p>
                      <a:r>
                        <a:rPr lang="en-US" sz="1050"/>
                        <a:t>Floor</a:t>
                      </a:r>
                    </a:p>
                  </a:txBody>
                  <a:tcPr/>
                </a:tc>
                <a:tc>
                  <a:txBody>
                    <a:bodyPr/>
                    <a:lstStyle/>
                    <a:p>
                      <a:pPr algn="ctr"/>
                      <a:endParaRPr lang="en-US" sz="1050"/>
                    </a:p>
                  </a:txBody>
                  <a:tcPr anchor="ctr"/>
                </a:tc>
                <a:tc>
                  <a:txBody>
                    <a:bodyPr/>
                    <a:lstStyle/>
                    <a:p>
                      <a:pPr algn="ctr"/>
                      <a:r>
                        <a:rPr lang="en-US" sz="1050"/>
                        <a:t>X</a:t>
                      </a:r>
                    </a:p>
                  </a:txBody>
                  <a:tcPr anchor="ctr"/>
                </a:tc>
                <a:tc>
                  <a:txBody>
                    <a:bodyPr/>
                    <a:lstStyle/>
                    <a:p>
                      <a:pPr algn="ctr"/>
                      <a:endParaRPr lang="en-US" sz="1050"/>
                    </a:p>
                  </a:txBody>
                  <a:tcPr anchor="ctr"/>
                </a:tc>
                <a:tc>
                  <a:txBody>
                    <a:bodyPr/>
                    <a:lstStyle/>
                    <a:p>
                      <a:endParaRPr lang="en-US" sz="1050"/>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85980212"/>
                  </a:ext>
                </a:extLst>
              </a:tr>
              <a:tr h="253588">
                <a:tc>
                  <a:txBody>
                    <a:bodyPr/>
                    <a:lstStyle/>
                    <a:p>
                      <a:r>
                        <a:rPr lang="en-US" sz="1050"/>
                        <a:t>City</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endParaRPr lang="en-US" sz="1050"/>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1003096985"/>
                  </a:ext>
                </a:extLst>
              </a:tr>
              <a:tr h="171298">
                <a:tc>
                  <a:txBody>
                    <a:bodyPr/>
                    <a:lstStyle/>
                    <a:p>
                      <a:r>
                        <a:rPr lang="en-US" sz="1050"/>
                        <a:t>State</a:t>
                      </a:r>
                    </a:p>
                  </a:txBody>
                  <a:tcPr/>
                </a:tc>
                <a:tc>
                  <a:txBody>
                    <a:bodyPr/>
                    <a:lstStyle/>
                    <a:p>
                      <a:pPr algn="ctr"/>
                      <a:r>
                        <a:rPr lang="en-US" sz="1050"/>
                        <a:t>X</a:t>
                      </a:r>
                    </a:p>
                  </a:txBody>
                  <a:tcPr anchor="ctr"/>
                </a:tc>
                <a:tc>
                  <a:txBody>
                    <a:bodyPr/>
                    <a:lstStyle/>
                    <a:p>
                      <a:pPr algn="ctr"/>
                      <a:endParaRPr lang="en-US" sz="1050"/>
                    </a:p>
                  </a:txBody>
                  <a:tcPr anchor="ctr"/>
                </a:tc>
                <a:tc>
                  <a:txBody>
                    <a:bodyPr/>
                    <a:lstStyle/>
                    <a:p>
                      <a:pPr algn="ctr"/>
                      <a:endParaRPr lang="en-US" sz="1050"/>
                    </a:p>
                  </a:txBody>
                  <a:tcPr anchor="ctr"/>
                </a:tc>
                <a:tc>
                  <a:txBody>
                    <a:bodyPr/>
                    <a:lstStyle/>
                    <a:p>
                      <a:endParaRPr lang="en-US" sz="1050"/>
                    </a:p>
                  </a:txBody>
                  <a:tcPr/>
                </a:tc>
                <a:tc>
                  <a:txBody>
                    <a:bodyPr/>
                    <a:lstStyle/>
                    <a:p>
                      <a:pPr algn="ctr"/>
                      <a:endParaRPr lang="en-US" sz="1050"/>
                    </a:p>
                  </a:txBody>
                  <a:tcPr anchor="ctr"/>
                </a:tc>
                <a:tc>
                  <a:txBody>
                    <a:bodyPr/>
                    <a:lstStyle/>
                    <a:p>
                      <a:pPr algn="ctr"/>
                      <a:endParaRPr lang="en-US" sz="1050"/>
                    </a:p>
                  </a:txBody>
                  <a:tcPr anchor="ctr"/>
                </a:tc>
                <a:tc>
                  <a:txBody>
                    <a:bodyPr/>
                    <a:lstStyle/>
                    <a:p>
                      <a:pPr algn="ctr"/>
                      <a:endParaRPr lang="en-US" sz="1050"/>
                    </a:p>
                  </a:txBody>
                  <a:tcPr anchor="ctr"/>
                </a:tc>
                <a:extLst>
                  <a:ext uri="{0D108BD9-81ED-4DB2-BD59-A6C34878D82A}">
                    <a16:rowId xmlns:a16="http://schemas.microsoft.com/office/drawing/2014/main" val="3242324598"/>
                  </a:ext>
                </a:extLst>
              </a:tr>
            </a:tbl>
          </a:graphicData>
        </a:graphic>
      </p:graphicFrame>
      <p:pic>
        <p:nvPicPr>
          <p:cNvPr id="4" name="Picture 3">
            <a:extLst>
              <a:ext uri="{FF2B5EF4-FFF2-40B4-BE49-F238E27FC236}">
                <a16:creationId xmlns:a16="http://schemas.microsoft.com/office/drawing/2014/main" id="{1664D318-C018-D752-F3DE-8807FC03E9E7}"/>
              </a:ext>
            </a:extLst>
          </p:cNvPr>
          <p:cNvPicPr>
            <a:picLocks noChangeAspect="1"/>
          </p:cNvPicPr>
          <p:nvPr/>
        </p:nvPicPr>
        <p:blipFill>
          <a:blip r:embed="rId2"/>
          <a:stretch>
            <a:fillRect/>
          </a:stretch>
        </p:blipFill>
        <p:spPr>
          <a:xfrm>
            <a:off x="5039708" y="118306"/>
            <a:ext cx="6591639" cy="3198896"/>
          </a:xfrm>
          <a:prstGeom prst="rect">
            <a:avLst/>
          </a:prstGeom>
        </p:spPr>
      </p:pic>
      <p:sp>
        <p:nvSpPr>
          <p:cNvPr id="5" name="TextBox 4">
            <a:extLst>
              <a:ext uri="{FF2B5EF4-FFF2-40B4-BE49-F238E27FC236}">
                <a16:creationId xmlns:a16="http://schemas.microsoft.com/office/drawing/2014/main" id="{493F26BE-FF9F-7186-D0A6-1B521F097E99}"/>
              </a:ext>
            </a:extLst>
          </p:cNvPr>
          <p:cNvSpPr txBox="1"/>
          <p:nvPr/>
        </p:nvSpPr>
        <p:spPr>
          <a:xfrm>
            <a:off x="102389" y="1343111"/>
            <a:ext cx="274320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 Organization BP has several data elements (i.e., fields) which a user will enter to better understand the attributes of the person. </a:t>
            </a:r>
          </a:p>
          <a:p>
            <a:endParaRPr lang="en-US"/>
          </a:p>
          <a:p>
            <a:r>
              <a:rPr lang="en-US"/>
              <a:t>Some key fields include:</a:t>
            </a:r>
          </a:p>
          <a:p>
            <a:pPr marL="285750" indent="-285750">
              <a:buFont typeface="Calibri"/>
              <a:buChar char="-"/>
            </a:pPr>
            <a:r>
              <a:rPr lang="en-US"/>
              <a:t>Organization Name</a:t>
            </a:r>
          </a:p>
          <a:p>
            <a:pPr marL="285750" indent="-285750">
              <a:buFont typeface="Calibri"/>
              <a:buChar char="-"/>
            </a:pPr>
            <a:r>
              <a:rPr lang="en-US"/>
              <a:t>CAM Zone</a:t>
            </a:r>
          </a:p>
          <a:p>
            <a:pPr marL="285750" indent="-285750">
              <a:buFont typeface="Calibri"/>
              <a:buChar char="-"/>
            </a:pPr>
            <a:r>
              <a:rPr lang="en-US"/>
              <a:t>Classification</a:t>
            </a:r>
          </a:p>
          <a:p>
            <a:pPr marL="285750" indent="-285750">
              <a:buFont typeface="Calibri"/>
              <a:buChar char="-"/>
            </a:pPr>
            <a:r>
              <a:rPr lang="en-US"/>
              <a:t>ID Types</a:t>
            </a:r>
          </a:p>
          <a:p>
            <a:pPr marL="742950" lvl="1" indent="-285750">
              <a:buFont typeface="Courier New"/>
              <a:buChar char="o"/>
            </a:pPr>
            <a:r>
              <a:rPr lang="en-US"/>
              <a:t>Tax ID </a:t>
            </a:r>
          </a:p>
        </p:txBody>
      </p:sp>
    </p:spTree>
    <p:extLst>
      <p:ext uri="{BB962C8B-B14F-4D97-AF65-F5344CB8AC3E}">
        <p14:creationId xmlns:p14="http://schemas.microsoft.com/office/powerpoint/2010/main" val="1837094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643A0-3C03-D529-32DA-028796E4B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69CC9-0C04-2616-CDB9-0C0B4F775FE1}"/>
              </a:ext>
            </a:extLst>
          </p:cNvPr>
          <p:cNvSpPr>
            <a:spLocks noGrp="1"/>
          </p:cNvSpPr>
          <p:nvPr>
            <p:ph type="title"/>
          </p:nvPr>
        </p:nvSpPr>
        <p:spPr>
          <a:xfrm>
            <a:off x="652653" y="450818"/>
            <a:ext cx="1627182" cy="628386"/>
          </a:xfrm>
        </p:spPr>
        <p:txBody>
          <a:bodyPr vert="horz" lIns="0" tIns="45720" rIns="91440" bIns="0" rtlCol="0" anchor="t">
            <a:normAutofit fontScale="90000"/>
          </a:bodyPr>
          <a:lstStyle/>
          <a:p>
            <a:r>
              <a:rPr lang="en-US">
                <a:latin typeface="Montserrat"/>
              </a:rPr>
              <a:t>Titles</a:t>
            </a:r>
          </a:p>
        </p:txBody>
      </p:sp>
      <p:graphicFrame>
        <p:nvGraphicFramePr>
          <p:cNvPr id="6" name="Table 5">
            <a:extLst>
              <a:ext uri="{FF2B5EF4-FFF2-40B4-BE49-F238E27FC236}">
                <a16:creationId xmlns:a16="http://schemas.microsoft.com/office/drawing/2014/main" id="{988DD1EC-70D0-788B-74E1-30A0F05B5E3D}"/>
              </a:ext>
            </a:extLst>
          </p:cNvPr>
          <p:cNvGraphicFramePr>
            <a:graphicFrameLocks noGrp="1"/>
          </p:cNvGraphicFramePr>
          <p:nvPr/>
        </p:nvGraphicFramePr>
        <p:xfrm>
          <a:off x="419100" y="1838324"/>
          <a:ext cx="2081282" cy="4678680"/>
        </p:xfrm>
        <a:graphic>
          <a:graphicData uri="http://schemas.openxmlformats.org/drawingml/2006/table">
            <a:tbl>
              <a:tblPr firstRow="1" bandRow="1">
                <a:tableStyleId>{6E25E649-3F16-4E02-A733-19D2CDBF48F0}</a:tableStyleId>
              </a:tblPr>
              <a:tblGrid>
                <a:gridCol w="1006521">
                  <a:extLst>
                    <a:ext uri="{9D8B030D-6E8A-4147-A177-3AD203B41FA5}">
                      <a16:colId xmlns:a16="http://schemas.microsoft.com/office/drawing/2014/main" val="1071993016"/>
                    </a:ext>
                  </a:extLst>
                </a:gridCol>
                <a:gridCol w="1074761">
                  <a:extLst>
                    <a:ext uri="{9D8B030D-6E8A-4147-A177-3AD203B41FA5}">
                      <a16:colId xmlns:a16="http://schemas.microsoft.com/office/drawing/2014/main" val="3174711847"/>
                    </a:ext>
                  </a:extLst>
                </a:gridCol>
              </a:tblGrid>
              <a:tr h="165965">
                <a:tc>
                  <a:txBody>
                    <a:bodyPr/>
                    <a:lstStyle/>
                    <a:p>
                      <a:pPr>
                        <a:buNone/>
                      </a:pPr>
                      <a:r>
                        <a:rPr lang="en-US" sz="1200" b="1">
                          <a:effectLst/>
                        </a:rPr>
                        <a:t>Key</a:t>
                      </a:r>
                    </a:p>
                  </a:txBody>
                  <a:tcPr anchor="ctr"/>
                </a:tc>
                <a:tc>
                  <a:txBody>
                    <a:bodyPr/>
                    <a:lstStyle/>
                    <a:p>
                      <a:pPr>
                        <a:buNone/>
                      </a:pPr>
                      <a:r>
                        <a:rPr lang="en-US" sz="1200" b="1">
                          <a:effectLst/>
                        </a:rPr>
                        <a:t>Title</a:t>
                      </a:r>
                    </a:p>
                  </a:txBody>
                  <a:tcPr anchor="ctr"/>
                </a:tc>
                <a:extLst>
                  <a:ext uri="{0D108BD9-81ED-4DB2-BD59-A6C34878D82A}">
                    <a16:rowId xmlns:a16="http://schemas.microsoft.com/office/drawing/2014/main" val="2312966192"/>
                  </a:ext>
                </a:extLst>
              </a:tr>
              <a:tr h="165965">
                <a:tc>
                  <a:txBody>
                    <a:bodyPr/>
                    <a:lstStyle/>
                    <a:p>
                      <a:pPr>
                        <a:buNone/>
                      </a:pPr>
                      <a:r>
                        <a:rPr lang="en-US" sz="1100">
                          <a:effectLst/>
                        </a:rPr>
                        <a:t>0001</a:t>
                      </a:r>
                    </a:p>
                  </a:txBody>
                  <a:tcPr anchor="ctr"/>
                </a:tc>
                <a:tc>
                  <a:txBody>
                    <a:bodyPr/>
                    <a:lstStyle/>
                    <a:p>
                      <a:pPr>
                        <a:buNone/>
                      </a:pPr>
                      <a:r>
                        <a:rPr lang="en-US" sz="1100"/>
                        <a:t>Ms.</a:t>
                      </a:r>
                    </a:p>
                  </a:txBody>
                  <a:tcPr anchor="ctr"/>
                </a:tc>
                <a:extLst>
                  <a:ext uri="{0D108BD9-81ED-4DB2-BD59-A6C34878D82A}">
                    <a16:rowId xmlns:a16="http://schemas.microsoft.com/office/drawing/2014/main" val="3475115320"/>
                  </a:ext>
                </a:extLst>
              </a:tr>
              <a:tr h="165965">
                <a:tc>
                  <a:txBody>
                    <a:bodyPr/>
                    <a:lstStyle/>
                    <a:p>
                      <a:pPr>
                        <a:buNone/>
                      </a:pPr>
                      <a:r>
                        <a:rPr lang="en-US" sz="1100">
                          <a:effectLst/>
                        </a:rPr>
                        <a:t>0002</a:t>
                      </a:r>
                    </a:p>
                  </a:txBody>
                  <a:tcPr anchor="ctr"/>
                </a:tc>
                <a:tc>
                  <a:txBody>
                    <a:bodyPr/>
                    <a:lstStyle/>
                    <a:p>
                      <a:pPr>
                        <a:buNone/>
                      </a:pPr>
                      <a:r>
                        <a:rPr lang="en-US" sz="1100"/>
                        <a:t>Mr.</a:t>
                      </a:r>
                    </a:p>
                  </a:txBody>
                  <a:tcPr anchor="ctr"/>
                </a:tc>
                <a:extLst>
                  <a:ext uri="{0D108BD9-81ED-4DB2-BD59-A6C34878D82A}">
                    <a16:rowId xmlns:a16="http://schemas.microsoft.com/office/drawing/2014/main" val="4106532621"/>
                  </a:ext>
                </a:extLst>
              </a:tr>
              <a:tr h="165965">
                <a:tc>
                  <a:txBody>
                    <a:bodyPr/>
                    <a:lstStyle/>
                    <a:p>
                      <a:pPr>
                        <a:buNone/>
                      </a:pPr>
                      <a:r>
                        <a:rPr lang="en-US" sz="1100">
                          <a:effectLst/>
                        </a:rPr>
                        <a:t>0003</a:t>
                      </a:r>
                    </a:p>
                  </a:txBody>
                  <a:tcPr anchor="ctr"/>
                </a:tc>
                <a:tc>
                  <a:txBody>
                    <a:bodyPr/>
                    <a:lstStyle/>
                    <a:p>
                      <a:pPr>
                        <a:buNone/>
                      </a:pPr>
                      <a:r>
                        <a:rPr lang="en-US" sz="1100"/>
                        <a:t>Company</a:t>
                      </a:r>
                    </a:p>
                  </a:txBody>
                  <a:tcPr anchor="ctr"/>
                </a:tc>
                <a:extLst>
                  <a:ext uri="{0D108BD9-81ED-4DB2-BD59-A6C34878D82A}">
                    <a16:rowId xmlns:a16="http://schemas.microsoft.com/office/drawing/2014/main" val="1299358257"/>
                  </a:ext>
                </a:extLst>
              </a:tr>
              <a:tr h="165965">
                <a:tc>
                  <a:txBody>
                    <a:bodyPr/>
                    <a:lstStyle/>
                    <a:p>
                      <a:pPr>
                        <a:buNone/>
                      </a:pPr>
                      <a:r>
                        <a:rPr lang="en-US" sz="1100">
                          <a:effectLst/>
                        </a:rPr>
                        <a:t>0004</a:t>
                      </a:r>
                    </a:p>
                  </a:txBody>
                  <a:tcPr anchor="ctr"/>
                </a:tc>
                <a:tc>
                  <a:txBody>
                    <a:bodyPr/>
                    <a:lstStyle/>
                    <a:p>
                      <a:pPr>
                        <a:buNone/>
                      </a:pPr>
                      <a:r>
                        <a:rPr lang="en-US" sz="1100"/>
                        <a:t>Mrs.</a:t>
                      </a:r>
                    </a:p>
                  </a:txBody>
                  <a:tcPr anchor="ctr"/>
                </a:tc>
                <a:extLst>
                  <a:ext uri="{0D108BD9-81ED-4DB2-BD59-A6C34878D82A}">
                    <a16:rowId xmlns:a16="http://schemas.microsoft.com/office/drawing/2014/main" val="2613232226"/>
                  </a:ext>
                </a:extLst>
              </a:tr>
              <a:tr h="165965">
                <a:tc>
                  <a:txBody>
                    <a:bodyPr/>
                    <a:lstStyle/>
                    <a:p>
                      <a:pPr>
                        <a:buNone/>
                      </a:pPr>
                      <a:r>
                        <a:rPr lang="en-US" sz="1100">
                          <a:effectLst/>
                        </a:rPr>
                        <a:t>0005</a:t>
                      </a:r>
                    </a:p>
                  </a:txBody>
                  <a:tcPr anchor="ctr"/>
                </a:tc>
                <a:tc>
                  <a:txBody>
                    <a:bodyPr/>
                    <a:lstStyle/>
                    <a:p>
                      <a:pPr>
                        <a:buNone/>
                      </a:pPr>
                      <a:r>
                        <a:rPr lang="en-US" sz="1100"/>
                        <a:t>Miss</a:t>
                      </a:r>
                    </a:p>
                  </a:txBody>
                  <a:tcPr anchor="ctr"/>
                </a:tc>
                <a:extLst>
                  <a:ext uri="{0D108BD9-81ED-4DB2-BD59-A6C34878D82A}">
                    <a16:rowId xmlns:a16="http://schemas.microsoft.com/office/drawing/2014/main" val="2976975717"/>
                  </a:ext>
                </a:extLst>
              </a:tr>
              <a:tr h="165965">
                <a:tc>
                  <a:txBody>
                    <a:bodyPr/>
                    <a:lstStyle/>
                    <a:p>
                      <a:pPr>
                        <a:buNone/>
                      </a:pPr>
                      <a:r>
                        <a:rPr lang="en-US" sz="1100">
                          <a:effectLst/>
                        </a:rPr>
                        <a:t>0006</a:t>
                      </a:r>
                    </a:p>
                  </a:txBody>
                  <a:tcPr anchor="ctr"/>
                </a:tc>
                <a:tc>
                  <a:txBody>
                    <a:bodyPr/>
                    <a:lstStyle/>
                    <a:p>
                      <a:pPr>
                        <a:buNone/>
                      </a:pPr>
                      <a:r>
                        <a:rPr lang="en-US" sz="1100"/>
                        <a:t>Rev.</a:t>
                      </a:r>
                    </a:p>
                  </a:txBody>
                  <a:tcPr anchor="ctr"/>
                </a:tc>
                <a:extLst>
                  <a:ext uri="{0D108BD9-81ED-4DB2-BD59-A6C34878D82A}">
                    <a16:rowId xmlns:a16="http://schemas.microsoft.com/office/drawing/2014/main" val="3247081013"/>
                  </a:ext>
                </a:extLst>
              </a:tr>
              <a:tr h="165965">
                <a:tc>
                  <a:txBody>
                    <a:bodyPr/>
                    <a:lstStyle/>
                    <a:p>
                      <a:pPr>
                        <a:buNone/>
                      </a:pPr>
                      <a:r>
                        <a:rPr lang="en-US" sz="1100">
                          <a:effectLst/>
                        </a:rPr>
                        <a:t>0007</a:t>
                      </a:r>
                    </a:p>
                  </a:txBody>
                  <a:tcPr anchor="ctr"/>
                </a:tc>
                <a:tc>
                  <a:txBody>
                    <a:bodyPr/>
                    <a:lstStyle/>
                    <a:p>
                      <a:pPr>
                        <a:buNone/>
                      </a:pPr>
                      <a:r>
                        <a:rPr lang="en-US" sz="1100"/>
                        <a:t>Dr.</a:t>
                      </a:r>
                    </a:p>
                  </a:txBody>
                  <a:tcPr anchor="ctr"/>
                </a:tc>
                <a:extLst>
                  <a:ext uri="{0D108BD9-81ED-4DB2-BD59-A6C34878D82A}">
                    <a16:rowId xmlns:a16="http://schemas.microsoft.com/office/drawing/2014/main" val="1145031596"/>
                  </a:ext>
                </a:extLst>
              </a:tr>
              <a:tr h="165965">
                <a:tc>
                  <a:txBody>
                    <a:bodyPr/>
                    <a:lstStyle/>
                    <a:p>
                      <a:pPr>
                        <a:buNone/>
                      </a:pPr>
                      <a:r>
                        <a:rPr lang="en-US" sz="1100">
                          <a:effectLst/>
                        </a:rPr>
                        <a:t>0008</a:t>
                      </a:r>
                    </a:p>
                  </a:txBody>
                  <a:tcPr anchor="ctr"/>
                </a:tc>
                <a:tc>
                  <a:txBody>
                    <a:bodyPr/>
                    <a:lstStyle/>
                    <a:p>
                      <a:pPr>
                        <a:buNone/>
                      </a:pPr>
                      <a:r>
                        <a:rPr lang="en-US" sz="1100"/>
                        <a:t>Prof.</a:t>
                      </a:r>
                    </a:p>
                  </a:txBody>
                  <a:tcPr anchor="ctr"/>
                </a:tc>
                <a:extLst>
                  <a:ext uri="{0D108BD9-81ED-4DB2-BD59-A6C34878D82A}">
                    <a16:rowId xmlns:a16="http://schemas.microsoft.com/office/drawing/2014/main" val="818085399"/>
                  </a:ext>
                </a:extLst>
              </a:tr>
              <a:tr h="165965">
                <a:tc>
                  <a:txBody>
                    <a:bodyPr/>
                    <a:lstStyle/>
                    <a:p>
                      <a:pPr>
                        <a:buNone/>
                      </a:pPr>
                      <a:r>
                        <a:rPr lang="en-US" sz="1100">
                          <a:effectLst/>
                        </a:rPr>
                        <a:t>0009</a:t>
                      </a:r>
                    </a:p>
                  </a:txBody>
                  <a:tcPr anchor="ctr"/>
                </a:tc>
                <a:tc>
                  <a:txBody>
                    <a:bodyPr/>
                    <a:lstStyle/>
                    <a:p>
                      <a:pPr>
                        <a:buNone/>
                      </a:pPr>
                      <a:r>
                        <a:rPr lang="en-US" sz="1100"/>
                        <a:t>Sir</a:t>
                      </a:r>
                    </a:p>
                  </a:txBody>
                  <a:tcPr anchor="ctr"/>
                </a:tc>
                <a:extLst>
                  <a:ext uri="{0D108BD9-81ED-4DB2-BD59-A6C34878D82A}">
                    <a16:rowId xmlns:a16="http://schemas.microsoft.com/office/drawing/2014/main" val="2932724433"/>
                  </a:ext>
                </a:extLst>
              </a:tr>
              <a:tr h="255895">
                <a:tc>
                  <a:txBody>
                    <a:bodyPr/>
                    <a:lstStyle/>
                    <a:p>
                      <a:pPr>
                        <a:buNone/>
                      </a:pPr>
                      <a:r>
                        <a:rPr lang="en-US" sz="1100">
                          <a:effectLst/>
                        </a:rPr>
                        <a:t>0010</a:t>
                      </a:r>
                    </a:p>
                  </a:txBody>
                  <a:tcPr anchor="ctr"/>
                </a:tc>
                <a:tc>
                  <a:txBody>
                    <a:bodyPr/>
                    <a:lstStyle/>
                    <a:p>
                      <a:pPr>
                        <a:buNone/>
                      </a:pPr>
                      <a:r>
                        <a:rPr lang="en-US" sz="1100"/>
                        <a:t>Maj.</a:t>
                      </a:r>
                    </a:p>
                  </a:txBody>
                  <a:tcPr anchor="ctr"/>
                </a:tc>
                <a:extLst>
                  <a:ext uri="{0D108BD9-81ED-4DB2-BD59-A6C34878D82A}">
                    <a16:rowId xmlns:a16="http://schemas.microsoft.com/office/drawing/2014/main" val="1847117496"/>
                  </a:ext>
                </a:extLst>
              </a:tr>
              <a:tr h="165965">
                <a:tc>
                  <a:txBody>
                    <a:bodyPr/>
                    <a:lstStyle/>
                    <a:p>
                      <a:pPr>
                        <a:buNone/>
                      </a:pPr>
                      <a:r>
                        <a:rPr lang="en-US" sz="1100">
                          <a:effectLst/>
                        </a:rPr>
                        <a:t>0011</a:t>
                      </a:r>
                    </a:p>
                  </a:txBody>
                  <a:tcPr anchor="ctr"/>
                </a:tc>
                <a:tc>
                  <a:txBody>
                    <a:bodyPr/>
                    <a:lstStyle/>
                    <a:p>
                      <a:pPr>
                        <a:buNone/>
                      </a:pPr>
                      <a:r>
                        <a:rPr lang="en-US" sz="1100"/>
                        <a:t>Lt.</a:t>
                      </a:r>
                    </a:p>
                  </a:txBody>
                  <a:tcPr anchor="ctr"/>
                </a:tc>
                <a:extLst>
                  <a:ext uri="{0D108BD9-81ED-4DB2-BD59-A6C34878D82A}">
                    <a16:rowId xmlns:a16="http://schemas.microsoft.com/office/drawing/2014/main" val="3203548463"/>
                  </a:ext>
                </a:extLst>
              </a:tr>
              <a:tr h="165965">
                <a:tc>
                  <a:txBody>
                    <a:bodyPr/>
                    <a:lstStyle/>
                    <a:p>
                      <a:pPr>
                        <a:buNone/>
                      </a:pPr>
                      <a:r>
                        <a:rPr lang="en-US" sz="1100">
                          <a:effectLst/>
                        </a:rPr>
                        <a:t>0012</a:t>
                      </a:r>
                    </a:p>
                  </a:txBody>
                  <a:tcPr anchor="ctr"/>
                </a:tc>
                <a:tc>
                  <a:txBody>
                    <a:bodyPr/>
                    <a:lstStyle/>
                    <a:p>
                      <a:pPr>
                        <a:buNone/>
                      </a:pPr>
                      <a:r>
                        <a:rPr lang="en-US" sz="1100"/>
                        <a:t>Capt.</a:t>
                      </a:r>
                    </a:p>
                  </a:txBody>
                  <a:tcPr anchor="ctr"/>
                </a:tc>
                <a:extLst>
                  <a:ext uri="{0D108BD9-81ED-4DB2-BD59-A6C34878D82A}">
                    <a16:rowId xmlns:a16="http://schemas.microsoft.com/office/drawing/2014/main" val="2490388920"/>
                  </a:ext>
                </a:extLst>
              </a:tr>
              <a:tr h="165965">
                <a:tc>
                  <a:txBody>
                    <a:bodyPr/>
                    <a:lstStyle/>
                    <a:p>
                      <a:pPr>
                        <a:buNone/>
                      </a:pPr>
                      <a:r>
                        <a:rPr lang="en-US" sz="1100">
                          <a:effectLst/>
                        </a:rPr>
                        <a:t>0013</a:t>
                      </a:r>
                    </a:p>
                  </a:txBody>
                  <a:tcPr anchor="ctr"/>
                </a:tc>
                <a:tc>
                  <a:txBody>
                    <a:bodyPr/>
                    <a:lstStyle/>
                    <a:p>
                      <a:pPr>
                        <a:buNone/>
                      </a:pPr>
                      <a:r>
                        <a:rPr lang="en-US" sz="1100"/>
                        <a:t>MD.</a:t>
                      </a:r>
                    </a:p>
                  </a:txBody>
                  <a:tcPr anchor="ctr"/>
                </a:tc>
                <a:extLst>
                  <a:ext uri="{0D108BD9-81ED-4DB2-BD59-A6C34878D82A}">
                    <a16:rowId xmlns:a16="http://schemas.microsoft.com/office/drawing/2014/main" val="299016283"/>
                  </a:ext>
                </a:extLst>
              </a:tr>
              <a:tr h="165965">
                <a:tc>
                  <a:txBody>
                    <a:bodyPr/>
                    <a:lstStyle/>
                    <a:p>
                      <a:pPr>
                        <a:buNone/>
                      </a:pPr>
                      <a:r>
                        <a:rPr lang="en-US" sz="1100">
                          <a:effectLst/>
                        </a:rPr>
                        <a:t>0014</a:t>
                      </a:r>
                    </a:p>
                  </a:txBody>
                  <a:tcPr anchor="ctr"/>
                </a:tc>
                <a:tc>
                  <a:txBody>
                    <a:bodyPr/>
                    <a:lstStyle/>
                    <a:p>
                      <a:pPr>
                        <a:buNone/>
                      </a:pPr>
                      <a:r>
                        <a:rPr lang="en-US" sz="1100"/>
                        <a:t>Sen.</a:t>
                      </a:r>
                    </a:p>
                  </a:txBody>
                  <a:tcPr anchor="ctr"/>
                </a:tc>
                <a:extLst>
                  <a:ext uri="{0D108BD9-81ED-4DB2-BD59-A6C34878D82A}">
                    <a16:rowId xmlns:a16="http://schemas.microsoft.com/office/drawing/2014/main" val="3951219538"/>
                  </a:ext>
                </a:extLst>
              </a:tr>
              <a:tr h="165965">
                <a:tc>
                  <a:txBody>
                    <a:bodyPr/>
                    <a:lstStyle/>
                    <a:p>
                      <a:pPr>
                        <a:buNone/>
                      </a:pPr>
                      <a:r>
                        <a:rPr lang="en-US" sz="1100">
                          <a:effectLst/>
                        </a:rPr>
                        <a:t>0015</a:t>
                      </a:r>
                    </a:p>
                  </a:txBody>
                  <a:tcPr anchor="ctr"/>
                </a:tc>
                <a:tc>
                  <a:txBody>
                    <a:bodyPr/>
                    <a:lstStyle/>
                    <a:p>
                      <a:pPr>
                        <a:buNone/>
                      </a:pPr>
                      <a:r>
                        <a:rPr lang="en-US" sz="1100"/>
                        <a:t>Cpl.</a:t>
                      </a:r>
                    </a:p>
                  </a:txBody>
                  <a:tcPr anchor="ctr"/>
                </a:tc>
                <a:extLst>
                  <a:ext uri="{0D108BD9-81ED-4DB2-BD59-A6C34878D82A}">
                    <a16:rowId xmlns:a16="http://schemas.microsoft.com/office/drawing/2014/main" val="3200218826"/>
                  </a:ext>
                </a:extLst>
              </a:tr>
              <a:tr h="165965">
                <a:tc>
                  <a:txBody>
                    <a:bodyPr/>
                    <a:lstStyle/>
                    <a:p>
                      <a:pPr>
                        <a:buNone/>
                      </a:pPr>
                      <a:r>
                        <a:rPr lang="en-US" sz="1100">
                          <a:effectLst/>
                        </a:rPr>
                        <a:t>0016</a:t>
                      </a:r>
                    </a:p>
                  </a:txBody>
                  <a:tcPr anchor="ctr"/>
                </a:tc>
                <a:tc>
                  <a:txBody>
                    <a:bodyPr/>
                    <a:lstStyle/>
                    <a:p>
                      <a:pPr>
                        <a:buNone/>
                      </a:pPr>
                      <a:r>
                        <a:rPr lang="en-US" sz="1100"/>
                        <a:t>Col.</a:t>
                      </a:r>
                    </a:p>
                  </a:txBody>
                  <a:tcPr anchor="ctr"/>
                </a:tc>
                <a:extLst>
                  <a:ext uri="{0D108BD9-81ED-4DB2-BD59-A6C34878D82A}">
                    <a16:rowId xmlns:a16="http://schemas.microsoft.com/office/drawing/2014/main" val="2193047446"/>
                  </a:ext>
                </a:extLst>
              </a:tr>
              <a:tr h="165965">
                <a:tc>
                  <a:txBody>
                    <a:bodyPr/>
                    <a:lstStyle/>
                    <a:p>
                      <a:pPr>
                        <a:buNone/>
                      </a:pPr>
                      <a:r>
                        <a:rPr lang="en-US" sz="1100">
                          <a:effectLst/>
                        </a:rPr>
                        <a:t>0017</a:t>
                      </a:r>
                    </a:p>
                  </a:txBody>
                  <a:tcPr anchor="ctr"/>
                </a:tc>
                <a:tc>
                  <a:txBody>
                    <a:bodyPr/>
                    <a:lstStyle/>
                    <a:p>
                      <a:pPr>
                        <a:buNone/>
                      </a:pPr>
                      <a:r>
                        <a:rPr lang="en-US" sz="1100"/>
                        <a:t>Sgt.</a:t>
                      </a:r>
                    </a:p>
                  </a:txBody>
                  <a:tcPr anchor="ctr"/>
                </a:tc>
                <a:extLst>
                  <a:ext uri="{0D108BD9-81ED-4DB2-BD59-A6C34878D82A}">
                    <a16:rowId xmlns:a16="http://schemas.microsoft.com/office/drawing/2014/main" val="3692065177"/>
                  </a:ext>
                </a:extLst>
              </a:tr>
            </a:tbl>
          </a:graphicData>
        </a:graphic>
      </p:graphicFrame>
      <p:sp>
        <p:nvSpPr>
          <p:cNvPr id="8" name="Title 1">
            <a:extLst>
              <a:ext uri="{FF2B5EF4-FFF2-40B4-BE49-F238E27FC236}">
                <a16:creationId xmlns:a16="http://schemas.microsoft.com/office/drawing/2014/main" id="{AF999A32-5BC7-EDCC-6DEA-9EABC3497715}"/>
              </a:ext>
            </a:extLst>
          </p:cNvPr>
          <p:cNvSpPr txBox="1">
            <a:spLocks/>
          </p:cNvSpPr>
          <p:nvPr/>
        </p:nvSpPr>
        <p:spPr>
          <a:xfrm>
            <a:off x="4276828" y="462106"/>
            <a:ext cx="1627182" cy="627151"/>
          </a:xfrm>
          <a:prstGeom prst="rect">
            <a:avLst/>
          </a:prstGeom>
        </p:spPr>
        <p:txBody>
          <a:bodyPr vert="horz" lIns="0" tIns="45720" rIns="91440" bIns="0" rtlCol="0" anchor="t">
            <a:normAutofit/>
          </a:bodyPr>
          <a:lst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a:lstStyle>
          <a:p>
            <a:r>
              <a:rPr lang="en-US">
                <a:latin typeface="Montserrat"/>
              </a:rPr>
              <a:t>Prefix</a:t>
            </a:r>
          </a:p>
        </p:txBody>
      </p:sp>
      <p:graphicFrame>
        <p:nvGraphicFramePr>
          <p:cNvPr id="10" name="Table 9">
            <a:extLst>
              <a:ext uri="{FF2B5EF4-FFF2-40B4-BE49-F238E27FC236}">
                <a16:creationId xmlns:a16="http://schemas.microsoft.com/office/drawing/2014/main" id="{643E9F4C-7F27-B1C3-A4D6-994878956A93}"/>
              </a:ext>
            </a:extLst>
          </p:cNvPr>
          <p:cNvGraphicFramePr>
            <a:graphicFrameLocks noGrp="1"/>
          </p:cNvGraphicFramePr>
          <p:nvPr/>
        </p:nvGraphicFramePr>
        <p:xfrm>
          <a:off x="4002705" y="2016918"/>
          <a:ext cx="2183874" cy="2824300"/>
        </p:xfrm>
        <a:graphic>
          <a:graphicData uri="http://schemas.openxmlformats.org/drawingml/2006/table">
            <a:tbl>
              <a:tblPr firstRow="1" bandRow="1">
                <a:tableStyleId>{6E25E649-3F16-4E02-A733-19D2CDBF48F0}</a:tableStyleId>
              </a:tblPr>
              <a:tblGrid>
                <a:gridCol w="848497">
                  <a:extLst>
                    <a:ext uri="{9D8B030D-6E8A-4147-A177-3AD203B41FA5}">
                      <a16:colId xmlns:a16="http://schemas.microsoft.com/office/drawing/2014/main" val="1071993016"/>
                    </a:ext>
                  </a:extLst>
                </a:gridCol>
                <a:gridCol w="1335377">
                  <a:extLst>
                    <a:ext uri="{9D8B030D-6E8A-4147-A177-3AD203B41FA5}">
                      <a16:colId xmlns:a16="http://schemas.microsoft.com/office/drawing/2014/main" val="3174711847"/>
                    </a:ext>
                  </a:extLst>
                </a:gridCol>
              </a:tblGrid>
              <a:tr h="278317">
                <a:tc>
                  <a:txBody>
                    <a:bodyPr/>
                    <a:lstStyle/>
                    <a:p>
                      <a:pPr>
                        <a:buNone/>
                      </a:pPr>
                      <a:r>
                        <a:rPr lang="en-US" sz="1400" b="1">
                          <a:effectLst/>
                        </a:rPr>
                        <a:t>Prefix</a:t>
                      </a:r>
                    </a:p>
                  </a:txBody>
                  <a:tcPr anchor="ctr"/>
                </a:tc>
                <a:tc>
                  <a:txBody>
                    <a:bodyPr/>
                    <a:lstStyle/>
                    <a:p>
                      <a:pPr>
                        <a:buNone/>
                      </a:pPr>
                      <a:r>
                        <a:rPr lang="en-US" sz="1400" b="1">
                          <a:effectLst/>
                        </a:rPr>
                        <a:t>Key</a:t>
                      </a:r>
                    </a:p>
                  </a:txBody>
                  <a:tcPr anchor="ctr"/>
                </a:tc>
                <a:extLst>
                  <a:ext uri="{0D108BD9-81ED-4DB2-BD59-A6C34878D82A}">
                    <a16:rowId xmlns:a16="http://schemas.microsoft.com/office/drawing/2014/main" val="2312966192"/>
                  </a:ext>
                </a:extLst>
              </a:tr>
              <a:tr h="278317">
                <a:tc>
                  <a:txBody>
                    <a:bodyPr/>
                    <a:lstStyle/>
                    <a:p>
                      <a:pPr marL="0" marR="0" lvl="0" indent="0" algn="l">
                        <a:lnSpc>
                          <a:spcPct val="100000"/>
                        </a:lnSpc>
                        <a:spcBef>
                          <a:spcPts val="0"/>
                        </a:spcBef>
                        <a:spcAft>
                          <a:spcPts val="0"/>
                        </a:spcAft>
                        <a:buNone/>
                      </a:pPr>
                      <a:r>
                        <a:rPr lang="en-US" sz="1100" kern="1200" noProof="0">
                          <a:solidFill>
                            <a:schemeClr val="dk1"/>
                          </a:solidFill>
                          <a:latin typeface="+mn-lt"/>
                          <a:ea typeface="+mn-ea"/>
                          <a:cs typeface="+mn-cs"/>
                        </a:rPr>
                        <a:t>Jr.       </a:t>
                      </a:r>
                    </a:p>
                  </a:txBody>
                  <a:tcPr anchor="ctr"/>
                </a:tc>
                <a:tc>
                  <a:txBody>
                    <a:bodyPr/>
                    <a:lstStyle/>
                    <a:p>
                      <a:pPr lvl="0">
                        <a:buNone/>
                      </a:pPr>
                      <a:r>
                        <a:rPr lang="en-US" sz="1100" kern="1200" noProof="0">
                          <a:solidFill>
                            <a:schemeClr val="dk1"/>
                          </a:solidFill>
                          <a:latin typeface="+mn-lt"/>
                          <a:ea typeface="+mn-ea"/>
                          <a:cs typeface="+mn-cs"/>
                        </a:rPr>
                        <a:t>0001</a:t>
                      </a:r>
                      <a:endParaRPr lang="en-US" sz="1100" kern="1200">
                        <a:solidFill>
                          <a:schemeClr val="dk1"/>
                        </a:solidFill>
                        <a:latin typeface="+mn-lt"/>
                        <a:ea typeface="+mn-ea"/>
                        <a:cs typeface="+mn-cs"/>
                      </a:endParaRPr>
                    </a:p>
                  </a:txBody>
                  <a:tcPr anchor="ctr"/>
                </a:tc>
                <a:extLst>
                  <a:ext uri="{0D108BD9-81ED-4DB2-BD59-A6C34878D82A}">
                    <a16:rowId xmlns:a16="http://schemas.microsoft.com/office/drawing/2014/main" val="3475115320"/>
                  </a:ext>
                </a:extLst>
              </a:tr>
              <a:tr h="278317">
                <a:tc>
                  <a:txBody>
                    <a:bodyPr/>
                    <a:lstStyle/>
                    <a:p>
                      <a:pPr lvl="0">
                        <a:buNone/>
                      </a:pPr>
                      <a:r>
                        <a:rPr lang="en-US" sz="1100">
                          <a:effectLst/>
                        </a:rPr>
                        <a:t>Sr.</a:t>
                      </a:r>
                    </a:p>
                  </a:txBody>
                  <a:tcPr anchor="ctr"/>
                </a:tc>
                <a:tc>
                  <a:txBody>
                    <a:bodyPr/>
                    <a:lstStyle/>
                    <a:p>
                      <a:pPr lvl="0">
                        <a:buNone/>
                      </a:pPr>
                      <a:r>
                        <a:rPr lang="en-US" sz="1100"/>
                        <a:t>0002</a:t>
                      </a:r>
                    </a:p>
                  </a:txBody>
                  <a:tcPr anchor="ctr"/>
                </a:tc>
                <a:extLst>
                  <a:ext uri="{0D108BD9-81ED-4DB2-BD59-A6C34878D82A}">
                    <a16:rowId xmlns:a16="http://schemas.microsoft.com/office/drawing/2014/main" val="4106532621"/>
                  </a:ext>
                </a:extLst>
              </a:tr>
              <a:tr h="292964">
                <a:tc>
                  <a:txBody>
                    <a:bodyPr/>
                    <a:lstStyle/>
                    <a:p>
                      <a:pPr lvl="0">
                        <a:buNone/>
                      </a:pPr>
                      <a:r>
                        <a:rPr lang="en-US" sz="1100">
                          <a:effectLst/>
                        </a:rPr>
                        <a:t>I</a:t>
                      </a:r>
                    </a:p>
                  </a:txBody>
                  <a:tcPr anchor="ctr"/>
                </a:tc>
                <a:tc>
                  <a:txBody>
                    <a:bodyPr/>
                    <a:lstStyle/>
                    <a:p>
                      <a:pPr lvl="0">
                        <a:buNone/>
                      </a:pPr>
                      <a:r>
                        <a:rPr lang="en-US" sz="1100"/>
                        <a:t>0003</a:t>
                      </a:r>
                    </a:p>
                  </a:txBody>
                  <a:tcPr anchor="ctr"/>
                </a:tc>
                <a:extLst>
                  <a:ext uri="{0D108BD9-81ED-4DB2-BD59-A6C34878D82A}">
                    <a16:rowId xmlns:a16="http://schemas.microsoft.com/office/drawing/2014/main" val="1299358257"/>
                  </a:ext>
                </a:extLst>
              </a:tr>
              <a:tr h="278317">
                <a:tc>
                  <a:txBody>
                    <a:bodyPr/>
                    <a:lstStyle/>
                    <a:p>
                      <a:pPr lvl="0">
                        <a:buNone/>
                      </a:pPr>
                      <a:r>
                        <a:rPr lang="en-US" sz="1100">
                          <a:effectLst/>
                        </a:rPr>
                        <a:t>II</a:t>
                      </a:r>
                    </a:p>
                  </a:txBody>
                  <a:tcPr anchor="ctr"/>
                </a:tc>
                <a:tc>
                  <a:txBody>
                    <a:bodyPr/>
                    <a:lstStyle/>
                    <a:p>
                      <a:pPr lvl="0">
                        <a:buNone/>
                      </a:pPr>
                      <a:r>
                        <a:rPr lang="en-US" sz="1100"/>
                        <a:t>0004</a:t>
                      </a:r>
                    </a:p>
                  </a:txBody>
                  <a:tcPr anchor="ctr"/>
                </a:tc>
                <a:extLst>
                  <a:ext uri="{0D108BD9-81ED-4DB2-BD59-A6C34878D82A}">
                    <a16:rowId xmlns:a16="http://schemas.microsoft.com/office/drawing/2014/main" val="2613232226"/>
                  </a:ext>
                </a:extLst>
              </a:tr>
              <a:tr h="278317">
                <a:tc>
                  <a:txBody>
                    <a:bodyPr/>
                    <a:lstStyle/>
                    <a:p>
                      <a:pPr lvl="0">
                        <a:buNone/>
                      </a:pPr>
                      <a:r>
                        <a:rPr lang="en-US" sz="1100">
                          <a:effectLst/>
                        </a:rPr>
                        <a:t>III</a:t>
                      </a:r>
                    </a:p>
                  </a:txBody>
                  <a:tcPr anchor="ctr"/>
                </a:tc>
                <a:tc>
                  <a:txBody>
                    <a:bodyPr/>
                    <a:lstStyle/>
                    <a:p>
                      <a:pPr lvl="0">
                        <a:buNone/>
                      </a:pPr>
                      <a:r>
                        <a:rPr lang="en-US" sz="1100"/>
                        <a:t>0005</a:t>
                      </a:r>
                    </a:p>
                  </a:txBody>
                  <a:tcPr anchor="ctr"/>
                </a:tc>
                <a:extLst>
                  <a:ext uri="{0D108BD9-81ED-4DB2-BD59-A6C34878D82A}">
                    <a16:rowId xmlns:a16="http://schemas.microsoft.com/office/drawing/2014/main" val="2976975717"/>
                  </a:ext>
                </a:extLst>
              </a:tr>
              <a:tr h="278317">
                <a:tc>
                  <a:txBody>
                    <a:bodyPr/>
                    <a:lstStyle/>
                    <a:p>
                      <a:pPr lvl="0">
                        <a:buNone/>
                      </a:pPr>
                      <a:r>
                        <a:rPr lang="en-US" sz="1100">
                          <a:effectLst/>
                        </a:rPr>
                        <a:t>IV</a:t>
                      </a:r>
                    </a:p>
                  </a:txBody>
                  <a:tcPr anchor="ctr"/>
                </a:tc>
                <a:tc>
                  <a:txBody>
                    <a:bodyPr/>
                    <a:lstStyle/>
                    <a:p>
                      <a:pPr lvl="0">
                        <a:buNone/>
                      </a:pPr>
                      <a:r>
                        <a:rPr lang="en-US" sz="1100"/>
                        <a:t>0006</a:t>
                      </a:r>
                    </a:p>
                  </a:txBody>
                  <a:tcPr anchor="ctr"/>
                </a:tc>
                <a:extLst>
                  <a:ext uri="{0D108BD9-81ED-4DB2-BD59-A6C34878D82A}">
                    <a16:rowId xmlns:a16="http://schemas.microsoft.com/office/drawing/2014/main" val="3247081013"/>
                  </a:ext>
                </a:extLst>
              </a:tr>
              <a:tr h="278317">
                <a:tc>
                  <a:txBody>
                    <a:bodyPr/>
                    <a:lstStyle/>
                    <a:p>
                      <a:pPr lvl="0">
                        <a:buNone/>
                      </a:pPr>
                      <a:r>
                        <a:rPr lang="en-US" sz="1100">
                          <a:effectLst/>
                        </a:rPr>
                        <a:t>DDS.</a:t>
                      </a:r>
                    </a:p>
                  </a:txBody>
                  <a:tcPr anchor="ctr"/>
                </a:tc>
                <a:tc>
                  <a:txBody>
                    <a:bodyPr/>
                    <a:lstStyle/>
                    <a:p>
                      <a:pPr lvl="0">
                        <a:buNone/>
                      </a:pPr>
                      <a:r>
                        <a:rPr lang="en-US" sz="1100"/>
                        <a:t>0007</a:t>
                      </a:r>
                    </a:p>
                  </a:txBody>
                  <a:tcPr anchor="ctr"/>
                </a:tc>
                <a:extLst>
                  <a:ext uri="{0D108BD9-81ED-4DB2-BD59-A6C34878D82A}">
                    <a16:rowId xmlns:a16="http://schemas.microsoft.com/office/drawing/2014/main" val="1145031596"/>
                  </a:ext>
                </a:extLst>
              </a:tr>
              <a:tr h="278317">
                <a:tc>
                  <a:txBody>
                    <a:bodyPr/>
                    <a:lstStyle/>
                    <a:p>
                      <a:pPr lvl="0">
                        <a:buNone/>
                      </a:pPr>
                      <a:r>
                        <a:rPr lang="en-US" sz="1100">
                          <a:effectLst/>
                        </a:rPr>
                        <a:t>PC</a:t>
                      </a:r>
                    </a:p>
                  </a:txBody>
                  <a:tcPr anchor="ctr"/>
                </a:tc>
                <a:tc>
                  <a:txBody>
                    <a:bodyPr/>
                    <a:lstStyle/>
                    <a:p>
                      <a:pPr lvl="0">
                        <a:buNone/>
                      </a:pPr>
                      <a:r>
                        <a:rPr lang="en-US" sz="1100"/>
                        <a:t>0008</a:t>
                      </a:r>
                    </a:p>
                  </a:txBody>
                  <a:tcPr anchor="ctr"/>
                </a:tc>
                <a:extLst>
                  <a:ext uri="{0D108BD9-81ED-4DB2-BD59-A6C34878D82A}">
                    <a16:rowId xmlns:a16="http://schemas.microsoft.com/office/drawing/2014/main" val="818085399"/>
                  </a:ext>
                </a:extLst>
              </a:tr>
              <a:tr h="278317">
                <a:tc>
                  <a:txBody>
                    <a:bodyPr/>
                    <a:lstStyle/>
                    <a:p>
                      <a:pPr lvl="0">
                        <a:buNone/>
                      </a:pPr>
                      <a:r>
                        <a:rPr lang="en-US" sz="1100">
                          <a:effectLst/>
                        </a:rPr>
                        <a:t>V</a:t>
                      </a:r>
                    </a:p>
                  </a:txBody>
                  <a:tcPr anchor="ctr"/>
                </a:tc>
                <a:tc>
                  <a:txBody>
                    <a:bodyPr/>
                    <a:lstStyle/>
                    <a:p>
                      <a:pPr lvl="0">
                        <a:buNone/>
                      </a:pPr>
                      <a:r>
                        <a:rPr lang="en-US" sz="1100"/>
                        <a:t>0009</a:t>
                      </a:r>
                    </a:p>
                  </a:txBody>
                  <a:tcPr anchor="ctr"/>
                </a:tc>
                <a:extLst>
                  <a:ext uri="{0D108BD9-81ED-4DB2-BD59-A6C34878D82A}">
                    <a16:rowId xmlns:a16="http://schemas.microsoft.com/office/drawing/2014/main" val="2932724433"/>
                  </a:ext>
                </a:extLst>
              </a:tr>
            </a:tbl>
          </a:graphicData>
        </a:graphic>
      </p:graphicFrame>
      <p:sp>
        <p:nvSpPr>
          <p:cNvPr id="3" name="TextBox 2">
            <a:extLst>
              <a:ext uri="{FF2B5EF4-FFF2-40B4-BE49-F238E27FC236}">
                <a16:creationId xmlns:a16="http://schemas.microsoft.com/office/drawing/2014/main" id="{67C34AC8-BB03-3F81-FDFE-65EE1C4F0AE1}"/>
              </a:ext>
            </a:extLst>
          </p:cNvPr>
          <p:cNvSpPr txBox="1"/>
          <p:nvPr/>
        </p:nvSpPr>
        <p:spPr>
          <a:xfrm>
            <a:off x="-4340" y="1070573"/>
            <a:ext cx="3243261"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Montserrat"/>
              </a:rPr>
              <a:t>The following S4HANA Titles will be maintained  in Service Cloud v2 for persons.</a:t>
            </a:r>
          </a:p>
        </p:txBody>
      </p:sp>
      <p:sp>
        <p:nvSpPr>
          <p:cNvPr id="4" name="TextBox 3">
            <a:extLst>
              <a:ext uri="{FF2B5EF4-FFF2-40B4-BE49-F238E27FC236}">
                <a16:creationId xmlns:a16="http://schemas.microsoft.com/office/drawing/2014/main" id="{BBF1A813-5D3A-127F-2285-1651F5E8174E}"/>
              </a:ext>
            </a:extLst>
          </p:cNvPr>
          <p:cNvSpPr txBox="1"/>
          <p:nvPr/>
        </p:nvSpPr>
        <p:spPr>
          <a:xfrm>
            <a:off x="3710411" y="1082478"/>
            <a:ext cx="3088480"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Montserrat"/>
              </a:rPr>
              <a:t>The following S4HANA Prefixes will be maintained  in Service Cloud v2 for persons.</a:t>
            </a:r>
          </a:p>
        </p:txBody>
      </p:sp>
      <p:graphicFrame>
        <p:nvGraphicFramePr>
          <p:cNvPr id="9" name="Table 8">
            <a:extLst>
              <a:ext uri="{FF2B5EF4-FFF2-40B4-BE49-F238E27FC236}">
                <a16:creationId xmlns:a16="http://schemas.microsoft.com/office/drawing/2014/main" id="{4D98C5DE-8CBB-E441-2356-6052B17E4714}"/>
              </a:ext>
            </a:extLst>
          </p:cNvPr>
          <p:cNvGraphicFramePr>
            <a:graphicFrameLocks noGrp="1"/>
          </p:cNvGraphicFramePr>
          <p:nvPr/>
        </p:nvGraphicFramePr>
        <p:xfrm>
          <a:off x="7596187" y="2012155"/>
          <a:ext cx="3753655" cy="2397834"/>
        </p:xfrm>
        <a:graphic>
          <a:graphicData uri="http://schemas.openxmlformats.org/drawingml/2006/table">
            <a:tbl>
              <a:tblPr firstRow="1" bandRow="1">
                <a:tableStyleId>{6E25E649-3F16-4E02-A733-19D2CDBF48F0}</a:tableStyleId>
              </a:tblPr>
              <a:tblGrid>
                <a:gridCol w="1023582">
                  <a:extLst>
                    <a:ext uri="{9D8B030D-6E8A-4147-A177-3AD203B41FA5}">
                      <a16:colId xmlns:a16="http://schemas.microsoft.com/office/drawing/2014/main" val="1071993016"/>
                    </a:ext>
                  </a:extLst>
                </a:gridCol>
                <a:gridCol w="2730073">
                  <a:extLst>
                    <a:ext uri="{9D8B030D-6E8A-4147-A177-3AD203B41FA5}">
                      <a16:colId xmlns:a16="http://schemas.microsoft.com/office/drawing/2014/main" val="3174711847"/>
                    </a:ext>
                  </a:extLst>
                </a:gridCol>
              </a:tblGrid>
              <a:tr h="298563">
                <a:tc>
                  <a:txBody>
                    <a:bodyPr/>
                    <a:lstStyle/>
                    <a:p>
                      <a:pPr>
                        <a:buNone/>
                      </a:pPr>
                      <a:r>
                        <a:rPr lang="en-US" sz="1200" b="1">
                          <a:effectLst/>
                        </a:rPr>
                        <a:t>Key</a:t>
                      </a:r>
                    </a:p>
                  </a:txBody>
                  <a:tcPr anchor="ctr"/>
                </a:tc>
                <a:tc>
                  <a:txBody>
                    <a:bodyPr/>
                    <a:lstStyle/>
                    <a:p>
                      <a:pPr>
                        <a:buNone/>
                      </a:pPr>
                      <a:r>
                        <a:rPr lang="en-US" sz="1200" b="1">
                          <a:effectLst/>
                        </a:rPr>
                        <a:t>Title</a:t>
                      </a:r>
                    </a:p>
                  </a:txBody>
                  <a:tcPr anchor="ctr"/>
                </a:tc>
                <a:extLst>
                  <a:ext uri="{0D108BD9-81ED-4DB2-BD59-A6C34878D82A}">
                    <a16:rowId xmlns:a16="http://schemas.microsoft.com/office/drawing/2014/main" val="2312966192"/>
                  </a:ext>
                </a:extLst>
              </a:tr>
              <a:tr h="298563">
                <a:tc>
                  <a:txBody>
                    <a:bodyPr/>
                    <a:lstStyle/>
                    <a:p>
                      <a:pPr>
                        <a:buNone/>
                      </a:pPr>
                      <a:r>
                        <a:rPr lang="en-US" sz="1100">
                          <a:effectLst/>
                        </a:rPr>
                        <a:t>01</a:t>
                      </a:r>
                    </a:p>
                  </a:txBody>
                  <a:tcPr anchor="ctr"/>
                </a:tc>
                <a:tc>
                  <a:txBody>
                    <a:bodyPr/>
                    <a:lstStyle/>
                    <a:p>
                      <a:pPr lvl="0">
                        <a:buNone/>
                      </a:pPr>
                      <a:r>
                        <a:rPr lang="en-US" sz="1100" b="0" i="0" u="none" strike="noStrike" noProof="0">
                          <a:latin typeface="Montserrat"/>
                        </a:rPr>
                        <a:t>Joint-Stock Company</a:t>
                      </a:r>
                      <a:endParaRPr lang="en-US"/>
                    </a:p>
                  </a:txBody>
                  <a:tcPr anchor="ctr"/>
                </a:tc>
                <a:extLst>
                  <a:ext uri="{0D108BD9-81ED-4DB2-BD59-A6C34878D82A}">
                    <a16:rowId xmlns:a16="http://schemas.microsoft.com/office/drawing/2014/main" val="3475115320"/>
                  </a:ext>
                </a:extLst>
              </a:tr>
              <a:tr h="298563">
                <a:tc>
                  <a:txBody>
                    <a:bodyPr/>
                    <a:lstStyle/>
                    <a:p>
                      <a:pPr>
                        <a:buNone/>
                      </a:pPr>
                      <a:r>
                        <a:rPr lang="en-US" sz="1100">
                          <a:effectLst/>
                        </a:rPr>
                        <a:t>02</a:t>
                      </a:r>
                    </a:p>
                  </a:txBody>
                  <a:tcPr anchor="ctr"/>
                </a:tc>
                <a:tc>
                  <a:txBody>
                    <a:bodyPr/>
                    <a:lstStyle/>
                    <a:p>
                      <a:pPr lvl="0">
                        <a:buNone/>
                      </a:pPr>
                      <a:r>
                        <a:rPr lang="en-US" sz="1100" b="0" i="0" u="none" strike="noStrike" noProof="0">
                          <a:latin typeface="Montserrat"/>
                        </a:rPr>
                        <a:t>Limited Liability Company</a:t>
                      </a:r>
                      <a:endParaRPr lang="en-US" sz="1100"/>
                    </a:p>
                  </a:txBody>
                  <a:tcPr anchor="ctr"/>
                </a:tc>
                <a:extLst>
                  <a:ext uri="{0D108BD9-81ED-4DB2-BD59-A6C34878D82A}">
                    <a16:rowId xmlns:a16="http://schemas.microsoft.com/office/drawing/2014/main" val="4106532621"/>
                  </a:ext>
                </a:extLst>
              </a:tr>
              <a:tr h="307893">
                <a:tc>
                  <a:txBody>
                    <a:bodyPr/>
                    <a:lstStyle/>
                    <a:p>
                      <a:pPr>
                        <a:buNone/>
                      </a:pPr>
                      <a:r>
                        <a:rPr lang="en-US" sz="1100">
                          <a:effectLst/>
                        </a:rPr>
                        <a:t>03</a:t>
                      </a:r>
                    </a:p>
                  </a:txBody>
                  <a:tcPr anchor="ctr"/>
                </a:tc>
                <a:tc>
                  <a:txBody>
                    <a:bodyPr/>
                    <a:lstStyle/>
                    <a:p>
                      <a:pPr lvl="0">
                        <a:buNone/>
                      </a:pPr>
                      <a:r>
                        <a:rPr lang="en-US" sz="1100" b="0" i="0" u="none" strike="noStrike" noProof="0">
                          <a:latin typeface="Montserrat"/>
                        </a:rPr>
                        <a:t>Partnership limited by shares</a:t>
                      </a:r>
                      <a:endParaRPr lang="en-US" sz="1100"/>
                    </a:p>
                  </a:txBody>
                  <a:tcPr anchor="ctr"/>
                </a:tc>
                <a:extLst>
                  <a:ext uri="{0D108BD9-81ED-4DB2-BD59-A6C34878D82A}">
                    <a16:rowId xmlns:a16="http://schemas.microsoft.com/office/drawing/2014/main" val="1299358257"/>
                  </a:ext>
                </a:extLst>
              </a:tr>
              <a:tr h="298563">
                <a:tc>
                  <a:txBody>
                    <a:bodyPr/>
                    <a:lstStyle/>
                    <a:p>
                      <a:pPr>
                        <a:buNone/>
                      </a:pPr>
                      <a:r>
                        <a:rPr lang="en-US" sz="1100">
                          <a:effectLst/>
                        </a:rPr>
                        <a:t>05</a:t>
                      </a:r>
                    </a:p>
                  </a:txBody>
                  <a:tcPr anchor="ctr"/>
                </a:tc>
                <a:tc>
                  <a:txBody>
                    <a:bodyPr/>
                    <a:lstStyle/>
                    <a:p>
                      <a:pPr lvl="0">
                        <a:buNone/>
                      </a:pPr>
                      <a:r>
                        <a:rPr lang="en-US" sz="1100" b="0" i="0" u="none" strike="noStrike" noProof="0">
                          <a:latin typeface="Montserrat"/>
                        </a:rPr>
                        <a:t>Limited Company by Shares</a:t>
                      </a:r>
                      <a:endParaRPr lang="en-US" sz="1100"/>
                    </a:p>
                  </a:txBody>
                  <a:tcPr anchor="ctr"/>
                </a:tc>
                <a:extLst>
                  <a:ext uri="{0D108BD9-81ED-4DB2-BD59-A6C34878D82A}">
                    <a16:rowId xmlns:a16="http://schemas.microsoft.com/office/drawing/2014/main" val="2976975717"/>
                  </a:ext>
                </a:extLst>
              </a:tr>
              <a:tr h="298563">
                <a:tc>
                  <a:txBody>
                    <a:bodyPr/>
                    <a:lstStyle/>
                    <a:p>
                      <a:pPr>
                        <a:buNone/>
                      </a:pPr>
                      <a:r>
                        <a:rPr lang="en-US" sz="1100">
                          <a:effectLst/>
                        </a:rPr>
                        <a:t>09</a:t>
                      </a:r>
                    </a:p>
                  </a:txBody>
                  <a:tcPr anchor="ctr"/>
                </a:tc>
                <a:tc>
                  <a:txBody>
                    <a:bodyPr/>
                    <a:lstStyle/>
                    <a:p>
                      <a:pPr lvl="0">
                        <a:buNone/>
                      </a:pPr>
                      <a:r>
                        <a:rPr lang="en-US" sz="1100" b="0" i="0" u="none" strike="noStrike" noProof="0">
                          <a:latin typeface="Montserrat"/>
                        </a:rPr>
                        <a:t>Corporation</a:t>
                      </a:r>
                      <a:endParaRPr lang="en-US"/>
                    </a:p>
                  </a:txBody>
                  <a:tcPr anchor="ctr"/>
                </a:tc>
                <a:extLst>
                  <a:ext uri="{0D108BD9-81ED-4DB2-BD59-A6C34878D82A}">
                    <a16:rowId xmlns:a16="http://schemas.microsoft.com/office/drawing/2014/main" val="2932724433"/>
                  </a:ext>
                </a:extLst>
              </a:tr>
              <a:tr h="298563">
                <a:tc>
                  <a:txBody>
                    <a:bodyPr/>
                    <a:lstStyle/>
                    <a:p>
                      <a:pPr>
                        <a:buNone/>
                      </a:pPr>
                      <a:r>
                        <a:rPr lang="en-US" sz="1100">
                          <a:effectLst/>
                        </a:rPr>
                        <a:t>10</a:t>
                      </a:r>
                    </a:p>
                  </a:txBody>
                  <a:tcPr anchor="ctr"/>
                </a:tc>
                <a:tc>
                  <a:txBody>
                    <a:bodyPr/>
                    <a:lstStyle/>
                    <a:p>
                      <a:pPr lvl="0">
                        <a:buNone/>
                      </a:pPr>
                      <a:r>
                        <a:rPr lang="en-US" sz="1100" b="0" i="0" u="none" strike="noStrike" noProof="0">
                          <a:latin typeface="Montserrat"/>
                        </a:rPr>
                        <a:t>Company</a:t>
                      </a:r>
                      <a:endParaRPr lang="en-US" sz="1100"/>
                    </a:p>
                  </a:txBody>
                  <a:tcPr anchor="ctr"/>
                </a:tc>
                <a:extLst>
                  <a:ext uri="{0D108BD9-81ED-4DB2-BD59-A6C34878D82A}">
                    <a16:rowId xmlns:a16="http://schemas.microsoft.com/office/drawing/2014/main" val="1847117496"/>
                  </a:ext>
                </a:extLst>
              </a:tr>
              <a:tr h="298563">
                <a:tc>
                  <a:txBody>
                    <a:bodyPr/>
                    <a:lstStyle/>
                    <a:p>
                      <a:pPr>
                        <a:buNone/>
                      </a:pPr>
                      <a:r>
                        <a:rPr lang="en-US" sz="1100">
                          <a:effectLst/>
                        </a:rPr>
                        <a:t>11</a:t>
                      </a:r>
                    </a:p>
                  </a:txBody>
                  <a:tcPr anchor="ctr"/>
                </a:tc>
                <a:tc>
                  <a:txBody>
                    <a:bodyPr/>
                    <a:lstStyle/>
                    <a:p>
                      <a:pPr lvl="0">
                        <a:buNone/>
                      </a:pPr>
                      <a:r>
                        <a:rPr lang="en-US" sz="1100" b="0" i="0" u="none" strike="noStrike" noProof="0">
                          <a:latin typeface="Montserrat"/>
                        </a:rPr>
                        <a:t>Proprietorship</a:t>
                      </a:r>
                      <a:endParaRPr lang="en-US" sz="1100"/>
                    </a:p>
                  </a:txBody>
                  <a:tcPr anchor="ctr"/>
                </a:tc>
                <a:extLst>
                  <a:ext uri="{0D108BD9-81ED-4DB2-BD59-A6C34878D82A}">
                    <a16:rowId xmlns:a16="http://schemas.microsoft.com/office/drawing/2014/main" val="3203548463"/>
                  </a:ext>
                </a:extLst>
              </a:tr>
            </a:tbl>
          </a:graphicData>
        </a:graphic>
      </p:graphicFrame>
      <p:sp>
        <p:nvSpPr>
          <p:cNvPr id="11" name="Title 1">
            <a:extLst>
              <a:ext uri="{FF2B5EF4-FFF2-40B4-BE49-F238E27FC236}">
                <a16:creationId xmlns:a16="http://schemas.microsoft.com/office/drawing/2014/main" id="{FB80657F-286F-76A4-A83D-9E77A221C49E}"/>
              </a:ext>
            </a:extLst>
          </p:cNvPr>
          <p:cNvSpPr txBox="1">
            <a:spLocks/>
          </p:cNvSpPr>
          <p:nvPr/>
        </p:nvSpPr>
        <p:spPr>
          <a:xfrm>
            <a:off x="8027296" y="450199"/>
            <a:ext cx="2889243" cy="627151"/>
          </a:xfrm>
          <a:prstGeom prst="rect">
            <a:avLst/>
          </a:prstGeom>
        </p:spPr>
        <p:txBody>
          <a:bodyPr vert="horz" lIns="0" tIns="45720" rIns="91440" bIns="0" rtlCol="0" anchor="t">
            <a:noAutofit/>
          </a:bodyPr>
          <a:lst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a:lstStyle>
          <a:p>
            <a:r>
              <a:rPr lang="en-US">
                <a:latin typeface="Montserrat"/>
              </a:rPr>
              <a:t>Legal Forms</a:t>
            </a:r>
          </a:p>
        </p:txBody>
      </p:sp>
      <p:sp>
        <p:nvSpPr>
          <p:cNvPr id="12" name="TextBox 11">
            <a:extLst>
              <a:ext uri="{FF2B5EF4-FFF2-40B4-BE49-F238E27FC236}">
                <a16:creationId xmlns:a16="http://schemas.microsoft.com/office/drawing/2014/main" id="{352C8AB3-6A86-E8B5-3A7B-A761FC9D4E78}"/>
              </a:ext>
            </a:extLst>
          </p:cNvPr>
          <p:cNvSpPr txBox="1"/>
          <p:nvPr/>
        </p:nvSpPr>
        <p:spPr>
          <a:xfrm>
            <a:off x="7591849" y="1070572"/>
            <a:ext cx="3600448"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Montserrat"/>
              </a:rPr>
              <a:t>The following S4HANA Legal Forms will be maintained  in Service Cloud v2 for organizations.</a:t>
            </a:r>
          </a:p>
        </p:txBody>
      </p:sp>
      <p:sp>
        <p:nvSpPr>
          <p:cNvPr id="13" name="TextBox 12">
            <a:extLst>
              <a:ext uri="{FF2B5EF4-FFF2-40B4-BE49-F238E27FC236}">
                <a16:creationId xmlns:a16="http://schemas.microsoft.com/office/drawing/2014/main" id="{0656E5F6-7E3E-ECD0-DE16-543201E2B1D2}"/>
              </a:ext>
            </a:extLst>
          </p:cNvPr>
          <p:cNvSpPr txBox="1"/>
          <p:nvPr/>
        </p:nvSpPr>
        <p:spPr>
          <a:xfrm>
            <a:off x="7406129" y="5755789"/>
            <a:ext cx="4386261" cy="400110"/>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Montserrat"/>
              </a:rPr>
              <a:t>*Note* Legal Entity and Industry Sector do not seem to be used. Industry Sector has 6 total records. </a:t>
            </a:r>
            <a:endParaRPr lang="en-US" sz="1000" b="1">
              <a:latin typeface="Montserrat" pitchFamily="2" charset="77"/>
            </a:endParaRPr>
          </a:p>
        </p:txBody>
      </p:sp>
    </p:spTree>
    <p:extLst>
      <p:ext uri="{BB962C8B-B14F-4D97-AF65-F5344CB8AC3E}">
        <p14:creationId xmlns:p14="http://schemas.microsoft.com/office/powerpoint/2010/main" val="15704497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A0A3F-2F13-DFD3-BBF6-7CFD02327C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EBFEBD-49CA-0A31-B233-6E4803752898}"/>
              </a:ext>
            </a:extLst>
          </p:cNvPr>
          <p:cNvSpPr>
            <a:spLocks noGrp="1"/>
          </p:cNvSpPr>
          <p:nvPr>
            <p:ph type="title"/>
          </p:nvPr>
        </p:nvSpPr>
        <p:spPr>
          <a:xfrm>
            <a:off x="723" y="-3607"/>
            <a:ext cx="6093620" cy="969674"/>
          </a:xfrm>
        </p:spPr>
        <p:txBody>
          <a:bodyPr>
            <a:noAutofit/>
          </a:bodyPr>
          <a:lstStyle/>
          <a:p>
            <a:r>
              <a:rPr lang="en-US" sz="3200">
                <a:latin typeface="Montserrat"/>
              </a:rPr>
              <a:t>Create Contact Person</a:t>
            </a:r>
          </a:p>
        </p:txBody>
      </p:sp>
      <p:sp>
        <p:nvSpPr>
          <p:cNvPr id="6" name="TextBox 5">
            <a:extLst>
              <a:ext uri="{FF2B5EF4-FFF2-40B4-BE49-F238E27FC236}">
                <a16:creationId xmlns:a16="http://schemas.microsoft.com/office/drawing/2014/main" id="{EE8DBBDF-AFB6-8762-C5AB-71F997399F53}"/>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9" name="TextBox 8">
            <a:extLst>
              <a:ext uri="{FF2B5EF4-FFF2-40B4-BE49-F238E27FC236}">
                <a16:creationId xmlns:a16="http://schemas.microsoft.com/office/drawing/2014/main" id="{0747679F-C3F4-4B9C-048A-9AB9AEB3F962}"/>
              </a:ext>
            </a:extLst>
          </p:cNvPr>
          <p:cNvSpPr txBox="1"/>
          <p:nvPr/>
        </p:nvSpPr>
        <p:spPr>
          <a:xfrm>
            <a:off x="197020" y="840805"/>
            <a:ext cx="1133602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Current State Use</a:t>
            </a:r>
            <a:r>
              <a:rPr lang="en-US"/>
              <a:t>: Users create contact persons in both CRM7 and ECC directly as a BUP001 Contact Person Role and associate the business partner to another business partner as a relationship. This contact person gets replicated to CRM7.</a:t>
            </a:r>
          </a:p>
          <a:p>
            <a:endParaRPr lang="en-US"/>
          </a:p>
          <a:p>
            <a:r>
              <a:rPr lang="en-US" b="1"/>
              <a:t>Future State Use</a:t>
            </a:r>
            <a:r>
              <a:rPr lang="en-US"/>
              <a:t>: Users will be able to create a contact in Service Cloud v2. Decision needed to approve this direction? </a:t>
            </a:r>
            <a:r>
              <a:rPr lang="en-US" b="1"/>
              <a:t>The same fields being utilized in CRM7 will be configured in Service Cloud v2.</a:t>
            </a:r>
          </a:p>
        </p:txBody>
      </p:sp>
      <p:pic>
        <p:nvPicPr>
          <p:cNvPr id="2" name="Picture 1" descr="A screenshot of a search box&#10;&#10;AI-generated content may be incorrect.">
            <a:extLst>
              <a:ext uri="{FF2B5EF4-FFF2-40B4-BE49-F238E27FC236}">
                <a16:creationId xmlns:a16="http://schemas.microsoft.com/office/drawing/2014/main" id="{78750318-A5A5-A37D-3E91-E4C7D6D1E06E}"/>
              </a:ext>
            </a:extLst>
          </p:cNvPr>
          <p:cNvPicPr>
            <a:picLocks noChangeAspect="1"/>
          </p:cNvPicPr>
          <p:nvPr/>
        </p:nvPicPr>
        <p:blipFill>
          <a:blip r:embed="rId2"/>
          <a:stretch>
            <a:fillRect/>
          </a:stretch>
        </p:blipFill>
        <p:spPr>
          <a:xfrm>
            <a:off x="202405" y="2680648"/>
            <a:ext cx="10620376" cy="3711265"/>
          </a:xfrm>
          <a:prstGeom prst="rect">
            <a:avLst/>
          </a:prstGeom>
        </p:spPr>
      </p:pic>
    </p:spTree>
    <p:extLst>
      <p:ext uri="{BB962C8B-B14F-4D97-AF65-F5344CB8AC3E}">
        <p14:creationId xmlns:p14="http://schemas.microsoft.com/office/powerpoint/2010/main" val="20882300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262C4-2B76-9BD2-7B28-1BE980D73D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23A853-5EAE-F348-13C4-F15910F8C8A7}"/>
              </a:ext>
            </a:extLst>
          </p:cNvPr>
          <p:cNvSpPr>
            <a:spLocks noGrp="1"/>
          </p:cNvSpPr>
          <p:nvPr>
            <p:ph type="title"/>
          </p:nvPr>
        </p:nvSpPr>
        <p:spPr>
          <a:xfrm>
            <a:off x="-1021" y="5686"/>
            <a:ext cx="12186923" cy="743456"/>
          </a:xfrm>
        </p:spPr>
        <p:txBody>
          <a:bodyPr>
            <a:normAutofit/>
          </a:bodyPr>
          <a:lstStyle/>
          <a:p>
            <a:r>
              <a:rPr lang="en-US" sz="3200">
                <a:latin typeface="Montserrat"/>
              </a:rPr>
              <a:t>Contract Account Number Ranges and Replication</a:t>
            </a:r>
          </a:p>
        </p:txBody>
      </p:sp>
      <p:sp>
        <p:nvSpPr>
          <p:cNvPr id="6" name="TextBox 5">
            <a:extLst>
              <a:ext uri="{FF2B5EF4-FFF2-40B4-BE49-F238E27FC236}">
                <a16:creationId xmlns:a16="http://schemas.microsoft.com/office/drawing/2014/main" id="{7382334D-53DB-B8F3-1496-A6139375D8B7}"/>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B844BAF0-A47D-DDEF-F11B-920F300FAAC2}"/>
              </a:ext>
            </a:extLst>
          </p:cNvPr>
          <p:cNvSpPr txBox="1"/>
          <p:nvPr/>
        </p:nvSpPr>
        <p:spPr>
          <a:xfrm>
            <a:off x="1376" y="677008"/>
            <a:ext cx="12172947" cy="28315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A Contract Account (Also known as a CRM Business Agreement)is the object via which financial postings are made. Financial documents posted to the contract account are subject to receivables management in the sub ledger in Contract Accounts Receivable and Payable (part of FI-CA). All charges and payments will be held at the contract account. It also has the control data for payment transactions and collections (i.e., dunning).</a:t>
            </a:r>
          </a:p>
          <a:p>
            <a:endParaRPr lang="en-US" sz="1600"/>
          </a:p>
          <a:p>
            <a:r>
              <a:rPr lang="en-US" sz="1600"/>
              <a:t>Contract Accounts will be created via SAP Service Cloud v2 as part of the Move In process and via SAP S4HANA. When creating a new contract account in S4HANA, SAP will use the internal number range configured for the contract account category in SAP S4HANA. Once the contract account is saved in S4HANA, the contract account will be </a:t>
            </a:r>
            <a:r>
              <a:rPr lang="en-US" sz="1600">
                <a:ea typeface="+mn-lt"/>
                <a:cs typeface="+mn-lt"/>
              </a:rPr>
              <a:t>100000191906 as an example. </a:t>
            </a:r>
          </a:p>
          <a:p>
            <a:endParaRPr lang="en-US" sz="1600">
              <a:ea typeface="+mn-lt"/>
              <a:cs typeface="+mn-lt"/>
            </a:endParaRPr>
          </a:p>
          <a:p>
            <a:r>
              <a:rPr lang="en-US" sz="1600">
                <a:ea typeface="+mn-lt"/>
                <a:cs typeface="+mn-lt"/>
              </a:rPr>
              <a:t>When creating a contract account from Service Cloud v2, SAP will use the external number range configured for the contract account category in S4HANA. Once the contract account is saved in S4HANA, the contract account will be 103001473067 as an example.</a:t>
            </a:r>
            <a:r>
              <a:rPr lang="en-US">
                <a:ea typeface="+mn-lt"/>
                <a:cs typeface="+mn-lt"/>
              </a:rPr>
              <a:t>  </a:t>
            </a:r>
          </a:p>
        </p:txBody>
      </p:sp>
      <p:graphicFrame>
        <p:nvGraphicFramePr>
          <p:cNvPr id="8" name="Table 7">
            <a:extLst>
              <a:ext uri="{FF2B5EF4-FFF2-40B4-BE49-F238E27FC236}">
                <a16:creationId xmlns:a16="http://schemas.microsoft.com/office/drawing/2014/main" id="{B64DA63E-29A9-C564-AFC7-E4A2D8C058F8}"/>
              </a:ext>
            </a:extLst>
          </p:cNvPr>
          <p:cNvGraphicFramePr>
            <a:graphicFrameLocks noGrp="1"/>
          </p:cNvGraphicFramePr>
          <p:nvPr>
            <p:extLst>
              <p:ext uri="{D42A27DB-BD31-4B8C-83A1-F6EECF244321}">
                <p14:modId xmlns:p14="http://schemas.microsoft.com/office/powerpoint/2010/main" val="889760019"/>
              </p:ext>
            </p:extLst>
          </p:nvPr>
        </p:nvGraphicFramePr>
        <p:xfrm>
          <a:off x="111737" y="3586429"/>
          <a:ext cx="8133836" cy="2946386"/>
        </p:xfrm>
        <a:graphic>
          <a:graphicData uri="http://schemas.openxmlformats.org/drawingml/2006/table">
            <a:tbl>
              <a:tblPr firstRow="1" bandRow="1">
                <a:tableStyleId>{5C22544A-7EE6-4342-B048-85BDC9FD1C3A}</a:tableStyleId>
              </a:tblPr>
              <a:tblGrid>
                <a:gridCol w="1077592">
                  <a:extLst>
                    <a:ext uri="{9D8B030D-6E8A-4147-A177-3AD203B41FA5}">
                      <a16:colId xmlns:a16="http://schemas.microsoft.com/office/drawing/2014/main" val="1859295381"/>
                    </a:ext>
                  </a:extLst>
                </a:gridCol>
                <a:gridCol w="1641254">
                  <a:extLst>
                    <a:ext uri="{9D8B030D-6E8A-4147-A177-3AD203B41FA5}">
                      <a16:colId xmlns:a16="http://schemas.microsoft.com/office/drawing/2014/main" val="4125018432"/>
                    </a:ext>
                  </a:extLst>
                </a:gridCol>
                <a:gridCol w="1856775">
                  <a:extLst>
                    <a:ext uri="{9D8B030D-6E8A-4147-A177-3AD203B41FA5}">
                      <a16:colId xmlns:a16="http://schemas.microsoft.com/office/drawing/2014/main" val="2752329662"/>
                    </a:ext>
                  </a:extLst>
                </a:gridCol>
                <a:gridCol w="924560">
                  <a:extLst>
                    <a:ext uri="{9D8B030D-6E8A-4147-A177-3AD203B41FA5}">
                      <a16:colId xmlns:a16="http://schemas.microsoft.com/office/drawing/2014/main" val="1372701946"/>
                    </a:ext>
                  </a:extLst>
                </a:gridCol>
                <a:gridCol w="2633655">
                  <a:extLst>
                    <a:ext uri="{9D8B030D-6E8A-4147-A177-3AD203B41FA5}">
                      <a16:colId xmlns:a16="http://schemas.microsoft.com/office/drawing/2014/main" val="2160032817"/>
                    </a:ext>
                  </a:extLst>
                </a:gridCol>
              </a:tblGrid>
              <a:tr h="355586">
                <a:tc>
                  <a:txBody>
                    <a:bodyPr/>
                    <a:lstStyle/>
                    <a:p>
                      <a:pPr lvl="0" algn="ctr">
                        <a:buNone/>
                      </a:pPr>
                      <a:r>
                        <a:rPr lang="en-US" sz="1100"/>
                        <a:t>No</a:t>
                      </a:r>
                    </a:p>
                  </a:txBody>
                  <a:tcPr/>
                </a:tc>
                <a:tc>
                  <a:txBody>
                    <a:bodyPr/>
                    <a:lstStyle/>
                    <a:p>
                      <a:pPr lvl="0" algn="ctr">
                        <a:buNone/>
                      </a:pPr>
                      <a:r>
                        <a:rPr lang="en-US" sz="1100"/>
                        <a:t>From No</a:t>
                      </a:r>
                    </a:p>
                  </a:txBody>
                  <a:tcPr/>
                </a:tc>
                <a:tc>
                  <a:txBody>
                    <a:bodyPr/>
                    <a:lstStyle/>
                    <a:p>
                      <a:pPr lvl="0" algn="ctr">
                        <a:buNone/>
                      </a:pPr>
                      <a:r>
                        <a:rPr lang="en-US" sz="1100"/>
                        <a:t>To No</a:t>
                      </a:r>
                    </a:p>
                  </a:txBody>
                  <a:tcPr/>
                </a:tc>
                <a:tc>
                  <a:txBody>
                    <a:bodyPr/>
                    <a:lstStyle/>
                    <a:p>
                      <a:pPr lvl="0" algn="ctr">
                        <a:buNone/>
                      </a:pPr>
                      <a:r>
                        <a:rPr lang="en-US" sz="1100"/>
                        <a:t>External</a:t>
                      </a:r>
                    </a:p>
                  </a:txBody>
                  <a:tcPr/>
                </a:tc>
                <a:tc>
                  <a:txBody>
                    <a:bodyPr/>
                    <a:lstStyle/>
                    <a:p>
                      <a:pPr lvl="0" algn="ctr">
                        <a:buNone/>
                      </a:pPr>
                      <a:r>
                        <a:rPr lang="en-US" sz="1100"/>
                        <a:t>Category Description</a:t>
                      </a:r>
                    </a:p>
                  </a:txBody>
                  <a:tcPr/>
                </a:tc>
                <a:extLst>
                  <a:ext uri="{0D108BD9-81ED-4DB2-BD59-A6C34878D82A}">
                    <a16:rowId xmlns:a16="http://schemas.microsoft.com/office/drawing/2014/main" val="2425112939"/>
                  </a:ext>
                </a:extLst>
              </a:tr>
              <a:tr h="253989">
                <a:tc>
                  <a:txBody>
                    <a:bodyPr/>
                    <a:lstStyle/>
                    <a:p>
                      <a:pPr lvl="0" algn="ctr">
                        <a:buNone/>
                      </a:pPr>
                      <a:r>
                        <a:rPr lang="en-US" sz="1100"/>
                        <a:t>C1</a:t>
                      </a:r>
                    </a:p>
                  </a:txBody>
                  <a:tcPr/>
                </a:tc>
                <a:tc>
                  <a:txBody>
                    <a:bodyPr/>
                    <a:lstStyle/>
                    <a:p>
                      <a:pPr lvl="0" algn="ctr">
                        <a:buNone/>
                      </a:pPr>
                      <a:r>
                        <a:rPr lang="en-US" sz="1100" b="0" i="0" u="none" strike="noStrike" noProof="0">
                          <a:latin typeface="Aptos"/>
                        </a:rPr>
                        <a:t>010000000000</a:t>
                      </a:r>
                      <a:endParaRPr lang="en-US" sz="1100"/>
                    </a:p>
                  </a:txBody>
                  <a:tcPr/>
                </a:tc>
                <a:tc>
                  <a:txBody>
                    <a:bodyPr/>
                    <a:lstStyle/>
                    <a:p>
                      <a:pPr lvl="0" algn="ctr">
                        <a:buNone/>
                      </a:pPr>
                      <a:r>
                        <a:rPr lang="en-US" sz="1100" b="0" i="0" u="none" strike="noStrike" noProof="0">
                          <a:latin typeface="Aptos"/>
                        </a:rPr>
                        <a:t>010299999999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solidFill>
                            <a:srgbClr val="0070C0"/>
                          </a:solidFill>
                          <a:latin typeface="Aptos"/>
                        </a:rPr>
                        <a:t>Energy Contract Account</a:t>
                      </a:r>
                      <a:endParaRPr lang="en-US">
                        <a:solidFill>
                          <a:srgbClr val="0070C0"/>
                        </a:solidFill>
                      </a:endParaRPr>
                    </a:p>
                  </a:txBody>
                  <a:tcPr/>
                </a:tc>
                <a:extLst>
                  <a:ext uri="{0D108BD9-81ED-4DB2-BD59-A6C34878D82A}">
                    <a16:rowId xmlns:a16="http://schemas.microsoft.com/office/drawing/2014/main" val="1939654581"/>
                  </a:ext>
                </a:extLst>
              </a:tr>
              <a:tr h="253989">
                <a:tc>
                  <a:txBody>
                    <a:bodyPr/>
                    <a:lstStyle/>
                    <a:p>
                      <a:pPr lvl="0" algn="ctr">
                        <a:buNone/>
                      </a:pPr>
                      <a:r>
                        <a:rPr lang="en-US" sz="1100"/>
                        <a:t>C2</a:t>
                      </a:r>
                    </a:p>
                  </a:txBody>
                  <a:tcPr/>
                </a:tc>
                <a:tc>
                  <a:txBody>
                    <a:bodyPr/>
                    <a:lstStyle/>
                    <a:p>
                      <a:pPr lvl="0" algn="ctr">
                        <a:buNone/>
                      </a:pPr>
                      <a:r>
                        <a:rPr lang="en-US" sz="1100" b="0" i="0" u="none" strike="noStrike" noProof="0">
                          <a:latin typeface="Aptos"/>
                        </a:rPr>
                        <a:t>020000000000</a:t>
                      </a:r>
                      <a:endParaRPr lang="en-US"/>
                    </a:p>
                  </a:txBody>
                  <a:tcPr/>
                </a:tc>
                <a:tc>
                  <a:txBody>
                    <a:bodyPr/>
                    <a:lstStyle/>
                    <a:p>
                      <a:pPr lvl="0" algn="ctr">
                        <a:buNone/>
                      </a:pPr>
                      <a:r>
                        <a:rPr lang="en-US" sz="1100" b="0" i="0" u="none" strike="noStrike" noProof="0">
                          <a:latin typeface="Aptos"/>
                        </a:rPr>
                        <a:t>020299999999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solidFill>
                            <a:schemeClr val="accent2">
                              <a:lumMod val="76000"/>
                            </a:schemeClr>
                          </a:solidFill>
                          <a:latin typeface="Aptos"/>
                        </a:rPr>
                        <a:t>Collective Contract Account</a:t>
                      </a:r>
                      <a:endParaRPr lang="en-US">
                        <a:solidFill>
                          <a:schemeClr val="accent2">
                            <a:lumMod val="76000"/>
                          </a:schemeClr>
                        </a:solidFill>
                      </a:endParaRPr>
                    </a:p>
                  </a:txBody>
                  <a:tcPr/>
                </a:tc>
                <a:extLst>
                  <a:ext uri="{0D108BD9-81ED-4DB2-BD59-A6C34878D82A}">
                    <a16:rowId xmlns:a16="http://schemas.microsoft.com/office/drawing/2014/main" val="1922440080"/>
                  </a:ext>
                </a:extLst>
              </a:tr>
              <a:tr h="253989">
                <a:tc>
                  <a:txBody>
                    <a:bodyPr/>
                    <a:lstStyle/>
                    <a:p>
                      <a:pPr lvl="0" algn="ctr">
                        <a:buNone/>
                      </a:pPr>
                      <a:r>
                        <a:rPr lang="en-US" sz="1100"/>
                        <a:t>C3</a:t>
                      </a:r>
                    </a:p>
                  </a:txBody>
                  <a:tcPr/>
                </a:tc>
                <a:tc>
                  <a:txBody>
                    <a:bodyPr/>
                    <a:lstStyle/>
                    <a:p>
                      <a:pPr lvl="0" algn="ctr">
                        <a:buNone/>
                      </a:pPr>
                      <a:r>
                        <a:rPr lang="en-US" sz="1100" b="0" i="0" u="none" strike="noStrike" noProof="0">
                          <a:latin typeface="Aptos"/>
                        </a:rPr>
                        <a:t>030000000000</a:t>
                      </a:r>
                      <a:endParaRPr lang="en-US"/>
                    </a:p>
                  </a:txBody>
                  <a:tcPr/>
                </a:tc>
                <a:tc>
                  <a:txBody>
                    <a:bodyPr/>
                    <a:lstStyle/>
                    <a:p>
                      <a:pPr lvl="0" algn="ctr">
                        <a:buNone/>
                      </a:pPr>
                      <a:r>
                        <a:rPr lang="en-US" sz="1100" b="0" i="0" u="none" strike="noStrike" noProof="0">
                          <a:latin typeface="Aptos"/>
                        </a:rPr>
                        <a:t>030299999999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solidFill>
                            <a:schemeClr val="accent6">
                              <a:lumMod val="76000"/>
                            </a:schemeClr>
                          </a:solidFill>
                          <a:latin typeface="Aptos"/>
                        </a:rPr>
                        <a:t>Non-Energy Contract Account</a:t>
                      </a:r>
                      <a:endParaRPr lang="en-US">
                        <a:solidFill>
                          <a:schemeClr val="accent6">
                            <a:lumMod val="76000"/>
                          </a:schemeClr>
                        </a:solidFill>
                      </a:endParaRPr>
                    </a:p>
                  </a:txBody>
                  <a:tcPr/>
                </a:tc>
                <a:extLst>
                  <a:ext uri="{0D108BD9-81ED-4DB2-BD59-A6C34878D82A}">
                    <a16:rowId xmlns:a16="http://schemas.microsoft.com/office/drawing/2014/main" val="1242098446"/>
                  </a:ext>
                </a:extLst>
              </a:tr>
              <a:tr h="253989">
                <a:tc>
                  <a:txBody>
                    <a:bodyPr/>
                    <a:lstStyle/>
                    <a:p>
                      <a:pPr lvl="0" algn="ctr">
                        <a:buNone/>
                      </a:pPr>
                      <a:r>
                        <a:rPr lang="en-US" sz="1100"/>
                        <a:t>C4</a:t>
                      </a:r>
                    </a:p>
                  </a:txBody>
                  <a:tcPr/>
                </a:tc>
                <a:tc>
                  <a:txBody>
                    <a:bodyPr/>
                    <a:lstStyle/>
                    <a:p>
                      <a:pPr lvl="0" algn="ctr">
                        <a:buNone/>
                      </a:pPr>
                      <a:r>
                        <a:rPr lang="en-US" sz="1100" b="0" i="0" u="none" strike="noStrike" noProof="0">
                          <a:latin typeface="Aptos"/>
                        </a:rPr>
                        <a:t>040000000000</a:t>
                      </a:r>
                      <a:endParaRPr lang="en-US"/>
                    </a:p>
                  </a:txBody>
                  <a:tcPr/>
                </a:tc>
                <a:tc>
                  <a:txBody>
                    <a:bodyPr/>
                    <a:lstStyle/>
                    <a:p>
                      <a:pPr lvl="0" algn="ctr">
                        <a:buNone/>
                      </a:pPr>
                      <a:r>
                        <a:rPr lang="en-US" sz="1100" b="0" i="0" u="none" strike="noStrike" noProof="0">
                          <a:latin typeface="Aptos"/>
                        </a:rPr>
                        <a:t>040299999999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latin typeface="Aptos"/>
                        </a:rPr>
                        <a:t>Gas Trans Composite Account</a:t>
                      </a:r>
                      <a:endParaRPr lang="en-US"/>
                    </a:p>
                  </a:txBody>
                  <a:tcPr/>
                </a:tc>
                <a:extLst>
                  <a:ext uri="{0D108BD9-81ED-4DB2-BD59-A6C34878D82A}">
                    <a16:rowId xmlns:a16="http://schemas.microsoft.com/office/drawing/2014/main" val="1437949607"/>
                  </a:ext>
                </a:extLst>
              </a:tr>
              <a:tr h="253989">
                <a:tc>
                  <a:txBody>
                    <a:bodyPr/>
                    <a:lstStyle/>
                    <a:p>
                      <a:pPr lvl="0" algn="ctr">
                        <a:buNone/>
                      </a:pPr>
                      <a:r>
                        <a:rPr lang="en-US" sz="1100"/>
                        <a:t>C5</a:t>
                      </a:r>
                    </a:p>
                  </a:txBody>
                  <a:tcPr/>
                </a:tc>
                <a:tc>
                  <a:txBody>
                    <a:bodyPr/>
                    <a:lstStyle/>
                    <a:p>
                      <a:pPr lvl="0" algn="ctr">
                        <a:buNone/>
                      </a:pPr>
                      <a:r>
                        <a:rPr lang="en-US" sz="1100" b="0" i="0" u="none" strike="noStrike" noProof="0">
                          <a:latin typeface="Aptos"/>
                        </a:rPr>
                        <a:t>103000000000</a:t>
                      </a:r>
                      <a:endParaRPr lang="en-US"/>
                    </a:p>
                  </a:txBody>
                  <a:tcPr/>
                </a:tc>
                <a:tc>
                  <a:txBody>
                    <a:bodyPr/>
                    <a:lstStyle/>
                    <a:p>
                      <a:pPr lvl="0" algn="ctr">
                        <a:buNone/>
                      </a:pPr>
                      <a:r>
                        <a:rPr lang="en-US" sz="1100" b="0" i="0" u="none" strike="noStrike" noProof="0">
                          <a:latin typeface="Aptos"/>
                        </a:rPr>
                        <a:t>109999999999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solidFill>
                            <a:srgbClr val="0070C0"/>
                          </a:solidFill>
                          <a:latin typeface="Aptos"/>
                        </a:rPr>
                        <a:t>Energy Contract Account</a:t>
                      </a:r>
                      <a:endParaRPr lang="en-US">
                        <a:solidFill>
                          <a:srgbClr val="0070C0"/>
                        </a:solidFill>
                      </a:endParaRPr>
                    </a:p>
                  </a:txBody>
                  <a:tcPr/>
                </a:tc>
                <a:extLst>
                  <a:ext uri="{0D108BD9-81ED-4DB2-BD59-A6C34878D82A}">
                    <a16:rowId xmlns:a16="http://schemas.microsoft.com/office/drawing/2014/main" val="421062875"/>
                  </a:ext>
                </a:extLst>
              </a:tr>
              <a:tr h="253989">
                <a:tc>
                  <a:txBody>
                    <a:bodyPr/>
                    <a:lstStyle/>
                    <a:p>
                      <a:pPr lvl="0" algn="ctr">
                        <a:buNone/>
                      </a:pPr>
                      <a:r>
                        <a:rPr lang="en-US" sz="1100"/>
                        <a:t>C6</a:t>
                      </a:r>
                    </a:p>
                  </a:txBody>
                  <a:tcPr/>
                </a:tc>
                <a:tc>
                  <a:txBody>
                    <a:bodyPr/>
                    <a:lstStyle/>
                    <a:p>
                      <a:pPr lvl="0" algn="ctr">
                        <a:buNone/>
                      </a:pPr>
                      <a:r>
                        <a:rPr lang="en-US" sz="1100" b="0" i="0" u="none" strike="noStrike" noProof="0">
                          <a:latin typeface="Aptos"/>
                        </a:rPr>
                        <a:t>203000000000</a:t>
                      </a:r>
                      <a:endParaRPr lang="en-US"/>
                    </a:p>
                  </a:txBody>
                  <a:tcPr/>
                </a:tc>
                <a:tc>
                  <a:txBody>
                    <a:bodyPr/>
                    <a:lstStyle/>
                    <a:p>
                      <a:pPr lvl="0" algn="ctr">
                        <a:buNone/>
                      </a:pPr>
                      <a:r>
                        <a:rPr lang="en-US" sz="1100" b="0" i="0" u="none" strike="noStrike" noProof="0">
                          <a:latin typeface="Aptos"/>
                        </a:rPr>
                        <a:t>209999999999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solidFill>
                            <a:schemeClr val="accent2">
                              <a:lumMod val="76000"/>
                            </a:schemeClr>
                          </a:solidFill>
                          <a:latin typeface="Aptos"/>
                        </a:rPr>
                        <a:t>Collective Contract Account</a:t>
                      </a:r>
                      <a:endParaRPr lang="en-US">
                        <a:solidFill>
                          <a:schemeClr val="accent2">
                            <a:lumMod val="76000"/>
                          </a:schemeClr>
                        </a:solidFill>
                      </a:endParaRPr>
                    </a:p>
                  </a:txBody>
                  <a:tcPr/>
                </a:tc>
                <a:extLst>
                  <a:ext uri="{0D108BD9-81ED-4DB2-BD59-A6C34878D82A}">
                    <a16:rowId xmlns:a16="http://schemas.microsoft.com/office/drawing/2014/main" val="2490352472"/>
                  </a:ext>
                </a:extLst>
              </a:tr>
              <a:tr h="253989">
                <a:tc>
                  <a:txBody>
                    <a:bodyPr/>
                    <a:lstStyle/>
                    <a:p>
                      <a:pPr lvl="0" algn="ctr">
                        <a:buNone/>
                      </a:pPr>
                      <a:r>
                        <a:rPr lang="en-US" sz="1100"/>
                        <a:t>C7</a:t>
                      </a:r>
                    </a:p>
                  </a:txBody>
                  <a:tcPr/>
                </a:tc>
                <a:tc>
                  <a:txBody>
                    <a:bodyPr/>
                    <a:lstStyle/>
                    <a:p>
                      <a:pPr lvl="0" algn="ctr">
                        <a:buNone/>
                      </a:pPr>
                      <a:r>
                        <a:rPr lang="en-US" sz="1100" b="0" i="0" u="none" strike="noStrike" noProof="0">
                          <a:latin typeface="Aptos"/>
                        </a:rPr>
                        <a:t>303000000000</a:t>
                      </a:r>
                      <a:endParaRPr lang="en-US"/>
                    </a:p>
                  </a:txBody>
                  <a:tcPr/>
                </a:tc>
                <a:tc>
                  <a:txBody>
                    <a:bodyPr/>
                    <a:lstStyle/>
                    <a:p>
                      <a:pPr lvl="0" algn="ctr">
                        <a:buNone/>
                      </a:pPr>
                      <a:r>
                        <a:rPr lang="en-US" sz="1100" b="0" i="0" u="none" strike="noStrike" noProof="0">
                          <a:latin typeface="Aptos"/>
                        </a:rPr>
                        <a:t>309999999999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solidFill>
                            <a:schemeClr val="accent6">
                              <a:lumMod val="76000"/>
                            </a:schemeClr>
                          </a:solidFill>
                          <a:latin typeface="Aptos"/>
                        </a:rPr>
                        <a:t>Non-Energy Contract Account</a:t>
                      </a:r>
                      <a:endParaRPr lang="en-US">
                        <a:solidFill>
                          <a:schemeClr val="accent6">
                            <a:lumMod val="76000"/>
                          </a:schemeClr>
                        </a:solidFill>
                      </a:endParaRPr>
                    </a:p>
                  </a:txBody>
                  <a:tcPr/>
                </a:tc>
                <a:extLst>
                  <a:ext uri="{0D108BD9-81ED-4DB2-BD59-A6C34878D82A}">
                    <a16:rowId xmlns:a16="http://schemas.microsoft.com/office/drawing/2014/main" val="1693427471"/>
                  </a:ext>
                </a:extLst>
              </a:tr>
              <a:tr h="253989">
                <a:tc>
                  <a:txBody>
                    <a:bodyPr/>
                    <a:lstStyle/>
                    <a:p>
                      <a:pPr lvl="0" algn="ctr">
                        <a:buNone/>
                      </a:pPr>
                      <a:r>
                        <a:rPr lang="en-US" sz="1100"/>
                        <a:t>C8</a:t>
                      </a:r>
                    </a:p>
                  </a:txBody>
                  <a:tcPr/>
                </a:tc>
                <a:tc>
                  <a:txBody>
                    <a:bodyPr/>
                    <a:lstStyle/>
                    <a:p>
                      <a:pPr lvl="0" algn="ctr">
                        <a:buNone/>
                      </a:pPr>
                      <a:r>
                        <a:rPr lang="en-US" sz="1100" b="0" i="0" u="none" strike="noStrike" noProof="0">
                          <a:latin typeface="Aptos"/>
                        </a:rPr>
                        <a:t>403000000000</a:t>
                      </a:r>
                      <a:endParaRPr lang="en-US"/>
                    </a:p>
                  </a:txBody>
                  <a:tcPr/>
                </a:tc>
                <a:tc>
                  <a:txBody>
                    <a:bodyPr/>
                    <a:lstStyle/>
                    <a:p>
                      <a:pPr lvl="0" algn="ctr">
                        <a:buNone/>
                      </a:pPr>
                      <a:r>
                        <a:rPr lang="en-US" sz="1100" b="0" i="0" u="none" strike="noStrike" noProof="0">
                          <a:latin typeface="Aptos"/>
                        </a:rPr>
                        <a:t>409999999999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latin typeface="Aptos"/>
                        </a:rPr>
                        <a:t>Gas Trans Composite Account</a:t>
                      </a:r>
                      <a:endParaRPr lang="en-US"/>
                    </a:p>
                  </a:txBody>
                  <a:tcPr/>
                </a:tc>
                <a:extLst>
                  <a:ext uri="{0D108BD9-81ED-4DB2-BD59-A6C34878D82A}">
                    <a16:rowId xmlns:a16="http://schemas.microsoft.com/office/drawing/2014/main" val="216127731"/>
                  </a:ext>
                </a:extLst>
              </a:tr>
              <a:tr h="253988">
                <a:tc>
                  <a:txBody>
                    <a:bodyPr/>
                    <a:lstStyle/>
                    <a:p>
                      <a:pPr lvl="0" algn="ctr">
                        <a:buNone/>
                      </a:pPr>
                      <a:r>
                        <a:rPr lang="en-US" sz="1100"/>
                        <a:t>C9</a:t>
                      </a:r>
                    </a:p>
                  </a:txBody>
                  <a:tcPr/>
                </a:tc>
                <a:tc>
                  <a:txBody>
                    <a:bodyPr/>
                    <a:lstStyle/>
                    <a:p>
                      <a:pPr lvl="0" algn="ctr">
                        <a:buNone/>
                      </a:pPr>
                      <a:r>
                        <a:rPr lang="en-US" sz="1100" b="0" i="0" u="none" strike="noStrike" noProof="0"/>
                        <a:t>060000000000</a:t>
                      </a:r>
                      <a:endParaRPr lang="en-US"/>
                    </a:p>
                  </a:txBody>
                  <a:tcPr/>
                </a:tc>
                <a:tc>
                  <a:txBody>
                    <a:bodyPr/>
                    <a:lstStyle/>
                    <a:p>
                      <a:pPr lvl="0" algn="ctr">
                        <a:buNone/>
                      </a:pPr>
                      <a:r>
                        <a:rPr lang="en-US" sz="1100" b="0" i="0" u="none" strike="noStrike" noProof="0">
                          <a:latin typeface="Aptos"/>
                        </a:rPr>
                        <a:t>060299999999</a:t>
                      </a:r>
                      <a:endParaRPr lang="en-US"/>
                    </a:p>
                  </a:txBody>
                  <a:tcPr/>
                </a:tc>
                <a:tc>
                  <a:txBody>
                    <a:bodyPr/>
                    <a:lstStyle/>
                    <a:p>
                      <a:pPr lvl="0" algn="ctr">
                        <a:buNone/>
                      </a:pPr>
                      <a:endParaRPr lang="en-US" sz="1100"/>
                    </a:p>
                  </a:txBody>
                  <a:tcPr/>
                </a:tc>
                <a:tc>
                  <a:txBody>
                    <a:bodyPr/>
                    <a:lstStyle/>
                    <a:p>
                      <a:pPr lvl="0" algn="ctr">
                        <a:buNone/>
                      </a:pPr>
                      <a:r>
                        <a:rPr lang="en-US" sz="1100" b="0" i="0" u="none" strike="noStrike" noProof="0">
                          <a:solidFill>
                            <a:schemeClr val="accent5">
                              <a:lumMod val="76000"/>
                            </a:schemeClr>
                          </a:solidFill>
                          <a:latin typeface="Aptos"/>
                        </a:rPr>
                        <a:t>Gas Trans Pooling Composite Account</a:t>
                      </a:r>
                      <a:endParaRPr lang="en-US">
                        <a:solidFill>
                          <a:schemeClr val="accent5">
                            <a:lumMod val="76000"/>
                          </a:schemeClr>
                        </a:solidFill>
                      </a:endParaRPr>
                    </a:p>
                  </a:txBody>
                  <a:tcPr/>
                </a:tc>
                <a:extLst>
                  <a:ext uri="{0D108BD9-81ED-4DB2-BD59-A6C34878D82A}">
                    <a16:rowId xmlns:a16="http://schemas.microsoft.com/office/drawing/2014/main" val="1874983190"/>
                  </a:ext>
                </a:extLst>
              </a:tr>
              <a:tr h="253987">
                <a:tc>
                  <a:txBody>
                    <a:bodyPr/>
                    <a:lstStyle/>
                    <a:p>
                      <a:pPr lvl="0" algn="ctr">
                        <a:buNone/>
                      </a:pPr>
                      <a:r>
                        <a:rPr lang="en-US" sz="1100"/>
                        <a:t>CZ</a:t>
                      </a:r>
                    </a:p>
                  </a:txBody>
                  <a:tcPr/>
                </a:tc>
                <a:tc>
                  <a:txBody>
                    <a:bodyPr/>
                    <a:lstStyle/>
                    <a:p>
                      <a:pPr lvl="0" algn="ctr">
                        <a:buNone/>
                      </a:pPr>
                      <a:r>
                        <a:rPr lang="en-US" sz="1100" b="0" i="0" u="none" strike="noStrike" noProof="0"/>
                        <a:t>603000000000</a:t>
                      </a:r>
                      <a:endParaRPr lang="en-US"/>
                    </a:p>
                  </a:txBody>
                  <a:tcPr/>
                </a:tc>
                <a:tc>
                  <a:txBody>
                    <a:bodyPr/>
                    <a:lstStyle/>
                    <a:p>
                      <a:pPr lvl="0" algn="ctr">
                        <a:buNone/>
                      </a:pPr>
                      <a:r>
                        <a:rPr lang="en-US" sz="1100" b="0" i="0" u="none" strike="noStrike" noProof="0">
                          <a:latin typeface="Aptos"/>
                        </a:rPr>
                        <a:t>609999999999</a:t>
                      </a:r>
                      <a:endParaRPr lang="en-US"/>
                    </a:p>
                  </a:txBody>
                  <a:tcPr/>
                </a:tc>
                <a:tc>
                  <a:txBody>
                    <a:bodyPr/>
                    <a:lstStyle/>
                    <a:p>
                      <a:pPr lvl="0" algn="ctr">
                        <a:buNone/>
                      </a:pPr>
                      <a:r>
                        <a:rPr lang="en-US" sz="1100"/>
                        <a:t>X</a:t>
                      </a:r>
                    </a:p>
                  </a:txBody>
                  <a:tcPr/>
                </a:tc>
                <a:tc>
                  <a:txBody>
                    <a:bodyPr/>
                    <a:lstStyle/>
                    <a:p>
                      <a:pPr lvl="0" algn="ctr">
                        <a:buNone/>
                      </a:pPr>
                      <a:r>
                        <a:rPr lang="en-US" sz="1100" b="0" i="0" u="none" strike="noStrike" noProof="0">
                          <a:solidFill>
                            <a:schemeClr val="accent5">
                              <a:lumMod val="76000"/>
                            </a:schemeClr>
                          </a:solidFill>
                          <a:latin typeface="Aptos"/>
                        </a:rPr>
                        <a:t>Gas Trans Pooling Composite Account</a:t>
                      </a:r>
                      <a:endParaRPr lang="en-US">
                        <a:solidFill>
                          <a:schemeClr val="accent5">
                            <a:lumMod val="76000"/>
                          </a:schemeClr>
                        </a:solidFill>
                      </a:endParaRPr>
                    </a:p>
                  </a:txBody>
                  <a:tcPr/>
                </a:tc>
                <a:extLst>
                  <a:ext uri="{0D108BD9-81ED-4DB2-BD59-A6C34878D82A}">
                    <a16:rowId xmlns:a16="http://schemas.microsoft.com/office/drawing/2014/main" val="329379813"/>
                  </a:ext>
                </a:extLst>
              </a:tr>
            </a:tbl>
          </a:graphicData>
        </a:graphic>
      </p:graphicFrame>
      <p:sp>
        <p:nvSpPr>
          <p:cNvPr id="4" name="TextBox 3">
            <a:extLst>
              <a:ext uri="{FF2B5EF4-FFF2-40B4-BE49-F238E27FC236}">
                <a16:creationId xmlns:a16="http://schemas.microsoft.com/office/drawing/2014/main" id="{BA53E1A1-8B65-7ACE-FF99-7DBA93B12688}"/>
              </a:ext>
            </a:extLst>
          </p:cNvPr>
          <p:cNvSpPr txBox="1"/>
          <p:nvPr/>
        </p:nvSpPr>
        <p:spPr>
          <a:xfrm>
            <a:off x="8716784" y="3763784"/>
            <a:ext cx="27432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SAP Service Cloud v2 will only create contract accounts with the Energy Contract Account Category. </a:t>
            </a:r>
          </a:p>
        </p:txBody>
      </p:sp>
      <p:cxnSp>
        <p:nvCxnSpPr>
          <p:cNvPr id="7" name="Connector: Elbow 6">
            <a:extLst>
              <a:ext uri="{FF2B5EF4-FFF2-40B4-BE49-F238E27FC236}">
                <a16:creationId xmlns:a16="http://schemas.microsoft.com/office/drawing/2014/main" id="{1929D4B1-1ECA-7C0D-0DB9-CFF5B2D5B0B6}"/>
              </a:ext>
            </a:extLst>
          </p:cNvPr>
          <p:cNvCxnSpPr/>
          <p:nvPr/>
        </p:nvCxnSpPr>
        <p:spPr>
          <a:xfrm flipH="1">
            <a:off x="8303694" y="4419600"/>
            <a:ext cx="423746" cy="67279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37362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F9CD2-8F06-616D-5455-5034B37AB5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A682FB-0C4F-28C3-3ECC-976D1093DD21}"/>
              </a:ext>
            </a:extLst>
          </p:cNvPr>
          <p:cNvSpPr>
            <a:spLocks noGrp="1"/>
          </p:cNvSpPr>
          <p:nvPr>
            <p:ph type="title"/>
          </p:nvPr>
        </p:nvSpPr>
        <p:spPr>
          <a:xfrm>
            <a:off x="274566" y="282143"/>
            <a:ext cx="3057526" cy="2207924"/>
          </a:xfrm>
        </p:spPr>
        <p:txBody>
          <a:bodyPr>
            <a:noAutofit/>
          </a:bodyPr>
          <a:lstStyle/>
          <a:p>
            <a:r>
              <a:rPr lang="en-US" sz="3200">
                <a:latin typeface="Montserrat"/>
              </a:rPr>
              <a:t>Create Contract Account in CRM</a:t>
            </a:r>
          </a:p>
        </p:txBody>
      </p:sp>
      <p:sp>
        <p:nvSpPr>
          <p:cNvPr id="6" name="TextBox 5">
            <a:extLst>
              <a:ext uri="{FF2B5EF4-FFF2-40B4-BE49-F238E27FC236}">
                <a16:creationId xmlns:a16="http://schemas.microsoft.com/office/drawing/2014/main" id="{69047457-131E-714B-5B6E-41559C2F8D26}"/>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pic>
        <p:nvPicPr>
          <p:cNvPr id="2" name="Picture 1" descr="A screenshot of a computer&#10;&#10;AI-generated content may be incorrect.">
            <a:extLst>
              <a:ext uri="{FF2B5EF4-FFF2-40B4-BE49-F238E27FC236}">
                <a16:creationId xmlns:a16="http://schemas.microsoft.com/office/drawing/2014/main" id="{590C709E-CC10-7670-F940-D28FEF6E7633}"/>
              </a:ext>
            </a:extLst>
          </p:cNvPr>
          <p:cNvPicPr>
            <a:picLocks noChangeAspect="1"/>
          </p:cNvPicPr>
          <p:nvPr/>
        </p:nvPicPr>
        <p:blipFill>
          <a:blip r:embed="rId2"/>
          <a:stretch>
            <a:fillRect/>
          </a:stretch>
        </p:blipFill>
        <p:spPr>
          <a:xfrm>
            <a:off x="3336072" y="114458"/>
            <a:ext cx="8298366" cy="4073596"/>
          </a:xfrm>
          <a:prstGeom prst="rect">
            <a:avLst/>
          </a:prstGeom>
        </p:spPr>
      </p:pic>
      <p:sp>
        <p:nvSpPr>
          <p:cNvPr id="9" name="TextBox 8">
            <a:extLst>
              <a:ext uri="{FF2B5EF4-FFF2-40B4-BE49-F238E27FC236}">
                <a16:creationId xmlns:a16="http://schemas.microsoft.com/office/drawing/2014/main" id="{C32AC615-2431-1680-631F-0263CD394E03}"/>
              </a:ext>
            </a:extLst>
          </p:cNvPr>
          <p:cNvSpPr txBox="1"/>
          <p:nvPr/>
        </p:nvSpPr>
        <p:spPr>
          <a:xfrm>
            <a:off x="435145" y="4519837"/>
            <a:ext cx="1050259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Current State Use</a:t>
            </a:r>
            <a:r>
              <a:rPr lang="en-US"/>
              <a:t>: Some users create a new account to temporarily transfer funds if the customer does not have another account.</a:t>
            </a:r>
          </a:p>
          <a:p>
            <a:endParaRPr lang="en-US"/>
          </a:p>
          <a:p>
            <a:r>
              <a:rPr lang="en-US" b="1"/>
              <a:t>Future State Use</a:t>
            </a:r>
            <a:r>
              <a:rPr lang="en-US"/>
              <a:t>: This functionality will be moved to Case Management PDD. Meaning agents will be trained to create a Case in Service Cloud v2 which will create a BPEM Case in S/4HANA. </a:t>
            </a:r>
          </a:p>
        </p:txBody>
      </p:sp>
    </p:spTree>
    <p:extLst>
      <p:ext uri="{BB962C8B-B14F-4D97-AF65-F5344CB8AC3E}">
        <p14:creationId xmlns:p14="http://schemas.microsoft.com/office/powerpoint/2010/main" val="29723805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118EA-06C2-50F5-BDDC-BBD8D4134C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D586B49-9B06-B0F7-ABDF-F88EB634267A}"/>
              </a:ext>
            </a:extLst>
          </p:cNvPr>
          <p:cNvSpPr>
            <a:spLocks noGrp="1"/>
          </p:cNvSpPr>
          <p:nvPr>
            <p:ph type="title"/>
          </p:nvPr>
        </p:nvSpPr>
        <p:spPr>
          <a:xfrm>
            <a:off x="723" y="-3607"/>
            <a:ext cx="6093620" cy="969674"/>
          </a:xfrm>
        </p:spPr>
        <p:txBody>
          <a:bodyPr>
            <a:noAutofit/>
          </a:bodyPr>
          <a:lstStyle/>
          <a:p>
            <a:r>
              <a:rPr lang="en-US" sz="3200">
                <a:latin typeface="Montserrat"/>
              </a:rPr>
              <a:t>Identification Types </a:t>
            </a:r>
          </a:p>
        </p:txBody>
      </p:sp>
      <p:sp>
        <p:nvSpPr>
          <p:cNvPr id="6" name="TextBox 5">
            <a:extLst>
              <a:ext uri="{FF2B5EF4-FFF2-40B4-BE49-F238E27FC236}">
                <a16:creationId xmlns:a16="http://schemas.microsoft.com/office/drawing/2014/main" id="{208767FC-212A-5A33-07E5-EC1018FBE71F}"/>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9" name="TextBox 8">
            <a:extLst>
              <a:ext uri="{FF2B5EF4-FFF2-40B4-BE49-F238E27FC236}">
                <a16:creationId xmlns:a16="http://schemas.microsoft.com/office/drawing/2014/main" id="{BC31EBD3-9D9A-922A-1968-AD554A902D1D}"/>
              </a:ext>
            </a:extLst>
          </p:cNvPr>
          <p:cNvSpPr txBox="1"/>
          <p:nvPr/>
        </p:nvSpPr>
        <p:spPr>
          <a:xfrm>
            <a:off x="268457" y="959868"/>
            <a:ext cx="4782827"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When creating a person business partner, the user will typically request a form of ID (i.e., Identification Type). Each of these identification types can be unique, meaning that the same identification number should not be assigned to different business partners. Identification Types will be created, changed, and viewed from SAP Service Cloud v2 as well as S4HANA. </a:t>
            </a:r>
          </a:p>
          <a:p>
            <a:endParaRPr lang="en-US"/>
          </a:p>
          <a:p>
            <a:r>
              <a:rPr lang="en-US" b="1"/>
              <a:t>Consumers has 96 Identification Types in CRM7 and 78  Identification Types in ECC. Service Cloud v2 will maintain mapping with the 78 Identification Types maintained in S4HANA.</a:t>
            </a:r>
          </a:p>
          <a:p>
            <a:endParaRPr lang="en-US"/>
          </a:p>
          <a:p>
            <a:r>
              <a:rPr lang="en-US"/>
              <a:t>FRICE-W "</a:t>
            </a:r>
            <a:r>
              <a:rPr lang="en-US" b="1"/>
              <a:t>ID Type Field Masking</a:t>
            </a:r>
            <a:r>
              <a:rPr lang="en-US"/>
              <a:t>" will cover any masking needs for the ID types being configured. </a:t>
            </a:r>
          </a:p>
        </p:txBody>
      </p:sp>
      <p:pic>
        <p:nvPicPr>
          <p:cNvPr id="2" name="Picture 1" descr="A screenshot of a computer&#10;&#10;AI-generated content may be incorrect.">
            <a:extLst>
              <a:ext uri="{FF2B5EF4-FFF2-40B4-BE49-F238E27FC236}">
                <a16:creationId xmlns:a16="http://schemas.microsoft.com/office/drawing/2014/main" id="{4FBC5DFE-1A19-5E03-F7FF-BFAA241ADA0A}"/>
              </a:ext>
            </a:extLst>
          </p:cNvPr>
          <p:cNvPicPr>
            <a:picLocks noChangeAspect="1"/>
          </p:cNvPicPr>
          <p:nvPr/>
        </p:nvPicPr>
        <p:blipFill>
          <a:blip r:embed="rId2"/>
          <a:stretch>
            <a:fillRect/>
          </a:stretch>
        </p:blipFill>
        <p:spPr>
          <a:xfrm>
            <a:off x="5508105" y="863600"/>
            <a:ext cx="5646189" cy="5140960"/>
          </a:xfrm>
          <a:prstGeom prst="rect">
            <a:avLst/>
          </a:prstGeom>
        </p:spPr>
      </p:pic>
    </p:spTree>
    <p:extLst>
      <p:ext uri="{BB962C8B-B14F-4D97-AF65-F5344CB8AC3E}">
        <p14:creationId xmlns:p14="http://schemas.microsoft.com/office/powerpoint/2010/main" val="33174913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F944C-3E2A-4C54-313C-8F79D1632BC0}"/>
              </a:ext>
            </a:extLst>
          </p:cNvPr>
          <p:cNvSpPr>
            <a:spLocks noGrp="1"/>
          </p:cNvSpPr>
          <p:nvPr>
            <p:ph type="title"/>
          </p:nvPr>
        </p:nvSpPr>
        <p:spPr>
          <a:xfrm>
            <a:off x="335311" y="-433253"/>
            <a:ext cx="4169127" cy="1182609"/>
          </a:xfrm>
        </p:spPr>
        <p:txBody>
          <a:bodyPr>
            <a:normAutofit fontScale="90000"/>
          </a:bodyPr>
          <a:lstStyle/>
          <a:p>
            <a:r>
              <a:rPr lang="en-US">
                <a:latin typeface="Montserrat"/>
              </a:rPr>
              <a:t>BP ID Types - 78 </a:t>
            </a:r>
            <a:endParaRPr lang="en-US"/>
          </a:p>
        </p:txBody>
      </p:sp>
      <p:graphicFrame>
        <p:nvGraphicFramePr>
          <p:cNvPr id="7" name="Table 6">
            <a:extLst>
              <a:ext uri="{FF2B5EF4-FFF2-40B4-BE49-F238E27FC236}">
                <a16:creationId xmlns:a16="http://schemas.microsoft.com/office/drawing/2014/main" id="{265D56FB-BB86-16CF-5E1E-15A084DBD714}"/>
              </a:ext>
            </a:extLst>
          </p:cNvPr>
          <p:cNvGraphicFramePr>
            <a:graphicFrameLocks noGrp="1"/>
          </p:cNvGraphicFramePr>
          <p:nvPr/>
        </p:nvGraphicFramePr>
        <p:xfrm>
          <a:off x="96661" y="902493"/>
          <a:ext cx="3892679" cy="5625164"/>
        </p:xfrm>
        <a:graphic>
          <a:graphicData uri="http://schemas.openxmlformats.org/drawingml/2006/table">
            <a:tbl>
              <a:tblPr firstRow="1" bandRow="1">
                <a:tableStyleId>{6E25E649-3F16-4E02-A733-19D2CDBF48F0}</a:tableStyleId>
              </a:tblPr>
              <a:tblGrid>
                <a:gridCol w="1036776">
                  <a:extLst>
                    <a:ext uri="{9D8B030D-6E8A-4147-A177-3AD203B41FA5}">
                      <a16:colId xmlns:a16="http://schemas.microsoft.com/office/drawing/2014/main" val="2348846701"/>
                    </a:ext>
                  </a:extLst>
                </a:gridCol>
                <a:gridCol w="2855903">
                  <a:extLst>
                    <a:ext uri="{9D8B030D-6E8A-4147-A177-3AD203B41FA5}">
                      <a16:colId xmlns:a16="http://schemas.microsoft.com/office/drawing/2014/main" val="371716989"/>
                    </a:ext>
                  </a:extLst>
                </a:gridCol>
              </a:tblGrid>
              <a:tr h="260684">
                <a:tc>
                  <a:txBody>
                    <a:bodyPr/>
                    <a:lstStyle/>
                    <a:p>
                      <a:pPr>
                        <a:buNone/>
                      </a:pPr>
                      <a:r>
                        <a:rPr lang="en-US" sz="1000" err="1">
                          <a:solidFill>
                            <a:schemeClr val="bg1"/>
                          </a:solidFill>
                          <a:effectLst/>
                        </a:rPr>
                        <a:t>IDType</a:t>
                      </a:r>
                    </a:p>
                  </a:txBody>
                  <a:tcPr anchor="ctr"/>
                </a:tc>
                <a:tc>
                  <a:txBody>
                    <a:bodyPr/>
                    <a:lstStyle/>
                    <a:p>
                      <a:pPr>
                        <a:buNone/>
                      </a:pPr>
                      <a:r>
                        <a:rPr lang="en-US" sz="1000">
                          <a:solidFill>
                            <a:schemeClr val="bg1"/>
                          </a:solidFill>
                          <a:effectLst/>
                        </a:rPr>
                        <a:t>Description</a:t>
                      </a:r>
                    </a:p>
                  </a:txBody>
                  <a:tcPr anchor="ctr"/>
                </a:tc>
                <a:extLst>
                  <a:ext uri="{0D108BD9-81ED-4DB2-BD59-A6C34878D82A}">
                    <a16:rowId xmlns:a16="http://schemas.microsoft.com/office/drawing/2014/main" val="282513691"/>
                  </a:ext>
                </a:extLst>
              </a:tr>
              <a:tr h="0">
                <a:tc>
                  <a:txBody>
                    <a:bodyPr/>
                    <a:lstStyle/>
                    <a:p>
                      <a:pPr>
                        <a:buNone/>
                      </a:pPr>
                      <a:r>
                        <a:rPr lang="en-US" sz="1000">
                          <a:effectLst/>
                        </a:rPr>
                        <a:t>BUP001</a:t>
                      </a:r>
                    </a:p>
                  </a:txBody>
                  <a:tcPr anchor="ctr"/>
                </a:tc>
                <a:tc>
                  <a:txBody>
                    <a:bodyPr/>
                    <a:lstStyle/>
                    <a:p>
                      <a:pPr>
                        <a:buNone/>
                      </a:pPr>
                      <a:r>
                        <a:rPr lang="en-US" sz="1000"/>
                        <a:t>Dun &amp; Bradstreet Number</a:t>
                      </a:r>
                    </a:p>
                  </a:txBody>
                  <a:tcPr anchor="ctr"/>
                </a:tc>
                <a:extLst>
                  <a:ext uri="{0D108BD9-81ED-4DB2-BD59-A6C34878D82A}">
                    <a16:rowId xmlns:a16="http://schemas.microsoft.com/office/drawing/2014/main" val="52845194"/>
                  </a:ext>
                </a:extLst>
              </a:tr>
              <a:tr h="120006">
                <a:tc>
                  <a:txBody>
                    <a:bodyPr/>
                    <a:lstStyle/>
                    <a:p>
                      <a:pPr>
                        <a:buNone/>
                      </a:pPr>
                      <a:r>
                        <a:rPr lang="en-US" sz="1000">
                          <a:effectLst/>
                        </a:rPr>
                        <a:t>BUP002</a:t>
                      </a:r>
                    </a:p>
                  </a:txBody>
                  <a:tcPr anchor="ctr"/>
                </a:tc>
                <a:tc>
                  <a:txBody>
                    <a:bodyPr/>
                    <a:lstStyle/>
                    <a:p>
                      <a:pPr>
                        <a:buNone/>
                      </a:pPr>
                      <a:r>
                        <a:rPr lang="en-US" sz="1000"/>
                        <a:t>Commercial Register Number</a:t>
                      </a:r>
                    </a:p>
                  </a:txBody>
                  <a:tcPr anchor="ctr"/>
                </a:tc>
                <a:extLst>
                  <a:ext uri="{0D108BD9-81ED-4DB2-BD59-A6C34878D82A}">
                    <a16:rowId xmlns:a16="http://schemas.microsoft.com/office/drawing/2014/main" val="1154901279"/>
                  </a:ext>
                </a:extLst>
              </a:tr>
              <a:tr h="126673">
                <a:tc>
                  <a:txBody>
                    <a:bodyPr/>
                    <a:lstStyle/>
                    <a:p>
                      <a:pPr>
                        <a:buNone/>
                      </a:pPr>
                      <a:r>
                        <a:rPr lang="en-US" sz="1000">
                          <a:effectLst/>
                        </a:rPr>
                        <a:t>BUP003</a:t>
                      </a:r>
                    </a:p>
                  </a:txBody>
                  <a:tcPr anchor="ctr"/>
                </a:tc>
                <a:tc>
                  <a:txBody>
                    <a:bodyPr/>
                    <a:lstStyle/>
                    <a:p>
                      <a:pPr>
                        <a:buNone/>
                      </a:pPr>
                      <a:r>
                        <a:rPr lang="en-US" sz="1000"/>
                        <a:t>Register of Associations Number</a:t>
                      </a:r>
                    </a:p>
                  </a:txBody>
                  <a:tcPr anchor="ctr"/>
                </a:tc>
                <a:extLst>
                  <a:ext uri="{0D108BD9-81ED-4DB2-BD59-A6C34878D82A}">
                    <a16:rowId xmlns:a16="http://schemas.microsoft.com/office/drawing/2014/main" val="3247606289"/>
                  </a:ext>
                </a:extLst>
              </a:tr>
              <a:tr h="146674">
                <a:tc>
                  <a:txBody>
                    <a:bodyPr/>
                    <a:lstStyle/>
                    <a:p>
                      <a:pPr>
                        <a:buNone/>
                      </a:pPr>
                      <a:r>
                        <a:rPr lang="en-US" sz="1000">
                          <a:effectLst/>
                        </a:rPr>
                        <a:t>BUP004</a:t>
                      </a:r>
                    </a:p>
                  </a:txBody>
                  <a:tcPr anchor="ctr"/>
                </a:tc>
                <a:tc>
                  <a:txBody>
                    <a:bodyPr/>
                    <a:lstStyle/>
                    <a:p>
                      <a:pPr>
                        <a:buNone/>
                      </a:pPr>
                      <a:r>
                        <a:rPr lang="en-US" sz="1000"/>
                        <a:t>Public Register of Cooperatives Number</a:t>
                      </a:r>
                    </a:p>
                  </a:txBody>
                  <a:tcPr anchor="ctr"/>
                </a:tc>
                <a:extLst>
                  <a:ext uri="{0D108BD9-81ED-4DB2-BD59-A6C34878D82A}">
                    <a16:rowId xmlns:a16="http://schemas.microsoft.com/office/drawing/2014/main" val="1000059997"/>
                  </a:ext>
                </a:extLst>
              </a:tr>
              <a:tr h="0">
                <a:tc>
                  <a:txBody>
                    <a:bodyPr/>
                    <a:lstStyle/>
                    <a:p>
                      <a:pPr>
                        <a:buNone/>
                      </a:pPr>
                      <a:r>
                        <a:rPr lang="en-US" sz="1000">
                          <a:effectLst/>
                        </a:rPr>
                        <a:t>CRM002</a:t>
                      </a:r>
                    </a:p>
                  </a:txBody>
                  <a:tcPr anchor="ctr"/>
                </a:tc>
                <a:tc>
                  <a:txBody>
                    <a:bodyPr/>
                    <a:lstStyle/>
                    <a:p>
                      <a:pPr>
                        <a:buNone/>
                      </a:pPr>
                      <a:r>
                        <a:rPr lang="en-US" sz="1000"/>
                        <a:t>R/3 Customer Number</a:t>
                      </a:r>
                    </a:p>
                  </a:txBody>
                  <a:tcPr anchor="ctr"/>
                </a:tc>
                <a:extLst>
                  <a:ext uri="{0D108BD9-81ED-4DB2-BD59-A6C34878D82A}">
                    <a16:rowId xmlns:a16="http://schemas.microsoft.com/office/drawing/2014/main" val="3110338052"/>
                  </a:ext>
                </a:extLst>
              </a:tr>
              <a:tr h="0">
                <a:tc>
                  <a:txBody>
                    <a:bodyPr/>
                    <a:lstStyle/>
                    <a:p>
                      <a:pPr>
                        <a:buNone/>
                      </a:pPr>
                      <a:r>
                        <a:rPr lang="en-US" sz="1000">
                          <a:effectLst/>
                        </a:rPr>
                        <a:t>FS0001</a:t>
                      </a:r>
                    </a:p>
                  </a:txBody>
                  <a:tcPr anchor="ctr"/>
                </a:tc>
                <a:tc>
                  <a:txBody>
                    <a:bodyPr/>
                    <a:lstStyle/>
                    <a:p>
                      <a:pPr>
                        <a:buNone/>
                      </a:pPr>
                      <a:r>
                        <a:rPr lang="en-US" sz="1000"/>
                        <a:t>Identity card</a:t>
                      </a:r>
                    </a:p>
                  </a:txBody>
                  <a:tcPr anchor="ctr"/>
                </a:tc>
                <a:extLst>
                  <a:ext uri="{0D108BD9-81ED-4DB2-BD59-A6C34878D82A}">
                    <a16:rowId xmlns:a16="http://schemas.microsoft.com/office/drawing/2014/main" val="2798656393"/>
                  </a:ext>
                </a:extLst>
              </a:tr>
              <a:tr h="0">
                <a:tc>
                  <a:txBody>
                    <a:bodyPr/>
                    <a:lstStyle/>
                    <a:p>
                      <a:pPr>
                        <a:buNone/>
                      </a:pPr>
                      <a:r>
                        <a:rPr lang="en-US" sz="1000">
                          <a:effectLst/>
                        </a:rPr>
                        <a:t>IBS001</a:t>
                      </a:r>
                    </a:p>
                  </a:txBody>
                  <a:tcPr anchor="ctr"/>
                </a:tc>
                <a:tc>
                  <a:txBody>
                    <a:bodyPr/>
                    <a:lstStyle/>
                    <a:p>
                      <a:pPr>
                        <a:buNone/>
                      </a:pPr>
                      <a:r>
                        <a:rPr lang="en-US" sz="1000"/>
                        <a:t>Social Security Number</a:t>
                      </a:r>
                    </a:p>
                  </a:txBody>
                  <a:tcPr anchor="ctr"/>
                </a:tc>
                <a:extLst>
                  <a:ext uri="{0D108BD9-81ED-4DB2-BD59-A6C34878D82A}">
                    <a16:rowId xmlns:a16="http://schemas.microsoft.com/office/drawing/2014/main" val="1786355902"/>
                  </a:ext>
                </a:extLst>
              </a:tr>
              <a:tr h="0">
                <a:tc>
                  <a:txBody>
                    <a:bodyPr/>
                    <a:lstStyle/>
                    <a:p>
                      <a:pPr>
                        <a:buNone/>
                      </a:pPr>
                      <a:r>
                        <a:rPr lang="en-US" sz="1000">
                          <a:effectLst/>
                        </a:rPr>
                        <a:t>IBS002</a:t>
                      </a:r>
                    </a:p>
                  </a:txBody>
                  <a:tcPr anchor="ctr"/>
                </a:tc>
                <a:tc>
                  <a:txBody>
                    <a:bodyPr/>
                    <a:lstStyle/>
                    <a:p>
                      <a:pPr>
                        <a:buNone/>
                      </a:pPr>
                      <a:r>
                        <a:rPr lang="en-US" sz="1000"/>
                        <a:t>Driver's license number</a:t>
                      </a:r>
                    </a:p>
                  </a:txBody>
                  <a:tcPr anchor="ctr"/>
                </a:tc>
                <a:extLst>
                  <a:ext uri="{0D108BD9-81ED-4DB2-BD59-A6C34878D82A}">
                    <a16:rowId xmlns:a16="http://schemas.microsoft.com/office/drawing/2014/main" val="2475896790"/>
                  </a:ext>
                </a:extLst>
              </a:tr>
              <a:tr h="0">
                <a:tc>
                  <a:txBody>
                    <a:bodyPr/>
                    <a:lstStyle/>
                    <a:p>
                      <a:pPr>
                        <a:buNone/>
                      </a:pPr>
                      <a:r>
                        <a:rPr lang="en-US" sz="1000">
                          <a:effectLst/>
                        </a:rPr>
                        <a:t>ZAGENT</a:t>
                      </a:r>
                    </a:p>
                  </a:txBody>
                  <a:tcPr anchor="ctr"/>
                </a:tc>
                <a:tc>
                  <a:txBody>
                    <a:bodyPr/>
                    <a:lstStyle/>
                    <a:p>
                      <a:pPr>
                        <a:buNone/>
                      </a:pPr>
                      <a:r>
                        <a:rPr lang="en-US" sz="1000"/>
                        <a:t>CEPASS CASE WORKER</a:t>
                      </a:r>
                    </a:p>
                  </a:txBody>
                  <a:tcPr anchor="ctr"/>
                </a:tc>
                <a:extLst>
                  <a:ext uri="{0D108BD9-81ED-4DB2-BD59-A6C34878D82A}">
                    <a16:rowId xmlns:a16="http://schemas.microsoft.com/office/drawing/2014/main" val="3181019657"/>
                  </a:ext>
                </a:extLst>
              </a:tr>
              <a:tr h="0">
                <a:tc>
                  <a:txBody>
                    <a:bodyPr/>
                    <a:lstStyle/>
                    <a:p>
                      <a:pPr>
                        <a:buNone/>
                      </a:pPr>
                      <a:r>
                        <a:rPr lang="en-US" sz="1000">
                          <a:effectLst/>
                        </a:rPr>
                        <a:t>ZAPNEA</a:t>
                      </a:r>
                    </a:p>
                  </a:txBody>
                  <a:tcPr anchor="ctr"/>
                </a:tc>
                <a:tc>
                  <a:txBody>
                    <a:bodyPr/>
                    <a:lstStyle/>
                    <a:p>
                      <a:pPr>
                        <a:buNone/>
                      </a:pPr>
                      <a:r>
                        <a:rPr lang="en-US" sz="1000"/>
                        <a:t>Apnea Monitor</a:t>
                      </a:r>
                    </a:p>
                  </a:txBody>
                  <a:tcPr anchor="ctr"/>
                </a:tc>
                <a:extLst>
                  <a:ext uri="{0D108BD9-81ED-4DB2-BD59-A6C34878D82A}">
                    <a16:rowId xmlns:a16="http://schemas.microsoft.com/office/drawing/2014/main" val="2559376195"/>
                  </a:ext>
                </a:extLst>
              </a:tr>
              <a:tr h="180009">
                <a:tc>
                  <a:txBody>
                    <a:bodyPr/>
                    <a:lstStyle/>
                    <a:p>
                      <a:pPr>
                        <a:buNone/>
                      </a:pPr>
                      <a:r>
                        <a:rPr lang="en-US" sz="1000">
                          <a:effectLst/>
                        </a:rPr>
                        <a:t>ZATN</a:t>
                      </a:r>
                    </a:p>
                  </a:txBody>
                  <a:tcPr anchor="ctr"/>
                </a:tc>
                <a:tc>
                  <a:txBody>
                    <a:bodyPr/>
                    <a:lstStyle/>
                    <a:p>
                      <a:pPr>
                        <a:buNone/>
                      </a:pPr>
                      <a:r>
                        <a:rPr lang="en-US" sz="1000"/>
                        <a:t>DO NOT ENROLL ASP Termination Non-pay</a:t>
                      </a:r>
                    </a:p>
                  </a:txBody>
                  <a:tcPr anchor="ctr"/>
                </a:tc>
                <a:extLst>
                  <a:ext uri="{0D108BD9-81ED-4DB2-BD59-A6C34878D82A}">
                    <a16:rowId xmlns:a16="http://schemas.microsoft.com/office/drawing/2014/main" val="3425559192"/>
                  </a:ext>
                </a:extLst>
              </a:tr>
              <a:tr h="180009">
                <a:tc>
                  <a:txBody>
                    <a:bodyPr/>
                    <a:lstStyle/>
                    <a:p>
                      <a:pPr>
                        <a:buNone/>
                      </a:pPr>
                      <a:r>
                        <a:rPr lang="en-US" sz="1000">
                          <a:effectLst/>
                        </a:rPr>
                        <a:t>ZATV</a:t>
                      </a:r>
                    </a:p>
                  </a:txBody>
                  <a:tcPr anchor="ctr"/>
                </a:tc>
                <a:tc>
                  <a:txBody>
                    <a:bodyPr/>
                    <a:lstStyle/>
                    <a:p>
                      <a:pPr>
                        <a:buNone/>
                      </a:pPr>
                      <a:r>
                        <a:rPr lang="en-US" sz="1000"/>
                        <a:t>DO NOT ENROLL ASP Termination Voluntary</a:t>
                      </a:r>
                    </a:p>
                  </a:txBody>
                  <a:tcPr anchor="ctr"/>
                </a:tc>
                <a:extLst>
                  <a:ext uri="{0D108BD9-81ED-4DB2-BD59-A6C34878D82A}">
                    <a16:rowId xmlns:a16="http://schemas.microsoft.com/office/drawing/2014/main" val="240837925"/>
                  </a:ext>
                </a:extLst>
              </a:tr>
              <a:tr h="120006">
                <a:tc>
                  <a:txBody>
                    <a:bodyPr/>
                    <a:lstStyle/>
                    <a:p>
                      <a:pPr>
                        <a:buNone/>
                      </a:pPr>
                      <a:r>
                        <a:rPr lang="en-US" sz="1000">
                          <a:effectLst/>
                        </a:rPr>
                        <a:t>ZBCTR</a:t>
                      </a:r>
                    </a:p>
                  </a:txBody>
                  <a:tcPr anchor="ctr"/>
                </a:tc>
                <a:tc>
                  <a:txBody>
                    <a:bodyPr/>
                    <a:lstStyle/>
                    <a:p>
                      <a:pPr>
                        <a:buNone/>
                      </a:pPr>
                      <a:r>
                        <a:rPr lang="en-US" sz="1000"/>
                        <a:t>Business Center 1-800-805-0490</a:t>
                      </a:r>
                    </a:p>
                  </a:txBody>
                  <a:tcPr anchor="ctr"/>
                </a:tc>
                <a:extLst>
                  <a:ext uri="{0D108BD9-81ED-4DB2-BD59-A6C34878D82A}">
                    <a16:rowId xmlns:a16="http://schemas.microsoft.com/office/drawing/2014/main" val="2002977448"/>
                  </a:ext>
                </a:extLst>
              </a:tr>
              <a:tr h="0">
                <a:tc>
                  <a:txBody>
                    <a:bodyPr/>
                    <a:lstStyle/>
                    <a:p>
                      <a:pPr>
                        <a:buNone/>
                      </a:pPr>
                      <a:r>
                        <a:rPr lang="en-US" sz="1000">
                          <a:effectLst/>
                        </a:rPr>
                        <a:t>ZCARE</a:t>
                      </a:r>
                    </a:p>
                  </a:txBody>
                  <a:tcPr anchor="ctr"/>
                </a:tc>
                <a:tc>
                  <a:txBody>
                    <a:bodyPr/>
                    <a:lstStyle/>
                    <a:p>
                      <a:pPr>
                        <a:buNone/>
                      </a:pPr>
                      <a:r>
                        <a:rPr lang="en-US" sz="1000"/>
                        <a:t>CARE Program</a:t>
                      </a:r>
                    </a:p>
                  </a:txBody>
                  <a:tcPr anchor="ctr"/>
                </a:tc>
                <a:extLst>
                  <a:ext uri="{0D108BD9-81ED-4DB2-BD59-A6C34878D82A}">
                    <a16:rowId xmlns:a16="http://schemas.microsoft.com/office/drawing/2014/main" val="1432774305"/>
                  </a:ext>
                </a:extLst>
              </a:tr>
              <a:tr h="140007">
                <a:tc>
                  <a:txBody>
                    <a:bodyPr/>
                    <a:lstStyle/>
                    <a:p>
                      <a:pPr>
                        <a:buNone/>
                      </a:pPr>
                      <a:r>
                        <a:rPr lang="en-US" sz="1000">
                          <a:effectLst/>
                        </a:rPr>
                        <a:t>ZCVM</a:t>
                      </a:r>
                    </a:p>
                  </a:txBody>
                  <a:tcPr anchor="ctr"/>
                </a:tc>
                <a:tc>
                  <a:txBody>
                    <a:bodyPr/>
                    <a:lstStyle/>
                    <a:p>
                      <a:pPr>
                        <a:buNone/>
                      </a:pPr>
                      <a:r>
                        <a:rPr lang="en-US" sz="1000"/>
                        <a:t>Customer Value Management Score</a:t>
                      </a:r>
                    </a:p>
                  </a:txBody>
                  <a:tcPr anchor="ctr"/>
                </a:tc>
                <a:extLst>
                  <a:ext uri="{0D108BD9-81ED-4DB2-BD59-A6C34878D82A}">
                    <a16:rowId xmlns:a16="http://schemas.microsoft.com/office/drawing/2014/main" val="3251436142"/>
                  </a:ext>
                </a:extLst>
              </a:tr>
              <a:tr h="0">
                <a:tc>
                  <a:txBody>
                    <a:bodyPr/>
                    <a:lstStyle/>
                    <a:p>
                      <a:pPr>
                        <a:buNone/>
                      </a:pPr>
                      <a:r>
                        <a:rPr lang="en-US" sz="1000">
                          <a:effectLst/>
                        </a:rPr>
                        <a:t>ZCVMPS</a:t>
                      </a:r>
                    </a:p>
                  </a:txBody>
                  <a:tcPr anchor="ctr"/>
                </a:tc>
                <a:tc>
                  <a:txBody>
                    <a:bodyPr/>
                    <a:lstStyle/>
                    <a:p>
                      <a:pPr>
                        <a:buNone/>
                      </a:pPr>
                      <a:r>
                        <a:rPr lang="en-US" sz="1000"/>
                        <a:t>CVM Price Score</a:t>
                      </a:r>
                    </a:p>
                  </a:txBody>
                  <a:tcPr anchor="ctr"/>
                </a:tc>
                <a:extLst>
                  <a:ext uri="{0D108BD9-81ED-4DB2-BD59-A6C34878D82A}">
                    <a16:rowId xmlns:a16="http://schemas.microsoft.com/office/drawing/2014/main" val="1836760738"/>
                  </a:ext>
                </a:extLst>
              </a:tr>
              <a:tr h="0">
                <a:tc>
                  <a:txBody>
                    <a:bodyPr/>
                    <a:lstStyle/>
                    <a:p>
                      <a:pPr>
                        <a:buNone/>
                      </a:pPr>
                      <a:r>
                        <a:rPr lang="en-US" sz="1000">
                          <a:effectLst/>
                        </a:rPr>
                        <a:t>ZCVMRS</a:t>
                      </a:r>
                    </a:p>
                  </a:txBody>
                  <a:tcPr anchor="ctr"/>
                </a:tc>
                <a:tc>
                  <a:txBody>
                    <a:bodyPr/>
                    <a:lstStyle/>
                    <a:p>
                      <a:pPr>
                        <a:buNone/>
                      </a:pPr>
                      <a:r>
                        <a:rPr lang="en-US" sz="1000"/>
                        <a:t>CVM Switch Response Score</a:t>
                      </a:r>
                    </a:p>
                  </a:txBody>
                  <a:tcPr anchor="ctr"/>
                </a:tc>
                <a:extLst>
                  <a:ext uri="{0D108BD9-81ED-4DB2-BD59-A6C34878D82A}">
                    <a16:rowId xmlns:a16="http://schemas.microsoft.com/office/drawing/2014/main" val="1924963020"/>
                  </a:ext>
                </a:extLst>
              </a:tr>
              <a:tr h="0">
                <a:tc>
                  <a:txBody>
                    <a:bodyPr/>
                    <a:lstStyle/>
                    <a:p>
                      <a:pPr>
                        <a:buNone/>
                      </a:pPr>
                      <a:r>
                        <a:rPr lang="en-US" sz="1000">
                          <a:effectLst/>
                        </a:rPr>
                        <a:t>ZCVMSS</a:t>
                      </a:r>
                    </a:p>
                  </a:txBody>
                  <a:tcPr anchor="ctr"/>
                </a:tc>
                <a:tc>
                  <a:txBody>
                    <a:bodyPr/>
                    <a:lstStyle/>
                    <a:p>
                      <a:pPr>
                        <a:buNone/>
                      </a:pPr>
                      <a:r>
                        <a:rPr lang="en-US" sz="1000"/>
                        <a:t>CVM Service Score</a:t>
                      </a:r>
                    </a:p>
                  </a:txBody>
                  <a:tcPr anchor="ctr"/>
                </a:tc>
                <a:extLst>
                  <a:ext uri="{0D108BD9-81ED-4DB2-BD59-A6C34878D82A}">
                    <a16:rowId xmlns:a16="http://schemas.microsoft.com/office/drawing/2014/main" val="2567790129"/>
                  </a:ext>
                </a:extLst>
              </a:tr>
              <a:tr h="0">
                <a:tc>
                  <a:txBody>
                    <a:bodyPr/>
                    <a:lstStyle/>
                    <a:p>
                      <a:pPr>
                        <a:buNone/>
                      </a:pPr>
                      <a:r>
                        <a:rPr lang="en-US" sz="1000">
                          <a:effectLst/>
                        </a:rPr>
                        <a:t>ZCVMVS</a:t>
                      </a:r>
                    </a:p>
                  </a:txBody>
                  <a:tcPr anchor="ctr"/>
                </a:tc>
                <a:tc>
                  <a:txBody>
                    <a:bodyPr/>
                    <a:lstStyle/>
                    <a:p>
                      <a:pPr>
                        <a:buNone/>
                      </a:pPr>
                      <a:r>
                        <a:rPr lang="en-US" sz="1000"/>
                        <a:t>CVM Value Score</a:t>
                      </a:r>
                    </a:p>
                  </a:txBody>
                  <a:tcPr anchor="ctr"/>
                </a:tc>
                <a:extLst>
                  <a:ext uri="{0D108BD9-81ED-4DB2-BD59-A6C34878D82A}">
                    <a16:rowId xmlns:a16="http://schemas.microsoft.com/office/drawing/2014/main" val="1726888310"/>
                  </a:ext>
                </a:extLst>
              </a:tr>
              <a:tr h="0">
                <a:tc>
                  <a:txBody>
                    <a:bodyPr/>
                    <a:lstStyle/>
                    <a:p>
                      <a:pPr>
                        <a:buNone/>
                      </a:pPr>
                      <a:r>
                        <a:rPr lang="en-US" sz="1000">
                          <a:effectLst/>
                        </a:rPr>
                        <a:t>ZDCEAS</a:t>
                      </a:r>
                    </a:p>
                  </a:txBody>
                  <a:tcPr anchor="ctr"/>
                </a:tc>
                <a:tc>
                  <a:txBody>
                    <a:bodyPr/>
                    <a:lstStyle/>
                    <a:p>
                      <a:pPr>
                        <a:buNone/>
                      </a:pPr>
                      <a:r>
                        <a:rPr lang="en-US" sz="1000"/>
                        <a:t>Deceased</a:t>
                      </a:r>
                    </a:p>
                  </a:txBody>
                  <a:tcPr anchor="ctr"/>
                </a:tc>
                <a:extLst>
                  <a:ext uri="{0D108BD9-81ED-4DB2-BD59-A6C34878D82A}">
                    <a16:rowId xmlns:a16="http://schemas.microsoft.com/office/drawing/2014/main" val="234493042"/>
                  </a:ext>
                </a:extLst>
              </a:tr>
              <a:tr h="0">
                <a:tc>
                  <a:txBody>
                    <a:bodyPr/>
                    <a:lstStyle/>
                    <a:p>
                      <a:pPr>
                        <a:buNone/>
                      </a:pPr>
                      <a:r>
                        <a:rPr lang="en-US" sz="1000">
                          <a:effectLst/>
                        </a:rPr>
                        <a:t>ZDNB</a:t>
                      </a:r>
                    </a:p>
                  </a:txBody>
                  <a:tcPr anchor="ctr"/>
                </a:tc>
                <a:tc>
                  <a:txBody>
                    <a:bodyPr/>
                    <a:lstStyle/>
                    <a:p>
                      <a:pPr>
                        <a:buNone/>
                      </a:pPr>
                      <a:r>
                        <a:rPr lang="en-US" sz="1000"/>
                        <a:t>Dun &amp; Bradstreet Number</a:t>
                      </a:r>
                    </a:p>
                  </a:txBody>
                  <a:tcPr anchor="ctr"/>
                </a:tc>
                <a:extLst>
                  <a:ext uri="{0D108BD9-81ED-4DB2-BD59-A6C34878D82A}">
                    <a16:rowId xmlns:a16="http://schemas.microsoft.com/office/drawing/2014/main" val="3428624306"/>
                  </a:ext>
                </a:extLst>
              </a:tr>
              <a:tr h="0">
                <a:tc>
                  <a:txBody>
                    <a:bodyPr/>
                    <a:lstStyle/>
                    <a:p>
                      <a:pPr>
                        <a:buNone/>
                      </a:pPr>
                      <a:r>
                        <a:rPr lang="en-US" sz="1000">
                          <a:effectLst/>
                        </a:rPr>
                        <a:t>ZDPREQ</a:t>
                      </a:r>
                    </a:p>
                  </a:txBody>
                  <a:tcPr anchor="ctr"/>
                </a:tc>
                <a:tc>
                  <a:txBody>
                    <a:bodyPr/>
                    <a:lstStyle/>
                    <a:p>
                      <a:pPr>
                        <a:buNone/>
                      </a:pPr>
                      <a:r>
                        <a:rPr lang="en-US" sz="1000"/>
                        <a:t>Deposit Requested 530-4170</a:t>
                      </a:r>
                    </a:p>
                  </a:txBody>
                  <a:tcPr anchor="ctr"/>
                </a:tc>
                <a:extLst>
                  <a:ext uri="{0D108BD9-81ED-4DB2-BD59-A6C34878D82A}">
                    <a16:rowId xmlns:a16="http://schemas.microsoft.com/office/drawing/2014/main" val="1704341950"/>
                  </a:ext>
                </a:extLst>
              </a:tr>
            </a:tbl>
          </a:graphicData>
        </a:graphic>
      </p:graphicFrame>
      <p:graphicFrame>
        <p:nvGraphicFramePr>
          <p:cNvPr id="8" name="Table 7">
            <a:extLst>
              <a:ext uri="{FF2B5EF4-FFF2-40B4-BE49-F238E27FC236}">
                <a16:creationId xmlns:a16="http://schemas.microsoft.com/office/drawing/2014/main" id="{90E11A68-2011-0743-A048-C794496AE5D3}"/>
              </a:ext>
            </a:extLst>
          </p:cNvPr>
          <p:cNvGraphicFramePr>
            <a:graphicFrameLocks noGrp="1"/>
          </p:cNvGraphicFramePr>
          <p:nvPr/>
        </p:nvGraphicFramePr>
        <p:xfrm>
          <a:off x="3988946" y="27075"/>
          <a:ext cx="4202331" cy="6827520"/>
        </p:xfrm>
        <a:graphic>
          <a:graphicData uri="http://schemas.openxmlformats.org/drawingml/2006/table">
            <a:tbl>
              <a:tblPr bandRow="1">
                <a:tableStyleId>{6E25E649-3F16-4E02-A733-19D2CDBF48F0}</a:tableStyleId>
              </a:tblPr>
              <a:tblGrid>
                <a:gridCol w="1119249">
                  <a:extLst>
                    <a:ext uri="{9D8B030D-6E8A-4147-A177-3AD203B41FA5}">
                      <a16:colId xmlns:a16="http://schemas.microsoft.com/office/drawing/2014/main" val="2348846701"/>
                    </a:ext>
                  </a:extLst>
                </a:gridCol>
                <a:gridCol w="3083082">
                  <a:extLst>
                    <a:ext uri="{9D8B030D-6E8A-4147-A177-3AD203B41FA5}">
                      <a16:colId xmlns:a16="http://schemas.microsoft.com/office/drawing/2014/main" val="371716989"/>
                    </a:ext>
                  </a:extLst>
                </a:gridCol>
              </a:tblGrid>
              <a:tr h="231704">
                <a:tc>
                  <a:txBody>
                    <a:bodyPr/>
                    <a:lstStyle/>
                    <a:p>
                      <a:pPr>
                        <a:buNone/>
                      </a:pPr>
                      <a:r>
                        <a:rPr lang="en-US" sz="1000">
                          <a:effectLst/>
                        </a:rPr>
                        <a:t>ZDUN$</a:t>
                      </a:r>
                    </a:p>
                  </a:txBody>
                  <a:tcPr anchor="ctr"/>
                </a:tc>
                <a:tc>
                  <a:txBody>
                    <a:bodyPr/>
                    <a:lstStyle/>
                    <a:p>
                      <a:pPr>
                        <a:buNone/>
                      </a:pPr>
                      <a:r>
                        <a:rPr lang="en-US" sz="1000"/>
                        <a:t>Dun &amp; Bradstreet - Sales Amt</a:t>
                      </a:r>
                    </a:p>
                  </a:txBody>
                  <a:tcPr anchor="ctr"/>
                </a:tc>
                <a:extLst>
                  <a:ext uri="{0D108BD9-81ED-4DB2-BD59-A6C34878D82A}">
                    <a16:rowId xmlns:a16="http://schemas.microsoft.com/office/drawing/2014/main" val="3988422612"/>
                  </a:ext>
                </a:extLst>
              </a:tr>
              <a:tr h="231704">
                <a:tc>
                  <a:txBody>
                    <a:bodyPr/>
                    <a:lstStyle/>
                    <a:p>
                      <a:pPr>
                        <a:buNone/>
                      </a:pPr>
                      <a:r>
                        <a:rPr lang="en-US" sz="1000">
                          <a:effectLst/>
                        </a:rPr>
                        <a:t>ZDUNCD</a:t>
                      </a:r>
                    </a:p>
                  </a:txBody>
                  <a:tcPr anchor="ctr"/>
                </a:tc>
                <a:tc>
                  <a:txBody>
                    <a:bodyPr/>
                    <a:lstStyle/>
                    <a:p>
                      <a:pPr>
                        <a:buNone/>
                      </a:pPr>
                      <a:r>
                        <a:rPr lang="en-US" sz="1000"/>
                        <a:t>Dun &amp; Bradstreet - Conf Code</a:t>
                      </a:r>
                    </a:p>
                  </a:txBody>
                  <a:tcPr anchor="ctr"/>
                </a:tc>
                <a:extLst>
                  <a:ext uri="{0D108BD9-81ED-4DB2-BD59-A6C34878D82A}">
                    <a16:rowId xmlns:a16="http://schemas.microsoft.com/office/drawing/2014/main" val="2563054282"/>
                  </a:ext>
                </a:extLst>
              </a:tr>
              <a:tr h="231704">
                <a:tc>
                  <a:txBody>
                    <a:bodyPr/>
                    <a:lstStyle/>
                    <a:p>
                      <a:pPr>
                        <a:buNone/>
                      </a:pPr>
                      <a:r>
                        <a:rPr lang="en-US" sz="1000">
                          <a:effectLst/>
                        </a:rPr>
                        <a:t>ZDUNHQ</a:t>
                      </a:r>
                    </a:p>
                  </a:txBody>
                  <a:tcPr anchor="ctr"/>
                </a:tc>
                <a:tc>
                  <a:txBody>
                    <a:bodyPr/>
                    <a:lstStyle/>
                    <a:p>
                      <a:pPr>
                        <a:buNone/>
                      </a:pPr>
                      <a:r>
                        <a:rPr lang="en-US" sz="1000"/>
                        <a:t>Dun &amp; Bradstreet Number - </a:t>
                      </a:r>
                      <a:r>
                        <a:rPr lang="en-US" sz="1000" err="1"/>
                        <a:t>HeadQuarter</a:t>
                      </a:r>
                    </a:p>
                  </a:txBody>
                  <a:tcPr anchor="ctr"/>
                </a:tc>
                <a:extLst>
                  <a:ext uri="{0D108BD9-81ED-4DB2-BD59-A6C34878D82A}">
                    <a16:rowId xmlns:a16="http://schemas.microsoft.com/office/drawing/2014/main" val="3619997871"/>
                  </a:ext>
                </a:extLst>
              </a:tr>
              <a:tr h="231704">
                <a:tc>
                  <a:txBody>
                    <a:bodyPr/>
                    <a:lstStyle/>
                    <a:p>
                      <a:pPr>
                        <a:buNone/>
                      </a:pPr>
                      <a:r>
                        <a:rPr lang="en-US" sz="1000">
                          <a:effectLst/>
                        </a:rPr>
                        <a:t>ZDUNPT</a:t>
                      </a:r>
                    </a:p>
                  </a:txBody>
                  <a:tcPr anchor="ctr"/>
                </a:tc>
                <a:tc>
                  <a:txBody>
                    <a:bodyPr/>
                    <a:lstStyle/>
                    <a:p>
                      <a:pPr>
                        <a:buNone/>
                      </a:pPr>
                      <a:r>
                        <a:rPr lang="en-US" sz="1000"/>
                        <a:t>Dun &amp; Bradstreet Number - Parent</a:t>
                      </a:r>
                    </a:p>
                  </a:txBody>
                  <a:tcPr anchor="ctr"/>
                </a:tc>
                <a:extLst>
                  <a:ext uri="{0D108BD9-81ED-4DB2-BD59-A6C34878D82A}">
                    <a16:rowId xmlns:a16="http://schemas.microsoft.com/office/drawing/2014/main" val="550136548"/>
                  </a:ext>
                </a:extLst>
              </a:tr>
              <a:tr h="231704">
                <a:tc>
                  <a:txBody>
                    <a:bodyPr/>
                    <a:lstStyle/>
                    <a:p>
                      <a:pPr>
                        <a:buNone/>
                      </a:pPr>
                      <a:r>
                        <a:rPr lang="en-US" sz="1000">
                          <a:effectLst/>
                        </a:rPr>
                        <a:t>ZDUNST</a:t>
                      </a:r>
                    </a:p>
                  </a:txBody>
                  <a:tcPr anchor="ctr"/>
                </a:tc>
                <a:tc>
                  <a:txBody>
                    <a:bodyPr/>
                    <a:lstStyle/>
                    <a:p>
                      <a:pPr>
                        <a:buNone/>
                      </a:pPr>
                      <a:r>
                        <a:rPr lang="en-US" sz="1000"/>
                        <a:t>Dun &amp; Bradstreet Number - Standard</a:t>
                      </a:r>
                    </a:p>
                  </a:txBody>
                  <a:tcPr anchor="ctr"/>
                </a:tc>
                <a:extLst>
                  <a:ext uri="{0D108BD9-81ED-4DB2-BD59-A6C34878D82A}">
                    <a16:rowId xmlns:a16="http://schemas.microsoft.com/office/drawing/2014/main" val="1434416313"/>
                  </a:ext>
                </a:extLst>
              </a:tr>
              <a:tr h="231704">
                <a:tc>
                  <a:txBody>
                    <a:bodyPr/>
                    <a:lstStyle/>
                    <a:p>
                      <a:pPr>
                        <a:buNone/>
                      </a:pPr>
                      <a:r>
                        <a:rPr lang="en-US" sz="1000">
                          <a:effectLst/>
                        </a:rPr>
                        <a:t>ZDUNUL</a:t>
                      </a:r>
                    </a:p>
                  </a:txBody>
                  <a:tcPr anchor="ctr"/>
                </a:tc>
                <a:tc>
                  <a:txBody>
                    <a:bodyPr/>
                    <a:lstStyle/>
                    <a:p>
                      <a:pPr>
                        <a:buNone/>
                      </a:pPr>
                      <a:r>
                        <a:rPr lang="en-US" sz="1000"/>
                        <a:t>Dun &amp; Bradstreet Number - Ultimate</a:t>
                      </a:r>
                    </a:p>
                  </a:txBody>
                  <a:tcPr anchor="ctr"/>
                </a:tc>
                <a:extLst>
                  <a:ext uri="{0D108BD9-81ED-4DB2-BD59-A6C34878D82A}">
                    <a16:rowId xmlns:a16="http://schemas.microsoft.com/office/drawing/2014/main" val="3462249566"/>
                  </a:ext>
                </a:extLst>
              </a:tr>
              <a:tr h="231704">
                <a:tc>
                  <a:txBody>
                    <a:bodyPr/>
                    <a:lstStyle/>
                    <a:p>
                      <a:pPr>
                        <a:buNone/>
                      </a:pPr>
                      <a:r>
                        <a:rPr lang="en-US" sz="1000">
                          <a:effectLst/>
                        </a:rPr>
                        <a:t>ZEPLOC</a:t>
                      </a:r>
                    </a:p>
                  </a:txBody>
                  <a:tcPr anchor="ctr"/>
                </a:tc>
                <a:tc>
                  <a:txBody>
                    <a:bodyPr/>
                    <a:lstStyle/>
                    <a:p>
                      <a:pPr>
                        <a:buNone/>
                      </a:pPr>
                      <a:r>
                        <a:rPr lang="en-US" sz="1000" err="1"/>
                        <a:t>Eservices</a:t>
                      </a:r>
                      <a:r>
                        <a:rPr lang="en-US" sz="1000"/>
                        <a:t> Profile Locked</a:t>
                      </a:r>
                    </a:p>
                  </a:txBody>
                  <a:tcPr anchor="ctr"/>
                </a:tc>
                <a:extLst>
                  <a:ext uri="{0D108BD9-81ED-4DB2-BD59-A6C34878D82A}">
                    <a16:rowId xmlns:a16="http://schemas.microsoft.com/office/drawing/2014/main" val="805410127"/>
                  </a:ext>
                </a:extLst>
              </a:tr>
              <a:tr h="231704">
                <a:tc>
                  <a:txBody>
                    <a:bodyPr/>
                    <a:lstStyle/>
                    <a:p>
                      <a:pPr>
                        <a:buNone/>
                      </a:pPr>
                      <a:r>
                        <a:rPr lang="en-US" sz="1000">
                          <a:effectLst/>
                        </a:rPr>
                        <a:t>ZFCCOO</a:t>
                      </a:r>
                    </a:p>
                  </a:txBody>
                  <a:tcPr anchor="ctr"/>
                </a:tc>
                <a:tc>
                  <a:txBody>
                    <a:bodyPr/>
                    <a:lstStyle/>
                    <a:p>
                      <a:pPr>
                        <a:buNone/>
                      </a:pPr>
                      <a:r>
                        <a:rPr lang="en-US" sz="1000"/>
                        <a:t>FCC Phone Opt-Out</a:t>
                      </a:r>
                    </a:p>
                  </a:txBody>
                  <a:tcPr anchor="ctr"/>
                </a:tc>
                <a:extLst>
                  <a:ext uri="{0D108BD9-81ED-4DB2-BD59-A6C34878D82A}">
                    <a16:rowId xmlns:a16="http://schemas.microsoft.com/office/drawing/2014/main" val="2841851325"/>
                  </a:ext>
                </a:extLst>
              </a:tr>
              <a:tr h="231704">
                <a:tc>
                  <a:txBody>
                    <a:bodyPr/>
                    <a:lstStyle/>
                    <a:p>
                      <a:pPr>
                        <a:buNone/>
                      </a:pPr>
                      <a:r>
                        <a:rPr lang="en-US" sz="1000">
                          <a:effectLst/>
                        </a:rPr>
                        <a:t>ZFRAUD</a:t>
                      </a:r>
                    </a:p>
                  </a:txBody>
                  <a:tcPr anchor="ctr"/>
                </a:tc>
                <a:tc>
                  <a:txBody>
                    <a:bodyPr/>
                    <a:lstStyle/>
                    <a:p>
                      <a:pPr>
                        <a:buNone/>
                      </a:pPr>
                      <a:r>
                        <a:rPr lang="en-US" sz="1000"/>
                        <a:t>Fraud</a:t>
                      </a:r>
                    </a:p>
                  </a:txBody>
                  <a:tcPr anchor="ctr"/>
                </a:tc>
                <a:extLst>
                  <a:ext uri="{0D108BD9-81ED-4DB2-BD59-A6C34878D82A}">
                    <a16:rowId xmlns:a16="http://schemas.microsoft.com/office/drawing/2014/main" val="3581373356"/>
                  </a:ext>
                </a:extLst>
              </a:tr>
              <a:tr h="231704">
                <a:tc>
                  <a:txBody>
                    <a:bodyPr/>
                    <a:lstStyle/>
                    <a:p>
                      <a:pPr>
                        <a:buNone/>
                      </a:pPr>
                      <a:r>
                        <a:rPr lang="en-US" sz="1000">
                          <a:effectLst/>
                        </a:rPr>
                        <a:t>ZGASTR</a:t>
                      </a:r>
                    </a:p>
                  </a:txBody>
                  <a:tcPr anchor="ctr"/>
                </a:tc>
                <a:tc>
                  <a:txBody>
                    <a:bodyPr/>
                    <a:lstStyle/>
                    <a:p>
                      <a:pPr>
                        <a:buNone/>
                      </a:pPr>
                      <a:r>
                        <a:rPr lang="en-US" sz="1000"/>
                        <a:t>Gas Transportation</a:t>
                      </a:r>
                    </a:p>
                  </a:txBody>
                  <a:tcPr anchor="ctr"/>
                </a:tc>
                <a:extLst>
                  <a:ext uri="{0D108BD9-81ED-4DB2-BD59-A6C34878D82A}">
                    <a16:rowId xmlns:a16="http://schemas.microsoft.com/office/drawing/2014/main" val="1156917262"/>
                  </a:ext>
                </a:extLst>
              </a:tr>
              <a:tr h="231704">
                <a:tc>
                  <a:txBody>
                    <a:bodyPr/>
                    <a:lstStyle/>
                    <a:p>
                      <a:pPr>
                        <a:buNone/>
                      </a:pPr>
                      <a:r>
                        <a:rPr lang="en-US" sz="1000">
                          <a:effectLst/>
                        </a:rPr>
                        <a:t>ZGCCID</a:t>
                      </a:r>
                    </a:p>
                  </a:txBody>
                  <a:tcPr anchor="ctr"/>
                </a:tc>
                <a:tc>
                  <a:txBody>
                    <a:bodyPr/>
                    <a:lstStyle/>
                    <a:p>
                      <a:pPr>
                        <a:buNone/>
                      </a:pPr>
                      <a:r>
                        <a:rPr lang="en-US" sz="1000"/>
                        <a:t>GCC Customer Block</a:t>
                      </a:r>
                    </a:p>
                  </a:txBody>
                  <a:tcPr anchor="ctr"/>
                </a:tc>
                <a:extLst>
                  <a:ext uri="{0D108BD9-81ED-4DB2-BD59-A6C34878D82A}">
                    <a16:rowId xmlns:a16="http://schemas.microsoft.com/office/drawing/2014/main" val="2662221663"/>
                  </a:ext>
                </a:extLst>
              </a:tr>
              <a:tr h="231704">
                <a:tc>
                  <a:txBody>
                    <a:bodyPr/>
                    <a:lstStyle/>
                    <a:p>
                      <a:pPr>
                        <a:buNone/>
                      </a:pPr>
                      <a:r>
                        <a:rPr lang="en-US" sz="1000">
                          <a:effectLst/>
                        </a:rPr>
                        <a:t>ZHHCBP</a:t>
                      </a:r>
                    </a:p>
                  </a:txBody>
                  <a:tcPr anchor="ctr"/>
                </a:tc>
                <a:tc>
                  <a:txBody>
                    <a:bodyPr/>
                    <a:lstStyle/>
                    <a:p>
                      <a:pPr>
                        <a:buNone/>
                      </a:pPr>
                      <a:r>
                        <a:rPr lang="en-US" sz="1000"/>
                        <a:t>HHC Annual File Bypass</a:t>
                      </a:r>
                    </a:p>
                  </a:txBody>
                  <a:tcPr anchor="ctr"/>
                </a:tc>
                <a:extLst>
                  <a:ext uri="{0D108BD9-81ED-4DB2-BD59-A6C34878D82A}">
                    <a16:rowId xmlns:a16="http://schemas.microsoft.com/office/drawing/2014/main" val="372460652"/>
                  </a:ext>
                </a:extLst>
              </a:tr>
              <a:tr h="231704">
                <a:tc>
                  <a:txBody>
                    <a:bodyPr/>
                    <a:lstStyle/>
                    <a:p>
                      <a:pPr>
                        <a:buNone/>
                      </a:pPr>
                      <a:r>
                        <a:rPr lang="en-US" sz="1000">
                          <a:effectLst/>
                        </a:rPr>
                        <a:t>ZIBS01</a:t>
                      </a:r>
                    </a:p>
                  </a:txBody>
                  <a:tcPr anchor="ctr"/>
                </a:tc>
                <a:tc>
                  <a:txBody>
                    <a:bodyPr/>
                    <a:lstStyle/>
                    <a:p>
                      <a:pPr>
                        <a:buNone/>
                      </a:pPr>
                      <a:r>
                        <a:rPr lang="en-US" sz="1000"/>
                        <a:t>SSN/Tax ID No.</a:t>
                      </a:r>
                    </a:p>
                  </a:txBody>
                  <a:tcPr anchor="ctr"/>
                </a:tc>
                <a:extLst>
                  <a:ext uri="{0D108BD9-81ED-4DB2-BD59-A6C34878D82A}">
                    <a16:rowId xmlns:a16="http://schemas.microsoft.com/office/drawing/2014/main" val="886033222"/>
                  </a:ext>
                </a:extLst>
              </a:tr>
              <a:tr h="231704">
                <a:tc>
                  <a:txBody>
                    <a:bodyPr/>
                    <a:lstStyle/>
                    <a:p>
                      <a:pPr>
                        <a:buNone/>
                      </a:pPr>
                      <a:r>
                        <a:rPr lang="en-US" sz="1000">
                          <a:effectLst/>
                        </a:rPr>
                        <a:t>ZIBS02</a:t>
                      </a:r>
                    </a:p>
                  </a:txBody>
                  <a:tcPr anchor="ctr"/>
                </a:tc>
                <a:tc>
                  <a:txBody>
                    <a:bodyPr/>
                    <a:lstStyle/>
                    <a:p>
                      <a:pPr>
                        <a:buNone/>
                      </a:pPr>
                      <a:r>
                        <a:rPr lang="en-US" sz="1000"/>
                        <a:t>Driver's license number</a:t>
                      </a:r>
                    </a:p>
                  </a:txBody>
                  <a:tcPr anchor="ctr"/>
                </a:tc>
                <a:extLst>
                  <a:ext uri="{0D108BD9-81ED-4DB2-BD59-A6C34878D82A}">
                    <a16:rowId xmlns:a16="http://schemas.microsoft.com/office/drawing/2014/main" val="2272115470"/>
                  </a:ext>
                </a:extLst>
              </a:tr>
              <a:tr h="231704">
                <a:tc>
                  <a:txBody>
                    <a:bodyPr/>
                    <a:lstStyle/>
                    <a:p>
                      <a:pPr>
                        <a:buNone/>
                      </a:pPr>
                      <a:r>
                        <a:rPr lang="en-US" sz="1000">
                          <a:effectLst/>
                        </a:rPr>
                        <a:t>ZINC&amp;I</a:t>
                      </a:r>
                    </a:p>
                  </a:txBody>
                  <a:tcPr anchor="ctr"/>
                </a:tc>
                <a:tc>
                  <a:txBody>
                    <a:bodyPr/>
                    <a:lstStyle/>
                    <a:p>
                      <a:pPr>
                        <a:buNone/>
                      </a:pPr>
                      <a:r>
                        <a:rPr lang="en-US" sz="1000"/>
                        <a:t>Other C&amp;I Customer</a:t>
                      </a:r>
                    </a:p>
                  </a:txBody>
                  <a:tcPr anchor="ctr"/>
                </a:tc>
                <a:extLst>
                  <a:ext uri="{0D108BD9-81ED-4DB2-BD59-A6C34878D82A}">
                    <a16:rowId xmlns:a16="http://schemas.microsoft.com/office/drawing/2014/main" val="1552506955"/>
                  </a:ext>
                </a:extLst>
              </a:tr>
              <a:tr h="231704">
                <a:tc>
                  <a:txBody>
                    <a:bodyPr/>
                    <a:lstStyle/>
                    <a:p>
                      <a:pPr>
                        <a:buNone/>
                      </a:pPr>
                      <a:r>
                        <a:rPr lang="en-US" sz="1000">
                          <a:effectLst/>
                        </a:rPr>
                        <a:t>ZINEDU</a:t>
                      </a:r>
                    </a:p>
                  </a:txBody>
                  <a:tcPr anchor="ctr"/>
                </a:tc>
                <a:tc>
                  <a:txBody>
                    <a:bodyPr/>
                    <a:lstStyle/>
                    <a:p>
                      <a:pPr>
                        <a:buNone/>
                      </a:pPr>
                      <a:r>
                        <a:rPr lang="en-US" sz="1000"/>
                        <a:t>Education Customer</a:t>
                      </a:r>
                    </a:p>
                  </a:txBody>
                  <a:tcPr anchor="ctr"/>
                </a:tc>
                <a:extLst>
                  <a:ext uri="{0D108BD9-81ED-4DB2-BD59-A6C34878D82A}">
                    <a16:rowId xmlns:a16="http://schemas.microsoft.com/office/drawing/2014/main" val="445942528"/>
                  </a:ext>
                </a:extLst>
              </a:tr>
              <a:tr h="231704">
                <a:tc>
                  <a:txBody>
                    <a:bodyPr/>
                    <a:lstStyle/>
                    <a:p>
                      <a:pPr>
                        <a:buNone/>
                      </a:pPr>
                      <a:r>
                        <a:rPr lang="en-US" sz="1000">
                          <a:effectLst/>
                        </a:rPr>
                        <a:t>ZINFNC</a:t>
                      </a:r>
                    </a:p>
                  </a:txBody>
                  <a:tcPr anchor="ctr"/>
                </a:tc>
                <a:tc>
                  <a:txBody>
                    <a:bodyPr/>
                    <a:lstStyle/>
                    <a:p>
                      <a:pPr>
                        <a:buNone/>
                      </a:pPr>
                      <a:r>
                        <a:rPr lang="en-US" sz="1000"/>
                        <a:t>Franchise Customer</a:t>
                      </a:r>
                    </a:p>
                  </a:txBody>
                  <a:tcPr anchor="ctr"/>
                </a:tc>
                <a:extLst>
                  <a:ext uri="{0D108BD9-81ED-4DB2-BD59-A6C34878D82A}">
                    <a16:rowId xmlns:a16="http://schemas.microsoft.com/office/drawing/2014/main" val="3480283302"/>
                  </a:ext>
                </a:extLst>
              </a:tr>
              <a:tr h="231704">
                <a:tc>
                  <a:txBody>
                    <a:bodyPr/>
                    <a:lstStyle/>
                    <a:p>
                      <a:pPr>
                        <a:buNone/>
                      </a:pPr>
                      <a:r>
                        <a:rPr lang="en-US" sz="1000">
                          <a:effectLst/>
                        </a:rPr>
                        <a:t>ZINGOV</a:t>
                      </a:r>
                    </a:p>
                  </a:txBody>
                  <a:tcPr anchor="ctr"/>
                </a:tc>
                <a:tc>
                  <a:txBody>
                    <a:bodyPr/>
                    <a:lstStyle/>
                    <a:p>
                      <a:pPr>
                        <a:buNone/>
                      </a:pPr>
                      <a:r>
                        <a:rPr lang="en-US" sz="1000"/>
                        <a:t>Government Customer</a:t>
                      </a:r>
                    </a:p>
                  </a:txBody>
                  <a:tcPr anchor="ctr"/>
                </a:tc>
                <a:extLst>
                  <a:ext uri="{0D108BD9-81ED-4DB2-BD59-A6C34878D82A}">
                    <a16:rowId xmlns:a16="http://schemas.microsoft.com/office/drawing/2014/main" val="1455112946"/>
                  </a:ext>
                </a:extLst>
              </a:tr>
              <a:tr h="231704">
                <a:tc>
                  <a:txBody>
                    <a:bodyPr/>
                    <a:lstStyle/>
                    <a:p>
                      <a:pPr>
                        <a:buNone/>
                      </a:pPr>
                      <a:r>
                        <a:rPr lang="en-US" sz="1000">
                          <a:effectLst/>
                        </a:rPr>
                        <a:t>ZINHEA</a:t>
                      </a:r>
                    </a:p>
                  </a:txBody>
                  <a:tcPr anchor="ctr"/>
                </a:tc>
                <a:tc>
                  <a:txBody>
                    <a:bodyPr/>
                    <a:lstStyle/>
                    <a:p>
                      <a:pPr>
                        <a:buNone/>
                      </a:pPr>
                      <a:r>
                        <a:rPr lang="en-US" sz="1000"/>
                        <a:t>Healthcare Customer</a:t>
                      </a:r>
                    </a:p>
                  </a:txBody>
                  <a:tcPr anchor="ctr"/>
                </a:tc>
                <a:extLst>
                  <a:ext uri="{0D108BD9-81ED-4DB2-BD59-A6C34878D82A}">
                    <a16:rowId xmlns:a16="http://schemas.microsoft.com/office/drawing/2014/main" val="2760804163"/>
                  </a:ext>
                </a:extLst>
              </a:tr>
              <a:tr h="231704">
                <a:tc>
                  <a:txBody>
                    <a:bodyPr/>
                    <a:lstStyle/>
                    <a:p>
                      <a:pPr>
                        <a:buNone/>
                      </a:pPr>
                      <a:r>
                        <a:rPr lang="en-US" sz="1000">
                          <a:effectLst/>
                        </a:rPr>
                        <a:t>ZINNAT</a:t>
                      </a:r>
                    </a:p>
                  </a:txBody>
                  <a:tcPr anchor="ctr"/>
                </a:tc>
                <a:tc>
                  <a:txBody>
                    <a:bodyPr/>
                    <a:lstStyle/>
                    <a:p>
                      <a:pPr>
                        <a:buNone/>
                      </a:pPr>
                      <a:r>
                        <a:rPr lang="en-US" sz="1000"/>
                        <a:t>National Customer</a:t>
                      </a:r>
                    </a:p>
                  </a:txBody>
                  <a:tcPr anchor="ctr"/>
                </a:tc>
                <a:extLst>
                  <a:ext uri="{0D108BD9-81ED-4DB2-BD59-A6C34878D82A}">
                    <a16:rowId xmlns:a16="http://schemas.microsoft.com/office/drawing/2014/main" val="3596777974"/>
                  </a:ext>
                </a:extLst>
              </a:tr>
              <a:tr h="231704">
                <a:tc>
                  <a:txBody>
                    <a:bodyPr/>
                    <a:lstStyle/>
                    <a:p>
                      <a:pPr>
                        <a:buNone/>
                      </a:pPr>
                      <a:r>
                        <a:rPr lang="en-US" sz="1000">
                          <a:effectLst/>
                        </a:rPr>
                        <a:t>ZINREL</a:t>
                      </a:r>
                    </a:p>
                  </a:txBody>
                  <a:tcPr anchor="ctr"/>
                </a:tc>
                <a:tc>
                  <a:txBody>
                    <a:bodyPr/>
                    <a:lstStyle/>
                    <a:p>
                      <a:pPr>
                        <a:buNone/>
                      </a:pPr>
                      <a:r>
                        <a:rPr lang="en-US" sz="1000"/>
                        <a:t>Religious Customer</a:t>
                      </a:r>
                    </a:p>
                  </a:txBody>
                  <a:tcPr anchor="ctr"/>
                </a:tc>
                <a:extLst>
                  <a:ext uri="{0D108BD9-81ED-4DB2-BD59-A6C34878D82A}">
                    <a16:rowId xmlns:a16="http://schemas.microsoft.com/office/drawing/2014/main" val="4033045851"/>
                  </a:ext>
                </a:extLst>
              </a:tr>
              <a:tr h="231704">
                <a:tc>
                  <a:txBody>
                    <a:bodyPr/>
                    <a:lstStyle/>
                    <a:p>
                      <a:pPr>
                        <a:buNone/>
                      </a:pPr>
                      <a:r>
                        <a:rPr lang="en-US" sz="1000">
                          <a:effectLst/>
                        </a:rPr>
                        <a:t>ZINUTL</a:t>
                      </a:r>
                    </a:p>
                  </a:txBody>
                  <a:tcPr anchor="ctr"/>
                </a:tc>
                <a:tc>
                  <a:txBody>
                    <a:bodyPr/>
                    <a:lstStyle/>
                    <a:p>
                      <a:pPr>
                        <a:buNone/>
                      </a:pPr>
                      <a:r>
                        <a:rPr lang="en-US" sz="1000"/>
                        <a:t>Utility Industry Customer</a:t>
                      </a:r>
                    </a:p>
                  </a:txBody>
                  <a:tcPr anchor="ctr"/>
                </a:tc>
                <a:extLst>
                  <a:ext uri="{0D108BD9-81ED-4DB2-BD59-A6C34878D82A}">
                    <a16:rowId xmlns:a16="http://schemas.microsoft.com/office/drawing/2014/main" val="1810942818"/>
                  </a:ext>
                </a:extLst>
              </a:tr>
              <a:tr h="231704">
                <a:tc>
                  <a:txBody>
                    <a:bodyPr/>
                    <a:lstStyle/>
                    <a:p>
                      <a:pPr>
                        <a:buNone/>
                      </a:pPr>
                      <a:r>
                        <a:rPr lang="en-US" sz="1000">
                          <a:effectLst/>
                        </a:rPr>
                        <a:t>ZLFSPT</a:t>
                      </a:r>
                    </a:p>
                  </a:txBody>
                  <a:tcPr anchor="ctr"/>
                </a:tc>
                <a:tc>
                  <a:txBody>
                    <a:bodyPr/>
                    <a:lstStyle/>
                    <a:p>
                      <a:pPr>
                        <a:buNone/>
                      </a:pPr>
                      <a:r>
                        <a:rPr lang="en-US" sz="1000"/>
                        <a:t>Life Support</a:t>
                      </a:r>
                    </a:p>
                  </a:txBody>
                  <a:tcPr anchor="ctr"/>
                </a:tc>
                <a:extLst>
                  <a:ext uri="{0D108BD9-81ED-4DB2-BD59-A6C34878D82A}">
                    <a16:rowId xmlns:a16="http://schemas.microsoft.com/office/drawing/2014/main" val="3251607221"/>
                  </a:ext>
                </a:extLst>
              </a:tr>
              <a:tr h="231704">
                <a:tc>
                  <a:txBody>
                    <a:bodyPr/>
                    <a:lstStyle/>
                    <a:p>
                      <a:pPr>
                        <a:buNone/>
                      </a:pPr>
                      <a:r>
                        <a:rPr lang="en-US" sz="1000">
                          <a:effectLst/>
                        </a:rPr>
                        <a:t>ZLOWIN</a:t>
                      </a:r>
                    </a:p>
                  </a:txBody>
                  <a:tcPr anchor="ctr"/>
                </a:tc>
                <a:tc>
                  <a:txBody>
                    <a:bodyPr/>
                    <a:lstStyle/>
                    <a:p>
                      <a:pPr>
                        <a:buNone/>
                      </a:pPr>
                      <a:r>
                        <a:rPr lang="en-US" sz="1000"/>
                        <a:t>Low Income Customer</a:t>
                      </a:r>
                    </a:p>
                  </a:txBody>
                  <a:tcPr anchor="ctr"/>
                </a:tc>
                <a:extLst>
                  <a:ext uri="{0D108BD9-81ED-4DB2-BD59-A6C34878D82A}">
                    <a16:rowId xmlns:a16="http://schemas.microsoft.com/office/drawing/2014/main" val="1463686900"/>
                  </a:ext>
                </a:extLst>
              </a:tr>
              <a:tr h="231704">
                <a:tc>
                  <a:txBody>
                    <a:bodyPr/>
                    <a:lstStyle/>
                    <a:p>
                      <a:pPr>
                        <a:buNone/>
                      </a:pPr>
                      <a:r>
                        <a:rPr lang="en-US" sz="1000">
                          <a:effectLst/>
                        </a:rPr>
                        <a:t>ZMEDCL</a:t>
                      </a:r>
                    </a:p>
                  </a:txBody>
                  <a:tcPr anchor="ctr"/>
                </a:tc>
                <a:tc>
                  <a:txBody>
                    <a:bodyPr/>
                    <a:lstStyle/>
                    <a:p>
                      <a:pPr>
                        <a:buNone/>
                      </a:pPr>
                      <a:r>
                        <a:rPr lang="en-US" sz="1000"/>
                        <a:t>Medical Condition</a:t>
                      </a:r>
                    </a:p>
                  </a:txBody>
                  <a:tcPr anchor="ctr"/>
                </a:tc>
                <a:extLst>
                  <a:ext uri="{0D108BD9-81ED-4DB2-BD59-A6C34878D82A}">
                    <a16:rowId xmlns:a16="http://schemas.microsoft.com/office/drawing/2014/main" val="354813292"/>
                  </a:ext>
                </a:extLst>
              </a:tr>
              <a:tr h="231704">
                <a:tc>
                  <a:txBody>
                    <a:bodyPr/>
                    <a:lstStyle/>
                    <a:p>
                      <a:pPr>
                        <a:buNone/>
                      </a:pPr>
                      <a:r>
                        <a:rPr lang="en-US" sz="1000">
                          <a:effectLst/>
                        </a:rPr>
                        <a:t>ZMILID</a:t>
                      </a:r>
                    </a:p>
                  </a:txBody>
                  <a:tcPr anchor="ctr"/>
                </a:tc>
                <a:tc>
                  <a:txBody>
                    <a:bodyPr/>
                    <a:lstStyle/>
                    <a:p>
                      <a:pPr>
                        <a:buNone/>
                      </a:pPr>
                      <a:r>
                        <a:rPr lang="en-US" sz="1000"/>
                        <a:t>Military ID</a:t>
                      </a:r>
                    </a:p>
                  </a:txBody>
                  <a:tcPr anchor="ctr"/>
                </a:tc>
                <a:extLst>
                  <a:ext uri="{0D108BD9-81ED-4DB2-BD59-A6C34878D82A}">
                    <a16:rowId xmlns:a16="http://schemas.microsoft.com/office/drawing/2014/main" val="1010660388"/>
                  </a:ext>
                </a:extLst>
              </a:tr>
              <a:tr h="231704">
                <a:tc>
                  <a:txBody>
                    <a:bodyPr/>
                    <a:lstStyle/>
                    <a:p>
                      <a:pPr>
                        <a:buNone/>
                      </a:pPr>
                      <a:r>
                        <a:rPr lang="en-US" sz="1000">
                          <a:effectLst/>
                        </a:rPr>
                        <a:t>ZMINOR</a:t>
                      </a:r>
                    </a:p>
                  </a:txBody>
                  <a:tcPr anchor="ctr"/>
                </a:tc>
                <a:tc>
                  <a:txBody>
                    <a:bodyPr/>
                    <a:lstStyle/>
                    <a:p>
                      <a:pPr>
                        <a:buNone/>
                      </a:pPr>
                      <a:r>
                        <a:rPr lang="en-US" sz="1000"/>
                        <a:t>Minor</a:t>
                      </a:r>
                    </a:p>
                  </a:txBody>
                  <a:tcPr anchor="ctr"/>
                </a:tc>
                <a:extLst>
                  <a:ext uri="{0D108BD9-81ED-4DB2-BD59-A6C34878D82A}">
                    <a16:rowId xmlns:a16="http://schemas.microsoft.com/office/drawing/2014/main" val="1120486504"/>
                  </a:ext>
                </a:extLst>
              </a:tr>
              <a:tr h="231704">
                <a:tc>
                  <a:txBody>
                    <a:bodyPr/>
                    <a:lstStyle/>
                    <a:p>
                      <a:pPr lvl="0">
                        <a:buNone/>
                      </a:pPr>
                      <a:r>
                        <a:rPr lang="en-US" sz="1000">
                          <a:effectLst/>
                        </a:rPr>
                        <a:t>ZMOFF</a:t>
                      </a:r>
                      <a:endParaRPr lang="en-US" sz="1000"/>
                    </a:p>
                  </a:txBody>
                  <a:tcPr anchor="ctr"/>
                </a:tc>
                <a:tc>
                  <a:txBody>
                    <a:bodyPr/>
                    <a:lstStyle/>
                    <a:p>
                      <a:pPr lvl="0">
                        <a:buNone/>
                      </a:pPr>
                      <a:r>
                        <a:rPr lang="en-US" sz="1000"/>
                        <a:t>MMOP FORMAL SHUTOFF</a:t>
                      </a:r>
                    </a:p>
                  </a:txBody>
                  <a:tcPr anchor="ctr"/>
                </a:tc>
                <a:extLst>
                  <a:ext uri="{0D108BD9-81ED-4DB2-BD59-A6C34878D82A}">
                    <a16:rowId xmlns:a16="http://schemas.microsoft.com/office/drawing/2014/main" val="1042868243"/>
                  </a:ext>
                </a:extLst>
              </a:tr>
            </a:tbl>
          </a:graphicData>
        </a:graphic>
      </p:graphicFrame>
      <p:graphicFrame>
        <p:nvGraphicFramePr>
          <p:cNvPr id="9" name="Table 8">
            <a:extLst>
              <a:ext uri="{FF2B5EF4-FFF2-40B4-BE49-F238E27FC236}">
                <a16:creationId xmlns:a16="http://schemas.microsoft.com/office/drawing/2014/main" id="{254F72F1-B945-BB7F-2562-52DFC344F5BF}"/>
              </a:ext>
            </a:extLst>
          </p:cNvPr>
          <p:cNvGraphicFramePr>
            <a:graphicFrameLocks noGrp="1"/>
          </p:cNvGraphicFramePr>
          <p:nvPr/>
        </p:nvGraphicFramePr>
        <p:xfrm>
          <a:off x="8194763" y="27075"/>
          <a:ext cx="3789552" cy="6827520"/>
        </p:xfrm>
        <a:graphic>
          <a:graphicData uri="http://schemas.openxmlformats.org/drawingml/2006/table">
            <a:tbl>
              <a:tblPr bandRow="1">
                <a:tableStyleId>{6E25E649-3F16-4E02-A733-19D2CDBF48F0}</a:tableStyleId>
              </a:tblPr>
              <a:tblGrid>
                <a:gridCol w="1009309">
                  <a:extLst>
                    <a:ext uri="{9D8B030D-6E8A-4147-A177-3AD203B41FA5}">
                      <a16:colId xmlns:a16="http://schemas.microsoft.com/office/drawing/2014/main" val="2348846701"/>
                    </a:ext>
                  </a:extLst>
                </a:gridCol>
                <a:gridCol w="2780243">
                  <a:extLst>
                    <a:ext uri="{9D8B030D-6E8A-4147-A177-3AD203B41FA5}">
                      <a16:colId xmlns:a16="http://schemas.microsoft.com/office/drawing/2014/main" val="371716989"/>
                    </a:ext>
                  </a:extLst>
                </a:gridCol>
              </a:tblGrid>
              <a:tr h="192836">
                <a:tc>
                  <a:txBody>
                    <a:bodyPr/>
                    <a:lstStyle/>
                    <a:p>
                      <a:pPr>
                        <a:buNone/>
                      </a:pPr>
                      <a:r>
                        <a:rPr lang="en-US" sz="1000">
                          <a:effectLst/>
                        </a:rPr>
                        <a:t>ZNETME</a:t>
                      </a:r>
                    </a:p>
                  </a:txBody>
                  <a:tcPr anchor="ctr"/>
                </a:tc>
                <a:tc>
                  <a:txBody>
                    <a:bodyPr/>
                    <a:lstStyle/>
                    <a:p>
                      <a:pPr>
                        <a:buNone/>
                      </a:pPr>
                      <a:r>
                        <a:rPr lang="en-US" sz="1000"/>
                        <a:t>Net Metering</a:t>
                      </a:r>
                    </a:p>
                  </a:txBody>
                  <a:tcPr anchor="ctr"/>
                </a:tc>
                <a:extLst>
                  <a:ext uri="{0D108BD9-81ED-4DB2-BD59-A6C34878D82A}">
                    <a16:rowId xmlns:a16="http://schemas.microsoft.com/office/drawing/2014/main" val="3017103625"/>
                  </a:ext>
                </a:extLst>
              </a:tr>
              <a:tr h="192836">
                <a:tc>
                  <a:txBody>
                    <a:bodyPr/>
                    <a:lstStyle/>
                    <a:p>
                      <a:pPr>
                        <a:buNone/>
                      </a:pPr>
                      <a:r>
                        <a:rPr lang="en-US" sz="1000">
                          <a:effectLst/>
                        </a:rPr>
                        <a:t>ZNMRBD</a:t>
                      </a:r>
                    </a:p>
                  </a:txBody>
                  <a:tcPr anchor="ctr"/>
                </a:tc>
                <a:tc>
                  <a:txBody>
                    <a:bodyPr/>
                    <a:lstStyle/>
                    <a:p>
                      <a:pPr>
                        <a:buNone/>
                      </a:pPr>
                      <a:r>
                        <a:rPr lang="en-US" sz="1000"/>
                        <a:t>Numerous Bad Debt</a:t>
                      </a:r>
                    </a:p>
                  </a:txBody>
                  <a:tcPr anchor="ctr"/>
                </a:tc>
                <a:extLst>
                  <a:ext uri="{0D108BD9-81ED-4DB2-BD59-A6C34878D82A}">
                    <a16:rowId xmlns:a16="http://schemas.microsoft.com/office/drawing/2014/main" val="4011143179"/>
                  </a:ext>
                </a:extLst>
              </a:tr>
              <a:tr h="192836">
                <a:tc>
                  <a:txBody>
                    <a:bodyPr/>
                    <a:lstStyle/>
                    <a:p>
                      <a:pPr>
                        <a:buNone/>
                      </a:pPr>
                      <a:r>
                        <a:rPr lang="en-US" sz="1000">
                          <a:effectLst/>
                        </a:rPr>
                        <a:t>ZNOCHK</a:t>
                      </a:r>
                    </a:p>
                  </a:txBody>
                  <a:tcPr anchor="ctr"/>
                </a:tc>
                <a:tc>
                  <a:txBody>
                    <a:bodyPr/>
                    <a:lstStyle/>
                    <a:p>
                      <a:pPr>
                        <a:buNone/>
                      </a:pPr>
                      <a:r>
                        <a:rPr lang="en-US" sz="1000"/>
                        <a:t>No Checks Accepted</a:t>
                      </a:r>
                    </a:p>
                  </a:txBody>
                  <a:tcPr anchor="ctr"/>
                </a:tc>
                <a:extLst>
                  <a:ext uri="{0D108BD9-81ED-4DB2-BD59-A6C34878D82A}">
                    <a16:rowId xmlns:a16="http://schemas.microsoft.com/office/drawing/2014/main" val="377711017"/>
                  </a:ext>
                </a:extLst>
              </a:tr>
              <a:tr h="192836">
                <a:tc>
                  <a:txBody>
                    <a:bodyPr/>
                    <a:lstStyle/>
                    <a:p>
                      <a:pPr>
                        <a:buNone/>
                      </a:pPr>
                      <a:r>
                        <a:rPr lang="en-US" sz="1000">
                          <a:effectLst/>
                        </a:rPr>
                        <a:t>ZNOCRD</a:t>
                      </a:r>
                    </a:p>
                  </a:txBody>
                  <a:tcPr anchor="ctr"/>
                </a:tc>
                <a:tc>
                  <a:txBody>
                    <a:bodyPr/>
                    <a:lstStyle/>
                    <a:p>
                      <a:pPr>
                        <a:buNone/>
                      </a:pPr>
                      <a:r>
                        <a:rPr lang="en-US" sz="1000"/>
                        <a:t>No Payment Cards Accepted</a:t>
                      </a:r>
                    </a:p>
                  </a:txBody>
                  <a:tcPr anchor="ctr"/>
                </a:tc>
                <a:extLst>
                  <a:ext uri="{0D108BD9-81ED-4DB2-BD59-A6C34878D82A}">
                    <a16:rowId xmlns:a16="http://schemas.microsoft.com/office/drawing/2014/main" val="3358199575"/>
                  </a:ext>
                </a:extLst>
              </a:tr>
              <a:tr h="238748">
                <a:tc>
                  <a:txBody>
                    <a:bodyPr/>
                    <a:lstStyle/>
                    <a:p>
                      <a:pPr>
                        <a:buNone/>
                      </a:pPr>
                      <a:r>
                        <a:rPr lang="en-US" sz="1000">
                          <a:effectLst/>
                        </a:rPr>
                        <a:t>ZPEND</a:t>
                      </a:r>
                    </a:p>
                  </a:txBody>
                  <a:tcPr anchor="ctr"/>
                </a:tc>
                <a:tc>
                  <a:txBody>
                    <a:bodyPr/>
                    <a:lstStyle/>
                    <a:p>
                      <a:pPr>
                        <a:buNone/>
                      </a:pPr>
                      <a:r>
                        <a:rPr lang="en-US" sz="1000"/>
                        <a:t>Pending Theft/</a:t>
                      </a:r>
                      <a:r>
                        <a:rPr lang="en-US" sz="1000" err="1"/>
                        <a:t>Fruad</a:t>
                      </a:r>
                      <a:r>
                        <a:rPr lang="en-US" sz="1000"/>
                        <a:t>/TOV Investigation</a:t>
                      </a:r>
                    </a:p>
                  </a:txBody>
                  <a:tcPr anchor="ctr"/>
                </a:tc>
                <a:extLst>
                  <a:ext uri="{0D108BD9-81ED-4DB2-BD59-A6C34878D82A}">
                    <a16:rowId xmlns:a16="http://schemas.microsoft.com/office/drawing/2014/main" val="1811412532"/>
                  </a:ext>
                </a:extLst>
              </a:tr>
              <a:tr h="192836">
                <a:tc>
                  <a:txBody>
                    <a:bodyPr/>
                    <a:lstStyle/>
                    <a:p>
                      <a:pPr>
                        <a:buNone/>
                      </a:pPr>
                      <a:r>
                        <a:rPr lang="en-US" sz="1000">
                          <a:effectLst/>
                        </a:rPr>
                        <a:t>ZPRTMR</a:t>
                      </a:r>
                    </a:p>
                  </a:txBody>
                  <a:tcPr anchor="ctr"/>
                </a:tc>
                <a:tc>
                  <a:txBody>
                    <a:bodyPr/>
                    <a:lstStyle/>
                    <a:p>
                      <a:pPr>
                        <a:buNone/>
                      </a:pPr>
                      <a:r>
                        <a:rPr lang="en-US" sz="1000" err="1"/>
                        <a:t>Primetimers</a:t>
                      </a:r>
                      <a:r>
                        <a:rPr lang="en-US" sz="1000"/>
                        <a:t> Club</a:t>
                      </a:r>
                    </a:p>
                  </a:txBody>
                  <a:tcPr anchor="ctr"/>
                </a:tc>
                <a:extLst>
                  <a:ext uri="{0D108BD9-81ED-4DB2-BD59-A6C34878D82A}">
                    <a16:rowId xmlns:a16="http://schemas.microsoft.com/office/drawing/2014/main" val="1327695589"/>
                  </a:ext>
                </a:extLst>
              </a:tr>
              <a:tr h="192836">
                <a:tc>
                  <a:txBody>
                    <a:bodyPr/>
                    <a:lstStyle/>
                    <a:p>
                      <a:pPr>
                        <a:buNone/>
                      </a:pPr>
                      <a:r>
                        <a:rPr lang="en-US" sz="1000">
                          <a:effectLst/>
                        </a:rPr>
                        <a:t>ZPSSPT</a:t>
                      </a:r>
                    </a:p>
                  </a:txBody>
                  <a:tcPr anchor="ctr"/>
                </a:tc>
                <a:tc>
                  <a:txBody>
                    <a:bodyPr/>
                    <a:lstStyle/>
                    <a:p>
                      <a:pPr>
                        <a:buNone/>
                      </a:pPr>
                      <a:r>
                        <a:rPr lang="en-US" sz="1000"/>
                        <a:t>Passport</a:t>
                      </a:r>
                    </a:p>
                  </a:txBody>
                  <a:tcPr anchor="ctr"/>
                </a:tc>
                <a:extLst>
                  <a:ext uri="{0D108BD9-81ED-4DB2-BD59-A6C34878D82A}">
                    <a16:rowId xmlns:a16="http://schemas.microsoft.com/office/drawing/2014/main" val="2153781129"/>
                  </a:ext>
                </a:extLst>
              </a:tr>
              <a:tr h="192836">
                <a:tc>
                  <a:txBody>
                    <a:bodyPr/>
                    <a:lstStyle/>
                    <a:p>
                      <a:pPr>
                        <a:buNone/>
                      </a:pPr>
                      <a:r>
                        <a:rPr lang="en-US" sz="1000">
                          <a:effectLst/>
                        </a:rPr>
                        <a:t>ZPWD</a:t>
                      </a:r>
                    </a:p>
                  </a:txBody>
                  <a:tcPr anchor="ctr"/>
                </a:tc>
                <a:tc>
                  <a:txBody>
                    <a:bodyPr/>
                    <a:lstStyle/>
                    <a:p>
                      <a:pPr>
                        <a:buNone/>
                      </a:pPr>
                      <a:r>
                        <a:rPr lang="en-US" sz="1000"/>
                        <a:t>Password</a:t>
                      </a:r>
                    </a:p>
                  </a:txBody>
                  <a:tcPr anchor="ctr"/>
                </a:tc>
                <a:extLst>
                  <a:ext uri="{0D108BD9-81ED-4DB2-BD59-A6C34878D82A}">
                    <a16:rowId xmlns:a16="http://schemas.microsoft.com/office/drawing/2014/main" val="2065925198"/>
                  </a:ext>
                </a:extLst>
              </a:tr>
              <a:tr h="192836">
                <a:tc>
                  <a:txBody>
                    <a:bodyPr/>
                    <a:lstStyle/>
                    <a:p>
                      <a:pPr>
                        <a:buNone/>
                      </a:pPr>
                      <a:r>
                        <a:rPr lang="en-US" sz="1000">
                          <a:effectLst/>
                        </a:rPr>
                        <a:t>ZREFID</a:t>
                      </a:r>
                    </a:p>
                  </a:txBody>
                  <a:tcPr anchor="ctr"/>
                </a:tc>
                <a:tc>
                  <a:txBody>
                    <a:bodyPr/>
                    <a:lstStyle/>
                    <a:p>
                      <a:pPr>
                        <a:buNone/>
                      </a:pPr>
                      <a:r>
                        <a:rPr lang="en-US" sz="1000"/>
                        <a:t>Refuses to Provide ID</a:t>
                      </a:r>
                    </a:p>
                  </a:txBody>
                  <a:tcPr anchor="ctr"/>
                </a:tc>
                <a:extLst>
                  <a:ext uri="{0D108BD9-81ED-4DB2-BD59-A6C34878D82A}">
                    <a16:rowId xmlns:a16="http://schemas.microsoft.com/office/drawing/2014/main" val="353515833"/>
                  </a:ext>
                </a:extLst>
              </a:tr>
              <a:tr h="192836">
                <a:tc>
                  <a:txBody>
                    <a:bodyPr/>
                    <a:lstStyle/>
                    <a:p>
                      <a:pPr>
                        <a:buNone/>
                      </a:pPr>
                      <a:r>
                        <a:rPr lang="en-US" sz="1000">
                          <a:effectLst/>
                        </a:rPr>
                        <a:t>ZSEGB</a:t>
                      </a:r>
                    </a:p>
                  </a:txBody>
                  <a:tcPr anchor="ctr"/>
                </a:tc>
                <a:tc>
                  <a:txBody>
                    <a:bodyPr/>
                    <a:lstStyle/>
                    <a:p>
                      <a:pPr>
                        <a:buNone/>
                      </a:pPr>
                      <a:r>
                        <a:rPr lang="en-US" sz="1000"/>
                        <a:t>B</a:t>
                      </a:r>
                    </a:p>
                  </a:txBody>
                  <a:tcPr anchor="ctr"/>
                </a:tc>
                <a:extLst>
                  <a:ext uri="{0D108BD9-81ED-4DB2-BD59-A6C34878D82A}">
                    <a16:rowId xmlns:a16="http://schemas.microsoft.com/office/drawing/2014/main" val="1493852825"/>
                  </a:ext>
                </a:extLst>
              </a:tr>
              <a:tr h="192836">
                <a:tc>
                  <a:txBody>
                    <a:bodyPr/>
                    <a:lstStyle/>
                    <a:p>
                      <a:pPr>
                        <a:buNone/>
                      </a:pPr>
                      <a:r>
                        <a:rPr lang="en-US" sz="1000">
                          <a:effectLst/>
                        </a:rPr>
                        <a:t>ZSEGB+</a:t>
                      </a:r>
                    </a:p>
                  </a:txBody>
                  <a:tcPr anchor="ctr"/>
                </a:tc>
                <a:tc>
                  <a:txBody>
                    <a:bodyPr/>
                    <a:lstStyle/>
                    <a:p>
                      <a:pPr>
                        <a:buNone/>
                      </a:pPr>
                      <a:r>
                        <a:rPr lang="en-US" sz="1000"/>
                        <a:t>B+</a:t>
                      </a:r>
                    </a:p>
                  </a:txBody>
                  <a:tcPr anchor="ctr"/>
                </a:tc>
                <a:extLst>
                  <a:ext uri="{0D108BD9-81ED-4DB2-BD59-A6C34878D82A}">
                    <a16:rowId xmlns:a16="http://schemas.microsoft.com/office/drawing/2014/main" val="1651756739"/>
                  </a:ext>
                </a:extLst>
              </a:tr>
              <a:tr h="192836">
                <a:tc>
                  <a:txBody>
                    <a:bodyPr/>
                    <a:lstStyle/>
                    <a:p>
                      <a:pPr>
                        <a:buNone/>
                      </a:pPr>
                      <a:r>
                        <a:rPr lang="en-US" sz="1000">
                          <a:effectLst/>
                        </a:rPr>
                        <a:t>ZSEGP</a:t>
                      </a:r>
                    </a:p>
                  </a:txBody>
                  <a:tcPr anchor="ctr"/>
                </a:tc>
                <a:tc>
                  <a:txBody>
                    <a:bodyPr/>
                    <a:lstStyle/>
                    <a:p>
                      <a:pPr>
                        <a:buNone/>
                      </a:pPr>
                      <a:r>
                        <a:rPr lang="en-US" sz="1000"/>
                        <a:t>P</a:t>
                      </a:r>
                    </a:p>
                  </a:txBody>
                  <a:tcPr anchor="ctr"/>
                </a:tc>
                <a:extLst>
                  <a:ext uri="{0D108BD9-81ED-4DB2-BD59-A6C34878D82A}">
                    <a16:rowId xmlns:a16="http://schemas.microsoft.com/office/drawing/2014/main" val="468440395"/>
                  </a:ext>
                </a:extLst>
              </a:tr>
              <a:tr h="192836">
                <a:tc>
                  <a:txBody>
                    <a:bodyPr/>
                    <a:lstStyle/>
                    <a:p>
                      <a:pPr>
                        <a:buNone/>
                      </a:pPr>
                      <a:r>
                        <a:rPr lang="en-US" sz="1000">
                          <a:effectLst/>
                        </a:rPr>
                        <a:t>ZSEGP+</a:t>
                      </a:r>
                    </a:p>
                  </a:txBody>
                  <a:tcPr anchor="ctr"/>
                </a:tc>
                <a:tc>
                  <a:txBody>
                    <a:bodyPr/>
                    <a:lstStyle/>
                    <a:p>
                      <a:pPr>
                        <a:buNone/>
                      </a:pPr>
                      <a:r>
                        <a:rPr lang="en-US" sz="1000"/>
                        <a:t>P+</a:t>
                      </a:r>
                    </a:p>
                  </a:txBody>
                  <a:tcPr anchor="ctr"/>
                </a:tc>
                <a:extLst>
                  <a:ext uri="{0D108BD9-81ED-4DB2-BD59-A6C34878D82A}">
                    <a16:rowId xmlns:a16="http://schemas.microsoft.com/office/drawing/2014/main" val="1588150696"/>
                  </a:ext>
                </a:extLst>
              </a:tr>
              <a:tr h="192836">
                <a:tc>
                  <a:txBody>
                    <a:bodyPr/>
                    <a:lstStyle/>
                    <a:p>
                      <a:pPr>
                        <a:buNone/>
                      </a:pPr>
                      <a:r>
                        <a:rPr lang="en-US" sz="1000">
                          <a:effectLst/>
                        </a:rPr>
                        <a:t>ZSEGPL</a:t>
                      </a:r>
                    </a:p>
                  </a:txBody>
                  <a:tcPr anchor="ctr"/>
                </a:tc>
                <a:tc>
                  <a:txBody>
                    <a:bodyPr/>
                    <a:lstStyle/>
                    <a:p>
                      <a:pPr>
                        <a:buNone/>
                      </a:pPr>
                      <a:r>
                        <a:rPr lang="en-US" sz="1000"/>
                        <a:t>PL</a:t>
                      </a:r>
                    </a:p>
                  </a:txBody>
                  <a:tcPr anchor="ctr"/>
                </a:tc>
                <a:extLst>
                  <a:ext uri="{0D108BD9-81ED-4DB2-BD59-A6C34878D82A}">
                    <a16:rowId xmlns:a16="http://schemas.microsoft.com/office/drawing/2014/main" val="2053798469"/>
                  </a:ext>
                </a:extLst>
              </a:tr>
              <a:tr h="192836">
                <a:tc>
                  <a:txBody>
                    <a:bodyPr/>
                    <a:lstStyle/>
                    <a:p>
                      <a:pPr>
                        <a:buNone/>
                      </a:pPr>
                      <a:r>
                        <a:rPr lang="en-US" sz="1000">
                          <a:effectLst/>
                        </a:rPr>
                        <a:t>ZSELFH</a:t>
                      </a:r>
                    </a:p>
                  </a:txBody>
                  <a:tcPr anchor="ctr"/>
                </a:tc>
                <a:tc>
                  <a:txBody>
                    <a:bodyPr/>
                    <a:lstStyle/>
                    <a:p>
                      <a:pPr>
                        <a:buNone/>
                      </a:pPr>
                      <a:r>
                        <a:rPr lang="en-US" sz="1000"/>
                        <a:t>High Income Range</a:t>
                      </a:r>
                    </a:p>
                  </a:txBody>
                  <a:tcPr anchor="ctr"/>
                </a:tc>
                <a:extLst>
                  <a:ext uri="{0D108BD9-81ED-4DB2-BD59-A6C34878D82A}">
                    <a16:rowId xmlns:a16="http://schemas.microsoft.com/office/drawing/2014/main" val="401592883"/>
                  </a:ext>
                </a:extLst>
              </a:tr>
              <a:tr h="192836">
                <a:tc>
                  <a:txBody>
                    <a:bodyPr/>
                    <a:lstStyle/>
                    <a:p>
                      <a:pPr>
                        <a:buNone/>
                      </a:pPr>
                      <a:r>
                        <a:rPr lang="en-US" sz="1000">
                          <a:effectLst/>
                        </a:rPr>
                        <a:t>ZSELFL</a:t>
                      </a:r>
                    </a:p>
                  </a:txBody>
                  <a:tcPr anchor="ctr"/>
                </a:tc>
                <a:tc>
                  <a:txBody>
                    <a:bodyPr/>
                    <a:lstStyle/>
                    <a:p>
                      <a:pPr>
                        <a:buNone/>
                      </a:pPr>
                      <a:r>
                        <a:rPr lang="en-US" sz="1000"/>
                        <a:t>Low Income Range</a:t>
                      </a:r>
                    </a:p>
                  </a:txBody>
                  <a:tcPr anchor="ctr"/>
                </a:tc>
                <a:extLst>
                  <a:ext uri="{0D108BD9-81ED-4DB2-BD59-A6C34878D82A}">
                    <a16:rowId xmlns:a16="http://schemas.microsoft.com/office/drawing/2014/main" val="1508363873"/>
                  </a:ext>
                </a:extLst>
              </a:tr>
              <a:tr h="192836">
                <a:tc>
                  <a:txBody>
                    <a:bodyPr/>
                    <a:lstStyle/>
                    <a:p>
                      <a:pPr>
                        <a:buNone/>
                      </a:pPr>
                      <a:r>
                        <a:rPr lang="en-US" sz="1000">
                          <a:effectLst/>
                        </a:rPr>
                        <a:t>ZSELFM</a:t>
                      </a:r>
                    </a:p>
                  </a:txBody>
                  <a:tcPr anchor="ctr"/>
                </a:tc>
                <a:tc>
                  <a:txBody>
                    <a:bodyPr/>
                    <a:lstStyle/>
                    <a:p>
                      <a:pPr>
                        <a:buNone/>
                      </a:pPr>
                      <a:r>
                        <a:rPr lang="en-US" sz="1000"/>
                        <a:t>Medium Income Range</a:t>
                      </a:r>
                    </a:p>
                  </a:txBody>
                  <a:tcPr anchor="ctr"/>
                </a:tc>
                <a:extLst>
                  <a:ext uri="{0D108BD9-81ED-4DB2-BD59-A6C34878D82A}">
                    <a16:rowId xmlns:a16="http://schemas.microsoft.com/office/drawing/2014/main" val="2096953792"/>
                  </a:ext>
                </a:extLst>
              </a:tr>
              <a:tr h="192836">
                <a:tc>
                  <a:txBody>
                    <a:bodyPr/>
                    <a:lstStyle/>
                    <a:p>
                      <a:pPr>
                        <a:buNone/>
                      </a:pPr>
                      <a:r>
                        <a:rPr lang="en-US" sz="1000">
                          <a:effectLst/>
                        </a:rPr>
                        <a:t>ZSOLAR</a:t>
                      </a:r>
                    </a:p>
                  </a:txBody>
                  <a:tcPr anchor="ctr"/>
                </a:tc>
                <a:tc>
                  <a:txBody>
                    <a:bodyPr/>
                    <a:lstStyle/>
                    <a:p>
                      <a:pPr>
                        <a:buNone/>
                      </a:pPr>
                      <a:r>
                        <a:rPr lang="en-US" sz="1000"/>
                        <a:t>Solar Garden Customer</a:t>
                      </a:r>
                    </a:p>
                  </a:txBody>
                  <a:tcPr anchor="ctr"/>
                </a:tc>
                <a:extLst>
                  <a:ext uri="{0D108BD9-81ED-4DB2-BD59-A6C34878D82A}">
                    <a16:rowId xmlns:a16="http://schemas.microsoft.com/office/drawing/2014/main" val="868373840"/>
                  </a:ext>
                </a:extLst>
              </a:tr>
              <a:tr h="192836">
                <a:tc>
                  <a:txBody>
                    <a:bodyPr/>
                    <a:lstStyle/>
                    <a:p>
                      <a:pPr>
                        <a:buNone/>
                      </a:pPr>
                      <a:r>
                        <a:rPr lang="en-US" sz="1000">
                          <a:effectLst/>
                        </a:rPr>
                        <a:t>ZSTID</a:t>
                      </a:r>
                    </a:p>
                  </a:txBody>
                  <a:tcPr anchor="ctr"/>
                </a:tc>
                <a:tc>
                  <a:txBody>
                    <a:bodyPr/>
                    <a:lstStyle/>
                    <a:p>
                      <a:pPr>
                        <a:buNone/>
                      </a:pPr>
                      <a:r>
                        <a:rPr lang="en-US" sz="1000"/>
                        <a:t>State ID - MI</a:t>
                      </a:r>
                    </a:p>
                  </a:txBody>
                  <a:tcPr anchor="ctr"/>
                </a:tc>
                <a:extLst>
                  <a:ext uri="{0D108BD9-81ED-4DB2-BD59-A6C34878D82A}">
                    <a16:rowId xmlns:a16="http://schemas.microsoft.com/office/drawing/2014/main" val="1173330106"/>
                  </a:ext>
                </a:extLst>
              </a:tr>
              <a:tr h="192836">
                <a:tc>
                  <a:txBody>
                    <a:bodyPr/>
                    <a:lstStyle/>
                    <a:p>
                      <a:pPr>
                        <a:buNone/>
                      </a:pPr>
                      <a:r>
                        <a:rPr lang="en-US" sz="1000">
                          <a:effectLst/>
                        </a:rPr>
                        <a:t>ZSTIDO</a:t>
                      </a:r>
                    </a:p>
                  </a:txBody>
                  <a:tcPr anchor="ctr"/>
                </a:tc>
                <a:tc>
                  <a:txBody>
                    <a:bodyPr/>
                    <a:lstStyle/>
                    <a:p>
                      <a:pPr>
                        <a:buNone/>
                      </a:pPr>
                      <a:r>
                        <a:rPr lang="en-US" sz="1000"/>
                        <a:t>State ID - Other</a:t>
                      </a:r>
                    </a:p>
                  </a:txBody>
                  <a:tcPr anchor="ctr"/>
                </a:tc>
                <a:extLst>
                  <a:ext uri="{0D108BD9-81ED-4DB2-BD59-A6C34878D82A}">
                    <a16:rowId xmlns:a16="http://schemas.microsoft.com/office/drawing/2014/main" val="4001109349"/>
                  </a:ext>
                </a:extLst>
              </a:tr>
              <a:tr h="192836">
                <a:tc>
                  <a:txBody>
                    <a:bodyPr/>
                    <a:lstStyle/>
                    <a:p>
                      <a:pPr>
                        <a:buNone/>
                      </a:pPr>
                      <a:r>
                        <a:rPr lang="en-US" sz="1000">
                          <a:effectLst/>
                        </a:rPr>
                        <a:t>ZTAXEX</a:t>
                      </a:r>
                    </a:p>
                  </a:txBody>
                  <a:tcPr anchor="ctr"/>
                </a:tc>
                <a:tc>
                  <a:txBody>
                    <a:bodyPr/>
                    <a:lstStyle/>
                    <a:p>
                      <a:pPr>
                        <a:buNone/>
                      </a:pPr>
                      <a:r>
                        <a:rPr lang="en-US" sz="1000"/>
                        <a:t>Tax Exemption Indicator</a:t>
                      </a:r>
                    </a:p>
                  </a:txBody>
                  <a:tcPr anchor="ctr"/>
                </a:tc>
                <a:extLst>
                  <a:ext uri="{0D108BD9-81ED-4DB2-BD59-A6C34878D82A}">
                    <a16:rowId xmlns:a16="http://schemas.microsoft.com/office/drawing/2014/main" val="1447425164"/>
                  </a:ext>
                </a:extLst>
              </a:tr>
              <a:tr h="192836">
                <a:tc>
                  <a:txBody>
                    <a:bodyPr/>
                    <a:lstStyle/>
                    <a:p>
                      <a:pPr>
                        <a:buNone/>
                      </a:pPr>
                      <a:r>
                        <a:rPr lang="en-US" sz="1000">
                          <a:effectLst/>
                        </a:rPr>
                        <a:t>ZTDD</a:t>
                      </a:r>
                    </a:p>
                  </a:txBody>
                  <a:tcPr anchor="ctr"/>
                </a:tc>
                <a:tc>
                  <a:txBody>
                    <a:bodyPr/>
                    <a:lstStyle/>
                    <a:p>
                      <a:pPr>
                        <a:buNone/>
                      </a:pPr>
                      <a:r>
                        <a:rPr lang="en-US" sz="1000"/>
                        <a:t>Hearing Impaired-TDD</a:t>
                      </a:r>
                    </a:p>
                  </a:txBody>
                  <a:tcPr anchor="ctr"/>
                </a:tc>
                <a:extLst>
                  <a:ext uri="{0D108BD9-81ED-4DB2-BD59-A6C34878D82A}">
                    <a16:rowId xmlns:a16="http://schemas.microsoft.com/office/drawing/2014/main" val="101528761"/>
                  </a:ext>
                </a:extLst>
              </a:tr>
              <a:tr h="192836">
                <a:tc>
                  <a:txBody>
                    <a:bodyPr/>
                    <a:lstStyle/>
                    <a:p>
                      <a:pPr>
                        <a:buNone/>
                      </a:pPr>
                      <a:r>
                        <a:rPr lang="en-US" sz="1000">
                          <a:effectLst/>
                        </a:rPr>
                        <a:t>ZTHEFT</a:t>
                      </a:r>
                    </a:p>
                  </a:txBody>
                  <a:tcPr anchor="ctr"/>
                </a:tc>
                <a:tc>
                  <a:txBody>
                    <a:bodyPr/>
                    <a:lstStyle/>
                    <a:p>
                      <a:pPr>
                        <a:buNone/>
                      </a:pPr>
                      <a:r>
                        <a:rPr lang="en-US" sz="1000"/>
                        <a:t>Theft</a:t>
                      </a:r>
                    </a:p>
                  </a:txBody>
                  <a:tcPr anchor="ctr"/>
                </a:tc>
                <a:extLst>
                  <a:ext uri="{0D108BD9-81ED-4DB2-BD59-A6C34878D82A}">
                    <a16:rowId xmlns:a16="http://schemas.microsoft.com/office/drawing/2014/main" val="996916344"/>
                  </a:ext>
                </a:extLst>
              </a:tr>
              <a:tr h="192836">
                <a:tc>
                  <a:txBody>
                    <a:bodyPr/>
                    <a:lstStyle/>
                    <a:p>
                      <a:pPr>
                        <a:buNone/>
                      </a:pPr>
                      <a:r>
                        <a:rPr lang="en-US" sz="1000">
                          <a:effectLst/>
                        </a:rPr>
                        <a:t>ZTHRT</a:t>
                      </a:r>
                    </a:p>
                  </a:txBody>
                  <a:tcPr anchor="ctr"/>
                </a:tc>
                <a:tc>
                  <a:txBody>
                    <a:bodyPr/>
                    <a:lstStyle/>
                    <a:p>
                      <a:pPr>
                        <a:buNone/>
                      </a:pPr>
                      <a:r>
                        <a:rPr lang="en-US" sz="1000"/>
                        <a:t>Threat of Violence</a:t>
                      </a:r>
                    </a:p>
                  </a:txBody>
                  <a:tcPr anchor="ctr"/>
                </a:tc>
                <a:extLst>
                  <a:ext uri="{0D108BD9-81ED-4DB2-BD59-A6C34878D82A}">
                    <a16:rowId xmlns:a16="http://schemas.microsoft.com/office/drawing/2014/main" val="3428502082"/>
                  </a:ext>
                </a:extLst>
              </a:tr>
              <a:tr h="192836">
                <a:tc>
                  <a:txBody>
                    <a:bodyPr/>
                    <a:lstStyle/>
                    <a:p>
                      <a:pPr>
                        <a:buNone/>
                      </a:pPr>
                      <a:r>
                        <a:rPr lang="en-US" sz="1000">
                          <a:effectLst/>
                        </a:rPr>
                        <a:t>ZTHRTA</a:t>
                      </a:r>
                    </a:p>
                  </a:txBody>
                  <a:tcPr anchor="ctr"/>
                </a:tc>
                <a:tc>
                  <a:txBody>
                    <a:bodyPr/>
                    <a:lstStyle/>
                    <a:p>
                      <a:pPr>
                        <a:buNone/>
                      </a:pPr>
                      <a:r>
                        <a:rPr lang="en-US" sz="1000"/>
                        <a:t>Aggressive Behavior</a:t>
                      </a:r>
                    </a:p>
                  </a:txBody>
                  <a:tcPr anchor="ctr"/>
                </a:tc>
                <a:extLst>
                  <a:ext uri="{0D108BD9-81ED-4DB2-BD59-A6C34878D82A}">
                    <a16:rowId xmlns:a16="http://schemas.microsoft.com/office/drawing/2014/main" val="601447877"/>
                  </a:ext>
                </a:extLst>
              </a:tr>
              <a:tr h="192836">
                <a:tc>
                  <a:txBody>
                    <a:bodyPr/>
                    <a:lstStyle/>
                    <a:p>
                      <a:pPr>
                        <a:buNone/>
                      </a:pPr>
                      <a:r>
                        <a:rPr lang="en-US" sz="1000">
                          <a:effectLst/>
                        </a:rPr>
                        <a:t>ZTHRTD</a:t>
                      </a:r>
                    </a:p>
                  </a:txBody>
                  <a:tcPr anchor="ctr"/>
                </a:tc>
                <a:tc>
                  <a:txBody>
                    <a:bodyPr/>
                    <a:lstStyle/>
                    <a:p>
                      <a:pPr>
                        <a:buNone/>
                      </a:pPr>
                      <a:r>
                        <a:rPr lang="en-US" sz="1000"/>
                        <a:t>Threat of Violence - Dog</a:t>
                      </a:r>
                    </a:p>
                  </a:txBody>
                  <a:tcPr anchor="ctr"/>
                </a:tc>
                <a:extLst>
                  <a:ext uri="{0D108BD9-81ED-4DB2-BD59-A6C34878D82A}">
                    <a16:rowId xmlns:a16="http://schemas.microsoft.com/office/drawing/2014/main" val="2911654780"/>
                  </a:ext>
                </a:extLst>
              </a:tr>
              <a:tr h="192836">
                <a:tc>
                  <a:txBody>
                    <a:bodyPr/>
                    <a:lstStyle/>
                    <a:p>
                      <a:pPr>
                        <a:buNone/>
                      </a:pPr>
                      <a:r>
                        <a:rPr lang="en-US" sz="1000">
                          <a:effectLst/>
                        </a:rPr>
                        <a:t>ZTHRTP</a:t>
                      </a:r>
                    </a:p>
                  </a:txBody>
                  <a:tcPr anchor="ctr"/>
                </a:tc>
                <a:tc>
                  <a:txBody>
                    <a:bodyPr/>
                    <a:lstStyle/>
                    <a:p>
                      <a:pPr>
                        <a:buNone/>
                      </a:pPr>
                      <a:r>
                        <a:rPr lang="en-US" sz="1000"/>
                        <a:t>Threat of Violence - Police Escort</a:t>
                      </a:r>
                    </a:p>
                  </a:txBody>
                  <a:tcPr anchor="ctr"/>
                </a:tc>
                <a:extLst>
                  <a:ext uri="{0D108BD9-81ED-4DB2-BD59-A6C34878D82A}">
                    <a16:rowId xmlns:a16="http://schemas.microsoft.com/office/drawing/2014/main" val="2429400955"/>
                  </a:ext>
                </a:extLst>
              </a:tr>
              <a:tr h="192836">
                <a:tc>
                  <a:txBody>
                    <a:bodyPr/>
                    <a:lstStyle/>
                    <a:p>
                      <a:pPr>
                        <a:buNone/>
                      </a:pPr>
                      <a:r>
                        <a:rPr lang="en-US" sz="1000">
                          <a:effectLst/>
                        </a:rPr>
                        <a:t>ZTRBID</a:t>
                      </a:r>
                    </a:p>
                  </a:txBody>
                  <a:tcPr anchor="ctr"/>
                </a:tc>
                <a:tc>
                  <a:txBody>
                    <a:bodyPr/>
                    <a:lstStyle/>
                    <a:p>
                      <a:pPr>
                        <a:buNone/>
                      </a:pPr>
                      <a:r>
                        <a:rPr lang="en-US" sz="1000"/>
                        <a:t>Tribal ID</a:t>
                      </a:r>
                    </a:p>
                  </a:txBody>
                  <a:tcPr anchor="ctr"/>
                </a:tc>
                <a:extLst>
                  <a:ext uri="{0D108BD9-81ED-4DB2-BD59-A6C34878D82A}">
                    <a16:rowId xmlns:a16="http://schemas.microsoft.com/office/drawing/2014/main" val="2449683549"/>
                  </a:ext>
                </a:extLst>
              </a:tr>
            </a:tbl>
          </a:graphicData>
        </a:graphic>
      </p:graphicFrame>
    </p:spTree>
    <p:extLst>
      <p:ext uri="{BB962C8B-B14F-4D97-AF65-F5344CB8AC3E}">
        <p14:creationId xmlns:p14="http://schemas.microsoft.com/office/powerpoint/2010/main" val="142133596"/>
      </p:ext>
    </p:extLst>
  </p:cSld>
  <p:clrMapOvr>
    <a:masterClrMapping/>
  </p:clrMapOvr>
  <p:extLst>
    <p:ext uri="{6950BFC3-D8DA-4A85-94F7-54DA5524770B}">
      <p188:commentRel xmlns:p188="http://schemas.microsoft.com/office/powerpoint/2018/8/main" r:id="rId2"/>
    </p:ext>
  </p:extLs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92EF1-B743-FBD2-4262-64D638AED60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8D6DE3-6769-CD5D-29B8-1327D15C0850}"/>
              </a:ext>
            </a:extLst>
          </p:cNvPr>
          <p:cNvSpPr>
            <a:spLocks noGrp="1"/>
          </p:cNvSpPr>
          <p:nvPr>
            <p:ph type="title"/>
          </p:nvPr>
        </p:nvSpPr>
        <p:spPr>
          <a:xfrm>
            <a:off x="153760" y="291436"/>
            <a:ext cx="11413017" cy="624394"/>
          </a:xfrm>
        </p:spPr>
        <p:txBody>
          <a:bodyPr>
            <a:normAutofit fontScale="90000"/>
          </a:bodyPr>
          <a:lstStyle/>
          <a:p>
            <a:r>
              <a:rPr lang="en-US" sz="3600">
                <a:latin typeface="Montserrat"/>
              </a:rPr>
              <a:t>Create an Individual Customer in Service Cloud v2</a:t>
            </a:r>
            <a:endParaRPr lang="en-US" sz="3600"/>
          </a:p>
        </p:txBody>
      </p:sp>
      <p:sp>
        <p:nvSpPr>
          <p:cNvPr id="6" name="TextBox 5">
            <a:extLst>
              <a:ext uri="{FF2B5EF4-FFF2-40B4-BE49-F238E27FC236}">
                <a16:creationId xmlns:a16="http://schemas.microsoft.com/office/drawing/2014/main" id="{197FA471-9214-3FCD-209F-A229EAE2D85A}"/>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 name="TextBox 4">
            <a:extLst>
              <a:ext uri="{FF2B5EF4-FFF2-40B4-BE49-F238E27FC236}">
                <a16:creationId xmlns:a16="http://schemas.microsoft.com/office/drawing/2014/main" id="{D26FEE58-A631-EEEE-D2BC-AD25FF6ED21A}"/>
              </a:ext>
            </a:extLst>
          </p:cNvPr>
          <p:cNvSpPr txBox="1"/>
          <p:nvPr/>
        </p:nvSpPr>
        <p:spPr>
          <a:xfrm>
            <a:off x="10015214" y="1783973"/>
            <a:ext cx="218023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FRICE-W "</a:t>
            </a:r>
            <a:r>
              <a:rPr lang="en-US" b="1"/>
              <a:t>Business Partner Field Enhancements</a:t>
            </a:r>
            <a:r>
              <a:rPr lang="en-US"/>
              <a:t>" will cover any custom fields that are needed.</a:t>
            </a:r>
          </a:p>
          <a:p>
            <a:endParaRPr lang="en-US"/>
          </a:p>
          <a:p>
            <a:r>
              <a:rPr lang="en-US" b="1" u="sng"/>
              <a:t>Pain point to address:</a:t>
            </a:r>
            <a:r>
              <a:rPr lang="en-US"/>
              <a:t> BPs are getting created with no phone number. </a:t>
            </a:r>
          </a:p>
        </p:txBody>
      </p:sp>
      <p:sp>
        <p:nvSpPr>
          <p:cNvPr id="2" name="TextBox 1">
            <a:extLst>
              <a:ext uri="{FF2B5EF4-FFF2-40B4-BE49-F238E27FC236}">
                <a16:creationId xmlns:a16="http://schemas.microsoft.com/office/drawing/2014/main" id="{43B7BD2B-04A8-1210-9A15-FBBA4F242A4E}"/>
              </a:ext>
            </a:extLst>
          </p:cNvPr>
          <p:cNvSpPr txBox="1"/>
          <p:nvPr/>
        </p:nvSpPr>
        <p:spPr>
          <a:xfrm>
            <a:off x="156425" y="1066173"/>
            <a:ext cx="112323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 individual customer in SAP Service Cloud v2 is the equivalent of a person BP in CMR7. A user can create an Individual Customer through the Individual Customer work center.</a:t>
            </a:r>
          </a:p>
        </p:txBody>
      </p:sp>
      <p:pic>
        <p:nvPicPr>
          <p:cNvPr id="8" name="Picture 7" descr="A screenshot of a computer&#10;&#10;AI-generated content may be incorrect.">
            <a:extLst>
              <a:ext uri="{FF2B5EF4-FFF2-40B4-BE49-F238E27FC236}">
                <a16:creationId xmlns:a16="http://schemas.microsoft.com/office/drawing/2014/main" id="{9F88D36F-A136-B1BB-5F2B-364170D67834}"/>
              </a:ext>
            </a:extLst>
          </p:cNvPr>
          <p:cNvPicPr>
            <a:picLocks noChangeAspect="1"/>
          </p:cNvPicPr>
          <p:nvPr/>
        </p:nvPicPr>
        <p:blipFill>
          <a:blip r:embed="rId2"/>
          <a:stretch>
            <a:fillRect/>
          </a:stretch>
        </p:blipFill>
        <p:spPr>
          <a:xfrm>
            <a:off x="154781" y="1712921"/>
            <a:ext cx="9858376" cy="4533721"/>
          </a:xfrm>
          <a:prstGeom prst="rect">
            <a:avLst/>
          </a:prstGeom>
        </p:spPr>
      </p:pic>
    </p:spTree>
    <p:extLst>
      <p:ext uri="{BB962C8B-B14F-4D97-AF65-F5344CB8AC3E}">
        <p14:creationId xmlns:p14="http://schemas.microsoft.com/office/powerpoint/2010/main" val="22910572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A9257-A15A-26B4-D057-8508892EB8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7011D96-6B42-2E9D-0405-3AE80AD7E1A6}"/>
              </a:ext>
            </a:extLst>
          </p:cNvPr>
          <p:cNvSpPr>
            <a:spLocks noGrp="1"/>
          </p:cNvSpPr>
          <p:nvPr>
            <p:ph type="title"/>
          </p:nvPr>
        </p:nvSpPr>
        <p:spPr>
          <a:xfrm>
            <a:off x="153760" y="291436"/>
            <a:ext cx="11413017" cy="624394"/>
          </a:xfrm>
        </p:spPr>
        <p:txBody>
          <a:bodyPr>
            <a:normAutofit/>
          </a:bodyPr>
          <a:lstStyle/>
          <a:p>
            <a:r>
              <a:rPr lang="en-US" sz="3200">
                <a:latin typeface="Montserrat"/>
              </a:rPr>
              <a:t>Create an Account in Service Cloud v2</a:t>
            </a:r>
            <a:endParaRPr lang="en-US" sz="3200"/>
          </a:p>
        </p:txBody>
      </p:sp>
      <p:sp>
        <p:nvSpPr>
          <p:cNvPr id="6" name="TextBox 5">
            <a:extLst>
              <a:ext uri="{FF2B5EF4-FFF2-40B4-BE49-F238E27FC236}">
                <a16:creationId xmlns:a16="http://schemas.microsoft.com/office/drawing/2014/main" id="{2AD7A8D9-D1CA-481E-C9E5-00C9542052FD}"/>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5" name="TextBox 4">
            <a:extLst>
              <a:ext uri="{FF2B5EF4-FFF2-40B4-BE49-F238E27FC236}">
                <a16:creationId xmlns:a16="http://schemas.microsoft.com/office/drawing/2014/main" id="{A7B7736C-37EC-D13A-7DBA-84FACD5023E5}"/>
              </a:ext>
            </a:extLst>
          </p:cNvPr>
          <p:cNvSpPr txBox="1"/>
          <p:nvPr/>
        </p:nvSpPr>
        <p:spPr>
          <a:xfrm>
            <a:off x="9669933" y="1580336"/>
            <a:ext cx="218023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FRICE-W "</a:t>
            </a:r>
            <a:r>
              <a:rPr lang="en-US" b="1">
                <a:latin typeface="Aptos"/>
              </a:rPr>
              <a:t>Business Partner Field Enhancement</a:t>
            </a:r>
            <a:r>
              <a:rPr lang="en-US" b="1" err="1">
                <a:latin typeface="Aptos"/>
              </a:rPr>
              <a:t>s</a:t>
            </a:r>
            <a:r>
              <a:rPr lang="en-US">
                <a:latin typeface="Aptos"/>
              </a:rPr>
              <a:t>" will cover any custom fields that are needed.</a:t>
            </a:r>
          </a:p>
          <a:p>
            <a:endParaRPr lang="en-US">
              <a:latin typeface="Aptos"/>
            </a:endParaRPr>
          </a:p>
          <a:p>
            <a:r>
              <a:rPr lang="en-US" b="1" u="sng">
                <a:latin typeface="Aptos"/>
              </a:rPr>
              <a:t>Pain point to address:</a:t>
            </a:r>
            <a:r>
              <a:rPr lang="en-US">
                <a:latin typeface="Aptos"/>
              </a:rPr>
              <a:t> BPs are getting created with no phone number. </a:t>
            </a:r>
            <a:endParaRPr lang="en-US"/>
          </a:p>
        </p:txBody>
      </p:sp>
      <p:sp>
        <p:nvSpPr>
          <p:cNvPr id="2" name="TextBox 1">
            <a:extLst>
              <a:ext uri="{FF2B5EF4-FFF2-40B4-BE49-F238E27FC236}">
                <a16:creationId xmlns:a16="http://schemas.microsoft.com/office/drawing/2014/main" id="{8149CDBD-07AD-E52A-58DD-4B5A30DBD35E}"/>
              </a:ext>
            </a:extLst>
          </p:cNvPr>
          <p:cNvSpPr txBox="1"/>
          <p:nvPr/>
        </p:nvSpPr>
        <p:spPr>
          <a:xfrm>
            <a:off x="156425" y="1066173"/>
            <a:ext cx="1122044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 Account in SAP Service Cloud v2 is the equivalent of an Organization BP in CMR7. A user can create an Account through the Accounts work center.</a:t>
            </a:r>
          </a:p>
        </p:txBody>
      </p:sp>
      <p:pic>
        <p:nvPicPr>
          <p:cNvPr id="7" name="Picture 6" descr="A screenshot of a computer&#10;&#10;AI-generated content may be incorrect.">
            <a:extLst>
              <a:ext uri="{FF2B5EF4-FFF2-40B4-BE49-F238E27FC236}">
                <a16:creationId xmlns:a16="http://schemas.microsoft.com/office/drawing/2014/main" id="{536D3232-470F-78D4-994B-1898C69EEC46}"/>
              </a:ext>
            </a:extLst>
          </p:cNvPr>
          <p:cNvPicPr>
            <a:picLocks noChangeAspect="1"/>
          </p:cNvPicPr>
          <p:nvPr/>
        </p:nvPicPr>
        <p:blipFill>
          <a:blip r:embed="rId2"/>
          <a:stretch>
            <a:fillRect/>
          </a:stretch>
        </p:blipFill>
        <p:spPr>
          <a:xfrm>
            <a:off x="1" y="1750963"/>
            <a:ext cx="9667875" cy="4630041"/>
          </a:xfrm>
          <a:prstGeom prst="rect">
            <a:avLst/>
          </a:prstGeom>
        </p:spPr>
      </p:pic>
    </p:spTree>
    <p:extLst>
      <p:ext uri="{BB962C8B-B14F-4D97-AF65-F5344CB8AC3E}">
        <p14:creationId xmlns:p14="http://schemas.microsoft.com/office/powerpoint/2010/main" val="4442897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E55BA-C65B-E67A-864B-C2704040F56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6AACC9-8125-62FB-0C42-F50890938C8A}"/>
              </a:ext>
            </a:extLst>
          </p:cNvPr>
          <p:cNvSpPr>
            <a:spLocks noGrp="1"/>
          </p:cNvSpPr>
          <p:nvPr>
            <p:ph type="title"/>
          </p:nvPr>
        </p:nvSpPr>
        <p:spPr>
          <a:xfrm>
            <a:off x="153760" y="291436"/>
            <a:ext cx="11413017" cy="862518"/>
          </a:xfrm>
        </p:spPr>
        <p:txBody>
          <a:bodyPr>
            <a:normAutofit fontScale="90000"/>
          </a:bodyPr>
          <a:lstStyle/>
          <a:p>
            <a:r>
              <a:rPr lang="en-US" sz="3600">
                <a:latin typeface="Montserrat"/>
              </a:rPr>
              <a:t>Create an Individual Customer, Contact, or Account in Service Cloud v2</a:t>
            </a:r>
            <a:endParaRPr lang="en-US" sz="3600"/>
          </a:p>
        </p:txBody>
      </p:sp>
      <p:sp>
        <p:nvSpPr>
          <p:cNvPr id="6" name="TextBox 5">
            <a:extLst>
              <a:ext uri="{FF2B5EF4-FFF2-40B4-BE49-F238E27FC236}">
                <a16:creationId xmlns:a16="http://schemas.microsoft.com/office/drawing/2014/main" id="{551BACC7-56E9-40CA-9CFA-80A2B28F1471}"/>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FCAE80ED-FAB0-FE2B-7BF1-F5A4DBD6D64B}"/>
              </a:ext>
            </a:extLst>
          </p:cNvPr>
          <p:cNvSpPr txBox="1"/>
          <p:nvPr/>
        </p:nvSpPr>
        <p:spPr>
          <a:xfrm>
            <a:off x="156425" y="1173329"/>
            <a:ext cx="112323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 user will be able to create an Individual Customer, Contact, or Account in the Agent </a:t>
            </a:r>
            <a:r>
              <a:rPr lang="en-US" err="1"/>
              <a:t>Desktop.</a:t>
            </a:r>
            <a:endParaRPr lang="en-US"/>
          </a:p>
        </p:txBody>
      </p:sp>
      <p:pic>
        <p:nvPicPr>
          <p:cNvPr id="9" name="Picture 8" descr="A screenshot of a search engine&#10;&#10;AI-generated content may be incorrect.">
            <a:extLst>
              <a:ext uri="{FF2B5EF4-FFF2-40B4-BE49-F238E27FC236}">
                <a16:creationId xmlns:a16="http://schemas.microsoft.com/office/drawing/2014/main" id="{320B6AE6-BE0B-6401-941B-7AB20A71DAA0}"/>
              </a:ext>
            </a:extLst>
          </p:cNvPr>
          <p:cNvPicPr>
            <a:picLocks noChangeAspect="1"/>
          </p:cNvPicPr>
          <p:nvPr/>
        </p:nvPicPr>
        <p:blipFill>
          <a:blip r:embed="rId2"/>
          <a:stretch>
            <a:fillRect/>
          </a:stretch>
        </p:blipFill>
        <p:spPr>
          <a:xfrm>
            <a:off x="154781" y="1714193"/>
            <a:ext cx="10287001" cy="4489270"/>
          </a:xfrm>
          <a:prstGeom prst="rect">
            <a:avLst/>
          </a:prstGeom>
        </p:spPr>
      </p:pic>
    </p:spTree>
    <p:extLst>
      <p:ext uri="{BB962C8B-B14F-4D97-AF65-F5344CB8AC3E}">
        <p14:creationId xmlns:p14="http://schemas.microsoft.com/office/powerpoint/2010/main" val="18660803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D3103-0AD6-724D-27E7-853AEBD04B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DD7EC2-C2C8-D838-08D6-69F55ED9CB86}"/>
              </a:ext>
            </a:extLst>
          </p:cNvPr>
          <p:cNvSpPr>
            <a:spLocks noGrp="1"/>
          </p:cNvSpPr>
          <p:nvPr>
            <p:ph type="title"/>
          </p:nvPr>
        </p:nvSpPr>
        <p:spPr>
          <a:xfrm>
            <a:off x="153760" y="291436"/>
            <a:ext cx="11413017" cy="850612"/>
          </a:xfrm>
        </p:spPr>
        <p:txBody>
          <a:bodyPr>
            <a:normAutofit fontScale="90000"/>
          </a:bodyPr>
          <a:lstStyle/>
          <a:p>
            <a:r>
              <a:rPr lang="en-US" sz="3600">
                <a:latin typeface="Montserrat"/>
              </a:rPr>
              <a:t>Create an Individual Customer, Contact, or Account in Service Cloud v2</a:t>
            </a:r>
            <a:endParaRPr lang="en-US" sz="3600"/>
          </a:p>
        </p:txBody>
      </p:sp>
      <p:sp>
        <p:nvSpPr>
          <p:cNvPr id="6" name="TextBox 5">
            <a:extLst>
              <a:ext uri="{FF2B5EF4-FFF2-40B4-BE49-F238E27FC236}">
                <a16:creationId xmlns:a16="http://schemas.microsoft.com/office/drawing/2014/main" id="{5BC594EF-49CC-2E16-D24E-CFC70CF17BB3}"/>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1C2698A7-CA01-596E-0FCC-A3C49628EE2E}"/>
              </a:ext>
            </a:extLst>
          </p:cNvPr>
          <p:cNvSpPr txBox="1"/>
          <p:nvPr/>
        </p:nvSpPr>
        <p:spPr>
          <a:xfrm>
            <a:off x="156425" y="1173329"/>
            <a:ext cx="112323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 user will be able to create an Individual Customer, Contact, or Account through My Cards quick access on the Home Page.</a:t>
            </a:r>
          </a:p>
        </p:txBody>
      </p:sp>
      <p:pic>
        <p:nvPicPr>
          <p:cNvPr id="4" name="Picture 3" descr="A screenshot of a computer&#10;&#10;AI-generated content may be incorrect.">
            <a:extLst>
              <a:ext uri="{FF2B5EF4-FFF2-40B4-BE49-F238E27FC236}">
                <a16:creationId xmlns:a16="http://schemas.microsoft.com/office/drawing/2014/main" id="{46EB03D7-D405-8632-2A5A-35CF5244DE3A}"/>
              </a:ext>
            </a:extLst>
          </p:cNvPr>
          <p:cNvPicPr>
            <a:picLocks noChangeAspect="1"/>
          </p:cNvPicPr>
          <p:nvPr/>
        </p:nvPicPr>
        <p:blipFill>
          <a:blip r:embed="rId2"/>
          <a:stretch>
            <a:fillRect/>
          </a:stretch>
        </p:blipFill>
        <p:spPr>
          <a:xfrm>
            <a:off x="309561" y="1850386"/>
            <a:ext cx="10596562" cy="4645510"/>
          </a:xfrm>
          <a:prstGeom prst="rect">
            <a:avLst/>
          </a:prstGeom>
        </p:spPr>
      </p:pic>
    </p:spTree>
    <p:extLst>
      <p:ext uri="{BB962C8B-B14F-4D97-AF65-F5344CB8AC3E}">
        <p14:creationId xmlns:p14="http://schemas.microsoft.com/office/powerpoint/2010/main" val="24305284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2E77E-B18D-1E14-CE69-BA3BFC3DD5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59D592-5026-E63E-5A95-94DA67690F94}"/>
              </a:ext>
            </a:extLst>
          </p:cNvPr>
          <p:cNvSpPr>
            <a:spLocks noGrp="1"/>
          </p:cNvSpPr>
          <p:nvPr>
            <p:ph type="title"/>
          </p:nvPr>
        </p:nvSpPr>
        <p:spPr>
          <a:xfrm>
            <a:off x="153760" y="291436"/>
            <a:ext cx="11413017" cy="850612"/>
          </a:xfrm>
        </p:spPr>
        <p:txBody>
          <a:bodyPr>
            <a:normAutofit fontScale="90000"/>
          </a:bodyPr>
          <a:lstStyle/>
          <a:p>
            <a:r>
              <a:rPr lang="en-US" sz="3600">
                <a:latin typeface="Montserrat"/>
              </a:rPr>
              <a:t>Create an Individual Customer, Contact, or Account in Service Cloud v2</a:t>
            </a:r>
            <a:endParaRPr lang="en-US" sz="3600"/>
          </a:p>
        </p:txBody>
      </p:sp>
      <p:sp>
        <p:nvSpPr>
          <p:cNvPr id="6" name="TextBox 5">
            <a:extLst>
              <a:ext uri="{FF2B5EF4-FFF2-40B4-BE49-F238E27FC236}">
                <a16:creationId xmlns:a16="http://schemas.microsoft.com/office/drawing/2014/main" id="{2E4E1EC4-F0CD-9D73-5CA8-D4293417F0B9}"/>
              </a:ext>
            </a:extLst>
          </p:cNvPr>
          <p:cNvSpPr txBox="1"/>
          <p:nvPr/>
        </p:nvSpPr>
        <p:spPr>
          <a:xfrm>
            <a:off x="1993692" y="2308485"/>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2" name="TextBox 1">
            <a:extLst>
              <a:ext uri="{FF2B5EF4-FFF2-40B4-BE49-F238E27FC236}">
                <a16:creationId xmlns:a16="http://schemas.microsoft.com/office/drawing/2014/main" id="{20AB19DA-CB0F-AE0E-4858-F6842FD229A3}"/>
              </a:ext>
            </a:extLst>
          </p:cNvPr>
          <p:cNvSpPr txBox="1"/>
          <p:nvPr/>
        </p:nvSpPr>
        <p:spPr>
          <a:xfrm>
            <a:off x="156425" y="1340017"/>
            <a:ext cx="112323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 user will be able to create a Contact Person in Service Cloud v2.</a:t>
            </a:r>
          </a:p>
        </p:txBody>
      </p:sp>
      <p:pic>
        <p:nvPicPr>
          <p:cNvPr id="5" name="Picture 4" descr="A screenshot of a computer&#10;&#10;AI-generated content may be incorrect.">
            <a:extLst>
              <a:ext uri="{FF2B5EF4-FFF2-40B4-BE49-F238E27FC236}">
                <a16:creationId xmlns:a16="http://schemas.microsoft.com/office/drawing/2014/main" id="{3775BB6D-7010-1B6F-AA71-9107B4B263DE}"/>
              </a:ext>
            </a:extLst>
          </p:cNvPr>
          <p:cNvPicPr>
            <a:picLocks noChangeAspect="1"/>
          </p:cNvPicPr>
          <p:nvPr/>
        </p:nvPicPr>
        <p:blipFill>
          <a:blip r:embed="rId2"/>
          <a:stretch>
            <a:fillRect/>
          </a:stretch>
        </p:blipFill>
        <p:spPr>
          <a:xfrm>
            <a:off x="714376" y="1968288"/>
            <a:ext cx="10036969" cy="4540673"/>
          </a:xfrm>
          <a:prstGeom prst="rect">
            <a:avLst/>
          </a:prstGeom>
        </p:spPr>
      </p:pic>
    </p:spTree>
    <p:extLst>
      <p:ext uri="{BB962C8B-B14F-4D97-AF65-F5344CB8AC3E}">
        <p14:creationId xmlns:p14="http://schemas.microsoft.com/office/powerpoint/2010/main" val="9674175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9F6D-FAEA-E04B-5327-0F4300910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FD1BD-D7D5-8DE7-8289-7E3E54D3BB33}"/>
              </a:ext>
            </a:extLst>
          </p:cNvPr>
          <p:cNvSpPr>
            <a:spLocks noGrp="1"/>
          </p:cNvSpPr>
          <p:nvPr>
            <p:ph type="title"/>
          </p:nvPr>
        </p:nvSpPr>
        <p:spPr>
          <a:xfrm>
            <a:off x="9715" y="236506"/>
            <a:ext cx="11375136" cy="609600"/>
          </a:xfrm>
        </p:spPr>
        <p:txBody>
          <a:bodyPr>
            <a:normAutofit fontScale="90000"/>
          </a:bodyPr>
          <a:lstStyle/>
          <a:p>
            <a:r>
              <a:rPr lang="en-US">
                <a:latin typeface="Montserrat"/>
              </a:rPr>
              <a:t>BP Relationship Categories </a:t>
            </a:r>
          </a:p>
        </p:txBody>
      </p:sp>
      <p:graphicFrame>
        <p:nvGraphicFramePr>
          <p:cNvPr id="5" name="Table 4">
            <a:extLst>
              <a:ext uri="{FF2B5EF4-FFF2-40B4-BE49-F238E27FC236}">
                <a16:creationId xmlns:a16="http://schemas.microsoft.com/office/drawing/2014/main" id="{56478E73-5EC7-63BD-0DCE-2CE0498CE29E}"/>
              </a:ext>
            </a:extLst>
          </p:cNvPr>
          <p:cNvGraphicFramePr>
            <a:graphicFrameLocks noGrp="1"/>
          </p:cNvGraphicFramePr>
          <p:nvPr/>
        </p:nvGraphicFramePr>
        <p:xfrm>
          <a:off x="-11906" y="3000374"/>
          <a:ext cx="12199243" cy="3612789"/>
        </p:xfrm>
        <a:graphic>
          <a:graphicData uri="http://schemas.openxmlformats.org/drawingml/2006/table">
            <a:tbl>
              <a:tblPr firstRow="1" bandRow="1">
                <a:tableStyleId>{5C22544A-7EE6-4342-B048-85BDC9FD1C3A}</a:tableStyleId>
              </a:tblPr>
              <a:tblGrid>
                <a:gridCol w="2200699">
                  <a:extLst>
                    <a:ext uri="{9D8B030D-6E8A-4147-A177-3AD203B41FA5}">
                      <a16:colId xmlns:a16="http://schemas.microsoft.com/office/drawing/2014/main" val="2792330185"/>
                    </a:ext>
                  </a:extLst>
                </a:gridCol>
                <a:gridCol w="1859504">
                  <a:extLst>
                    <a:ext uri="{9D8B030D-6E8A-4147-A177-3AD203B41FA5}">
                      <a16:colId xmlns:a16="http://schemas.microsoft.com/office/drawing/2014/main" val="136402847"/>
                    </a:ext>
                  </a:extLst>
                </a:gridCol>
                <a:gridCol w="2251879">
                  <a:extLst>
                    <a:ext uri="{9D8B030D-6E8A-4147-A177-3AD203B41FA5}">
                      <a16:colId xmlns:a16="http://schemas.microsoft.com/office/drawing/2014/main" val="4042153328"/>
                    </a:ext>
                  </a:extLst>
                </a:gridCol>
                <a:gridCol w="2030104">
                  <a:extLst>
                    <a:ext uri="{9D8B030D-6E8A-4147-A177-3AD203B41FA5}">
                      <a16:colId xmlns:a16="http://schemas.microsoft.com/office/drawing/2014/main" val="2552122475"/>
                    </a:ext>
                  </a:extLst>
                </a:gridCol>
                <a:gridCol w="1740076">
                  <a:extLst>
                    <a:ext uri="{9D8B030D-6E8A-4147-A177-3AD203B41FA5}">
                      <a16:colId xmlns:a16="http://schemas.microsoft.com/office/drawing/2014/main" val="1403989370"/>
                    </a:ext>
                  </a:extLst>
                </a:gridCol>
                <a:gridCol w="2116981">
                  <a:extLst>
                    <a:ext uri="{9D8B030D-6E8A-4147-A177-3AD203B41FA5}">
                      <a16:colId xmlns:a16="http://schemas.microsoft.com/office/drawing/2014/main" val="3233010690"/>
                    </a:ext>
                  </a:extLst>
                </a:gridCol>
              </a:tblGrid>
              <a:tr h="402919">
                <a:tc>
                  <a:txBody>
                    <a:bodyPr/>
                    <a:lstStyle/>
                    <a:p>
                      <a:pPr algn="ctr"/>
                      <a:r>
                        <a:rPr lang="en-US" sz="1200" b="1" kern="1200">
                          <a:solidFill>
                            <a:schemeClr val="lt1"/>
                          </a:solidFill>
                          <a:latin typeface="+mn-lt"/>
                          <a:ea typeface="+mn-ea"/>
                          <a:cs typeface="+mn-cs"/>
                        </a:rPr>
                        <a:t>Custom BP Roles in S4HANA</a:t>
                      </a:r>
                    </a:p>
                  </a:txBody>
                  <a:tcPr anchor="ctr"/>
                </a:tc>
                <a:tc>
                  <a:txBody>
                    <a:bodyPr/>
                    <a:lstStyle/>
                    <a:p>
                      <a:pPr algn="ctr"/>
                      <a:r>
                        <a:rPr lang="en-US" sz="1200" b="1" kern="1200">
                          <a:solidFill>
                            <a:schemeClr val="lt1"/>
                          </a:solidFill>
                          <a:latin typeface="+mn-lt"/>
                          <a:ea typeface="+mn-ea"/>
                          <a:cs typeface="+mn-cs"/>
                        </a:rPr>
                        <a:t>Description</a:t>
                      </a:r>
                    </a:p>
                  </a:txBody>
                  <a:tcPr anchor="ctr"/>
                </a:tc>
                <a:tc>
                  <a:txBody>
                    <a:bodyPr/>
                    <a:lstStyle/>
                    <a:p>
                      <a:pPr lvl="0" algn="ctr">
                        <a:buNone/>
                      </a:pPr>
                      <a:r>
                        <a:rPr lang="en-US" sz="1200" b="1" i="0" u="none" strike="noStrike" kern="1200" noProof="0">
                          <a:solidFill>
                            <a:schemeClr val="lt1"/>
                          </a:solidFill>
                          <a:latin typeface="Montserrat"/>
                          <a:ea typeface="+mn-ea"/>
                          <a:cs typeface="+mn-cs"/>
                        </a:rPr>
                        <a:t>Custom BP Roles in S4HANA</a:t>
                      </a:r>
                    </a:p>
                  </a:txBody>
                  <a:tcPr anchor="ctr"/>
                </a:tc>
                <a:tc>
                  <a:txBody>
                    <a:bodyPr/>
                    <a:lstStyle/>
                    <a:p>
                      <a:pPr lvl="0" algn="ctr">
                        <a:lnSpc>
                          <a:spcPct val="100000"/>
                        </a:lnSpc>
                        <a:spcBef>
                          <a:spcPts val="0"/>
                        </a:spcBef>
                        <a:spcAft>
                          <a:spcPts val="0"/>
                        </a:spcAft>
                        <a:buNone/>
                      </a:pPr>
                      <a:r>
                        <a:rPr lang="en-US" sz="1200" b="1" i="0" u="none" strike="noStrike" kern="1200" noProof="0">
                          <a:solidFill>
                            <a:srgbClr val="FFFEFE"/>
                          </a:solidFill>
                          <a:latin typeface="Montserrat"/>
                          <a:ea typeface="+mn-ea"/>
                          <a:cs typeface="+mn-cs"/>
                        </a:rPr>
                        <a:t>Description</a:t>
                      </a:r>
                    </a:p>
                    <a:p>
                      <a:pPr lvl="0" algn="ctr">
                        <a:buNone/>
                      </a:pPr>
                      <a:endParaRPr lang="en-US" sz="1200" b="1" kern="1200">
                        <a:solidFill>
                          <a:schemeClr val="lt1"/>
                        </a:solidFill>
                        <a:latin typeface="+mn-lt"/>
                        <a:ea typeface="+mn-ea"/>
                        <a:cs typeface="+mn-cs"/>
                      </a:endParaRPr>
                    </a:p>
                  </a:txBody>
                  <a:tcPr anchor="ctr"/>
                </a:tc>
                <a:tc>
                  <a:txBody>
                    <a:bodyPr/>
                    <a:lstStyle/>
                    <a:p>
                      <a:pPr lvl="0" algn="ctr">
                        <a:buNone/>
                      </a:pPr>
                      <a:r>
                        <a:rPr lang="en-US" sz="1200" b="1" kern="1200">
                          <a:solidFill>
                            <a:schemeClr val="lt1"/>
                          </a:solidFill>
                          <a:latin typeface="+mn-lt"/>
                          <a:ea typeface="+mn-ea"/>
                          <a:cs typeface="+mn-cs"/>
                        </a:rPr>
                        <a:t>Custom BP Roles in S4HANA</a:t>
                      </a:r>
                    </a:p>
                  </a:txBody>
                  <a:tcPr anchor="ctr"/>
                </a:tc>
                <a:tc>
                  <a:txBody>
                    <a:bodyPr/>
                    <a:lstStyle/>
                    <a:p>
                      <a:pPr lvl="0" algn="ctr">
                        <a:buNone/>
                      </a:pPr>
                      <a:r>
                        <a:rPr lang="en-US" sz="1200" b="1" kern="1200">
                          <a:solidFill>
                            <a:schemeClr val="lt1"/>
                          </a:solidFill>
                          <a:latin typeface="+mn-lt"/>
                          <a:ea typeface="+mn-ea"/>
                          <a:cs typeface="+mn-cs"/>
                        </a:rPr>
                        <a:t>Description</a:t>
                      </a:r>
                    </a:p>
                  </a:txBody>
                  <a:tcPr anchor="ctr"/>
                </a:tc>
                <a:extLst>
                  <a:ext uri="{0D108BD9-81ED-4DB2-BD59-A6C34878D82A}">
                    <a16:rowId xmlns:a16="http://schemas.microsoft.com/office/drawing/2014/main" val="2065999821"/>
                  </a:ext>
                </a:extLst>
              </a:tr>
              <a:tr h="194961">
                <a:tc>
                  <a:txBody>
                    <a:bodyPr/>
                    <a:lstStyle/>
                    <a:p>
                      <a:pPr lvl="0" algn="ctr">
                        <a:buNone/>
                      </a:pPr>
                      <a:r>
                        <a:rPr lang="en-US" sz="1100" b="1" i="0" u="none" strike="noStrike" kern="1200" noProof="0">
                          <a:solidFill>
                            <a:srgbClr val="000000"/>
                          </a:solidFill>
                          <a:latin typeface="Montserrat"/>
                          <a:ea typeface="+mn-ea"/>
                          <a:cs typeface="+mn-cs"/>
                        </a:rPr>
                        <a:t>Z3PRTY</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3rd Party</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ZGASCU</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Gas Curtailment Contact</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ZROA</a:t>
                      </a: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ROA Contact</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414274974"/>
                  </a:ext>
                </a:extLst>
              </a:tr>
              <a:tr h="194961">
                <a:tc>
                  <a:txBody>
                    <a:bodyPr/>
                    <a:lstStyle/>
                    <a:p>
                      <a:pPr lvl="0" algn="ctr">
                        <a:buNone/>
                      </a:pPr>
                      <a:r>
                        <a:rPr lang="en-US" sz="1100" b="1" i="0" u="none" strike="noStrike" kern="1200" noProof="0">
                          <a:solidFill>
                            <a:srgbClr val="000000"/>
                          </a:solidFill>
                          <a:latin typeface="Montserrat"/>
                          <a:ea typeface="+mn-ea"/>
                          <a:cs typeface="+mn-cs"/>
                        </a:rPr>
                        <a:t>ZA/P</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Accts. Payable Contact</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ZGSTRS</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Gas Trans Supplier</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ZRSPTY</a:t>
                      </a: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Second Responsible Party</a:t>
                      </a:r>
                    </a:p>
                  </a:txBody>
                  <a:tcPr/>
                </a:tc>
                <a:extLst>
                  <a:ext uri="{0D108BD9-81ED-4DB2-BD59-A6C34878D82A}">
                    <a16:rowId xmlns:a16="http://schemas.microsoft.com/office/drawing/2014/main" val="3229761996"/>
                  </a:ext>
                </a:extLst>
              </a:tr>
              <a:tr h="272955">
                <a:tc>
                  <a:txBody>
                    <a:bodyPr/>
                    <a:lstStyle/>
                    <a:p>
                      <a:pPr lvl="0" algn="ctr">
                        <a:buNone/>
                      </a:pPr>
                      <a:r>
                        <a:rPr lang="en-US" sz="1100" b="1" i="0" u="none" strike="noStrike" kern="1200" noProof="0">
                          <a:solidFill>
                            <a:srgbClr val="000000"/>
                          </a:solidFill>
                          <a:latin typeface="Montserrat"/>
                          <a:ea typeface="+mn-ea"/>
                          <a:cs typeface="+mn-cs"/>
                        </a:rPr>
                        <a:t>ZABUS1</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 Business Contact1</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ZLLP01</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Landlord</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ZSUBCH</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Subsidiary/Child Co.</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3891566193"/>
                  </a:ext>
                </a:extLst>
              </a:tr>
              <a:tr h="194961">
                <a:tc>
                  <a:txBody>
                    <a:bodyPr/>
                    <a:lstStyle/>
                    <a:p>
                      <a:pPr lvl="0" algn="ctr">
                        <a:buNone/>
                      </a:pPr>
                      <a:r>
                        <a:rPr lang="en-US" sz="1100" b="1" i="0" u="none" strike="noStrike" kern="1200" noProof="0">
                          <a:solidFill>
                            <a:srgbClr val="000000"/>
                          </a:solidFill>
                          <a:latin typeface="Montserrat"/>
                          <a:ea typeface="+mn-ea"/>
                          <a:cs typeface="+mn-cs"/>
                        </a:rPr>
                        <a:t>ZABUS2</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 Business Contact2</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ZOPISS</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Operational Issues</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ZSUBDV</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Subsidiary/Corp Division</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1349095150"/>
                  </a:ext>
                </a:extLst>
              </a:tr>
              <a:tr h="194961">
                <a:tc>
                  <a:txBody>
                    <a:bodyPr/>
                    <a:lstStyle/>
                    <a:p>
                      <a:pPr lvl="0" algn="ctr">
                        <a:buNone/>
                      </a:pPr>
                      <a:r>
                        <a:rPr lang="en-US" sz="1100" b="1" i="0" u="none" strike="noStrike" kern="1200" noProof="0">
                          <a:solidFill>
                            <a:srgbClr val="000000"/>
                          </a:solidFill>
                          <a:latin typeface="Montserrat"/>
                          <a:ea typeface="+mn-ea"/>
                          <a:cs typeface="+mn-cs"/>
                        </a:rPr>
                        <a:t>ZBNKRP</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Bankruptcy Contact</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ZOUTG1</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Alternate Outage Contact1</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ZTRUST</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Trustee</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3011054916"/>
                  </a:ext>
                </a:extLst>
              </a:tr>
              <a:tr h="194961">
                <a:tc>
                  <a:txBody>
                    <a:bodyPr/>
                    <a:lstStyle/>
                    <a:p>
                      <a:pPr lvl="0" algn="ctr">
                        <a:buNone/>
                      </a:pPr>
                      <a:r>
                        <a:rPr lang="en-US" sz="1100" b="1" i="0" u="none" strike="noStrike" kern="1200" noProof="0">
                          <a:solidFill>
                            <a:srgbClr val="000000"/>
                          </a:solidFill>
                          <a:latin typeface="Montserrat"/>
                          <a:ea typeface="+mn-ea"/>
                          <a:cs typeface="+mn-cs"/>
                        </a:rPr>
                        <a:t>ZCAM</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CAM</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ZOUTG2</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Alternate Outage Contact2</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ZVLOAD</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Voluntary Load Reduction</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494181651"/>
                  </a:ext>
                </a:extLst>
              </a:tr>
              <a:tr h="324134">
                <a:tc>
                  <a:txBody>
                    <a:bodyPr/>
                    <a:lstStyle/>
                    <a:p>
                      <a:pPr lvl="0" algn="ctr">
                        <a:buNone/>
                      </a:pPr>
                      <a:r>
                        <a:rPr lang="en-US" sz="1100" b="1" i="0" u="none" strike="noStrike" kern="1200" noProof="0">
                          <a:solidFill>
                            <a:srgbClr val="000000"/>
                          </a:solidFill>
                          <a:latin typeface="Montserrat"/>
                          <a:ea typeface="+mn-ea"/>
                          <a:cs typeface="+mn-cs"/>
                        </a:rPr>
                        <a:t>ZCONT</a:t>
                      </a:r>
                      <a:endParaRPr lang="en-US" sz="1100" b="1" i="0" u="none" strike="noStrike" kern="1200">
                        <a:solidFill>
                          <a:srgbClr val="000000"/>
                        </a:solidFill>
                        <a:latin typeface="Montserrat"/>
                        <a:ea typeface="+mn-ea"/>
                        <a:cs typeface="+mn-cs"/>
                      </a:endParaRPr>
                    </a:p>
                  </a:txBody>
                  <a:tcPr anchor="ctr">
                    <a:solidFill>
                      <a:schemeClr val="accent6">
                        <a:lumMod val="40000"/>
                        <a:lumOff val="60000"/>
                      </a:schemeClr>
                    </a:solidFill>
                  </a:tcPr>
                </a:tc>
                <a:tc>
                  <a:txBody>
                    <a:bodyPr/>
                    <a:lstStyle/>
                    <a:p>
                      <a:pPr lvl="0">
                        <a:buNone/>
                      </a:pPr>
                      <a:r>
                        <a:rPr lang="en-US" sz="1100" b="0" i="0" u="none" strike="noStrike" kern="1200" noProof="0" err="1">
                          <a:solidFill>
                            <a:srgbClr val="000000"/>
                          </a:solidFill>
                          <a:latin typeface="Montserrat"/>
                          <a:ea typeface="+mn-ea"/>
                          <a:cs typeface="+mn-cs"/>
                        </a:rPr>
                        <a:t>MiscContactPerson</a:t>
                      </a:r>
                      <a:r>
                        <a:rPr lang="en-US" sz="1100" b="0" i="0" u="none" strike="noStrike" kern="1200" noProof="0">
                          <a:solidFill>
                            <a:srgbClr val="000000"/>
                          </a:solidFill>
                          <a:latin typeface="Montserrat"/>
                          <a:ea typeface="+mn-ea"/>
                          <a:cs typeface="+mn-cs"/>
                        </a:rPr>
                        <a:t>(</a:t>
                      </a:r>
                      <a:r>
                        <a:rPr lang="en-US" sz="1100" b="0" i="0" u="none" strike="noStrike" kern="1200" noProof="0" err="1">
                          <a:solidFill>
                            <a:srgbClr val="000000"/>
                          </a:solidFill>
                          <a:latin typeface="Montserrat"/>
                          <a:ea typeface="+mn-ea"/>
                          <a:cs typeface="+mn-cs"/>
                        </a:rPr>
                        <a:t>BusCtr</a:t>
                      </a:r>
                      <a:r>
                        <a:rPr lang="en-US" sz="1100" b="0" i="0" u="none" strike="noStrike" kern="1200" noProof="0">
                          <a:solidFill>
                            <a:srgbClr val="000000"/>
                          </a:solidFill>
                          <a:latin typeface="Montserrat"/>
                          <a:ea typeface="+mn-ea"/>
                          <a:cs typeface="+mn-cs"/>
                        </a:rPr>
                        <a:t>)</a:t>
                      </a:r>
                      <a:endParaRPr lang="en-US" sz="1100" b="0" i="0" u="none" strike="noStrike" kern="1200">
                        <a:solidFill>
                          <a:srgbClr val="000000"/>
                        </a:solidFill>
                        <a:latin typeface="Montserrat"/>
                        <a:ea typeface="+mn-ea"/>
                        <a:cs typeface="+mn-cs"/>
                      </a:endParaRPr>
                    </a:p>
                  </a:txBody>
                  <a:tcPr anchor="ctr"/>
                </a:tc>
                <a:tc>
                  <a:txBody>
                    <a:bodyPr/>
                    <a:lstStyle/>
                    <a:p>
                      <a:pPr lvl="0" algn="ctr">
                        <a:buNone/>
                      </a:pPr>
                      <a:r>
                        <a:rPr lang="en-US" sz="1100" b="1" i="0" u="none" strike="noStrike" kern="1200" noProof="0">
                          <a:solidFill>
                            <a:srgbClr val="000000"/>
                          </a:solidFill>
                          <a:latin typeface="Montserrat"/>
                          <a:ea typeface="+mn-ea"/>
                          <a:cs typeface="+mn-cs"/>
                        </a:rPr>
                        <a:t>ZOUTG3</a:t>
                      </a:r>
                      <a:endParaRPr lang="en-US" sz="1100" b="1" i="0" u="none" strike="noStrike" kern="1200">
                        <a:solidFill>
                          <a:srgbClr val="000000"/>
                        </a:solidFill>
                        <a:latin typeface="Montserrat"/>
                        <a:ea typeface="+mn-ea"/>
                        <a:cs typeface="+mn-cs"/>
                      </a:endParaRPr>
                    </a:p>
                  </a:txBody>
                  <a:tcPr anchor="ct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Alternate Outage Contact3</a:t>
                      </a:r>
                      <a:endParaRPr lang="en-US" sz="1100" b="0" i="0" u="none" strike="noStrike" kern="1200">
                        <a:solidFill>
                          <a:srgbClr val="000000"/>
                        </a:solidFill>
                        <a:latin typeface="Montserrat"/>
                        <a:ea typeface="+mn-ea"/>
                        <a:cs typeface="+mn-cs"/>
                      </a:endParaRPr>
                    </a:p>
                  </a:txBody>
                  <a:tcPr anchor="ctr"/>
                </a:tc>
                <a:tc>
                  <a:txBody>
                    <a:bodyPr/>
                    <a:lstStyle/>
                    <a:p>
                      <a:pPr lvl="0" algn="ctr">
                        <a:buNone/>
                      </a:pPr>
                      <a:r>
                        <a:rPr lang="en-US" sz="1100" b="1" i="0" u="none" strike="noStrike" kern="1200" noProof="0">
                          <a:solidFill>
                            <a:srgbClr val="000000"/>
                          </a:solidFill>
                          <a:latin typeface="Montserrat"/>
                          <a:ea typeface="+mn-ea"/>
                          <a:cs typeface="+mn-cs"/>
                        </a:rPr>
                        <a:t>ZPRCHD</a:t>
                      </a:r>
                      <a:endParaRPr lang="en-US" sz="1100" b="1" i="0" u="none" strike="noStrike" kern="1200">
                        <a:solidFill>
                          <a:srgbClr val="000000"/>
                        </a:solidFill>
                        <a:latin typeface="Montserrat"/>
                        <a:ea typeface="+mn-ea"/>
                        <a:cs typeface="+mn-cs"/>
                      </a:endParaRPr>
                    </a:p>
                  </a:txBody>
                  <a:tcPr anchor="ct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Parent / Child Company</a:t>
                      </a:r>
                      <a:endParaRPr lang="en-US" sz="1100" b="0" i="0" u="none" strike="noStrike" kern="1200">
                        <a:solidFill>
                          <a:srgbClr val="000000"/>
                        </a:solidFill>
                        <a:latin typeface="Montserrat"/>
                        <a:ea typeface="+mn-ea"/>
                        <a:cs typeface="+mn-cs"/>
                      </a:endParaRPr>
                    </a:p>
                  </a:txBody>
                  <a:tcPr anchor="ctr"/>
                </a:tc>
                <a:extLst>
                  <a:ext uri="{0D108BD9-81ED-4DB2-BD59-A6C34878D82A}">
                    <a16:rowId xmlns:a16="http://schemas.microsoft.com/office/drawing/2014/main" val="1937261014"/>
                  </a:ext>
                </a:extLst>
              </a:tr>
              <a:tr h="194961">
                <a:tc>
                  <a:txBody>
                    <a:bodyPr/>
                    <a:lstStyle/>
                    <a:p>
                      <a:pPr lvl="0" algn="ctr">
                        <a:buNone/>
                      </a:pPr>
                      <a:r>
                        <a:rPr lang="en-US" sz="1100" b="1" i="0" u="none" strike="noStrike" kern="1200" noProof="0">
                          <a:solidFill>
                            <a:srgbClr val="000000"/>
                          </a:solidFill>
                          <a:latin typeface="Montserrat"/>
                          <a:ea typeface="+mn-ea"/>
                          <a:cs typeface="+mn-cs"/>
                        </a:rPr>
                        <a:t>ZCOSGN</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Co-Signor</a:t>
                      </a:r>
                    </a:p>
                  </a:txBody>
                  <a:tcPr/>
                </a:tc>
                <a:tc>
                  <a:txBody>
                    <a:bodyPr/>
                    <a:lstStyle/>
                    <a:p>
                      <a:pPr lvl="0" algn="ctr">
                        <a:buNone/>
                      </a:pPr>
                      <a:r>
                        <a:rPr lang="en-US" sz="1100" b="1" i="0" u="none" strike="noStrike" kern="1200" noProof="0">
                          <a:solidFill>
                            <a:srgbClr val="000000"/>
                          </a:solidFill>
                          <a:latin typeface="Montserrat"/>
                          <a:ea typeface="+mn-ea"/>
                          <a:cs typeface="+mn-cs"/>
                        </a:rPr>
                        <a:t>ZPBUS</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Primary Business Contact</a:t>
                      </a:r>
                    </a:p>
                  </a:txBody>
                  <a:tcPr/>
                </a:tc>
                <a:tc>
                  <a:txBody>
                    <a:bodyPr/>
                    <a:lstStyle/>
                    <a:p>
                      <a:pPr lvl="0" algn="ctr">
                        <a:buNone/>
                      </a:pPr>
                      <a:r>
                        <a:rPr lang="en-US" sz="1100" b="1" i="0" u="none" strike="noStrike" kern="1200" noProof="0">
                          <a:solidFill>
                            <a:srgbClr val="000000"/>
                          </a:solidFill>
                          <a:latin typeface="Montserrat"/>
                          <a:ea typeface="+mn-ea"/>
                          <a:cs typeface="+mn-cs"/>
                        </a:rPr>
                        <a:t>ZPRDIV</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Parent / Corp. Division</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36569017"/>
                  </a:ext>
                </a:extLst>
              </a:tr>
              <a:tr h="307074">
                <a:tc>
                  <a:txBody>
                    <a:bodyPr/>
                    <a:lstStyle/>
                    <a:p>
                      <a:pPr lvl="0" algn="ctr">
                        <a:buNone/>
                      </a:pPr>
                      <a:r>
                        <a:rPr lang="en-US" sz="1100" b="1" i="0" u="none" strike="noStrike" kern="1200" noProof="0">
                          <a:solidFill>
                            <a:srgbClr val="000000"/>
                          </a:solidFill>
                          <a:latin typeface="Montserrat"/>
                          <a:ea typeface="+mn-ea"/>
                          <a:cs typeface="+mn-cs"/>
                        </a:rPr>
                        <a:t>ZDIVCH</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Corp Division / Child Co.</a:t>
                      </a:r>
                    </a:p>
                  </a:txBody>
                  <a:tcPr/>
                </a:tc>
                <a:tc>
                  <a:txBody>
                    <a:bodyPr/>
                    <a:lstStyle/>
                    <a:p>
                      <a:pPr lvl="0" algn="ctr">
                        <a:lnSpc>
                          <a:spcPct val="100000"/>
                        </a:lnSpc>
                        <a:spcBef>
                          <a:spcPts val="0"/>
                        </a:spcBef>
                        <a:spcAft>
                          <a:spcPts val="0"/>
                        </a:spcAft>
                        <a:buNone/>
                      </a:pPr>
                      <a:r>
                        <a:rPr lang="en-US" sz="1100" b="1" i="0" u="none" strike="noStrike" kern="1200" noProof="0">
                          <a:solidFill>
                            <a:srgbClr val="000000"/>
                          </a:solidFill>
                          <a:latin typeface="Montserrat"/>
                          <a:ea typeface="+mn-ea"/>
                          <a:cs typeface="+mn-cs"/>
                        </a:rPr>
                        <a:t>ZOUTGE</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Primary Outage Contact</a:t>
                      </a:r>
                    </a:p>
                  </a:txBody>
                  <a:tcPr/>
                </a:tc>
                <a:tc>
                  <a:txBody>
                    <a:bodyPr/>
                    <a:lstStyle/>
                    <a:p>
                      <a:pPr lvl="0" algn="ctr">
                        <a:lnSpc>
                          <a:spcPct val="100000"/>
                        </a:lnSpc>
                        <a:spcBef>
                          <a:spcPts val="0"/>
                        </a:spcBef>
                        <a:spcAft>
                          <a:spcPts val="0"/>
                        </a:spcAft>
                        <a:buNone/>
                      </a:pPr>
                      <a:r>
                        <a:rPr lang="en-US" sz="1100" b="1" i="0" u="none" strike="noStrike" kern="1200" noProof="0">
                          <a:solidFill>
                            <a:srgbClr val="000000"/>
                          </a:solidFill>
                          <a:latin typeface="Montserrat"/>
                          <a:ea typeface="+mn-ea"/>
                          <a:cs typeface="+mn-cs"/>
                        </a:rPr>
                        <a:t>ZFRCHZ</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Franchise</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10149700"/>
                  </a:ext>
                </a:extLst>
              </a:tr>
              <a:tr h="255895">
                <a:tc>
                  <a:txBody>
                    <a:bodyPr/>
                    <a:lstStyle/>
                    <a:p>
                      <a:pPr lvl="0" algn="ctr">
                        <a:buNone/>
                      </a:pPr>
                      <a:r>
                        <a:rPr lang="en-US" sz="1100" b="1" i="0" u="none" strike="noStrike" kern="1200" noProof="0">
                          <a:solidFill>
                            <a:srgbClr val="000000"/>
                          </a:solidFill>
                          <a:latin typeface="Montserrat"/>
                          <a:ea typeface="+mn-ea"/>
                          <a:cs typeface="+mn-cs"/>
                        </a:rPr>
                        <a:t>ZFIMGR</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Financial Manager</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ZPOFA</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Power of Attorney</a:t>
                      </a:r>
                      <a:endParaRPr lang="en-US" sz="1100" b="0" i="0" u="none" strike="noStrike" kern="1200">
                        <a:solidFill>
                          <a:srgbClr val="000000"/>
                        </a:solidFill>
                        <a:latin typeface="Montserrat"/>
                        <a:ea typeface="+mn-ea"/>
                        <a:cs typeface="+mn-cs"/>
                      </a:endParaRPr>
                    </a:p>
                  </a:txBody>
                  <a:tcPr/>
                </a:tc>
                <a:tc>
                  <a:txBody>
                    <a:bodyPr/>
                    <a:lstStyle/>
                    <a:p>
                      <a:pPr lvl="0" algn="ctr">
                        <a:buNone/>
                      </a:pPr>
                      <a:r>
                        <a:rPr lang="en-US" sz="1100" b="1" i="0" u="none" strike="noStrike" kern="1200" noProof="0">
                          <a:solidFill>
                            <a:srgbClr val="000000"/>
                          </a:solidFill>
                          <a:latin typeface="Montserrat"/>
                          <a:ea typeface="+mn-ea"/>
                          <a:cs typeface="+mn-cs"/>
                        </a:rPr>
                        <a:t>ZPRSUB</a:t>
                      </a:r>
                      <a:endParaRPr lang="en-US" sz="1100" b="1" i="0" u="none" strike="noStrike" kern="1200">
                        <a:solidFill>
                          <a:srgbClr val="000000"/>
                        </a:solidFill>
                        <a:latin typeface="Montserrat"/>
                        <a:ea typeface="+mn-ea"/>
                        <a:cs typeface="+mn-cs"/>
                      </a:endParaRPr>
                    </a:p>
                  </a:txBody>
                  <a:tcPr>
                    <a:solidFill>
                      <a:schemeClr val="accent6">
                        <a:lumMod val="40000"/>
                        <a:lumOff val="60000"/>
                      </a:schemeClr>
                    </a:solidFill>
                  </a:tcPr>
                </a:tc>
                <a:tc>
                  <a:txBody>
                    <a:bodyPr/>
                    <a:lstStyle/>
                    <a:p>
                      <a:pPr lvl="0">
                        <a:buNone/>
                      </a:pPr>
                      <a:r>
                        <a:rPr lang="en-US" sz="1100" b="0" i="0" u="none" strike="noStrike" kern="1200" noProof="0">
                          <a:solidFill>
                            <a:srgbClr val="000000"/>
                          </a:solidFill>
                          <a:latin typeface="Montserrat"/>
                          <a:ea typeface="+mn-ea"/>
                          <a:cs typeface="+mn-cs"/>
                        </a:rPr>
                        <a:t>Parent / Subsidiary</a:t>
                      </a:r>
                      <a:endParaRPr lang="en-US" sz="1100" b="0" i="0" u="none" strike="noStrike" kern="1200">
                        <a:solidFill>
                          <a:srgbClr val="000000"/>
                        </a:solidFill>
                        <a:latin typeface="Montserrat"/>
                        <a:ea typeface="+mn-ea"/>
                        <a:cs typeface="+mn-cs"/>
                      </a:endParaRPr>
                    </a:p>
                  </a:txBody>
                  <a:tcPr/>
                </a:tc>
                <a:extLst>
                  <a:ext uri="{0D108BD9-81ED-4DB2-BD59-A6C34878D82A}">
                    <a16:rowId xmlns:a16="http://schemas.microsoft.com/office/drawing/2014/main" val="736552222"/>
                  </a:ext>
                </a:extLst>
              </a:tr>
            </a:tbl>
          </a:graphicData>
        </a:graphic>
      </p:graphicFrame>
      <p:sp>
        <p:nvSpPr>
          <p:cNvPr id="8" name="TextBox 7">
            <a:extLst>
              <a:ext uri="{FF2B5EF4-FFF2-40B4-BE49-F238E27FC236}">
                <a16:creationId xmlns:a16="http://schemas.microsoft.com/office/drawing/2014/main" id="{F396E990-83E8-68C0-70CE-FC690B98AB01}"/>
              </a:ext>
            </a:extLst>
          </p:cNvPr>
          <p:cNvSpPr txBox="1"/>
          <p:nvPr/>
        </p:nvSpPr>
        <p:spPr>
          <a:xfrm>
            <a:off x="8040" y="846760"/>
            <a:ext cx="12196759" cy="2154436"/>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Montserrat"/>
              </a:rPr>
              <a:t>Business Partner Relationships are used to model relationships between one business partner and another. Different relationship categories define the type of relationship between the business partners. Relationship categories will be different between person business partner categories and organization business partner categories. For example, person business partner could be spouses, parent/minor, or roommates. Whereas a person and an organization business partner could have a contact person relationship, such as an office manager or account manager. In addition to relationship category, time restrictions,(i.e., validity start and end dates) will also be captured when maintaining the relationship in the S4HANA system. A Business Partner can have multiple relationships of the same category (e.g., an organization could have five contact persons).  </a:t>
            </a:r>
            <a:endParaRPr lang="en-US" sz="1100"/>
          </a:p>
          <a:p>
            <a:endParaRPr lang="en-US" sz="1100">
              <a:latin typeface="Montserrat"/>
            </a:endParaRPr>
          </a:p>
          <a:p>
            <a:r>
              <a:rPr lang="en-US" sz="1100">
                <a:latin typeface="Montserrat"/>
              </a:rPr>
              <a:t>Consumers has 77 Business Partner Relationship Categories in CRM7and 45 Business Partner Relationship Categories in S4HANA</a:t>
            </a:r>
            <a:r>
              <a:rPr lang="en-US" sz="1400">
                <a:latin typeface="Montserrat"/>
              </a:rPr>
              <a:t>. </a:t>
            </a:r>
            <a:r>
              <a:rPr lang="en-US" sz="1100">
                <a:latin typeface="Montserrat"/>
              </a:rPr>
              <a:t>SAP offers standard business partner categories and configuration for business partner relationship categories. The following custom business partner relationship will be used at Consumers. </a:t>
            </a:r>
            <a:r>
              <a:rPr lang="en-US" sz="1100" b="1">
                <a:latin typeface="Montserrat"/>
              </a:rPr>
              <a:t>Service Cloud v2 will be configured with the 45 Business Partner Relationship categories maintained in S4HANA. The existing relationship categories that are not mapped currently will be examined if there is any negative impact to data migration. The following custom business partner relationship will be used at Consumers. </a:t>
            </a:r>
            <a:endParaRPr lang="en-US" sz="1100" b="1"/>
          </a:p>
          <a:p>
            <a:endParaRPr lang="en-US" sz="1000" b="1">
              <a:latin typeface="Montserrat"/>
            </a:endParaRPr>
          </a:p>
        </p:txBody>
      </p:sp>
    </p:spTree>
    <p:extLst>
      <p:ext uri="{BB962C8B-B14F-4D97-AF65-F5344CB8AC3E}">
        <p14:creationId xmlns:p14="http://schemas.microsoft.com/office/powerpoint/2010/main" val="508357073"/>
      </p:ext>
    </p:extLst>
  </p:cSld>
  <p:clrMapOvr>
    <a:masterClrMapping/>
  </p:clrMapOvr>
  <p:extLst>
    <p:ext uri="{6950BFC3-D8DA-4A85-94F7-54DA5524770B}">
      <p188:commentRel xmlns:p188="http://schemas.microsoft.com/office/powerpoint/2018/8/main" r:id="rId2"/>
    </p:ext>
  </p:extLs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F39A-1030-DE8A-8852-B14A7DDE7219}"/>
              </a:ext>
            </a:extLst>
          </p:cNvPr>
          <p:cNvSpPr>
            <a:spLocks noGrp="1"/>
          </p:cNvSpPr>
          <p:nvPr>
            <p:ph type="title"/>
          </p:nvPr>
        </p:nvSpPr>
        <p:spPr>
          <a:xfrm>
            <a:off x="212122" y="3584"/>
            <a:ext cx="11293033" cy="715663"/>
          </a:xfrm>
        </p:spPr>
        <p:txBody>
          <a:bodyPr anchor="ctr">
            <a:normAutofit fontScale="90000"/>
          </a:bodyPr>
          <a:lstStyle/>
          <a:p>
            <a:r>
              <a:rPr lang="en-US">
                <a:latin typeface="Montserrat"/>
              </a:rPr>
              <a:t>BP Relationships Categories in S4HANA </a:t>
            </a:r>
            <a:endParaRPr lang="en-US"/>
          </a:p>
        </p:txBody>
      </p:sp>
      <p:graphicFrame>
        <p:nvGraphicFramePr>
          <p:cNvPr id="7" name="Table 6">
            <a:extLst>
              <a:ext uri="{FF2B5EF4-FFF2-40B4-BE49-F238E27FC236}">
                <a16:creationId xmlns:a16="http://schemas.microsoft.com/office/drawing/2014/main" id="{3C531A11-6541-0552-362D-D9F32ED33B64}"/>
              </a:ext>
            </a:extLst>
          </p:cNvPr>
          <p:cNvGraphicFramePr>
            <a:graphicFrameLocks noGrp="1"/>
          </p:cNvGraphicFramePr>
          <p:nvPr/>
        </p:nvGraphicFramePr>
        <p:xfrm>
          <a:off x="209637" y="774612"/>
          <a:ext cx="4291747" cy="4064928"/>
        </p:xfrm>
        <a:graphic>
          <a:graphicData uri="http://schemas.openxmlformats.org/drawingml/2006/table">
            <a:tbl>
              <a:tblPr firstRow="1" bandRow="1">
                <a:tableStyleId>{6E25E649-3F16-4E02-A733-19D2CDBF48F0}</a:tableStyleId>
              </a:tblPr>
              <a:tblGrid>
                <a:gridCol w="1804412">
                  <a:extLst>
                    <a:ext uri="{9D8B030D-6E8A-4147-A177-3AD203B41FA5}">
                      <a16:colId xmlns:a16="http://schemas.microsoft.com/office/drawing/2014/main" val="1612380274"/>
                    </a:ext>
                  </a:extLst>
                </a:gridCol>
                <a:gridCol w="2487335">
                  <a:extLst>
                    <a:ext uri="{9D8B030D-6E8A-4147-A177-3AD203B41FA5}">
                      <a16:colId xmlns:a16="http://schemas.microsoft.com/office/drawing/2014/main" val="1939426159"/>
                    </a:ext>
                  </a:extLst>
                </a:gridCol>
              </a:tblGrid>
              <a:tr h="376947">
                <a:tc>
                  <a:txBody>
                    <a:bodyPr/>
                    <a:lstStyle/>
                    <a:p>
                      <a:pPr>
                        <a:buNone/>
                      </a:pPr>
                      <a:r>
                        <a:rPr lang="en-US" sz="1000" b="1">
                          <a:effectLst/>
                        </a:rPr>
                        <a:t>Relationship Category</a:t>
                      </a:r>
                    </a:p>
                  </a:txBody>
                  <a:tcPr anchor="ctr"/>
                </a:tc>
                <a:tc>
                  <a:txBody>
                    <a:bodyPr/>
                    <a:lstStyle/>
                    <a:p>
                      <a:pPr>
                        <a:buNone/>
                      </a:pPr>
                      <a:r>
                        <a:rPr lang="en-US" sz="1000" b="1">
                          <a:effectLst/>
                        </a:rPr>
                        <a:t>Description</a:t>
                      </a:r>
                    </a:p>
                  </a:txBody>
                  <a:tcPr anchor="ctr"/>
                </a:tc>
                <a:extLst>
                  <a:ext uri="{0D108BD9-81ED-4DB2-BD59-A6C34878D82A}">
                    <a16:rowId xmlns:a16="http://schemas.microsoft.com/office/drawing/2014/main" val="2303786335"/>
                  </a:ext>
                </a:extLst>
              </a:tr>
              <a:tr h="232820">
                <a:tc>
                  <a:txBody>
                    <a:bodyPr/>
                    <a:lstStyle/>
                    <a:p>
                      <a:pPr>
                        <a:buNone/>
                      </a:pPr>
                      <a:r>
                        <a:rPr lang="en-US" sz="1000" b="0">
                          <a:effectLst/>
                        </a:rPr>
                        <a:t>BUR001</a:t>
                      </a:r>
                    </a:p>
                  </a:txBody>
                  <a:tcPr anchor="ctr"/>
                </a:tc>
                <a:tc>
                  <a:txBody>
                    <a:bodyPr/>
                    <a:lstStyle/>
                    <a:p>
                      <a:pPr>
                        <a:buNone/>
                      </a:pPr>
                      <a:r>
                        <a:rPr lang="en-US" sz="1000" b="0"/>
                        <a:t>Has Contact Person</a:t>
                      </a:r>
                    </a:p>
                  </a:txBody>
                  <a:tcPr anchor="ctr"/>
                </a:tc>
                <a:extLst>
                  <a:ext uri="{0D108BD9-81ED-4DB2-BD59-A6C34878D82A}">
                    <a16:rowId xmlns:a16="http://schemas.microsoft.com/office/drawing/2014/main" val="1109438910"/>
                  </a:ext>
                </a:extLst>
              </a:tr>
              <a:tr h="232820">
                <a:tc>
                  <a:txBody>
                    <a:bodyPr/>
                    <a:lstStyle/>
                    <a:p>
                      <a:pPr>
                        <a:buNone/>
                      </a:pPr>
                      <a:r>
                        <a:rPr lang="en-US" sz="1000" b="0">
                          <a:effectLst/>
                        </a:rPr>
                        <a:t>BUR002</a:t>
                      </a:r>
                    </a:p>
                  </a:txBody>
                  <a:tcPr anchor="ctr"/>
                </a:tc>
                <a:tc>
                  <a:txBody>
                    <a:bodyPr/>
                    <a:lstStyle/>
                    <a:p>
                      <a:pPr>
                        <a:buNone/>
                      </a:pPr>
                      <a:r>
                        <a:rPr lang="en-US" sz="1000" b="0"/>
                        <a:t>Has Activity Partner</a:t>
                      </a:r>
                    </a:p>
                  </a:txBody>
                  <a:tcPr anchor="ctr"/>
                </a:tc>
                <a:extLst>
                  <a:ext uri="{0D108BD9-81ED-4DB2-BD59-A6C34878D82A}">
                    <a16:rowId xmlns:a16="http://schemas.microsoft.com/office/drawing/2014/main" val="3422357598"/>
                  </a:ext>
                </a:extLst>
              </a:tr>
              <a:tr h="376947">
                <a:tc>
                  <a:txBody>
                    <a:bodyPr/>
                    <a:lstStyle/>
                    <a:p>
                      <a:pPr>
                        <a:buNone/>
                      </a:pPr>
                      <a:r>
                        <a:rPr lang="en-US" sz="1000" b="0">
                          <a:effectLst/>
                        </a:rPr>
                        <a:t>BUR003</a:t>
                      </a:r>
                    </a:p>
                  </a:txBody>
                  <a:tcPr anchor="ctr"/>
                </a:tc>
                <a:tc>
                  <a:txBody>
                    <a:bodyPr/>
                    <a:lstStyle/>
                    <a:p>
                      <a:pPr>
                        <a:buNone/>
                      </a:pPr>
                      <a:r>
                        <a:rPr lang="en-US" sz="1000" b="0"/>
                        <a:t>Has Shared Living Arrangement Member</a:t>
                      </a:r>
                    </a:p>
                  </a:txBody>
                  <a:tcPr anchor="ctr"/>
                </a:tc>
                <a:extLst>
                  <a:ext uri="{0D108BD9-81ED-4DB2-BD59-A6C34878D82A}">
                    <a16:rowId xmlns:a16="http://schemas.microsoft.com/office/drawing/2014/main" val="3497106244"/>
                  </a:ext>
                </a:extLst>
              </a:tr>
              <a:tr h="232820">
                <a:tc>
                  <a:txBody>
                    <a:bodyPr/>
                    <a:lstStyle/>
                    <a:p>
                      <a:pPr>
                        <a:buNone/>
                      </a:pPr>
                      <a:r>
                        <a:rPr lang="en-US" sz="1000" b="0">
                          <a:effectLst/>
                        </a:rPr>
                        <a:t>BUR004</a:t>
                      </a:r>
                    </a:p>
                  </a:txBody>
                  <a:tcPr anchor="ctr"/>
                </a:tc>
                <a:tc>
                  <a:txBody>
                    <a:bodyPr/>
                    <a:lstStyle/>
                    <a:p>
                      <a:pPr>
                        <a:buNone/>
                      </a:pPr>
                      <a:r>
                        <a:rPr lang="en-US" sz="1000" b="0"/>
                        <a:t>Is Married To</a:t>
                      </a:r>
                    </a:p>
                  </a:txBody>
                  <a:tcPr anchor="ctr"/>
                </a:tc>
                <a:extLst>
                  <a:ext uri="{0D108BD9-81ED-4DB2-BD59-A6C34878D82A}">
                    <a16:rowId xmlns:a16="http://schemas.microsoft.com/office/drawing/2014/main" val="1463648097"/>
                  </a:ext>
                </a:extLst>
              </a:tr>
              <a:tr h="232820">
                <a:tc>
                  <a:txBody>
                    <a:bodyPr/>
                    <a:lstStyle/>
                    <a:p>
                      <a:pPr lvl="0">
                        <a:buNone/>
                      </a:pPr>
                      <a:r>
                        <a:rPr lang="en-US" sz="1000" b="0">
                          <a:effectLst/>
                        </a:rPr>
                        <a:t>BUR011</a:t>
                      </a:r>
                      <a:endParaRPr lang="en-US"/>
                    </a:p>
                  </a:txBody>
                  <a:tcPr anchor="ctr"/>
                </a:tc>
                <a:tc>
                  <a:txBody>
                    <a:bodyPr/>
                    <a:lstStyle/>
                    <a:p>
                      <a:pPr lvl="0">
                        <a:buNone/>
                      </a:pPr>
                      <a:r>
                        <a:rPr lang="en-US" sz="1000" b="0"/>
                        <a:t>Has the Employee Responsible</a:t>
                      </a:r>
                      <a:endParaRPr lang="en-US"/>
                    </a:p>
                  </a:txBody>
                  <a:tcPr anchor="ctr"/>
                </a:tc>
                <a:extLst>
                  <a:ext uri="{0D108BD9-81ED-4DB2-BD59-A6C34878D82A}">
                    <a16:rowId xmlns:a16="http://schemas.microsoft.com/office/drawing/2014/main" val="2012842152"/>
                  </a:ext>
                </a:extLst>
              </a:tr>
              <a:tr h="232820">
                <a:tc>
                  <a:txBody>
                    <a:bodyPr/>
                    <a:lstStyle/>
                    <a:p>
                      <a:pPr lvl="0">
                        <a:buNone/>
                      </a:pPr>
                      <a:r>
                        <a:rPr lang="en-US" sz="1000" b="0">
                          <a:effectLst/>
                        </a:rPr>
                        <a:t>BUR013</a:t>
                      </a:r>
                      <a:endParaRPr lang="en-US"/>
                    </a:p>
                  </a:txBody>
                  <a:tcPr anchor="ctr"/>
                </a:tc>
                <a:tc>
                  <a:txBody>
                    <a:bodyPr/>
                    <a:lstStyle/>
                    <a:p>
                      <a:pPr lvl="0">
                        <a:buNone/>
                      </a:pPr>
                      <a:r>
                        <a:rPr lang="en-US" sz="1000" b="0"/>
                        <a:t>Is Replaced By</a:t>
                      </a:r>
                      <a:endParaRPr lang="en-US"/>
                    </a:p>
                  </a:txBody>
                  <a:tcPr anchor="ctr"/>
                </a:tc>
                <a:extLst>
                  <a:ext uri="{0D108BD9-81ED-4DB2-BD59-A6C34878D82A}">
                    <a16:rowId xmlns:a16="http://schemas.microsoft.com/office/drawing/2014/main" val="3910469361"/>
                  </a:ext>
                </a:extLst>
              </a:tr>
              <a:tr h="251847">
                <a:tc>
                  <a:txBody>
                    <a:bodyPr/>
                    <a:lstStyle/>
                    <a:p>
                      <a:pPr lvl="0">
                        <a:buNone/>
                      </a:pPr>
                      <a:r>
                        <a:rPr lang="en-US" sz="1000" b="0">
                          <a:effectLst/>
                        </a:rPr>
                        <a:t>BUR025</a:t>
                      </a:r>
                    </a:p>
                  </a:txBody>
                  <a:tcPr anchor="ctr"/>
                </a:tc>
                <a:tc>
                  <a:txBody>
                    <a:bodyPr/>
                    <a:lstStyle/>
                    <a:p>
                      <a:pPr lvl="0">
                        <a:buNone/>
                      </a:pPr>
                      <a:r>
                        <a:rPr lang="en-US" sz="1000" b="0"/>
                        <a:t>Is Inspector Of</a:t>
                      </a:r>
                    </a:p>
                  </a:txBody>
                  <a:tcPr anchor="ctr"/>
                </a:tc>
                <a:extLst>
                  <a:ext uri="{0D108BD9-81ED-4DB2-BD59-A6C34878D82A}">
                    <a16:rowId xmlns:a16="http://schemas.microsoft.com/office/drawing/2014/main" val="906615534"/>
                  </a:ext>
                </a:extLst>
              </a:tr>
              <a:tr h="232820">
                <a:tc>
                  <a:txBody>
                    <a:bodyPr/>
                    <a:lstStyle/>
                    <a:p>
                      <a:pPr lvl="0">
                        <a:buNone/>
                      </a:pPr>
                      <a:r>
                        <a:rPr lang="en-US" sz="1000" b="0">
                          <a:effectLst/>
                        </a:rPr>
                        <a:t>BUR998</a:t>
                      </a:r>
                    </a:p>
                  </a:txBody>
                  <a:tcPr anchor="ctr"/>
                </a:tc>
                <a:tc>
                  <a:txBody>
                    <a:bodyPr/>
                    <a:lstStyle/>
                    <a:p>
                      <a:pPr lvl="0">
                        <a:buNone/>
                      </a:pPr>
                      <a:r>
                        <a:rPr lang="en-US" sz="1000" b="0"/>
                        <a:t>Is Partner of</a:t>
                      </a:r>
                    </a:p>
                  </a:txBody>
                  <a:tcPr anchor="ctr"/>
                </a:tc>
                <a:extLst>
                  <a:ext uri="{0D108BD9-81ED-4DB2-BD59-A6C34878D82A}">
                    <a16:rowId xmlns:a16="http://schemas.microsoft.com/office/drawing/2014/main" val="1258813571"/>
                  </a:ext>
                </a:extLst>
              </a:tr>
              <a:tr h="232820">
                <a:tc>
                  <a:txBody>
                    <a:bodyPr/>
                    <a:lstStyle/>
                    <a:p>
                      <a:pPr lvl="0">
                        <a:buNone/>
                      </a:pPr>
                      <a:r>
                        <a:rPr lang="en-US" sz="1000" b="0">
                          <a:effectLst/>
                        </a:rPr>
                        <a:t>BURC01</a:t>
                      </a:r>
                      <a:endParaRPr lang="en-US"/>
                    </a:p>
                  </a:txBody>
                  <a:tcPr anchor="ctr"/>
                </a:tc>
                <a:tc>
                  <a:txBody>
                    <a:bodyPr/>
                    <a:lstStyle/>
                    <a:p>
                      <a:pPr lvl="0">
                        <a:buNone/>
                      </a:pPr>
                      <a:r>
                        <a:rPr lang="en-US" sz="1000" b="0"/>
                        <a:t>Is Shareholder Of</a:t>
                      </a:r>
                      <a:endParaRPr lang="en-US"/>
                    </a:p>
                  </a:txBody>
                  <a:tcPr anchor="ctr"/>
                </a:tc>
                <a:extLst>
                  <a:ext uri="{0D108BD9-81ED-4DB2-BD59-A6C34878D82A}">
                    <a16:rowId xmlns:a16="http://schemas.microsoft.com/office/drawing/2014/main" val="1045604235"/>
                  </a:ext>
                </a:extLst>
              </a:tr>
              <a:tr h="232820">
                <a:tc>
                  <a:txBody>
                    <a:bodyPr/>
                    <a:lstStyle/>
                    <a:p>
                      <a:pPr lvl="0">
                        <a:buNone/>
                      </a:pPr>
                      <a:r>
                        <a:rPr lang="en-US" sz="1000" b="0">
                          <a:effectLst/>
                        </a:rPr>
                        <a:t>CHM001</a:t>
                      </a:r>
                      <a:endParaRPr lang="en-US"/>
                    </a:p>
                  </a:txBody>
                  <a:tcPr anchor="ctr"/>
                </a:tc>
                <a:tc>
                  <a:txBody>
                    <a:bodyPr/>
                    <a:lstStyle/>
                    <a:p>
                      <a:pPr lvl="0">
                        <a:buNone/>
                      </a:pPr>
                      <a:r>
                        <a:rPr lang="en-US" sz="1000" b="0"/>
                        <a:t>Responsible for Channel Partner</a:t>
                      </a:r>
                      <a:endParaRPr lang="en-US"/>
                    </a:p>
                  </a:txBody>
                  <a:tcPr anchor="ctr"/>
                </a:tc>
                <a:extLst>
                  <a:ext uri="{0D108BD9-81ED-4DB2-BD59-A6C34878D82A}">
                    <a16:rowId xmlns:a16="http://schemas.microsoft.com/office/drawing/2014/main" val="3766656216"/>
                  </a:ext>
                </a:extLst>
              </a:tr>
              <a:tr h="232820">
                <a:tc>
                  <a:txBody>
                    <a:bodyPr/>
                    <a:lstStyle/>
                    <a:p>
                      <a:pPr lvl="0">
                        <a:buNone/>
                      </a:pPr>
                      <a:r>
                        <a:rPr lang="en-US" sz="1000" b="0">
                          <a:effectLst/>
                        </a:rPr>
                        <a:t>CRMS03</a:t>
                      </a:r>
                      <a:endParaRPr lang="en-US"/>
                    </a:p>
                  </a:txBody>
                  <a:tcPr anchor="ctr"/>
                </a:tc>
                <a:tc>
                  <a:txBody>
                    <a:bodyPr/>
                    <a:lstStyle/>
                    <a:p>
                      <a:pPr lvl="0">
                        <a:buNone/>
                      </a:pPr>
                      <a:r>
                        <a:rPr lang="en-US" sz="1000" b="0"/>
                        <a:t>Is the Responsible Scrapper For</a:t>
                      </a:r>
                      <a:endParaRPr lang="en-US"/>
                    </a:p>
                  </a:txBody>
                  <a:tcPr anchor="ctr"/>
                </a:tc>
                <a:extLst>
                  <a:ext uri="{0D108BD9-81ED-4DB2-BD59-A6C34878D82A}">
                    <a16:rowId xmlns:a16="http://schemas.microsoft.com/office/drawing/2014/main" val="2465633610"/>
                  </a:ext>
                </a:extLst>
              </a:tr>
              <a:tr h="232820">
                <a:tc>
                  <a:txBody>
                    <a:bodyPr/>
                    <a:lstStyle/>
                    <a:p>
                      <a:pPr lvl="0">
                        <a:buNone/>
                      </a:pPr>
                      <a:r>
                        <a:rPr lang="en-US" sz="1000" b="0">
                          <a:effectLst/>
                        </a:rPr>
                        <a:t>EDO001</a:t>
                      </a:r>
                      <a:endParaRPr lang="en-US"/>
                    </a:p>
                  </a:txBody>
                  <a:tcPr anchor="ctr"/>
                </a:tc>
                <a:tc>
                  <a:txBody>
                    <a:bodyPr/>
                    <a:lstStyle/>
                    <a:p>
                      <a:pPr lvl="0">
                        <a:buNone/>
                      </a:pPr>
                      <a:r>
                        <a:rPr lang="en-US" sz="1000" b="0"/>
                        <a:t>Singapore: Has </a:t>
                      </a:r>
                      <a:r>
                        <a:rPr lang="en-US" sz="1000" b="0" err="1"/>
                        <a:t>Peppol</a:t>
                      </a:r>
                      <a:r>
                        <a:rPr lang="en-US" sz="1000" b="0"/>
                        <a:t> Endpoint ID</a:t>
                      </a:r>
                      <a:endParaRPr lang="en-US"/>
                    </a:p>
                  </a:txBody>
                  <a:tcPr anchor="ctr"/>
                </a:tc>
                <a:extLst>
                  <a:ext uri="{0D108BD9-81ED-4DB2-BD59-A6C34878D82A}">
                    <a16:rowId xmlns:a16="http://schemas.microsoft.com/office/drawing/2014/main" val="3631960704"/>
                  </a:ext>
                </a:extLst>
              </a:tr>
              <a:tr h="376947">
                <a:tc>
                  <a:txBody>
                    <a:bodyPr/>
                    <a:lstStyle/>
                    <a:p>
                      <a:pPr lvl="0">
                        <a:buNone/>
                      </a:pPr>
                      <a:r>
                        <a:rPr lang="en-US" sz="1000" b="0">
                          <a:effectLst/>
                        </a:rPr>
                        <a:t>FS0030</a:t>
                      </a:r>
                      <a:endParaRPr lang="en-US"/>
                    </a:p>
                  </a:txBody>
                  <a:tcPr anchor="ctr"/>
                </a:tc>
                <a:tc>
                  <a:txBody>
                    <a:bodyPr/>
                    <a:lstStyle/>
                    <a:p>
                      <a:pPr lvl="0">
                        <a:buNone/>
                      </a:pPr>
                      <a:r>
                        <a:rPr lang="en-US" sz="1000" b="0"/>
                        <a:t>Borrower Entity Member</a:t>
                      </a:r>
                      <a:endParaRPr lang="en-US"/>
                    </a:p>
                  </a:txBody>
                  <a:tcPr anchor="ctr"/>
                </a:tc>
                <a:extLst>
                  <a:ext uri="{0D108BD9-81ED-4DB2-BD59-A6C34878D82A}">
                    <a16:rowId xmlns:a16="http://schemas.microsoft.com/office/drawing/2014/main" val="59291135"/>
                  </a:ext>
                </a:extLst>
              </a:tr>
              <a:tr h="232820">
                <a:tc>
                  <a:txBody>
                    <a:bodyPr/>
                    <a:lstStyle/>
                    <a:p>
                      <a:pPr lvl="0">
                        <a:buNone/>
                      </a:pPr>
                      <a:r>
                        <a:rPr lang="en-US" sz="1000" b="0">
                          <a:effectLst/>
                        </a:rPr>
                        <a:t>HEA010</a:t>
                      </a:r>
                      <a:endParaRPr lang="en-US"/>
                    </a:p>
                  </a:txBody>
                  <a:tcPr anchor="ctr"/>
                </a:tc>
                <a:tc>
                  <a:txBody>
                    <a:bodyPr/>
                    <a:lstStyle/>
                    <a:p>
                      <a:pPr lvl="0">
                        <a:buNone/>
                      </a:pPr>
                      <a:r>
                        <a:rPr lang="en-US" sz="1000" b="0"/>
                        <a:t>Has Hospital Employee</a:t>
                      </a:r>
                      <a:endParaRPr lang="en-US"/>
                    </a:p>
                  </a:txBody>
                  <a:tcPr anchor="ctr"/>
                </a:tc>
                <a:extLst>
                  <a:ext uri="{0D108BD9-81ED-4DB2-BD59-A6C34878D82A}">
                    <a16:rowId xmlns:a16="http://schemas.microsoft.com/office/drawing/2014/main" val="1033772136"/>
                  </a:ext>
                </a:extLst>
              </a:tr>
            </a:tbl>
          </a:graphicData>
        </a:graphic>
      </p:graphicFrame>
      <p:graphicFrame>
        <p:nvGraphicFramePr>
          <p:cNvPr id="8" name="Table 7">
            <a:extLst>
              <a:ext uri="{FF2B5EF4-FFF2-40B4-BE49-F238E27FC236}">
                <a16:creationId xmlns:a16="http://schemas.microsoft.com/office/drawing/2014/main" id="{B6FE1698-8D8A-0320-6D3A-DEBC66B1D6A1}"/>
              </a:ext>
            </a:extLst>
          </p:cNvPr>
          <p:cNvGraphicFramePr>
            <a:graphicFrameLocks noGrp="1"/>
          </p:cNvGraphicFramePr>
          <p:nvPr/>
        </p:nvGraphicFramePr>
        <p:xfrm>
          <a:off x="4673854" y="1193752"/>
          <a:ext cx="3800537" cy="3963744"/>
        </p:xfrm>
        <a:graphic>
          <a:graphicData uri="http://schemas.openxmlformats.org/drawingml/2006/table">
            <a:tbl>
              <a:tblPr bandRow="1">
                <a:tableStyleId>{6E25E649-3F16-4E02-A733-19D2CDBF48F0}</a:tableStyleId>
              </a:tblPr>
              <a:tblGrid>
                <a:gridCol w="1084973">
                  <a:extLst>
                    <a:ext uri="{9D8B030D-6E8A-4147-A177-3AD203B41FA5}">
                      <a16:colId xmlns:a16="http://schemas.microsoft.com/office/drawing/2014/main" val="1612380274"/>
                    </a:ext>
                  </a:extLst>
                </a:gridCol>
                <a:gridCol w="2715564">
                  <a:extLst>
                    <a:ext uri="{9D8B030D-6E8A-4147-A177-3AD203B41FA5}">
                      <a16:colId xmlns:a16="http://schemas.microsoft.com/office/drawing/2014/main" val="1939426159"/>
                    </a:ext>
                  </a:extLst>
                </a:gridCol>
              </a:tblGrid>
              <a:tr h="247734">
                <a:tc>
                  <a:txBody>
                    <a:bodyPr/>
                    <a:lstStyle/>
                    <a:p>
                      <a:pPr>
                        <a:buNone/>
                      </a:pPr>
                      <a:r>
                        <a:rPr lang="en-US" sz="1000" b="0">
                          <a:effectLst/>
                        </a:rPr>
                        <a:t>FS0030</a:t>
                      </a:r>
                    </a:p>
                  </a:txBody>
                  <a:tcPr anchor="ctr"/>
                </a:tc>
                <a:tc>
                  <a:txBody>
                    <a:bodyPr/>
                    <a:lstStyle/>
                    <a:p>
                      <a:pPr>
                        <a:buNone/>
                      </a:pPr>
                      <a:r>
                        <a:rPr lang="en-US" sz="1000" b="0"/>
                        <a:t>Borrower Entity Member</a:t>
                      </a:r>
                    </a:p>
                  </a:txBody>
                  <a:tcPr anchor="ctr"/>
                </a:tc>
                <a:extLst>
                  <a:ext uri="{0D108BD9-81ED-4DB2-BD59-A6C34878D82A}">
                    <a16:rowId xmlns:a16="http://schemas.microsoft.com/office/drawing/2014/main" val="178312031"/>
                  </a:ext>
                </a:extLst>
              </a:tr>
              <a:tr h="247734">
                <a:tc>
                  <a:txBody>
                    <a:bodyPr/>
                    <a:lstStyle/>
                    <a:p>
                      <a:pPr>
                        <a:buNone/>
                      </a:pPr>
                      <a:r>
                        <a:rPr lang="en-US" sz="1000" b="0">
                          <a:effectLst/>
                        </a:rPr>
                        <a:t>HEA010</a:t>
                      </a:r>
                    </a:p>
                  </a:txBody>
                  <a:tcPr anchor="ctr"/>
                </a:tc>
                <a:tc>
                  <a:txBody>
                    <a:bodyPr/>
                    <a:lstStyle/>
                    <a:p>
                      <a:pPr>
                        <a:buNone/>
                      </a:pPr>
                      <a:r>
                        <a:rPr lang="en-US" sz="1000" b="0"/>
                        <a:t>Has Hospital Employee</a:t>
                      </a:r>
                    </a:p>
                  </a:txBody>
                  <a:tcPr anchor="ctr"/>
                </a:tc>
                <a:extLst>
                  <a:ext uri="{0D108BD9-81ED-4DB2-BD59-A6C34878D82A}">
                    <a16:rowId xmlns:a16="http://schemas.microsoft.com/office/drawing/2014/main" val="3854269319"/>
                  </a:ext>
                </a:extLst>
              </a:tr>
              <a:tr h="247734">
                <a:tc>
                  <a:txBody>
                    <a:bodyPr/>
                    <a:lstStyle/>
                    <a:p>
                      <a:pPr>
                        <a:buNone/>
                      </a:pPr>
                      <a:r>
                        <a:rPr lang="en-US" sz="1000" b="0">
                          <a:effectLst/>
                        </a:rPr>
                        <a:t>HEA020</a:t>
                      </a:r>
                    </a:p>
                  </a:txBody>
                  <a:tcPr anchor="ctr"/>
                </a:tc>
                <a:tc>
                  <a:txBody>
                    <a:bodyPr/>
                    <a:lstStyle/>
                    <a:p>
                      <a:pPr>
                        <a:buNone/>
                      </a:pPr>
                      <a:r>
                        <a:rPr lang="en-US" sz="1000" b="0"/>
                        <a:t>Has Hospital Employee</a:t>
                      </a:r>
                    </a:p>
                  </a:txBody>
                  <a:tcPr anchor="ctr"/>
                </a:tc>
                <a:extLst>
                  <a:ext uri="{0D108BD9-81ED-4DB2-BD59-A6C34878D82A}">
                    <a16:rowId xmlns:a16="http://schemas.microsoft.com/office/drawing/2014/main" val="4166371433"/>
                  </a:ext>
                </a:extLst>
              </a:tr>
              <a:tr h="247734">
                <a:tc>
                  <a:txBody>
                    <a:bodyPr/>
                    <a:lstStyle/>
                    <a:p>
                      <a:pPr>
                        <a:buNone/>
                      </a:pPr>
                      <a:r>
                        <a:rPr lang="en-US" sz="1000" b="0">
                          <a:effectLst/>
                        </a:rPr>
                        <a:t>Z3PRTY</a:t>
                      </a:r>
                    </a:p>
                  </a:txBody>
                  <a:tcPr anchor="ctr"/>
                </a:tc>
                <a:tc>
                  <a:txBody>
                    <a:bodyPr/>
                    <a:lstStyle/>
                    <a:p>
                      <a:pPr>
                        <a:buNone/>
                      </a:pPr>
                      <a:r>
                        <a:rPr lang="en-US" sz="1000" b="0"/>
                        <a:t>Has 3rd Party</a:t>
                      </a:r>
                    </a:p>
                  </a:txBody>
                  <a:tcPr anchor="ctr"/>
                </a:tc>
                <a:extLst>
                  <a:ext uri="{0D108BD9-81ED-4DB2-BD59-A6C34878D82A}">
                    <a16:rowId xmlns:a16="http://schemas.microsoft.com/office/drawing/2014/main" val="2616199622"/>
                  </a:ext>
                </a:extLst>
              </a:tr>
              <a:tr h="247734">
                <a:tc>
                  <a:txBody>
                    <a:bodyPr/>
                    <a:lstStyle/>
                    <a:p>
                      <a:pPr>
                        <a:buNone/>
                      </a:pPr>
                      <a:r>
                        <a:rPr lang="en-US" sz="1000" b="0">
                          <a:effectLst/>
                        </a:rPr>
                        <a:t>ZA/P</a:t>
                      </a:r>
                    </a:p>
                  </a:txBody>
                  <a:tcPr anchor="ctr"/>
                </a:tc>
                <a:tc>
                  <a:txBody>
                    <a:bodyPr/>
                    <a:lstStyle/>
                    <a:p>
                      <a:pPr>
                        <a:buNone/>
                      </a:pPr>
                      <a:r>
                        <a:rPr lang="en-US" sz="1000" b="0"/>
                        <a:t>Has Accounts Payable Contact</a:t>
                      </a:r>
                    </a:p>
                  </a:txBody>
                  <a:tcPr anchor="ctr"/>
                </a:tc>
                <a:extLst>
                  <a:ext uri="{0D108BD9-81ED-4DB2-BD59-A6C34878D82A}">
                    <a16:rowId xmlns:a16="http://schemas.microsoft.com/office/drawing/2014/main" val="933124426"/>
                  </a:ext>
                </a:extLst>
              </a:tr>
              <a:tr h="247734">
                <a:tc>
                  <a:txBody>
                    <a:bodyPr/>
                    <a:lstStyle/>
                    <a:p>
                      <a:pPr>
                        <a:buNone/>
                      </a:pPr>
                      <a:r>
                        <a:rPr lang="en-US" sz="1000" b="0">
                          <a:effectLst/>
                        </a:rPr>
                        <a:t>ZABUS1</a:t>
                      </a:r>
                    </a:p>
                  </a:txBody>
                  <a:tcPr anchor="ctr"/>
                </a:tc>
                <a:tc>
                  <a:txBody>
                    <a:bodyPr/>
                    <a:lstStyle/>
                    <a:p>
                      <a:pPr>
                        <a:buNone/>
                      </a:pPr>
                      <a:r>
                        <a:rPr lang="en-US" sz="1000" b="0"/>
                        <a:t>Has Alternate Business Contact1</a:t>
                      </a:r>
                    </a:p>
                  </a:txBody>
                  <a:tcPr anchor="ctr"/>
                </a:tc>
                <a:extLst>
                  <a:ext uri="{0D108BD9-81ED-4DB2-BD59-A6C34878D82A}">
                    <a16:rowId xmlns:a16="http://schemas.microsoft.com/office/drawing/2014/main" val="536400279"/>
                  </a:ext>
                </a:extLst>
              </a:tr>
              <a:tr h="247734">
                <a:tc>
                  <a:txBody>
                    <a:bodyPr/>
                    <a:lstStyle/>
                    <a:p>
                      <a:pPr>
                        <a:buNone/>
                      </a:pPr>
                      <a:r>
                        <a:rPr lang="en-US" sz="1000" b="0">
                          <a:effectLst/>
                        </a:rPr>
                        <a:t>ZABUS2</a:t>
                      </a:r>
                    </a:p>
                  </a:txBody>
                  <a:tcPr anchor="ctr"/>
                </a:tc>
                <a:tc>
                  <a:txBody>
                    <a:bodyPr/>
                    <a:lstStyle/>
                    <a:p>
                      <a:pPr>
                        <a:buNone/>
                      </a:pPr>
                      <a:r>
                        <a:rPr lang="en-US" sz="1000" b="0"/>
                        <a:t>Has Alternate Business Contact2</a:t>
                      </a:r>
                    </a:p>
                  </a:txBody>
                  <a:tcPr anchor="ctr"/>
                </a:tc>
                <a:extLst>
                  <a:ext uri="{0D108BD9-81ED-4DB2-BD59-A6C34878D82A}">
                    <a16:rowId xmlns:a16="http://schemas.microsoft.com/office/drawing/2014/main" val="3947631872"/>
                  </a:ext>
                </a:extLst>
              </a:tr>
              <a:tr h="247734">
                <a:tc>
                  <a:txBody>
                    <a:bodyPr/>
                    <a:lstStyle/>
                    <a:p>
                      <a:pPr>
                        <a:buNone/>
                      </a:pPr>
                      <a:r>
                        <a:rPr lang="en-US" sz="1000" b="0">
                          <a:effectLst/>
                        </a:rPr>
                        <a:t>ZBNKRP</a:t>
                      </a:r>
                    </a:p>
                  </a:txBody>
                  <a:tcPr anchor="ctr"/>
                </a:tc>
                <a:tc>
                  <a:txBody>
                    <a:bodyPr/>
                    <a:lstStyle/>
                    <a:p>
                      <a:pPr>
                        <a:buNone/>
                      </a:pPr>
                      <a:r>
                        <a:rPr lang="en-US" sz="1000" b="0"/>
                        <a:t>Has Bankruptcy Contact</a:t>
                      </a:r>
                    </a:p>
                  </a:txBody>
                  <a:tcPr anchor="ctr"/>
                </a:tc>
                <a:extLst>
                  <a:ext uri="{0D108BD9-81ED-4DB2-BD59-A6C34878D82A}">
                    <a16:rowId xmlns:a16="http://schemas.microsoft.com/office/drawing/2014/main" val="2951449564"/>
                  </a:ext>
                </a:extLst>
              </a:tr>
              <a:tr h="247734">
                <a:tc>
                  <a:txBody>
                    <a:bodyPr/>
                    <a:lstStyle/>
                    <a:p>
                      <a:pPr>
                        <a:buNone/>
                      </a:pPr>
                      <a:r>
                        <a:rPr lang="en-US" sz="1000" b="0">
                          <a:effectLst/>
                        </a:rPr>
                        <a:t>ZCAM</a:t>
                      </a:r>
                    </a:p>
                  </a:txBody>
                  <a:tcPr anchor="ctr"/>
                </a:tc>
                <a:tc>
                  <a:txBody>
                    <a:bodyPr/>
                    <a:lstStyle/>
                    <a:p>
                      <a:pPr>
                        <a:buNone/>
                      </a:pPr>
                      <a:r>
                        <a:rPr lang="en-US" sz="1000" b="0"/>
                        <a:t>Has Corporate Account Manager</a:t>
                      </a:r>
                    </a:p>
                  </a:txBody>
                  <a:tcPr anchor="ctr"/>
                </a:tc>
                <a:extLst>
                  <a:ext uri="{0D108BD9-81ED-4DB2-BD59-A6C34878D82A}">
                    <a16:rowId xmlns:a16="http://schemas.microsoft.com/office/drawing/2014/main" val="3956532769"/>
                  </a:ext>
                </a:extLst>
              </a:tr>
              <a:tr h="247734">
                <a:tc>
                  <a:txBody>
                    <a:bodyPr/>
                    <a:lstStyle/>
                    <a:p>
                      <a:pPr>
                        <a:buNone/>
                      </a:pPr>
                      <a:r>
                        <a:rPr lang="en-US" sz="1000" b="0">
                          <a:effectLst/>
                        </a:rPr>
                        <a:t>ZCONT</a:t>
                      </a:r>
                    </a:p>
                  </a:txBody>
                  <a:tcPr anchor="ctr"/>
                </a:tc>
                <a:tc>
                  <a:txBody>
                    <a:bodyPr/>
                    <a:lstStyle/>
                    <a:p>
                      <a:pPr>
                        <a:buNone/>
                      </a:pPr>
                      <a:r>
                        <a:rPr lang="en-US" sz="1000" b="0"/>
                        <a:t>Has </a:t>
                      </a:r>
                      <a:r>
                        <a:rPr lang="en-US" sz="1000" b="0" err="1"/>
                        <a:t>Misc</a:t>
                      </a:r>
                      <a:r>
                        <a:rPr lang="en-US" sz="1000" b="0"/>
                        <a:t> Contact Person (</a:t>
                      </a:r>
                      <a:r>
                        <a:rPr lang="en-US" sz="1000" b="0" err="1"/>
                        <a:t>BusCtr</a:t>
                      </a:r>
                      <a:r>
                        <a:rPr lang="en-US" sz="1000" b="0"/>
                        <a:t>)</a:t>
                      </a:r>
                    </a:p>
                  </a:txBody>
                  <a:tcPr anchor="ctr"/>
                </a:tc>
                <a:extLst>
                  <a:ext uri="{0D108BD9-81ED-4DB2-BD59-A6C34878D82A}">
                    <a16:rowId xmlns:a16="http://schemas.microsoft.com/office/drawing/2014/main" val="1840609420"/>
                  </a:ext>
                </a:extLst>
              </a:tr>
              <a:tr h="247734">
                <a:tc>
                  <a:txBody>
                    <a:bodyPr/>
                    <a:lstStyle/>
                    <a:p>
                      <a:pPr>
                        <a:buNone/>
                      </a:pPr>
                      <a:r>
                        <a:rPr lang="en-US" sz="1000" b="0">
                          <a:effectLst/>
                        </a:rPr>
                        <a:t>ZCOSGN</a:t>
                      </a:r>
                    </a:p>
                  </a:txBody>
                  <a:tcPr anchor="ctr"/>
                </a:tc>
                <a:tc>
                  <a:txBody>
                    <a:bodyPr/>
                    <a:lstStyle/>
                    <a:p>
                      <a:pPr>
                        <a:buNone/>
                      </a:pPr>
                      <a:r>
                        <a:rPr lang="en-US" sz="1000" b="0"/>
                        <a:t>Has Co-Signor</a:t>
                      </a:r>
                    </a:p>
                  </a:txBody>
                  <a:tcPr anchor="ctr"/>
                </a:tc>
                <a:extLst>
                  <a:ext uri="{0D108BD9-81ED-4DB2-BD59-A6C34878D82A}">
                    <a16:rowId xmlns:a16="http://schemas.microsoft.com/office/drawing/2014/main" val="4172913179"/>
                  </a:ext>
                </a:extLst>
              </a:tr>
              <a:tr h="247734">
                <a:tc>
                  <a:txBody>
                    <a:bodyPr/>
                    <a:lstStyle/>
                    <a:p>
                      <a:pPr>
                        <a:buNone/>
                      </a:pPr>
                      <a:r>
                        <a:rPr lang="en-US" sz="1000" b="0">
                          <a:effectLst/>
                        </a:rPr>
                        <a:t>ZDIVCH</a:t>
                      </a:r>
                    </a:p>
                  </a:txBody>
                  <a:tcPr anchor="ctr"/>
                </a:tc>
                <a:tc>
                  <a:txBody>
                    <a:bodyPr/>
                    <a:lstStyle/>
                    <a:p>
                      <a:pPr>
                        <a:buNone/>
                      </a:pPr>
                      <a:r>
                        <a:rPr lang="en-US" sz="1000" b="0"/>
                        <a:t>Is Corp Division / Has Child Co.</a:t>
                      </a:r>
                    </a:p>
                  </a:txBody>
                  <a:tcPr anchor="ctr"/>
                </a:tc>
                <a:extLst>
                  <a:ext uri="{0D108BD9-81ED-4DB2-BD59-A6C34878D82A}">
                    <a16:rowId xmlns:a16="http://schemas.microsoft.com/office/drawing/2014/main" val="3752386008"/>
                  </a:ext>
                </a:extLst>
              </a:tr>
              <a:tr h="247734">
                <a:tc>
                  <a:txBody>
                    <a:bodyPr/>
                    <a:lstStyle/>
                    <a:p>
                      <a:pPr>
                        <a:buNone/>
                      </a:pPr>
                      <a:r>
                        <a:rPr lang="en-US" sz="1000" b="0">
                          <a:effectLst/>
                        </a:rPr>
                        <a:t>ZFIMGR</a:t>
                      </a:r>
                    </a:p>
                  </a:txBody>
                  <a:tcPr anchor="ctr"/>
                </a:tc>
                <a:tc>
                  <a:txBody>
                    <a:bodyPr/>
                    <a:lstStyle/>
                    <a:p>
                      <a:pPr>
                        <a:buNone/>
                      </a:pPr>
                      <a:r>
                        <a:rPr lang="en-US" sz="1000" b="0"/>
                        <a:t>Has Financial Manager</a:t>
                      </a:r>
                    </a:p>
                  </a:txBody>
                  <a:tcPr anchor="ctr"/>
                </a:tc>
                <a:extLst>
                  <a:ext uri="{0D108BD9-81ED-4DB2-BD59-A6C34878D82A}">
                    <a16:rowId xmlns:a16="http://schemas.microsoft.com/office/drawing/2014/main" val="3729312887"/>
                  </a:ext>
                </a:extLst>
              </a:tr>
              <a:tr h="247734">
                <a:tc>
                  <a:txBody>
                    <a:bodyPr/>
                    <a:lstStyle/>
                    <a:p>
                      <a:pPr>
                        <a:buNone/>
                      </a:pPr>
                      <a:r>
                        <a:rPr lang="en-US" sz="1000" b="0">
                          <a:effectLst/>
                        </a:rPr>
                        <a:t>ZFRCHZ</a:t>
                      </a:r>
                    </a:p>
                  </a:txBody>
                  <a:tcPr anchor="ctr"/>
                </a:tc>
                <a:tc>
                  <a:txBody>
                    <a:bodyPr/>
                    <a:lstStyle/>
                    <a:p>
                      <a:pPr>
                        <a:buNone/>
                      </a:pPr>
                      <a:r>
                        <a:rPr lang="en-US" sz="1000" b="0"/>
                        <a:t>Is Franchise of</a:t>
                      </a:r>
                    </a:p>
                  </a:txBody>
                  <a:tcPr anchor="ctr"/>
                </a:tc>
                <a:extLst>
                  <a:ext uri="{0D108BD9-81ED-4DB2-BD59-A6C34878D82A}">
                    <a16:rowId xmlns:a16="http://schemas.microsoft.com/office/drawing/2014/main" val="1163397457"/>
                  </a:ext>
                </a:extLst>
              </a:tr>
              <a:tr h="247734">
                <a:tc>
                  <a:txBody>
                    <a:bodyPr/>
                    <a:lstStyle/>
                    <a:p>
                      <a:pPr>
                        <a:buNone/>
                      </a:pPr>
                      <a:r>
                        <a:rPr lang="en-US" sz="1000" b="0">
                          <a:effectLst/>
                        </a:rPr>
                        <a:t>ZGASCU</a:t>
                      </a:r>
                    </a:p>
                  </a:txBody>
                  <a:tcPr anchor="ctr"/>
                </a:tc>
                <a:tc>
                  <a:txBody>
                    <a:bodyPr/>
                    <a:lstStyle/>
                    <a:p>
                      <a:pPr>
                        <a:buNone/>
                      </a:pPr>
                      <a:r>
                        <a:rPr lang="en-US" sz="1000" b="0"/>
                        <a:t>Has Gas Curtailment Contact</a:t>
                      </a:r>
                    </a:p>
                  </a:txBody>
                  <a:tcPr anchor="ctr"/>
                </a:tc>
                <a:extLst>
                  <a:ext uri="{0D108BD9-81ED-4DB2-BD59-A6C34878D82A}">
                    <a16:rowId xmlns:a16="http://schemas.microsoft.com/office/drawing/2014/main" val="1197713834"/>
                  </a:ext>
                </a:extLst>
              </a:tr>
              <a:tr h="247734">
                <a:tc>
                  <a:txBody>
                    <a:bodyPr/>
                    <a:lstStyle/>
                    <a:p>
                      <a:pPr>
                        <a:buNone/>
                      </a:pPr>
                      <a:r>
                        <a:rPr lang="en-US" sz="1000" b="0">
                          <a:effectLst/>
                        </a:rPr>
                        <a:t>ZGSTRS</a:t>
                      </a:r>
                    </a:p>
                  </a:txBody>
                  <a:tcPr anchor="ctr"/>
                </a:tc>
                <a:tc>
                  <a:txBody>
                    <a:bodyPr/>
                    <a:lstStyle/>
                    <a:p>
                      <a:pPr>
                        <a:buNone/>
                      </a:pPr>
                      <a:r>
                        <a:rPr lang="en-US" sz="1000" b="0"/>
                        <a:t>Is Gas Trans Supplier</a:t>
                      </a:r>
                    </a:p>
                  </a:txBody>
                  <a:tcPr anchor="ctr"/>
                </a:tc>
                <a:extLst>
                  <a:ext uri="{0D108BD9-81ED-4DB2-BD59-A6C34878D82A}">
                    <a16:rowId xmlns:a16="http://schemas.microsoft.com/office/drawing/2014/main" val="2787051571"/>
                  </a:ext>
                </a:extLst>
              </a:tr>
            </a:tbl>
          </a:graphicData>
        </a:graphic>
      </p:graphicFrame>
      <p:graphicFrame>
        <p:nvGraphicFramePr>
          <p:cNvPr id="9" name="Table 8">
            <a:extLst>
              <a:ext uri="{FF2B5EF4-FFF2-40B4-BE49-F238E27FC236}">
                <a16:creationId xmlns:a16="http://schemas.microsoft.com/office/drawing/2014/main" id="{540DCE18-3EFF-467C-2F43-59D3EE6A9F27}"/>
              </a:ext>
            </a:extLst>
          </p:cNvPr>
          <p:cNvGraphicFramePr>
            <a:graphicFrameLocks noGrp="1"/>
          </p:cNvGraphicFramePr>
          <p:nvPr/>
        </p:nvGraphicFramePr>
        <p:xfrm>
          <a:off x="8642966" y="857955"/>
          <a:ext cx="3208952" cy="5887372"/>
        </p:xfrm>
        <a:graphic>
          <a:graphicData uri="http://schemas.openxmlformats.org/drawingml/2006/table">
            <a:tbl>
              <a:tblPr bandRow="1">
                <a:tableStyleId>{6E25E649-3F16-4E02-A733-19D2CDBF48F0}</a:tableStyleId>
              </a:tblPr>
              <a:tblGrid>
                <a:gridCol w="781368">
                  <a:extLst>
                    <a:ext uri="{9D8B030D-6E8A-4147-A177-3AD203B41FA5}">
                      <a16:colId xmlns:a16="http://schemas.microsoft.com/office/drawing/2014/main" val="1612380274"/>
                    </a:ext>
                  </a:extLst>
                </a:gridCol>
                <a:gridCol w="2427584">
                  <a:extLst>
                    <a:ext uri="{9D8B030D-6E8A-4147-A177-3AD203B41FA5}">
                      <a16:colId xmlns:a16="http://schemas.microsoft.com/office/drawing/2014/main" val="1939426159"/>
                    </a:ext>
                  </a:extLst>
                </a:gridCol>
              </a:tblGrid>
              <a:tr h="334117">
                <a:tc>
                  <a:txBody>
                    <a:bodyPr/>
                    <a:lstStyle/>
                    <a:p>
                      <a:pPr>
                        <a:buNone/>
                      </a:pPr>
                      <a:r>
                        <a:rPr lang="en-US" sz="1000" b="0">
                          <a:effectLst/>
                        </a:rPr>
                        <a:t>ZLLP01</a:t>
                      </a:r>
                    </a:p>
                  </a:txBody>
                  <a:tcPr anchor="ctr"/>
                </a:tc>
                <a:tc>
                  <a:txBody>
                    <a:bodyPr/>
                    <a:lstStyle/>
                    <a:p>
                      <a:pPr>
                        <a:buNone/>
                      </a:pPr>
                      <a:r>
                        <a:rPr lang="en-US" sz="1000" b="0"/>
                        <a:t>Has Community</a:t>
                      </a:r>
                    </a:p>
                  </a:txBody>
                  <a:tcPr anchor="ctr"/>
                </a:tc>
                <a:extLst>
                  <a:ext uri="{0D108BD9-81ED-4DB2-BD59-A6C34878D82A}">
                    <a16:rowId xmlns:a16="http://schemas.microsoft.com/office/drawing/2014/main" val="2801577558"/>
                  </a:ext>
                </a:extLst>
              </a:tr>
              <a:tr h="334117">
                <a:tc>
                  <a:txBody>
                    <a:bodyPr/>
                    <a:lstStyle/>
                    <a:p>
                      <a:pPr>
                        <a:buNone/>
                      </a:pPr>
                      <a:r>
                        <a:rPr lang="en-US" sz="1000" b="0">
                          <a:effectLst/>
                        </a:rPr>
                        <a:t>ZOPISS</a:t>
                      </a:r>
                    </a:p>
                  </a:txBody>
                  <a:tcPr anchor="ctr"/>
                </a:tc>
                <a:tc>
                  <a:txBody>
                    <a:bodyPr/>
                    <a:lstStyle/>
                    <a:p>
                      <a:pPr>
                        <a:buNone/>
                      </a:pPr>
                      <a:r>
                        <a:rPr lang="en-US" sz="1000" b="0"/>
                        <a:t>Has Operational Issues Contact</a:t>
                      </a:r>
                    </a:p>
                  </a:txBody>
                  <a:tcPr anchor="ctr"/>
                </a:tc>
                <a:extLst>
                  <a:ext uri="{0D108BD9-81ED-4DB2-BD59-A6C34878D82A}">
                    <a16:rowId xmlns:a16="http://schemas.microsoft.com/office/drawing/2014/main" val="3585253883"/>
                  </a:ext>
                </a:extLst>
              </a:tr>
              <a:tr h="334117">
                <a:tc>
                  <a:txBody>
                    <a:bodyPr/>
                    <a:lstStyle/>
                    <a:p>
                      <a:pPr>
                        <a:buNone/>
                      </a:pPr>
                      <a:r>
                        <a:rPr lang="en-US" sz="1000" b="0">
                          <a:effectLst/>
                        </a:rPr>
                        <a:t>ZOUTG1</a:t>
                      </a:r>
                    </a:p>
                  </a:txBody>
                  <a:tcPr anchor="ctr"/>
                </a:tc>
                <a:tc>
                  <a:txBody>
                    <a:bodyPr/>
                    <a:lstStyle/>
                    <a:p>
                      <a:pPr>
                        <a:buNone/>
                      </a:pPr>
                      <a:r>
                        <a:rPr lang="en-US" sz="1000" b="0"/>
                        <a:t>Has Alternate Outage Contact 1</a:t>
                      </a:r>
                    </a:p>
                  </a:txBody>
                  <a:tcPr anchor="ctr"/>
                </a:tc>
                <a:extLst>
                  <a:ext uri="{0D108BD9-81ED-4DB2-BD59-A6C34878D82A}">
                    <a16:rowId xmlns:a16="http://schemas.microsoft.com/office/drawing/2014/main" val="4156396771"/>
                  </a:ext>
                </a:extLst>
              </a:tr>
              <a:tr h="334117">
                <a:tc>
                  <a:txBody>
                    <a:bodyPr/>
                    <a:lstStyle/>
                    <a:p>
                      <a:pPr>
                        <a:buNone/>
                      </a:pPr>
                      <a:r>
                        <a:rPr lang="en-US" sz="1000" b="0">
                          <a:effectLst/>
                        </a:rPr>
                        <a:t>ZOUTG2</a:t>
                      </a:r>
                    </a:p>
                  </a:txBody>
                  <a:tcPr anchor="ctr"/>
                </a:tc>
                <a:tc>
                  <a:txBody>
                    <a:bodyPr/>
                    <a:lstStyle/>
                    <a:p>
                      <a:pPr>
                        <a:buNone/>
                      </a:pPr>
                      <a:r>
                        <a:rPr lang="en-US" sz="1000" b="0"/>
                        <a:t>Has Alternate Outage Contact 2</a:t>
                      </a:r>
                    </a:p>
                  </a:txBody>
                  <a:tcPr anchor="ctr"/>
                </a:tc>
                <a:extLst>
                  <a:ext uri="{0D108BD9-81ED-4DB2-BD59-A6C34878D82A}">
                    <a16:rowId xmlns:a16="http://schemas.microsoft.com/office/drawing/2014/main" val="2850405923"/>
                  </a:ext>
                </a:extLst>
              </a:tr>
              <a:tr h="334117">
                <a:tc>
                  <a:txBody>
                    <a:bodyPr/>
                    <a:lstStyle/>
                    <a:p>
                      <a:pPr>
                        <a:buNone/>
                      </a:pPr>
                      <a:r>
                        <a:rPr lang="en-US" sz="1000" b="0">
                          <a:effectLst/>
                        </a:rPr>
                        <a:t>ZOUTG3</a:t>
                      </a:r>
                    </a:p>
                  </a:txBody>
                  <a:tcPr anchor="ctr"/>
                </a:tc>
                <a:tc>
                  <a:txBody>
                    <a:bodyPr/>
                    <a:lstStyle/>
                    <a:p>
                      <a:pPr>
                        <a:buNone/>
                      </a:pPr>
                      <a:r>
                        <a:rPr lang="en-US" sz="1000" b="0"/>
                        <a:t>Has Alternate Outage Contact 3</a:t>
                      </a:r>
                    </a:p>
                  </a:txBody>
                  <a:tcPr anchor="ctr"/>
                </a:tc>
                <a:extLst>
                  <a:ext uri="{0D108BD9-81ED-4DB2-BD59-A6C34878D82A}">
                    <a16:rowId xmlns:a16="http://schemas.microsoft.com/office/drawing/2014/main" val="3569225077"/>
                  </a:ext>
                </a:extLst>
              </a:tr>
              <a:tr h="334117">
                <a:tc>
                  <a:txBody>
                    <a:bodyPr/>
                    <a:lstStyle/>
                    <a:p>
                      <a:pPr>
                        <a:buNone/>
                      </a:pPr>
                      <a:r>
                        <a:rPr lang="en-US" sz="1000" b="0">
                          <a:effectLst/>
                        </a:rPr>
                        <a:t>ZOUTGE</a:t>
                      </a:r>
                    </a:p>
                  </a:txBody>
                  <a:tcPr anchor="ctr"/>
                </a:tc>
                <a:tc>
                  <a:txBody>
                    <a:bodyPr/>
                    <a:lstStyle/>
                    <a:p>
                      <a:pPr>
                        <a:buNone/>
                      </a:pPr>
                      <a:r>
                        <a:rPr lang="en-US" sz="1000" b="0"/>
                        <a:t>Has Primary Outage Contact</a:t>
                      </a:r>
                    </a:p>
                  </a:txBody>
                  <a:tcPr anchor="ctr"/>
                </a:tc>
                <a:extLst>
                  <a:ext uri="{0D108BD9-81ED-4DB2-BD59-A6C34878D82A}">
                    <a16:rowId xmlns:a16="http://schemas.microsoft.com/office/drawing/2014/main" val="1347781038"/>
                  </a:ext>
                </a:extLst>
              </a:tr>
              <a:tr h="334117">
                <a:tc>
                  <a:txBody>
                    <a:bodyPr/>
                    <a:lstStyle/>
                    <a:p>
                      <a:pPr>
                        <a:buNone/>
                      </a:pPr>
                      <a:r>
                        <a:rPr lang="en-US" sz="1000" b="0">
                          <a:effectLst/>
                        </a:rPr>
                        <a:t>ZPBUS</a:t>
                      </a:r>
                    </a:p>
                  </a:txBody>
                  <a:tcPr anchor="ctr"/>
                </a:tc>
                <a:tc>
                  <a:txBody>
                    <a:bodyPr/>
                    <a:lstStyle/>
                    <a:p>
                      <a:pPr>
                        <a:buNone/>
                      </a:pPr>
                      <a:r>
                        <a:rPr lang="en-US" sz="1000" b="0"/>
                        <a:t>Has Primary Business Contact</a:t>
                      </a:r>
                    </a:p>
                  </a:txBody>
                  <a:tcPr anchor="ctr"/>
                </a:tc>
                <a:extLst>
                  <a:ext uri="{0D108BD9-81ED-4DB2-BD59-A6C34878D82A}">
                    <a16:rowId xmlns:a16="http://schemas.microsoft.com/office/drawing/2014/main" val="3354206971"/>
                  </a:ext>
                </a:extLst>
              </a:tr>
              <a:tr h="334117">
                <a:tc>
                  <a:txBody>
                    <a:bodyPr/>
                    <a:lstStyle/>
                    <a:p>
                      <a:pPr>
                        <a:buNone/>
                      </a:pPr>
                      <a:r>
                        <a:rPr lang="en-US" sz="1000" b="0">
                          <a:effectLst/>
                        </a:rPr>
                        <a:t>ZPOFA</a:t>
                      </a:r>
                    </a:p>
                  </a:txBody>
                  <a:tcPr anchor="ctr"/>
                </a:tc>
                <a:tc>
                  <a:txBody>
                    <a:bodyPr/>
                    <a:lstStyle/>
                    <a:p>
                      <a:pPr>
                        <a:buNone/>
                      </a:pPr>
                      <a:r>
                        <a:rPr lang="en-US" sz="1000" b="0"/>
                        <a:t>Has Power of Attorney</a:t>
                      </a:r>
                    </a:p>
                  </a:txBody>
                  <a:tcPr anchor="ctr"/>
                </a:tc>
                <a:extLst>
                  <a:ext uri="{0D108BD9-81ED-4DB2-BD59-A6C34878D82A}">
                    <a16:rowId xmlns:a16="http://schemas.microsoft.com/office/drawing/2014/main" val="3847329336"/>
                  </a:ext>
                </a:extLst>
              </a:tr>
              <a:tr h="334117">
                <a:tc>
                  <a:txBody>
                    <a:bodyPr/>
                    <a:lstStyle/>
                    <a:p>
                      <a:pPr>
                        <a:buNone/>
                      </a:pPr>
                      <a:r>
                        <a:rPr lang="en-US" sz="1000" b="0">
                          <a:effectLst/>
                        </a:rPr>
                        <a:t>ZPRCHD</a:t>
                      </a:r>
                    </a:p>
                  </a:txBody>
                  <a:tcPr anchor="ctr"/>
                </a:tc>
                <a:tc>
                  <a:txBody>
                    <a:bodyPr/>
                    <a:lstStyle/>
                    <a:p>
                      <a:pPr>
                        <a:buNone/>
                      </a:pPr>
                      <a:r>
                        <a:rPr lang="en-US" sz="1000" b="0"/>
                        <a:t>Is Parent / Has Child Company</a:t>
                      </a:r>
                    </a:p>
                  </a:txBody>
                  <a:tcPr anchor="ctr"/>
                </a:tc>
                <a:extLst>
                  <a:ext uri="{0D108BD9-81ED-4DB2-BD59-A6C34878D82A}">
                    <a16:rowId xmlns:a16="http://schemas.microsoft.com/office/drawing/2014/main" val="2930213064"/>
                  </a:ext>
                </a:extLst>
              </a:tr>
              <a:tr h="334117">
                <a:tc>
                  <a:txBody>
                    <a:bodyPr/>
                    <a:lstStyle/>
                    <a:p>
                      <a:pPr>
                        <a:buNone/>
                      </a:pPr>
                      <a:r>
                        <a:rPr lang="en-US" sz="1000" b="0">
                          <a:effectLst/>
                        </a:rPr>
                        <a:t>ZPRDIV</a:t>
                      </a:r>
                    </a:p>
                  </a:txBody>
                  <a:tcPr anchor="ctr"/>
                </a:tc>
                <a:tc>
                  <a:txBody>
                    <a:bodyPr/>
                    <a:lstStyle/>
                    <a:p>
                      <a:pPr>
                        <a:buNone/>
                      </a:pPr>
                      <a:r>
                        <a:rPr lang="en-US" sz="1000" b="0"/>
                        <a:t>Is Parent / Has Corp. Division</a:t>
                      </a:r>
                    </a:p>
                  </a:txBody>
                  <a:tcPr anchor="ctr"/>
                </a:tc>
                <a:extLst>
                  <a:ext uri="{0D108BD9-81ED-4DB2-BD59-A6C34878D82A}">
                    <a16:rowId xmlns:a16="http://schemas.microsoft.com/office/drawing/2014/main" val="2210735315"/>
                  </a:ext>
                </a:extLst>
              </a:tr>
              <a:tr h="334117">
                <a:tc>
                  <a:txBody>
                    <a:bodyPr/>
                    <a:lstStyle/>
                    <a:p>
                      <a:pPr>
                        <a:buNone/>
                      </a:pPr>
                      <a:r>
                        <a:rPr lang="en-US" sz="1000" b="0">
                          <a:effectLst/>
                        </a:rPr>
                        <a:t>ZPRSUB</a:t>
                      </a:r>
                    </a:p>
                  </a:txBody>
                  <a:tcPr anchor="ctr"/>
                </a:tc>
                <a:tc>
                  <a:txBody>
                    <a:bodyPr/>
                    <a:lstStyle/>
                    <a:p>
                      <a:pPr>
                        <a:buNone/>
                      </a:pPr>
                      <a:r>
                        <a:rPr lang="en-US" sz="1000" b="0"/>
                        <a:t>Is Parent / Has Subsidiary</a:t>
                      </a:r>
                    </a:p>
                  </a:txBody>
                  <a:tcPr anchor="ctr"/>
                </a:tc>
                <a:extLst>
                  <a:ext uri="{0D108BD9-81ED-4DB2-BD59-A6C34878D82A}">
                    <a16:rowId xmlns:a16="http://schemas.microsoft.com/office/drawing/2014/main" val="4088790258"/>
                  </a:ext>
                </a:extLst>
              </a:tr>
              <a:tr h="334117">
                <a:tc>
                  <a:txBody>
                    <a:bodyPr/>
                    <a:lstStyle/>
                    <a:p>
                      <a:pPr>
                        <a:buNone/>
                      </a:pPr>
                      <a:r>
                        <a:rPr lang="en-US" sz="1000" b="0">
                          <a:effectLst/>
                        </a:rPr>
                        <a:t>ZROA</a:t>
                      </a:r>
                    </a:p>
                  </a:txBody>
                  <a:tcPr anchor="ctr"/>
                </a:tc>
                <a:tc>
                  <a:txBody>
                    <a:bodyPr/>
                    <a:lstStyle/>
                    <a:p>
                      <a:pPr>
                        <a:buNone/>
                      </a:pPr>
                      <a:r>
                        <a:rPr lang="en-US" sz="1000" b="0"/>
                        <a:t>Has ROA Contact</a:t>
                      </a:r>
                    </a:p>
                  </a:txBody>
                  <a:tcPr anchor="ctr"/>
                </a:tc>
                <a:extLst>
                  <a:ext uri="{0D108BD9-81ED-4DB2-BD59-A6C34878D82A}">
                    <a16:rowId xmlns:a16="http://schemas.microsoft.com/office/drawing/2014/main" val="2504658136"/>
                  </a:ext>
                </a:extLst>
              </a:tr>
              <a:tr h="426287">
                <a:tc>
                  <a:txBody>
                    <a:bodyPr/>
                    <a:lstStyle/>
                    <a:p>
                      <a:pPr>
                        <a:buNone/>
                      </a:pPr>
                      <a:r>
                        <a:rPr lang="en-US" sz="1000" b="0">
                          <a:effectLst/>
                        </a:rPr>
                        <a:t>ZRSPTY</a:t>
                      </a:r>
                    </a:p>
                  </a:txBody>
                  <a:tcPr anchor="ctr"/>
                </a:tc>
                <a:tc>
                  <a:txBody>
                    <a:bodyPr/>
                    <a:lstStyle/>
                    <a:p>
                      <a:pPr>
                        <a:buNone/>
                      </a:pPr>
                      <a:r>
                        <a:rPr lang="en-US" sz="1000" b="0"/>
                        <a:t>Has Secondary Responsible Party</a:t>
                      </a:r>
                    </a:p>
                  </a:txBody>
                  <a:tcPr anchor="ctr"/>
                </a:tc>
                <a:extLst>
                  <a:ext uri="{0D108BD9-81ED-4DB2-BD59-A6C34878D82A}">
                    <a16:rowId xmlns:a16="http://schemas.microsoft.com/office/drawing/2014/main" val="2843133160"/>
                  </a:ext>
                </a:extLst>
              </a:tr>
              <a:tr h="334117">
                <a:tc>
                  <a:txBody>
                    <a:bodyPr/>
                    <a:lstStyle/>
                    <a:p>
                      <a:pPr>
                        <a:buNone/>
                      </a:pPr>
                      <a:r>
                        <a:rPr lang="en-US" sz="1000" b="0">
                          <a:effectLst/>
                        </a:rPr>
                        <a:t>ZSUBCH</a:t>
                      </a:r>
                    </a:p>
                  </a:txBody>
                  <a:tcPr anchor="ctr"/>
                </a:tc>
                <a:tc>
                  <a:txBody>
                    <a:bodyPr/>
                    <a:lstStyle/>
                    <a:p>
                      <a:pPr>
                        <a:buNone/>
                      </a:pPr>
                      <a:r>
                        <a:rPr lang="en-US" sz="1000" b="0"/>
                        <a:t>Is Subsidiary / Has Child Co.</a:t>
                      </a:r>
                    </a:p>
                  </a:txBody>
                  <a:tcPr anchor="ctr"/>
                </a:tc>
                <a:extLst>
                  <a:ext uri="{0D108BD9-81ED-4DB2-BD59-A6C34878D82A}">
                    <a16:rowId xmlns:a16="http://schemas.microsoft.com/office/drawing/2014/main" val="1682198119"/>
                  </a:ext>
                </a:extLst>
              </a:tr>
              <a:tr h="334117">
                <a:tc>
                  <a:txBody>
                    <a:bodyPr/>
                    <a:lstStyle/>
                    <a:p>
                      <a:pPr>
                        <a:buNone/>
                      </a:pPr>
                      <a:r>
                        <a:rPr lang="en-US" sz="1000" b="0">
                          <a:effectLst/>
                        </a:rPr>
                        <a:t>ZSUBDV</a:t>
                      </a:r>
                    </a:p>
                  </a:txBody>
                  <a:tcPr anchor="ctr"/>
                </a:tc>
                <a:tc>
                  <a:txBody>
                    <a:bodyPr/>
                    <a:lstStyle/>
                    <a:p>
                      <a:pPr>
                        <a:buNone/>
                      </a:pPr>
                      <a:r>
                        <a:rPr lang="en-US" sz="1000" b="0"/>
                        <a:t>Is Subsidiary / Has Corp. Division</a:t>
                      </a:r>
                    </a:p>
                  </a:txBody>
                  <a:tcPr anchor="ctr"/>
                </a:tc>
                <a:extLst>
                  <a:ext uri="{0D108BD9-81ED-4DB2-BD59-A6C34878D82A}">
                    <a16:rowId xmlns:a16="http://schemas.microsoft.com/office/drawing/2014/main" val="2836762920"/>
                  </a:ext>
                </a:extLst>
              </a:tr>
              <a:tr h="334117">
                <a:tc>
                  <a:txBody>
                    <a:bodyPr/>
                    <a:lstStyle/>
                    <a:p>
                      <a:pPr>
                        <a:buNone/>
                      </a:pPr>
                      <a:r>
                        <a:rPr lang="en-US" sz="1000" b="0">
                          <a:effectLst/>
                        </a:rPr>
                        <a:t>ZTRUST</a:t>
                      </a:r>
                    </a:p>
                  </a:txBody>
                  <a:tcPr anchor="ctr"/>
                </a:tc>
                <a:tc>
                  <a:txBody>
                    <a:bodyPr/>
                    <a:lstStyle/>
                    <a:p>
                      <a:pPr>
                        <a:buNone/>
                      </a:pPr>
                      <a:r>
                        <a:rPr lang="en-US" sz="1000" b="0"/>
                        <a:t>Has Trustee</a:t>
                      </a:r>
                    </a:p>
                  </a:txBody>
                  <a:tcPr anchor="ctr"/>
                </a:tc>
                <a:extLst>
                  <a:ext uri="{0D108BD9-81ED-4DB2-BD59-A6C34878D82A}">
                    <a16:rowId xmlns:a16="http://schemas.microsoft.com/office/drawing/2014/main" val="1663195445"/>
                  </a:ext>
                </a:extLst>
              </a:tr>
              <a:tr h="449330">
                <a:tc>
                  <a:txBody>
                    <a:bodyPr/>
                    <a:lstStyle/>
                    <a:p>
                      <a:pPr>
                        <a:buNone/>
                      </a:pPr>
                      <a:r>
                        <a:rPr lang="en-US" sz="1000" b="0">
                          <a:effectLst/>
                        </a:rPr>
                        <a:t>ZVLOAD</a:t>
                      </a:r>
                    </a:p>
                  </a:txBody>
                  <a:tcPr anchor="ctr"/>
                </a:tc>
                <a:tc>
                  <a:txBody>
                    <a:bodyPr/>
                    <a:lstStyle/>
                    <a:p>
                      <a:pPr>
                        <a:buNone/>
                      </a:pPr>
                      <a:r>
                        <a:rPr lang="en-US" sz="1000" b="0"/>
                        <a:t>Has Voluntary Load Reduction Contact</a:t>
                      </a:r>
                    </a:p>
                  </a:txBody>
                  <a:tcPr anchor="ctr"/>
                </a:tc>
                <a:extLst>
                  <a:ext uri="{0D108BD9-81ED-4DB2-BD59-A6C34878D82A}">
                    <a16:rowId xmlns:a16="http://schemas.microsoft.com/office/drawing/2014/main" val="289516350"/>
                  </a:ext>
                </a:extLst>
              </a:tr>
            </a:tbl>
          </a:graphicData>
        </a:graphic>
      </p:graphicFrame>
    </p:spTree>
    <p:extLst>
      <p:ext uri="{BB962C8B-B14F-4D97-AF65-F5344CB8AC3E}">
        <p14:creationId xmlns:p14="http://schemas.microsoft.com/office/powerpoint/2010/main" val="920370272"/>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6x9 PowertPoint Template-CE-Jan.2019-AFC">
  <a:themeElements>
    <a:clrScheme name="2024 Color Pallette">
      <a:dk1>
        <a:srgbClr val="000000"/>
      </a:dk1>
      <a:lt1>
        <a:srgbClr val="FFFEFE"/>
      </a:lt1>
      <a:dk2>
        <a:srgbClr val="454947"/>
      </a:dk2>
      <a:lt2>
        <a:srgbClr val="E3E4E3"/>
      </a:lt2>
      <a:accent1>
        <a:srgbClr val="0067A4"/>
      </a:accent1>
      <a:accent2>
        <a:srgbClr val="84BE41"/>
      </a:accent2>
      <a:accent3>
        <a:srgbClr val="E3E4E3"/>
      </a:accent3>
      <a:accent4>
        <a:srgbClr val="23425F"/>
      </a:accent4>
      <a:accent5>
        <a:srgbClr val="F5BB25"/>
      </a:accent5>
      <a:accent6>
        <a:srgbClr val="B4B4B3"/>
      </a:accent6>
      <a:hlink>
        <a:srgbClr val="0067A4"/>
      </a:hlink>
      <a:folHlink>
        <a:srgbClr val="B4B4B3"/>
      </a:folHlink>
    </a:clrScheme>
    <a:fontScheme name="2024 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a:solidFill>
            <a:schemeClr val="tx2"/>
          </a:solidFill>
        </a:ln>
        <a:effectLst/>
      </a:spPr>
      <a:bodyPr rtlCol="0" anchor="ctr"/>
      <a:lstStyle>
        <a:defPPr algn="ctr">
          <a:defRPr sz="1000" dirty="0">
            <a:latin typeface="Montserrat" pitchFamily="2" charset="77"/>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ln>
          <a:solidFill>
            <a:schemeClr val="bg2"/>
          </a:solidFill>
        </a:ln>
      </a:spPr>
      <a:bodyPr wrap="square" rtlCol="0">
        <a:spAutoFit/>
      </a:bodyPr>
      <a:lstStyle>
        <a:defPPr algn="l">
          <a:defRPr sz="1000" dirty="0">
            <a:latin typeface="Montserrat" pitchFamily="2" charset="77"/>
          </a:defRPr>
        </a:defPPr>
      </a:lstStyle>
    </a:txDef>
  </a:objectDefaults>
  <a:extraClrSchemeLst/>
  <a:extLst>
    <a:ext uri="{05A4C25C-085E-4340-85A3-A5531E510DB2}">
      <thm15:themeFamily xmlns:thm15="http://schemas.microsoft.com/office/thememl/2012/main" name="2024 All Purpose PowerPoint Template.potx" id="{84CB3BC2-CE68-044F-9772-13EBC42BCB48}" vid="{4FEEE54B-C9A9-9B47-9C99-2B91212D14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eeb413d7-29a7-49c8-b3b9-887ddee13f64" ContentTypeId="0x01" PreviousValue="false"/>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01e0a56-4899-4cce-a214-5e425f318dcb">
      <Terms xmlns="http://schemas.microsoft.com/office/infopath/2007/PartnerControls"/>
    </lcf76f155ced4ddcb4097134ff3c332f>
    <TaxCatchAll xmlns="2c7fe448-207e-4aca-804d-051f84c484d7">
      <Value>4</Value>
    </TaxCatchAll>
    <i0f84bba906045b4af568ee102a52dcb xmlns="2c7fe448-207e-4aca-804d-051f84c484d7">
      <Terms xmlns="http://schemas.microsoft.com/office/infopath/2007/PartnerControls">
        <TermInfo xmlns="http://schemas.microsoft.com/office/infopath/2007/PartnerControls">
          <TermName xmlns="http://schemas.microsoft.com/office/infopath/2007/PartnerControls">COR-104 Policies and Procedures</TermName>
          <TermId xmlns="http://schemas.microsoft.com/office/infopath/2007/PartnerControls">23fe8a5f-9220-44d9-ae32-6aebd451fecc</TermId>
        </TermInfo>
      </Terms>
    </i0f84bba906045b4af568ee102a52dcb>
    <RSC_x0020_Event_x0020_Date xmlns="a433be04-1063-452b-9ab8-ba06373cb7c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E85E4EB0480BDD4BA0725FDA835A98E9" ma:contentTypeVersion="12" ma:contentTypeDescription="Create a new document." ma:contentTypeScope="" ma:versionID="a7e85cd843c542c305e66a5ac0a6561c">
  <xsd:schema xmlns:xsd="http://www.w3.org/2001/XMLSchema" xmlns:xs="http://www.w3.org/2001/XMLSchema" xmlns:p="http://schemas.microsoft.com/office/2006/metadata/properties" xmlns:ns2="a433be04-1063-452b-9ab8-ba06373cb7cb" xmlns:ns3="2c7fe448-207e-4aca-804d-051f84c484d7" xmlns:ns4="301e0a56-4899-4cce-a214-5e425f318dcb" targetNamespace="http://schemas.microsoft.com/office/2006/metadata/properties" ma:root="true" ma:fieldsID="30d58687421f0a6c39a35b55d9f36047" ns2:_="" ns3:_="" ns4:_="">
    <xsd:import namespace="a433be04-1063-452b-9ab8-ba06373cb7cb"/>
    <xsd:import namespace="2c7fe448-207e-4aca-804d-051f84c484d7"/>
    <xsd:import namespace="301e0a56-4899-4cce-a214-5e425f318dcb"/>
    <xsd:element name="properties">
      <xsd:complexType>
        <xsd:sequence>
          <xsd:element name="documentManagement">
            <xsd:complexType>
              <xsd:all>
                <xsd:element ref="ns2:RSC_x0020_Event_x0020_Date" minOccurs="0"/>
                <xsd:element ref="ns3:i0f84bba906045b4af568ee102a52dcb" minOccurs="0"/>
                <xsd:element ref="ns3:TaxCatchAll" minOccurs="0"/>
                <xsd:element ref="ns4:MediaServiceMetadata" minOccurs="0"/>
                <xsd:element ref="ns4:MediaServiceFastMetadata" minOccurs="0"/>
                <xsd:element ref="ns4:MediaServiceSearchProperties" minOccurs="0"/>
                <xsd:element ref="ns4:MediaServiceDateTaken" minOccurs="0"/>
                <xsd:element ref="ns4:lcf76f155ced4ddcb4097134ff3c332f"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33be04-1063-452b-9ab8-ba06373cb7cb" elementFormDefault="qualified">
    <xsd:import namespace="http://schemas.microsoft.com/office/2006/documentManagement/types"/>
    <xsd:import namespace="http://schemas.microsoft.com/office/infopath/2007/PartnerControls"/>
    <xsd:element name="RSC_x0020_Event_x0020_Date" ma:index="2" nillable="true" ma:displayName="RSC Event Date" ma:default="" ma:description="This is used for retention purpose" ma:format="DateOnly" ma:internalName="RSC_x0020_Event_x0020_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c7fe448-207e-4aca-804d-051f84c484d7" elementFormDefault="qualified">
    <xsd:import namespace="http://schemas.microsoft.com/office/2006/documentManagement/types"/>
    <xsd:import namespace="http://schemas.microsoft.com/office/infopath/2007/PartnerControls"/>
    <xsd:element name="i0f84bba906045b4af568ee102a52dcb" ma:index="10" nillable="true" ma:taxonomy="true" ma:internalName="i0f84bba906045b4af568ee102a52dcb" ma:taxonomyFieldName="RevIMBCS" ma:displayName="Record Series Code" ma:indexed="true" ma:default="1;#Default RSC|9a6b99e8-c984-4e1f-adbd-d33c0db777c9" ma:fieldId="{20f84bba-9060-45b4-af56-8ee102a52dcb}" ma:sspId="eeb413d7-29a7-49c8-b3b9-887ddee13f64" ma:termSetId="7f59b463-bd21-44ec-893d-1d24de4ba12e" ma:anchorId="00000000-0000-0000-0000-000000000000" ma:open="false" ma:isKeyword="false">
      <xsd:complexType>
        <xsd:sequence>
          <xsd:element ref="pc:Terms" minOccurs="0" maxOccurs="1"/>
        </xsd:sequence>
      </xsd:complexType>
    </xsd:element>
    <xsd:element name="TaxCatchAll" ma:index="11" nillable="true" ma:displayName="Taxonomy Catch All Column" ma:hidden="true" ma:list="{0ec71dd2-9a89-4594-bd42-1ef39577ba0a}" ma:internalName="TaxCatchAll" ma:showField="CatchAllData" ma:web="2c7fe448-207e-4aca-804d-051f84c484d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01e0a56-4899-4cce-a214-5e425f318dcb"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eb413d7-29a7-49c8-b3b9-887ddee13f6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335610-4AA4-4FE7-AF91-F45CC40938C5}">
  <ds:schemaRefs>
    <ds:schemaRef ds:uri="Microsoft.SharePoint.Taxonomy.ContentTypeSync"/>
  </ds:schemaRefs>
</ds:datastoreItem>
</file>

<file path=customXml/itemProps2.xml><?xml version="1.0" encoding="utf-8"?>
<ds:datastoreItem xmlns:ds="http://schemas.openxmlformats.org/officeDocument/2006/customXml" ds:itemID="{6934203E-F84F-42A1-BE7F-2ED863C99AA5}">
  <ds:schemaRefs>
    <ds:schemaRef ds:uri="http://purl.org/dc/dcmitype/"/>
    <ds:schemaRef ds:uri="http://schemas.microsoft.com/office/2006/metadata/properties"/>
    <ds:schemaRef ds:uri="http://schemas.openxmlformats.org/package/2006/metadata/core-properties"/>
    <ds:schemaRef ds:uri="http://schemas.microsoft.com/office/2006/documentManagement/types"/>
    <ds:schemaRef ds:uri="2c7fe448-207e-4aca-804d-051f84c484d7"/>
    <ds:schemaRef ds:uri="301e0a56-4899-4cce-a214-5e425f318dcb"/>
    <ds:schemaRef ds:uri="http://purl.org/dc/terms/"/>
    <ds:schemaRef ds:uri="http://schemas.microsoft.com/office/infopath/2007/PartnerControls"/>
    <ds:schemaRef ds:uri="http://www.w3.org/XML/1998/namespace"/>
    <ds:schemaRef ds:uri="a433be04-1063-452b-9ab8-ba06373cb7cb"/>
    <ds:schemaRef ds:uri="http://purl.org/dc/elements/1.1/"/>
  </ds:schemaRefs>
</ds:datastoreItem>
</file>

<file path=customXml/itemProps3.xml><?xml version="1.0" encoding="utf-8"?>
<ds:datastoreItem xmlns:ds="http://schemas.openxmlformats.org/officeDocument/2006/customXml" ds:itemID="{8ADCFE08-E000-4E3C-9310-2C6D30497FD7}">
  <ds:schemaRefs>
    <ds:schemaRef ds:uri="http://schemas.microsoft.com/sharepoint/v3/contenttype/forms"/>
  </ds:schemaRefs>
</ds:datastoreItem>
</file>

<file path=customXml/itemProps4.xml><?xml version="1.0" encoding="utf-8"?>
<ds:datastoreItem xmlns:ds="http://schemas.openxmlformats.org/officeDocument/2006/customXml" ds:itemID="{8E5C41F0-1A8C-4F27-98CC-41CB6F8C0276}">
  <ds:schemaRefs>
    <ds:schemaRef ds:uri="2c7fe448-207e-4aca-804d-051f84c484d7"/>
    <ds:schemaRef ds:uri="301e0a56-4899-4cce-a214-5e425f318dcb"/>
    <ds:schemaRef ds:uri="a433be04-1063-452b-9ab8-ba06373cb7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TotalTime>
  <Words>11720</Words>
  <Application>Microsoft Office PowerPoint</Application>
  <PresentationFormat>Widescreen</PresentationFormat>
  <Paragraphs>1526</Paragraphs>
  <Slides>76</Slides>
  <Notes>4</Notes>
  <HiddenSlides>8</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76</vt:i4>
      </vt:variant>
    </vt:vector>
  </HeadingPairs>
  <TitlesOfParts>
    <vt:vector size="88" baseType="lpstr">
      <vt:lpstr>Aptos</vt:lpstr>
      <vt:lpstr>Aptos Display</vt:lpstr>
      <vt:lpstr>Arial</vt:lpstr>
      <vt:lpstr>Arial,Sans-Serif</vt:lpstr>
      <vt:lpstr>Calibri</vt:lpstr>
      <vt:lpstr>Courier New</vt:lpstr>
      <vt:lpstr>Montserrat</vt:lpstr>
      <vt:lpstr>Nunito</vt:lpstr>
      <vt:lpstr>Nunito Sans Light</vt:lpstr>
      <vt:lpstr>Wingdings</vt:lpstr>
      <vt:lpstr>Office Theme</vt:lpstr>
      <vt:lpstr>16x9 PowertPoint Template-CE-Jan.2019-AFC</vt:lpstr>
      <vt:lpstr>Create and Maintain Business Master Data  Workshop A-2  Jose Diaz and Mohanta Das 5/28/26</vt:lpstr>
      <vt:lpstr>Overarching Design Principles</vt:lpstr>
      <vt:lpstr>PowerPoint Presentation</vt:lpstr>
      <vt:lpstr>01 Scope, Purpose, Objective  </vt:lpstr>
      <vt:lpstr>Scope, Purpose, Objectives</vt:lpstr>
      <vt:lpstr>Ownership</vt:lpstr>
      <vt:lpstr>Maintain Org BP in CRM</vt:lpstr>
      <vt:lpstr>02 (L3) Manage Financial Details</vt:lpstr>
      <vt:lpstr>Data Environments</vt:lpstr>
      <vt:lpstr>Data Environments continued...</vt:lpstr>
      <vt:lpstr>Notes History</vt:lpstr>
      <vt:lpstr>Account History</vt:lpstr>
      <vt:lpstr>Account History Continued..</vt:lpstr>
      <vt:lpstr>Service Cloud v2 Financial Document View</vt:lpstr>
      <vt:lpstr>Open Item List</vt:lpstr>
      <vt:lpstr>Service Cloud v2 Open Items View</vt:lpstr>
      <vt:lpstr>Payments List</vt:lpstr>
      <vt:lpstr>Service Cloud v2 Payments View</vt:lpstr>
      <vt:lpstr>Display Itemized Statement</vt:lpstr>
      <vt:lpstr>Display Itemized Statement continued...</vt:lpstr>
      <vt:lpstr>Security Deposit</vt:lpstr>
      <vt:lpstr>Service Cloud v2 Security Deposit View</vt:lpstr>
      <vt:lpstr>Dunning History</vt:lpstr>
      <vt:lpstr>Service Cloud v2 Dunning View</vt:lpstr>
      <vt:lpstr>Write Off History</vt:lpstr>
      <vt:lpstr>Service Cloud v2 Write Off View</vt:lpstr>
      <vt:lpstr>Transfer Open Items</vt:lpstr>
      <vt:lpstr>Billing Overview</vt:lpstr>
      <vt:lpstr>Service Cloud v2 Invoices View</vt:lpstr>
      <vt:lpstr>BREAK!  - 10 mins</vt:lpstr>
      <vt:lpstr>03 Current &amp; Future State Assumptions</vt:lpstr>
      <vt:lpstr>Assumptions for Future State</vt:lpstr>
      <vt:lpstr>Assumptions for Future State</vt:lpstr>
      <vt:lpstr>Custom Fields</vt:lpstr>
      <vt:lpstr>04 Key Decisions </vt:lpstr>
      <vt:lpstr>Key Open Question</vt:lpstr>
      <vt:lpstr>Potential Decisions captured in BMD Workshop A-1</vt:lpstr>
      <vt:lpstr>05 FRICE-W</vt:lpstr>
      <vt:lpstr>FRICE-W Identified</vt:lpstr>
      <vt:lpstr>06 Drafted User Stories</vt:lpstr>
      <vt:lpstr>User Stories for Create and Maintain Business Master Data</vt:lpstr>
      <vt:lpstr>User Stories for Create and Maintain Business Master Data</vt:lpstr>
      <vt:lpstr>User Stories for Create and Maintain Business Master Data (ALL ADDED)</vt:lpstr>
      <vt:lpstr>User Stories for Create and Maintain Business Master Data (ALL ADDED)</vt:lpstr>
      <vt:lpstr>PowerPoint Presentation</vt:lpstr>
      <vt:lpstr>PowerPoint Presentation</vt:lpstr>
      <vt:lpstr>PowerPoint Presentation</vt:lpstr>
      <vt:lpstr>07 3rd Party Integration  </vt:lpstr>
      <vt:lpstr> </vt:lpstr>
      <vt:lpstr>08 Data Migration</vt:lpstr>
      <vt:lpstr>Potential Tables</vt:lpstr>
      <vt:lpstr>09 Key Decisions,  Action Items,  Change Impacts, Wrap-Up &amp; Next Steps</vt:lpstr>
      <vt:lpstr>Program Charging (CE Internal Only)   </vt:lpstr>
      <vt:lpstr>PowerPoint Presentation</vt:lpstr>
      <vt:lpstr>WORKSHOP OBJECTIVES AND OUTCOMES</vt:lpstr>
      <vt:lpstr>Objective</vt:lpstr>
      <vt:lpstr>Maintain Person BP in CRM</vt:lpstr>
      <vt:lpstr>02 (L3) Create Business Master Data</vt:lpstr>
      <vt:lpstr>Business Partner Number Ranges and Replication</vt:lpstr>
      <vt:lpstr>BP Roles </vt:lpstr>
      <vt:lpstr>Business Partner Role Mapping  </vt:lpstr>
      <vt:lpstr>Create Person BP in CRM</vt:lpstr>
      <vt:lpstr>Create Organization BP in CRM</vt:lpstr>
      <vt:lpstr>Titles</vt:lpstr>
      <vt:lpstr>Create Contact Person</vt:lpstr>
      <vt:lpstr>Contract Account Number Ranges and Replication</vt:lpstr>
      <vt:lpstr>Create Contract Account in CRM</vt:lpstr>
      <vt:lpstr>Identification Types </vt:lpstr>
      <vt:lpstr>BP ID Types - 78 </vt:lpstr>
      <vt:lpstr>Create an Individual Customer in Service Cloud v2</vt:lpstr>
      <vt:lpstr>Create an Account in Service Cloud v2</vt:lpstr>
      <vt:lpstr>Create an Individual Customer, Contact, or Account in Service Cloud v2</vt:lpstr>
      <vt:lpstr>Create an Individual Customer, Contact, or Account in Service Cloud v2</vt:lpstr>
      <vt:lpstr>Create an Individual Customer, Contact, or Account in Service Cloud v2</vt:lpstr>
      <vt:lpstr>BP Relationship Categories </vt:lpstr>
      <vt:lpstr>BP Relationships Categories in S4HANA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Diaz</dc:creator>
  <cp:lastModifiedBy>DAWN M PETTENGILL</cp:lastModifiedBy>
  <cp:revision>226</cp:revision>
  <dcterms:created xsi:type="dcterms:W3CDTF">2026-04-30T14:24:24Z</dcterms:created>
  <dcterms:modified xsi:type="dcterms:W3CDTF">2026-06-25T15:51:01Z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0x010100E85E4EB0480BDD4BA0725FDA835A98E9</vt:lpwstr>
  </property>
  <property fmtid="{D5CDD505-2E9C-101B-9397-08002B2CF9AE}" pid="3" name="MediaServiceImageTags">
    <vt:lpwstr/>
  </property>
  <property fmtid="{D5CDD505-2E9C-101B-9397-08002B2CF9AE}" pid="4" name="RevIMBCS">
    <vt:lpwstr>4;#COR-104 Policies and Procedures|23fe8a5f-9220-44d9-ae32-6aebd451fecc</vt:lpwstr>
  </property>
</Properties>
</file>