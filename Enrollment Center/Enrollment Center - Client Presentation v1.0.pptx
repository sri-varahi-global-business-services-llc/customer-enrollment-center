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1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ADCFC"/>
                </a:solidFill>
                <a:latin typeface="Arial"/>
              </a:rPr>
              <a:t>SAP  Service Cloud V2   ·   SAP BTP   ·   SAP S/4HANA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Customer Enrollment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One front door for every customer program — inside the agent desktop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2020824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6C32A9"/>
                </a:solidFill>
                <a:latin typeface="Arial"/>
              </a:rPr>
              <a:t>Enrollment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2384" y="3749039"/>
            <a:ext cx="2020824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0057D2"/>
                </a:solidFill>
                <a:latin typeface="Arial"/>
              </a:rPr>
              <a:t>Enrollment Pending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21808" y="3749039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188918"/>
                </a:solidFill>
                <a:latin typeface="Arial"/>
              </a:rPr>
              <a:t>Enrolled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11112" y="3749039"/>
            <a:ext cx="134874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3B2A00"/>
                </a:solidFill>
                <a:latin typeface="Arial"/>
              </a:rPr>
              <a:t>28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Solution Proposal  ·  July 2026  ·  Draft for client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The challenge: programs without a front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The legacy CRM Enrollment Center is retiring with the move to Service Cloud V2 — and SC V2 has no standard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984248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No Enrollment Center in SC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67128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Agents would swivel-chair into S/4HANA transactions for every enrollment — more clicks, longer calls, more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27832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11880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4107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Dozens of programs, none visible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79476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Rate, payment, assistance and DER programs live on different SAP objects. No agent today sees participation and eligibility in one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55464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5239512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03834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Eligibility knowledge walks out the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422392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Program rules live in agents' heads and tribal knowledge — inconsistent offers, compliance risk, and no audit trail.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600200"/>
            <a:ext cx="3794760" cy="4681728"/>
          </a:xfrm>
          <a:prstGeom prst="roundRect">
            <a:avLst>
              <a:gd name="adj" fmla="val 5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920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ADCFC"/>
                </a:solidFill>
                <a:latin typeface="Arial"/>
              </a:rPr>
              <a:t>What the legacy option study showed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514600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08152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scalability &amp; training impact with no Enrollment 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81304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4 objects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79976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per new program in the legacy build — UI change every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111496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360°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5678424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program view agents lose at CRM retirement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The solution: Enrollment Center, rebuilt for the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A BTP-hosted application embedded in the Service Cloud V2 agent desktop — S/4HANA Utilities stays the single system of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59" y="1874519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Participating Programs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Current enrollments, one-click de-enroll, request vs. actual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46520" y="1874519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Available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677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Eligible programs with one-click enroll and guided capture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32918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Eligibility 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Hard stops, warnings and reasons — evaluated in one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06324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32918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Program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Past participation feeding waiting-period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2D3E"/>
                </a:solidFill>
                <a:latin typeface="Arial"/>
              </a:rPr>
              <a:t>Two access points — one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Work center (standalone)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Full enroll / de-enroll / status for identified customers with active contracts.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120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Inside Customer Move-In (embedded step)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Offers captured during the move-in; fulfilled automatically when the contract activates.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See it working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Interactive demo — fictitious data, real behavior. Open on any device, no login.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Combined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6771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Work Center ⇄ Move-In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demo.svgbs.com  (pending DNS; live: sri-varahi-global-business-services-llc.github.io/enrollment-center-demo)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6499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Work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307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7 eligibility personas · 28 programs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4164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demo.svgbs.com/workcenter.html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280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Move-In embedded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9379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Pre-active capture &amp; deferred fulfillment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0468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demo.svgbs.com/movein.html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37360"/>
            <a:ext cx="4069080" cy="4160520"/>
          </a:xfrm>
          <a:prstGeom prst="roundRect">
            <a:avLst>
              <a:gd name="adj" fmla="val 8000"/>
            </a:avLst>
          </a:prstGeom>
          <a:solidFill>
            <a:srgbClr val="0F1C30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Try in the demo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244144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23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Switch among 7 personas — non-AMI,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medical, prepay, commercial — rules change live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2826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6440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Enroll in Dynamic Peak Pricing,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watch the event flow in the monitor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239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05656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Trigger a supervisor override on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a warning-level failure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9651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94690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Simulate Move-In Completed and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see parked requests fulfill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Enrollment at the perfect moment: during Move-In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Programs are offered while the customer is on the phone starting service — fulfilled safely once the contract is active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6C32A9"/>
                </a:solidFill>
                <a:latin typeface="Arial"/>
              </a:rPr>
              <a:t>1 · 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Agent offers eligible programs inside the Move-In guided flow; selections stored as Enrollment Request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91256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56432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85032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556B82"/>
                </a:solidFill>
                <a:latin typeface="Arial"/>
              </a:rPr>
              <a:t>2 · Parked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Requests wait, linked to the move-in document — nothing touches S/4HANA yet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99048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4224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92824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0057D2"/>
                </a:solidFill>
                <a:latin typeface="Arial"/>
              </a:rPr>
              <a:t>3 · Contract activates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S/4HANA event releases the parked requests; eligibility re-checked on the live contract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06840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72016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0616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188918"/>
                </a:solidFill>
                <a:latin typeface="Arial"/>
              </a:rPr>
              <a:t>4 · Enrolled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0616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Fulfillment executes; agent and case timeline updated automatically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006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And if the move-in is cancelled?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93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Linked enrollment requests cancel automatically — full audit trail, no orphaned enrollments, no manual cleanup. The same guarantees apply in the standalone flow: every submission is idempotent and every status change is event-confirmed by S/4HANA.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28 programs on day one — new ones without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Catalog-driven: a new program is a configuration row plus business rules, not a UI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Rate /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DPP · CPP · TOU · PTR · Green Power · Community Solar · Interruptible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6C32A9"/>
                </a:solidFill>
                <a:latin typeface="Arial"/>
              </a:rPr>
              <a:t>Demand Response / 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Thermostat · AC Cycling · EV Charging · OpenADR · C&amp;I DR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83879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Payment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Payment Plan (DPA) · AutoPay · Extension · PrePay · Budget Billing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Billing Preference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Due Date (CSDD) · eBill · Summary Billing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Assistance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CARE/FERA · LIHEAP · PIPP · Arrearage Mgmt · Medical Alert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Account Mgmt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Usage &amp; High-Bill Alerts · Third-Party Notification · EE Rebates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74920"/>
            <a:ext cx="6949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ADCFC"/>
                </a:solidFill>
                <a:latin typeface="Arial"/>
              </a:rPr>
              <a:t>The catalog decides which SAP object each program touches — rate model, contract account, correspondence, assistance marks — or hands DER programs to their platform.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0292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B300"/>
                </a:solidFill>
                <a:latin typeface="Arial"/>
              </a:rPr>
              <a:t>6 groups · 15 recipes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55321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ADCFC"/>
                </a:solidFill>
                <a:latin typeface="Arial"/>
              </a:rPr>
              <a:t>one enrollment experience for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Architecture: extend, don't modify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Side-by-side extension on SAP BTP — the S/4HANA core stays clean and upgrade-safe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CADCFC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64792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2D3E"/>
                </a:solidFill>
                <a:latin typeface="Arial"/>
              </a:rPr>
              <a:t>SAP Service Cloud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76479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D2D3E"/>
                </a:solidFill>
                <a:latin typeface="Arial"/>
              </a:rPr>
              <a:t>Agent desktop · case management · Enrollment Center embedded (work center + Move-In step)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24912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 w="9525">
            <a:solidFill>
              <a:srgbClr val="007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43784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BTP — the extension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43784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Enrollment app &amp; APIs · program catalog · workflow &amp; overrides · audit · event 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03904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1D3358"/>
          </a:solidFill>
          <a:ln w="9525">
            <a:solidFill>
              <a:srgbClr val="1D3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22776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Integration Suite  +  Event 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9227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Managed interfaces to S/4HANA · asynchronous confirmations · retry &amp; error handling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82896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01768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S/4HANA Utilities — system of record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0176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Business partner · contract account · premise · device · rates · billing · BRFplus eligibility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56B82"/>
                </a:solidFill>
                <a:latin typeface="Arial"/>
              </a:rPr>
              <a:t>Everything the agent does flows through governed APIs — no custom UI code inside S/4HANA, no direct table access, upgrades unaffected.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Eligibility your business team maintains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One BRFplus rules application in S/4HANA answers every channel — evaluated in a single call before the screen even renders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4136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74136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4136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decision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1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1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rule 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5128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message texts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32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D20A0A"/>
                </a:solidFill>
                <a:latin typeface="Arial"/>
              </a:rPr>
              <a:t>HARD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401568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blocks enrollment — e.g. PrePay excluded for life-support premises; AMI meter required for peak pricing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502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3B2A00"/>
                </a:solidFill>
                <a:latin typeface="Arial"/>
              </a:rPr>
              <a:t>WARNING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96849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may proceed with supervisor approval — e.g. returned payments; every override is recorded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17136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0057D2"/>
                </a:solidFill>
                <a:latin typeface="Arial"/>
              </a:rPr>
              <a:t>NOT YET ELIGIBLE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535424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shown during Move-In for rules needing billing history — becomes eligible automatically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EBF5EB"/>
          </a:solidFill>
          <a:ln w="9525">
            <a:solidFill>
              <a:srgbClr val="BFE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F5C0F"/>
                </a:solidFill>
                <a:latin typeface="Arial"/>
              </a:rPr>
              <a:t>Rule content lives in maintainable decision tables — waiting periods, thresholds and program criteria change by business governance, not by a development project. Delivered pre-filled for all 28 programs.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Every enrollment, tracked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Agents see live status; supervisors see exceptions; auditors see everything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6C32A9"/>
                </a:solidFill>
                <a:latin typeface="Arial"/>
              </a:rPr>
              <a:t>Enrollment Request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54679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0057D2"/>
                </a:solidFill>
                <a:latin typeface="Arial"/>
              </a:rPr>
              <a:t>Enrollment Pending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97879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188918"/>
                </a:solidFill>
                <a:latin typeface="Arial"/>
              </a:rPr>
              <a:t>Enrolled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41080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783080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confirmed by S/4HANA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Warning override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Routed to the supervisor inbox with justification; decision and approver recorded forever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08576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Failure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Automatic retries, then a supervisor work item — the agent is never blocked, the customer never lost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39912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Reconciliation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 daily safety net compares platform and S/4HANA state — nothing ages silently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Every action — eligibility result, submission, override, status change — is written to an immutable audit trail with actor, timestamp and channel. Program compliance reporting becomes a query, not an investigation.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Why SAP BTP — and why it is still a Fiori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Three platforms evaluated against nine weighted criteria — full evaluation in the appendix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SAP BTP side-by-side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1737360"/>
            <a:ext cx="4915814" cy="45720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574" y="1792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070F2"/>
                </a:solidFill>
                <a:latin typeface="Arial"/>
              </a:rPr>
              <a:t>4.80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RECOMMENDED — native SC V2 embedding, clean core, reusable APIs for self-service and IVR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79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Fiori app on S/4HANA (RAP)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880360"/>
            <a:ext cx="2509113" cy="457200"/>
          </a:xfrm>
          <a:prstGeom prst="roundRect">
            <a:avLst>
              <a:gd name="adj" fmla="val 50000"/>
            </a:avLst>
          </a:prstGeom>
          <a:solidFill>
            <a:srgbClr val="8A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3873" y="2935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A9BB0"/>
                </a:solidFill>
                <a:latin typeface="Arial"/>
              </a:rPr>
              <a:t>2.45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Fallback only — couples UI to S/4 upgrades, exposes the core to agent browsers, no channel 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ABAP Web Dynpro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023360"/>
            <a:ext cx="1331366" cy="457200"/>
          </a:xfrm>
          <a:prstGeom prst="roundRect">
            <a:avLst>
              <a:gd name="adj" fmla="val 50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6126" y="4078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B8B8"/>
                </a:solidFill>
                <a:latin typeface="Arial"/>
              </a:rPr>
              <a:t>1.30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Rejected — maintenance-mode technology, no SC V2 embedding, contrary to SAP strategy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8000"/>
            </a:avLst>
          </a:prstGeom>
          <a:solidFill>
            <a:srgbClr val="E3F0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57D2"/>
                </a:solidFill>
                <a:latin typeface="Arial"/>
              </a:rPr>
              <a:t>“It IS a Fiori application — Fiori design, Horizon theme — hosted on BTP where it belongs, so S/4HANA stays clean-core and every UI release ships independently of your upgrade calendar.”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AI on top of the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Machine learning recommends — the rules engine decides. Full portfolio in the AI/ML Roadmap.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59" y="18470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6C32A9"/>
                </a:solidFill>
                <a:latin typeface="Arial"/>
              </a:rPr>
              <a:t>AI-1 · Recommend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Next-best-program ranking with reasons — agents pitch the right program first (live in the demo)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46520" y="18470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AI-2 · Explain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6771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Plain-language program explanations for THIS customer, grounded on the catalog (live in the demo)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34472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AI-3 · Verify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867911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Bill-impact simulation on interval data before rate enrollment — recommend only when it saves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34472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AI-4 · Protect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67911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Payment-plan default prediction, document intelligence for assistance programs, exception triage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ADCFC"/>
                </a:solidFill>
                <a:latin typeface="Arial"/>
              </a:rPr>
              <a:t>Governance: hard eligibility stays in auditable BRFplus decision tables — no model can enroll, reject or override. AI ranks, explains, predicts and drafts, always labeled, always with the agent in the loop.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What the business 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Measured against the KPIs your call center already tracks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9280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&lt; 3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9476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from opening the Enrollment Center to a complete, eligibility-checked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9280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1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9476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evaluates all 28 programs across every contract account — no per-program prompts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364991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modifications to the S/4HANA core — clean, upgrade-safe extension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0896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1012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364991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of enrollments audited with eligibility basis, consent and actor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B300"/>
                </a:solidFill>
                <a:latin typeface="Arial"/>
              </a:rPr>
              <a:t>And the strategic payoff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ADCFC"/>
                </a:solidFill>
                <a:latin typeface="Arial"/>
              </a:rPr>
              <a:t>The same eligibility and enrollment services power your next channels — customer self-service, IVR, and the DER platform — without rebuilding. Agents launch it first; the architecture already serves all of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Delivery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Design is complete and reviewed — build starts with a two-week proof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556B82"/>
                </a:solidFill>
                <a:latin typeface="Arial"/>
              </a:rPr>
              <a:t>Spike — 2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Prove SC V2 embedding (both access points) and principal propagation to S/4HANA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Now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78808" y="2788920"/>
            <a:ext cx="237744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08576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0057D2"/>
                </a:solidFill>
                <a:latin typeface="Arial"/>
              </a:rPr>
              <a:t>Increment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Enrollment Center shell · context &amp; eligibility · first program end-to-end (CSDD) · SC V2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Wks 3–10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10144" y="2788920"/>
            <a:ext cx="237744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11312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39912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188918"/>
                </a:solidFill>
                <a:latin typeface="Arial"/>
              </a:rPr>
              <a:t>Increment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Full catalog · Move-In embedded mode · de-enrollment · overrides &amp; exceptions · supervisor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2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Wks 11–20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902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Already on the table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83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8 design documents (solution, technical, deployment, rules, runtime, evaluation)  ·  BRFplus configuration workbook pre-filled for 28 programs  ·  3 live interactive demos  ·  CAP application scaffold with the program catalog seeded — the build does not start from zero.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Let's put every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00"/>
                </a:solidFill>
                <a:latin typeface="Arial"/>
              </a:rPr>
              <a:t>one click from your agents.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7947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3813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Approve the solution design and technology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6168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4379976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Nominate the pilot program set and business rule owners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9286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946904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Start the two-week embedding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Demo: demo.svgbs.com   ·   Full design set available for review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How the AI score is calculated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The percentage is a calibrated enrollment probability — the likelihood this customer enrolls if the agent offers the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78308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81965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Training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0370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 system labels its own examples: every offer shown, plus the outcome — enrolled within 30 days or not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3128" y="178308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192" y="181965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20370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 context already on screen: meter type and status, DER equipment, payment behavior, program history, usage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60020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56448" y="178308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1" y="181965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1" y="220370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A classification model on SAP HANA Cloud turns those features into a raw probability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4612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808" y="342900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46557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Calibration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84962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Adjusted so the number means what it says: of customers scored 87%, about 87% actually enroll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324612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53128" y="342900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346557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Reason shown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384962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 line under the badge comes from the model's top contributing factors — never free text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9" y="324612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56448" y="342900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1" y="346557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Ranking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1" y="384962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Sort order weighs probability × program value — high-value programs can outrank easy wins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9379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ADCFC"/>
                </a:solidFill>
                <a:latin typeface="Arial"/>
              </a:rPr>
              <a:t>Cold start: launches on weighted business rules, swaps to the trained model after 3–6 months of outcomes.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CADCFC"/>
                </a:solidFill>
                <a:latin typeface="Arial"/>
              </a:rPr>
              <a:t>The model never decides eligibility — that stays in the BRFplus rules engine.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193792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FFB300"/>
                </a:solidFill>
                <a:latin typeface="Arial"/>
              </a:rPr>
              <a:t>Live in the demo:</a:t>
            </a:r>
          </a:p>
          <a:p>
            <a:pPr algn="l">
              <a:lnSpc>
                <a:spcPct val="120000"/>
              </a:lnSpc>
            </a:pPr>
            <a:r>
              <a:rPr sz="1250" b="1">
                <a:solidFill>
                  <a:srgbClr val="FFB300"/>
                </a:solidFill>
                <a:latin typeface="Arial"/>
              </a:rPr>
              <a:t>click any ✨ AI badge for this explanation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