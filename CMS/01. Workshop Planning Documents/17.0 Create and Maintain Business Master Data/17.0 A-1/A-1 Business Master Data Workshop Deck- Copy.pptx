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7FFFFFF0_1996B2E2.xml" ContentType="application/vnd.ms-powerpoint.comments+xml"/>
  <Override PartName="/ppt/comments/modernComment_7FFFFFFE_878C95C.xml" ContentType="application/vnd.ms-powerpoint.comments+xml"/>
  <Override PartName="/ppt/comments/modernComment_11A_1E4CE9D1.xml" ContentType="application/vnd.ms-powerpoint.comments+xml"/>
  <Override PartName="/ppt/comments/modernComment_7FFFFFFF_36DBBC60.xml" ContentType="application/vnd.ms-powerpoint.comments+xml"/>
  <Override PartName="/ppt/comments/modernComment_11C_5FAB239F.xml" ContentType="application/vnd.ms-powerpoint.comments+xml"/>
  <Override PartName="/ppt/comments/modernComment_11B_9EC8F32F.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 id="2147483685" r:id="rId6"/>
  </p:sldMasterIdLst>
  <p:notesMasterIdLst>
    <p:notesMasterId r:id="rId68"/>
  </p:notesMasterIdLst>
  <p:sldIdLst>
    <p:sldId id="268" r:id="rId7"/>
    <p:sldId id="280" r:id="rId8"/>
    <p:sldId id="2147483632" r:id="rId9"/>
    <p:sldId id="295" r:id="rId10"/>
    <p:sldId id="2147483637" r:id="rId11"/>
    <p:sldId id="2147483638" r:id="rId12"/>
    <p:sldId id="258" r:id="rId13"/>
    <p:sldId id="294" r:id="rId14"/>
    <p:sldId id="2147483645" r:id="rId15"/>
    <p:sldId id="260" r:id="rId16"/>
    <p:sldId id="2147483635" r:id="rId17"/>
    <p:sldId id="2147483642" r:id="rId18"/>
    <p:sldId id="263" r:id="rId19"/>
    <p:sldId id="296" r:id="rId20"/>
    <p:sldId id="301" r:id="rId21"/>
    <p:sldId id="278" r:id="rId22"/>
    <p:sldId id="297" r:id="rId23"/>
    <p:sldId id="2147483646" r:id="rId24"/>
    <p:sldId id="282" r:id="rId25"/>
    <p:sldId id="2147483647" r:id="rId26"/>
    <p:sldId id="272" r:id="rId27"/>
    <p:sldId id="265" r:id="rId28"/>
    <p:sldId id="266" r:id="rId29"/>
    <p:sldId id="292" r:id="rId30"/>
    <p:sldId id="299" r:id="rId31"/>
    <p:sldId id="291" r:id="rId32"/>
    <p:sldId id="281" r:id="rId33"/>
    <p:sldId id="264" r:id="rId34"/>
    <p:sldId id="279" r:id="rId35"/>
    <p:sldId id="302" r:id="rId36"/>
    <p:sldId id="298" r:id="rId37"/>
    <p:sldId id="300" r:id="rId38"/>
    <p:sldId id="303" r:id="rId39"/>
    <p:sldId id="276" r:id="rId40"/>
    <p:sldId id="304" r:id="rId41"/>
    <p:sldId id="277" r:id="rId42"/>
    <p:sldId id="2147483639" r:id="rId43"/>
    <p:sldId id="285" r:id="rId44"/>
    <p:sldId id="284" r:id="rId45"/>
    <p:sldId id="283" r:id="rId46"/>
    <p:sldId id="286" r:id="rId47"/>
    <p:sldId id="288" r:id="rId48"/>
    <p:sldId id="289" r:id="rId49"/>
    <p:sldId id="290" r:id="rId50"/>
    <p:sldId id="259" r:id="rId51"/>
    <p:sldId id="2147483640" r:id="rId52"/>
    <p:sldId id="275" r:id="rId53"/>
    <p:sldId id="261" r:id="rId54"/>
    <p:sldId id="2147483641" r:id="rId55"/>
    <p:sldId id="270" r:id="rId56"/>
    <p:sldId id="271" r:id="rId57"/>
    <p:sldId id="273" r:id="rId58"/>
    <p:sldId id="274" r:id="rId59"/>
    <p:sldId id="256" r:id="rId60"/>
    <p:sldId id="262" r:id="rId61"/>
    <p:sldId id="257" r:id="rId62"/>
    <p:sldId id="2147482861" r:id="rId63"/>
    <p:sldId id="269" r:id="rId64"/>
    <p:sldId id="287" r:id="rId65"/>
    <p:sldId id="293" r:id="rId66"/>
    <p:sldId id="267"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C56B50B-91B3-483C-BE05-FE0EDD9856A7}">
          <p14:sldIdLst>
            <p14:sldId id="268"/>
            <p14:sldId id="280"/>
            <p14:sldId id="2147483632"/>
            <p14:sldId id="295"/>
            <p14:sldId id="2147483637"/>
            <p14:sldId id="2147483638"/>
            <p14:sldId id="258"/>
            <p14:sldId id="294"/>
            <p14:sldId id="2147483645"/>
            <p14:sldId id="260"/>
            <p14:sldId id="2147483635"/>
            <p14:sldId id="2147483642"/>
            <p14:sldId id="263"/>
            <p14:sldId id="296"/>
            <p14:sldId id="301"/>
            <p14:sldId id="278"/>
            <p14:sldId id="297"/>
            <p14:sldId id="2147483646"/>
            <p14:sldId id="282"/>
            <p14:sldId id="2147483647"/>
            <p14:sldId id="272"/>
            <p14:sldId id="265"/>
            <p14:sldId id="266"/>
            <p14:sldId id="292"/>
            <p14:sldId id="299"/>
            <p14:sldId id="291"/>
            <p14:sldId id="281"/>
            <p14:sldId id="264"/>
            <p14:sldId id="279"/>
            <p14:sldId id="302"/>
            <p14:sldId id="298"/>
            <p14:sldId id="300"/>
            <p14:sldId id="303"/>
            <p14:sldId id="276"/>
            <p14:sldId id="304"/>
            <p14:sldId id="277"/>
            <p14:sldId id="2147483639"/>
            <p14:sldId id="285"/>
            <p14:sldId id="284"/>
            <p14:sldId id="283"/>
            <p14:sldId id="286"/>
            <p14:sldId id="288"/>
            <p14:sldId id="289"/>
            <p14:sldId id="290"/>
            <p14:sldId id="259"/>
            <p14:sldId id="2147483640"/>
            <p14:sldId id="275"/>
            <p14:sldId id="261"/>
            <p14:sldId id="2147483641"/>
            <p14:sldId id="270"/>
            <p14:sldId id="271"/>
            <p14:sldId id="273"/>
            <p14:sldId id="274"/>
            <p14:sldId id="256"/>
            <p14:sldId id="262"/>
            <p14:sldId id="257"/>
            <p14:sldId id="2147482861"/>
          </p14:sldIdLst>
        </p14:section>
        <p14:section name="Graveyard" id="{6A0FE7CB-C75F-47F8-8DB4-A309BCF33C4C}">
          <p14:sldIdLst>
            <p14:sldId id="269"/>
            <p14:sldId id="287"/>
            <p14:sldId id="293"/>
            <p14:sldId id="267"/>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D054E2A-988F-FF15-C981-8B792429B072}" name="DAWN M PETTENGILL" initials="DP" userId="S::DAWN.PETTENGILL@cmsenergy.com::6c3e7221-c014-41df-9963-eb44707bad46" providerId="AD"/>
  <p188:author id="{DE9ACA47-3EA9-04A0-C6C5-013CFC6955FC}" name="Jose Diaz" initials="JD" userId="S::jose.diaz@cmsenergy.com::517cb5ef-6fb8-49bc-8303-535c95eee28f" providerId="AD"/>
  <p188:author id="{63114D57-0809-584E-AAB2-61DBCC96837E}" name="Shibu Devapalan Prabha" initials="SD" userId="S::Shibu.DevapalanPrabha@cmsenergy.com::183e8b0d-c241-4499-bcd3-c8d01511828f" providerId="AD"/>
  <p188:author id="{F71F5868-14A0-AE0D-85D4-64A03FE904D8}" name="Taylor Ilov" initials="" userId="S::Taylor.Ilov@ibm.com::43dc5e75-7824-4f8d-a1aa-508c4d2ae3d7" providerId="AD"/>
  <p188:author id="{213F0180-4E89-B86B-F6E1-E03B7518BAE5}" name="Taylor Ilov" initials="TI" userId="S::taylor.ilov@ibm.com::43dc5e75-7824-4f8d-a1aa-508c4d2ae3d7" providerId="AD"/>
  <p188:author id="{55932883-5CB1-84AB-7BEE-79D4FF9FD896}" name="DAWN M PETTENGILL" initials="DP" userId="S::dawn.pettengill@cmsenergy.com::6c3e7221-c014-41df-9963-eb44707bad46" providerId="AD"/>
  <p188:author id="{06E22CA2-C0F8-AC46-CA2A-3E2B1B6644D3}" name="Taylor Ilov" initials="TI" userId="S::taylor.ilov@cmsenergy.com::b3e8fa34-e639-4d12-a6dc-5e3032b39fb7" providerId="AD"/>
  <p188:author id="{501AB7E2-9689-D00B-6C95-3A5D410786DE}" name="Jose Diaz" initials="JD" userId="S::jose.diaz2@ibm.com::9b29bd53-f7fb-41c2-aeba-4f48f8f2c2bf"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0C8337-C6B1-916E-25C4-5BDDCF245EAB}" v="51" dt="2026-06-11T03:25:10.3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222"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slide" Target="slides/slide60.xml"/><Relationship Id="rId74" Type="http://schemas.microsoft.com/office/2015/10/relationships/revisionInfo" Target="revisionInfo.xml"/><Relationship Id="rId5" Type="http://schemas.openxmlformats.org/officeDocument/2006/relationships/slideMaster" Target="slideMasters/slideMaster1.xml"/><Relationship Id="rId61" Type="http://schemas.openxmlformats.org/officeDocument/2006/relationships/slide" Target="slides/slide5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presProps" Target="presProps.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viewProps" Target="viewProps.xml"/><Relationship Id="rId75"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microsoft.com/office/2016/11/relationships/changesInfo" Target="changesInfos/changesInfo1.xml"/><Relationship Id="rId4" Type="http://schemas.openxmlformats.org/officeDocument/2006/relationships/customXml" Target="../customXml/item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 Type="http://schemas.openxmlformats.org/officeDocument/2006/relationships/slide" Target="slides/slide1.xml"/><Relationship Id="rId7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Ilov" userId="S::taylor.ilov@cmsenergy.com::b3e8fa34-e639-4d12-a6dc-5e3032b39fb7" providerId="AD" clId="Web-{85F3C456-8B4D-EC70-9C90-360635DF6369}"/>
    <pc:docChg chg="delSld modSld modSection">
      <pc:chgData name="Taylor Ilov" userId="S::taylor.ilov@cmsenergy.com::b3e8fa34-e639-4d12-a6dc-5e3032b39fb7" providerId="AD" clId="Web-{85F3C456-8B4D-EC70-9C90-360635DF6369}" dt="2026-05-21T12:45:51.571" v="5"/>
      <pc:docMkLst>
        <pc:docMk/>
      </pc:docMkLst>
      <pc:sldChg chg="addSp">
        <pc:chgData name="Taylor Ilov" userId="S::taylor.ilov@cmsenergy.com::b3e8fa34-e639-4d12-a6dc-5e3032b39fb7" providerId="AD" clId="Web-{85F3C456-8B4D-EC70-9C90-360635DF6369}" dt="2026-05-21T12:45:51.571" v="5"/>
        <pc:sldMkLst>
          <pc:docMk/>
          <pc:sldMk cId="3852294437" sldId="268"/>
        </pc:sldMkLst>
      </pc:sldChg>
      <pc:sldChg chg="addSp delSp">
        <pc:chgData name="Taylor Ilov" userId="S::taylor.ilov@cmsenergy.com::b3e8fa34-e639-4d12-a6dc-5e3032b39fb7" providerId="AD" clId="Web-{85F3C456-8B4D-EC70-9C90-360635DF6369}" dt="2026-05-21T12:45:50.399" v="4"/>
        <pc:sldMkLst>
          <pc:docMk/>
          <pc:sldMk cId="3351640754" sldId="273"/>
        </pc:sldMkLst>
      </pc:sldChg>
    </pc:docChg>
  </pc:docChgLst>
  <pc:docChgLst>
    <pc:chgData name="Jose Diaz" userId="S::jose.diaz@cmsenergy.com::517cb5ef-6fb8-49bc-8303-535c95eee28f" providerId="AD" clId="Web-{AEDAA0FF-21AD-C6AD-5175-EB7225DEC29F}"/>
    <pc:docChg chg="addSld delSld modSld sldOrd modSection">
      <pc:chgData name="Jose Diaz" userId="S::jose.diaz@cmsenergy.com::517cb5ef-6fb8-49bc-8303-535c95eee28f" providerId="AD" clId="Web-{AEDAA0FF-21AD-C6AD-5175-EB7225DEC29F}" dt="2026-05-22T17:26:00.954" v="1226" actId="20577"/>
      <pc:docMkLst>
        <pc:docMk/>
      </pc:docMkLst>
      <pc:sldChg chg="addSp delSp modSp">
        <pc:chgData name="Jose Diaz" userId="S::jose.diaz@cmsenergy.com::517cb5ef-6fb8-49bc-8303-535c95eee28f" providerId="AD" clId="Web-{AEDAA0FF-21AD-C6AD-5175-EB7225DEC29F}" dt="2026-05-22T17:26:00.954" v="1226" actId="20577"/>
        <pc:sldMkLst>
          <pc:docMk/>
          <pc:sldMk cId="2424354849" sldId="298"/>
        </pc:sldMkLst>
        <pc:spChg chg="mod">
          <ac:chgData name="Jose Diaz" userId="S::jose.diaz@cmsenergy.com::517cb5ef-6fb8-49bc-8303-535c95eee28f" providerId="AD" clId="Web-{AEDAA0FF-21AD-C6AD-5175-EB7225DEC29F}" dt="2026-05-22T17:26:00.954" v="1226" actId="20577"/>
          <ac:spMkLst>
            <pc:docMk/>
            <pc:sldMk cId="2424354849" sldId="298"/>
            <ac:spMk id="7" creationId="{61EA50F1-3C63-C03B-019D-698A65CA9B1B}"/>
          </ac:spMkLst>
        </pc:spChg>
        <pc:picChg chg="add mod">
          <ac:chgData name="Jose Diaz" userId="S::jose.diaz@cmsenergy.com::517cb5ef-6fb8-49bc-8303-535c95eee28f" providerId="AD" clId="Web-{AEDAA0FF-21AD-C6AD-5175-EB7225DEC29F}" dt="2026-05-22T17:25:03.954" v="1216" actId="14100"/>
          <ac:picMkLst>
            <pc:docMk/>
            <pc:sldMk cId="2424354849" sldId="298"/>
            <ac:picMk id="2" creationId="{F9D92252-77D7-1579-7CF0-BBEFB2B42C91}"/>
          </ac:picMkLst>
        </pc:picChg>
      </pc:sldChg>
      <pc:sldChg chg="modSp">
        <pc:chgData name="Jose Diaz" userId="S::jose.diaz@cmsenergy.com::517cb5ef-6fb8-49bc-8303-535c95eee28f" providerId="AD" clId="Web-{AEDAA0FF-21AD-C6AD-5175-EB7225DEC29F}" dt="2026-05-22T14:58:22.868" v="981" actId="20577"/>
        <pc:sldMkLst>
          <pc:docMk/>
          <pc:sldMk cId="967417557" sldId="299"/>
        </pc:sldMkLst>
        <pc:spChg chg="mod">
          <ac:chgData name="Jose Diaz" userId="S::jose.diaz@cmsenergy.com::517cb5ef-6fb8-49bc-8303-535c95eee28f" providerId="AD" clId="Web-{AEDAA0FF-21AD-C6AD-5175-EB7225DEC29F}" dt="2026-05-22T14:58:22.868" v="981" actId="20577"/>
          <ac:spMkLst>
            <pc:docMk/>
            <pc:sldMk cId="967417557" sldId="299"/>
            <ac:spMk id="3" creationId="{5159D592-5026-E63E-5A95-94DA67690F94}"/>
          </ac:spMkLst>
        </pc:spChg>
      </pc:sldChg>
      <pc:sldChg chg="addSp delSp modSp add ord replId">
        <pc:chgData name="Jose Diaz" userId="S::jose.diaz@cmsenergy.com::517cb5ef-6fb8-49bc-8303-535c95eee28f" providerId="AD" clId="Web-{AEDAA0FF-21AD-C6AD-5175-EB7225DEC29F}" dt="2026-05-22T12:42:13.489" v="912" actId="20577"/>
        <pc:sldMkLst>
          <pc:docMk/>
          <pc:sldMk cId="3893690954" sldId="300"/>
        </pc:sldMkLst>
        <pc:spChg chg="mod">
          <ac:chgData name="Jose Diaz" userId="S::jose.diaz@cmsenergy.com::517cb5ef-6fb8-49bc-8303-535c95eee28f" providerId="AD" clId="Web-{AEDAA0FF-21AD-C6AD-5175-EB7225DEC29F}" dt="2026-05-22T11:06:41.807" v="17" actId="20577"/>
          <ac:spMkLst>
            <pc:docMk/>
            <pc:sldMk cId="3893690954" sldId="300"/>
            <ac:spMk id="3" creationId="{CB0CBADA-770D-EC20-0271-549DF1F77B90}"/>
          </ac:spMkLst>
        </pc:spChg>
        <pc:spChg chg="add mod">
          <ac:chgData name="Jose Diaz" userId="S::jose.diaz@cmsenergy.com::517cb5ef-6fb8-49bc-8303-535c95eee28f" providerId="AD" clId="Web-{AEDAA0FF-21AD-C6AD-5175-EB7225DEC29F}" dt="2026-05-22T12:42:13.489" v="912" actId="20577"/>
          <ac:spMkLst>
            <pc:docMk/>
            <pc:sldMk cId="3893690954" sldId="300"/>
            <ac:spMk id="5" creationId="{3B1AAC2F-5387-FA89-C7B0-7AF7B842C0EC}"/>
          </ac:spMkLst>
        </pc:spChg>
        <pc:graphicFrameChg chg="mod modGraphic">
          <ac:chgData name="Jose Diaz" userId="S::jose.diaz@cmsenergy.com::517cb5ef-6fb8-49bc-8303-535c95eee28f" providerId="AD" clId="Web-{AEDAA0FF-21AD-C6AD-5175-EB7225DEC29F}" dt="2026-05-22T11:37:38.583" v="870"/>
          <ac:graphicFrameMkLst>
            <pc:docMk/>
            <pc:sldMk cId="3893690954" sldId="300"/>
            <ac:graphicFrameMk id="13" creationId="{B61EDA17-7699-90D7-E1B3-26463EB9025B}"/>
          </ac:graphicFrameMkLst>
        </pc:graphicFrameChg>
      </pc:sldChg>
      <pc:sldChg chg="add">
        <pc:chgData name="Jose Diaz" userId="S::jose.diaz@cmsenergy.com::517cb5ef-6fb8-49bc-8303-535c95eee28f" providerId="AD" clId="Web-{AEDAA0FF-21AD-C6AD-5175-EB7225DEC29F}" dt="2026-05-22T10:51:56.586" v="8"/>
        <pc:sldMkLst>
          <pc:docMk/>
          <pc:sldMk cId="1410922713" sldId="301"/>
        </pc:sldMkLst>
      </pc:sldChg>
      <pc:sldChg chg="add replId">
        <pc:chgData name="Jose Diaz" userId="S::jose.diaz@cmsenergy.com::517cb5ef-6fb8-49bc-8303-535c95eee28f" providerId="AD" clId="Web-{AEDAA0FF-21AD-C6AD-5175-EB7225DEC29F}" dt="2026-05-22T13:03:28.302" v="973"/>
        <pc:sldMkLst>
          <pc:docMk/>
          <pc:sldMk cId="1593924989" sldId="302"/>
        </pc:sldMkLst>
      </pc:sldChg>
      <pc:sldChg chg="modSp">
        <pc:chgData name="Jose Diaz" userId="S::jose.diaz@cmsenergy.com::517cb5ef-6fb8-49bc-8303-535c95eee28f" providerId="AD" clId="Web-{AEDAA0FF-21AD-C6AD-5175-EB7225DEC29F}" dt="2026-05-22T12:45:31.474" v="972" actId="20577"/>
        <pc:sldMkLst>
          <pc:docMk/>
          <pc:sldMk cId="2545389575" sldId="2147483641"/>
        </pc:sldMkLst>
        <pc:spChg chg="mod">
          <ac:chgData name="Jose Diaz" userId="S::jose.diaz@cmsenergy.com::517cb5ef-6fb8-49bc-8303-535c95eee28f" providerId="AD" clId="Web-{AEDAA0FF-21AD-C6AD-5175-EB7225DEC29F}" dt="2026-05-22T12:45:31.474" v="972" actId="20577"/>
          <ac:spMkLst>
            <pc:docMk/>
            <pc:sldMk cId="2545389575" sldId="2147483641"/>
            <ac:spMk id="4" creationId="{5B50B024-5B2C-73D1-0F65-38C1CBB14B5B}"/>
          </ac:spMkLst>
        </pc:spChg>
      </pc:sldChg>
    </pc:docChg>
  </pc:docChgLst>
  <pc:docChgLst>
    <pc:chgData name="DAWN M PETTENGILL" userId="6c3e7221-c014-41df-9963-eb44707bad46" providerId="ADAL" clId="{29FA3F86-359B-4B62-8DF6-5E1FAB534B2A}"/>
    <pc:docChg chg="custSel modSld">
      <pc:chgData name="DAWN M PETTENGILL" userId="6c3e7221-c014-41df-9963-eb44707bad46" providerId="ADAL" clId="{29FA3F86-359B-4B62-8DF6-5E1FAB534B2A}" dt="2026-05-29T17:57:02.330" v="94" actId="5793"/>
      <pc:docMkLst>
        <pc:docMk/>
      </pc:docMkLst>
      <pc:sldChg chg="modSp mod">
        <pc:chgData name="DAWN M PETTENGILL" userId="6c3e7221-c014-41df-9963-eb44707bad46" providerId="ADAL" clId="{29FA3F86-359B-4B62-8DF6-5E1FAB534B2A}" dt="2026-05-29T17:57:02.330" v="94" actId="5793"/>
        <pc:sldMkLst>
          <pc:docMk/>
          <pc:sldMk cId="2218206800" sldId="271"/>
        </pc:sldMkLst>
        <pc:graphicFrameChg chg="mod modGraphic">
          <ac:chgData name="DAWN M PETTENGILL" userId="6c3e7221-c014-41df-9963-eb44707bad46" providerId="ADAL" clId="{29FA3F86-359B-4B62-8DF6-5E1FAB534B2A}" dt="2026-05-29T17:57:02.330" v="94" actId="5793"/>
          <ac:graphicFrameMkLst>
            <pc:docMk/>
            <pc:sldMk cId="2218206800" sldId="271"/>
            <ac:graphicFrameMk id="8" creationId="{EBD8FAA2-4B6C-BC4B-328F-08ECDE8FD127}"/>
          </ac:graphicFrameMkLst>
        </pc:graphicFrameChg>
      </pc:sldChg>
    </pc:docChg>
  </pc:docChgLst>
  <pc:docChgLst>
    <pc:chgData name="Jose Diaz" userId="S::jose.diaz@cmsenergy.com::517cb5ef-6fb8-49bc-8303-535c95eee28f" providerId="AD" clId="Web-{9A0C8337-C6B1-916E-25C4-5BDDCF245EAB}"/>
    <pc:docChg chg="modSld">
      <pc:chgData name="Jose Diaz" userId="S::jose.diaz@cmsenergy.com::517cb5ef-6fb8-49bc-8303-535c95eee28f" providerId="AD" clId="Web-{9A0C8337-C6B1-916E-25C4-5BDDCF245EAB}" dt="2026-06-11T03:24:21.441" v="48"/>
      <pc:docMkLst>
        <pc:docMk/>
      </pc:docMkLst>
      <pc:sldChg chg="modSp">
        <pc:chgData name="Jose Diaz" userId="S::jose.diaz@cmsenergy.com::517cb5ef-6fb8-49bc-8303-535c95eee28f" providerId="AD" clId="Web-{9A0C8337-C6B1-916E-25C4-5BDDCF245EAB}" dt="2026-06-10T20:31:52.810" v="4" actId="20577"/>
        <pc:sldMkLst>
          <pc:docMk/>
          <pc:sldMk cId="3139401453" sldId="260"/>
        </pc:sldMkLst>
        <pc:spChg chg="mod">
          <ac:chgData name="Jose Diaz" userId="S::jose.diaz@cmsenergy.com::517cb5ef-6fb8-49bc-8303-535c95eee28f" providerId="AD" clId="Web-{9A0C8337-C6B1-916E-25C4-5BDDCF245EAB}" dt="2026-06-10T20:31:52.810" v="4" actId="20577"/>
          <ac:spMkLst>
            <pc:docMk/>
            <pc:sldMk cId="3139401453" sldId="260"/>
            <ac:spMk id="2" creationId="{117BBA53-C3F9-2511-8401-7C3B940F5143}"/>
          </ac:spMkLst>
        </pc:spChg>
      </pc:sldChg>
      <pc:sldChg chg="modSp">
        <pc:chgData name="Jose Diaz" userId="S::jose.diaz@cmsenergy.com::517cb5ef-6fb8-49bc-8303-535c95eee28f" providerId="AD" clId="Web-{9A0C8337-C6B1-916E-25C4-5BDDCF245EAB}" dt="2026-06-11T03:24:21.441" v="48"/>
        <pc:sldMkLst>
          <pc:docMk/>
          <pc:sldMk cId="508357073" sldId="282"/>
        </pc:sldMkLst>
        <pc:graphicFrameChg chg="mod modGraphic">
          <ac:chgData name="Jose Diaz" userId="S::jose.diaz@cmsenergy.com::517cb5ef-6fb8-49bc-8303-535c95eee28f" providerId="AD" clId="Web-{9A0C8337-C6B1-916E-25C4-5BDDCF245EAB}" dt="2026-06-11T03:24:21.441" v="48"/>
          <ac:graphicFrameMkLst>
            <pc:docMk/>
            <pc:sldMk cId="508357073" sldId="282"/>
            <ac:graphicFrameMk id="5" creationId="{56478E73-5EC7-63BD-0DCE-2CE0498CE29E}"/>
          </ac:graphicFrameMkLst>
        </pc:graphicFrameChg>
      </pc:sldChg>
    </pc:docChg>
  </pc:docChgLst>
  <pc:docChgLst>
    <pc:chgData name="Jose Diaz" userId="S::jose.diaz@cmsenergy.com::517cb5ef-6fb8-49bc-8303-535c95eee28f" providerId="AD" clId="Web-{0BFEBDF3-A953-9ECD-3F19-B39A69B823B9}"/>
    <pc:docChg chg="addSld delSld modSld sldOrd modSection">
      <pc:chgData name="Jose Diaz" userId="S::jose.diaz@cmsenergy.com::517cb5ef-6fb8-49bc-8303-535c95eee28f" providerId="AD" clId="Web-{0BFEBDF3-A953-9ECD-3F19-B39A69B823B9}" dt="2026-05-23T21:13:25.658" v="386" actId="20577"/>
      <pc:docMkLst>
        <pc:docMk/>
      </pc:docMkLst>
      <pc:sldChg chg="addSp delSp modSp add replId">
        <pc:chgData name="Jose Diaz" userId="S::jose.diaz@cmsenergy.com::517cb5ef-6fb8-49bc-8303-535c95eee28f" providerId="AD" clId="Web-{0BFEBDF3-A953-9ECD-3F19-B39A69B823B9}" dt="2026-05-23T21:00:07.250" v="259" actId="20577"/>
        <pc:sldMkLst>
          <pc:docMk/>
          <pc:sldMk cId="2912221424" sldId="276"/>
        </pc:sldMkLst>
        <pc:spChg chg="mod">
          <ac:chgData name="Jose Diaz" userId="S::jose.diaz@cmsenergy.com::517cb5ef-6fb8-49bc-8303-535c95eee28f" providerId="AD" clId="Web-{0BFEBDF3-A953-9ECD-3F19-B39A69B823B9}" dt="2026-05-23T21:00:07.250" v="259" actId="20577"/>
          <ac:spMkLst>
            <pc:docMk/>
            <pc:sldMk cId="2912221424" sldId="276"/>
            <ac:spMk id="3" creationId="{FEAAD1D6-0398-CDB8-26EB-450F5D3DFA87}"/>
          </ac:spMkLst>
        </pc:spChg>
        <pc:spChg chg="add mod">
          <ac:chgData name="Jose Diaz" userId="S::jose.diaz@cmsenergy.com::517cb5ef-6fb8-49bc-8303-535c95eee28f" providerId="AD" clId="Web-{0BFEBDF3-A953-9ECD-3F19-B39A69B823B9}" dt="2026-05-23T20:43:03.448" v="233" actId="20577"/>
          <ac:spMkLst>
            <pc:docMk/>
            <pc:sldMk cId="2912221424" sldId="276"/>
            <ac:spMk id="8" creationId="{CAC16169-92AF-F3EA-B800-2E877F883A0B}"/>
          </ac:spMkLst>
        </pc:spChg>
        <pc:picChg chg="add mod">
          <ac:chgData name="Jose Diaz" userId="S::jose.diaz@cmsenergy.com::517cb5ef-6fb8-49bc-8303-535c95eee28f" providerId="AD" clId="Web-{0BFEBDF3-A953-9ECD-3F19-B39A69B823B9}" dt="2026-05-23T20:29:06.008" v="26" actId="1076"/>
          <ac:picMkLst>
            <pc:docMk/>
            <pc:sldMk cId="2912221424" sldId="276"/>
            <ac:picMk id="4" creationId="{DDFFB54B-93A9-C446-10EC-89CF9B045B24}"/>
          </ac:picMkLst>
        </pc:picChg>
      </pc:sldChg>
      <pc:sldChg chg="modSp">
        <pc:chgData name="Jose Diaz" userId="S::jose.diaz@cmsenergy.com::517cb5ef-6fb8-49bc-8303-535c95eee28f" providerId="AD" clId="Web-{0BFEBDF3-A953-9ECD-3F19-B39A69B823B9}" dt="2026-05-23T20:59:47.749" v="256" actId="20577"/>
        <pc:sldMkLst>
          <pc:docMk/>
          <pc:sldMk cId="644564436" sldId="279"/>
        </pc:sldMkLst>
        <pc:spChg chg="mod">
          <ac:chgData name="Jose Diaz" userId="S::jose.diaz@cmsenergy.com::517cb5ef-6fb8-49bc-8303-535c95eee28f" providerId="AD" clId="Web-{0BFEBDF3-A953-9ECD-3F19-B39A69B823B9}" dt="2026-05-23T20:59:47.749" v="256" actId="20577"/>
          <ac:spMkLst>
            <pc:docMk/>
            <pc:sldMk cId="644564436" sldId="279"/>
            <ac:spMk id="3" creationId="{92536525-1268-C172-0C23-004F805AFB8C}"/>
          </ac:spMkLst>
        </pc:spChg>
      </pc:sldChg>
      <pc:sldChg chg="ord">
        <pc:chgData name="Jose Diaz" userId="S::jose.diaz@cmsenergy.com::517cb5ef-6fb8-49bc-8303-535c95eee28f" providerId="AD" clId="Web-{0BFEBDF3-A953-9ECD-3F19-B39A69B823B9}" dt="2026-05-23T20:06:55.924" v="5"/>
        <pc:sldMkLst>
          <pc:docMk/>
          <pc:sldMk cId="508357073" sldId="282"/>
        </pc:sldMkLst>
      </pc:sldChg>
      <pc:sldChg chg="modSp">
        <pc:chgData name="Jose Diaz" userId="S::jose.diaz@cmsenergy.com::517cb5ef-6fb8-49bc-8303-535c95eee28f" providerId="AD" clId="Web-{0BFEBDF3-A953-9ECD-3F19-B39A69B823B9}" dt="2026-05-23T20:59:34.765" v="254" actId="20577"/>
        <pc:sldMkLst>
          <pc:docMk/>
          <pc:sldMk cId="2424354849" sldId="298"/>
        </pc:sldMkLst>
        <pc:spChg chg="mod">
          <ac:chgData name="Jose Diaz" userId="S::jose.diaz@cmsenergy.com::517cb5ef-6fb8-49bc-8303-535c95eee28f" providerId="AD" clId="Web-{0BFEBDF3-A953-9ECD-3F19-B39A69B823B9}" dt="2026-05-23T20:59:34.765" v="254" actId="20577"/>
          <ac:spMkLst>
            <pc:docMk/>
            <pc:sldMk cId="2424354849" sldId="298"/>
            <ac:spMk id="3" creationId="{1FFA30C3-5670-029E-FD9B-035164DB309A}"/>
          </ac:spMkLst>
        </pc:spChg>
      </pc:sldChg>
      <pc:sldChg chg="modSp">
        <pc:chgData name="Jose Diaz" userId="S::jose.diaz@cmsenergy.com::517cb5ef-6fb8-49bc-8303-535c95eee28f" providerId="AD" clId="Web-{0BFEBDF3-A953-9ECD-3F19-B39A69B823B9}" dt="2026-05-23T20:06:30.235" v="2" actId="20577"/>
        <pc:sldMkLst>
          <pc:docMk/>
          <pc:sldMk cId="1410922713" sldId="301"/>
        </pc:sldMkLst>
        <pc:spChg chg="mod">
          <ac:chgData name="Jose Diaz" userId="S::jose.diaz@cmsenergy.com::517cb5ef-6fb8-49bc-8303-535c95eee28f" providerId="AD" clId="Web-{0BFEBDF3-A953-9ECD-3F19-B39A69B823B9}" dt="2026-05-23T20:06:30.235" v="2" actId="20577"/>
          <ac:spMkLst>
            <pc:docMk/>
            <pc:sldMk cId="1410922713" sldId="301"/>
            <ac:spMk id="2" creationId="{B844BAF0-A47D-DDEF-F11B-920F300FAAC2}"/>
          </ac:spMkLst>
        </pc:spChg>
      </pc:sldChg>
      <pc:sldChg chg="modSp">
        <pc:chgData name="Jose Diaz" userId="S::jose.diaz@cmsenergy.com::517cb5ef-6fb8-49bc-8303-535c95eee28f" providerId="AD" clId="Web-{0BFEBDF3-A953-9ECD-3F19-B39A69B823B9}" dt="2026-05-23T20:59:40.874" v="255" actId="20577"/>
        <pc:sldMkLst>
          <pc:docMk/>
          <pc:sldMk cId="1593924989" sldId="302"/>
        </pc:sldMkLst>
        <pc:spChg chg="mod">
          <ac:chgData name="Jose Diaz" userId="S::jose.diaz@cmsenergy.com::517cb5ef-6fb8-49bc-8303-535c95eee28f" providerId="AD" clId="Web-{0BFEBDF3-A953-9ECD-3F19-B39A69B823B9}" dt="2026-05-23T20:59:40.874" v="255" actId="20577"/>
          <ac:spMkLst>
            <pc:docMk/>
            <pc:sldMk cId="1593924989" sldId="302"/>
            <ac:spMk id="3" creationId="{C5DE47A1-FC5B-5410-E638-C40B9AB2D13B}"/>
          </ac:spMkLst>
        </pc:spChg>
      </pc:sldChg>
      <pc:sldChg chg="addSp delSp modSp add ord replId">
        <pc:chgData name="Jose Diaz" userId="S::jose.diaz@cmsenergy.com::517cb5ef-6fb8-49bc-8303-535c95eee28f" providerId="AD" clId="Web-{0BFEBDF3-A953-9ECD-3F19-B39A69B823B9}" dt="2026-05-23T20:59:59.078" v="257"/>
        <pc:sldMkLst>
          <pc:docMk/>
          <pc:sldMk cId="1532953204" sldId="303"/>
        </pc:sldMkLst>
        <pc:spChg chg="mod">
          <ac:chgData name="Jose Diaz" userId="S::jose.diaz@cmsenergy.com::517cb5ef-6fb8-49bc-8303-535c95eee28f" providerId="AD" clId="Web-{0BFEBDF3-A953-9ECD-3F19-B39A69B823B9}" dt="2026-05-23T20:35:36.711" v="176" actId="1076"/>
          <ac:spMkLst>
            <pc:docMk/>
            <pc:sldMk cId="1532953204" sldId="303"/>
            <ac:spMk id="3" creationId="{A5EB5502-CEF9-3F67-17B9-8851A151D96B}"/>
          </ac:spMkLst>
        </pc:spChg>
        <pc:spChg chg="mod">
          <ac:chgData name="Jose Diaz" userId="S::jose.diaz@cmsenergy.com::517cb5ef-6fb8-49bc-8303-535c95eee28f" providerId="AD" clId="Web-{0BFEBDF3-A953-9ECD-3F19-B39A69B823B9}" dt="2026-05-23T20:42:56.260" v="230" actId="20577"/>
          <ac:spMkLst>
            <pc:docMk/>
            <pc:sldMk cId="1532953204" sldId="303"/>
            <ac:spMk id="8" creationId="{FC8D6EB3-FC92-B5DF-538B-B0FB04E58EA3}"/>
          </ac:spMkLst>
        </pc:spChg>
        <pc:picChg chg="add mod">
          <ac:chgData name="Jose Diaz" userId="S::jose.diaz@cmsenergy.com::517cb5ef-6fb8-49bc-8303-535c95eee28f" providerId="AD" clId="Web-{0BFEBDF3-A953-9ECD-3F19-B39A69B823B9}" dt="2026-05-23T20:37:52.467" v="201" actId="1076"/>
          <ac:picMkLst>
            <pc:docMk/>
            <pc:sldMk cId="1532953204" sldId="303"/>
            <ac:picMk id="7" creationId="{287F28F1-1811-E245-FE40-D538ACAEE482}"/>
          </ac:picMkLst>
        </pc:picChg>
      </pc:sldChg>
      <pc:sldChg chg="addSp delSp modSp add replId">
        <pc:chgData name="Jose Diaz" userId="S::jose.diaz@cmsenergy.com::517cb5ef-6fb8-49bc-8303-535c95eee28f" providerId="AD" clId="Web-{0BFEBDF3-A953-9ECD-3F19-B39A69B823B9}" dt="2026-05-23T21:00:12.250" v="260" actId="20577"/>
        <pc:sldMkLst>
          <pc:docMk/>
          <pc:sldMk cId="718913957" sldId="304"/>
        </pc:sldMkLst>
        <pc:spChg chg="mod">
          <ac:chgData name="Jose Diaz" userId="S::jose.diaz@cmsenergy.com::517cb5ef-6fb8-49bc-8303-535c95eee28f" providerId="AD" clId="Web-{0BFEBDF3-A953-9ECD-3F19-B39A69B823B9}" dt="2026-05-23T21:00:12.250" v="260" actId="20577"/>
          <ac:spMkLst>
            <pc:docMk/>
            <pc:sldMk cId="718913957" sldId="304"/>
            <ac:spMk id="3" creationId="{FBCEC98B-F291-798C-525D-F3F0F76749B1}"/>
          </ac:spMkLst>
        </pc:spChg>
        <pc:spChg chg="mod">
          <ac:chgData name="Jose Diaz" userId="S::jose.diaz@cmsenergy.com::517cb5ef-6fb8-49bc-8303-535c95eee28f" providerId="AD" clId="Web-{0BFEBDF3-A953-9ECD-3F19-B39A69B823B9}" dt="2026-05-23T20:59:14.170" v="252" actId="20577"/>
          <ac:spMkLst>
            <pc:docMk/>
            <pc:sldMk cId="718913957" sldId="304"/>
            <ac:spMk id="8" creationId="{B97A341F-9449-10CF-7C71-479FD096E184}"/>
          </ac:spMkLst>
        </pc:spChg>
        <pc:picChg chg="add mod">
          <ac:chgData name="Jose Diaz" userId="S::jose.diaz@cmsenergy.com::517cb5ef-6fb8-49bc-8303-535c95eee28f" providerId="AD" clId="Web-{0BFEBDF3-A953-9ECD-3F19-B39A69B823B9}" dt="2026-05-23T20:59:17.608" v="253" actId="1076"/>
          <ac:picMkLst>
            <pc:docMk/>
            <pc:sldMk cId="718913957" sldId="304"/>
            <ac:picMk id="2" creationId="{D2C80D2A-59C8-5642-1E67-C158E87277C6}"/>
          </ac:picMkLst>
        </pc:picChg>
      </pc:sldChg>
      <pc:sldChg chg="modSp">
        <pc:chgData name="Jose Diaz" userId="S::jose.diaz@cmsenergy.com::517cb5ef-6fb8-49bc-8303-535c95eee28f" providerId="AD" clId="Web-{0BFEBDF3-A953-9ECD-3F19-B39A69B823B9}" dt="2026-05-23T21:13:25.658" v="386" actId="20577"/>
        <pc:sldMkLst>
          <pc:docMk/>
          <pc:sldMk cId="1929058891" sldId="2147483639"/>
        </pc:sldMkLst>
        <pc:spChg chg="mod">
          <ac:chgData name="Jose Diaz" userId="S::jose.diaz@cmsenergy.com::517cb5ef-6fb8-49bc-8303-535c95eee28f" providerId="AD" clId="Web-{0BFEBDF3-A953-9ECD-3F19-B39A69B823B9}" dt="2026-05-23T21:13:25.658" v="386" actId="20577"/>
          <ac:spMkLst>
            <pc:docMk/>
            <pc:sldMk cId="1929058891" sldId="2147483639"/>
            <ac:spMk id="4" creationId="{C736A9F5-6FA5-6E90-4540-7E81EB75C05C}"/>
          </ac:spMkLst>
        </pc:spChg>
      </pc:sldChg>
      <pc:sldChg chg="ord">
        <pc:chgData name="Jose Diaz" userId="S::jose.diaz@cmsenergy.com::517cb5ef-6fb8-49bc-8303-535c95eee28f" providerId="AD" clId="Web-{0BFEBDF3-A953-9ECD-3F19-B39A69B823B9}" dt="2026-05-23T20:07:01.580" v="7"/>
        <pc:sldMkLst>
          <pc:docMk/>
          <pc:sldMk cId="920370272" sldId="2147483647"/>
        </pc:sldMkLst>
      </pc:sldChg>
    </pc:docChg>
  </pc:docChgLst>
  <pc:docChgLst>
    <pc:chgData name="Taylor Ilov" userId="S::taylor.ilov@cmsenergy.com::b3e8fa34-e639-4d12-a6dc-5e3032b39fb7" providerId="AD" clId="Web-{0A44A006-A03F-3576-136B-44C7BA3AE361}"/>
    <pc:docChg chg="modSld">
      <pc:chgData name="Taylor Ilov" userId="S::taylor.ilov@cmsenergy.com::b3e8fa34-e639-4d12-a6dc-5e3032b39fb7" providerId="AD" clId="Web-{0A44A006-A03F-3576-136B-44C7BA3AE361}" dt="2026-05-23T11:32:35.359" v="0"/>
      <pc:docMkLst>
        <pc:docMk/>
      </pc:docMkLst>
      <pc:sldChg chg="delSp">
        <pc:chgData name="Taylor Ilov" userId="S::taylor.ilov@cmsenergy.com::b3e8fa34-e639-4d12-a6dc-5e3032b39fb7" providerId="AD" clId="Web-{0A44A006-A03F-3576-136B-44C7BA3AE361}" dt="2026-05-23T11:32:35.359" v="0"/>
        <pc:sldMkLst>
          <pc:docMk/>
          <pc:sldMk cId="3852294437" sldId="268"/>
        </pc:sldMkLst>
      </pc:sldChg>
    </pc:docChg>
  </pc:docChgLst>
</pc:chgInfo>
</file>

<file path=ppt/comments/modernComment_7FFFFFF0_1996B2E2.xml><?xml version="1.0" encoding="utf-8"?>
<p188:cmLst xmlns:a="http://schemas.openxmlformats.org/drawingml/2006/main" xmlns:r="http://schemas.openxmlformats.org/officeDocument/2006/relationships" xmlns:p188="http://schemas.microsoft.com/office/powerpoint/2018/8/main">
  <p188:cm id="{B5A2F45D-EB6C-423D-B5E7-9CEE03B8EE39}" authorId="{501AB7E2-9689-D00B-6C95-3A5D410786DE}" status="resolved" created="2026-05-06T15:36:35.441" startDate="2026-05-06T15:36:35.441" dueDate="2026-05-06T15:36:35.441" assignedTo="{F71F5868-14A0-AE0D-85D4-64A03FE904D8}" complete="100000" title="@Taylor Ilov need to add Security Roles and resequence">
    <pc:sldMkLst xmlns:pc="http://schemas.microsoft.com/office/powerpoint/2013/main/command">
      <pc:docMk/>
      <pc:sldMk cId="429306594" sldId="2147483632"/>
    </pc:sldMkLst>
    <p188:txBody>
      <a:bodyPr/>
      <a:lstStyle/>
      <a:p>
        <a:r>
          <a:rPr lang="en-US"/>
          <a:t>[@Taylor Ilov]  need to add Security Roles and resequence</a:t>
        </a:r>
      </a:p>
    </p188:txBody>
    <p188:extLst>
      <p:ext xmlns:p="http://schemas.openxmlformats.org/presentationml/2006/main" uri="{5BB2D875-25FF-4072-B9AC-8F64D62656EB}">
        <p228:taskDetails xmlns:p228="http://schemas.microsoft.com/office/powerpoint/2022/08/main">
          <p228:history>
            <p228:event time="2026-05-06T15:36:35.441" id="{2738707F-F3B7-4525-98FE-2AB7872AD763}">
              <p228:atrbtn authorId="{501AB7E2-9689-D00B-6C95-3A5D410786DE}"/>
              <p228:anchr>
                <p228:comment id="{B5A2F45D-EB6C-423D-B5E7-9CEE03B8EE39}"/>
              </p228:anchr>
              <p228:add/>
            </p228:event>
            <p228:event time="2026-05-06T15:36:35.441" id="{3CBD1114-378D-4403-8C6F-EACE974627D5}">
              <p228:atrbtn authorId="{501AB7E2-9689-D00B-6C95-3A5D410786DE}"/>
              <p228:anchr>
                <p228:comment id="{B5A2F45D-EB6C-423D-B5E7-9CEE03B8EE39}"/>
              </p228:anchr>
              <p228:asgn authorId="{F71F5868-14A0-AE0D-85D4-64A03FE904D8}"/>
            </p228:event>
            <p228:event time="2026-05-06T15:36:35.441" id="{28FA7514-6070-4F53-817E-ABD76485CC0C}">
              <p228:atrbtn authorId="{501AB7E2-9689-D00B-6C95-3A5D410786DE}"/>
              <p228:anchr>
                <p228:comment id="{B5A2F45D-EB6C-423D-B5E7-9CEE03B8EE39}"/>
              </p228:anchr>
              <p228:title val="@Taylor Ilov need to add Security Roles and resequence"/>
            </p228:event>
            <p228:event time="2026-05-06T15:36:35.441" id="{8E0E0564-EFC1-4255-A4AC-010F1517F95E}">
              <p228:atrbtn authorId="{501AB7E2-9689-D00B-6C95-3A5D410786DE}"/>
              <p228:anchr>
                <p228:comment id="{B5A2F45D-EB6C-423D-B5E7-9CEE03B8EE39}"/>
              </p228:anchr>
              <p228:date stDt="2026-05-06T15:36:35.441" endDt="2026-05-06T15:36:35.441"/>
            </p228:event>
            <p228:event time="2026-05-06T16:54:31.534" id="{6350ABF6-92A8-44E1-B4A9-4CD7686E1AF9}">
              <p228:atrbtn authorId="{213F0180-4E89-B86B-F6E1-E03B7518BAE5}"/>
              <p228:anchr>
                <p228:comment id="{00000000-0000-0000-0000-000000000000}"/>
              </p228:anchr>
              <p228:pcntCmplt val="100000"/>
            </p228:event>
          </p228:history>
        </p228:taskDetails>
      </p:ext>
    </p188:extLst>
  </p188:cm>
</p188:cmLst>
</file>

<file path=ppt/comments/modernComment_7FFFFFFE_878C95C.xml><?xml version="1.0" encoding="utf-8"?>
<p188:cmLst xmlns:a="http://schemas.openxmlformats.org/drawingml/2006/main" xmlns:r="http://schemas.openxmlformats.org/officeDocument/2006/relationships" xmlns:p188="http://schemas.microsoft.com/office/powerpoint/2018/8/main">
  <p188:cm id="{78137C85-944B-44A9-B2AE-61B4F11C618A}" authorId="{DE9ACA47-3EA9-04A0-C6C5-013CFC6955FC}" created="2026-05-18T23:56:58.146">
    <pc:sldMkLst xmlns:pc="http://schemas.microsoft.com/office/powerpoint/2013/main/command">
      <pc:docMk/>
      <pc:sldMk cId="142133596" sldId="2147483646"/>
    </pc:sldMkLst>
    <p188:replyLst>
      <p188:reply id="{39464F60-F67E-4755-AA7C-0D2DD8DA9F63}" authorId="{55932883-5CB1-84AB-7BEE-79D4FF9FD896}" created="2026-05-19T00:32:32.314">
        <p188:txBody>
          <a:bodyPr/>
          <a:lstStyle/>
          <a:p>
            <a:r>
              <a:rPr lang="en-US"/>
              <a:t>We have the lists pulled in the event we decide to reconfig to eliminate some.  For now let's go with the assumption all will be brought in as is.</a:t>
            </a:r>
          </a:p>
        </p188:txBody>
      </p188:reply>
    </p188:replyLst>
    <p188:txBody>
      <a:bodyPr/>
      <a:lstStyle/>
      <a:p>
        <a:r>
          <a:rPr lang="en-US"/>
          <a:t>[@TARAH A WILSON] [@DAWN M PETTENGILL]  please confirm all ID types will be configured in Service Cloud v2</a:t>
        </a:r>
      </a:p>
    </p188:txBody>
  </p188:cm>
</p188:cmLst>
</file>

<file path=ppt/comments/modernComment_7FFFFFFF_36DBBC60.xml><?xml version="1.0" encoding="utf-8"?>
<p188:cmLst xmlns:a="http://schemas.openxmlformats.org/drawingml/2006/main" xmlns:r="http://schemas.openxmlformats.org/officeDocument/2006/relationships" xmlns:p188="http://schemas.microsoft.com/office/powerpoint/2018/8/main">
  <p188:cm id="{AD0DC0DA-1C97-4E3A-AB79-15BBCE0E51B2}" authorId="{DE9ACA47-3EA9-04A0-C6C5-013CFC6955FC}" created="2026-05-18T23:57:29.351">
    <pc:sldMkLst xmlns:pc="http://schemas.microsoft.com/office/powerpoint/2013/main/command">
      <pc:docMk/>
      <pc:sldMk cId="920370272" sldId="2147483647"/>
    </pc:sldMkLst>
    <p188:replyLst>
      <p188:reply id="{6773A9F7-A490-41F9-ADA8-11F88609EAB8}" authorId="{55932883-5CB1-84AB-7BEE-79D4FF9FD896}" created="2026-05-19T00:33:04.532">
        <p188:txBody>
          <a:bodyPr/>
          <a:lstStyle/>
          <a:p>
            <a:r>
              <a:rPr lang="en-US"/>
              <a:t>Same assumption - all will be brought in as of now.</a:t>
            </a:r>
          </a:p>
        </p188:txBody>
      </p188:reply>
    </p188:replyLst>
    <p188:txBody>
      <a:bodyPr/>
      <a:lstStyle/>
      <a:p>
        <a:r>
          <a:rPr lang="en-US"/>
          <a:t>[@TARAH A WILSON] [@DAWN M PETTENGILL] Please confirm that all BP Relationships will be configured in Service Cloud v2</a:t>
        </a:r>
      </a:p>
    </p188:txBody>
  </p188:cm>
</p188:cmLst>
</file>

<file path=ppt/comments/modernComment_11A_1E4CE9D1.xml><?xml version="1.0" encoding="utf-8"?>
<p188:cmLst xmlns:a="http://schemas.openxmlformats.org/drawingml/2006/main" xmlns:r="http://schemas.openxmlformats.org/officeDocument/2006/relationships" xmlns:p188="http://schemas.microsoft.com/office/powerpoint/2018/8/main">
  <p188:cm id="{BD58619F-F84F-4FD7-B5EF-13DE4AE8DB94}" authorId="{FD054E2A-988F-FF15-C981-8B792429B072}" created="2026-05-20T12:54:21.035">
    <ac:txMkLst xmlns:ac="http://schemas.microsoft.com/office/drawing/2013/main/command">
      <pc:docMk xmlns:pc="http://schemas.microsoft.com/office/powerpoint/2013/main/command"/>
      <pc:sldMk xmlns:pc="http://schemas.microsoft.com/office/powerpoint/2013/main/command" cId="508357073" sldId="282"/>
      <ac:spMk id="8" creationId="{F396E990-83E8-68C0-70CE-FC690B98AB01}"/>
      <ac:txMk cp="930" len="53">
        <ac:context len="1501" hash="1976981827"/>
      </ac:txMk>
    </ac:txMkLst>
    <p188:pos x="9164535" y="1448765"/>
    <p188:txBody>
      <a:bodyPr/>
      <a:lstStyle/>
      <a:p>
        <a:r>
          <a:rPr lang="en-US"/>
          <a:t>[@Jose Diaz] - can we confirm 45 in ECC as I am seeing 60 in Prod &amp; Q - SD1 has 109</a:t>
        </a:r>
      </a:p>
    </p188:txBody>
  </p188:cm>
</p188:cmLst>
</file>

<file path=ppt/comments/modernComment_11B_9EC8F32F.xml><?xml version="1.0" encoding="utf-8"?>
<p188:cmLst xmlns:a="http://schemas.openxmlformats.org/drawingml/2006/main" xmlns:r="http://schemas.openxmlformats.org/officeDocument/2006/relationships" xmlns:p188="http://schemas.microsoft.com/office/powerpoint/2018/8/main">
  <p188:cm id="{DCD15434-DC81-41AF-ACAE-EAFD25B58B4D}" authorId="{06E22CA2-C0F8-AC46-CA2A-3E2B1B6644D3}" created="2026-05-19T13:54:49.639">
    <ac:deMkLst xmlns:ac="http://schemas.microsoft.com/office/drawing/2013/main/command">
      <pc:docMk xmlns:pc="http://schemas.microsoft.com/office/powerpoint/2013/main/command"/>
      <pc:sldMk xmlns:pc="http://schemas.microsoft.com/office/powerpoint/2013/main/command" cId="2663969583" sldId="283"/>
      <ac:picMk id="4" creationId="{4B5450D9-95B2-2AEB-3BC7-7D2DF148BA0E}"/>
    </ac:deMkLst>
    <p188:txBody>
      <a:bodyPr/>
      <a:lstStyle/>
      <a:p>
        <a:r>
          <a:rPr lang="en-US"/>
          <a:t>Do we want to cover Account Overview here too or just history? I don't have much on Account History specific</a:t>
        </a:r>
      </a:p>
    </p188:txBody>
  </p188:cm>
</p188:cmLst>
</file>

<file path=ppt/comments/modernComment_11C_5FAB239F.xml><?xml version="1.0" encoding="utf-8"?>
<p188:cmLst xmlns:a="http://schemas.openxmlformats.org/drawingml/2006/main" xmlns:r="http://schemas.openxmlformats.org/officeDocument/2006/relationships" xmlns:p188="http://schemas.microsoft.com/office/powerpoint/2018/8/main">
  <p188:cm id="{E70C24F4-0C64-47BD-9454-87D58F4E1385}" authorId="{06E22CA2-C0F8-AC46-CA2A-3E2B1B6644D3}" created="2026-05-19T13:49:06.406">
    <ac:deMkLst xmlns:ac="http://schemas.microsoft.com/office/drawing/2013/main/command">
      <pc:docMk xmlns:pc="http://schemas.microsoft.com/office/powerpoint/2013/main/command"/>
      <pc:sldMk xmlns:pc="http://schemas.microsoft.com/office/powerpoint/2013/main/command" cId="1605051295" sldId="284"/>
      <ac:picMk id="4" creationId="{1700F60B-8F77-4DD2-FDEC-8BB77A1C8D27}"/>
    </ac:deMkLst>
    <p188:txBody>
      <a:bodyPr/>
      <a:lstStyle/>
      <a:p>
        <a:r>
          <a:rPr lang="en-US"/>
          <a:t>I didn't have notes on Data Environments in the Master Data lens, but I did have a note from Order Management Topic that there is an opportunity to remove Data Environments in Future State</a:t>
        </a:r>
      </a:p>
    </p188:txBody>
  </p188:cm>
  <p188:cm id="{4AE29C05-C4C8-4F70-A935-D0097B21F602}" authorId="{DE9ACA47-3EA9-04A0-C6C5-013CFC6955FC}" created="2026-05-20T21:55:59.270">
    <pc:sldMkLst xmlns:pc="http://schemas.microsoft.com/office/powerpoint/2013/main/command">
      <pc:docMk/>
      <pc:sldMk cId="1605051295" sldId="284"/>
    </pc:sldMkLst>
    <p188:txBody>
      <a:bodyPr/>
      <a:lstStyle/>
      <a:p>
        <a:r>
          <a:rPr lang="en-US"/>
          <a:t>How often is this being used? This looks duplicative of the Fact Sheet. SAP Service Cloud v2 does not support this out of the box. </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5F1536C-72B3-4727-AA96-4654A4ECC10D}"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0835005E-186E-448C-92F7-7A353F53C058}">
      <dgm:prSet phldrT="[Text]" phldr="0"/>
      <dgm:spPr/>
      <dgm:t>
        <a:bodyPr/>
        <a:lstStyle/>
        <a:p>
          <a:r>
            <a:rPr lang="en-US"/>
            <a:t>Ownership</a:t>
          </a:r>
        </a:p>
      </dgm:t>
    </dgm:pt>
    <dgm:pt modelId="{CF0CE319-4541-4F7A-9BF3-389A79BD3EFA}" type="parTrans" cxnId="{E1230770-B2CB-42BE-B101-C22528F8734F}">
      <dgm:prSet/>
      <dgm:spPr/>
      <dgm:t>
        <a:bodyPr/>
        <a:lstStyle/>
        <a:p>
          <a:endParaRPr lang="en-US"/>
        </a:p>
      </dgm:t>
    </dgm:pt>
    <dgm:pt modelId="{661A60E0-F463-47E7-A4EB-F4EC758D261B}" type="sibTrans" cxnId="{E1230770-B2CB-42BE-B101-C22528F8734F}">
      <dgm:prSet/>
      <dgm:spPr/>
      <dgm:t>
        <a:bodyPr/>
        <a:lstStyle/>
        <a:p>
          <a:endParaRPr lang="en-US"/>
        </a:p>
      </dgm:t>
    </dgm:pt>
    <dgm:pt modelId="{A386FDFA-AB45-4A85-B36A-1C68B1269C8B}">
      <dgm:prSet phldrT="[Text]" phldr="0"/>
      <dgm:spPr/>
      <dgm:t>
        <a:bodyPr/>
        <a:lstStyle/>
        <a:p>
          <a:pPr rtl="0"/>
          <a:r>
            <a:rPr lang="en-US">
              <a:latin typeface="Montserrat"/>
            </a:rPr>
            <a:t>L3 Processes</a:t>
          </a:r>
          <a:endParaRPr lang="en-US"/>
        </a:p>
      </dgm:t>
    </dgm:pt>
    <dgm:pt modelId="{C5C46725-2607-4BE0-8E5E-A95CCB51BBD4}" type="parTrans" cxnId="{001673A9-AA17-4529-B4CF-5674A6454B71}">
      <dgm:prSet/>
      <dgm:spPr/>
      <dgm:t>
        <a:bodyPr/>
        <a:lstStyle/>
        <a:p>
          <a:endParaRPr lang="en-US"/>
        </a:p>
      </dgm:t>
    </dgm:pt>
    <dgm:pt modelId="{0C3B4101-C2C8-469C-8405-773E0809C5F1}" type="sibTrans" cxnId="{001673A9-AA17-4529-B4CF-5674A6454B71}">
      <dgm:prSet/>
      <dgm:spPr/>
      <dgm:t>
        <a:bodyPr/>
        <a:lstStyle/>
        <a:p>
          <a:endParaRPr lang="en-US"/>
        </a:p>
      </dgm:t>
    </dgm:pt>
    <dgm:pt modelId="{6E64E3AC-7CF5-4F1E-B6AB-454B56C79D8A}">
      <dgm:prSet phldrT="[Text]" phldr="0"/>
      <dgm:spPr/>
      <dgm:t>
        <a:bodyPr/>
        <a:lstStyle/>
        <a:p>
          <a:pPr rtl="0"/>
          <a:r>
            <a:rPr lang="en-US">
              <a:latin typeface="Montserrat"/>
            </a:rPr>
            <a:t>Assumptions / Decisions</a:t>
          </a:r>
          <a:endParaRPr lang="en-US"/>
        </a:p>
      </dgm:t>
    </dgm:pt>
    <dgm:pt modelId="{63F2FF52-7063-4B47-90C4-1871B8F8D58F}" type="parTrans" cxnId="{3A22FE49-5768-4E73-8F21-30E9D7795088}">
      <dgm:prSet/>
      <dgm:spPr/>
      <dgm:t>
        <a:bodyPr/>
        <a:lstStyle/>
        <a:p>
          <a:endParaRPr lang="en-US"/>
        </a:p>
      </dgm:t>
    </dgm:pt>
    <dgm:pt modelId="{7BFE9899-3405-4418-818B-35F39D3114C7}" type="sibTrans" cxnId="{3A22FE49-5768-4E73-8F21-30E9D7795088}">
      <dgm:prSet/>
      <dgm:spPr/>
      <dgm:t>
        <a:bodyPr/>
        <a:lstStyle/>
        <a:p>
          <a:endParaRPr lang="en-US"/>
        </a:p>
      </dgm:t>
    </dgm:pt>
    <dgm:pt modelId="{2D6BC8EA-0C3C-48D1-9E39-98C24E330ECF}">
      <dgm:prSet phldrT="[Text]" phldr="0"/>
      <dgm:spPr/>
      <dgm:t>
        <a:bodyPr/>
        <a:lstStyle/>
        <a:p>
          <a:pPr rtl="0"/>
          <a:r>
            <a:rPr lang="en-US">
              <a:latin typeface="Montserrat"/>
            </a:rPr>
            <a:t>FRICE-W / Reports </a:t>
          </a:r>
          <a:endParaRPr lang="en-US"/>
        </a:p>
      </dgm:t>
    </dgm:pt>
    <dgm:pt modelId="{2AA7330E-1054-4B89-80A3-3E94A83B8FAE}" type="parTrans" cxnId="{F8CF10FC-709A-433F-BA12-F504E95CDFC4}">
      <dgm:prSet/>
      <dgm:spPr/>
      <dgm:t>
        <a:bodyPr/>
        <a:lstStyle/>
        <a:p>
          <a:endParaRPr lang="en-US"/>
        </a:p>
      </dgm:t>
    </dgm:pt>
    <dgm:pt modelId="{0B07016A-30F3-460D-B185-1BB845EF023E}" type="sibTrans" cxnId="{F8CF10FC-709A-433F-BA12-F504E95CDFC4}">
      <dgm:prSet/>
      <dgm:spPr/>
      <dgm:t>
        <a:bodyPr/>
        <a:lstStyle/>
        <a:p>
          <a:endParaRPr lang="en-US"/>
        </a:p>
      </dgm:t>
    </dgm:pt>
    <dgm:pt modelId="{6CA559E8-6AF2-447C-8DD9-C0A4A3173B8D}" type="pres">
      <dgm:prSet presAssocID="{A5F1536C-72B3-4727-AA96-4654A4ECC10D}" presName="diagram" presStyleCnt="0">
        <dgm:presLayoutVars>
          <dgm:dir/>
          <dgm:resizeHandles val="exact"/>
        </dgm:presLayoutVars>
      </dgm:prSet>
      <dgm:spPr/>
    </dgm:pt>
    <dgm:pt modelId="{C5456D16-9E26-4641-8561-7AB2DC2892A1}" type="pres">
      <dgm:prSet presAssocID="{0835005E-186E-448C-92F7-7A353F53C058}" presName="node" presStyleLbl="node1" presStyleIdx="0" presStyleCnt="4">
        <dgm:presLayoutVars>
          <dgm:bulletEnabled val="1"/>
        </dgm:presLayoutVars>
      </dgm:prSet>
      <dgm:spPr/>
    </dgm:pt>
    <dgm:pt modelId="{EB465503-EE64-413F-8546-F39418DA48BD}" type="pres">
      <dgm:prSet presAssocID="{661A60E0-F463-47E7-A4EB-F4EC758D261B}" presName="sibTrans" presStyleCnt="0"/>
      <dgm:spPr/>
    </dgm:pt>
    <dgm:pt modelId="{0681D486-1913-499F-8A19-864F5A182084}" type="pres">
      <dgm:prSet presAssocID="{A386FDFA-AB45-4A85-B36A-1C68B1269C8B}" presName="node" presStyleLbl="node1" presStyleIdx="1" presStyleCnt="4">
        <dgm:presLayoutVars>
          <dgm:bulletEnabled val="1"/>
        </dgm:presLayoutVars>
      </dgm:prSet>
      <dgm:spPr>
        <a:solidFill>
          <a:schemeClr val="accent5"/>
        </a:solidFill>
      </dgm:spPr>
    </dgm:pt>
    <dgm:pt modelId="{017697F8-4123-4DAC-82AE-625CA7807C87}" type="pres">
      <dgm:prSet presAssocID="{0C3B4101-C2C8-469C-8405-773E0809C5F1}" presName="sibTrans" presStyleCnt="0"/>
      <dgm:spPr/>
    </dgm:pt>
    <dgm:pt modelId="{A9CCABBC-7E35-4CE9-85CC-84896E892DBC}" type="pres">
      <dgm:prSet presAssocID="{6E64E3AC-7CF5-4F1E-B6AB-454B56C79D8A}" presName="node" presStyleLbl="node1" presStyleIdx="2" presStyleCnt="4">
        <dgm:presLayoutVars>
          <dgm:bulletEnabled val="1"/>
        </dgm:presLayoutVars>
      </dgm:prSet>
      <dgm:spPr>
        <a:solidFill>
          <a:schemeClr val="accent2"/>
        </a:solidFill>
      </dgm:spPr>
    </dgm:pt>
    <dgm:pt modelId="{5E32E625-5B7B-4B35-9939-52EB74474934}" type="pres">
      <dgm:prSet presAssocID="{7BFE9899-3405-4418-818B-35F39D3114C7}" presName="sibTrans" presStyleCnt="0"/>
      <dgm:spPr/>
    </dgm:pt>
    <dgm:pt modelId="{E01A8240-A642-42B5-91EE-62F4F6994E61}" type="pres">
      <dgm:prSet presAssocID="{2D6BC8EA-0C3C-48D1-9E39-98C24E330ECF}" presName="node" presStyleLbl="node1" presStyleIdx="3" presStyleCnt="4">
        <dgm:presLayoutVars>
          <dgm:bulletEnabled val="1"/>
        </dgm:presLayoutVars>
      </dgm:prSet>
      <dgm:spPr>
        <a:solidFill>
          <a:schemeClr val="accent1">
            <a:lumMod val="60000"/>
            <a:lumOff val="40000"/>
          </a:schemeClr>
        </a:solidFill>
      </dgm:spPr>
    </dgm:pt>
  </dgm:ptLst>
  <dgm:cxnLst>
    <dgm:cxn modelId="{BD93E006-131C-400F-B06A-FFB763E76DBF}" type="presOf" srcId="{2D6BC8EA-0C3C-48D1-9E39-98C24E330ECF}" destId="{E01A8240-A642-42B5-91EE-62F4F6994E61}" srcOrd="0" destOrd="0" presId="urn:microsoft.com/office/officeart/2005/8/layout/default"/>
    <dgm:cxn modelId="{3A22FE49-5768-4E73-8F21-30E9D7795088}" srcId="{A5F1536C-72B3-4727-AA96-4654A4ECC10D}" destId="{6E64E3AC-7CF5-4F1E-B6AB-454B56C79D8A}" srcOrd="2" destOrd="0" parTransId="{63F2FF52-7063-4B47-90C4-1871B8F8D58F}" sibTransId="{7BFE9899-3405-4418-818B-35F39D3114C7}"/>
    <dgm:cxn modelId="{9CC0CF4B-0F66-4750-B808-9BE3933F6BCD}" type="presOf" srcId="{6E64E3AC-7CF5-4F1E-B6AB-454B56C79D8A}" destId="{A9CCABBC-7E35-4CE9-85CC-84896E892DBC}" srcOrd="0" destOrd="0" presId="urn:microsoft.com/office/officeart/2005/8/layout/default"/>
    <dgm:cxn modelId="{E1230770-B2CB-42BE-B101-C22528F8734F}" srcId="{A5F1536C-72B3-4727-AA96-4654A4ECC10D}" destId="{0835005E-186E-448C-92F7-7A353F53C058}" srcOrd="0" destOrd="0" parTransId="{CF0CE319-4541-4F7A-9BF3-389A79BD3EFA}" sibTransId="{661A60E0-F463-47E7-A4EB-F4EC758D261B}"/>
    <dgm:cxn modelId="{ED167870-0471-4D15-9CD6-25EF987A177B}" type="presOf" srcId="{A386FDFA-AB45-4A85-B36A-1C68B1269C8B}" destId="{0681D486-1913-499F-8A19-864F5A182084}" srcOrd="0" destOrd="0" presId="urn:microsoft.com/office/officeart/2005/8/layout/default"/>
    <dgm:cxn modelId="{001673A9-AA17-4529-B4CF-5674A6454B71}" srcId="{A5F1536C-72B3-4727-AA96-4654A4ECC10D}" destId="{A386FDFA-AB45-4A85-B36A-1C68B1269C8B}" srcOrd="1" destOrd="0" parTransId="{C5C46725-2607-4BE0-8E5E-A95CCB51BBD4}" sibTransId="{0C3B4101-C2C8-469C-8405-773E0809C5F1}"/>
    <dgm:cxn modelId="{AF7FF2AC-C055-4B1C-A15D-0705A130AFE0}" type="presOf" srcId="{0835005E-186E-448C-92F7-7A353F53C058}" destId="{C5456D16-9E26-4641-8561-7AB2DC2892A1}" srcOrd="0" destOrd="0" presId="urn:microsoft.com/office/officeart/2005/8/layout/default"/>
    <dgm:cxn modelId="{CDEB9BE8-68B2-44D8-B739-31E56D0A090F}" type="presOf" srcId="{A5F1536C-72B3-4727-AA96-4654A4ECC10D}" destId="{6CA559E8-6AF2-447C-8DD9-C0A4A3173B8D}" srcOrd="0" destOrd="0" presId="urn:microsoft.com/office/officeart/2005/8/layout/default"/>
    <dgm:cxn modelId="{F8CF10FC-709A-433F-BA12-F504E95CDFC4}" srcId="{A5F1536C-72B3-4727-AA96-4654A4ECC10D}" destId="{2D6BC8EA-0C3C-48D1-9E39-98C24E330ECF}" srcOrd="3" destOrd="0" parTransId="{2AA7330E-1054-4B89-80A3-3E94A83B8FAE}" sibTransId="{0B07016A-30F3-460D-B185-1BB845EF023E}"/>
    <dgm:cxn modelId="{8AC83ED6-D342-4ABF-A57B-B43BF3AC3D24}" type="presParOf" srcId="{6CA559E8-6AF2-447C-8DD9-C0A4A3173B8D}" destId="{C5456D16-9E26-4641-8561-7AB2DC2892A1}" srcOrd="0" destOrd="0" presId="urn:microsoft.com/office/officeart/2005/8/layout/default"/>
    <dgm:cxn modelId="{20134DF7-110B-4063-8A08-E1D54491AE90}" type="presParOf" srcId="{6CA559E8-6AF2-447C-8DD9-C0A4A3173B8D}" destId="{EB465503-EE64-413F-8546-F39418DA48BD}" srcOrd="1" destOrd="0" presId="urn:microsoft.com/office/officeart/2005/8/layout/default"/>
    <dgm:cxn modelId="{DACC2F27-1EE3-49E1-8DA7-613D7EC16B75}" type="presParOf" srcId="{6CA559E8-6AF2-447C-8DD9-C0A4A3173B8D}" destId="{0681D486-1913-499F-8A19-864F5A182084}" srcOrd="2" destOrd="0" presId="urn:microsoft.com/office/officeart/2005/8/layout/default"/>
    <dgm:cxn modelId="{41D485CA-049E-43F9-9705-E8D1224CB943}" type="presParOf" srcId="{6CA559E8-6AF2-447C-8DD9-C0A4A3173B8D}" destId="{017697F8-4123-4DAC-82AE-625CA7807C87}" srcOrd="3" destOrd="0" presId="urn:microsoft.com/office/officeart/2005/8/layout/default"/>
    <dgm:cxn modelId="{2097A3C0-0AA9-4CFD-95C6-E27310B69F4F}" type="presParOf" srcId="{6CA559E8-6AF2-447C-8DD9-C0A4A3173B8D}" destId="{A9CCABBC-7E35-4CE9-85CC-84896E892DBC}" srcOrd="4" destOrd="0" presId="urn:microsoft.com/office/officeart/2005/8/layout/default"/>
    <dgm:cxn modelId="{51A8D61E-8E76-4A44-AE25-E9866F71805E}" type="presParOf" srcId="{6CA559E8-6AF2-447C-8DD9-C0A4A3173B8D}" destId="{5E32E625-5B7B-4B35-9939-52EB74474934}" srcOrd="5" destOrd="0" presId="urn:microsoft.com/office/officeart/2005/8/layout/default"/>
    <dgm:cxn modelId="{ACB8C9DA-080D-4B24-8E93-182CCC4FCDE7}" type="presParOf" srcId="{6CA559E8-6AF2-447C-8DD9-C0A4A3173B8D}" destId="{E01A8240-A642-42B5-91EE-62F4F6994E61}"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456D16-9E26-4641-8561-7AB2DC2892A1}">
      <dsp:nvSpPr>
        <dsp:cNvPr id="0" name=""/>
        <dsp:cNvSpPr/>
      </dsp:nvSpPr>
      <dsp:spPr>
        <a:xfrm>
          <a:off x="757919" y="1533"/>
          <a:ext cx="2978558" cy="178713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t>Ownership</a:t>
          </a:r>
        </a:p>
      </dsp:txBody>
      <dsp:txXfrm>
        <a:off x="757919" y="1533"/>
        <a:ext cx="2978558" cy="1787135"/>
      </dsp:txXfrm>
    </dsp:sp>
    <dsp:sp modelId="{0681D486-1913-499F-8A19-864F5A182084}">
      <dsp:nvSpPr>
        <dsp:cNvPr id="0" name=""/>
        <dsp:cNvSpPr/>
      </dsp:nvSpPr>
      <dsp:spPr>
        <a:xfrm>
          <a:off x="4034334" y="1533"/>
          <a:ext cx="2978558" cy="1787135"/>
        </a:xfrm>
        <a:prstGeom prst="rect">
          <a:avLst/>
        </a:prstGeom>
        <a:solidFill>
          <a:schemeClr val="accent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rtl="0">
            <a:lnSpc>
              <a:spcPct val="90000"/>
            </a:lnSpc>
            <a:spcBef>
              <a:spcPct val="0"/>
            </a:spcBef>
            <a:spcAft>
              <a:spcPct val="35000"/>
            </a:spcAft>
            <a:buNone/>
          </a:pPr>
          <a:r>
            <a:rPr lang="en-US" sz="3200" kern="1200">
              <a:latin typeface="Montserrat"/>
            </a:rPr>
            <a:t>L3 Processes</a:t>
          </a:r>
          <a:endParaRPr lang="en-US" sz="3200" kern="1200"/>
        </a:p>
      </dsp:txBody>
      <dsp:txXfrm>
        <a:off x="4034334" y="1533"/>
        <a:ext cx="2978558" cy="1787135"/>
      </dsp:txXfrm>
    </dsp:sp>
    <dsp:sp modelId="{A9CCABBC-7E35-4CE9-85CC-84896E892DBC}">
      <dsp:nvSpPr>
        <dsp:cNvPr id="0" name=""/>
        <dsp:cNvSpPr/>
      </dsp:nvSpPr>
      <dsp:spPr>
        <a:xfrm>
          <a:off x="757919" y="2086524"/>
          <a:ext cx="2978558" cy="1787135"/>
        </a:xfrm>
        <a:prstGeom prst="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rtl="0">
            <a:lnSpc>
              <a:spcPct val="90000"/>
            </a:lnSpc>
            <a:spcBef>
              <a:spcPct val="0"/>
            </a:spcBef>
            <a:spcAft>
              <a:spcPct val="35000"/>
            </a:spcAft>
            <a:buNone/>
          </a:pPr>
          <a:r>
            <a:rPr lang="en-US" sz="3200" kern="1200">
              <a:latin typeface="Montserrat"/>
            </a:rPr>
            <a:t>Assumptions / Decisions</a:t>
          </a:r>
          <a:endParaRPr lang="en-US" sz="3200" kern="1200"/>
        </a:p>
      </dsp:txBody>
      <dsp:txXfrm>
        <a:off x="757919" y="2086524"/>
        <a:ext cx="2978558" cy="1787135"/>
      </dsp:txXfrm>
    </dsp:sp>
    <dsp:sp modelId="{E01A8240-A642-42B5-91EE-62F4F6994E61}">
      <dsp:nvSpPr>
        <dsp:cNvPr id="0" name=""/>
        <dsp:cNvSpPr/>
      </dsp:nvSpPr>
      <dsp:spPr>
        <a:xfrm>
          <a:off x="4034334" y="2086524"/>
          <a:ext cx="2978558" cy="1787135"/>
        </a:xfrm>
        <a:prstGeom prst="rect">
          <a:avLst/>
        </a:prstGeom>
        <a:solidFill>
          <a:schemeClr val="accent1">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rtl="0">
            <a:lnSpc>
              <a:spcPct val="90000"/>
            </a:lnSpc>
            <a:spcBef>
              <a:spcPct val="0"/>
            </a:spcBef>
            <a:spcAft>
              <a:spcPct val="35000"/>
            </a:spcAft>
            <a:buNone/>
          </a:pPr>
          <a:r>
            <a:rPr lang="en-US" sz="3200" kern="1200">
              <a:latin typeface="Montserrat"/>
            </a:rPr>
            <a:t>FRICE-W / Reports </a:t>
          </a:r>
          <a:endParaRPr lang="en-US" sz="3200" kern="1200"/>
        </a:p>
      </dsp:txBody>
      <dsp:txXfrm>
        <a:off x="4034334" y="2086524"/>
        <a:ext cx="2978558" cy="1787135"/>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013F7A-D799-47D8-B0C0-7C909CCFF8FB}" type="datetimeFigureOut">
              <a:t>6/10/2026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FFCE71-FD4B-43E3-A8CE-38A62705FA7C}" type="slidenum">
              <a:t>‹#›</a:t>
            </a:fld>
            <a:endParaRPr lang="en-US"/>
          </a:p>
        </p:txBody>
      </p:sp>
    </p:spTree>
    <p:extLst>
      <p:ext uri="{BB962C8B-B14F-4D97-AF65-F5344CB8AC3E}">
        <p14:creationId xmlns:p14="http://schemas.microsoft.com/office/powerpoint/2010/main" val="836112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32789fbb2d8_0_389:notes"/>
          <p:cNvSpPr txBox="1">
            <a:spLocks noGrp="1"/>
          </p:cNvSpPr>
          <p:nvPr>
            <p:ph type="body" idx="1"/>
          </p:nvPr>
        </p:nvSpPr>
        <p:spPr>
          <a:xfrm>
            <a:off x="731520" y="4560570"/>
            <a:ext cx="5852160" cy="4320540"/>
          </a:xfrm>
          <a:prstGeom prst="rect">
            <a:avLst/>
          </a:prstGeom>
        </p:spPr>
        <p:txBody>
          <a:bodyPr spcFirstLastPara="1" wrap="square" lIns="96645" tIns="48309" rIns="96645" bIns="48309" anchor="t" anchorCtr="0">
            <a:noAutofit/>
          </a:bodyPr>
          <a:lstStyle/>
          <a:p>
            <a:pPr marL="0" indent="0"/>
            <a:endParaRPr/>
          </a:p>
        </p:txBody>
      </p:sp>
      <p:sp>
        <p:nvSpPr>
          <p:cNvPr id="403" name="Google Shape;403;g32789fbb2d8_0_389: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723079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11CCEC3-7244-3C46-9DB9-806F778100A4}" type="slidenum">
              <a:rPr lang="en-US" smtClean="0"/>
              <a:t>3</a:t>
            </a:fld>
            <a:endParaRPr lang="en-US"/>
          </a:p>
        </p:txBody>
      </p:sp>
    </p:spTree>
    <p:extLst>
      <p:ext uri="{BB962C8B-B14F-4D97-AF65-F5344CB8AC3E}">
        <p14:creationId xmlns:p14="http://schemas.microsoft.com/office/powerpoint/2010/main" val="12485558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29C6D-5DC5-0A6E-2480-1C62E6D30C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E704C0-5021-F9BB-FBCD-BED8856D12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98104-D524-6135-439A-45158084DED6}"/>
              </a:ext>
            </a:extLst>
          </p:cNvPr>
          <p:cNvSpPr>
            <a:spLocks noGrp="1"/>
          </p:cNvSpPr>
          <p:nvPr>
            <p:ph type="body" idx="1"/>
          </p:nvPr>
        </p:nvSpPr>
        <p:spPr/>
        <p:txBody>
          <a:bodyPr/>
          <a:lstStyle/>
          <a:p>
            <a:r>
              <a:rPr lang="en-US"/>
              <a:t>Discussions around keeping integrations as direct vs the BTP connection</a:t>
            </a:r>
          </a:p>
          <a:p>
            <a:endParaRPr lang="en-US"/>
          </a:p>
          <a:p>
            <a:r>
              <a:rPr lang="en-US"/>
              <a:t>Tarah’s notes – Paymentus dashboard does get information from CRM but it does not pass anything else back – any other information would get passed to ECC only. State of Michigan has no interactions that I am aware of with CRM.  There is interaction with Assistance Portal and these payments do impact TN SNP automatic workflow but all this is ECC that I am aware of. </a:t>
            </a:r>
          </a:p>
        </p:txBody>
      </p:sp>
      <p:sp>
        <p:nvSpPr>
          <p:cNvPr id="4" name="Slide Number Placeholder 3">
            <a:extLst>
              <a:ext uri="{FF2B5EF4-FFF2-40B4-BE49-F238E27FC236}">
                <a16:creationId xmlns:a16="http://schemas.microsoft.com/office/drawing/2014/main" id="{E3B0C2E2-2854-6F0A-3556-86909A23880D}"/>
              </a:ext>
            </a:extLst>
          </p:cNvPr>
          <p:cNvSpPr>
            <a:spLocks noGrp="1"/>
          </p:cNvSpPr>
          <p:nvPr>
            <p:ph type="sldNum" sz="quarter" idx="5"/>
          </p:nvPr>
        </p:nvSpPr>
        <p:spPr/>
        <p:txBody>
          <a:bodyPr/>
          <a:lstStyle/>
          <a:p>
            <a:fld id="{611CCEC3-7244-3C46-9DB9-806F778100A4}" type="slidenum">
              <a:rPr lang="en-US" smtClean="0"/>
              <a:t>53</a:t>
            </a:fld>
            <a:endParaRPr lang="en-US"/>
          </a:p>
        </p:txBody>
      </p:sp>
    </p:spTree>
    <p:extLst>
      <p:ext uri="{BB962C8B-B14F-4D97-AF65-F5344CB8AC3E}">
        <p14:creationId xmlns:p14="http://schemas.microsoft.com/office/powerpoint/2010/main" val="22779560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CC88A-216B-5C93-20CD-A002A2639C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4D4138-B3BA-588E-0096-E90D10AE20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68BADC-4ADF-5199-5C60-EEF331CFC28C}"/>
              </a:ext>
            </a:extLst>
          </p:cNvPr>
          <p:cNvSpPr>
            <a:spLocks noGrp="1"/>
          </p:cNvSpPr>
          <p:nvPr>
            <p:ph type="body" idx="1"/>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lang="en-US"/>
          </a:p>
        </p:txBody>
      </p:sp>
    </p:spTree>
    <p:extLst>
      <p:ext uri="{BB962C8B-B14F-4D97-AF65-F5344CB8AC3E}">
        <p14:creationId xmlns:p14="http://schemas.microsoft.com/office/powerpoint/2010/main" val="24162742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3E94A-C565-8AE0-FD4F-E494B3A3CD7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2D51FEE-E060-DB8B-FFA9-04EB4C96AC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5E5BFA3-E0A2-DEF8-CBAA-57EE7FC72D20}"/>
              </a:ext>
            </a:extLst>
          </p:cNvPr>
          <p:cNvSpPr>
            <a:spLocks noGrp="1"/>
          </p:cNvSpPr>
          <p:nvPr>
            <p:ph type="dt" sz="half" idx="10"/>
          </p:nvPr>
        </p:nvSpPr>
        <p:spPr/>
        <p:txBody>
          <a:bodyPr/>
          <a:lstStyle/>
          <a:p>
            <a:fld id="{CD088479-BA81-4009-A123-8DEC37C97121}" type="datetimeFigureOut">
              <a:rPr lang="en-US" smtClean="0"/>
              <a:t>6/10/2026</a:t>
            </a:fld>
            <a:endParaRPr lang="en-US"/>
          </a:p>
        </p:txBody>
      </p:sp>
      <p:sp>
        <p:nvSpPr>
          <p:cNvPr id="5" name="Footer Placeholder 4">
            <a:extLst>
              <a:ext uri="{FF2B5EF4-FFF2-40B4-BE49-F238E27FC236}">
                <a16:creationId xmlns:a16="http://schemas.microsoft.com/office/drawing/2014/main" id="{779CF5EC-9D83-0A1E-73D3-A7848C7976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6056D6-B181-778B-BB55-3EB484C12865}"/>
              </a:ext>
            </a:extLst>
          </p:cNvPr>
          <p:cNvSpPr>
            <a:spLocks noGrp="1"/>
          </p:cNvSpPr>
          <p:nvPr>
            <p:ph type="sldNum" sz="quarter" idx="12"/>
          </p:nvPr>
        </p:nvSpPr>
        <p:spPr/>
        <p:txBody>
          <a:bodyPr/>
          <a:lstStyle/>
          <a:p>
            <a:fld id="{E17F33E6-C358-49CC-A210-CD6067814AAB}" type="slidenum">
              <a:rPr lang="en-US" smtClean="0"/>
              <a:t>‹#›</a:t>
            </a:fld>
            <a:endParaRPr lang="en-US"/>
          </a:p>
        </p:txBody>
      </p:sp>
    </p:spTree>
    <p:extLst>
      <p:ext uri="{BB962C8B-B14F-4D97-AF65-F5344CB8AC3E}">
        <p14:creationId xmlns:p14="http://schemas.microsoft.com/office/powerpoint/2010/main" val="41446043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BEAFE-3C4E-C6D0-17E5-A9049E559D0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BB3ED5-0814-7EBD-BB55-4A71242700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B70E5B-CDBA-494A-2A9B-80C1636A5BDA}"/>
              </a:ext>
            </a:extLst>
          </p:cNvPr>
          <p:cNvSpPr>
            <a:spLocks noGrp="1"/>
          </p:cNvSpPr>
          <p:nvPr>
            <p:ph type="dt" sz="half" idx="10"/>
          </p:nvPr>
        </p:nvSpPr>
        <p:spPr/>
        <p:txBody>
          <a:bodyPr/>
          <a:lstStyle/>
          <a:p>
            <a:fld id="{CD088479-BA81-4009-A123-8DEC37C97121}" type="datetimeFigureOut">
              <a:rPr lang="en-US" smtClean="0"/>
              <a:t>6/10/2026</a:t>
            </a:fld>
            <a:endParaRPr lang="en-US"/>
          </a:p>
        </p:txBody>
      </p:sp>
      <p:sp>
        <p:nvSpPr>
          <p:cNvPr id="5" name="Footer Placeholder 4">
            <a:extLst>
              <a:ext uri="{FF2B5EF4-FFF2-40B4-BE49-F238E27FC236}">
                <a16:creationId xmlns:a16="http://schemas.microsoft.com/office/drawing/2014/main" id="{EA65B121-F6F4-9636-2D8D-9C571ED6A2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08485F-CD39-8F5C-EFAA-A10685660A83}"/>
              </a:ext>
            </a:extLst>
          </p:cNvPr>
          <p:cNvSpPr>
            <a:spLocks noGrp="1"/>
          </p:cNvSpPr>
          <p:nvPr>
            <p:ph type="sldNum" sz="quarter" idx="12"/>
          </p:nvPr>
        </p:nvSpPr>
        <p:spPr/>
        <p:txBody>
          <a:bodyPr/>
          <a:lstStyle/>
          <a:p>
            <a:fld id="{E17F33E6-C358-49CC-A210-CD6067814AAB}" type="slidenum">
              <a:rPr lang="en-US" smtClean="0"/>
              <a:t>‹#›</a:t>
            </a:fld>
            <a:endParaRPr lang="en-US"/>
          </a:p>
        </p:txBody>
      </p:sp>
    </p:spTree>
    <p:extLst>
      <p:ext uri="{BB962C8B-B14F-4D97-AF65-F5344CB8AC3E}">
        <p14:creationId xmlns:p14="http://schemas.microsoft.com/office/powerpoint/2010/main" val="10187699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7202F-10BB-FA34-5C5E-B33972ADEB0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068A72C-D82B-2017-DC04-DC40CFEDB3D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E986180-65DE-D0BC-603C-F578B5B02AE7}"/>
              </a:ext>
            </a:extLst>
          </p:cNvPr>
          <p:cNvSpPr>
            <a:spLocks noGrp="1"/>
          </p:cNvSpPr>
          <p:nvPr>
            <p:ph type="dt" sz="half" idx="10"/>
          </p:nvPr>
        </p:nvSpPr>
        <p:spPr/>
        <p:txBody>
          <a:bodyPr/>
          <a:lstStyle/>
          <a:p>
            <a:fld id="{CD088479-BA81-4009-A123-8DEC37C97121}" type="datetimeFigureOut">
              <a:rPr lang="en-US" smtClean="0"/>
              <a:t>6/10/2026</a:t>
            </a:fld>
            <a:endParaRPr lang="en-US"/>
          </a:p>
        </p:txBody>
      </p:sp>
      <p:sp>
        <p:nvSpPr>
          <p:cNvPr id="5" name="Footer Placeholder 4">
            <a:extLst>
              <a:ext uri="{FF2B5EF4-FFF2-40B4-BE49-F238E27FC236}">
                <a16:creationId xmlns:a16="http://schemas.microsoft.com/office/drawing/2014/main" id="{B72B8364-239C-B455-F4A1-B83AF44569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3B24DA-7D5A-92A4-AEF5-1E6D99EA12F2}"/>
              </a:ext>
            </a:extLst>
          </p:cNvPr>
          <p:cNvSpPr>
            <a:spLocks noGrp="1"/>
          </p:cNvSpPr>
          <p:nvPr>
            <p:ph type="sldNum" sz="quarter" idx="12"/>
          </p:nvPr>
        </p:nvSpPr>
        <p:spPr/>
        <p:txBody>
          <a:bodyPr/>
          <a:lstStyle/>
          <a:p>
            <a:fld id="{E17F33E6-C358-49CC-A210-CD6067814AAB}" type="slidenum">
              <a:rPr lang="en-US" smtClean="0"/>
              <a:t>‹#›</a:t>
            </a:fld>
            <a:endParaRPr lang="en-US"/>
          </a:p>
        </p:txBody>
      </p:sp>
    </p:spTree>
    <p:extLst>
      <p:ext uri="{BB962C8B-B14F-4D97-AF65-F5344CB8AC3E}">
        <p14:creationId xmlns:p14="http://schemas.microsoft.com/office/powerpoint/2010/main" val="1711826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75E46-EDE6-85C2-3BB8-327470A6FC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6B3DB8-9F05-6DDF-9AA3-EA08174E058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CC83EE2-F745-A325-6715-10F234716E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50565EC-F3EA-C9AE-2EA1-DC666B88E864}"/>
              </a:ext>
            </a:extLst>
          </p:cNvPr>
          <p:cNvSpPr>
            <a:spLocks noGrp="1"/>
          </p:cNvSpPr>
          <p:nvPr>
            <p:ph type="dt" sz="half" idx="10"/>
          </p:nvPr>
        </p:nvSpPr>
        <p:spPr/>
        <p:txBody>
          <a:bodyPr/>
          <a:lstStyle/>
          <a:p>
            <a:fld id="{CD088479-BA81-4009-A123-8DEC37C97121}" type="datetimeFigureOut">
              <a:rPr lang="en-US" smtClean="0"/>
              <a:t>6/10/2026</a:t>
            </a:fld>
            <a:endParaRPr lang="en-US"/>
          </a:p>
        </p:txBody>
      </p:sp>
      <p:sp>
        <p:nvSpPr>
          <p:cNvPr id="6" name="Footer Placeholder 5">
            <a:extLst>
              <a:ext uri="{FF2B5EF4-FFF2-40B4-BE49-F238E27FC236}">
                <a16:creationId xmlns:a16="http://schemas.microsoft.com/office/drawing/2014/main" id="{26190148-8F76-A6B9-300C-AA7EA0BC46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763A55-872D-E5A3-068C-C5E3452F4322}"/>
              </a:ext>
            </a:extLst>
          </p:cNvPr>
          <p:cNvSpPr>
            <a:spLocks noGrp="1"/>
          </p:cNvSpPr>
          <p:nvPr>
            <p:ph type="sldNum" sz="quarter" idx="12"/>
          </p:nvPr>
        </p:nvSpPr>
        <p:spPr/>
        <p:txBody>
          <a:bodyPr/>
          <a:lstStyle/>
          <a:p>
            <a:fld id="{E17F33E6-C358-49CC-A210-CD6067814AAB}" type="slidenum">
              <a:rPr lang="en-US" smtClean="0"/>
              <a:t>‹#›</a:t>
            </a:fld>
            <a:endParaRPr lang="en-US"/>
          </a:p>
        </p:txBody>
      </p:sp>
    </p:spTree>
    <p:extLst>
      <p:ext uri="{BB962C8B-B14F-4D97-AF65-F5344CB8AC3E}">
        <p14:creationId xmlns:p14="http://schemas.microsoft.com/office/powerpoint/2010/main" val="4095680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66DE5-2045-A044-52F9-7A1E0EBFFD5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1829D1B-A453-0FB4-B6FE-8A118D6335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C8F68CD-E617-8135-208C-1DC8A3B1E9C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A741407-6763-6EE7-5558-441BDCB63A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CAFFE11-059D-DC57-A666-8B29A2E6F96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E19EDFE-9C55-62CB-5BEF-DAC5B2B4AA9C}"/>
              </a:ext>
            </a:extLst>
          </p:cNvPr>
          <p:cNvSpPr>
            <a:spLocks noGrp="1"/>
          </p:cNvSpPr>
          <p:nvPr>
            <p:ph type="dt" sz="half" idx="10"/>
          </p:nvPr>
        </p:nvSpPr>
        <p:spPr/>
        <p:txBody>
          <a:bodyPr/>
          <a:lstStyle/>
          <a:p>
            <a:fld id="{CD088479-BA81-4009-A123-8DEC37C97121}" type="datetimeFigureOut">
              <a:rPr lang="en-US" smtClean="0"/>
              <a:t>6/10/2026</a:t>
            </a:fld>
            <a:endParaRPr lang="en-US"/>
          </a:p>
        </p:txBody>
      </p:sp>
      <p:sp>
        <p:nvSpPr>
          <p:cNvPr id="8" name="Footer Placeholder 7">
            <a:extLst>
              <a:ext uri="{FF2B5EF4-FFF2-40B4-BE49-F238E27FC236}">
                <a16:creationId xmlns:a16="http://schemas.microsoft.com/office/drawing/2014/main" id="{A772F597-D23C-0B9E-E871-2F166AA9418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2685201-8B5F-E152-0C58-430B63D7F903}"/>
              </a:ext>
            </a:extLst>
          </p:cNvPr>
          <p:cNvSpPr>
            <a:spLocks noGrp="1"/>
          </p:cNvSpPr>
          <p:nvPr>
            <p:ph type="sldNum" sz="quarter" idx="12"/>
          </p:nvPr>
        </p:nvSpPr>
        <p:spPr/>
        <p:txBody>
          <a:bodyPr/>
          <a:lstStyle/>
          <a:p>
            <a:fld id="{E17F33E6-C358-49CC-A210-CD6067814AAB}" type="slidenum">
              <a:rPr lang="en-US" smtClean="0"/>
              <a:t>‹#›</a:t>
            </a:fld>
            <a:endParaRPr lang="en-US"/>
          </a:p>
        </p:txBody>
      </p:sp>
    </p:spTree>
    <p:extLst>
      <p:ext uri="{BB962C8B-B14F-4D97-AF65-F5344CB8AC3E}">
        <p14:creationId xmlns:p14="http://schemas.microsoft.com/office/powerpoint/2010/main" val="42948862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31755-71A3-757B-C022-1C77925CAA8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47401C2-3002-2C81-495F-7A48C4269083}"/>
              </a:ext>
            </a:extLst>
          </p:cNvPr>
          <p:cNvSpPr>
            <a:spLocks noGrp="1"/>
          </p:cNvSpPr>
          <p:nvPr>
            <p:ph type="dt" sz="half" idx="10"/>
          </p:nvPr>
        </p:nvSpPr>
        <p:spPr/>
        <p:txBody>
          <a:bodyPr/>
          <a:lstStyle/>
          <a:p>
            <a:fld id="{CD088479-BA81-4009-A123-8DEC37C97121}" type="datetimeFigureOut">
              <a:rPr lang="en-US" smtClean="0"/>
              <a:t>6/10/2026</a:t>
            </a:fld>
            <a:endParaRPr lang="en-US"/>
          </a:p>
        </p:txBody>
      </p:sp>
      <p:sp>
        <p:nvSpPr>
          <p:cNvPr id="4" name="Footer Placeholder 3">
            <a:extLst>
              <a:ext uri="{FF2B5EF4-FFF2-40B4-BE49-F238E27FC236}">
                <a16:creationId xmlns:a16="http://schemas.microsoft.com/office/drawing/2014/main" id="{4B0A63AF-89E5-536B-A2B2-9D7DAE3F55C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7BCEA8-7B2A-5AC5-59B7-7D8684F07399}"/>
              </a:ext>
            </a:extLst>
          </p:cNvPr>
          <p:cNvSpPr>
            <a:spLocks noGrp="1"/>
          </p:cNvSpPr>
          <p:nvPr>
            <p:ph type="sldNum" sz="quarter" idx="12"/>
          </p:nvPr>
        </p:nvSpPr>
        <p:spPr/>
        <p:txBody>
          <a:bodyPr/>
          <a:lstStyle/>
          <a:p>
            <a:fld id="{E17F33E6-C358-49CC-A210-CD6067814AAB}" type="slidenum">
              <a:rPr lang="en-US" smtClean="0"/>
              <a:t>‹#›</a:t>
            </a:fld>
            <a:endParaRPr lang="en-US"/>
          </a:p>
        </p:txBody>
      </p:sp>
    </p:spTree>
    <p:extLst>
      <p:ext uri="{BB962C8B-B14F-4D97-AF65-F5344CB8AC3E}">
        <p14:creationId xmlns:p14="http://schemas.microsoft.com/office/powerpoint/2010/main" val="4585560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95AC4D-D76B-B682-9EE7-590D6A6CC095}"/>
              </a:ext>
            </a:extLst>
          </p:cNvPr>
          <p:cNvSpPr>
            <a:spLocks noGrp="1"/>
          </p:cNvSpPr>
          <p:nvPr>
            <p:ph type="dt" sz="half" idx="10"/>
          </p:nvPr>
        </p:nvSpPr>
        <p:spPr/>
        <p:txBody>
          <a:bodyPr/>
          <a:lstStyle/>
          <a:p>
            <a:fld id="{CD088479-BA81-4009-A123-8DEC37C97121}" type="datetimeFigureOut">
              <a:rPr lang="en-US" smtClean="0"/>
              <a:t>6/10/2026</a:t>
            </a:fld>
            <a:endParaRPr lang="en-US"/>
          </a:p>
        </p:txBody>
      </p:sp>
      <p:sp>
        <p:nvSpPr>
          <p:cNvPr id="3" name="Footer Placeholder 2">
            <a:extLst>
              <a:ext uri="{FF2B5EF4-FFF2-40B4-BE49-F238E27FC236}">
                <a16:creationId xmlns:a16="http://schemas.microsoft.com/office/drawing/2014/main" id="{B47805F7-FE58-E356-5918-049C902BA93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31F8B86-3CE0-E51C-3E12-14EB4EB48632}"/>
              </a:ext>
            </a:extLst>
          </p:cNvPr>
          <p:cNvSpPr>
            <a:spLocks noGrp="1"/>
          </p:cNvSpPr>
          <p:nvPr>
            <p:ph type="sldNum" sz="quarter" idx="12"/>
          </p:nvPr>
        </p:nvSpPr>
        <p:spPr/>
        <p:txBody>
          <a:bodyPr/>
          <a:lstStyle/>
          <a:p>
            <a:fld id="{E17F33E6-C358-49CC-A210-CD6067814AAB}" type="slidenum">
              <a:rPr lang="en-US" smtClean="0"/>
              <a:t>‹#›</a:t>
            </a:fld>
            <a:endParaRPr lang="en-US"/>
          </a:p>
        </p:txBody>
      </p:sp>
    </p:spTree>
    <p:extLst>
      <p:ext uri="{BB962C8B-B14F-4D97-AF65-F5344CB8AC3E}">
        <p14:creationId xmlns:p14="http://schemas.microsoft.com/office/powerpoint/2010/main" val="3767245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00E6F-7058-DA5C-68C2-3D8C6FCDEB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225074F-FDA3-ACF7-B15A-E1FD19E46C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19CFEE2-CC65-6CE0-6D89-F9F3EC79A3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4671D3-ABB4-70EB-F600-F04A40450851}"/>
              </a:ext>
            </a:extLst>
          </p:cNvPr>
          <p:cNvSpPr>
            <a:spLocks noGrp="1"/>
          </p:cNvSpPr>
          <p:nvPr>
            <p:ph type="dt" sz="half" idx="10"/>
          </p:nvPr>
        </p:nvSpPr>
        <p:spPr/>
        <p:txBody>
          <a:bodyPr/>
          <a:lstStyle/>
          <a:p>
            <a:fld id="{CD088479-BA81-4009-A123-8DEC37C97121}" type="datetimeFigureOut">
              <a:rPr lang="en-US" smtClean="0"/>
              <a:t>6/10/2026</a:t>
            </a:fld>
            <a:endParaRPr lang="en-US"/>
          </a:p>
        </p:txBody>
      </p:sp>
      <p:sp>
        <p:nvSpPr>
          <p:cNvPr id="6" name="Footer Placeholder 5">
            <a:extLst>
              <a:ext uri="{FF2B5EF4-FFF2-40B4-BE49-F238E27FC236}">
                <a16:creationId xmlns:a16="http://schemas.microsoft.com/office/drawing/2014/main" id="{BD298883-609A-A053-7D2D-B185F15BC6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853799-8218-1123-40BB-D25A94FB540B}"/>
              </a:ext>
            </a:extLst>
          </p:cNvPr>
          <p:cNvSpPr>
            <a:spLocks noGrp="1"/>
          </p:cNvSpPr>
          <p:nvPr>
            <p:ph type="sldNum" sz="quarter" idx="12"/>
          </p:nvPr>
        </p:nvSpPr>
        <p:spPr/>
        <p:txBody>
          <a:bodyPr/>
          <a:lstStyle/>
          <a:p>
            <a:fld id="{E17F33E6-C358-49CC-A210-CD6067814AAB}" type="slidenum">
              <a:rPr lang="en-US" smtClean="0"/>
              <a:t>‹#›</a:t>
            </a:fld>
            <a:endParaRPr lang="en-US"/>
          </a:p>
        </p:txBody>
      </p:sp>
    </p:spTree>
    <p:extLst>
      <p:ext uri="{BB962C8B-B14F-4D97-AF65-F5344CB8AC3E}">
        <p14:creationId xmlns:p14="http://schemas.microsoft.com/office/powerpoint/2010/main" val="36434431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3BA61-CE62-4BF2-F854-39B66B288C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BE8F396-5489-E8BC-CD9B-CFEC1DC638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A22BF8A-2397-249D-7AC5-7DC9B151AC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8CB50B-6F55-458C-BA03-2E612E28DBB9}"/>
              </a:ext>
            </a:extLst>
          </p:cNvPr>
          <p:cNvSpPr>
            <a:spLocks noGrp="1"/>
          </p:cNvSpPr>
          <p:nvPr>
            <p:ph type="dt" sz="half" idx="10"/>
          </p:nvPr>
        </p:nvSpPr>
        <p:spPr/>
        <p:txBody>
          <a:bodyPr/>
          <a:lstStyle/>
          <a:p>
            <a:fld id="{CD088479-BA81-4009-A123-8DEC37C97121}" type="datetimeFigureOut">
              <a:rPr lang="en-US" smtClean="0"/>
              <a:t>6/10/2026</a:t>
            </a:fld>
            <a:endParaRPr lang="en-US"/>
          </a:p>
        </p:txBody>
      </p:sp>
      <p:sp>
        <p:nvSpPr>
          <p:cNvPr id="6" name="Footer Placeholder 5">
            <a:extLst>
              <a:ext uri="{FF2B5EF4-FFF2-40B4-BE49-F238E27FC236}">
                <a16:creationId xmlns:a16="http://schemas.microsoft.com/office/drawing/2014/main" id="{EF2C0A8D-D690-96BD-95D4-50A655114D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976804-8623-7E02-4613-760D81FABF36}"/>
              </a:ext>
            </a:extLst>
          </p:cNvPr>
          <p:cNvSpPr>
            <a:spLocks noGrp="1"/>
          </p:cNvSpPr>
          <p:nvPr>
            <p:ph type="sldNum" sz="quarter" idx="12"/>
          </p:nvPr>
        </p:nvSpPr>
        <p:spPr/>
        <p:txBody>
          <a:bodyPr/>
          <a:lstStyle/>
          <a:p>
            <a:fld id="{E17F33E6-C358-49CC-A210-CD6067814AAB}" type="slidenum">
              <a:rPr lang="en-US" smtClean="0"/>
              <a:t>‹#›</a:t>
            </a:fld>
            <a:endParaRPr lang="en-US"/>
          </a:p>
        </p:txBody>
      </p:sp>
    </p:spTree>
    <p:extLst>
      <p:ext uri="{BB962C8B-B14F-4D97-AF65-F5344CB8AC3E}">
        <p14:creationId xmlns:p14="http://schemas.microsoft.com/office/powerpoint/2010/main" val="38517045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A54B9-7BC0-0657-D7C9-67AFA31954D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4BC771-FBC8-533C-0798-DE22B77DD75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2903CE-3779-22AC-EB91-E2C35D3A65F0}"/>
              </a:ext>
            </a:extLst>
          </p:cNvPr>
          <p:cNvSpPr>
            <a:spLocks noGrp="1"/>
          </p:cNvSpPr>
          <p:nvPr>
            <p:ph type="dt" sz="half" idx="10"/>
          </p:nvPr>
        </p:nvSpPr>
        <p:spPr/>
        <p:txBody>
          <a:bodyPr/>
          <a:lstStyle/>
          <a:p>
            <a:fld id="{CD088479-BA81-4009-A123-8DEC37C97121}" type="datetimeFigureOut">
              <a:rPr lang="en-US" smtClean="0"/>
              <a:t>6/10/2026</a:t>
            </a:fld>
            <a:endParaRPr lang="en-US"/>
          </a:p>
        </p:txBody>
      </p:sp>
      <p:sp>
        <p:nvSpPr>
          <p:cNvPr id="5" name="Footer Placeholder 4">
            <a:extLst>
              <a:ext uri="{FF2B5EF4-FFF2-40B4-BE49-F238E27FC236}">
                <a16:creationId xmlns:a16="http://schemas.microsoft.com/office/drawing/2014/main" id="{433E7B7A-3287-30F2-ADDE-957C0F4EB7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227AD3-8C12-CFE1-169C-8176B869A2DE}"/>
              </a:ext>
            </a:extLst>
          </p:cNvPr>
          <p:cNvSpPr>
            <a:spLocks noGrp="1"/>
          </p:cNvSpPr>
          <p:nvPr>
            <p:ph type="sldNum" sz="quarter" idx="12"/>
          </p:nvPr>
        </p:nvSpPr>
        <p:spPr/>
        <p:txBody>
          <a:bodyPr/>
          <a:lstStyle/>
          <a:p>
            <a:fld id="{E17F33E6-C358-49CC-A210-CD6067814AAB}" type="slidenum">
              <a:rPr lang="en-US" smtClean="0"/>
              <a:t>‹#›</a:t>
            </a:fld>
            <a:endParaRPr lang="en-US"/>
          </a:p>
        </p:txBody>
      </p:sp>
    </p:spTree>
    <p:extLst>
      <p:ext uri="{BB962C8B-B14F-4D97-AF65-F5344CB8AC3E}">
        <p14:creationId xmlns:p14="http://schemas.microsoft.com/office/powerpoint/2010/main" val="35648080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A62C37-4DDD-ED86-CD18-1C4379A2327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6FA55ED-6B23-6731-857E-0F1C0EB009B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029536-AEF2-FE0C-06F3-C7BB158618C3}"/>
              </a:ext>
            </a:extLst>
          </p:cNvPr>
          <p:cNvSpPr>
            <a:spLocks noGrp="1"/>
          </p:cNvSpPr>
          <p:nvPr>
            <p:ph type="dt" sz="half" idx="10"/>
          </p:nvPr>
        </p:nvSpPr>
        <p:spPr/>
        <p:txBody>
          <a:bodyPr/>
          <a:lstStyle/>
          <a:p>
            <a:fld id="{CD088479-BA81-4009-A123-8DEC37C97121}" type="datetimeFigureOut">
              <a:rPr lang="en-US" smtClean="0"/>
              <a:t>6/10/2026</a:t>
            </a:fld>
            <a:endParaRPr lang="en-US"/>
          </a:p>
        </p:txBody>
      </p:sp>
      <p:sp>
        <p:nvSpPr>
          <p:cNvPr id="5" name="Footer Placeholder 4">
            <a:extLst>
              <a:ext uri="{FF2B5EF4-FFF2-40B4-BE49-F238E27FC236}">
                <a16:creationId xmlns:a16="http://schemas.microsoft.com/office/drawing/2014/main" id="{8A91C6DD-CB04-BB00-4E5E-036D350514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C105EA-DD46-7CB1-C060-443E2E993F0C}"/>
              </a:ext>
            </a:extLst>
          </p:cNvPr>
          <p:cNvSpPr>
            <a:spLocks noGrp="1"/>
          </p:cNvSpPr>
          <p:nvPr>
            <p:ph type="sldNum" sz="quarter" idx="12"/>
          </p:nvPr>
        </p:nvSpPr>
        <p:spPr/>
        <p:txBody>
          <a:bodyPr/>
          <a:lstStyle/>
          <a:p>
            <a:fld id="{E17F33E6-C358-49CC-A210-CD6067814AAB}" type="slidenum">
              <a:rPr lang="en-US" smtClean="0"/>
              <a:t>‹#›</a:t>
            </a:fld>
            <a:endParaRPr lang="en-US"/>
          </a:p>
        </p:txBody>
      </p:sp>
    </p:spTree>
    <p:extLst>
      <p:ext uri="{BB962C8B-B14F-4D97-AF65-F5344CB8AC3E}">
        <p14:creationId xmlns:p14="http://schemas.microsoft.com/office/powerpoint/2010/main" val="30143534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Only Layout">
    <p:spTree>
      <p:nvGrpSpPr>
        <p:cNvPr id="1" name=""/>
        <p:cNvGrpSpPr/>
        <p:nvPr/>
      </p:nvGrpSpPr>
      <p:grpSpPr>
        <a:xfrm>
          <a:off x="0" y="0"/>
          <a:ext cx="0" cy="0"/>
          <a:chOff x="0" y="0"/>
          <a:chExt cx="0" cy="0"/>
        </a:xfrm>
      </p:grpSpPr>
      <p:sp>
        <p:nvSpPr>
          <p:cNvPr id="2" name="Title"/>
          <p:cNvSpPr>
            <a:spLocks noGrp="1"/>
          </p:cNvSpPr>
          <p:nvPr>
            <p:ph type="title"/>
          </p:nvPr>
        </p:nvSpPr>
        <p:spPr>
          <a:xfrm>
            <a:off x="418073" y="437960"/>
            <a:ext cx="11375136" cy="609600"/>
          </a:xfrm>
        </p:spPr>
        <p:txBody>
          <a:bodyPr/>
          <a:lstStyle>
            <a:lvl1pPr>
              <a:defRPr b="0" i="0">
                <a:solidFill>
                  <a:srgbClr val="1866AE"/>
                </a:solidFill>
                <a:latin typeface="Montserrat" pitchFamily="2" charset="77"/>
              </a:defRPr>
            </a:lvl1pPr>
          </a:lstStyle>
          <a:p>
            <a:r>
              <a:rPr lang="en-US"/>
              <a:t>Click to edit Master title style</a:t>
            </a:r>
          </a:p>
        </p:txBody>
      </p:sp>
      <p:pic>
        <p:nvPicPr>
          <p:cNvPr id="3" name="Picture 2" descr="A blue rocket with yellow flames&#10;&#10;AI-generated content may be incorrect.">
            <a:extLst>
              <a:ext uri="{FF2B5EF4-FFF2-40B4-BE49-F238E27FC236}">
                <a16:creationId xmlns:a16="http://schemas.microsoft.com/office/drawing/2014/main" id="{7221C18D-5754-F22D-33AC-963EC05E9973}"/>
              </a:ext>
            </a:extLst>
          </p:cNvPr>
          <p:cNvPicPr>
            <a:picLocks noChangeAspect="1"/>
          </p:cNvPicPr>
          <p:nvPr userDrawn="1"/>
        </p:nvPicPr>
        <p:blipFill>
          <a:blip r:embed="rId2"/>
          <a:stretch>
            <a:fillRect/>
          </a:stretch>
        </p:blipFill>
        <p:spPr>
          <a:xfrm>
            <a:off x="11322425" y="4961854"/>
            <a:ext cx="715337" cy="1180425"/>
          </a:xfrm>
          <a:prstGeom prst="rect">
            <a:avLst/>
          </a:prstGeom>
        </p:spPr>
      </p:pic>
    </p:spTree>
    <p:extLst>
      <p:ext uri="{BB962C8B-B14F-4D97-AF65-F5344CB8AC3E}">
        <p14:creationId xmlns:p14="http://schemas.microsoft.com/office/powerpoint/2010/main" val="34187426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_Title Only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EA14F74-9AE4-FE3D-5B7E-FF0B9D75F257}"/>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33" b="0" i="0">
              <a:latin typeface="Montserrat" pitchFamily="2" charset="77"/>
            </a:endParaRPr>
          </a:p>
        </p:txBody>
      </p:sp>
      <p:pic>
        <p:nvPicPr>
          <p:cNvPr id="2" name="Picture 1" descr="A black background with white text&#10;&#10;AI-generated content may be incorrect.">
            <a:extLst>
              <a:ext uri="{FF2B5EF4-FFF2-40B4-BE49-F238E27FC236}">
                <a16:creationId xmlns:a16="http://schemas.microsoft.com/office/drawing/2014/main" id="{8F797F84-1016-68FE-191B-45D27B0C4524}"/>
              </a:ext>
            </a:extLst>
          </p:cNvPr>
          <p:cNvPicPr>
            <a:picLocks noChangeAspect="1"/>
          </p:cNvPicPr>
          <p:nvPr userDrawn="1"/>
        </p:nvPicPr>
        <p:blipFill>
          <a:blip r:embed="rId2">
            <a:alphaModFix amt="50000"/>
          </a:blip>
          <a:srcRect l="79031" t="-2797" b="-1"/>
          <a:stretch>
            <a:fillRect/>
          </a:stretch>
        </p:blipFill>
        <p:spPr>
          <a:xfrm>
            <a:off x="7905447" y="934345"/>
            <a:ext cx="2934692" cy="4845921"/>
          </a:xfrm>
          <a:prstGeom prst="rect">
            <a:avLst/>
          </a:prstGeom>
        </p:spPr>
      </p:pic>
      <p:sp>
        <p:nvSpPr>
          <p:cNvPr id="3" name="Title">
            <a:extLst>
              <a:ext uri="{FF2B5EF4-FFF2-40B4-BE49-F238E27FC236}">
                <a16:creationId xmlns:a16="http://schemas.microsoft.com/office/drawing/2014/main" id="{19FDF49E-F19D-7966-5841-E8FE9E5F2A9C}"/>
              </a:ext>
            </a:extLst>
          </p:cNvPr>
          <p:cNvSpPr>
            <a:spLocks noGrp="1"/>
          </p:cNvSpPr>
          <p:nvPr>
            <p:ph type="title" hasCustomPrompt="1"/>
          </p:nvPr>
        </p:nvSpPr>
        <p:spPr>
          <a:xfrm>
            <a:off x="757027" y="4424859"/>
            <a:ext cx="5213183" cy="576471"/>
          </a:xfrm>
        </p:spPr>
        <p:txBody>
          <a:bodyPr anchor="t" anchorCtr="0"/>
          <a:lstStyle>
            <a:lvl1pPr>
              <a:defRPr sz="4267" b="0" i="0">
                <a:solidFill>
                  <a:schemeClr val="bg1"/>
                </a:solidFill>
                <a:latin typeface="Montserrat" pitchFamily="2" charset="77"/>
              </a:defRPr>
            </a:lvl1pPr>
          </a:lstStyle>
          <a:p>
            <a:r>
              <a:rPr lang="en-US"/>
              <a:t>Transition Slide</a:t>
            </a:r>
          </a:p>
        </p:txBody>
      </p:sp>
    </p:spTree>
    <p:extLst>
      <p:ext uri="{BB962C8B-B14F-4D97-AF65-F5344CB8AC3E}">
        <p14:creationId xmlns:p14="http://schemas.microsoft.com/office/powerpoint/2010/main" val="173873109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Blue_Consumers Energy TITLE Slid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0CA405F-B3CD-76DC-CAA3-F740ED934F6D}"/>
              </a:ext>
            </a:extLst>
          </p:cNvPr>
          <p:cNvSpPr/>
          <p:nvPr userDrawn="1"/>
        </p:nvSpPr>
        <p:spPr>
          <a:xfrm>
            <a:off x="0" y="63260"/>
            <a:ext cx="12192000" cy="6435720"/>
          </a:xfrm>
          <a:prstGeom prst="rect">
            <a:avLst/>
          </a:prstGeom>
          <a:solidFill>
            <a:srgbClr val="0067A5"/>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67" b="0" i="0">
              <a:latin typeface="Montserrat" pitchFamily="2" charset="77"/>
            </a:endParaRPr>
          </a:p>
        </p:txBody>
      </p:sp>
      <p:pic>
        <p:nvPicPr>
          <p:cNvPr id="7" name="Picture 6">
            <a:extLst>
              <a:ext uri="{FF2B5EF4-FFF2-40B4-BE49-F238E27FC236}">
                <a16:creationId xmlns:a16="http://schemas.microsoft.com/office/drawing/2014/main" id="{B5C6FA4A-C1E9-5357-C9A5-5FFC82FC26F4}"/>
              </a:ext>
            </a:extLst>
          </p:cNvPr>
          <p:cNvPicPr>
            <a:picLocks noChangeAspect="1"/>
          </p:cNvPicPr>
          <p:nvPr userDrawn="1"/>
        </p:nvPicPr>
        <p:blipFill>
          <a:blip r:embed="rId2"/>
          <a:srcRect l="200" t="918" r="-200" b="27132"/>
          <a:stretch/>
        </p:blipFill>
        <p:spPr>
          <a:xfrm>
            <a:off x="0" y="4448042"/>
            <a:ext cx="12228576" cy="2458393"/>
          </a:xfrm>
          <a:prstGeom prst="rect">
            <a:avLst/>
          </a:prstGeom>
        </p:spPr>
      </p:pic>
      <p:sp>
        <p:nvSpPr>
          <p:cNvPr id="3" name="Subtitle "/>
          <p:cNvSpPr>
            <a:spLocks noGrp="1"/>
          </p:cNvSpPr>
          <p:nvPr>
            <p:ph type="subTitle" idx="1" hasCustomPrompt="1"/>
          </p:nvPr>
        </p:nvSpPr>
        <p:spPr>
          <a:xfrm>
            <a:off x="2067149" y="3391505"/>
            <a:ext cx="9448800" cy="1752600"/>
          </a:xfrm>
        </p:spPr>
        <p:txBody>
          <a:bodyPr>
            <a:normAutofit/>
          </a:bodyPr>
          <a:lstStyle>
            <a:lvl1pPr marL="0" indent="0" algn="r">
              <a:buNone/>
              <a:defRPr sz="2400" b="0" i="0">
                <a:solidFill>
                  <a:schemeClr val="bg1"/>
                </a:solidFill>
                <a:latin typeface="Montserrat" pitchFamily="2" charset="77"/>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enter presenter’s name/date</a:t>
            </a:r>
          </a:p>
        </p:txBody>
      </p:sp>
      <p:sp>
        <p:nvSpPr>
          <p:cNvPr id="2" name="Title "/>
          <p:cNvSpPr>
            <a:spLocks noGrp="1"/>
          </p:cNvSpPr>
          <p:nvPr>
            <p:ph type="ctrTitle" hasCustomPrompt="1"/>
          </p:nvPr>
        </p:nvSpPr>
        <p:spPr>
          <a:xfrm>
            <a:off x="1152749" y="1631952"/>
            <a:ext cx="10363200" cy="1470025"/>
          </a:xfrm>
        </p:spPr>
        <p:txBody>
          <a:bodyPr/>
          <a:lstStyle>
            <a:lvl1pPr algn="r">
              <a:defRPr sz="4267" b="0" i="0" baseline="0">
                <a:solidFill>
                  <a:schemeClr val="bg1"/>
                </a:solidFill>
                <a:latin typeface="Montserrat" pitchFamily="2" charset="77"/>
              </a:defRPr>
            </a:lvl1pPr>
          </a:lstStyle>
          <a:p>
            <a:r>
              <a:rPr lang="en-US"/>
              <a:t>Consumers Energy Title Page </a:t>
            </a:r>
            <a:br>
              <a:rPr lang="en-US"/>
            </a:br>
            <a:r>
              <a:rPr lang="en-US"/>
              <a:t>Click to enter presentation title</a:t>
            </a:r>
          </a:p>
        </p:txBody>
      </p:sp>
      <p:pic>
        <p:nvPicPr>
          <p:cNvPr id="6" name="Picture 5">
            <a:extLst>
              <a:ext uri="{FF2B5EF4-FFF2-40B4-BE49-F238E27FC236}">
                <a16:creationId xmlns:a16="http://schemas.microsoft.com/office/drawing/2014/main" id="{2D8D15BC-A084-C6D9-EEE3-4A46CC2A531F}"/>
              </a:ext>
            </a:extLst>
          </p:cNvPr>
          <p:cNvPicPr>
            <a:picLocks noChangeAspect="1"/>
          </p:cNvPicPr>
          <p:nvPr userDrawn="1"/>
        </p:nvPicPr>
        <p:blipFill>
          <a:blip r:embed="rId3"/>
          <a:stretch>
            <a:fillRect/>
          </a:stretch>
        </p:blipFill>
        <p:spPr>
          <a:xfrm>
            <a:off x="230583" y="6070185"/>
            <a:ext cx="2084131" cy="656644"/>
          </a:xfrm>
          <a:prstGeom prst="rect">
            <a:avLst/>
          </a:prstGeom>
        </p:spPr>
      </p:pic>
      <p:sp>
        <p:nvSpPr>
          <p:cNvPr id="8" name="Green top line">
            <a:extLst>
              <a:ext uri="{FF2B5EF4-FFF2-40B4-BE49-F238E27FC236}">
                <a16:creationId xmlns:a16="http://schemas.microsoft.com/office/drawing/2014/main" id="{03CF2A64-7CD1-4C22-7B38-A723A28DFEF4}"/>
              </a:ext>
            </a:extLst>
          </p:cNvPr>
          <p:cNvSpPr/>
          <p:nvPr userDrawn="1"/>
        </p:nvSpPr>
        <p:spPr>
          <a:xfrm flipV="1">
            <a:off x="0" y="0"/>
            <a:ext cx="12192000" cy="36576"/>
          </a:xfrm>
          <a:prstGeom prst="rect">
            <a:avLst/>
          </a:prstGeom>
          <a:solidFill>
            <a:srgbClr val="8DC63F"/>
          </a:solidFill>
          <a:ln>
            <a:solidFill>
              <a:srgbClr val="8EBB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33" b="0" i="0" baseline="0">
              <a:solidFill>
                <a:schemeClr val="tx1"/>
              </a:solidFill>
              <a:latin typeface="Montserrat" pitchFamily="2" charset="77"/>
            </a:endParaRPr>
          </a:p>
        </p:txBody>
      </p:sp>
      <p:pic>
        <p:nvPicPr>
          <p:cNvPr id="9" name="Picture 8" descr="A black background with a black square&#10;&#10;AI-generated content may be incorrect.">
            <a:extLst>
              <a:ext uri="{FF2B5EF4-FFF2-40B4-BE49-F238E27FC236}">
                <a16:creationId xmlns:a16="http://schemas.microsoft.com/office/drawing/2014/main" id="{90E030D4-1768-E3AD-266E-7222A4E8C0BF}"/>
              </a:ext>
            </a:extLst>
          </p:cNvPr>
          <p:cNvPicPr>
            <a:picLocks noChangeAspect="1"/>
          </p:cNvPicPr>
          <p:nvPr userDrawn="1"/>
        </p:nvPicPr>
        <p:blipFill>
          <a:blip r:embed="rId4"/>
          <a:stretch>
            <a:fillRect/>
          </a:stretch>
        </p:blipFill>
        <p:spPr>
          <a:xfrm>
            <a:off x="9119636" y="5610087"/>
            <a:ext cx="2850587" cy="1097595"/>
          </a:xfrm>
          <a:prstGeom prst="rect">
            <a:avLst/>
          </a:prstGeom>
        </p:spPr>
      </p:pic>
    </p:spTree>
    <p:extLst>
      <p:ext uri="{BB962C8B-B14F-4D97-AF65-F5344CB8AC3E}">
        <p14:creationId xmlns:p14="http://schemas.microsoft.com/office/powerpoint/2010/main" val="25816831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Blue_CMS 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329B655-E050-2CEF-2CE1-0A53AA4DC649}"/>
              </a:ext>
            </a:extLst>
          </p:cNvPr>
          <p:cNvSpPr/>
          <p:nvPr userDrawn="1"/>
        </p:nvSpPr>
        <p:spPr>
          <a:xfrm>
            <a:off x="0" y="36576"/>
            <a:ext cx="12192000" cy="6435720"/>
          </a:xfrm>
          <a:prstGeom prst="rect">
            <a:avLst/>
          </a:prstGeom>
          <a:solidFill>
            <a:srgbClr val="0067A5"/>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67" b="0" i="0">
              <a:latin typeface="Montserrat" pitchFamily="2" charset="77"/>
            </a:endParaRPr>
          </a:p>
        </p:txBody>
      </p:sp>
      <p:sp>
        <p:nvSpPr>
          <p:cNvPr id="3" name="Subtitle "/>
          <p:cNvSpPr>
            <a:spLocks noGrp="1"/>
          </p:cNvSpPr>
          <p:nvPr>
            <p:ph type="subTitle" idx="1" hasCustomPrompt="1"/>
          </p:nvPr>
        </p:nvSpPr>
        <p:spPr>
          <a:xfrm>
            <a:off x="2067149" y="3391505"/>
            <a:ext cx="9448800" cy="1752600"/>
          </a:xfrm>
        </p:spPr>
        <p:txBody>
          <a:bodyPr>
            <a:normAutofit/>
          </a:bodyPr>
          <a:lstStyle>
            <a:lvl1pPr marL="0" indent="0" algn="r">
              <a:buNone/>
              <a:defRPr sz="2400" b="0" i="0">
                <a:solidFill>
                  <a:schemeClr val="bg1"/>
                </a:solidFill>
                <a:latin typeface="Montserrat" pitchFamily="2" charset="77"/>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enter presenter’s name/date</a:t>
            </a:r>
          </a:p>
        </p:txBody>
      </p:sp>
      <p:sp>
        <p:nvSpPr>
          <p:cNvPr id="2" name="Title "/>
          <p:cNvSpPr>
            <a:spLocks noGrp="1"/>
          </p:cNvSpPr>
          <p:nvPr>
            <p:ph type="ctrTitle" hasCustomPrompt="1"/>
          </p:nvPr>
        </p:nvSpPr>
        <p:spPr>
          <a:xfrm>
            <a:off x="1152749" y="1631952"/>
            <a:ext cx="10363200" cy="1470025"/>
          </a:xfrm>
        </p:spPr>
        <p:txBody>
          <a:bodyPr/>
          <a:lstStyle>
            <a:lvl1pPr algn="r">
              <a:defRPr sz="4267" b="0" i="0" baseline="0">
                <a:solidFill>
                  <a:schemeClr val="bg1"/>
                </a:solidFill>
                <a:latin typeface="Montserrat" pitchFamily="2" charset="77"/>
              </a:defRPr>
            </a:lvl1pPr>
          </a:lstStyle>
          <a:p>
            <a:r>
              <a:rPr lang="en-US"/>
              <a:t>CMS Energy Title Page </a:t>
            </a:r>
            <a:br>
              <a:rPr lang="en-US"/>
            </a:br>
            <a:r>
              <a:rPr lang="en-US"/>
              <a:t>Click to enter presentation title</a:t>
            </a:r>
          </a:p>
        </p:txBody>
      </p:sp>
      <p:pic>
        <p:nvPicPr>
          <p:cNvPr id="9" name="Picture 8">
            <a:extLst>
              <a:ext uri="{FF2B5EF4-FFF2-40B4-BE49-F238E27FC236}">
                <a16:creationId xmlns:a16="http://schemas.microsoft.com/office/drawing/2014/main" id="{709AEF07-3191-3F4A-3F7A-19EC791E9DAA}"/>
              </a:ext>
            </a:extLst>
          </p:cNvPr>
          <p:cNvPicPr>
            <a:picLocks noChangeAspect="1"/>
          </p:cNvPicPr>
          <p:nvPr userDrawn="1"/>
        </p:nvPicPr>
        <p:blipFill rotWithShape="1">
          <a:blip r:embed="rId2"/>
          <a:srcRect l="24126" t="305" r="-34" b="-305"/>
          <a:stretch/>
        </p:blipFill>
        <p:spPr>
          <a:xfrm>
            <a:off x="0" y="4420754"/>
            <a:ext cx="12216384" cy="2455953"/>
          </a:xfrm>
          <a:prstGeom prst="rect">
            <a:avLst/>
          </a:prstGeom>
        </p:spPr>
      </p:pic>
      <p:pic>
        <p:nvPicPr>
          <p:cNvPr id="6" name="Picture 5">
            <a:extLst>
              <a:ext uri="{FF2B5EF4-FFF2-40B4-BE49-F238E27FC236}">
                <a16:creationId xmlns:a16="http://schemas.microsoft.com/office/drawing/2014/main" id="{2D8D15BC-A084-C6D9-EEE3-4A46CC2A531F}"/>
              </a:ext>
            </a:extLst>
          </p:cNvPr>
          <p:cNvPicPr>
            <a:picLocks noChangeAspect="1"/>
          </p:cNvPicPr>
          <p:nvPr userDrawn="1"/>
        </p:nvPicPr>
        <p:blipFill rotWithShape="1">
          <a:blip r:embed="rId3"/>
          <a:srcRect l="-1000" t="-13025" b="-13798"/>
          <a:stretch/>
        </p:blipFill>
        <p:spPr>
          <a:xfrm>
            <a:off x="154612" y="5982816"/>
            <a:ext cx="2280355" cy="691685"/>
          </a:xfrm>
          <a:prstGeom prst="rect">
            <a:avLst/>
          </a:prstGeom>
        </p:spPr>
      </p:pic>
      <p:sp>
        <p:nvSpPr>
          <p:cNvPr id="4" name="Green top line">
            <a:extLst>
              <a:ext uri="{FF2B5EF4-FFF2-40B4-BE49-F238E27FC236}">
                <a16:creationId xmlns:a16="http://schemas.microsoft.com/office/drawing/2014/main" id="{265938C9-7DBB-F010-0315-57D2F87C9106}"/>
              </a:ext>
            </a:extLst>
          </p:cNvPr>
          <p:cNvSpPr/>
          <p:nvPr userDrawn="1"/>
        </p:nvSpPr>
        <p:spPr>
          <a:xfrm flipV="1">
            <a:off x="0" y="0"/>
            <a:ext cx="12192000" cy="36576"/>
          </a:xfrm>
          <a:prstGeom prst="rect">
            <a:avLst/>
          </a:prstGeom>
          <a:solidFill>
            <a:srgbClr val="8DC63F"/>
          </a:solidFill>
          <a:ln>
            <a:solidFill>
              <a:srgbClr val="8EBB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33" b="0" i="0" baseline="0">
              <a:solidFill>
                <a:schemeClr val="tx1"/>
              </a:solidFill>
              <a:latin typeface="Montserrat" pitchFamily="2" charset="77"/>
            </a:endParaRPr>
          </a:p>
        </p:txBody>
      </p:sp>
      <p:pic>
        <p:nvPicPr>
          <p:cNvPr id="10" name="Picture 9" descr="A black background with a black square&#10;&#10;AI-generated content may be incorrect.">
            <a:extLst>
              <a:ext uri="{FF2B5EF4-FFF2-40B4-BE49-F238E27FC236}">
                <a16:creationId xmlns:a16="http://schemas.microsoft.com/office/drawing/2014/main" id="{5E3F8541-C6A9-5757-9A4E-81D643DAAA20}"/>
              </a:ext>
            </a:extLst>
          </p:cNvPr>
          <p:cNvPicPr>
            <a:picLocks noChangeAspect="1"/>
          </p:cNvPicPr>
          <p:nvPr userDrawn="1"/>
        </p:nvPicPr>
        <p:blipFill>
          <a:blip r:embed="rId4"/>
          <a:stretch>
            <a:fillRect/>
          </a:stretch>
        </p:blipFill>
        <p:spPr>
          <a:xfrm>
            <a:off x="9119636" y="5610087"/>
            <a:ext cx="2850587" cy="1097595"/>
          </a:xfrm>
          <a:prstGeom prst="rect">
            <a:avLst/>
          </a:prstGeom>
        </p:spPr>
      </p:pic>
    </p:spTree>
    <p:extLst>
      <p:ext uri="{BB962C8B-B14F-4D97-AF65-F5344CB8AC3E}">
        <p14:creationId xmlns:p14="http://schemas.microsoft.com/office/powerpoint/2010/main" val="175088949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Consumers Energy TITLE Slide">
    <p:spTree>
      <p:nvGrpSpPr>
        <p:cNvPr id="1" name=""/>
        <p:cNvGrpSpPr/>
        <p:nvPr/>
      </p:nvGrpSpPr>
      <p:grpSpPr>
        <a:xfrm>
          <a:off x="0" y="0"/>
          <a:ext cx="0" cy="0"/>
          <a:chOff x="0" y="0"/>
          <a:chExt cx="0" cy="0"/>
        </a:xfrm>
      </p:grpSpPr>
      <p:sp>
        <p:nvSpPr>
          <p:cNvPr id="7" name="Background"/>
          <p:cNvSpPr/>
          <p:nvPr userDrawn="1"/>
        </p:nvSpPr>
        <p:spPr>
          <a:xfrm>
            <a:off x="3048" y="88003"/>
            <a:ext cx="12192000" cy="6769997"/>
          </a:xfrm>
          <a:prstGeom prst="rect">
            <a:avLst/>
          </a:prstGeom>
          <a:pattFill prst="ltDnDiag">
            <a:fgClr>
              <a:srgbClr val="E1E4E5"/>
            </a:fgClr>
            <a:bgClr>
              <a:schemeClr val="bg1"/>
            </a:bgClr>
          </a:pattFill>
          <a:ln>
            <a:noFill/>
          </a:ln>
          <a:effectLst/>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sz="2400" b="0" i="0">
              <a:latin typeface="Montserrat" pitchFamily="2" charset="77"/>
            </a:endParaRPr>
          </a:p>
        </p:txBody>
      </p:sp>
      <p:pic>
        <p:nvPicPr>
          <p:cNvPr id="4" name="Picture 3">
            <a:extLst>
              <a:ext uri="{FF2B5EF4-FFF2-40B4-BE49-F238E27FC236}">
                <a16:creationId xmlns:a16="http://schemas.microsoft.com/office/drawing/2014/main" id="{4C05E742-6DCA-666E-9947-B0EE936494F7}"/>
              </a:ext>
            </a:extLst>
          </p:cNvPr>
          <p:cNvPicPr>
            <a:picLocks noChangeAspect="1"/>
          </p:cNvPicPr>
          <p:nvPr userDrawn="1"/>
        </p:nvPicPr>
        <p:blipFill>
          <a:blip r:embed="rId2"/>
          <a:srcRect t="-3895" b="35306"/>
          <a:stretch/>
        </p:blipFill>
        <p:spPr>
          <a:xfrm>
            <a:off x="3048" y="4549389"/>
            <a:ext cx="12188952" cy="2308611"/>
          </a:xfrm>
          <a:prstGeom prst="rect">
            <a:avLst/>
          </a:prstGeom>
        </p:spPr>
      </p:pic>
      <p:pic>
        <p:nvPicPr>
          <p:cNvPr id="12" name="CE Logo">
            <a:extLst>
              <a:ext uri="{FF2B5EF4-FFF2-40B4-BE49-F238E27FC236}">
                <a16:creationId xmlns:a16="http://schemas.microsoft.com/office/drawing/2014/main" id="{91ECB4FD-021B-A84F-9C74-397F7A945692}"/>
              </a:ext>
            </a:extLst>
          </p:cNvPr>
          <p:cNvPicPr>
            <a:picLocks noChangeAspect="1"/>
          </p:cNvPicPr>
          <p:nvPr userDrawn="1"/>
        </p:nvPicPr>
        <p:blipFill rotWithShape="1">
          <a:blip r:embed="rId3"/>
          <a:srcRect l="9122" t="10605" r="9079" b="11083"/>
          <a:stretch/>
        </p:blipFill>
        <p:spPr>
          <a:xfrm>
            <a:off x="189070" y="5913969"/>
            <a:ext cx="2205157" cy="791683"/>
          </a:xfrm>
          <a:prstGeom prst="rect">
            <a:avLst/>
          </a:prstGeom>
        </p:spPr>
      </p:pic>
      <p:sp>
        <p:nvSpPr>
          <p:cNvPr id="3" name="Subtitle "/>
          <p:cNvSpPr>
            <a:spLocks noGrp="1"/>
          </p:cNvSpPr>
          <p:nvPr>
            <p:ph type="subTitle" idx="1" hasCustomPrompt="1"/>
          </p:nvPr>
        </p:nvSpPr>
        <p:spPr>
          <a:xfrm>
            <a:off x="2067149" y="3391505"/>
            <a:ext cx="9448800" cy="1752600"/>
          </a:xfrm>
        </p:spPr>
        <p:txBody>
          <a:bodyPr>
            <a:normAutofit/>
          </a:bodyPr>
          <a:lstStyle>
            <a:lvl1pPr marL="0" indent="0" algn="r">
              <a:buNone/>
              <a:defRPr sz="2400" b="0" i="0">
                <a:solidFill>
                  <a:schemeClr val="tx1"/>
                </a:solidFill>
                <a:latin typeface="Montserrat" pitchFamily="2" charset="77"/>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enter presenter’s name/date</a:t>
            </a:r>
          </a:p>
        </p:txBody>
      </p:sp>
      <p:sp>
        <p:nvSpPr>
          <p:cNvPr id="2" name="Title "/>
          <p:cNvSpPr>
            <a:spLocks noGrp="1"/>
          </p:cNvSpPr>
          <p:nvPr>
            <p:ph type="ctrTitle" hasCustomPrompt="1"/>
          </p:nvPr>
        </p:nvSpPr>
        <p:spPr>
          <a:xfrm>
            <a:off x="1152749" y="1631952"/>
            <a:ext cx="10363200" cy="1470025"/>
          </a:xfrm>
        </p:spPr>
        <p:txBody>
          <a:bodyPr/>
          <a:lstStyle>
            <a:lvl1pPr algn="r">
              <a:defRPr sz="4267" b="0" i="0" baseline="0">
                <a:solidFill>
                  <a:srgbClr val="0067A5"/>
                </a:solidFill>
                <a:latin typeface="Montserrat" pitchFamily="2" charset="77"/>
              </a:defRPr>
            </a:lvl1pPr>
          </a:lstStyle>
          <a:p>
            <a:r>
              <a:rPr lang="en-US"/>
              <a:t>Consumers Energy Title Page </a:t>
            </a:r>
            <a:br>
              <a:rPr lang="en-US"/>
            </a:br>
            <a:r>
              <a:rPr lang="en-US"/>
              <a:t>Click to enter presentation title</a:t>
            </a:r>
          </a:p>
        </p:txBody>
      </p:sp>
      <p:pic>
        <p:nvPicPr>
          <p:cNvPr id="9" name="Picture 8" descr="A white text on a black background&#10;&#10;AI-generated content may be incorrect.">
            <a:extLst>
              <a:ext uri="{FF2B5EF4-FFF2-40B4-BE49-F238E27FC236}">
                <a16:creationId xmlns:a16="http://schemas.microsoft.com/office/drawing/2014/main" id="{1DC64331-E5B9-B4C2-135F-7D91D7FFA2BF}"/>
              </a:ext>
            </a:extLst>
          </p:cNvPr>
          <p:cNvPicPr>
            <a:picLocks noChangeAspect="1"/>
          </p:cNvPicPr>
          <p:nvPr userDrawn="1"/>
        </p:nvPicPr>
        <p:blipFill>
          <a:blip r:embed="rId4"/>
          <a:stretch>
            <a:fillRect/>
          </a:stretch>
        </p:blipFill>
        <p:spPr>
          <a:xfrm>
            <a:off x="9212048" y="5584119"/>
            <a:ext cx="2790883" cy="1121533"/>
          </a:xfrm>
          <a:prstGeom prst="rect">
            <a:avLst/>
          </a:prstGeom>
        </p:spPr>
      </p:pic>
    </p:spTree>
    <p:extLst>
      <p:ext uri="{BB962C8B-B14F-4D97-AF65-F5344CB8AC3E}">
        <p14:creationId xmlns:p14="http://schemas.microsoft.com/office/powerpoint/2010/main" val="42439605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CMS Energy TITLE SLIDE">
    <p:spTree>
      <p:nvGrpSpPr>
        <p:cNvPr id="1" name=""/>
        <p:cNvGrpSpPr/>
        <p:nvPr/>
      </p:nvGrpSpPr>
      <p:grpSpPr>
        <a:xfrm>
          <a:off x="0" y="0"/>
          <a:ext cx="0" cy="0"/>
          <a:chOff x="0" y="0"/>
          <a:chExt cx="0" cy="0"/>
        </a:xfrm>
      </p:grpSpPr>
      <p:sp>
        <p:nvSpPr>
          <p:cNvPr id="6" name="Background">
            <a:extLst>
              <a:ext uri="{FF2B5EF4-FFF2-40B4-BE49-F238E27FC236}">
                <a16:creationId xmlns:a16="http://schemas.microsoft.com/office/drawing/2014/main" id="{6E3FDA63-1642-2C7F-F7CA-C7BBCAEC20E0}"/>
              </a:ext>
            </a:extLst>
          </p:cNvPr>
          <p:cNvSpPr/>
          <p:nvPr userDrawn="1"/>
        </p:nvSpPr>
        <p:spPr>
          <a:xfrm>
            <a:off x="0" y="88003"/>
            <a:ext cx="12192000" cy="6769997"/>
          </a:xfrm>
          <a:prstGeom prst="rect">
            <a:avLst/>
          </a:prstGeom>
          <a:pattFill prst="ltDnDiag">
            <a:fgClr>
              <a:srgbClr val="E1E4E5"/>
            </a:fgClr>
            <a:bgClr>
              <a:schemeClr val="bg1"/>
            </a:bgClr>
          </a:pattFill>
          <a:ln>
            <a:noFill/>
          </a:ln>
          <a:effectLst/>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sz="2400" b="0" i="0">
              <a:latin typeface="Montserrat" pitchFamily="2" charset="77"/>
            </a:endParaRPr>
          </a:p>
        </p:txBody>
      </p:sp>
      <p:pic>
        <p:nvPicPr>
          <p:cNvPr id="4" name="Picture 3">
            <a:extLst>
              <a:ext uri="{FF2B5EF4-FFF2-40B4-BE49-F238E27FC236}">
                <a16:creationId xmlns:a16="http://schemas.microsoft.com/office/drawing/2014/main" id="{90B87A2A-DEBD-3AA2-CBF5-D11C589099D2}"/>
              </a:ext>
            </a:extLst>
          </p:cNvPr>
          <p:cNvPicPr>
            <a:picLocks noChangeAspect="1"/>
          </p:cNvPicPr>
          <p:nvPr userDrawn="1"/>
        </p:nvPicPr>
        <p:blipFill>
          <a:blip r:embed="rId2"/>
          <a:srcRect t="-3895" b="35306"/>
          <a:stretch/>
        </p:blipFill>
        <p:spPr>
          <a:xfrm>
            <a:off x="3048" y="4549389"/>
            <a:ext cx="12188952" cy="2308611"/>
          </a:xfrm>
          <a:prstGeom prst="rect">
            <a:avLst/>
          </a:prstGeom>
        </p:spPr>
      </p:pic>
      <p:pic>
        <p:nvPicPr>
          <p:cNvPr id="11" name="CMS Energy Logo"/>
          <p:cNvPicPr>
            <a:picLocks noChangeAspect="1"/>
          </p:cNvPicPr>
          <p:nvPr userDrawn="1"/>
        </p:nvPicPr>
        <p:blipFill>
          <a:blip r:embed="rId3"/>
          <a:srcRect l="12" r="12"/>
          <a:stretch/>
        </p:blipFill>
        <p:spPr>
          <a:xfrm>
            <a:off x="100995" y="5981919"/>
            <a:ext cx="2279792" cy="609600"/>
          </a:xfrm>
          <a:prstGeom prst="rect">
            <a:avLst/>
          </a:prstGeom>
        </p:spPr>
      </p:pic>
      <p:sp>
        <p:nvSpPr>
          <p:cNvPr id="3" name="Subtitle"/>
          <p:cNvSpPr>
            <a:spLocks noGrp="1"/>
          </p:cNvSpPr>
          <p:nvPr>
            <p:ph type="subTitle" idx="1" hasCustomPrompt="1"/>
          </p:nvPr>
        </p:nvSpPr>
        <p:spPr>
          <a:xfrm>
            <a:off x="2067152" y="3391505"/>
            <a:ext cx="9448800" cy="1752600"/>
          </a:xfrm>
        </p:spPr>
        <p:txBody>
          <a:bodyPr>
            <a:normAutofit/>
          </a:bodyPr>
          <a:lstStyle>
            <a:lvl1pPr marL="0" indent="0" algn="r">
              <a:buNone/>
              <a:defRPr sz="2400" b="0" i="0">
                <a:solidFill>
                  <a:srgbClr val="000000"/>
                </a:solidFill>
                <a:latin typeface="Montserrat" pitchFamily="2" charset="77"/>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enter presenter’s name/date</a:t>
            </a:r>
          </a:p>
        </p:txBody>
      </p:sp>
      <p:sp>
        <p:nvSpPr>
          <p:cNvPr id="2" name="Title "/>
          <p:cNvSpPr>
            <a:spLocks noGrp="1"/>
          </p:cNvSpPr>
          <p:nvPr>
            <p:ph type="ctrTitle" hasCustomPrompt="1"/>
          </p:nvPr>
        </p:nvSpPr>
        <p:spPr>
          <a:xfrm>
            <a:off x="1158720" y="1631952"/>
            <a:ext cx="10363200" cy="1470025"/>
          </a:xfrm>
        </p:spPr>
        <p:txBody>
          <a:bodyPr/>
          <a:lstStyle>
            <a:lvl1pPr algn="r">
              <a:defRPr sz="4267" b="0" i="0" baseline="0">
                <a:solidFill>
                  <a:srgbClr val="0067A5"/>
                </a:solidFill>
                <a:latin typeface="Montserrat" pitchFamily="2" charset="77"/>
              </a:defRPr>
            </a:lvl1pPr>
          </a:lstStyle>
          <a:p>
            <a:r>
              <a:rPr lang="en-US"/>
              <a:t>CMS Energy Title Page </a:t>
            </a:r>
            <a:br>
              <a:rPr lang="en-US"/>
            </a:br>
            <a:r>
              <a:rPr lang="en-US"/>
              <a:t>Click to enter presentation title</a:t>
            </a:r>
          </a:p>
        </p:txBody>
      </p:sp>
      <p:pic>
        <p:nvPicPr>
          <p:cNvPr id="8" name="Picture 7" descr="A white text on a black background&#10;&#10;AI-generated content may be incorrect.">
            <a:extLst>
              <a:ext uri="{FF2B5EF4-FFF2-40B4-BE49-F238E27FC236}">
                <a16:creationId xmlns:a16="http://schemas.microsoft.com/office/drawing/2014/main" id="{BE3E4CB9-D420-3CAB-8B68-2F5CDB9EB788}"/>
              </a:ext>
            </a:extLst>
          </p:cNvPr>
          <p:cNvPicPr>
            <a:picLocks noChangeAspect="1"/>
          </p:cNvPicPr>
          <p:nvPr userDrawn="1"/>
        </p:nvPicPr>
        <p:blipFill>
          <a:blip r:embed="rId4"/>
          <a:stretch>
            <a:fillRect/>
          </a:stretch>
        </p:blipFill>
        <p:spPr>
          <a:xfrm>
            <a:off x="9212048" y="5584119"/>
            <a:ext cx="2790883" cy="1121533"/>
          </a:xfrm>
          <a:prstGeom prst="rect">
            <a:avLst/>
          </a:prstGeom>
        </p:spPr>
      </p:pic>
    </p:spTree>
    <p:extLst>
      <p:ext uri="{BB962C8B-B14F-4D97-AF65-F5344CB8AC3E}">
        <p14:creationId xmlns:p14="http://schemas.microsoft.com/office/powerpoint/2010/main" val="9892863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p:cNvSpPr>
            <a:spLocks noGrp="1"/>
          </p:cNvSpPr>
          <p:nvPr>
            <p:ph idx="1"/>
          </p:nvPr>
        </p:nvSpPr>
        <p:spPr>
          <a:xfrm>
            <a:off x="414528" y="1219201"/>
            <a:ext cx="11375136" cy="4895447"/>
          </a:xfrm>
        </p:spPr>
        <p:txBody>
          <a:bodyPr>
            <a:normAutofit/>
          </a:bodyPr>
          <a:lstStyle>
            <a:lvl1pPr marL="0" indent="0">
              <a:buClr>
                <a:schemeClr val="tx2"/>
              </a:buClr>
              <a:buFont typeface="Wingdings" charset="2"/>
              <a:buNone/>
              <a:defRPr sz="2133" b="0" i="0">
                <a:solidFill>
                  <a:schemeClr val="tx1"/>
                </a:solidFill>
                <a:latin typeface="Montserrat" pitchFamily="2" charset="77"/>
              </a:defRPr>
            </a:lvl1pPr>
            <a:lvl2pPr marL="365751" indent="-243834">
              <a:buClr>
                <a:schemeClr val="tx2"/>
              </a:buClr>
              <a:buFont typeface="Arial" panose="020B0604020202020204" pitchFamily="34" charset="0"/>
              <a:buChar char="•"/>
              <a:defRPr sz="1867" b="0" i="0">
                <a:solidFill>
                  <a:schemeClr val="tx1"/>
                </a:solidFill>
                <a:latin typeface="Montserrat" pitchFamily="2" charset="77"/>
              </a:defRPr>
            </a:lvl2pPr>
            <a:lvl3pPr marL="731502" indent="-243834">
              <a:buClr>
                <a:schemeClr val="tx2"/>
              </a:buClr>
              <a:buFont typeface="Arial" panose="020B0604020202020204" pitchFamily="34" charset="0"/>
              <a:buChar char="•"/>
              <a:defRPr sz="1600" b="0" i="0">
                <a:solidFill>
                  <a:schemeClr val="tx1"/>
                </a:solidFill>
                <a:latin typeface="Montserrat" pitchFamily="2" charset="77"/>
              </a:defRPr>
            </a:lvl3pPr>
            <a:lvl4pPr marL="1097253" indent="-243834">
              <a:buClr>
                <a:schemeClr val="tx2"/>
              </a:buClr>
              <a:buFont typeface="Arial" panose="020B0604020202020204" pitchFamily="34" charset="0"/>
              <a:buChar char="•"/>
              <a:defRPr sz="1467" b="0" i="0">
                <a:solidFill>
                  <a:schemeClr val="tx1"/>
                </a:solidFill>
                <a:latin typeface="Montserrat" pitchFamily="2" charset="77"/>
              </a:defRPr>
            </a:lvl4pPr>
            <a:lvl5pPr marL="1463003" indent="-243834">
              <a:buClr>
                <a:schemeClr val="tx2"/>
              </a:buClr>
              <a:buFont typeface="Arial" panose="020B0604020202020204" pitchFamily="34" charset="0"/>
              <a:buChar char="•"/>
              <a:defRPr sz="1467" b="0" i="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cNvSpPr>
            <a:spLocks noGrp="1"/>
          </p:cNvSpPr>
          <p:nvPr>
            <p:ph type="title"/>
          </p:nvPr>
        </p:nvSpPr>
        <p:spPr>
          <a:xfrm>
            <a:off x="414528" y="438912"/>
            <a:ext cx="11375136" cy="609600"/>
          </a:xfrm>
        </p:spPr>
        <p:txBody>
          <a:bodyPr lIns="0"/>
          <a:lstStyle>
            <a:lvl1pPr>
              <a:defRPr b="0" i="0">
                <a:solidFill>
                  <a:srgbClr val="1866AE"/>
                </a:solidFill>
                <a:latin typeface="Montserrat" pitchFamily="2" charset="77"/>
              </a:defRPr>
            </a:lvl1pPr>
          </a:lstStyle>
          <a:p>
            <a:r>
              <a:rPr lang="en-US"/>
              <a:t>Click to edit Master title style</a:t>
            </a:r>
          </a:p>
        </p:txBody>
      </p:sp>
      <p:pic>
        <p:nvPicPr>
          <p:cNvPr id="7" name="Picture 6" descr="A blue rocket with yellow flames&#10;&#10;AI-generated content may be incorrect.">
            <a:extLst>
              <a:ext uri="{FF2B5EF4-FFF2-40B4-BE49-F238E27FC236}">
                <a16:creationId xmlns:a16="http://schemas.microsoft.com/office/drawing/2014/main" id="{3441B6A3-22F6-3738-6E9B-7AFE278268E8}"/>
              </a:ext>
            </a:extLst>
          </p:cNvPr>
          <p:cNvPicPr>
            <a:picLocks noChangeAspect="1"/>
          </p:cNvPicPr>
          <p:nvPr userDrawn="1"/>
        </p:nvPicPr>
        <p:blipFill>
          <a:blip r:embed="rId2"/>
          <a:stretch>
            <a:fillRect/>
          </a:stretch>
        </p:blipFill>
        <p:spPr>
          <a:xfrm>
            <a:off x="11322425" y="4961854"/>
            <a:ext cx="715337" cy="1180425"/>
          </a:xfrm>
          <a:prstGeom prst="rect">
            <a:avLst/>
          </a:prstGeom>
        </p:spPr>
      </p:pic>
    </p:spTree>
    <p:extLst>
      <p:ext uri="{BB962C8B-B14F-4D97-AF65-F5344CB8AC3E}">
        <p14:creationId xmlns:p14="http://schemas.microsoft.com/office/powerpoint/2010/main" val="21715722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3" name="Content Placeholder"/>
          <p:cNvSpPr>
            <a:spLocks noGrp="1"/>
          </p:cNvSpPr>
          <p:nvPr>
            <p:ph idx="1"/>
          </p:nvPr>
        </p:nvSpPr>
        <p:spPr>
          <a:xfrm>
            <a:off x="414528" y="1219201"/>
            <a:ext cx="11375136" cy="4895447"/>
          </a:xfrm>
        </p:spPr>
        <p:txBody>
          <a:bodyPr>
            <a:normAutofit/>
          </a:bodyPr>
          <a:lstStyle>
            <a:lvl1pPr marL="0" indent="0">
              <a:buClr>
                <a:schemeClr val="tx2"/>
              </a:buClr>
              <a:buFont typeface="Wingdings" charset="2"/>
              <a:buNone/>
              <a:defRPr sz="2133" b="0" i="0">
                <a:solidFill>
                  <a:schemeClr val="tx1"/>
                </a:solidFill>
                <a:latin typeface="Montserrat" pitchFamily="2" charset="77"/>
              </a:defRPr>
            </a:lvl1pPr>
            <a:lvl2pPr marL="365751" indent="-243834">
              <a:buClr>
                <a:schemeClr val="tx2"/>
              </a:buClr>
              <a:buFont typeface="Arial" panose="020B0604020202020204" pitchFamily="34" charset="0"/>
              <a:buChar char="•"/>
              <a:defRPr sz="1867" b="0" i="0">
                <a:solidFill>
                  <a:schemeClr val="tx1"/>
                </a:solidFill>
                <a:latin typeface="Montserrat" pitchFamily="2" charset="77"/>
              </a:defRPr>
            </a:lvl2pPr>
            <a:lvl3pPr marL="731502" indent="-243834">
              <a:buClr>
                <a:schemeClr val="tx2"/>
              </a:buClr>
              <a:buFont typeface="Arial" panose="020B0604020202020204" pitchFamily="34" charset="0"/>
              <a:buChar char="•"/>
              <a:defRPr sz="1600" b="0" i="0">
                <a:solidFill>
                  <a:schemeClr val="tx1"/>
                </a:solidFill>
                <a:latin typeface="Montserrat" pitchFamily="2" charset="77"/>
              </a:defRPr>
            </a:lvl3pPr>
            <a:lvl4pPr marL="1097253" indent="-243834">
              <a:buClr>
                <a:schemeClr val="tx2"/>
              </a:buClr>
              <a:buFont typeface="Arial" panose="020B0604020202020204" pitchFamily="34" charset="0"/>
              <a:buChar char="•"/>
              <a:defRPr sz="1467" b="0" i="0">
                <a:solidFill>
                  <a:schemeClr val="tx1"/>
                </a:solidFill>
                <a:latin typeface="Montserrat" pitchFamily="2" charset="77"/>
              </a:defRPr>
            </a:lvl4pPr>
            <a:lvl5pPr marL="1463003" indent="-243834">
              <a:buClr>
                <a:schemeClr val="tx2"/>
              </a:buClr>
              <a:buFont typeface="Arial" panose="020B0604020202020204" pitchFamily="34" charset="0"/>
              <a:buChar char="•"/>
              <a:defRPr sz="1467" b="0" i="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cNvSpPr>
            <a:spLocks noGrp="1"/>
          </p:cNvSpPr>
          <p:nvPr>
            <p:ph type="title"/>
          </p:nvPr>
        </p:nvSpPr>
        <p:spPr>
          <a:xfrm>
            <a:off x="414528" y="438912"/>
            <a:ext cx="11375136" cy="609600"/>
          </a:xfrm>
        </p:spPr>
        <p:txBody>
          <a:bodyPr lIns="0"/>
          <a:lstStyle>
            <a:lvl1pPr>
              <a:defRPr b="0" i="0">
                <a:solidFill>
                  <a:srgbClr val="1866AE"/>
                </a:solidFill>
                <a:latin typeface="Montserrat" pitchFamily="2" charset="77"/>
              </a:defRPr>
            </a:lvl1pPr>
          </a:lstStyle>
          <a:p>
            <a:r>
              <a:rPr lang="en-US"/>
              <a:t>Click to edit Master title style</a:t>
            </a:r>
          </a:p>
        </p:txBody>
      </p:sp>
      <p:pic>
        <p:nvPicPr>
          <p:cNvPr id="6" name="Picture 5" descr="A black background with a black square&#10;&#10;AI-generated content may be incorrect.">
            <a:extLst>
              <a:ext uri="{FF2B5EF4-FFF2-40B4-BE49-F238E27FC236}">
                <a16:creationId xmlns:a16="http://schemas.microsoft.com/office/drawing/2014/main" id="{AED62B44-7DFB-726F-5071-FA040D62A808}"/>
              </a:ext>
            </a:extLst>
          </p:cNvPr>
          <p:cNvPicPr>
            <a:picLocks noChangeAspect="1"/>
          </p:cNvPicPr>
          <p:nvPr userDrawn="1"/>
        </p:nvPicPr>
        <p:blipFill>
          <a:blip r:embed="rId2"/>
          <a:stretch>
            <a:fillRect/>
          </a:stretch>
        </p:blipFill>
        <p:spPr>
          <a:xfrm>
            <a:off x="10315782" y="5459865"/>
            <a:ext cx="1697999" cy="682035"/>
          </a:xfrm>
          <a:prstGeom prst="rect">
            <a:avLst/>
          </a:prstGeom>
        </p:spPr>
      </p:pic>
    </p:spTree>
    <p:extLst>
      <p:ext uri="{BB962C8B-B14F-4D97-AF65-F5344CB8AC3E}">
        <p14:creationId xmlns:p14="http://schemas.microsoft.com/office/powerpoint/2010/main" val="34601000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3" name="Content Placeholder"/>
          <p:cNvSpPr>
            <a:spLocks noGrp="1"/>
          </p:cNvSpPr>
          <p:nvPr>
            <p:ph idx="1"/>
          </p:nvPr>
        </p:nvSpPr>
        <p:spPr>
          <a:xfrm>
            <a:off x="414528" y="1219201"/>
            <a:ext cx="11375136" cy="4895447"/>
          </a:xfrm>
        </p:spPr>
        <p:txBody>
          <a:bodyPr>
            <a:normAutofit/>
          </a:bodyPr>
          <a:lstStyle>
            <a:lvl1pPr marL="0" indent="0">
              <a:buClr>
                <a:schemeClr val="tx2"/>
              </a:buClr>
              <a:buFont typeface="Wingdings" charset="2"/>
              <a:buNone/>
              <a:defRPr sz="2133" b="0" i="0">
                <a:solidFill>
                  <a:schemeClr val="tx1"/>
                </a:solidFill>
                <a:latin typeface="Montserrat" pitchFamily="2" charset="77"/>
              </a:defRPr>
            </a:lvl1pPr>
            <a:lvl2pPr marL="365751" indent="-243834">
              <a:buClr>
                <a:schemeClr val="tx2"/>
              </a:buClr>
              <a:buFont typeface="Arial" panose="020B0604020202020204" pitchFamily="34" charset="0"/>
              <a:buChar char="•"/>
              <a:defRPr sz="1867" b="0" i="0">
                <a:solidFill>
                  <a:schemeClr val="tx1"/>
                </a:solidFill>
                <a:latin typeface="Montserrat" pitchFamily="2" charset="77"/>
              </a:defRPr>
            </a:lvl2pPr>
            <a:lvl3pPr marL="731502" indent="-243834">
              <a:buClr>
                <a:schemeClr val="tx2"/>
              </a:buClr>
              <a:buFont typeface="Arial" panose="020B0604020202020204" pitchFamily="34" charset="0"/>
              <a:buChar char="•"/>
              <a:defRPr sz="1600" b="0" i="0">
                <a:solidFill>
                  <a:schemeClr val="tx1"/>
                </a:solidFill>
                <a:latin typeface="Montserrat" pitchFamily="2" charset="77"/>
              </a:defRPr>
            </a:lvl3pPr>
            <a:lvl4pPr marL="1097253" indent="-243834">
              <a:buClr>
                <a:schemeClr val="tx2"/>
              </a:buClr>
              <a:buFont typeface="Arial" panose="020B0604020202020204" pitchFamily="34" charset="0"/>
              <a:buChar char="•"/>
              <a:defRPr sz="1467" b="0" i="0">
                <a:solidFill>
                  <a:schemeClr val="tx1"/>
                </a:solidFill>
                <a:latin typeface="Montserrat" pitchFamily="2" charset="77"/>
              </a:defRPr>
            </a:lvl4pPr>
            <a:lvl5pPr marL="1463003" indent="-243834">
              <a:buClr>
                <a:schemeClr val="tx2"/>
              </a:buClr>
              <a:buFont typeface="Arial" panose="020B0604020202020204" pitchFamily="34" charset="0"/>
              <a:buChar char="•"/>
              <a:defRPr sz="1467" b="0" i="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cNvSpPr>
            <a:spLocks noGrp="1"/>
          </p:cNvSpPr>
          <p:nvPr>
            <p:ph type="title"/>
          </p:nvPr>
        </p:nvSpPr>
        <p:spPr>
          <a:xfrm>
            <a:off x="414528" y="438912"/>
            <a:ext cx="11375136" cy="609600"/>
          </a:xfrm>
        </p:spPr>
        <p:txBody>
          <a:bodyPr lIns="0"/>
          <a:lstStyle>
            <a:lvl1pPr>
              <a:defRPr b="0" i="0">
                <a:solidFill>
                  <a:srgbClr val="1866AE"/>
                </a:solidFill>
                <a:latin typeface="Montserrat" pitchFamily="2" charset="77"/>
              </a:defRPr>
            </a:lvl1pPr>
          </a:lstStyle>
          <a:p>
            <a:r>
              <a:rPr lang="en-US"/>
              <a:t>Click to edit Master title style</a:t>
            </a:r>
          </a:p>
        </p:txBody>
      </p:sp>
    </p:spTree>
    <p:extLst>
      <p:ext uri="{BB962C8B-B14F-4D97-AF65-F5344CB8AC3E}">
        <p14:creationId xmlns:p14="http://schemas.microsoft.com/office/powerpoint/2010/main" val="26513196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
          <p:cNvSpPr>
            <a:spLocks noGrp="1"/>
          </p:cNvSpPr>
          <p:nvPr>
            <p:ph type="title"/>
          </p:nvPr>
        </p:nvSpPr>
        <p:spPr>
          <a:xfrm>
            <a:off x="414528" y="4389120"/>
            <a:ext cx="11375136" cy="609600"/>
          </a:xfrm>
        </p:spPr>
        <p:txBody>
          <a:bodyPr anchor="b" anchorCtr="0"/>
          <a:lstStyle>
            <a:lvl1pPr algn="l">
              <a:defRPr sz="3200" b="0" i="0" cap="none" baseline="0">
                <a:solidFill>
                  <a:srgbClr val="1866AE"/>
                </a:solidFill>
                <a:latin typeface="Montserrat" pitchFamily="2" charset="77"/>
              </a:defRPr>
            </a:lvl1pPr>
          </a:lstStyle>
          <a:p>
            <a:r>
              <a:rPr lang="en-US"/>
              <a:t>Click to edit Master title style</a:t>
            </a:r>
          </a:p>
        </p:txBody>
      </p:sp>
      <p:sp>
        <p:nvSpPr>
          <p:cNvPr id="3" name="Text Placeholder "/>
          <p:cNvSpPr>
            <a:spLocks noGrp="1"/>
          </p:cNvSpPr>
          <p:nvPr>
            <p:ph type="body" idx="1"/>
          </p:nvPr>
        </p:nvSpPr>
        <p:spPr>
          <a:xfrm>
            <a:off x="414528" y="3535680"/>
            <a:ext cx="11375136" cy="853440"/>
          </a:xfrm>
        </p:spPr>
        <p:txBody>
          <a:bodyPr anchor="b">
            <a:normAutofit/>
          </a:bodyPr>
          <a:lstStyle>
            <a:lvl1pPr marL="0" indent="0">
              <a:buNone/>
              <a:defRPr sz="2400" b="0" i="0">
                <a:solidFill>
                  <a:schemeClr val="tx1"/>
                </a:solidFill>
                <a:latin typeface="Montserrat" pitchFamily="2" charset="77"/>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Click to edit Master text styles</a:t>
            </a:r>
          </a:p>
        </p:txBody>
      </p:sp>
      <p:pic>
        <p:nvPicPr>
          <p:cNvPr id="7" name="Picture 6" descr="A black background with a black square&#10;&#10;AI-generated content may be incorrect.">
            <a:extLst>
              <a:ext uri="{FF2B5EF4-FFF2-40B4-BE49-F238E27FC236}">
                <a16:creationId xmlns:a16="http://schemas.microsoft.com/office/drawing/2014/main" id="{AEE6D58A-F04B-D2E8-EFD8-3D2275F6284D}"/>
              </a:ext>
            </a:extLst>
          </p:cNvPr>
          <p:cNvPicPr>
            <a:picLocks noChangeAspect="1"/>
          </p:cNvPicPr>
          <p:nvPr userDrawn="1"/>
        </p:nvPicPr>
        <p:blipFill>
          <a:blip r:embed="rId2"/>
          <a:stretch>
            <a:fillRect/>
          </a:stretch>
        </p:blipFill>
        <p:spPr>
          <a:xfrm>
            <a:off x="9373809" y="5075956"/>
            <a:ext cx="2680107" cy="1031952"/>
          </a:xfrm>
          <a:prstGeom prst="rect">
            <a:avLst/>
          </a:prstGeom>
        </p:spPr>
      </p:pic>
    </p:spTree>
    <p:extLst>
      <p:ext uri="{BB962C8B-B14F-4D97-AF65-F5344CB8AC3E}">
        <p14:creationId xmlns:p14="http://schemas.microsoft.com/office/powerpoint/2010/main" val="11012424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4" name="Content Placeholder 2"/>
          <p:cNvSpPr>
            <a:spLocks noGrp="1"/>
          </p:cNvSpPr>
          <p:nvPr>
            <p:ph sz="half" idx="2"/>
          </p:nvPr>
        </p:nvSpPr>
        <p:spPr>
          <a:xfrm>
            <a:off x="6400800" y="1219201"/>
            <a:ext cx="5384800" cy="3986607"/>
          </a:xfrm>
        </p:spPr>
        <p:txBody>
          <a:bodyPr>
            <a:normAutofit/>
          </a:bodyPr>
          <a:lstStyle>
            <a:lvl1pPr marL="0" indent="0">
              <a:buNone/>
              <a:defRPr sz="2400" b="0" i="0">
                <a:solidFill>
                  <a:schemeClr val="tx1"/>
                </a:solidFill>
                <a:latin typeface="Montserrat" pitchFamily="2" charset="77"/>
              </a:defRPr>
            </a:lvl1pPr>
            <a:lvl2pPr marL="365751" indent="-243834">
              <a:buFont typeface="Arial" panose="020B0604020202020204" pitchFamily="34" charset="0"/>
              <a:buChar char="•"/>
              <a:defRPr lang="en-US" sz="2133" b="0" i="0" kern="1200" dirty="0" smtClean="0">
                <a:solidFill>
                  <a:schemeClr val="tx1"/>
                </a:solidFill>
                <a:latin typeface="Montserrat" pitchFamily="2" charset="77"/>
                <a:ea typeface="+mn-ea"/>
                <a:cs typeface="+mn-cs"/>
              </a:defRPr>
            </a:lvl2pPr>
            <a:lvl3pPr marL="731502" indent="-243834">
              <a:buFont typeface="Arial" panose="020B0604020202020204" pitchFamily="34" charset="0"/>
              <a:buChar char="•"/>
              <a:defRPr sz="1867" b="0" i="0">
                <a:solidFill>
                  <a:schemeClr val="tx1"/>
                </a:solidFill>
                <a:latin typeface="Montserrat" pitchFamily="2" charset="77"/>
              </a:defRPr>
            </a:lvl3pPr>
            <a:lvl4pPr marL="1097253" indent="-243834">
              <a:buFont typeface="Arial" panose="020B0604020202020204" pitchFamily="34" charset="0"/>
              <a:buChar char="•"/>
              <a:defRPr sz="1600" b="0" i="0">
                <a:solidFill>
                  <a:schemeClr val="tx1"/>
                </a:solidFill>
                <a:latin typeface="Montserrat" pitchFamily="2" charset="77"/>
              </a:defRPr>
            </a:lvl4pPr>
            <a:lvl5pPr marL="1463003" indent="-243834">
              <a:buFont typeface="Arial" panose="020B0604020202020204" pitchFamily="34" charset="0"/>
              <a:buChar char="•"/>
              <a:defRPr sz="1600" b="0" i="0">
                <a:solidFill>
                  <a:schemeClr val="tx1"/>
                </a:solidFill>
                <a:latin typeface="Montserrat" pitchFamily="2" charset="77"/>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1"/>
          <p:cNvSpPr>
            <a:spLocks noGrp="1"/>
          </p:cNvSpPr>
          <p:nvPr>
            <p:ph sz="half" idx="1"/>
          </p:nvPr>
        </p:nvSpPr>
        <p:spPr>
          <a:xfrm>
            <a:off x="414528" y="1219201"/>
            <a:ext cx="5384800" cy="4352993"/>
          </a:xfrm>
        </p:spPr>
        <p:txBody>
          <a:bodyPr>
            <a:normAutofit/>
          </a:bodyPr>
          <a:lstStyle>
            <a:lvl1pPr marL="0" indent="0">
              <a:buNone/>
              <a:defRPr sz="2400" b="0" i="0">
                <a:solidFill>
                  <a:schemeClr val="tx1"/>
                </a:solidFill>
                <a:latin typeface="Montserrat" pitchFamily="2" charset="77"/>
              </a:defRPr>
            </a:lvl1pPr>
            <a:lvl2pPr marL="365751" indent="-243834">
              <a:buFont typeface="Arial" panose="020B0604020202020204" pitchFamily="34" charset="0"/>
              <a:buChar char="•"/>
              <a:defRPr sz="2133" b="0" i="0">
                <a:solidFill>
                  <a:schemeClr val="tx1"/>
                </a:solidFill>
                <a:latin typeface="Montserrat" pitchFamily="2" charset="77"/>
              </a:defRPr>
            </a:lvl2pPr>
            <a:lvl3pPr marL="731502" indent="-243834">
              <a:buFont typeface="Arial" panose="020B0604020202020204" pitchFamily="34" charset="0"/>
              <a:buChar char="•"/>
              <a:defRPr sz="1867" b="0" i="0">
                <a:solidFill>
                  <a:schemeClr val="tx1"/>
                </a:solidFill>
                <a:latin typeface="Montserrat" pitchFamily="2" charset="77"/>
              </a:defRPr>
            </a:lvl3pPr>
            <a:lvl4pPr marL="1097253" indent="-243834">
              <a:buFont typeface="Arial" panose="020B0604020202020204" pitchFamily="34" charset="0"/>
              <a:buChar char="•"/>
              <a:defRPr sz="1600" b="0" i="0">
                <a:solidFill>
                  <a:schemeClr val="tx1"/>
                </a:solidFill>
                <a:latin typeface="Montserrat" pitchFamily="2" charset="77"/>
              </a:defRPr>
            </a:lvl4pPr>
            <a:lvl5pPr marL="1463003" indent="-243834">
              <a:buFont typeface="Arial" panose="020B0604020202020204" pitchFamily="34" charset="0"/>
              <a:buChar char="•"/>
              <a:defRPr sz="1600" b="0" i="0">
                <a:solidFill>
                  <a:schemeClr val="tx1"/>
                </a:solidFill>
                <a:latin typeface="Montserrat" pitchFamily="2" charset="77"/>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cNvSpPr>
            <a:spLocks noGrp="1"/>
          </p:cNvSpPr>
          <p:nvPr>
            <p:ph type="title"/>
          </p:nvPr>
        </p:nvSpPr>
        <p:spPr>
          <a:xfrm>
            <a:off x="414528" y="438912"/>
            <a:ext cx="11375136" cy="609600"/>
          </a:xfrm>
        </p:spPr>
        <p:txBody>
          <a:bodyPr wrap="none" lIns="0" tIns="45720" rIns="91440" bIns="0"/>
          <a:lstStyle>
            <a:lvl1pPr>
              <a:defRPr b="0" i="0">
                <a:solidFill>
                  <a:srgbClr val="1866AE"/>
                </a:solidFill>
                <a:latin typeface="Montserrat" pitchFamily="2" charset="77"/>
              </a:defRPr>
            </a:lvl1pPr>
          </a:lstStyle>
          <a:p>
            <a:r>
              <a:rPr lang="en-US"/>
              <a:t>Click to edit Master title style</a:t>
            </a:r>
          </a:p>
        </p:txBody>
      </p:sp>
      <p:pic>
        <p:nvPicPr>
          <p:cNvPr id="5" name="Picture 4" descr="A blue rocket with yellow flames&#10;&#10;AI-generated content may be incorrect.">
            <a:extLst>
              <a:ext uri="{FF2B5EF4-FFF2-40B4-BE49-F238E27FC236}">
                <a16:creationId xmlns:a16="http://schemas.microsoft.com/office/drawing/2014/main" id="{A46DFA08-46CD-F086-6119-EF05D73433B7}"/>
              </a:ext>
            </a:extLst>
          </p:cNvPr>
          <p:cNvPicPr>
            <a:picLocks noChangeAspect="1"/>
          </p:cNvPicPr>
          <p:nvPr userDrawn="1"/>
        </p:nvPicPr>
        <p:blipFill>
          <a:blip r:embed="rId2"/>
          <a:stretch>
            <a:fillRect/>
          </a:stretch>
        </p:blipFill>
        <p:spPr>
          <a:xfrm>
            <a:off x="11322425" y="4961854"/>
            <a:ext cx="715337" cy="1180425"/>
          </a:xfrm>
          <a:prstGeom prst="rect">
            <a:avLst/>
          </a:prstGeom>
        </p:spPr>
      </p:pic>
    </p:spTree>
    <p:extLst>
      <p:ext uri="{BB962C8B-B14F-4D97-AF65-F5344CB8AC3E}">
        <p14:creationId xmlns:p14="http://schemas.microsoft.com/office/powerpoint/2010/main" val="25514614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AF98E-6AAF-3ACB-63F7-A2C28BFC474C}"/>
              </a:ext>
            </a:extLst>
          </p:cNvPr>
          <p:cNvSpPr>
            <a:spLocks noGrp="1"/>
          </p:cNvSpPr>
          <p:nvPr>
            <p:ph type="title"/>
          </p:nvPr>
        </p:nvSpPr>
        <p:spPr/>
        <p:txBody>
          <a:bodyPr/>
          <a:lstStyle>
            <a:lvl1pPr>
              <a:defRPr b="0" i="0">
                <a:latin typeface="Montserrat" pitchFamily="2" charset="77"/>
              </a:defRPr>
            </a:lvl1pPr>
          </a:lstStyle>
          <a:p>
            <a:r>
              <a:rPr lang="en-US"/>
              <a:t>Click to edit Master title style</a:t>
            </a:r>
          </a:p>
        </p:txBody>
      </p:sp>
      <p:sp>
        <p:nvSpPr>
          <p:cNvPr id="13" name="Picture Placeholder 12">
            <a:extLst>
              <a:ext uri="{FF2B5EF4-FFF2-40B4-BE49-F238E27FC236}">
                <a16:creationId xmlns:a16="http://schemas.microsoft.com/office/drawing/2014/main" id="{A0E233A6-DBBA-2515-B63A-9166DCE9B71F}"/>
              </a:ext>
            </a:extLst>
          </p:cNvPr>
          <p:cNvSpPr>
            <a:spLocks noGrp="1"/>
          </p:cNvSpPr>
          <p:nvPr>
            <p:ph type="pic" sz="quarter" idx="13"/>
          </p:nvPr>
        </p:nvSpPr>
        <p:spPr>
          <a:xfrm>
            <a:off x="411732" y="1219199"/>
            <a:ext cx="3608832" cy="2926080"/>
          </a:xfrm>
        </p:spPr>
        <p:txBody>
          <a:bodyPr/>
          <a:lstStyle>
            <a:lvl1pPr>
              <a:defRPr b="0" i="0">
                <a:latin typeface="Montserrat" pitchFamily="2" charset="77"/>
              </a:defRPr>
            </a:lvl1pPr>
          </a:lstStyle>
          <a:p>
            <a:r>
              <a:rPr lang="en-US"/>
              <a:t>Click icon to add picture</a:t>
            </a:r>
          </a:p>
        </p:txBody>
      </p:sp>
      <p:sp>
        <p:nvSpPr>
          <p:cNvPr id="15" name="Picture Placeholder 14">
            <a:extLst>
              <a:ext uri="{FF2B5EF4-FFF2-40B4-BE49-F238E27FC236}">
                <a16:creationId xmlns:a16="http://schemas.microsoft.com/office/drawing/2014/main" id="{716CDDDB-E2E6-96CF-7794-2CB281875CFF}"/>
              </a:ext>
            </a:extLst>
          </p:cNvPr>
          <p:cNvSpPr>
            <a:spLocks noGrp="1"/>
          </p:cNvSpPr>
          <p:nvPr>
            <p:ph type="pic" sz="quarter" idx="14"/>
          </p:nvPr>
        </p:nvSpPr>
        <p:spPr>
          <a:xfrm>
            <a:off x="4302609" y="1219199"/>
            <a:ext cx="3608832" cy="2926080"/>
          </a:xfrm>
        </p:spPr>
        <p:txBody>
          <a:bodyPr/>
          <a:lstStyle>
            <a:lvl1pPr>
              <a:defRPr b="0" i="0">
                <a:latin typeface="Montserrat" pitchFamily="2" charset="77"/>
              </a:defRPr>
            </a:lvl1pPr>
          </a:lstStyle>
          <a:p>
            <a:r>
              <a:rPr lang="en-US"/>
              <a:t>Click icon to add picture</a:t>
            </a:r>
          </a:p>
        </p:txBody>
      </p:sp>
      <p:sp>
        <p:nvSpPr>
          <p:cNvPr id="17" name="Picture Placeholder 16">
            <a:extLst>
              <a:ext uri="{FF2B5EF4-FFF2-40B4-BE49-F238E27FC236}">
                <a16:creationId xmlns:a16="http://schemas.microsoft.com/office/drawing/2014/main" id="{EC2F74D7-F259-ED94-FAC1-892474DA4DCD}"/>
              </a:ext>
            </a:extLst>
          </p:cNvPr>
          <p:cNvSpPr>
            <a:spLocks noGrp="1"/>
          </p:cNvSpPr>
          <p:nvPr>
            <p:ph type="pic" sz="quarter" idx="15"/>
          </p:nvPr>
        </p:nvSpPr>
        <p:spPr>
          <a:xfrm>
            <a:off x="8185992" y="1219199"/>
            <a:ext cx="3608832" cy="2926080"/>
          </a:xfrm>
        </p:spPr>
        <p:txBody>
          <a:bodyPr/>
          <a:lstStyle>
            <a:lvl1pPr>
              <a:defRPr b="0" i="0">
                <a:latin typeface="Montserrat" pitchFamily="2" charset="77"/>
              </a:defRPr>
            </a:lvl1pPr>
          </a:lstStyle>
          <a:p>
            <a:r>
              <a:rPr lang="en-US"/>
              <a:t>Click icon to add picture</a:t>
            </a:r>
          </a:p>
        </p:txBody>
      </p:sp>
      <p:sp>
        <p:nvSpPr>
          <p:cNvPr id="19" name="Text Placeholder 18">
            <a:extLst>
              <a:ext uri="{FF2B5EF4-FFF2-40B4-BE49-F238E27FC236}">
                <a16:creationId xmlns:a16="http://schemas.microsoft.com/office/drawing/2014/main" id="{8C7D399D-8CB9-19E1-9EC0-25CC0E8D1ADF}"/>
              </a:ext>
            </a:extLst>
          </p:cNvPr>
          <p:cNvSpPr>
            <a:spLocks noGrp="1"/>
          </p:cNvSpPr>
          <p:nvPr>
            <p:ph type="body" sz="quarter" idx="16" hasCustomPrompt="1"/>
          </p:nvPr>
        </p:nvSpPr>
        <p:spPr>
          <a:xfrm>
            <a:off x="411732" y="4231341"/>
            <a:ext cx="3608832" cy="951744"/>
          </a:xfrm>
        </p:spPr>
        <p:txBody>
          <a:bodyPr>
            <a:normAutofit/>
          </a:bodyPr>
          <a:lstStyle>
            <a:lvl1pPr algn="ctr">
              <a:defRPr sz="1600" b="0" i="0">
                <a:latin typeface="Montserrat" pitchFamily="2" charset="77"/>
              </a:defRPr>
            </a:lvl1pPr>
          </a:lstStyle>
          <a:p>
            <a:pPr lvl="0"/>
            <a:r>
              <a:rPr lang="en-US"/>
              <a:t>Click to edit text</a:t>
            </a:r>
          </a:p>
        </p:txBody>
      </p:sp>
      <p:sp>
        <p:nvSpPr>
          <p:cNvPr id="20" name="Text Placeholder 18">
            <a:extLst>
              <a:ext uri="{FF2B5EF4-FFF2-40B4-BE49-F238E27FC236}">
                <a16:creationId xmlns:a16="http://schemas.microsoft.com/office/drawing/2014/main" id="{6D3E4421-7396-C90C-5119-84E1DA3263BF}"/>
              </a:ext>
            </a:extLst>
          </p:cNvPr>
          <p:cNvSpPr>
            <a:spLocks noGrp="1"/>
          </p:cNvSpPr>
          <p:nvPr>
            <p:ph type="body" sz="quarter" idx="17" hasCustomPrompt="1"/>
          </p:nvPr>
        </p:nvSpPr>
        <p:spPr>
          <a:xfrm>
            <a:off x="4302609" y="4231341"/>
            <a:ext cx="3608832" cy="951744"/>
          </a:xfrm>
        </p:spPr>
        <p:txBody>
          <a:bodyPr>
            <a:normAutofit/>
          </a:bodyPr>
          <a:lstStyle>
            <a:lvl1pPr algn="ctr">
              <a:defRPr sz="1600" b="0" i="0">
                <a:latin typeface="Montserrat" pitchFamily="2" charset="77"/>
              </a:defRPr>
            </a:lvl1pPr>
          </a:lstStyle>
          <a:p>
            <a:pPr lvl="0"/>
            <a:r>
              <a:rPr lang="en-US"/>
              <a:t>Click to edit text</a:t>
            </a:r>
          </a:p>
        </p:txBody>
      </p:sp>
      <p:sp>
        <p:nvSpPr>
          <p:cNvPr id="21" name="Text Placeholder 18">
            <a:extLst>
              <a:ext uri="{FF2B5EF4-FFF2-40B4-BE49-F238E27FC236}">
                <a16:creationId xmlns:a16="http://schemas.microsoft.com/office/drawing/2014/main" id="{BB0FC328-3EDB-117F-B241-774C52C45C03}"/>
              </a:ext>
            </a:extLst>
          </p:cNvPr>
          <p:cNvSpPr>
            <a:spLocks noGrp="1"/>
          </p:cNvSpPr>
          <p:nvPr>
            <p:ph type="body" sz="quarter" idx="18" hasCustomPrompt="1"/>
          </p:nvPr>
        </p:nvSpPr>
        <p:spPr>
          <a:xfrm>
            <a:off x="8185992" y="4231341"/>
            <a:ext cx="3608832" cy="951744"/>
          </a:xfrm>
        </p:spPr>
        <p:txBody>
          <a:bodyPr>
            <a:normAutofit/>
          </a:bodyPr>
          <a:lstStyle>
            <a:lvl1pPr algn="ctr">
              <a:defRPr sz="1600" b="0" i="0">
                <a:latin typeface="Montserrat" pitchFamily="2" charset="77"/>
              </a:defRPr>
            </a:lvl1pPr>
          </a:lstStyle>
          <a:p>
            <a:pPr lvl="0"/>
            <a:r>
              <a:rPr lang="en-US"/>
              <a:t>Click to edit text</a:t>
            </a:r>
          </a:p>
        </p:txBody>
      </p:sp>
      <p:pic>
        <p:nvPicPr>
          <p:cNvPr id="6" name="Picture 5" descr="A blue rocket with yellow flames&#10;&#10;AI-generated content may be incorrect.">
            <a:extLst>
              <a:ext uri="{FF2B5EF4-FFF2-40B4-BE49-F238E27FC236}">
                <a16:creationId xmlns:a16="http://schemas.microsoft.com/office/drawing/2014/main" id="{38FD594C-5CE2-2E39-47A0-730C3B552014}"/>
              </a:ext>
            </a:extLst>
          </p:cNvPr>
          <p:cNvPicPr>
            <a:picLocks noChangeAspect="1"/>
          </p:cNvPicPr>
          <p:nvPr userDrawn="1"/>
        </p:nvPicPr>
        <p:blipFill>
          <a:blip r:embed="rId2"/>
          <a:stretch>
            <a:fillRect/>
          </a:stretch>
        </p:blipFill>
        <p:spPr>
          <a:xfrm>
            <a:off x="11322425" y="4961854"/>
            <a:ext cx="715337" cy="1180425"/>
          </a:xfrm>
          <a:prstGeom prst="rect">
            <a:avLst/>
          </a:prstGeom>
        </p:spPr>
      </p:pic>
    </p:spTree>
    <p:extLst>
      <p:ext uri="{BB962C8B-B14F-4D97-AF65-F5344CB8AC3E}">
        <p14:creationId xmlns:p14="http://schemas.microsoft.com/office/powerpoint/2010/main" val="35743465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6" name="Content Placeholder 2"/>
          <p:cNvSpPr>
            <a:spLocks noGrp="1"/>
          </p:cNvSpPr>
          <p:nvPr>
            <p:ph sz="quarter" idx="4"/>
          </p:nvPr>
        </p:nvSpPr>
        <p:spPr>
          <a:xfrm>
            <a:off x="6400801" y="1999488"/>
            <a:ext cx="5389033" cy="3309112"/>
          </a:xfrm>
        </p:spPr>
        <p:txBody>
          <a:bodyPr>
            <a:normAutofit/>
          </a:bodyPr>
          <a:lstStyle>
            <a:lvl1pPr marL="0" indent="0">
              <a:buNone/>
              <a:defRPr sz="1867" b="0" i="0">
                <a:solidFill>
                  <a:schemeClr val="tx1"/>
                </a:solidFill>
                <a:latin typeface="Montserrat" pitchFamily="2" charset="77"/>
              </a:defRPr>
            </a:lvl1pPr>
            <a:lvl2pPr marL="365751" indent="-243834">
              <a:buFont typeface="Arial" panose="020B0604020202020204" pitchFamily="34" charset="0"/>
              <a:buChar char="•"/>
              <a:defRPr sz="1600" b="0" i="0">
                <a:solidFill>
                  <a:schemeClr val="tx1"/>
                </a:solidFill>
                <a:latin typeface="Montserrat" pitchFamily="2" charset="77"/>
              </a:defRPr>
            </a:lvl2pPr>
            <a:lvl3pPr marL="731502" indent="-243834">
              <a:buFont typeface="Arial" panose="020B0604020202020204" pitchFamily="34" charset="0"/>
              <a:buChar char="•"/>
              <a:defRPr sz="1467" b="0" i="0">
                <a:solidFill>
                  <a:schemeClr val="tx1"/>
                </a:solidFill>
                <a:latin typeface="Montserrat" pitchFamily="2" charset="77"/>
              </a:defRPr>
            </a:lvl3pPr>
            <a:lvl4pPr marL="1097253" indent="-243834">
              <a:buFont typeface="Arial" panose="020B0604020202020204" pitchFamily="34" charset="0"/>
              <a:buChar char="•"/>
              <a:defRPr sz="1400" b="0" i="0">
                <a:solidFill>
                  <a:schemeClr val="tx1"/>
                </a:solidFill>
                <a:latin typeface="Montserrat" pitchFamily="2" charset="77"/>
              </a:defRPr>
            </a:lvl4pPr>
            <a:lvl5pPr marL="1463003" indent="-243834">
              <a:buFont typeface="Arial" panose="020B0604020202020204" pitchFamily="34" charset="0"/>
              <a:buChar char="•"/>
              <a:defRPr sz="1400" b="0" i="0">
                <a:solidFill>
                  <a:schemeClr val="tx1"/>
                </a:solidFill>
                <a:latin typeface="Montserrat" pitchFamily="2" charset="77"/>
              </a:defRPr>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ub-title 2"/>
          <p:cNvSpPr>
            <a:spLocks noGrp="1"/>
          </p:cNvSpPr>
          <p:nvPr>
            <p:ph type="body" sz="quarter" idx="3" hasCustomPrompt="1"/>
          </p:nvPr>
        </p:nvSpPr>
        <p:spPr>
          <a:xfrm>
            <a:off x="6400801" y="1219200"/>
            <a:ext cx="5389033" cy="609600"/>
          </a:xfrm>
        </p:spPr>
        <p:txBody>
          <a:bodyPr bIns="0" anchor="b">
            <a:normAutofit/>
          </a:bodyPr>
          <a:lstStyle>
            <a:lvl1pPr marL="0" indent="0">
              <a:buNone/>
              <a:defRPr sz="2133" b="0" i="0">
                <a:solidFill>
                  <a:schemeClr val="tx1"/>
                </a:solidFill>
                <a:latin typeface="Montserrat" pitchFamily="2" charset="77"/>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text styles</a:t>
            </a:r>
          </a:p>
        </p:txBody>
      </p:sp>
      <p:sp>
        <p:nvSpPr>
          <p:cNvPr id="4" name="Content Placeholder 1"/>
          <p:cNvSpPr>
            <a:spLocks noGrp="1"/>
          </p:cNvSpPr>
          <p:nvPr>
            <p:ph sz="half" idx="2"/>
          </p:nvPr>
        </p:nvSpPr>
        <p:spPr>
          <a:xfrm>
            <a:off x="414528" y="1982049"/>
            <a:ext cx="5386917" cy="3583521"/>
          </a:xfrm>
        </p:spPr>
        <p:txBody>
          <a:bodyPr>
            <a:normAutofit/>
          </a:bodyPr>
          <a:lstStyle>
            <a:lvl1pPr marL="0" indent="0">
              <a:buNone/>
              <a:defRPr sz="1867" b="0" i="0">
                <a:solidFill>
                  <a:schemeClr val="tx1"/>
                </a:solidFill>
                <a:latin typeface="Montserrat" pitchFamily="2" charset="77"/>
              </a:defRPr>
            </a:lvl1pPr>
            <a:lvl2pPr marL="365751" indent="-243834">
              <a:buFont typeface="Arial" panose="020B0604020202020204" pitchFamily="34" charset="0"/>
              <a:buChar char="•"/>
              <a:defRPr sz="1600" b="0" i="0">
                <a:solidFill>
                  <a:schemeClr val="tx1"/>
                </a:solidFill>
                <a:latin typeface="Montserrat" pitchFamily="2" charset="77"/>
              </a:defRPr>
            </a:lvl2pPr>
            <a:lvl3pPr marL="731502" indent="-243834">
              <a:buFont typeface="Arial" panose="020B0604020202020204" pitchFamily="34" charset="0"/>
              <a:buChar char="•"/>
              <a:defRPr sz="1467" b="0" i="0">
                <a:solidFill>
                  <a:schemeClr val="tx1"/>
                </a:solidFill>
                <a:latin typeface="Montserrat" pitchFamily="2" charset="77"/>
              </a:defRPr>
            </a:lvl3pPr>
            <a:lvl4pPr marL="1097253" indent="-243834">
              <a:buFont typeface="Arial" panose="020B0604020202020204" pitchFamily="34" charset="0"/>
              <a:buChar char="•"/>
              <a:defRPr sz="1400" b="0" i="0">
                <a:solidFill>
                  <a:schemeClr val="tx1"/>
                </a:solidFill>
                <a:latin typeface="Montserrat" pitchFamily="2" charset="77"/>
              </a:defRPr>
            </a:lvl4pPr>
            <a:lvl5pPr marL="1463003" indent="-243834">
              <a:buFont typeface="Arial" panose="020B0604020202020204" pitchFamily="34" charset="0"/>
              <a:buChar char="•"/>
              <a:defRPr sz="1400" b="0" i="0">
                <a:solidFill>
                  <a:schemeClr val="tx1"/>
                </a:solidFill>
                <a:latin typeface="Montserrat" pitchFamily="2" charset="77"/>
              </a:defRPr>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ub-title 1"/>
          <p:cNvSpPr>
            <a:spLocks noGrp="1"/>
          </p:cNvSpPr>
          <p:nvPr>
            <p:ph type="body" idx="1" hasCustomPrompt="1"/>
          </p:nvPr>
        </p:nvSpPr>
        <p:spPr>
          <a:xfrm>
            <a:off x="414528" y="1219200"/>
            <a:ext cx="5386917" cy="609600"/>
          </a:xfrm>
        </p:spPr>
        <p:txBody>
          <a:bodyPr bIns="0" anchor="b">
            <a:normAutofit/>
          </a:bodyPr>
          <a:lstStyle>
            <a:lvl1pPr marL="0" indent="0">
              <a:buNone/>
              <a:defRPr sz="2133" b="0" i="0">
                <a:solidFill>
                  <a:schemeClr val="tx1"/>
                </a:solidFill>
                <a:latin typeface="Montserrat" pitchFamily="2" charset="77"/>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text styles</a:t>
            </a:r>
          </a:p>
        </p:txBody>
      </p:sp>
      <p:sp>
        <p:nvSpPr>
          <p:cNvPr id="2" name="Title "/>
          <p:cNvSpPr>
            <a:spLocks noGrp="1"/>
          </p:cNvSpPr>
          <p:nvPr>
            <p:ph type="title"/>
          </p:nvPr>
        </p:nvSpPr>
        <p:spPr>
          <a:xfrm>
            <a:off x="414528" y="438912"/>
            <a:ext cx="11375136" cy="609600"/>
          </a:xfrm>
        </p:spPr>
        <p:txBody>
          <a:bodyPr anchor="b"/>
          <a:lstStyle>
            <a:lvl1pPr>
              <a:defRPr b="0" i="0">
                <a:solidFill>
                  <a:srgbClr val="1465C1"/>
                </a:solidFill>
                <a:latin typeface="Montserrat" pitchFamily="2" charset="77"/>
              </a:defRPr>
            </a:lvl1pPr>
          </a:lstStyle>
          <a:p>
            <a:r>
              <a:rPr lang="en-US"/>
              <a:t>Click to edit Master title style</a:t>
            </a:r>
          </a:p>
        </p:txBody>
      </p:sp>
      <p:pic>
        <p:nvPicPr>
          <p:cNvPr id="9" name="Picture 8" descr="A blue rocket with yellow flames&#10;&#10;AI-generated content may be incorrect.">
            <a:extLst>
              <a:ext uri="{FF2B5EF4-FFF2-40B4-BE49-F238E27FC236}">
                <a16:creationId xmlns:a16="http://schemas.microsoft.com/office/drawing/2014/main" id="{E0979A95-488D-09C8-AE26-774FF0CB30C5}"/>
              </a:ext>
            </a:extLst>
          </p:cNvPr>
          <p:cNvPicPr>
            <a:picLocks noChangeAspect="1"/>
          </p:cNvPicPr>
          <p:nvPr userDrawn="1"/>
        </p:nvPicPr>
        <p:blipFill>
          <a:blip r:embed="rId2"/>
          <a:stretch>
            <a:fillRect/>
          </a:stretch>
        </p:blipFill>
        <p:spPr>
          <a:xfrm>
            <a:off x="11322425" y="4961854"/>
            <a:ext cx="715337" cy="1180425"/>
          </a:xfrm>
          <a:prstGeom prst="rect">
            <a:avLst/>
          </a:prstGeom>
        </p:spPr>
      </p:pic>
    </p:spTree>
    <p:extLst>
      <p:ext uri="{BB962C8B-B14F-4D97-AF65-F5344CB8AC3E}">
        <p14:creationId xmlns:p14="http://schemas.microsoft.com/office/powerpoint/2010/main" val="22403155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9" name="Picture Placeholder "/>
          <p:cNvSpPr>
            <a:spLocks noGrp="1"/>
          </p:cNvSpPr>
          <p:nvPr>
            <p:ph type="pic" sz="quarter" idx="13"/>
          </p:nvPr>
        </p:nvSpPr>
        <p:spPr>
          <a:xfrm>
            <a:off x="8077200" y="1202568"/>
            <a:ext cx="4114800" cy="3220197"/>
          </a:xfrm>
        </p:spPr>
        <p:txBody>
          <a:bodyPr>
            <a:normAutofit/>
          </a:bodyPr>
          <a:lstStyle>
            <a:lvl1pPr marL="0" indent="0">
              <a:buNone/>
              <a:defRPr sz="2400" b="0" i="0">
                <a:solidFill>
                  <a:schemeClr val="tx1"/>
                </a:solidFill>
                <a:latin typeface="Montserrat" pitchFamily="2" charset="77"/>
              </a:defRPr>
            </a:lvl1pPr>
          </a:lstStyle>
          <a:p>
            <a:r>
              <a:rPr lang="en-US"/>
              <a:t>Click icon to add picture</a:t>
            </a:r>
          </a:p>
        </p:txBody>
      </p:sp>
      <p:sp>
        <p:nvSpPr>
          <p:cNvPr id="4" name="Text Placeholder "/>
          <p:cNvSpPr>
            <a:spLocks noGrp="1"/>
          </p:cNvSpPr>
          <p:nvPr>
            <p:ph type="body" sz="half" idx="2"/>
          </p:nvPr>
        </p:nvSpPr>
        <p:spPr>
          <a:xfrm>
            <a:off x="414528" y="1202569"/>
            <a:ext cx="7489251" cy="4394668"/>
          </a:xfrm>
        </p:spPr>
        <p:txBody>
          <a:bodyPr>
            <a:normAutofit/>
          </a:bodyPr>
          <a:lstStyle>
            <a:lvl1pPr marL="0" indent="0">
              <a:buNone/>
              <a:defRPr sz="2133" b="0" i="0">
                <a:solidFill>
                  <a:schemeClr val="tx1"/>
                </a:solidFill>
                <a:latin typeface="Montserrat" pitchFamily="2" charset="77"/>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2" name="Title"/>
          <p:cNvSpPr>
            <a:spLocks noGrp="1"/>
          </p:cNvSpPr>
          <p:nvPr>
            <p:ph type="title" hasCustomPrompt="1"/>
          </p:nvPr>
        </p:nvSpPr>
        <p:spPr>
          <a:xfrm>
            <a:off x="414528" y="438912"/>
            <a:ext cx="7662672" cy="609600"/>
          </a:xfrm>
        </p:spPr>
        <p:txBody>
          <a:bodyPr anchor="b"/>
          <a:lstStyle>
            <a:lvl1pPr algn="l">
              <a:defRPr sz="3200" b="0" i="0" baseline="0">
                <a:solidFill>
                  <a:srgbClr val="1866AE"/>
                </a:solidFill>
                <a:latin typeface="Montserrat" pitchFamily="2" charset="77"/>
              </a:defRPr>
            </a:lvl1pPr>
          </a:lstStyle>
          <a:p>
            <a:r>
              <a:rPr lang="en-US"/>
              <a:t>Click to enter title</a:t>
            </a:r>
          </a:p>
        </p:txBody>
      </p:sp>
      <p:pic>
        <p:nvPicPr>
          <p:cNvPr id="5" name="Picture 4" descr="A blue rocket with yellow flames&#10;&#10;AI-generated content may be incorrect.">
            <a:extLst>
              <a:ext uri="{FF2B5EF4-FFF2-40B4-BE49-F238E27FC236}">
                <a16:creationId xmlns:a16="http://schemas.microsoft.com/office/drawing/2014/main" id="{C4F7D118-FEE1-1BB0-CD7C-74505B797651}"/>
              </a:ext>
            </a:extLst>
          </p:cNvPr>
          <p:cNvPicPr>
            <a:picLocks noChangeAspect="1"/>
          </p:cNvPicPr>
          <p:nvPr userDrawn="1"/>
        </p:nvPicPr>
        <p:blipFill>
          <a:blip r:embed="rId2"/>
          <a:stretch>
            <a:fillRect/>
          </a:stretch>
        </p:blipFill>
        <p:spPr>
          <a:xfrm>
            <a:off x="11322425" y="4961854"/>
            <a:ext cx="715337" cy="1180425"/>
          </a:xfrm>
          <a:prstGeom prst="rect">
            <a:avLst/>
          </a:prstGeom>
        </p:spPr>
      </p:pic>
    </p:spTree>
    <p:extLst>
      <p:ext uri="{BB962C8B-B14F-4D97-AF65-F5344CB8AC3E}">
        <p14:creationId xmlns:p14="http://schemas.microsoft.com/office/powerpoint/2010/main" val="21576285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Left Image-Full height">
    <p:spTree>
      <p:nvGrpSpPr>
        <p:cNvPr id="1" name=""/>
        <p:cNvGrpSpPr/>
        <p:nvPr/>
      </p:nvGrpSpPr>
      <p:grpSpPr>
        <a:xfrm>
          <a:off x="0" y="0"/>
          <a:ext cx="0" cy="0"/>
          <a:chOff x="0" y="0"/>
          <a:chExt cx="0" cy="0"/>
        </a:xfrm>
      </p:grpSpPr>
      <p:sp>
        <p:nvSpPr>
          <p:cNvPr id="10" name="White Background">
            <a:extLst>
              <a:ext uri="{FF2B5EF4-FFF2-40B4-BE49-F238E27FC236}">
                <a16:creationId xmlns:a16="http://schemas.microsoft.com/office/drawing/2014/main" id="{902DAFEE-672B-5531-AF4D-6EDB10B89A39}"/>
              </a:ext>
            </a:extLst>
          </p:cNvPr>
          <p:cNvSpPr/>
          <p:nvPr userDrawn="1"/>
        </p:nvSpPr>
        <p:spPr>
          <a:xfrm>
            <a:off x="0" y="122863"/>
            <a:ext cx="4064000" cy="673513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b="0" i="0">
              <a:solidFill>
                <a:schemeClr val="tx1"/>
              </a:solidFill>
              <a:latin typeface="Montserrat" pitchFamily="2" charset="77"/>
            </a:endParaRPr>
          </a:p>
        </p:txBody>
      </p:sp>
      <p:sp>
        <p:nvSpPr>
          <p:cNvPr id="12" name="Picture Placeholder ">
            <a:extLst>
              <a:ext uri="{FF2B5EF4-FFF2-40B4-BE49-F238E27FC236}">
                <a16:creationId xmlns:a16="http://schemas.microsoft.com/office/drawing/2014/main" id="{FECA367A-4BF0-0C0F-3498-6E6DCA02C6C2}"/>
              </a:ext>
            </a:extLst>
          </p:cNvPr>
          <p:cNvSpPr>
            <a:spLocks noGrp="1"/>
          </p:cNvSpPr>
          <p:nvPr>
            <p:ph type="pic" sz="quarter" idx="13"/>
          </p:nvPr>
        </p:nvSpPr>
        <p:spPr>
          <a:xfrm>
            <a:off x="10517" y="122862"/>
            <a:ext cx="4053483" cy="6735137"/>
          </a:xfrm>
        </p:spPr>
        <p:txBody>
          <a:bodyPr/>
          <a:lstStyle>
            <a:lvl1pPr marL="0" indent="0" algn="ctr">
              <a:buNone/>
              <a:defRPr b="0" i="0">
                <a:solidFill>
                  <a:schemeClr val="tx1"/>
                </a:solidFill>
                <a:latin typeface="Montserrat" pitchFamily="2" charset="77"/>
              </a:defRPr>
            </a:lvl1pPr>
          </a:lstStyle>
          <a:p>
            <a:r>
              <a:rPr lang="en-US"/>
              <a:t>Click icon to add picture</a:t>
            </a:r>
          </a:p>
        </p:txBody>
      </p:sp>
      <p:sp>
        <p:nvSpPr>
          <p:cNvPr id="14" name="Text Placeholder ">
            <a:extLst>
              <a:ext uri="{FF2B5EF4-FFF2-40B4-BE49-F238E27FC236}">
                <a16:creationId xmlns:a16="http://schemas.microsoft.com/office/drawing/2014/main" id="{46316DF1-26A9-2E6B-73C8-3D75A8FE6392}"/>
              </a:ext>
            </a:extLst>
          </p:cNvPr>
          <p:cNvSpPr>
            <a:spLocks noGrp="1"/>
          </p:cNvSpPr>
          <p:nvPr>
            <p:ph type="body" sz="half" idx="2"/>
          </p:nvPr>
        </p:nvSpPr>
        <p:spPr>
          <a:xfrm>
            <a:off x="4330263" y="1202767"/>
            <a:ext cx="7463676" cy="4985627"/>
          </a:xfrm>
        </p:spPr>
        <p:txBody>
          <a:bodyPr>
            <a:normAutofit/>
          </a:bodyPr>
          <a:lstStyle>
            <a:lvl1pPr marL="0" indent="0">
              <a:buNone/>
              <a:defRPr sz="2133" b="0" i="0">
                <a:solidFill>
                  <a:schemeClr val="tx1"/>
                </a:solidFill>
                <a:latin typeface="Montserrat" pitchFamily="2" charset="77"/>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13" name="Title 1">
            <a:extLst>
              <a:ext uri="{FF2B5EF4-FFF2-40B4-BE49-F238E27FC236}">
                <a16:creationId xmlns:a16="http://schemas.microsoft.com/office/drawing/2014/main" id="{24B4795F-48D0-3560-24E9-9EED8A3F95E7}"/>
              </a:ext>
            </a:extLst>
          </p:cNvPr>
          <p:cNvSpPr>
            <a:spLocks noGrp="1"/>
          </p:cNvSpPr>
          <p:nvPr>
            <p:ph type="title" hasCustomPrompt="1"/>
          </p:nvPr>
        </p:nvSpPr>
        <p:spPr>
          <a:xfrm>
            <a:off x="4328161" y="438912"/>
            <a:ext cx="7463676" cy="609600"/>
          </a:xfrm>
        </p:spPr>
        <p:txBody>
          <a:bodyPr anchor="b"/>
          <a:lstStyle>
            <a:lvl1pPr algn="l">
              <a:defRPr sz="3200" b="0" i="0" baseline="0">
                <a:solidFill>
                  <a:srgbClr val="1866AE"/>
                </a:solidFill>
                <a:latin typeface="Montserrat" pitchFamily="2" charset="77"/>
              </a:defRPr>
            </a:lvl1pPr>
          </a:lstStyle>
          <a:p>
            <a:r>
              <a:rPr lang="en-US"/>
              <a:t>Click to enter title</a:t>
            </a:r>
          </a:p>
        </p:txBody>
      </p:sp>
      <p:pic>
        <p:nvPicPr>
          <p:cNvPr id="2" name="Picture 1" descr="A blue rocket with yellow flames&#10;&#10;AI-generated content may be incorrect.">
            <a:extLst>
              <a:ext uri="{FF2B5EF4-FFF2-40B4-BE49-F238E27FC236}">
                <a16:creationId xmlns:a16="http://schemas.microsoft.com/office/drawing/2014/main" id="{1F91E5E3-C052-DFF7-0F22-4D1D49D5D032}"/>
              </a:ext>
            </a:extLst>
          </p:cNvPr>
          <p:cNvPicPr>
            <a:picLocks noChangeAspect="1"/>
          </p:cNvPicPr>
          <p:nvPr userDrawn="1"/>
        </p:nvPicPr>
        <p:blipFill>
          <a:blip r:embed="rId2"/>
          <a:stretch>
            <a:fillRect/>
          </a:stretch>
        </p:blipFill>
        <p:spPr>
          <a:xfrm>
            <a:off x="11322425" y="4961854"/>
            <a:ext cx="715337" cy="1180425"/>
          </a:xfrm>
          <a:prstGeom prst="rect">
            <a:avLst/>
          </a:prstGeom>
        </p:spPr>
      </p:pic>
    </p:spTree>
    <p:extLst>
      <p:ext uri="{BB962C8B-B14F-4D97-AF65-F5344CB8AC3E}">
        <p14:creationId xmlns:p14="http://schemas.microsoft.com/office/powerpoint/2010/main" val="7845521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Only Layout">
    <p:spTree>
      <p:nvGrpSpPr>
        <p:cNvPr id="1" name=""/>
        <p:cNvGrpSpPr/>
        <p:nvPr/>
      </p:nvGrpSpPr>
      <p:grpSpPr>
        <a:xfrm>
          <a:off x="0" y="0"/>
          <a:ext cx="0" cy="0"/>
          <a:chOff x="0" y="0"/>
          <a:chExt cx="0" cy="0"/>
        </a:xfrm>
      </p:grpSpPr>
      <p:sp>
        <p:nvSpPr>
          <p:cNvPr id="2" name="Title"/>
          <p:cNvSpPr>
            <a:spLocks noGrp="1"/>
          </p:cNvSpPr>
          <p:nvPr>
            <p:ph type="title"/>
          </p:nvPr>
        </p:nvSpPr>
        <p:spPr>
          <a:xfrm>
            <a:off x="418073" y="437960"/>
            <a:ext cx="11375136" cy="609600"/>
          </a:xfrm>
        </p:spPr>
        <p:txBody>
          <a:bodyPr/>
          <a:lstStyle>
            <a:lvl1pPr>
              <a:defRPr b="0" i="0">
                <a:solidFill>
                  <a:srgbClr val="1866AE"/>
                </a:solidFill>
                <a:latin typeface="Montserrat" pitchFamily="2" charset="77"/>
              </a:defRPr>
            </a:lvl1pPr>
          </a:lstStyle>
          <a:p>
            <a:r>
              <a:rPr lang="en-US"/>
              <a:t>Click to edit Master title style</a:t>
            </a:r>
          </a:p>
        </p:txBody>
      </p:sp>
      <p:pic>
        <p:nvPicPr>
          <p:cNvPr id="3" name="Picture 2" descr="A blue rocket with yellow flames&#10;&#10;AI-generated content may be incorrect.">
            <a:extLst>
              <a:ext uri="{FF2B5EF4-FFF2-40B4-BE49-F238E27FC236}">
                <a16:creationId xmlns:a16="http://schemas.microsoft.com/office/drawing/2014/main" id="{7221C18D-5754-F22D-33AC-963EC05E9973}"/>
              </a:ext>
            </a:extLst>
          </p:cNvPr>
          <p:cNvPicPr>
            <a:picLocks noChangeAspect="1"/>
          </p:cNvPicPr>
          <p:nvPr userDrawn="1"/>
        </p:nvPicPr>
        <p:blipFill>
          <a:blip r:embed="rId2"/>
          <a:stretch>
            <a:fillRect/>
          </a:stretch>
        </p:blipFill>
        <p:spPr>
          <a:xfrm>
            <a:off x="11322425" y="4961854"/>
            <a:ext cx="715337" cy="1180425"/>
          </a:xfrm>
          <a:prstGeom prst="rect">
            <a:avLst/>
          </a:prstGeom>
        </p:spPr>
      </p:pic>
    </p:spTree>
    <p:extLst>
      <p:ext uri="{BB962C8B-B14F-4D97-AF65-F5344CB8AC3E}">
        <p14:creationId xmlns:p14="http://schemas.microsoft.com/office/powerpoint/2010/main" val="12299604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Blue top line">
            <a:extLst>
              <a:ext uri="{FF2B5EF4-FFF2-40B4-BE49-F238E27FC236}">
                <a16:creationId xmlns:a16="http://schemas.microsoft.com/office/drawing/2014/main" id="{E698F46C-0450-0A42-69F4-4CA2C83E49C9}"/>
              </a:ext>
            </a:extLst>
          </p:cNvPr>
          <p:cNvSpPr/>
          <p:nvPr userDrawn="1"/>
        </p:nvSpPr>
        <p:spPr>
          <a:xfrm flipV="1">
            <a:off x="0" y="-7257"/>
            <a:ext cx="12192000" cy="9753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33" b="0" i="0" baseline="0">
              <a:solidFill>
                <a:schemeClr val="tx1"/>
              </a:solidFill>
              <a:latin typeface="Montserrat" pitchFamily="2" charset="77"/>
            </a:endParaRPr>
          </a:p>
        </p:txBody>
      </p:sp>
      <p:sp>
        <p:nvSpPr>
          <p:cNvPr id="7" name="Green top line">
            <a:extLst>
              <a:ext uri="{FF2B5EF4-FFF2-40B4-BE49-F238E27FC236}">
                <a16:creationId xmlns:a16="http://schemas.microsoft.com/office/drawing/2014/main" id="{12C9F3AD-9532-11E6-E672-6F10181290C1}"/>
              </a:ext>
            </a:extLst>
          </p:cNvPr>
          <p:cNvSpPr/>
          <p:nvPr userDrawn="1"/>
        </p:nvSpPr>
        <p:spPr>
          <a:xfrm flipV="1">
            <a:off x="0" y="0"/>
            <a:ext cx="12192000" cy="36576"/>
          </a:xfrm>
          <a:prstGeom prst="rect">
            <a:avLst/>
          </a:prstGeom>
          <a:solidFill>
            <a:srgbClr val="8EBB37"/>
          </a:solidFill>
          <a:ln>
            <a:solidFill>
              <a:srgbClr val="8EBB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33" b="0" i="0" baseline="0">
              <a:solidFill>
                <a:schemeClr val="tx1"/>
              </a:solidFill>
              <a:latin typeface="Montserrat" pitchFamily="2" charset="77"/>
            </a:endParaRPr>
          </a:p>
        </p:txBody>
      </p:sp>
      <p:pic>
        <p:nvPicPr>
          <p:cNvPr id="2" name="Picture 1" descr="A blue rocket with yellow flames&#10;&#10;AI-generated content may be incorrect.">
            <a:extLst>
              <a:ext uri="{FF2B5EF4-FFF2-40B4-BE49-F238E27FC236}">
                <a16:creationId xmlns:a16="http://schemas.microsoft.com/office/drawing/2014/main" id="{64C7FB6B-3110-4907-76D3-A00724A380C8}"/>
              </a:ext>
            </a:extLst>
          </p:cNvPr>
          <p:cNvPicPr>
            <a:picLocks noChangeAspect="1"/>
          </p:cNvPicPr>
          <p:nvPr userDrawn="1"/>
        </p:nvPicPr>
        <p:blipFill>
          <a:blip r:embed="rId2"/>
          <a:stretch>
            <a:fillRect/>
          </a:stretch>
        </p:blipFill>
        <p:spPr>
          <a:xfrm>
            <a:off x="11322425" y="4961854"/>
            <a:ext cx="715337" cy="1180425"/>
          </a:xfrm>
          <a:prstGeom prst="rect">
            <a:avLst/>
          </a:prstGeom>
        </p:spPr>
      </p:pic>
    </p:spTree>
    <p:extLst>
      <p:ext uri="{BB962C8B-B14F-4D97-AF65-F5344CB8AC3E}">
        <p14:creationId xmlns:p14="http://schemas.microsoft.com/office/powerpoint/2010/main" val="6036493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_Title Only Layout">
    <p:spTree>
      <p:nvGrpSpPr>
        <p:cNvPr id="1" name=""/>
        <p:cNvGrpSpPr/>
        <p:nvPr/>
      </p:nvGrpSpPr>
      <p:grpSpPr>
        <a:xfrm>
          <a:off x="0" y="0"/>
          <a:ext cx="0" cy="0"/>
          <a:chOff x="0" y="0"/>
          <a:chExt cx="0" cy="0"/>
        </a:xfrm>
      </p:grpSpPr>
      <p:pic>
        <p:nvPicPr>
          <p:cNvPr id="3" name="Picture 2" descr="A blue rocket with yellow flames&#10;&#10;AI-generated content may be incorrect.">
            <a:extLst>
              <a:ext uri="{FF2B5EF4-FFF2-40B4-BE49-F238E27FC236}">
                <a16:creationId xmlns:a16="http://schemas.microsoft.com/office/drawing/2014/main" id="{7221C18D-5754-F22D-33AC-963EC05E9973}"/>
              </a:ext>
            </a:extLst>
          </p:cNvPr>
          <p:cNvPicPr>
            <a:picLocks noChangeAspect="1"/>
          </p:cNvPicPr>
          <p:nvPr userDrawn="1"/>
        </p:nvPicPr>
        <p:blipFill>
          <a:blip r:embed="rId2">
            <a:alphaModFix amt="15000"/>
          </a:blip>
          <a:stretch>
            <a:fillRect/>
          </a:stretch>
        </p:blipFill>
        <p:spPr>
          <a:xfrm>
            <a:off x="10430932" y="3565994"/>
            <a:ext cx="1465792" cy="2418799"/>
          </a:xfrm>
          <a:prstGeom prst="rect">
            <a:avLst/>
          </a:prstGeom>
        </p:spPr>
      </p:pic>
    </p:spTree>
    <p:extLst>
      <p:ext uri="{BB962C8B-B14F-4D97-AF65-F5344CB8AC3E}">
        <p14:creationId xmlns:p14="http://schemas.microsoft.com/office/powerpoint/2010/main" val="8357904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_Title Only Layout">
    <p:spTree>
      <p:nvGrpSpPr>
        <p:cNvPr id="1" name=""/>
        <p:cNvGrpSpPr/>
        <p:nvPr/>
      </p:nvGrpSpPr>
      <p:grpSpPr>
        <a:xfrm>
          <a:off x="0" y="0"/>
          <a:ext cx="0" cy="0"/>
          <a:chOff x="0" y="0"/>
          <a:chExt cx="0" cy="0"/>
        </a:xfrm>
      </p:grpSpPr>
      <p:pic>
        <p:nvPicPr>
          <p:cNvPr id="3" name="Picture 2" descr="A blue rocket with yellow flames&#10;&#10;AI-generated content may be incorrect.">
            <a:extLst>
              <a:ext uri="{FF2B5EF4-FFF2-40B4-BE49-F238E27FC236}">
                <a16:creationId xmlns:a16="http://schemas.microsoft.com/office/drawing/2014/main" id="{7221C18D-5754-F22D-33AC-963EC05E9973}"/>
              </a:ext>
            </a:extLst>
          </p:cNvPr>
          <p:cNvPicPr>
            <a:picLocks noChangeAspect="1"/>
          </p:cNvPicPr>
          <p:nvPr userDrawn="1"/>
        </p:nvPicPr>
        <p:blipFill>
          <a:blip r:embed="rId2">
            <a:alphaModFix amt="15000"/>
          </a:blip>
          <a:stretch>
            <a:fillRect/>
          </a:stretch>
        </p:blipFill>
        <p:spPr>
          <a:xfrm>
            <a:off x="8331200" y="793048"/>
            <a:ext cx="2888192" cy="4765995"/>
          </a:xfrm>
          <a:prstGeom prst="rect">
            <a:avLst/>
          </a:prstGeom>
        </p:spPr>
      </p:pic>
    </p:spTree>
    <p:extLst>
      <p:ext uri="{BB962C8B-B14F-4D97-AF65-F5344CB8AC3E}">
        <p14:creationId xmlns:p14="http://schemas.microsoft.com/office/powerpoint/2010/main" val="3100782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1_Title Only Layout">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757027" y="4424859"/>
            <a:ext cx="5213183" cy="576471"/>
          </a:xfrm>
        </p:spPr>
        <p:txBody>
          <a:bodyPr anchor="t" anchorCtr="0"/>
          <a:lstStyle>
            <a:lvl1pPr>
              <a:defRPr sz="4267" b="0" i="0">
                <a:solidFill>
                  <a:srgbClr val="1866AE"/>
                </a:solidFill>
                <a:latin typeface="Montserrat" pitchFamily="2" charset="77"/>
              </a:defRPr>
            </a:lvl1pPr>
          </a:lstStyle>
          <a:p>
            <a:r>
              <a:rPr lang="en-US"/>
              <a:t>Transition Slide</a:t>
            </a:r>
          </a:p>
        </p:txBody>
      </p:sp>
      <p:pic>
        <p:nvPicPr>
          <p:cNvPr id="3" name="Picture 2" descr="A blue rocket with yellow flames&#10;&#10;AI-generated content may be incorrect.">
            <a:extLst>
              <a:ext uri="{FF2B5EF4-FFF2-40B4-BE49-F238E27FC236}">
                <a16:creationId xmlns:a16="http://schemas.microsoft.com/office/drawing/2014/main" id="{7221C18D-5754-F22D-33AC-963EC05E9973}"/>
              </a:ext>
            </a:extLst>
          </p:cNvPr>
          <p:cNvPicPr>
            <a:picLocks noChangeAspect="1"/>
          </p:cNvPicPr>
          <p:nvPr userDrawn="1"/>
        </p:nvPicPr>
        <p:blipFill>
          <a:blip r:embed="rId2">
            <a:alphaModFix amt="15000"/>
          </a:blip>
          <a:stretch>
            <a:fillRect/>
          </a:stretch>
        </p:blipFill>
        <p:spPr>
          <a:xfrm>
            <a:off x="8331200" y="793048"/>
            <a:ext cx="2888192" cy="4765995"/>
          </a:xfrm>
          <a:prstGeom prst="rect">
            <a:avLst/>
          </a:prstGeom>
        </p:spPr>
      </p:pic>
    </p:spTree>
    <p:extLst>
      <p:ext uri="{BB962C8B-B14F-4D97-AF65-F5344CB8AC3E}">
        <p14:creationId xmlns:p14="http://schemas.microsoft.com/office/powerpoint/2010/main" val="2141223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8_Title Only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EA14F74-9AE4-FE3D-5B7E-FF0B9D75F257}"/>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33" b="0" i="0">
              <a:latin typeface="Montserrat" pitchFamily="2" charset="77"/>
            </a:endParaRPr>
          </a:p>
        </p:txBody>
      </p:sp>
      <p:pic>
        <p:nvPicPr>
          <p:cNvPr id="2" name="Picture 1" descr="A black background with white text&#10;&#10;AI-generated content may be incorrect.">
            <a:extLst>
              <a:ext uri="{FF2B5EF4-FFF2-40B4-BE49-F238E27FC236}">
                <a16:creationId xmlns:a16="http://schemas.microsoft.com/office/drawing/2014/main" id="{8F797F84-1016-68FE-191B-45D27B0C4524}"/>
              </a:ext>
            </a:extLst>
          </p:cNvPr>
          <p:cNvPicPr>
            <a:picLocks noChangeAspect="1"/>
          </p:cNvPicPr>
          <p:nvPr userDrawn="1"/>
        </p:nvPicPr>
        <p:blipFill>
          <a:blip r:embed="rId2">
            <a:alphaModFix amt="50000"/>
          </a:blip>
          <a:srcRect l="79031" t="-2797" b="-1"/>
          <a:stretch>
            <a:fillRect/>
          </a:stretch>
        </p:blipFill>
        <p:spPr>
          <a:xfrm>
            <a:off x="7905447" y="934345"/>
            <a:ext cx="2934692" cy="4845921"/>
          </a:xfrm>
          <a:prstGeom prst="rect">
            <a:avLst/>
          </a:prstGeom>
        </p:spPr>
      </p:pic>
      <p:sp>
        <p:nvSpPr>
          <p:cNvPr id="3" name="Title">
            <a:extLst>
              <a:ext uri="{FF2B5EF4-FFF2-40B4-BE49-F238E27FC236}">
                <a16:creationId xmlns:a16="http://schemas.microsoft.com/office/drawing/2014/main" id="{19FDF49E-F19D-7966-5841-E8FE9E5F2A9C}"/>
              </a:ext>
            </a:extLst>
          </p:cNvPr>
          <p:cNvSpPr>
            <a:spLocks noGrp="1"/>
          </p:cNvSpPr>
          <p:nvPr>
            <p:ph type="title" hasCustomPrompt="1"/>
          </p:nvPr>
        </p:nvSpPr>
        <p:spPr>
          <a:xfrm>
            <a:off x="757027" y="4424859"/>
            <a:ext cx="5213183" cy="576471"/>
          </a:xfrm>
        </p:spPr>
        <p:txBody>
          <a:bodyPr anchor="t" anchorCtr="0"/>
          <a:lstStyle>
            <a:lvl1pPr>
              <a:defRPr sz="4267" b="0" i="0">
                <a:solidFill>
                  <a:schemeClr val="bg1"/>
                </a:solidFill>
                <a:latin typeface="Montserrat" pitchFamily="2" charset="77"/>
              </a:defRPr>
            </a:lvl1pPr>
          </a:lstStyle>
          <a:p>
            <a:r>
              <a:rPr lang="en-US"/>
              <a:t>Transition Slide</a:t>
            </a:r>
          </a:p>
        </p:txBody>
      </p:sp>
    </p:spTree>
    <p:extLst>
      <p:ext uri="{BB962C8B-B14F-4D97-AF65-F5344CB8AC3E}">
        <p14:creationId xmlns:p14="http://schemas.microsoft.com/office/powerpoint/2010/main" val="5848439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2_Title Only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EA14F74-9AE4-FE3D-5B7E-FF0B9D75F257}"/>
              </a:ext>
            </a:extLst>
          </p:cNvPr>
          <p:cNvSpPr>
            <a:spLocks/>
          </p:cNvSpPr>
          <p:nvPr userDrawn="1"/>
        </p:nvSpPr>
        <p:spPr>
          <a:xfrm>
            <a:off x="0" y="0"/>
            <a:ext cx="12192000" cy="6858000"/>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33" b="0" i="0">
              <a:latin typeface="Montserrat" pitchFamily="2" charset="77"/>
            </a:endParaRPr>
          </a:p>
        </p:txBody>
      </p:sp>
      <p:sp>
        <p:nvSpPr>
          <p:cNvPr id="2" name="Title"/>
          <p:cNvSpPr>
            <a:spLocks noGrp="1"/>
          </p:cNvSpPr>
          <p:nvPr>
            <p:ph type="title" hasCustomPrompt="1"/>
          </p:nvPr>
        </p:nvSpPr>
        <p:spPr>
          <a:xfrm>
            <a:off x="722473" y="5343937"/>
            <a:ext cx="7910000" cy="576471"/>
          </a:xfrm>
        </p:spPr>
        <p:txBody>
          <a:bodyPr anchor="t" anchorCtr="0"/>
          <a:lstStyle>
            <a:lvl1pPr>
              <a:defRPr sz="4267" b="0" i="0">
                <a:solidFill>
                  <a:schemeClr val="bg1"/>
                </a:solidFill>
                <a:latin typeface="Montserrat" pitchFamily="2" charset="77"/>
              </a:defRPr>
            </a:lvl1pPr>
          </a:lstStyle>
          <a:p>
            <a:r>
              <a:rPr lang="en-US"/>
              <a:t>Transition Slide</a:t>
            </a:r>
          </a:p>
        </p:txBody>
      </p:sp>
    </p:spTree>
    <p:extLst>
      <p:ext uri="{BB962C8B-B14F-4D97-AF65-F5344CB8AC3E}">
        <p14:creationId xmlns:p14="http://schemas.microsoft.com/office/powerpoint/2010/main" val="6605173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5_Title Only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EA14F74-9AE4-FE3D-5B7E-FF0B9D75F257}"/>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33" b="0" i="0">
              <a:latin typeface="Montserrat" pitchFamily="2" charset="77"/>
            </a:endParaRPr>
          </a:p>
        </p:txBody>
      </p:sp>
      <p:pic>
        <p:nvPicPr>
          <p:cNvPr id="7" name="Picture 6" descr="A black background with white text&#10;&#10;AI-generated content may be incorrect.">
            <a:extLst>
              <a:ext uri="{FF2B5EF4-FFF2-40B4-BE49-F238E27FC236}">
                <a16:creationId xmlns:a16="http://schemas.microsoft.com/office/drawing/2014/main" id="{53AA51E4-54C5-C3EB-E63C-24DF6CD86D97}"/>
              </a:ext>
            </a:extLst>
          </p:cNvPr>
          <p:cNvPicPr>
            <a:picLocks noChangeAspect="1"/>
          </p:cNvPicPr>
          <p:nvPr userDrawn="1"/>
        </p:nvPicPr>
        <p:blipFill>
          <a:blip r:embed="rId2"/>
          <a:stretch>
            <a:fillRect/>
          </a:stretch>
        </p:blipFill>
        <p:spPr>
          <a:xfrm>
            <a:off x="8640838" y="5542513"/>
            <a:ext cx="3331413" cy="1122135"/>
          </a:xfrm>
          <a:prstGeom prst="rect">
            <a:avLst/>
          </a:prstGeom>
        </p:spPr>
      </p:pic>
      <p:sp>
        <p:nvSpPr>
          <p:cNvPr id="8" name="Content Placeholder">
            <a:extLst>
              <a:ext uri="{FF2B5EF4-FFF2-40B4-BE49-F238E27FC236}">
                <a16:creationId xmlns:a16="http://schemas.microsoft.com/office/drawing/2014/main" id="{5F38107C-7728-4558-7E69-FAF1CE2A72B4}"/>
              </a:ext>
            </a:extLst>
          </p:cNvPr>
          <p:cNvSpPr>
            <a:spLocks noGrp="1"/>
          </p:cNvSpPr>
          <p:nvPr>
            <p:ph idx="1"/>
          </p:nvPr>
        </p:nvSpPr>
        <p:spPr>
          <a:xfrm>
            <a:off x="414528" y="1219201"/>
            <a:ext cx="11375136" cy="4895447"/>
          </a:xfrm>
        </p:spPr>
        <p:txBody>
          <a:bodyPr>
            <a:normAutofit/>
          </a:bodyPr>
          <a:lstStyle>
            <a:lvl1pPr marL="0" indent="0">
              <a:buClr>
                <a:schemeClr val="tx2"/>
              </a:buClr>
              <a:buFont typeface="Wingdings" charset="2"/>
              <a:buNone/>
              <a:defRPr sz="2133" b="0" i="0">
                <a:solidFill>
                  <a:schemeClr val="bg1"/>
                </a:solidFill>
                <a:latin typeface="Montserrat" pitchFamily="2" charset="77"/>
              </a:defRPr>
            </a:lvl1pPr>
            <a:lvl2pPr marL="365751" indent="-243834">
              <a:buClr>
                <a:schemeClr val="tx2"/>
              </a:buClr>
              <a:buFont typeface="Arial" panose="020B0604020202020204" pitchFamily="34" charset="0"/>
              <a:buChar char="•"/>
              <a:defRPr sz="1867" b="0" i="0">
                <a:solidFill>
                  <a:schemeClr val="bg1"/>
                </a:solidFill>
                <a:latin typeface="Montserrat" pitchFamily="2" charset="77"/>
              </a:defRPr>
            </a:lvl2pPr>
            <a:lvl3pPr marL="731502" indent="-243834">
              <a:buClr>
                <a:schemeClr val="tx2"/>
              </a:buClr>
              <a:buFont typeface="Arial" panose="020B0604020202020204" pitchFamily="34" charset="0"/>
              <a:buChar char="•"/>
              <a:defRPr sz="1600" b="0" i="0">
                <a:solidFill>
                  <a:schemeClr val="bg1"/>
                </a:solidFill>
                <a:latin typeface="Montserrat" pitchFamily="2" charset="77"/>
              </a:defRPr>
            </a:lvl3pPr>
            <a:lvl4pPr marL="1097253" indent="-243834">
              <a:buClr>
                <a:schemeClr val="tx2"/>
              </a:buClr>
              <a:buFont typeface="Arial" panose="020B0604020202020204" pitchFamily="34" charset="0"/>
              <a:buChar char="•"/>
              <a:defRPr sz="1467" b="0" i="0">
                <a:solidFill>
                  <a:schemeClr val="bg1"/>
                </a:solidFill>
                <a:latin typeface="Montserrat" pitchFamily="2" charset="77"/>
              </a:defRPr>
            </a:lvl4pPr>
            <a:lvl5pPr marL="1463003" indent="-243834">
              <a:buClr>
                <a:schemeClr val="tx2"/>
              </a:buClr>
              <a:buFont typeface="Arial" panose="020B0604020202020204" pitchFamily="34" charset="0"/>
              <a:buChar char="•"/>
              <a:defRPr sz="1467" b="0" i="0">
                <a:solidFill>
                  <a:schemeClr val="bg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a:extLst>
              <a:ext uri="{FF2B5EF4-FFF2-40B4-BE49-F238E27FC236}">
                <a16:creationId xmlns:a16="http://schemas.microsoft.com/office/drawing/2014/main" id="{F8B98C3A-005E-FCC5-F2BE-C72514D32278}"/>
              </a:ext>
            </a:extLst>
          </p:cNvPr>
          <p:cNvSpPr>
            <a:spLocks noGrp="1"/>
          </p:cNvSpPr>
          <p:nvPr>
            <p:ph type="title"/>
          </p:nvPr>
        </p:nvSpPr>
        <p:spPr>
          <a:xfrm>
            <a:off x="414528" y="438912"/>
            <a:ext cx="11375136" cy="609600"/>
          </a:xfrm>
        </p:spPr>
        <p:txBody>
          <a:bodyPr lIns="0"/>
          <a:lstStyle>
            <a:lvl1pPr>
              <a:defRPr b="0" i="0">
                <a:solidFill>
                  <a:schemeClr val="bg1"/>
                </a:solidFill>
                <a:latin typeface="Montserrat" pitchFamily="2" charset="77"/>
              </a:defRPr>
            </a:lvl1pPr>
          </a:lstStyle>
          <a:p>
            <a:r>
              <a:rPr lang="en-US"/>
              <a:t>Click to edit Master title style</a:t>
            </a:r>
          </a:p>
        </p:txBody>
      </p:sp>
    </p:spTree>
    <p:extLst>
      <p:ext uri="{BB962C8B-B14F-4D97-AF65-F5344CB8AC3E}">
        <p14:creationId xmlns:p14="http://schemas.microsoft.com/office/powerpoint/2010/main" val="271035013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6_Title Only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EA14F74-9AE4-FE3D-5B7E-FF0B9D75F257}"/>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33" b="0" i="0">
              <a:latin typeface="Montserrat" pitchFamily="2" charset="77"/>
            </a:endParaRPr>
          </a:p>
        </p:txBody>
      </p:sp>
      <p:pic>
        <p:nvPicPr>
          <p:cNvPr id="2" name="Picture 1" descr="A black background with white text&#10;&#10;AI-generated content may be incorrect.">
            <a:extLst>
              <a:ext uri="{FF2B5EF4-FFF2-40B4-BE49-F238E27FC236}">
                <a16:creationId xmlns:a16="http://schemas.microsoft.com/office/drawing/2014/main" id="{8F797F84-1016-68FE-191B-45D27B0C4524}"/>
              </a:ext>
            </a:extLst>
          </p:cNvPr>
          <p:cNvPicPr>
            <a:picLocks noChangeAspect="1"/>
          </p:cNvPicPr>
          <p:nvPr userDrawn="1"/>
        </p:nvPicPr>
        <p:blipFill>
          <a:blip r:embed="rId2"/>
          <a:srcRect l="79031" t="-2797" b="-1"/>
          <a:stretch>
            <a:fillRect/>
          </a:stretch>
        </p:blipFill>
        <p:spPr>
          <a:xfrm>
            <a:off x="10876040" y="4876801"/>
            <a:ext cx="1076861" cy="1778172"/>
          </a:xfrm>
          <a:prstGeom prst="rect">
            <a:avLst/>
          </a:prstGeom>
        </p:spPr>
      </p:pic>
      <p:sp>
        <p:nvSpPr>
          <p:cNvPr id="3" name="Content Placeholder">
            <a:extLst>
              <a:ext uri="{FF2B5EF4-FFF2-40B4-BE49-F238E27FC236}">
                <a16:creationId xmlns:a16="http://schemas.microsoft.com/office/drawing/2014/main" id="{56B42121-3791-88E3-3566-C1D5909E1223}"/>
              </a:ext>
            </a:extLst>
          </p:cNvPr>
          <p:cNvSpPr>
            <a:spLocks noGrp="1"/>
          </p:cNvSpPr>
          <p:nvPr>
            <p:ph idx="1"/>
          </p:nvPr>
        </p:nvSpPr>
        <p:spPr>
          <a:xfrm>
            <a:off x="414528" y="1219201"/>
            <a:ext cx="11375136" cy="4895447"/>
          </a:xfrm>
        </p:spPr>
        <p:txBody>
          <a:bodyPr>
            <a:normAutofit/>
          </a:bodyPr>
          <a:lstStyle>
            <a:lvl1pPr marL="0" indent="0">
              <a:buClr>
                <a:schemeClr val="tx2"/>
              </a:buClr>
              <a:buFont typeface="Wingdings" charset="2"/>
              <a:buNone/>
              <a:defRPr sz="2133" b="0" i="0">
                <a:solidFill>
                  <a:schemeClr val="bg1"/>
                </a:solidFill>
                <a:latin typeface="Montserrat" pitchFamily="2" charset="77"/>
              </a:defRPr>
            </a:lvl1pPr>
            <a:lvl2pPr marL="365751" indent="-243834">
              <a:buClr>
                <a:schemeClr val="tx2"/>
              </a:buClr>
              <a:buFont typeface="Arial" panose="020B0604020202020204" pitchFamily="34" charset="0"/>
              <a:buChar char="•"/>
              <a:defRPr sz="1867" b="0" i="0">
                <a:solidFill>
                  <a:schemeClr val="bg1"/>
                </a:solidFill>
                <a:latin typeface="Montserrat" pitchFamily="2" charset="77"/>
              </a:defRPr>
            </a:lvl2pPr>
            <a:lvl3pPr marL="731502" indent="-243834">
              <a:buClr>
                <a:schemeClr val="tx2"/>
              </a:buClr>
              <a:buFont typeface="Arial" panose="020B0604020202020204" pitchFamily="34" charset="0"/>
              <a:buChar char="•"/>
              <a:defRPr sz="1600" b="0" i="0">
                <a:solidFill>
                  <a:schemeClr val="bg1"/>
                </a:solidFill>
                <a:latin typeface="Montserrat" pitchFamily="2" charset="77"/>
              </a:defRPr>
            </a:lvl3pPr>
            <a:lvl4pPr marL="1097253" indent="-243834">
              <a:buClr>
                <a:schemeClr val="tx2"/>
              </a:buClr>
              <a:buFont typeface="Arial" panose="020B0604020202020204" pitchFamily="34" charset="0"/>
              <a:buChar char="•"/>
              <a:defRPr sz="1467" b="0" i="0">
                <a:solidFill>
                  <a:schemeClr val="bg1"/>
                </a:solidFill>
                <a:latin typeface="Montserrat" pitchFamily="2" charset="77"/>
              </a:defRPr>
            </a:lvl4pPr>
            <a:lvl5pPr marL="1463003" indent="-243834">
              <a:buClr>
                <a:schemeClr val="tx2"/>
              </a:buClr>
              <a:buFont typeface="Arial" panose="020B0604020202020204" pitchFamily="34" charset="0"/>
              <a:buChar char="•"/>
              <a:defRPr sz="1467" b="0" i="0">
                <a:solidFill>
                  <a:schemeClr val="bg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a:extLst>
              <a:ext uri="{FF2B5EF4-FFF2-40B4-BE49-F238E27FC236}">
                <a16:creationId xmlns:a16="http://schemas.microsoft.com/office/drawing/2014/main" id="{F2F9A820-95BB-FDF9-48A2-DDD11B6C8F1B}"/>
              </a:ext>
            </a:extLst>
          </p:cNvPr>
          <p:cNvSpPr>
            <a:spLocks noGrp="1"/>
          </p:cNvSpPr>
          <p:nvPr>
            <p:ph type="title"/>
          </p:nvPr>
        </p:nvSpPr>
        <p:spPr>
          <a:xfrm>
            <a:off x="414528" y="438912"/>
            <a:ext cx="11375136" cy="609600"/>
          </a:xfrm>
        </p:spPr>
        <p:txBody>
          <a:bodyPr lIns="0"/>
          <a:lstStyle>
            <a:lvl1pPr>
              <a:defRPr b="0" i="0">
                <a:solidFill>
                  <a:schemeClr val="bg1"/>
                </a:solidFill>
                <a:latin typeface="Montserrat" pitchFamily="2" charset="77"/>
              </a:defRPr>
            </a:lvl1pPr>
          </a:lstStyle>
          <a:p>
            <a:r>
              <a:rPr lang="en-US"/>
              <a:t>Click to edit Master title style</a:t>
            </a:r>
          </a:p>
        </p:txBody>
      </p:sp>
    </p:spTree>
    <p:extLst>
      <p:ext uri="{BB962C8B-B14F-4D97-AF65-F5344CB8AC3E}">
        <p14:creationId xmlns:p14="http://schemas.microsoft.com/office/powerpoint/2010/main" val="39738127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7_Title Only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EA14F74-9AE4-FE3D-5B7E-FF0B9D75F257}"/>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33" b="0" i="0">
              <a:latin typeface="Montserrat" pitchFamily="2" charset="77"/>
            </a:endParaRPr>
          </a:p>
        </p:txBody>
      </p:sp>
      <p:pic>
        <p:nvPicPr>
          <p:cNvPr id="2" name="Picture 1" descr="A black background with white text&#10;&#10;AI-generated content may be incorrect.">
            <a:extLst>
              <a:ext uri="{FF2B5EF4-FFF2-40B4-BE49-F238E27FC236}">
                <a16:creationId xmlns:a16="http://schemas.microsoft.com/office/drawing/2014/main" id="{8F797F84-1016-68FE-191B-45D27B0C4524}"/>
              </a:ext>
            </a:extLst>
          </p:cNvPr>
          <p:cNvPicPr>
            <a:picLocks noChangeAspect="1"/>
          </p:cNvPicPr>
          <p:nvPr userDrawn="1"/>
        </p:nvPicPr>
        <p:blipFill>
          <a:blip r:embed="rId2">
            <a:alphaModFix amt="50000"/>
          </a:blip>
          <a:srcRect l="79031" t="-2797" b="-1"/>
          <a:stretch>
            <a:fillRect/>
          </a:stretch>
        </p:blipFill>
        <p:spPr>
          <a:xfrm>
            <a:off x="8098971" y="924669"/>
            <a:ext cx="2934692" cy="4845921"/>
          </a:xfrm>
          <a:prstGeom prst="rect">
            <a:avLst/>
          </a:prstGeom>
        </p:spPr>
      </p:pic>
    </p:spTree>
    <p:extLst>
      <p:ext uri="{BB962C8B-B14F-4D97-AF65-F5344CB8AC3E}">
        <p14:creationId xmlns:p14="http://schemas.microsoft.com/office/powerpoint/2010/main" val="412970290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Content White">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8D421C6B-9F5B-4DB8-A455-F9B42A1B5468}"/>
              </a:ext>
            </a:extLst>
          </p:cNvPr>
          <p:cNvSpPr>
            <a:spLocks noGrp="1"/>
          </p:cNvSpPr>
          <p:nvPr>
            <p:ph type="ftr" sz="quarter" idx="10"/>
          </p:nvPr>
        </p:nvSpPr>
        <p:spPr>
          <a:xfrm>
            <a:off x="304889" y="6400801"/>
            <a:ext cx="5486313" cy="222249"/>
          </a:xfrm>
        </p:spPr>
        <p:txBody>
          <a:bodyPr/>
          <a:lstStyle>
            <a:lvl1pPr>
              <a:defRPr>
                <a:solidFill>
                  <a:srgbClr val="000000"/>
                </a:solidFill>
              </a:defRPr>
            </a:lvl1pPr>
          </a:lstStyle>
          <a:p>
            <a:r>
              <a:rPr lang="en-US"/>
              <a:t>IBM Consulting / © IBM Corporation</a:t>
            </a:r>
          </a:p>
        </p:txBody>
      </p:sp>
      <p:sp>
        <p:nvSpPr>
          <p:cNvPr id="4" name="Slide Number Placeholder">
            <a:extLst>
              <a:ext uri="{FF2B5EF4-FFF2-40B4-BE49-F238E27FC236}">
                <a16:creationId xmlns:a16="http://schemas.microsoft.com/office/drawing/2014/main" id="{57B4B170-B75A-4566-BD1C-C1A3AC97742B}"/>
              </a:ext>
            </a:extLst>
          </p:cNvPr>
          <p:cNvSpPr>
            <a:spLocks noGrp="1"/>
          </p:cNvSpPr>
          <p:nvPr>
            <p:ph type="sldNum" sz="quarter" idx="11"/>
          </p:nvPr>
        </p:nvSpPr>
        <p:spPr>
          <a:xfrm>
            <a:off x="9448802" y="6400801"/>
            <a:ext cx="2438309" cy="222249"/>
          </a:xfrm>
        </p:spPr>
        <p:txBody>
          <a:bodyPr/>
          <a:lstStyle>
            <a:lvl1pPr>
              <a:defRPr>
                <a:solidFill>
                  <a:srgbClr val="000000"/>
                </a:solidFill>
              </a:defRPr>
            </a:lvl1pPr>
          </a:lstStyle>
          <a:p>
            <a:fld id="{59395FB3-9C97-154F-86B2-7E381B951268}" type="slidenum">
              <a:rPr lang="en-US" smtClean="0"/>
              <a:pPr/>
              <a:t>‹#›</a:t>
            </a:fld>
            <a:endParaRPr lang="en-US"/>
          </a:p>
        </p:txBody>
      </p:sp>
      <p:sp>
        <p:nvSpPr>
          <p:cNvPr id="2" name="Title 4">
            <a:extLst>
              <a:ext uri="{FF2B5EF4-FFF2-40B4-BE49-F238E27FC236}">
                <a16:creationId xmlns:a16="http://schemas.microsoft.com/office/drawing/2014/main" id="{0E55ADD0-679D-766C-B0A5-B16098B26F40}"/>
              </a:ext>
            </a:extLst>
          </p:cNvPr>
          <p:cNvSpPr>
            <a:spLocks noGrp="1"/>
          </p:cNvSpPr>
          <p:nvPr>
            <p:ph type="title"/>
          </p:nvPr>
        </p:nvSpPr>
        <p:spPr>
          <a:xfrm>
            <a:off x="280416" y="256032"/>
            <a:ext cx="11606693" cy="860563"/>
          </a:xfrm>
        </p:spPr>
        <p:txBody>
          <a:bodyPr/>
          <a:lstStyle>
            <a:lvl1pPr>
              <a:defRPr>
                <a:solidFill>
                  <a:schemeClr val="accent4"/>
                </a:solidFill>
              </a:defRPr>
            </a:lvl1pPr>
          </a:lstStyle>
          <a:p>
            <a:r>
              <a:rPr lang="en-US"/>
              <a:t>Click to edit Master title style</a:t>
            </a:r>
          </a:p>
        </p:txBody>
      </p:sp>
      <p:sp>
        <p:nvSpPr>
          <p:cNvPr id="10" name="Content Placeholder 9">
            <a:extLst>
              <a:ext uri="{FF2B5EF4-FFF2-40B4-BE49-F238E27FC236}">
                <a16:creationId xmlns:a16="http://schemas.microsoft.com/office/drawing/2014/main" id="{FF18601E-3127-8A99-E91E-5885361C43CF}"/>
              </a:ext>
            </a:extLst>
          </p:cNvPr>
          <p:cNvSpPr>
            <a:spLocks noGrp="1"/>
          </p:cNvSpPr>
          <p:nvPr>
            <p:ph sz="quarter" idx="12"/>
          </p:nvPr>
        </p:nvSpPr>
        <p:spPr>
          <a:xfrm>
            <a:off x="304800" y="1756834"/>
            <a:ext cx="11582400" cy="454448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3108212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3C3C3B"/>
                </a:solidFill>
              </a:defRPr>
            </a:lvl1pPr>
          </a:lstStyle>
          <a:p>
            <a:r>
              <a:rPr lang="en-US"/>
              <a:t>Click to edit Master title style</a:t>
            </a:r>
          </a:p>
        </p:txBody>
      </p:sp>
      <p:sp>
        <p:nvSpPr>
          <p:cNvPr id="3" name="Content Placeholder 2"/>
          <p:cNvSpPr>
            <a:spLocks noGrp="1"/>
          </p:cNvSpPr>
          <p:nvPr>
            <p:ph sz="half" idx="1"/>
          </p:nvPr>
        </p:nvSpPr>
        <p:spPr>
          <a:xfrm>
            <a:off x="459621" y="1660526"/>
            <a:ext cx="5384800" cy="4296068"/>
          </a:xfrm>
        </p:spPr>
        <p:txBody>
          <a:bodyPr>
            <a:normAutofit/>
          </a:bodyPr>
          <a:lstStyle>
            <a:lvl1pPr marL="0" indent="0">
              <a:buNone/>
              <a:defRPr sz="2667">
                <a:solidFill>
                  <a:srgbClr val="3C3C3B"/>
                </a:solidFill>
              </a:defRPr>
            </a:lvl1pPr>
            <a:lvl2pPr marL="365742" indent="-365742">
              <a:buFont typeface="Arial" panose="020B0604020202020204" pitchFamily="34" charset="0"/>
              <a:buChar char="•"/>
              <a:defRPr sz="2400">
                <a:solidFill>
                  <a:srgbClr val="3C3C3B"/>
                </a:solidFill>
              </a:defRPr>
            </a:lvl2pPr>
            <a:lvl3pPr marL="731484" indent="-365742">
              <a:buFont typeface="Arial" panose="020B0604020202020204" pitchFamily="34" charset="0"/>
              <a:buChar char="•"/>
              <a:defRPr sz="2133">
                <a:solidFill>
                  <a:srgbClr val="3C3C3B"/>
                </a:solidFill>
              </a:defRPr>
            </a:lvl3pPr>
            <a:lvl4pPr marL="1097226" indent="-365742">
              <a:buFont typeface="Arial" panose="020B0604020202020204" pitchFamily="34" charset="0"/>
              <a:buChar char="•"/>
              <a:defRPr sz="1867">
                <a:solidFill>
                  <a:srgbClr val="3C3C3B"/>
                </a:solidFill>
              </a:defRPr>
            </a:lvl4pPr>
            <a:lvl5pPr marL="1462966" indent="-365742">
              <a:buFont typeface="Arial" panose="020B0604020202020204" pitchFamily="34" charset="0"/>
              <a:buChar char="•"/>
              <a:defRPr sz="1867">
                <a:solidFill>
                  <a:srgbClr val="3C3C3B"/>
                </a:solidFill>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60526"/>
            <a:ext cx="5384800" cy="4296068"/>
          </a:xfrm>
        </p:spPr>
        <p:txBody>
          <a:bodyPr>
            <a:normAutofit/>
          </a:bodyPr>
          <a:lstStyle>
            <a:lvl1pPr marL="0" indent="0">
              <a:buNone/>
              <a:defRPr sz="2667">
                <a:solidFill>
                  <a:srgbClr val="3C3C3B"/>
                </a:solidFill>
              </a:defRPr>
            </a:lvl1pPr>
            <a:lvl2pPr marL="365742" indent="-365742">
              <a:buFont typeface="Arial" panose="020B0604020202020204" pitchFamily="34" charset="0"/>
              <a:buChar char="•"/>
              <a:defRPr lang="en-US" sz="2400" kern="1200" dirty="0" smtClean="0">
                <a:solidFill>
                  <a:srgbClr val="3C3C3B"/>
                </a:solidFill>
                <a:latin typeface="+mn-lt"/>
                <a:ea typeface="+mn-ea"/>
                <a:cs typeface="+mn-cs"/>
              </a:defRPr>
            </a:lvl2pPr>
            <a:lvl3pPr marL="731484" indent="-365742">
              <a:buFont typeface="Arial" panose="020B0604020202020204" pitchFamily="34" charset="0"/>
              <a:buChar char="•"/>
              <a:defRPr sz="2133">
                <a:solidFill>
                  <a:srgbClr val="3C3C3B"/>
                </a:solidFill>
              </a:defRPr>
            </a:lvl3pPr>
            <a:lvl4pPr marL="1097226" indent="-365742">
              <a:buFont typeface="Arial" panose="020B0604020202020204" pitchFamily="34" charset="0"/>
              <a:buChar char="•"/>
              <a:defRPr sz="1867">
                <a:solidFill>
                  <a:srgbClr val="3C3C3B"/>
                </a:solidFill>
              </a:defRPr>
            </a:lvl4pPr>
            <a:lvl5pPr marL="1462966" indent="-365742">
              <a:buFont typeface="Arial" panose="020B0604020202020204" pitchFamily="34" charset="0"/>
              <a:buChar char="•"/>
              <a:defRPr sz="1867">
                <a:solidFill>
                  <a:srgbClr val="3C3C3B"/>
                </a:solidFill>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707355F-22F0-684D-B046-094980D10CE1}" type="datetime1">
              <a:rPr lang="en-US" smtClean="0"/>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69B7C6-3FEA-7848-A062-37F8F6368D00}" type="slidenum">
              <a:rPr lang="en-US" smtClean="0"/>
              <a:t>‹#›</a:t>
            </a:fld>
            <a:endParaRPr lang="en-US"/>
          </a:p>
        </p:txBody>
      </p:sp>
      <p:sp>
        <p:nvSpPr>
          <p:cNvPr id="8" name="TextBox 7"/>
          <p:cNvSpPr txBox="1"/>
          <p:nvPr userDrawn="1"/>
        </p:nvSpPr>
        <p:spPr>
          <a:xfrm>
            <a:off x="10450287" y="-532190"/>
            <a:ext cx="184731" cy="461665"/>
          </a:xfrm>
          <a:prstGeom prst="rect">
            <a:avLst/>
          </a:prstGeom>
          <a:noFill/>
        </p:spPr>
        <p:txBody>
          <a:bodyPr wrap="none" rtlCol="0">
            <a:spAutoFit/>
          </a:bodyPr>
          <a:lstStyle/>
          <a:p>
            <a:endParaRPr lang="en-US" sz="2400"/>
          </a:p>
        </p:txBody>
      </p:sp>
    </p:spTree>
    <p:extLst>
      <p:ext uri="{BB962C8B-B14F-4D97-AF65-F5344CB8AC3E}">
        <p14:creationId xmlns:p14="http://schemas.microsoft.com/office/powerpoint/2010/main" val="121469111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Half Frame 4">
            <a:extLst>
              <a:ext uri="{FF2B5EF4-FFF2-40B4-BE49-F238E27FC236}">
                <a16:creationId xmlns:a16="http://schemas.microsoft.com/office/drawing/2014/main" id="{6581409C-6125-F298-D37A-31D8253DA6C0}"/>
              </a:ext>
            </a:extLst>
          </p:cNvPr>
          <p:cNvSpPr/>
          <p:nvPr userDrawn="1"/>
        </p:nvSpPr>
        <p:spPr>
          <a:xfrm rot="5400000">
            <a:off x="10427853" y="-341746"/>
            <a:ext cx="1422401" cy="2105894"/>
          </a:xfrm>
          <a:prstGeom prst="halfFrame">
            <a:avLst>
              <a:gd name="adj1" fmla="val 26436"/>
              <a:gd name="adj2" fmla="val 2643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Half Frame 7">
            <a:extLst>
              <a:ext uri="{FF2B5EF4-FFF2-40B4-BE49-F238E27FC236}">
                <a16:creationId xmlns:a16="http://schemas.microsoft.com/office/drawing/2014/main" id="{1D445B04-5630-FADB-A52F-C02F082ED06B}"/>
              </a:ext>
            </a:extLst>
          </p:cNvPr>
          <p:cNvSpPr/>
          <p:nvPr userDrawn="1"/>
        </p:nvSpPr>
        <p:spPr>
          <a:xfrm rot="16200000">
            <a:off x="341748" y="5093852"/>
            <a:ext cx="1422401" cy="2105894"/>
          </a:xfrm>
          <a:prstGeom prst="halfFrame">
            <a:avLst>
              <a:gd name="adj1" fmla="val 26436"/>
              <a:gd name="adj2" fmla="val 2643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39565755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slideLayout" Target="../slideLayouts/slideLayout31.xml"/><Relationship Id="rId26" Type="http://schemas.openxmlformats.org/officeDocument/2006/relationships/slideLayout" Target="../slideLayouts/slideLayout39.xml"/><Relationship Id="rId3" Type="http://schemas.openxmlformats.org/officeDocument/2006/relationships/slideLayout" Target="../slideLayouts/slideLayout16.xml"/><Relationship Id="rId21" Type="http://schemas.openxmlformats.org/officeDocument/2006/relationships/slideLayout" Target="../slideLayouts/slideLayout34.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5" Type="http://schemas.openxmlformats.org/officeDocument/2006/relationships/slideLayout" Target="../slideLayouts/slideLayout38.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slideLayout" Target="../slideLayouts/slideLayout33.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24" Type="http://schemas.openxmlformats.org/officeDocument/2006/relationships/slideLayout" Target="../slideLayouts/slideLayout37.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23" Type="http://schemas.openxmlformats.org/officeDocument/2006/relationships/slideLayout" Target="../slideLayouts/slideLayout36.xml"/><Relationship Id="rId10" Type="http://schemas.openxmlformats.org/officeDocument/2006/relationships/slideLayout" Target="../slideLayouts/slideLayout23.xml"/><Relationship Id="rId19" Type="http://schemas.openxmlformats.org/officeDocument/2006/relationships/slideLayout" Target="../slideLayouts/slideLayout32.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slideLayout" Target="../slideLayouts/slideLayout35.xml"/><Relationship Id="rId2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3F262E-C592-3212-8CCB-AEDDA5F912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9194FE-F685-D3DD-590A-8AF2F72CE7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D75257-0211-6B81-C931-9164A49704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D088479-BA81-4009-A123-8DEC37C97121}" type="datetimeFigureOut">
              <a:rPr lang="en-US" smtClean="0"/>
              <a:t>6/10/2026</a:t>
            </a:fld>
            <a:endParaRPr lang="en-US"/>
          </a:p>
        </p:txBody>
      </p:sp>
      <p:sp>
        <p:nvSpPr>
          <p:cNvPr id="5" name="Footer Placeholder 4">
            <a:extLst>
              <a:ext uri="{FF2B5EF4-FFF2-40B4-BE49-F238E27FC236}">
                <a16:creationId xmlns:a16="http://schemas.microsoft.com/office/drawing/2014/main" id="{F69724AC-A78E-8FA7-7A44-B7D3D58D12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92A7047-926C-1AB6-C417-8D2D5E13AC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17F33E6-C358-49CC-A210-CD6067814AAB}" type="slidenum">
              <a:rPr lang="en-US" smtClean="0"/>
              <a:t>‹#›</a:t>
            </a:fld>
            <a:endParaRPr lang="en-US"/>
          </a:p>
        </p:txBody>
      </p:sp>
    </p:spTree>
    <p:extLst>
      <p:ext uri="{BB962C8B-B14F-4D97-AF65-F5344CB8AC3E}">
        <p14:creationId xmlns:p14="http://schemas.microsoft.com/office/powerpoint/2010/main" val="14774742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86"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2A91A35-079A-C9FF-D72C-0EDC5BC8C68A}"/>
              </a:ext>
            </a:extLst>
          </p:cNvPr>
          <p:cNvSpPr/>
          <p:nvPr userDrawn="1"/>
        </p:nvSpPr>
        <p:spPr>
          <a:xfrm>
            <a:off x="0" y="6214429"/>
            <a:ext cx="12192000" cy="643572"/>
          </a:xfrm>
          <a:prstGeom prst="rect">
            <a:avLst/>
          </a:prstGeom>
          <a:solidFill>
            <a:srgbClr val="0067A5"/>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33" b="0" i="0">
              <a:latin typeface="Montserrat" pitchFamily="2" charset="77"/>
            </a:endParaRPr>
          </a:p>
        </p:txBody>
      </p:sp>
      <p:sp>
        <p:nvSpPr>
          <p:cNvPr id="2" name="Title Placeholder 1"/>
          <p:cNvSpPr>
            <a:spLocks noGrp="1"/>
          </p:cNvSpPr>
          <p:nvPr>
            <p:ph type="title"/>
          </p:nvPr>
        </p:nvSpPr>
        <p:spPr>
          <a:xfrm>
            <a:off x="414527" y="441960"/>
            <a:ext cx="11375136" cy="609600"/>
          </a:xfrm>
          <a:prstGeom prst="rect">
            <a:avLst/>
          </a:prstGeom>
        </p:spPr>
        <p:txBody>
          <a:bodyPr vert="horz" lIns="0" tIns="45720" rIns="91440" bIns="0" rtlCol="0" anchor="b">
            <a:noAutofit/>
          </a:bodyPr>
          <a:lstStyle/>
          <a:p>
            <a:r>
              <a:rPr lang="en-US"/>
              <a:t>Click to edit Master title style</a:t>
            </a:r>
          </a:p>
        </p:txBody>
      </p:sp>
      <p:sp>
        <p:nvSpPr>
          <p:cNvPr id="3" name="Text Placeholder 2"/>
          <p:cNvSpPr>
            <a:spLocks noGrp="1"/>
          </p:cNvSpPr>
          <p:nvPr>
            <p:ph type="body" idx="1"/>
          </p:nvPr>
        </p:nvSpPr>
        <p:spPr>
          <a:xfrm>
            <a:off x="414528" y="1219201"/>
            <a:ext cx="11375136" cy="4220532"/>
          </a:xfrm>
          <a:prstGeom prst="rect">
            <a:avLst/>
          </a:prstGeom>
        </p:spPr>
        <p:txBody>
          <a:bodyPr vert="horz" lIns="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Blue top line"/>
          <p:cNvSpPr/>
          <p:nvPr userDrawn="1"/>
        </p:nvSpPr>
        <p:spPr>
          <a:xfrm flipV="1">
            <a:off x="0" y="-7257"/>
            <a:ext cx="12192000" cy="97535"/>
          </a:xfrm>
          <a:prstGeom prst="rect">
            <a:avLst/>
          </a:prstGeom>
          <a:solidFill>
            <a:srgbClr val="146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33" b="0" i="0" baseline="0">
              <a:solidFill>
                <a:schemeClr val="tx1"/>
              </a:solidFill>
              <a:latin typeface="Montserrat" pitchFamily="2" charset="77"/>
            </a:endParaRPr>
          </a:p>
        </p:txBody>
      </p:sp>
      <p:sp>
        <p:nvSpPr>
          <p:cNvPr id="17" name="Green top line"/>
          <p:cNvSpPr/>
          <p:nvPr userDrawn="1"/>
        </p:nvSpPr>
        <p:spPr>
          <a:xfrm flipV="1">
            <a:off x="0" y="0"/>
            <a:ext cx="12192000" cy="36576"/>
          </a:xfrm>
          <a:prstGeom prst="rect">
            <a:avLst/>
          </a:prstGeom>
          <a:solidFill>
            <a:srgbClr val="8DC63F"/>
          </a:solidFill>
          <a:ln>
            <a:solidFill>
              <a:srgbClr val="8EBB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33" b="0" i="0" baseline="0">
              <a:solidFill>
                <a:schemeClr val="tx1"/>
              </a:solidFill>
              <a:latin typeface="Montserrat" pitchFamily="2" charset="77"/>
            </a:endParaRPr>
          </a:p>
        </p:txBody>
      </p:sp>
    </p:spTree>
    <p:extLst>
      <p:ext uri="{BB962C8B-B14F-4D97-AF65-F5344CB8AC3E}">
        <p14:creationId xmlns:p14="http://schemas.microsoft.com/office/powerpoint/2010/main" val="9027813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96" r:id="rId24"/>
    <p:sldLayoutId id="2147483697" r:id="rId25"/>
    <p:sldLayoutId id="2147483698" r:id="rId26"/>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ftr="0" dt="0"/>
  <p:txStyles>
    <p:titleStyle>
      <a:lvl1pPr algn="l" defTabSz="609585" rtl="0" eaLnBrk="1" latinLnBrk="0" hangingPunct="1">
        <a:lnSpc>
          <a:spcPct val="90000"/>
        </a:lnSpc>
        <a:spcBef>
          <a:spcPct val="0"/>
        </a:spcBef>
        <a:buNone/>
        <a:defRPr sz="3200" b="0" i="0" kern="1200" baseline="0">
          <a:solidFill>
            <a:srgbClr val="1866AE"/>
          </a:solidFill>
          <a:latin typeface="Montserrat" pitchFamily="2" charset="77"/>
          <a:ea typeface="+mj-ea"/>
          <a:cs typeface="+mj-cs"/>
        </a:defRPr>
      </a:lvl1pPr>
    </p:titleStyle>
    <p:bodyStyle>
      <a:lvl1pPr marL="0" indent="0" algn="l" defTabSz="609585" rtl="0" eaLnBrk="1" latinLnBrk="0" hangingPunct="1">
        <a:spcBef>
          <a:spcPct val="20000"/>
        </a:spcBef>
        <a:buClr>
          <a:schemeClr val="tx2"/>
        </a:buClr>
        <a:buFont typeface="Wingdings" charset="2"/>
        <a:buNone/>
        <a:defRPr sz="2133" b="0" i="0" kern="1200" baseline="0">
          <a:solidFill>
            <a:srgbClr val="000000"/>
          </a:solidFill>
          <a:latin typeface="Montserrat" pitchFamily="2" charset="77"/>
          <a:ea typeface="+mn-ea"/>
          <a:cs typeface="+mn-cs"/>
        </a:defRPr>
      </a:lvl1pPr>
      <a:lvl2pPr marL="365751" indent="-243834" algn="l" defTabSz="609585" rtl="0" eaLnBrk="1" latinLnBrk="0" hangingPunct="1">
        <a:spcBef>
          <a:spcPts val="448"/>
        </a:spcBef>
        <a:buClr>
          <a:schemeClr val="tx2"/>
        </a:buClr>
        <a:buFont typeface="Arial" panose="020B0604020202020204" pitchFamily="34" charset="0"/>
        <a:buChar char="•"/>
        <a:defRPr sz="1867" b="0" i="0" kern="1200" baseline="0">
          <a:solidFill>
            <a:srgbClr val="000000"/>
          </a:solidFill>
          <a:latin typeface="Montserrat" pitchFamily="2" charset="77"/>
          <a:ea typeface="+mn-ea"/>
          <a:cs typeface="+mn-cs"/>
        </a:defRPr>
      </a:lvl2pPr>
      <a:lvl3pPr marL="731502" indent="-243834" algn="l" defTabSz="609585" rtl="0" eaLnBrk="1" latinLnBrk="0" hangingPunct="1">
        <a:spcBef>
          <a:spcPts val="448"/>
        </a:spcBef>
        <a:buClr>
          <a:schemeClr val="tx2"/>
        </a:buClr>
        <a:buFont typeface="Arial" panose="020B0604020202020204" pitchFamily="34" charset="0"/>
        <a:buChar char="•"/>
        <a:defRPr sz="1600" b="0" i="0" kern="1200" baseline="0">
          <a:solidFill>
            <a:srgbClr val="000000"/>
          </a:solidFill>
          <a:latin typeface="Montserrat" pitchFamily="2" charset="77"/>
          <a:ea typeface="+mn-ea"/>
          <a:cs typeface="+mn-cs"/>
        </a:defRPr>
      </a:lvl3pPr>
      <a:lvl4pPr marL="1097253" indent="-243834" algn="l" defTabSz="609585" rtl="0" eaLnBrk="1" latinLnBrk="0" hangingPunct="1">
        <a:spcBef>
          <a:spcPts val="448"/>
        </a:spcBef>
        <a:buClr>
          <a:schemeClr val="tx2"/>
        </a:buClr>
        <a:buFont typeface="Arial" panose="020B0604020202020204" pitchFamily="34" charset="0"/>
        <a:buChar char="•"/>
        <a:defRPr sz="1467" b="0" i="0" kern="1200" baseline="0">
          <a:solidFill>
            <a:srgbClr val="000000"/>
          </a:solidFill>
          <a:latin typeface="Montserrat" pitchFamily="2" charset="77"/>
          <a:ea typeface="+mn-ea"/>
          <a:cs typeface="+mn-cs"/>
        </a:defRPr>
      </a:lvl4pPr>
      <a:lvl5pPr marL="1463003" indent="-243834" algn="l" defTabSz="609585" rtl="0" eaLnBrk="1" latinLnBrk="0" hangingPunct="1">
        <a:spcBef>
          <a:spcPts val="448"/>
        </a:spcBef>
        <a:buClr>
          <a:schemeClr val="tx2"/>
        </a:buClr>
        <a:buFont typeface="Arial" panose="020B0604020202020204" pitchFamily="34" charset="0"/>
        <a:buChar char="•"/>
        <a:defRPr sz="1467" b="0" i="0" kern="1200" baseline="0">
          <a:solidFill>
            <a:srgbClr val="000000"/>
          </a:solidFill>
          <a:latin typeface="Montserrat" pitchFamily="2" charset="77"/>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5760">
          <p15:clr>
            <a:srgbClr val="F26B43"/>
          </p15:clr>
        </p15:guide>
        <p15:guide id="3" pos="190">
          <p15:clr>
            <a:srgbClr val="F26B43"/>
          </p15:clr>
        </p15:guide>
        <p15:guide id="4" pos="1983">
          <p15:clr>
            <a:srgbClr val="F26B43"/>
          </p15:clr>
        </p15:guide>
        <p15:guide id="5" pos="3776">
          <p15:clr>
            <a:srgbClr val="F26B43"/>
          </p15:clr>
        </p15:guide>
        <p15:guide id="6" pos="5569">
          <p15:clr>
            <a:srgbClr val="F26B43"/>
          </p15:clr>
        </p15:guide>
        <p15:guide id="7" orient="horz">
          <p15:clr>
            <a:srgbClr val="F26B43"/>
          </p15:clr>
        </p15:guide>
        <p15:guide id="8" orient="horz" pos="3240">
          <p15:clr>
            <a:srgbClr val="F26B43"/>
          </p15:clr>
        </p15:guide>
        <p15:guide id="9" orient="horz" pos="190">
          <p15:clr>
            <a:srgbClr val="F26B43"/>
          </p15:clr>
        </p15:guide>
        <p15:guide id="10" orient="horz" pos="1158">
          <p15:clr>
            <a:srgbClr val="F26B43"/>
          </p15:clr>
        </p15:guide>
        <p15:guide id="11" orient="horz" pos="2127">
          <p15:clr>
            <a:srgbClr val="F26B43"/>
          </p15:clr>
        </p15:guide>
        <p15:guide id="12" orient="horz" pos="3095">
          <p15:clr>
            <a:srgbClr val="F26B43"/>
          </p15:clr>
        </p15:guide>
        <p15:guide id="13" pos="5376">
          <p15:clr>
            <a:srgbClr val="F26B43"/>
          </p15:clr>
        </p15:guide>
        <p15:guide id="14" orient="horz" pos="5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18.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3" Type="http://schemas.microsoft.com/office/2018/10/relationships/comments" Target="../comments/modernComment_7FFFFFF0_1996B2E2.xml"/><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microsoft.com/office/2018/10/relationships/comments" Target="../comments/modernComment_7FFFFFFE_878C95C.xml"/><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2" Type="http://schemas.microsoft.com/office/2018/10/relationships/comments" Target="../comments/modernComment_11A_1E4CE9D1.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2" Type="http://schemas.microsoft.com/office/2018/10/relationships/comments" Target="../comments/modernComment_7FFFFFFF_36DBBC60.xml"/><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microsoft.com/office/2018/10/relationships/comments" Target="../comments/modernComment_11C_5FAB239F.xml"/><Relationship Id="rId1" Type="http://schemas.openxmlformats.org/officeDocument/2006/relationships/slideLayout" Target="../slideLayouts/slideLayout20.xml"/></Relationships>
</file>

<file path=ppt/slides/_rels/slide40.xml.rels><?xml version="1.0" encoding="UTF-8" standalone="yes"?>
<Relationships xmlns="http://schemas.openxmlformats.org/package/2006/relationships"><Relationship Id="rId3" Type="http://schemas.openxmlformats.org/officeDocument/2006/relationships/image" Target="../media/image33.png"/><Relationship Id="rId2" Type="http://schemas.microsoft.com/office/2018/10/relationships/comments" Target="../comments/modernComment_11B_9EC8F32F.xml"/><Relationship Id="rId1" Type="http://schemas.openxmlformats.org/officeDocument/2006/relationships/slideLayout" Target="../slideLayouts/slideLayout20.xml"/></Relationships>
</file>

<file path=ppt/slides/_rels/slide4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0.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0.xml"/></Relationships>
</file>

<file path=ppt/slides/_rels/slide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0.xml"/></Relationships>
</file>

<file path=ppt/slides/_rels/slide4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8.xml"/></Relationships>
</file>

<file path=ppt/slides/_rels/slide5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7.xml"/></Relationships>
</file>

<file path=ppt/slides/_rels/slide59.xml.rels><?xml version="1.0" encoding="UTF-8" standalone="yes"?>
<Relationships xmlns="http://schemas.openxmlformats.org/package/2006/relationships"><Relationship Id="rId8" Type="http://schemas.openxmlformats.org/officeDocument/2006/relationships/image" Target="../media/image46.svg"/><Relationship Id="rId3" Type="http://schemas.openxmlformats.org/officeDocument/2006/relationships/image" Target="../media/image41.png"/><Relationship Id="rId7" Type="http://schemas.openxmlformats.org/officeDocument/2006/relationships/image" Target="../media/image45.svg"/><Relationship Id="rId2" Type="http://schemas.openxmlformats.org/officeDocument/2006/relationships/notesSlide" Target="../notesSlides/notesSlide4.xml"/><Relationship Id="rId1" Type="http://schemas.openxmlformats.org/officeDocument/2006/relationships/slideLayout" Target="../slideLayouts/slideLayout27.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 Id="rId9" Type="http://schemas.openxmlformats.org/officeDocument/2006/relationships/image" Target="../media/image47.svg"/></Relationships>
</file>

<file path=ppt/slides/_rels/slide6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F2460-6DBE-619C-CA11-2645AAEBFAF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1A08FD6-7E06-AEC4-FC0F-CD07B69918CC}"/>
              </a:ext>
            </a:extLst>
          </p:cNvPr>
          <p:cNvSpPr>
            <a:spLocks noGrp="1"/>
          </p:cNvSpPr>
          <p:nvPr>
            <p:ph type="ctrTitle"/>
          </p:nvPr>
        </p:nvSpPr>
        <p:spPr>
          <a:xfrm>
            <a:off x="244008" y="1270659"/>
            <a:ext cx="11705493" cy="3272557"/>
          </a:xfrm>
        </p:spPr>
        <p:txBody>
          <a:bodyPr/>
          <a:lstStyle/>
          <a:p>
            <a:r>
              <a:rPr lang="en-US" sz="4250">
                <a:latin typeface="Montserrat"/>
              </a:rPr>
              <a:t>Create and Maintain Business Master Data </a:t>
            </a:r>
            <a:br>
              <a:rPr lang="en-US" sz="4250">
                <a:latin typeface="Montserrat"/>
              </a:rPr>
            </a:br>
            <a:r>
              <a:rPr lang="en-US" sz="4250">
                <a:latin typeface="Montserrat"/>
              </a:rPr>
              <a:t>Workshop A-1</a:t>
            </a:r>
            <a:br>
              <a:rPr lang="en-US" sz="4250"/>
            </a:br>
            <a:br>
              <a:rPr lang="en-US" sz="4250">
                <a:latin typeface="Montserrat"/>
              </a:rPr>
            </a:br>
            <a:r>
              <a:rPr lang="en-US" sz="2800" b="1">
                <a:latin typeface="Montserrat"/>
              </a:rPr>
              <a:t>Jose Diaz and Mohanta Das</a:t>
            </a:r>
            <a:br>
              <a:rPr lang="en-US" sz="2800"/>
            </a:br>
            <a:r>
              <a:rPr lang="en-US" sz="2800">
                <a:latin typeface="Montserrat"/>
              </a:rPr>
              <a:t>5/19/26</a:t>
            </a:r>
            <a:endParaRPr lang="en-US" sz="2800" b="1">
              <a:latin typeface="Montserrat"/>
            </a:endParaRPr>
          </a:p>
        </p:txBody>
      </p:sp>
    </p:spTree>
    <p:extLst>
      <p:ext uri="{BB962C8B-B14F-4D97-AF65-F5344CB8AC3E}">
        <p14:creationId xmlns:p14="http://schemas.microsoft.com/office/powerpoint/2010/main" val="38522944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11" name="Google Shape;411;g32789fbb2d8_0_389"/>
          <p:cNvSpPr txBox="1">
            <a:spLocks noGrp="1"/>
          </p:cNvSpPr>
          <p:nvPr>
            <p:ph type="title"/>
          </p:nvPr>
        </p:nvSpPr>
        <p:spPr>
          <a:prstGeom prst="rect">
            <a:avLst/>
          </a:prstGeom>
          <a:noFill/>
          <a:ln>
            <a:noFill/>
          </a:ln>
        </p:spPr>
        <p:txBody>
          <a:bodyPr spcFirstLastPara="1" vert="horz" wrap="square" lIns="0" tIns="60933" rIns="121900" bIns="0" rtlCol="0" anchor="b" anchorCtr="0">
            <a:noAutofit/>
          </a:bodyPr>
          <a:lstStyle/>
          <a:p>
            <a:pPr>
              <a:spcBef>
                <a:spcPts val="0"/>
              </a:spcBef>
              <a:buClr>
                <a:srgbClr val="1866AE"/>
              </a:buClr>
              <a:buSzPts val="3200"/>
            </a:pPr>
            <a:r>
              <a:rPr lang="en-US" sz="3733"/>
              <a:t>Overarching Design Principles</a:t>
            </a:r>
            <a:endParaRPr/>
          </a:p>
        </p:txBody>
      </p:sp>
      <p:sp>
        <p:nvSpPr>
          <p:cNvPr id="410" name="Google Shape;410;g32789fbb2d8_0_389"/>
          <p:cNvSpPr txBox="1">
            <a:spLocks noGrp="1"/>
          </p:cNvSpPr>
          <p:nvPr>
            <p:ph type="sldNum" idx="4294967295"/>
          </p:nvPr>
        </p:nvSpPr>
        <p:spPr>
          <a:xfrm>
            <a:off x="11582400" y="6316133"/>
            <a:ext cx="609600" cy="366184"/>
          </a:xfrm>
          <a:prstGeom prst="rect">
            <a:avLst/>
          </a:prstGeom>
          <a:noFill/>
          <a:ln>
            <a:noFill/>
          </a:ln>
        </p:spPr>
        <p:txBody>
          <a:bodyPr spcFirstLastPara="1" wrap="square" lIns="121900" tIns="60933" rIns="121900" bIns="60933" anchor="b"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US" sz="1067" b="0" i="0" u="none" strike="noStrike" kern="0" cap="none" spc="0" normalizeH="0" baseline="0" noProof="0">
                <a:ln>
                  <a:noFill/>
                </a:ln>
                <a:solidFill>
                  <a:srgbClr val="FFFEFE"/>
                </a:solidFill>
                <a:effectLst/>
                <a:uLnTx/>
                <a:uFillTx/>
                <a:latin typeface="Montserrat"/>
                <a:ea typeface="+mn-ea"/>
                <a:cs typeface="Arial"/>
                <a:sym typeface="Montserrat"/>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a:t>
            </a:fld>
            <a:endParaRPr kumimoji="0" sz="1067" b="0" i="0" u="none" strike="noStrike" kern="0" cap="none" spc="0" normalizeH="0" baseline="0" noProof="0">
              <a:ln>
                <a:noFill/>
              </a:ln>
              <a:solidFill>
                <a:srgbClr val="FFFEFE"/>
              </a:solidFill>
              <a:effectLst/>
              <a:uLnTx/>
              <a:uFillTx/>
              <a:latin typeface="Montserrat"/>
              <a:ea typeface="+mn-ea"/>
              <a:cs typeface="Arial"/>
              <a:sym typeface="Montserrat"/>
            </a:endParaRPr>
          </a:p>
        </p:txBody>
      </p:sp>
      <p:grpSp>
        <p:nvGrpSpPr>
          <p:cNvPr id="14" name="Group 13">
            <a:extLst>
              <a:ext uri="{FF2B5EF4-FFF2-40B4-BE49-F238E27FC236}">
                <a16:creationId xmlns:a16="http://schemas.microsoft.com/office/drawing/2014/main" id="{3ABB7B8B-CC49-D365-0378-CE28117D9C6F}"/>
              </a:ext>
            </a:extLst>
          </p:cNvPr>
          <p:cNvGrpSpPr/>
          <p:nvPr/>
        </p:nvGrpSpPr>
        <p:grpSpPr>
          <a:xfrm>
            <a:off x="190185" y="2929812"/>
            <a:ext cx="5765212" cy="1492901"/>
            <a:chOff x="142638" y="2224199"/>
            <a:chExt cx="4323909" cy="1119676"/>
          </a:xfrm>
        </p:grpSpPr>
        <p:sp>
          <p:nvSpPr>
            <p:cNvPr id="407" name="Google Shape;407;g32789fbb2d8_0_389"/>
            <p:cNvSpPr txBox="1"/>
            <p:nvPr/>
          </p:nvSpPr>
          <p:spPr>
            <a:xfrm>
              <a:off x="1166753" y="2719097"/>
              <a:ext cx="3267641" cy="507946"/>
            </a:xfrm>
            <a:prstGeom prst="rect">
              <a:avLst/>
            </a:prstGeom>
            <a:noFill/>
            <a:ln>
              <a:noFill/>
            </a:ln>
          </p:spPr>
          <p:txBody>
            <a:bodyPr spcFirstLastPara="1" wrap="square" lIns="91433" tIns="45700" rIns="91433" bIns="45700" anchor="t" anchorCtr="0">
              <a:sp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a:pPr>
              <a:r>
                <a:rPr kumimoji="0" lang="en-US" sz="1267" b="0"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Nunito"/>
                </a:rPr>
                <a:t>We will </a:t>
              </a:r>
              <a:r>
                <a:rPr kumimoji="0" lang="en-US" sz="1267" b="1"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Nunito"/>
                </a:rPr>
                <a:t>minimize customizations and keep the core clean</a:t>
              </a:r>
              <a:r>
                <a:rPr kumimoji="0" lang="en-US" sz="1267" b="0"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Nunito"/>
                </a:rPr>
                <a:t> to ease future upgrades, improving agility and scalability.</a:t>
              </a:r>
              <a:endParaRPr kumimoji="0" lang="en-US" sz="1267" b="1"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Arial"/>
              </a:endParaRPr>
            </a:p>
          </p:txBody>
        </p:sp>
        <p:sp>
          <p:nvSpPr>
            <p:cNvPr id="408" name="Google Shape;408;g32789fbb2d8_0_389"/>
            <p:cNvSpPr/>
            <p:nvPr/>
          </p:nvSpPr>
          <p:spPr>
            <a:xfrm>
              <a:off x="1198906" y="2224199"/>
              <a:ext cx="3267641" cy="1119623"/>
            </a:xfrm>
            <a:prstGeom prst="rect">
              <a:avLst/>
            </a:prstGeom>
            <a:noFill/>
            <a:ln w="19050" cap="flat" cmpd="sng">
              <a:solidFill>
                <a:srgbClr val="0067A4"/>
              </a:solidFill>
              <a:prstDash val="solid"/>
              <a:round/>
              <a:headEnd type="none" w="sm" len="sm"/>
              <a:tailEnd type="none" w="sm" len="sm"/>
            </a:ln>
          </p:spPr>
          <p:txBody>
            <a:bodyPr spcFirstLastPara="1" wrap="square" lIns="91433" tIns="91433" rIns="91433" bIns="91433" anchor="t"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a:pPr>
              <a:endParaRPr kumimoji="0" sz="1333" b="0" i="0" u="none" strike="noStrike" kern="0" cap="none" spc="0" normalizeH="0" baseline="0" noProof="0">
                <a:ln>
                  <a:noFill/>
                </a:ln>
                <a:solidFill>
                  <a:srgbClr val="454947"/>
                </a:solidFill>
                <a:effectLst/>
                <a:uLnTx/>
                <a:uFillTx/>
                <a:latin typeface="Nunito"/>
                <a:ea typeface="Nunito"/>
                <a:cs typeface="Nunito"/>
                <a:sym typeface="Nunito"/>
              </a:endParaRPr>
            </a:p>
          </p:txBody>
        </p:sp>
        <p:sp>
          <p:nvSpPr>
            <p:cNvPr id="409" name="Google Shape;409;g32789fbb2d8_0_389"/>
            <p:cNvSpPr/>
            <p:nvPr/>
          </p:nvSpPr>
          <p:spPr>
            <a:xfrm>
              <a:off x="142638" y="2224199"/>
              <a:ext cx="1045800" cy="1119676"/>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45700" rIns="91433" bIns="457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100"/>
                <a:buFontTx/>
                <a:buNone/>
                <a:tabLst/>
                <a:defRPr/>
              </a:pPr>
              <a:endParaRPr kumimoji="0" sz="1467"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6" name="Google Shape;417;g32789fbb2d8_0_389">
              <a:extLst>
                <a:ext uri="{FF2B5EF4-FFF2-40B4-BE49-F238E27FC236}">
                  <a16:creationId xmlns:a16="http://schemas.microsoft.com/office/drawing/2014/main" id="{41D41366-DF01-1768-218C-4C7589718121}"/>
                </a:ext>
              </a:extLst>
            </p:cNvPr>
            <p:cNvSpPr/>
            <p:nvPr/>
          </p:nvSpPr>
          <p:spPr>
            <a:xfrm>
              <a:off x="1188438" y="2233595"/>
              <a:ext cx="3267751" cy="361721"/>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91433" rIns="91433" bIns="91433"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a:pPr>
              <a:r>
                <a:rPr kumimoji="0" lang="en-GB" sz="2133" b="1" i="0" u="none" strike="noStrike" kern="0" cap="none" spc="0" normalizeH="0" baseline="0" noProof="0">
                  <a:ln>
                    <a:noFill/>
                  </a:ln>
                  <a:solidFill>
                    <a:srgbClr val="FFFEFE"/>
                  </a:solidFill>
                  <a:effectLst/>
                  <a:uLnTx/>
                  <a:uFillTx/>
                  <a:latin typeface="Montserrat" panose="00000500000000000000" pitchFamily="2" charset="0"/>
                  <a:ea typeface="Nunito"/>
                  <a:cs typeface="Nunito"/>
                  <a:sym typeface="Nunito"/>
                </a:rPr>
                <a:t>Minimize customizations</a:t>
              </a:r>
              <a:endParaRPr kumimoji="0" sz="2133" b="1" i="0" u="none" strike="noStrike" kern="0" cap="none" spc="0" normalizeH="0" baseline="0" noProof="0">
                <a:ln>
                  <a:noFill/>
                </a:ln>
                <a:solidFill>
                  <a:srgbClr val="FFFEFE"/>
                </a:solidFill>
                <a:effectLst/>
                <a:uLnTx/>
                <a:uFillTx/>
                <a:latin typeface="Montserrat" panose="00000500000000000000" pitchFamily="2" charset="0"/>
                <a:ea typeface="Nunito"/>
                <a:cs typeface="Nunito"/>
                <a:sym typeface="Nunito"/>
              </a:endParaRPr>
            </a:p>
          </p:txBody>
        </p:sp>
        <p:pic>
          <p:nvPicPr>
            <p:cNvPr id="430" name="Google Shape;430;g32789fbb2d8_0_389" descr="Gears outline"/>
            <p:cNvPicPr preferRelativeResize="0"/>
            <p:nvPr/>
          </p:nvPicPr>
          <p:blipFill rotWithShape="1">
            <a:blip r:embed="rId3">
              <a:alphaModFix/>
            </a:blip>
            <a:srcRect/>
            <a:stretch/>
          </p:blipFill>
          <p:spPr>
            <a:xfrm>
              <a:off x="307931" y="2376197"/>
              <a:ext cx="685800" cy="685800"/>
            </a:xfrm>
            <a:prstGeom prst="rect">
              <a:avLst/>
            </a:prstGeom>
            <a:noFill/>
            <a:ln>
              <a:noFill/>
            </a:ln>
          </p:spPr>
        </p:pic>
      </p:grpSp>
      <p:grpSp>
        <p:nvGrpSpPr>
          <p:cNvPr id="11" name="Group 10">
            <a:extLst>
              <a:ext uri="{FF2B5EF4-FFF2-40B4-BE49-F238E27FC236}">
                <a16:creationId xmlns:a16="http://schemas.microsoft.com/office/drawing/2014/main" id="{53B18C77-C996-6AF4-3C3E-7E4E1642FBB4}"/>
              </a:ext>
            </a:extLst>
          </p:cNvPr>
          <p:cNvGrpSpPr/>
          <p:nvPr/>
        </p:nvGrpSpPr>
        <p:grpSpPr>
          <a:xfrm>
            <a:off x="6245601" y="2929813"/>
            <a:ext cx="5764788" cy="1457101"/>
            <a:chOff x="4684200" y="2235351"/>
            <a:chExt cx="4323591" cy="1092826"/>
          </a:xfrm>
        </p:grpSpPr>
        <p:sp>
          <p:nvSpPr>
            <p:cNvPr id="9" name="Google Shape;407;g32789fbb2d8_0_389">
              <a:extLst>
                <a:ext uri="{FF2B5EF4-FFF2-40B4-BE49-F238E27FC236}">
                  <a16:creationId xmlns:a16="http://schemas.microsoft.com/office/drawing/2014/main" id="{9DC1BFDA-BBBE-D3AA-D906-721A4B227937}"/>
                </a:ext>
              </a:extLst>
            </p:cNvPr>
            <p:cNvSpPr txBox="1"/>
            <p:nvPr/>
          </p:nvSpPr>
          <p:spPr>
            <a:xfrm>
              <a:off x="5716044" y="2622413"/>
              <a:ext cx="3267641" cy="654188"/>
            </a:xfrm>
            <a:prstGeom prst="rect">
              <a:avLst/>
            </a:prstGeom>
            <a:noFill/>
            <a:ln>
              <a:noFill/>
            </a:ln>
          </p:spPr>
          <p:txBody>
            <a:bodyPr spcFirstLastPara="1" wrap="square" lIns="91433" tIns="45700" rIns="91433" bIns="45700" anchor="t" anchorCtr="0">
              <a:sp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a:pPr>
              <a:r>
                <a:rPr kumimoji="0" lang="en-US" sz="1267" b="0"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Nunito"/>
                </a:rPr>
                <a:t>Non-SAP applications </a:t>
              </a:r>
              <a:r>
                <a:rPr kumimoji="0" lang="en-US" sz="1267" b="1"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Nunito"/>
                </a:rPr>
                <a:t>will only be considered </a:t>
              </a:r>
              <a:r>
                <a:rPr kumimoji="0" lang="en-US" sz="1267" b="0"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Nunito"/>
                </a:rPr>
                <a:t>if they are considered ‘best of breed’ and are necessary to </a:t>
              </a:r>
              <a:r>
                <a:rPr kumimoji="0" lang="en-US" sz="1267" b="1"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Nunito"/>
                </a:rPr>
                <a:t>enable competitive advantage or meet complex regulatory requirements.</a:t>
              </a:r>
              <a:endParaRPr kumimoji="0" lang="en-US" sz="1267" b="1"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Arial"/>
              </a:endParaRPr>
            </a:p>
          </p:txBody>
        </p:sp>
        <p:sp>
          <p:nvSpPr>
            <p:cNvPr id="10" name="Google Shape;408;g32789fbb2d8_0_389">
              <a:extLst>
                <a:ext uri="{FF2B5EF4-FFF2-40B4-BE49-F238E27FC236}">
                  <a16:creationId xmlns:a16="http://schemas.microsoft.com/office/drawing/2014/main" id="{8F90BB64-A06C-6838-C906-C7141DC97498}"/>
                </a:ext>
              </a:extLst>
            </p:cNvPr>
            <p:cNvSpPr/>
            <p:nvPr/>
          </p:nvSpPr>
          <p:spPr>
            <a:xfrm>
              <a:off x="5740151" y="2242927"/>
              <a:ext cx="3267640" cy="1085250"/>
            </a:xfrm>
            <a:prstGeom prst="rect">
              <a:avLst/>
            </a:prstGeom>
            <a:noFill/>
            <a:ln w="19050" cap="flat" cmpd="sng">
              <a:solidFill>
                <a:srgbClr val="0067A4"/>
              </a:solidFill>
              <a:prstDash val="solid"/>
              <a:round/>
              <a:headEnd type="none" w="sm" len="sm"/>
              <a:tailEnd type="none" w="sm" len="sm"/>
            </a:ln>
          </p:spPr>
          <p:txBody>
            <a:bodyPr spcFirstLastPara="1" wrap="square" lIns="91433" tIns="91433" rIns="91433" bIns="91433" anchor="t"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a:pPr>
              <a:endParaRPr kumimoji="0" sz="1333" b="0" i="0" u="none" strike="noStrike" kern="0" cap="none" spc="0" normalizeH="0" baseline="0" noProof="0">
                <a:ln>
                  <a:noFill/>
                </a:ln>
                <a:solidFill>
                  <a:srgbClr val="454947"/>
                </a:solidFill>
                <a:effectLst/>
                <a:uLnTx/>
                <a:uFillTx/>
                <a:latin typeface="Nunito"/>
                <a:ea typeface="Nunito"/>
                <a:cs typeface="Nunito"/>
                <a:sym typeface="Nunito"/>
              </a:endParaRPr>
            </a:p>
          </p:txBody>
        </p:sp>
        <p:sp>
          <p:nvSpPr>
            <p:cNvPr id="414" name="Google Shape;414;g32789fbb2d8_0_389"/>
            <p:cNvSpPr/>
            <p:nvPr/>
          </p:nvSpPr>
          <p:spPr>
            <a:xfrm>
              <a:off x="4684200" y="2235351"/>
              <a:ext cx="1045800" cy="1092825"/>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45700" rIns="91433" bIns="457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100"/>
                <a:buFontTx/>
                <a:buNone/>
                <a:tabLst/>
                <a:defRPr/>
              </a:pPr>
              <a:endParaRPr kumimoji="0" sz="1467"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8" name="Google Shape;417;g32789fbb2d8_0_389">
              <a:extLst>
                <a:ext uri="{FF2B5EF4-FFF2-40B4-BE49-F238E27FC236}">
                  <a16:creationId xmlns:a16="http://schemas.microsoft.com/office/drawing/2014/main" id="{4589EB17-6120-C3B2-A307-D429542D1035}"/>
                </a:ext>
              </a:extLst>
            </p:cNvPr>
            <p:cNvSpPr/>
            <p:nvPr/>
          </p:nvSpPr>
          <p:spPr>
            <a:xfrm>
              <a:off x="5740040" y="2235351"/>
              <a:ext cx="3267751" cy="361721"/>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91433" rIns="91433" bIns="91433"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a:pPr>
              <a:r>
                <a:rPr kumimoji="0" lang="en-GB" sz="2133" b="1" i="0" u="none" strike="noStrike" kern="0" cap="none" spc="0" normalizeH="0" baseline="0" noProof="0">
                  <a:ln>
                    <a:noFill/>
                  </a:ln>
                  <a:solidFill>
                    <a:srgbClr val="FFFEFE"/>
                  </a:solidFill>
                  <a:effectLst/>
                  <a:uLnTx/>
                  <a:uFillTx/>
                  <a:latin typeface="Montserrat" panose="00000500000000000000" pitchFamily="2" charset="0"/>
                  <a:ea typeface="Nunito"/>
                  <a:cs typeface="Nunito"/>
                  <a:sym typeface="Nunito"/>
                </a:rPr>
                <a:t>‘Best of Breed’ by exception</a:t>
              </a:r>
              <a:endParaRPr kumimoji="0" sz="2133" b="1" i="0" u="none" strike="noStrike" kern="0" cap="none" spc="0" normalizeH="0" baseline="0" noProof="0">
                <a:ln>
                  <a:noFill/>
                </a:ln>
                <a:solidFill>
                  <a:srgbClr val="FFFEFE"/>
                </a:solidFill>
                <a:effectLst/>
                <a:uLnTx/>
                <a:uFillTx/>
                <a:latin typeface="Montserrat" panose="00000500000000000000" pitchFamily="2" charset="0"/>
                <a:ea typeface="Nunito"/>
                <a:cs typeface="Nunito"/>
                <a:sym typeface="Nunito"/>
              </a:endParaRPr>
            </a:p>
          </p:txBody>
        </p:sp>
        <p:pic>
          <p:nvPicPr>
            <p:cNvPr id="431" name="Google Shape;431;g32789fbb2d8_0_389" descr="Clipboard Badge with solid fill"/>
            <p:cNvPicPr preferRelativeResize="0"/>
            <p:nvPr/>
          </p:nvPicPr>
          <p:blipFill rotWithShape="1">
            <a:blip r:embed="rId4">
              <a:alphaModFix/>
            </a:blip>
            <a:srcRect/>
            <a:stretch/>
          </p:blipFill>
          <p:spPr>
            <a:xfrm>
              <a:off x="4857222" y="2376150"/>
              <a:ext cx="685800" cy="685800"/>
            </a:xfrm>
            <a:prstGeom prst="rect">
              <a:avLst/>
            </a:prstGeom>
            <a:noFill/>
            <a:ln>
              <a:noFill/>
            </a:ln>
          </p:spPr>
        </p:pic>
      </p:grpSp>
      <p:grpSp>
        <p:nvGrpSpPr>
          <p:cNvPr id="13" name="Group 12">
            <a:extLst>
              <a:ext uri="{FF2B5EF4-FFF2-40B4-BE49-F238E27FC236}">
                <a16:creationId xmlns:a16="http://schemas.microsoft.com/office/drawing/2014/main" id="{8B17FF38-FB3B-AE05-2E09-63D1AD5DCA28}"/>
              </a:ext>
            </a:extLst>
          </p:cNvPr>
          <p:cNvGrpSpPr/>
          <p:nvPr/>
        </p:nvGrpSpPr>
        <p:grpSpPr>
          <a:xfrm>
            <a:off x="198500" y="1303112"/>
            <a:ext cx="5760893" cy="1494064"/>
            <a:chOff x="148875" y="977333"/>
            <a:chExt cx="4320670" cy="1120548"/>
          </a:xfrm>
        </p:grpSpPr>
        <p:sp>
          <p:nvSpPr>
            <p:cNvPr id="417" name="Google Shape;417;g32789fbb2d8_0_389"/>
            <p:cNvSpPr/>
            <p:nvPr/>
          </p:nvSpPr>
          <p:spPr>
            <a:xfrm>
              <a:off x="1198235" y="1253012"/>
              <a:ext cx="3267750" cy="844638"/>
            </a:xfrm>
            <a:prstGeom prst="rect">
              <a:avLst/>
            </a:prstGeom>
            <a:noFill/>
            <a:ln w="19050" cap="flat" cmpd="sng">
              <a:solidFill>
                <a:srgbClr val="0067A4"/>
              </a:solidFill>
              <a:prstDash val="solid"/>
              <a:round/>
              <a:headEnd type="none" w="sm" len="sm"/>
              <a:tailEnd type="none" w="sm" len="sm"/>
            </a:ln>
          </p:spPr>
          <p:txBody>
            <a:bodyPr spcFirstLastPara="1" wrap="square" lIns="91433" tIns="91433" rIns="91433" bIns="91433" anchor="t"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a:pPr>
              <a:endParaRPr kumimoji="0" sz="1333" b="0" i="0" u="none" strike="noStrike" kern="0" cap="none" spc="0" normalizeH="0" baseline="0" noProof="0">
                <a:ln>
                  <a:noFill/>
                </a:ln>
                <a:solidFill>
                  <a:srgbClr val="454947"/>
                </a:solidFill>
                <a:effectLst/>
                <a:uLnTx/>
                <a:uFillTx/>
                <a:latin typeface="Nunito"/>
                <a:ea typeface="Nunito"/>
                <a:cs typeface="Nunito"/>
                <a:sym typeface="Nunito"/>
              </a:endParaRPr>
            </a:p>
          </p:txBody>
        </p:sp>
        <p:sp>
          <p:nvSpPr>
            <p:cNvPr id="418" name="Google Shape;418;g32789fbb2d8_0_389"/>
            <p:cNvSpPr txBox="1"/>
            <p:nvPr/>
          </p:nvSpPr>
          <p:spPr>
            <a:xfrm>
              <a:off x="1177486" y="1452484"/>
              <a:ext cx="3267579" cy="507946"/>
            </a:xfrm>
            <a:prstGeom prst="rect">
              <a:avLst/>
            </a:prstGeom>
            <a:noFill/>
            <a:ln>
              <a:noFill/>
            </a:ln>
          </p:spPr>
          <p:txBody>
            <a:bodyPr spcFirstLastPara="1" wrap="square" lIns="91433" tIns="45700" rIns="91433" bIns="45700" anchor="t" anchorCtr="0">
              <a:sp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a:pPr>
              <a:r>
                <a:rPr kumimoji="0" lang="en-US" sz="1267" b="0"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Nunito"/>
                </a:rPr>
                <a:t>We will </a:t>
              </a:r>
              <a:r>
                <a:rPr kumimoji="0" lang="en-US" sz="1267" b="1"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Nunito"/>
                </a:rPr>
                <a:t>change and adapt our existing business processes to fit to standard</a:t>
              </a:r>
              <a:r>
                <a:rPr kumimoji="0" lang="en-US" sz="1267" b="0"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Nunito"/>
                </a:rPr>
                <a:t> ‘out of the box’ functionality.</a:t>
              </a:r>
              <a:endParaRPr kumimoji="0" lang="en-US" sz="1267" b="1"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Arial"/>
              </a:endParaRPr>
            </a:p>
          </p:txBody>
        </p:sp>
        <p:sp>
          <p:nvSpPr>
            <p:cNvPr id="4" name="Google Shape;417;g32789fbb2d8_0_389">
              <a:extLst>
                <a:ext uri="{FF2B5EF4-FFF2-40B4-BE49-F238E27FC236}">
                  <a16:creationId xmlns:a16="http://schemas.microsoft.com/office/drawing/2014/main" id="{8D41AEF2-1070-0073-A19C-3DEBFCB3F678}"/>
                </a:ext>
              </a:extLst>
            </p:cNvPr>
            <p:cNvSpPr/>
            <p:nvPr/>
          </p:nvSpPr>
          <p:spPr>
            <a:xfrm>
              <a:off x="1204774" y="977333"/>
              <a:ext cx="3264771" cy="361721"/>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91433" rIns="91433" bIns="91433"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a:pPr>
              <a:r>
                <a:rPr kumimoji="0" lang="en-GB" sz="2133" b="1" i="0" u="none" strike="noStrike" kern="0" cap="none" spc="0" normalizeH="0" baseline="0" noProof="0">
                  <a:ln>
                    <a:noFill/>
                  </a:ln>
                  <a:solidFill>
                    <a:srgbClr val="FFFEFE"/>
                  </a:solidFill>
                  <a:effectLst/>
                  <a:uLnTx/>
                  <a:uFillTx/>
                  <a:latin typeface="Montserrat" panose="00000500000000000000" pitchFamily="2" charset="0"/>
                  <a:ea typeface="Nunito"/>
                  <a:cs typeface="Nunito"/>
                  <a:sym typeface="Nunito"/>
                </a:rPr>
                <a:t>Fit to Standard</a:t>
              </a:r>
              <a:endParaRPr kumimoji="0" sz="2133" b="1" i="0" u="none" strike="noStrike" kern="0" cap="none" spc="0" normalizeH="0" baseline="0" noProof="0">
                <a:ln>
                  <a:noFill/>
                </a:ln>
                <a:solidFill>
                  <a:srgbClr val="FFFEFE"/>
                </a:solidFill>
                <a:effectLst/>
                <a:uLnTx/>
                <a:uFillTx/>
                <a:latin typeface="Montserrat" panose="00000500000000000000" pitchFamily="2" charset="0"/>
                <a:ea typeface="Nunito"/>
                <a:cs typeface="Nunito"/>
                <a:sym typeface="Nunito"/>
              </a:endParaRPr>
            </a:p>
          </p:txBody>
        </p:sp>
        <p:sp>
          <p:nvSpPr>
            <p:cNvPr id="419" name="Google Shape;419;g32789fbb2d8_0_389"/>
            <p:cNvSpPr/>
            <p:nvPr/>
          </p:nvSpPr>
          <p:spPr>
            <a:xfrm>
              <a:off x="148875" y="978056"/>
              <a:ext cx="1045800" cy="1119825"/>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45700" rIns="91433" bIns="457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100"/>
                <a:buFontTx/>
                <a:buNone/>
                <a:tabLst/>
                <a:defRPr/>
              </a:pPr>
              <a:endParaRPr kumimoji="0" sz="1467" b="0" i="0" u="none" strike="noStrike" kern="0" cap="none" spc="0" normalizeH="0" baseline="0" noProof="0">
                <a:ln>
                  <a:noFill/>
                </a:ln>
                <a:solidFill>
                  <a:srgbClr val="FFFFFF"/>
                </a:solidFill>
                <a:effectLst/>
                <a:uLnTx/>
                <a:uFillTx/>
                <a:latin typeface="Arial"/>
                <a:ea typeface="Arial"/>
                <a:cs typeface="Arial"/>
                <a:sym typeface="Arial"/>
              </a:endParaRPr>
            </a:p>
          </p:txBody>
        </p:sp>
        <p:pic>
          <p:nvPicPr>
            <p:cNvPr id="432" name="Google Shape;432;g32789fbb2d8_0_389" descr="Continuous Improvement with solid fill"/>
            <p:cNvPicPr preferRelativeResize="0"/>
            <p:nvPr/>
          </p:nvPicPr>
          <p:blipFill rotWithShape="1">
            <a:blip r:embed="rId5">
              <a:alphaModFix/>
            </a:blip>
            <a:srcRect/>
            <a:stretch/>
          </p:blipFill>
          <p:spPr>
            <a:xfrm>
              <a:off x="228404" y="1115429"/>
              <a:ext cx="844856" cy="844856"/>
            </a:xfrm>
            <a:prstGeom prst="rect">
              <a:avLst/>
            </a:prstGeom>
            <a:noFill/>
            <a:ln>
              <a:noFill/>
            </a:ln>
          </p:spPr>
        </p:pic>
      </p:grpSp>
      <p:grpSp>
        <p:nvGrpSpPr>
          <p:cNvPr id="15" name="Group 14">
            <a:extLst>
              <a:ext uri="{FF2B5EF4-FFF2-40B4-BE49-F238E27FC236}">
                <a16:creationId xmlns:a16="http://schemas.microsoft.com/office/drawing/2014/main" id="{D4C6719C-6455-40CF-7C36-72B0A0B5B873}"/>
              </a:ext>
            </a:extLst>
          </p:cNvPr>
          <p:cNvGrpSpPr/>
          <p:nvPr/>
        </p:nvGrpSpPr>
        <p:grpSpPr>
          <a:xfrm>
            <a:off x="198500" y="4555350"/>
            <a:ext cx="5748579" cy="1525554"/>
            <a:chOff x="148875" y="3416513"/>
            <a:chExt cx="4311434" cy="1144166"/>
          </a:xfrm>
        </p:grpSpPr>
        <p:sp>
          <p:nvSpPr>
            <p:cNvPr id="7" name="Google Shape;417;g32789fbb2d8_0_389">
              <a:extLst>
                <a:ext uri="{FF2B5EF4-FFF2-40B4-BE49-F238E27FC236}">
                  <a16:creationId xmlns:a16="http://schemas.microsoft.com/office/drawing/2014/main" id="{E908B7A6-2C7E-0E4F-24F6-146F9D47ABBB}"/>
                </a:ext>
              </a:extLst>
            </p:cNvPr>
            <p:cNvSpPr/>
            <p:nvPr/>
          </p:nvSpPr>
          <p:spPr>
            <a:xfrm>
              <a:off x="1198236" y="3426722"/>
              <a:ext cx="3246892" cy="361721"/>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91433" rIns="91433" bIns="91433"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a:pPr>
              <a:r>
                <a:rPr kumimoji="0" lang="en-GB" sz="2133" b="1" i="0" u="none" strike="noStrike" kern="0" cap="none" spc="0" normalizeH="0" baseline="0" noProof="0">
                  <a:ln>
                    <a:noFill/>
                  </a:ln>
                  <a:solidFill>
                    <a:srgbClr val="FFFEFE"/>
                  </a:solidFill>
                  <a:effectLst/>
                  <a:uLnTx/>
                  <a:uFillTx/>
                  <a:latin typeface="Montserrat" panose="00000500000000000000" pitchFamily="2" charset="0"/>
                  <a:ea typeface="Nunito"/>
                  <a:cs typeface="Nunito"/>
                  <a:sym typeface="Nunito"/>
                </a:rPr>
                <a:t>Rationalize Applications</a:t>
              </a:r>
              <a:endParaRPr kumimoji="0" sz="2133" b="1" i="0" u="none" strike="noStrike" kern="0" cap="none" spc="0" normalizeH="0" baseline="0" noProof="0">
                <a:ln>
                  <a:noFill/>
                </a:ln>
                <a:solidFill>
                  <a:srgbClr val="FFFEFE"/>
                </a:solidFill>
                <a:effectLst/>
                <a:uLnTx/>
                <a:uFillTx/>
                <a:latin typeface="Montserrat" panose="00000500000000000000" pitchFamily="2" charset="0"/>
                <a:ea typeface="Nunito"/>
                <a:cs typeface="Nunito"/>
                <a:sym typeface="Nunito"/>
              </a:endParaRPr>
            </a:p>
          </p:txBody>
        </p:sp>
        <p:grpSp>
          <p:nvGrpSpPr>
            <p:cNvPr id="421" name="Google Shape;421;g32789fbb2d8_0_389"/>
            <p:cNvGrpSpPr/>
            <p:nvPr/>
          </p:nvGrpSpPr>
          <p:grpSpPr>
            <a:xfrm>
              <a:off x="1187861" y="3416513"/>
              <a:ext cx="3272448" cy="1144166"/>
              <a:chOff x="347967" y="4648260"/>
              <a:chExt cx="5145358" cy="1773900"/>
            </a:xfrm>
          </p:grpSpPr>
          <p:sp>
            <p:nvSpPr>
              <p:cNvPr id="422" name="Google Shape;422;g32789fbb2d8_0_389"/>
              <p:cNvSpPr txBox="1"/>
              <p:nvPr/>
            </p:nvSpPr>
            <p:spPr>
              <a:xfrm>
                <a:off x="347967" y="5411928"/>
                <a:ext cx="5137800" cy="822853"/>
              </a:xfrm>
              <a:prstGeom prst="rect">
                <a:avLst/>
              </a:prstGeom>
              <a:noFill/>
              <a:ln>
                <a:noFill/>
              </a:ln>
            </p:spPr>
            <p:txBody>
              <a:bodyPr spcFirstLastPara="1" wrap="square" lIns="91433" tIns="45700" rIns="91433" bIns="45700" anchor="t" anchorCtr="0">
                <a:sp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a:pPr>
                <a:r>
                  <a:rPr kumimoji="0" lang="en-US" sz="1333" b="0"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Nunito"/>
                  </a:rPr>
                  <a:t>We will </a:t>
                </a:r>
                <a:r>
                  <a:rPr kumimoji="0" lang="en-US" sz="1333" b="1"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Nunito"/>
                  </a:rPr>
                  <a:t>standardize and rationalize our applications</a:t>
                </a:r>
                <a:r>
                  <a:rPr kumimoji="0" lang="en-US" sz="1333" b="0"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Nunito"/>
                  </a:rPr>
                  <a:t> to control costs and reduce the complexity of our IT estate.</a:t>
                </a:r>
                <a:endParaRPr kumimoji="0" lang="en-US" sz="1333" b="1"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Arial"/>
                </a:endParaRPr>
              </a:p>
            </p:txBody>
          </p:sp>
          <p:sp>
            <p:nvSpPr>
              <p:cNvPr id="423" name="Google Shape;423;g32789fbb2d8_0_389"/>
              <p:cNvSpPr/>
              <p:nvPr/>
            </p:nvSpPr>
            <p:spPr>
              <a:xfrm>
                <a:off x="355525" y="4648260"/>
                <a:ext cx="5137800" cy="1773900"/>
              </a:xfrm>
              <a:prstGeom prst="rect">
                <a:avLst/>
              </a:prstGeom>
              <a:noFill/>
              <a:ln w="19050" cap="flat" cmpd="sng">
                <a:solidFill>
                  <a:srgbClr val="0067A4"/>
                </a:solidFill>
                <a:prstDash val="solid"/>
                <a:round/>
                <a:headEnd type="none" w="sm" len="sm"/>
                <a:tailEnd type="none" w="sm" len="sm"/>
              </a:ln>
            </p:spPr>
            <p:txBody>
              <a:bodyPr spcFirstLastPara="1" wrap="square" lIns="91433" tIns="91433" rIns="91433" bIns="91433" anchor="t"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a:pPr>
                <a:endParaRPr kumimoji="0" sz="1333" b="0" i="0" u="none" strike="noStrike" kern="0" cap="none" spc="0" normalizeH="0" baseline="0" noProof="0">
                  <a:ln>
                    <a:noFill/>
                  </a:ln>
                  <a:solidFill>
                    <a:srgbClr val="454947"/>
                  </a:solidFill>
                  <a:effectLst/>
                  <a:uLnTx/>
                  <a:uFillTx/>
                  <a:latin typeface="Nunito"/>
                  <a:ea typeface="Nunito"/>
                  <a:cs typeface="Nunito"/>
                  <a:sym typeface="Nunito"/>
                </a:endParaRPr>
              </a:p>
            </p:txBody>
          </p:sp>
        </p:grpSp>
        <p:sp>
          <p:nvSpPr>
            <p:cNvPr id="424" name="Google Shape;424;g32789fbb2d8_0_389"/>
            <p:cNvSpPr/>
            <p:nvPr/>
          </p:nvSpPr>
          <p:spPr>
            <a:xfrm>
              <a:off x="148875" y="3416554"/>
              <a:ext cx="1045800" cy="1144125"/>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45700" rIns="91433" bIns="457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100"/>
                <a:buFontTx/>
                <a:buNone/>
                <a:tabLst/>
                <a:defRPr/>
              </a:pPr>
              <a:endParaRPr kumimoji="0" sz="1467" b="0" i="0" u="none" strike="noStrike" kern="0" cap="none" spc="0" normalizeH="0" baseline="0" noProof="0">
                <a:ln>
                  <a:noFill/>
                </a:ln>
                <a:solidFill>
                  <a:srgbClr val="FFFFFF"/>
                </a:solidFill>
                <a:effectLst/>
                <a:uLnTx/>
                <a:uFillTx/>
                <a:latin typeface="Arial"/>
                <a:ea typeface="Arial"/>
                <a:cs typeface="Arial"/>
                <a:sym typeface="Arial"/>
              </a:endParaRPr>
            </a:p>
          </p:txBody>
        </p:sp>
        <p:pic>
          <p:nvPicPr>
            <p:cNvPr id="433" name="Google Shape;433;g32789fbb2d8_0_389" descr="Money outline"/>
            <p:cNvPicPr preferRelativeResize="0"/>
            <p:nvPr/>
          </p:nvPicPr>
          <p:blipFill rotWithShape="1">
            <a:blip r:embed="rId6">
              <a:alphaModFix/>
            </a:blip>
            <a:srcRect/>
            <a:stretch/>
          </p:blipFill>
          <p:spPr>
            <a:xfrm>
              <a:off x="307939" y="3645694"/>
              <a:ext cx="685800" cy="685800"/>
            </a:xfrm>
            <a:prstGeom prst="rect">
              <a:avLst/>
            </a:prstGeom>
            <a:noFill/>
            <a:ln>
              <a:noFill/>
            </a:ln>
          </p:spPr>
        </p:pic>
      </p:grpSp>
      <p:grpSp>
        <p:nvGrpSpPr>
          <p:cNvPr id="12" name="Group 11">
            <a:extLst>
              <a:ext uri="{FF2B5EF4-FFF2-40B4-BE49-F238E27FC236}">
                <a16:creationId xmlns:a16="http://schemas.microsoft.com/office/drawing/2014/main" id="{969167DF-ADB3-8FF2-3AAB-69488302EF59}"/>
              </a:ext>
            </a:extLst>
          </p:cNvPr>
          <p:cNvGrpSpPr/>
          <p:nvPr/>
        </p:nvGrpSpPr>
        <p:grpSpPr>
          <a:xfrm>
            <a:off x="6245605" y="1303111"/>
            <a:ext cx="5767129" cy="1493460"/>
            <a:chOff x="4684203" y="977915"/>
            <a:chExt cx="4325347" cy="1120095"/>
          </a:xfrm>
        </p:grpSpPr>
        <p:sp>
          <p:nvSpPr>
            <p:cNvPr id="427" name="Google Shape;427;g32789fbb2d8_0_389"/>
            <p:cNvSpPr/>
            <p:nvPr/>
          </p:nvSpPr>
          <p:spPr>
            <a:xfrm>
              <a:off x="5729941" y="977972"/>
              <a:ext cx="3277850" cy="1120038"/>
            </a:xfrm>
            <a:prstGeom prst="rect">
              <a:avLst/>
            </a:prstGeom>
            <a:noFill/>
            <a:ln w="19050" cap="flat" cmpd="sng">
              <a:solidFill>
                <a:srgbClr val="007FBF"/>
              </a:solidFill>
              <a:prstDash val="solid"/>
              <a:round/>
              <a:headEnd type="none" w="sm" len="sm"/>
              <a:tailEnd type="none" w="sm" len="sm"/>
            </a:ln>
          </p:spPr>
          <p:txBody>
            <a:bodyPr spcFirstLastPara="1" wrap="square" lIns="91433" tIns="91433" rIns="91433" bIns="91433" anchor="t"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a:pPr>
              <a:endParaRPr kumimoji="0" sz="1333" b="0" i="0" u="none" strike="noStrike" kern="0" cap="none" spc="0" normalizeH="0" baseline="0" noProof="0">
                <a:ln>
                  <a:noFill/>
                </a:ln>
                <a:solidFill>
                  <a:srgbClr val="454947"/>
                </a:solidFill>
                <a:effectLst/>
                <a:uLnTx/>
                <a:uFillTx/>
                <a:latin typeface="Nunito"/>
                <a:ea typeface="Nunito"/>
                <a:cs typeface="Nunito"/>
                <a:sym typeface="Nunito"/>
              </a:endParaRPr>
            </a:p>
          </p:txBody>
        </p:sp>
        <p:sp>
          <p:nvSpPr>
            <p:cNvPr id="428" name="Google Shape;428;g32789fbb2d8_0_389"/>
            <p:cNvSpPr txBox="1"/>
            <p:nvPr/>
          </p:nvSpPr>
          <p:spPr>
            <a:xfrm>
              <a:off x="5741909" y="1517563"/>
              <a:ext cx="3267641" cy="361703"/>
            </a:xfrm>
            <a:prstGeom prst="rect">
              <a:avLst/>
            </a:prstGeom>
            <a:noFill/>
            <a:ln>
              <a:noFill/>
            </a:ln>
          </p:spPr>
          <p:txBody>
            <a:bodyPr spcFirstLastPara="1" wrap="square" lIns="91433" tIns="45700" rIns="91433" bIns="45700" anchor="t" anchorCtr="0">
              <a:sp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a:pPr>
              <a:r>
                <a:rPr kumimoji="0" lang="en-US" sz="1267" b="0"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Nunito"/>
                </a:rPr>
                <a:t>We will adopt an “</a:t>
              </a:r>
              <a:r>
                <a:rPr kumimoji="0" lang="en-US" sz="1267" b="1"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Nunito"/>
                </a:rPr>
                <a:t>SAP first” strategy </a:t>
              </a:r>
              <a:r>
                <a:rPr kumimoji="0" lang="en-US" sz="1267" b="0"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Nunito"/>
                </a:rPr>
                <a:t>with all financial and operational data housed within SAP. </a:t>
              </a:r>
              <a:endParaRPr kumimoji="0" lang="en-US" sz="1267" b="1"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Arial"/>
              </a:endParaRPr>
            </a:p>
          </p:txBody>
        </p:sp>
        <p:sp>
          <p:nvSpPr>
            <p:cNvPr id="429" name="Google Shape;429;g32789fbb2d8_0_389"/>
            <p:cNvSpPr/>
            <p:nvPr/>
          </p:nvSpPr>
          <p:spPr>
            <a:xfrm>
              <a:off x="4684203" y="977915"/>
              <a:ext cx="1045800" cy="1120022"/>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45700" rIns="91433" bIns="457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100"/>
                <a:buFontTx/>
                <a:buNone/>
                <a:tabLst/>
                <a:defRPr/>
              </a:pPr>
              <a:endParaRPr kumimoji="0" sz="1467"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434" name="Google Shape;434;g32789fbb2d8_0_389"/>
            <p:cNvSpPr/>
            <p:nvPr/>
          </p:nvSpPr>
          <p:spPr>
            <a:xfrm>
              <a:off x="4749900" y="1046925"/>
              <a:ext cx="900600" cy="981900"/>
            </a:xfrm>
            <a:prstGeom prst="rect">
              <a:avLst/>
            </a:prstGeom>
            <a:solidFill>
              <a:schemeClr val="lt1"/>
            </a:solidFill>
            <a:ln>
              <a:noFill/>
            </a:ln>
          </p:spPr>
          <p:txBody>
            <a:bodyPr spcFirstLastPara="1" wrap="square" lIns="91433" tIns="91433" rIns="91433" bIns="91433"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100"/>
                <a:buFontTx/>
                <a:buNone/>
                <a:tabLst/>
                <a:defRPr/>
              </a:pPr>
              <a:endParaRPr kumimoji="0" sz="1467" b="0" i="0" u="none" strike="noStrike" kern="0" cap="none" spc="0" normalizeH="0" baseline="0" noProof="0">
                <a:ln>
                  <a:noFill/>
                </a:ln>
                <a:solidFill>
                  <a:srgbClr val="000000"/>
                </a:solidFill>
                <a:effectLst/>
                <a:uLnTx/>
                <a:uFillTx/>
                <a:latin typeface="Nunito Sans Light"/>
                <a:ea typeface="Nunito Sans Light"/>
                <a:cs typeface="Nunito Sans Light"/>
                <a:sym typeface="Nunito Sans Light"/>
              </a:endParaRPr>
            </a:p>
          </p:txBody>
        </p:sp>
        <p:pic>
          <p:nvPicPr>
            <p:cNvPr id="435" name="Google Shape;435;g32789fbb2d8_0_389"/>
            <p:cNvPicPr preferRelativeResize="0"/>
            <p:nvPr/>
          </p:nvPicPr>
          <p:blipFill rotWithShape="1">
            <a:blip r:embed="rId7">
              <a:alphaModFix/>
            </a:blip>
            <a:srcRect/>
            <a:stretch/>
          </p:blipFill>
          <p:spPr>
            <a:xfrm>
              <a:off x="4841309" y="1360378"/>
              <a:ext cx="717640" cy="354963"/>
            </a:xfrm>
            <a:prstGeom prst="rect">
              <a:avLst/>
            </a:prstGeom>
            <a:noFill/>
            <a:ln>
              <a:noFill/>
            </a:ln>
          </p:spPr>
        </p:pic>
        <p:sp>
          <p:nvSpPr>
            <p:cNvPr id="5" name="Google Shape;417;g32789fbb2d8_0_389">
              <a:extLst>
                <a:ext uri="{FF2B5EF4-FFF2-40B4-BE49-F238E27FC236}">
                  <a16:creationId xmlns:a16="http://schemas.microsoft.com/office/drawing/2014/main" id="{7C3A552F-1141-4B0A-0498-135B5978438F}"/>
                </a:ext>
              </a:extLst>
            </p:cNvPr>
            <p:cNvSpPr/>
            <p:nvPr/>
          </p:nvSpPr>
          <p:spPr>
            <a:xfrm>
              <a:off x="5740040" y="988165"/>
              <a:ext cx="3267751" cy="361721"/>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91433" rIns="91433" bIns="91433"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a:pPr>
              <a:r>
                <a:rPr kumimoji="0" lang="en-GB" sz="2133" b="1" i="0" u="none" strike="noStrike" kern="0" cap="none" spc="0" normalizeH="0" baseline="0" noProof="0">
                  <a:ln>
                    <a:noFill/>
                  </a:ln>
                  <a:solidFill>
                    <a:srgbClr val="FFFEFE"/>
                  </a:solidFill>
                  <a:effectLst/>
                  <a:uLnTx/>
                  <a:uFillTx/>
                  <a:latin typeface="Montserrat" panose="00000500000000000000" pitchFamily="2" charset="0"/>
                  <a:ea typeface="Nunito"/>
                  <a:cs typeface="Nunito"/>
                  <a:sym typeface="Nunito"/>
                </a:rPr>
                <a:t>SAP First</a:t>
              </a:r>
              <a:endParaRPr kumimoji="0" sz="2133" b="1" i="0" u="none" strike="noStrike" kern="0" cap="none" spc="0" normalizeH="0" baseline="0" noProof="0">
                <a:ln>
                  <a:noFill/>
                </a:ln>
                <a:solidFill>
                  <a:srgbClr val="FFFEFE"/>
                </a:solidFill>
                <a:effectLst/>
                <a:uLnTx/>
                <a:uFillTx/>
                <a:latin typeface="Montserrat" panose="00000500000000000000" pitchFamily="2" charset="0"/>
                <a:ea typeface="Nunito"/>
                <a:cs typeface="Nunito"/>
                <a:sym typeface="Nunito"/>
              </a:endParaRPr>
            </a:p>
          </p:txBody>
        </p:sp>
      </p:grpSp>
    </p:spTree>
    <p:extLst>
      <p:ext uri="{BB962C8B-B14F-4D97-AF65-F5344CB8AC3E}">
        <p14:creationId xmlns:p14="http://schemas.microsoft.com/office/powerpoint/2010/main" val="18480203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0E6A8-5C35-7351-DB79-97BFAAA225E3}"/>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4CC7DFAC-34D3-91D3-2C54-3811D96D4D08}"/>
              </a:ext>
            </a:extLst>
          </p:cNvPr>
          <p:cNvSpPr>
            <a:spLocks noGrp="1"/>
          </p:cNvSpPr>
          <p:nvPr>
            <p:ph type="body" sz="quarter" idx="4294967295"/>
          </p:nvPr>
        </p:nvSpPr>
        <p:spPr>
          <a:xfrm>
            <a:off x="425217" y="332997"/>
            <a:ext cx="7615238" cy="457200"/>
          </a:xfrm>
        </p:spPr>
        <p:txBody>
          <a:bodyPr vert="horz" lIns="0" tIns="45720" rIns="91440" bIns="0" rtlCol="0" anchor="b">
            <a:noAutofit/>
          </a:bodyPr>
          <a:lstStyle/>
          <a:p>
            <a:pPr>
              <a:lnSpc>
                <a:spcPct val="90000"/>
              </a:lnSpc>
              <a:spcBef>
                <a:spcPct val="0"/>
              </a:spcBef>
            </a:pPr>
            <a:r>
              <a:rPr lang="en-US" sz="3200" b="1">
                <a:solidFill>
                  <a:srgbClr val="94806E"/>
                </a:solidFill>
                <a:latin typeface="Montserrat"/>
                <a:ea typeface="+mj-ea"/>
                <a:cs typeface="+mj-cs"/>
              </a:rPr>
              <a:t>Workshop Agenda*</a:t>
            </a:r>
            <a:endParaRPr lang="en-US" sz="3200" b="1">
              <a:solidFill>
                <a:srgbClr val="94806E"/>
              </a:solidFill>
              <a:ea typeface="+mj-ea"/>
              <a:cs typeface="+mj-cs"/>
            </a:endParaRPr>
          </a:p>
        </p:txBody>
      </p:sp>
      <p:sp>
        <p:nvSpPr>
          <p:cNvPr id="125" name="Text Placeholder 5">
            <a:extLst>
              <a:ext uri="{FF2B5EF4-FFF2-40B4-BE49-F238E27FC236}">
                <a16:creationId xmlns:a16="http://schemas.microsoft.com/office/drawing/2014/main" id="{84DDF3AB-9E71-B162-93B6-96C48461F019}"/>
              </a:ext>
            </a:extLst>
          </p:cNvPr>
          <p:cNvSpPr txBox="1">
            <a:spLocks/>
          </p:cNvSpPr>
          <p:nvPr/>
        </p:nvSpPr>
        <p:spPr>
          <a:xfrm>
            <a:off x="878971" y="952073"/>
            <a:ext cx="1105573" cy="194444"/>
          </a:xfrm>
          <a:prstGeom prst="rect">
            <a:avLst/>
          </a:prstGeom>
        </p:spPr>
        <p:txBody>
          <a:bodyPr lIns="0" tIns="0" rIns="0" bIns="0" anchor="b"/>
          <a:lstStyle>
            <a:lvl1pPr marL="0" indent="0" algn="l" defTabSz="777240" rtl="0" eaLnBrk="1" latinLnBrk="0" hangingPunct="1">
              <a:lnSpc>
                <a:spcPct val="90000"/>
              </a:lnSpc>
              <a:spcBef>
                <a:spcPts val="600"/>
              </a:spcBef>
              <a:buFont typeface="Arial" panose="020B0604020202020204" pitchFamily="34" charset="0"/>
              <a:buNone/>
              <a:defRPr sz="1000" b="0" i="0" kern="1200">
                <a:solidFill>
                  <a:schemeClr val="tx1"/>
                </a:solidFill>
                <a:latin typeface="IBM Plex Sans" panose="020B0503050000000000" pitchFamily="34" charset="77"/>
                <a:ea typeface="+mn-ea"/>
                <a:cs typeface="+mn-cs"/>
              </a:defRPr>
            </a:lvl1pPr>
            <a:lvl2pPr marL="388620" indent="0" algn="l" defTabSz="777240" rtl="0" eaLnBrk="1" latinLnBrk="0" hangingPunct="1">
              <a:lnSpc>
                <a:spcPct val="90000"/>
              </a:lnSpc>
              <a:spcBef>
                <a:spcPts val="600"/>
              </a:spcBef>
              <a:buFont typeface="Arial" panose="020B0604020202020204" pitchFamily="34" charset="0"/>
              <a:buNone/>
              <a:defRPr sz="1000" b="0" i="0" kern="1200">
                <a:solidFill>
                  <a:schemeClr val="tx1"/>
                </a:solidFill>
                <a:latin typeface="IBM Plex Sans" panose="020B0503050000000000" pitchFamily="34" charset="77"/>
                <a:ea typeface="+mn-ea"/>
                <a:cs typeface="+mn-cs"/>
              </a:defRPr>
            </a:lvl2pPr>
            <a:lvl3pPr marL="777240" indent="0" algn="l" defTabSz="777240" rtl="0" eaLnBrk="1" latinLnBrk="0" hangingPunct="1">
              <a:lnSpc>
                <a:spcPct val="90000"/>
              </a:lnSpc>
              <a:spcBef>
                <a:spcPts val="600"/>
              </a:spcBef>
              <a:buFont typeface="Arial" panose="020B0604020202020204" pitchFamily="34" charset="0"/>
              <a:buNone/>
              <a:defRPr sz="1000" b="0" i="0" kern="1200">
                <a:solidFill>
                  <a:schemeClr val="tx1"/>
                </a:solidFill>
                <a:latin typeface="IBM Plex Sans" panose="020B0503050000000000" pitchFamily="34" charset="77"/>
                <a:ea typeface="+mn-ea"/>
                <a:cs typeface="+mn-cs"/>
              </a:defRPr>
            </a:lvl3pPr>
            <a:lvl4pPr marL="1165860" indent="0" algn="l" defTabSz="777240" rtl="0" eaLnBrk="1" latinLnBrk="0" hangingPunct="1">
              <a:lnSpc>
                <a:spcPct val="90000"/>
              </a:lnSpc>
              <a:spcBef>
                <a:spcPts val="600"/>
              </a:spcBef>
              <a:buFont typeface="Arial" panose="020B0604020202020204" pitchFamily="34" charset="0"/>
              <a:buNone/>
              <a:defRPr sz="1000" b="0" i="0" kern="1200">
                <a:solidFill>
                  <a:schemeClr val="tx1"/>
                </a:solidFill>
                <a:latin typeface="IBM Plex Sans" panose="020B0503050000000000" pitchFamily="34" charset="77"/>
                <a:ea typeface="+mn-ea"/>
                <a:cs typeface="+mn-cs"/>
              </a:defRPr>
            </a:lvl4pPr>
            <a:lvl5pPr marL="1554480" indent="0" algn="l" defTabSz="777240" rtl="0" eaLnBrk="1" latinLnBrk="0" hangingPunct="1">
              <a:lnSpc>
                <a:spcPct val="90000"/>
              </a:lnSpc>
              <a:spcBef>
                <a:spcPts val="600"/>
              </a:spcBef>
              <a:buFont typeface="Arial" panose="020B0604020202020204" pitchFamily="34" charset="0"/>
              <a:buNone/>
              <a:defRPr sz="1000" b="0" i="0" kern="1200">
                <a:solidFill>
                  <a:schemeClr val="tx1"/>
                </a:solidFill>
                <a:latin typeface="IBM Plex Sans" panose="020B0503050000000000" pitchFamily="34" charset="77"/>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a:lstStyle>
          <a:p>
            <a:pPr marL="0" marR="0" lvl="0" indent="0" algn="l" defTabSz="647674" rtl="0" eaLnBrk="1" fontAlgn="auto" latinLnBrk="0" hangingPunct="1">
              <a:lnSpc>
                <a:spcPct val="100000"/>
              </a:lnSpc>
              <a:spcBef>
                <a:spcPts val="500"/>
              </a:spcBef>
              <a:spcAft>
                <a:spcPts val="0"/>
              </a:spcAft>
              <a:buClrTx/>
              <a:buSzTx/>
              <a:buFont typeface="Arial" panose="020B0604020202020204" pitchFamily="34" charset="0"/>
              <a:buNone/>
              <a:tabLst/>
              <a:defRPr/>
            </a:pPr>
            <a:r>
              <a:rPr kumimoji="0" lang="en-US" sz="1200" b="0" i="0" u="none" strike="noStrike" kern="1200" cap="none" spc="250" normalizeH="0" baseline="0" noProof="0">
                <a:ln>
                  <a:noFill/>
                </a:ln>
                <a:solidFill>
                  <a:srgbClr val="000000">
                    <a:lumMod val="75000"/>
                    <a:lumOff val="25000"/>
                  </a:srgbClr>
                </a:solidFill>
                <a:effectLst/>
                <a:uLnTx/>
                <a:uFillTx/>
                <a:latin typeface="Montserrat" pitchFamily="2" charset="77"/>
                <a:ea typeface="+mn-ea"/>
                <a:cs typeface="+mn-cs"/>
              </a:rPr>
              <a:t>TOPIC</a:t>
            </a:r>
          </a:p>
        </p:txBody>
      </p:sp>
      <p:cxnSp>
        <p:nvCxnSpPr>
          <p:cNvPr id="142" name="Straight Connector 141">
            <a:extLst>
              <a:ext uri="{FF2B5EF4-FFF2-40B4-BE49-F238E27FC236}">
                <a16:creationId xmlns:a16="http://schemas.microsoft.com/office/drawing/2014/main" id="{CAF3347E-7396-B26D-772C-4D59FBA7AC07}"/>
              </a:ext>
            </a:extLst>
          </p:cNvPr>
          <p:cNvCxnSpPr>
            <a:cxnSpLocks/>
          </p:cNvCxnSpPr>
          <p:nvPr/>
        </p:nvCxnSpPr>
        <p:spPr>
          <a:xfrm>
            <a:off x="796190" y="1221248"/>
            <a:ext cx="10479474" cy="0"/>
          </a:xfrm>
          <a:prstGeom prst="line">
            <a:avLst/>
          </a:prstGeom>
          <a:noFill/>
          <a:ln w="38100" cap="flat" cmpd="sng" algn="ctr">
            <a:solidFill>
              <a:schemeClr val="tx2"/>
            </a:solidFill>
            <a:prstDash val="solid"/>
            <a:miter lim="800000"/>
          </a:ln>
          <a:effectLst/>
        </p:spPr>
      </p:cxnSp>
      <p:cxnSp>
        <p:nvCxnSpPr>
          <p:cNvPr id="143" name="Straight Connector 142">
            <a:extLst>
              <a:ext uri="{FF2B5EF4-FFF2-40B4-BE49-F238E27FC236}">
                <a16:creationId xmlns:a16="http://schemas.microsoft.com/office/drawing/2014/main" id="{B3A62A1C-E4DA-E643-660B-BB82D7B9774C}"/>
              </a:ext>
            </a:extLst>
          </p:cNvPr>
          <p:cNvCxnSpPr>
            <a:cxnSpLocks/>
          </p:cNvCxnSpPr>
          <p:nvPr/>
        </p:nvCxnSpPr>
        <p:spPr>
          <a:xfrm>
            <a:off x="744629" y="1656931"/>
            <a:ext cx="10489921" cy="0"/>
          </a:xfrm>
          <a:prstGeom prst="line">
            <a:avLst/>
          </a:prstGeom>
          <a:noFill/>
          <a:ln w="12700" cap="flat" cmpd="sng" algn="ctr">
            <a:solidFill>
              <a:schemeClr val="tx2"/>
            </a:solidFill>
            <a:prstDash val="solid"/>
            <a:miter lim="800000"/>
          </a:ln>
          <a:effectLst/>
        </p:spPr>
      </p:cxnSp>
      <p:cxnSp>
        <p:nvCxnSpPr>
          <p:cNvPr id="151" name="Straight Connector 150">
            <a:extLst>
              <a:ext uri="{FF2B5EF4-FFF2-40B4-BE49-F238E27FC236}">
                <a16:creationId xmlns:a16="http://schemas.microsoft.com/office/drawing/2014/main" id="{3F14BB83-26F6-F81B-257F-AB1BDE8BC505}"/>
              </a:ext>
            </a:extLst>
          </p:cNvPr>
          <p:cNvCxnSpPr>
            <a:cxnSpLocks/>
          </p:cNvCxnSpPr>
          <p:nvPr/>
        </p:nvCxnSpPr>
        <p:spPr>
          <a:xfrm>
            <a:off x="744629" y="4079099"/>
            <a:ext cx="10479474" cy="0"/>
          </a:xfrm>
          <a:prstGeom prst="line">
            <a:avLst/>
          </a:prstGeom>
          <a:noFill/>
          <a:ln w="12700" cap="flat" cmpd="sng" algn="ctr">
            <a:solidFill>
              <a:schemeClr val="tx2"/>
            </a:solidFill>
            <a:prstDash val="solid"/>
            <a:miter lim="800000"/>
          </a:ln>
          <a:effectLst/>
        </p:spPr>
      </p:cxnSp>
      <p:sp>
        <p:nvSpPr>
          <p:cNvPr id="4" name="Text Placeholder 7">
            <a:extLst>
              <a:ext uri="{FF2B5EF4-FFF2-40B4-BE49-F238E27FC236}">
                <a16:creationId xmlns:a16="http://schemas.microsoft.com/office/drawing/2014/main" id="{0754A7B2-5729-37BA-4CC5-BFF820B38880}"/>
              </a:ext>
            </a:extLst>
          </p:cNvPr>
          <p:cNvSpPr txBox="1">
            <a:spLocks/>
          </p:cNvSpPr>
          <p:nvPr/>
        </p:nvSpPr>
        <p:spPr>
          <a:xfrm>
            <a:off x="744629" y="1649212"/>
            <a:ext cx="799704" cy="479019"/>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3200" b="0" i="0" kern="1200">
                <a:solidFill>
                  <a:schemeClr val="tx2"/>
                </a:solidFill>
                <a:latin typeface="+mj-lt"/>
                <a:ea typeface="+mn-ea"/>
                <a:cs typeface="+mn-cs"/>
              </a:defRPr>
            </a:lvl1pPr>
            <a:lvl2pPr marL="457200" indent="-228600" algn="l" defTabSz="914400" rtl="0" eaLnBrk="1" latinLnBrk="0" hangingPunct="1">
              <a:lnSpc>
                <a:spcPct val="100000"/>
              </a:lnSpc>
              <a:spcBef>
                <a:spcPts val="0"/>
              </a:spcBef>
              <a:spcAft>
                <a:spcPts val="300"/>
              </a:spcAft>
              <a:buFont typeface="Arial" panose="020B0604020202020204" pitchFamily="34" charset="0"/>
              <a:buChar char="–"/>
              <a:defRPr sz="1600" b="0" i="0" kern="1200">
                <a:solidFill>
                  <a:srgbClr val="00174C"/>
                </a:solidFill>
                <a:latin typeface="IBM Plex Sans Light" panose="020B0403050203000203" pitchFamily="34" charset="0"/>
                <a:ea typeface="+mn-ea"/>
                <a:cs typeface="+mn-cs"/>
              </a:defRPr>
            </a:lvl2pPr>
            <a:lvl3pPr marL="685800" indent="-228600"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rgbClr val="00174C"/>
                </a:solidFill>
                <a:latin typeface="IBM Plex Sans Light" panose="020B0403050203000203" pitchFamily="34" charset="0"/>
                <a:ea typeface="+mn-ea"/>
                <a:cs typeface="+mn-cs"/>
              </a:defRPr>
            </a:lvl3pPr>
            <a:lvl4pPr marL="914400" indent="-228600"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rgbClr val="00174C"/>
                </a:solidFill>
                <a:latin typeface="IBM Plex Sans Light" panose="020B0403050203000203" pitchFamily="34" charset="0"/>
                <a:ea typeface="+mn-ea"/>
                <a:cs typeface="+mn-cs"/>
              </a:defRPr>
            </a:lvl4pPr>
            <a:lvl5pPr marL="1143000" indent="-228600"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rgbClr val="00174C"/>
                </a:solidFill>
                <a:latin typeface="IBM Plex Sans Light" panose="020B0403050203000203" pitchFamily="34" charset="0"/>
                <a:ea typeface="+mn-ea"/>
                <a:cs typeface="+mn-cs"/>
              </a:defRPr>
            </a:lvl5pPr>
            <a:lvl6pPr marL="10795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6pPr>
            <a:lvl7pPr marL="126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7pPr>
            <a:lvl8pPr marL="144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8pPr>
            <a:lvl9pPr marL="162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2400" b="0" i="0" u="none" strike="noStrike" kern="1200" cap="none" spc="0" normalizeH="0" baseline="0" noProof="0">
                <a:ln>
                  <a:noFill/>
                </a:ln>
                <a:solidFill>
                  <a:schemeClr val="accent1"/>
                </a:solidFill>
                <a:effectLst>
                  <a:outerShdw blurRad="381000" dist="25400" sx="102000" sy="102000" algn="ctr" rotWithShape="0">
                    <a:srgbClr val="006EE5">
                      <a:alpha val="15000"/>
                    </a:srgbClr>
                  </a:outerShdw>
                </a:effectLst>
                <a:uLnTx/>
                <a:uFillTx/>
                <a:latin typeface="Montserrat" pitchFamily="2" charset="77"/>
                <a:ea typeface="+mn-ea"/>
                <a:cs typeface="+mn-cs"/>
              </a:rPr>
              <a:t>02</a:t>
            </a:r>
          </a:p>
        </p:txBody>
      </p:sp>
      <p:sp>
        <p:nvSpPr>
          <p:cNvPr id="7" name="Text Placeholder 11">
            <a:extLst>
              <a:ext uri="{FF2B5EF4-FFF2-40B4-BE49-F238E27FC236}">
                <a16:creationId xmlns:a16="http://schemas.microsoft.com/office/drawing/2014/main" id="{31E00338-5619-11A3-BAFF-7FB71EE17928}"/>
              </a:ext>
            </a:extLst>
          </p:cNvPr>
          <p:cNvSpPr txBox="1">
            <a:spLocks/>
          </p:cNvSpPr>
          <p:nvPr/>
        </p:nvSpPr>
        <p:spPr>
          <a:xfrm>
            <a:off x="744629" y="2861919"/>
            <a:ext cx="799704" cy="479019"/>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3200" b="0" i="0" kern="1200">
                <a:solidFill>
                  <a:schemeClr val="tx2"/>
                </a:solidFill>
                <a:latin typeface="+mj-lt"/>
                <a:ea typeface="+mn-ea"/>
                <a:cs typeface="+mn-cs"/>
              </a:defRPr>
            </a:lvl1pPr>
            <a:lvl2pPr marL="457200" indent="-228600"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0795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6pPr>
            <a:lvl7pPr marL="126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7pPr>
            <a:lvl8pPr marL="144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8pPr>
            <a:lvl9pPr marL="162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2400" b="0" i="0" u="none" strike="noStrike" kern="1200" cap="none" spc="0" normalizeH="0" baseline="0" noProof="0">
                <a:ln>
                  <a:noFill/>
                </a:ln>
                <a:solidFill>
                  <a:schemeClr val="accent1"/>
                </a:solidFill>
                <a:effectLst>
                  <a:outerShdw blurRad="381000" dist="25400" sx="102000" sy="102000" algn="ctr" rotWithShape="0">
                    <a:srgbClr val="006EE5">
                      <a:alpha val="15000"/>
                    </a:srgbClr>
                  </a:outerShdw>
                </a:effectLst>
                <a:uLnTx/>
                <a:uFillTx/>
                <a:latin typeface="Montserrat" pitchFamily="2" charset="77"/>
                <a:ea typeface="+mn-ea"/>
                <a:cs typeface="+mn-cs"/>
              </a:rPr>
              <a:t>04</a:t>
            </a:r>
          </a:p>
        </p:txBody>
      </p:sp>
      <p:sp>
        <p:nvSpPr>
          <p:cNvPr id="8" name="Text Placeholder 11">
            <a:extLst>
              <a:ext uri="{FF2B5EF4-FFF2-40B4-BE49-F238E27FC236}">
                <a16:creationId xmlns:a16="http://schemas.microsoft.com/office/drawing/2014/main" id="{D7CD0002-0816-D81E-8E98-17B201F8556D}"/>
              </a:ext>
            </a:extLst>
          </p:cNvPr>
          <p:cNvSpPr txBox="1">
            <a:spLocks/>
          </p:cNvSpPr>
          <p:nvPr/>
        </p:nvSpPr>
        <p:spPr>
          <a:xfrm>
            <a:off x="744629" y="3261008"/>
            <a:ext cx="799704" cy="479019"/>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3200" b="0" i="0" kern="1200">
                <a:solidFill>
                  <a:schemeClr val="tx2"/>
                </a:solidFill>
                <a:latin typeface="+mj-lt"/>
                <a:ea typeface="+mn-ea"/>
                <a:cs typeface="+mn-cs"/>
              </a:defRPr>
            </a:lvl1pPr>
            <a:lvl2pPr marL="457200" indent="-228600"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0795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6pPr>
            <a:lvl7pPr marL="126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7pPr>
            <a:lvl8pPr marL="144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8pPr>
            <a:lvl9pPr marL="162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2400" b="0" i="0" u="none" strike="noStrike" kern="1200" cap="none" spc="0" normalizeH="0" baseline="0" noProof="0">
                <a:ln>
                  <a:noFill/>
                </a:ln>
                <a:solidFill>
                  <a:schemeClr val="accent1"/>
                </a:solidFill>
                <a:effectLst>
                  <a:outerShdw blurRad="381000" dist="25400" sx="102000" sy="102000" algn="ctr" rotWithShape="0">
                    <a:srgbClr val="006EE5">
                      <a:alpha val="15000"/>
                    </a:srgbClr>
                  </a:outerShdw>
                </a:effectLst>
                <a:uLnTx/>
                <a:uFillTx/>
                <a:latin typeface="Montserrat" pitchFamily="2" charset="77"/>
                <a:ea typeface="+mn-ea"/>
                <a:cs typeface="+mn-cs"/>
              </a:rPr>
              <a:t>05</a:t>
            </a:r>
          </a:p>
        </p:txBody>
      </p:sp>
      <p:sp>
        <p:nvSpPr>
          <p:cNvPr id="9" name="Text Placeholder 7">
            <a:extLst>
              <a:ext uri="{FF2B5EF4-FFF2-40B4-BE49-F238E27FC236}">
                <a16:creationId xmlns:a16="http://schemas.microsoft.com/office/drawing/2014/main" id="{04ABBC89-EEC8-89D8-4B2B-F5F774610ECB}"/>
              </a:ext>
            </a:extLst>
          </p:cNvPr>
          <p:cNvSpPr txBox="1">
            <a:spLocks/>
          </p:cNvSpPr>
          <p:nvPr/>
        </p:nvSpPr>
        <p:spPr>
          <a:xfrm>
            <a:off x="744629" y="2471564"/>
            <a:ext cx="799704" cy="479019"/>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3200" b="0" i="0" kern="1200">
                <a:solidFill>
                  <a:schemeClr val="tx2"/>
                </a:solidFill>
                <a:latin typeface="+mj-lt"/>
                <a:ea typeface="+mn-ea"/>
                <a:cs typeface="+mn-cs"/>
              </a:defRPr>
            </a:lvl1pPr>
            <a:lvl2pPr marL="457200" indent="-228600"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0795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6pPr>
            <a:lvl7pPr marL="126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7pPr>
            <a:lvl8pPr marL="144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8pPr>
            <a:lvl9pPr marL="162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2400" b="0" i="0" u="none" strike="noStrike" kern="1200" cap="none" spc="0" normalizeH="0" baseline="0" noProof="0">
                <a:ln>
                  <a:noFill/>
                </a:ln>
                <a:solidFill>
                  <a:schemeClr val="accent1"/>
                </a:solidFill>
                <a:effectLst>
                  <a:outerShdw blurRad="381000" dist="25400" sx="102000" sy="102000" algn="ctr" rotWithShape="0">
                    <a:srgbClr val="006EE5">
                      <a:alpha val="15000"/>
                    </a:srgbClr>
                  </a:outerShdw>
                </a:effectLst>
                <a:uLnTx/>
                <a:uFillTx/>
                <a:latin typeface="Montserrat" pitchFamily="2" charset="77"/>
                <a:ea typeface="+mn-ea"/>
                <a:cs typeface="+mn-cs"/>
              </a:rPr>
              <a:t>03</a:t>
            </a:r>
          </a:p>
        </p:txBody>
      </p:sp>
      <p:sp>
        <p:nvSpPr>
          <p:cNvPr id="12" name="Text Placeholder 11">
            <a:extLst>
              <a:ext uri="{FF2B5EF4-FFF2-40B4-BE49-F238E27FC236}">
                <a16:creationId xmlns:a16="http://schemas.microsoft.com/office/drawing/2014/main" id="{4E5E7236-32C8-A033-8F10-76C1A5930AEA}"/>
              </a:ext>
            </a:extLst>
          </p:cNvPr>
          <p:cNvSpPr txBox="1">
            <a:spLocks/>
          </p:cNvSpPr>
          <p:nvPr/>
        </p:nvSpPr>
        <p:spPr>
          <a:xfrm>
            <a:off x="744629" y="3666194"/>
            <a:ext cx="799704" cy="479019"/>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3200" b="0" i="0" kern="1200">
                <a:solidFill>
                  <a:schemeClr val="tx2"/>
                </a:solidFill>
                <a:latin typeface="+mj-lt"/>
                <a:ea typeface="+mn-ea"/>
                <a:cs typeface="+mn-cs"/>
              </a:defRPr>
            </a:lvl1pPr>
            <a:lvl2pPr marL="457200" indent="-228600"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0795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6pPr>
            <a:lvl7pPr marL="126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7pPr>
            <a:lvl8pPr marL="144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8pPr>
            <a:lvl9pPr marL="162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2400" b="0" i="0" u="none" strike="noStrike" kern="1200" cap="none" spc="0" normalizeH="0" baseline="0" noProof="0">
                <a:ln>
                  <a:noFill/>
                </a:ln>
                <a:solidFill>
                  <a:schemeClr val="accent1"/>
                </a:solidFill>
                <a:effectLst>
                  <a:outerShdw blurRad="381000" dist="25400" sx="102000" sy="102000" algn="ctr" rotWithShape="0">
                    <a:srgbClr val="006EE5">
                      <a:alpha val="15000"/>
                    </a:srgbClr>
                  </a:outerShdw>
                </a:effectLst>
                <a:uLnTx/>
                <a:uFillTx/>
                <a:latin typeface="Montserrat" pitchFamily="2" charset="77"/>
                <a:ea typeface="+mn-ea"/>
                <a:cs typeface="+mn-cs"/>
              </a:rPr>
              <a:t>06</a:t>
            </a:r>
          </a:p>
        </p:txBody>
      </p:sp>
      <p:sp>
        <p:nvSpPr>
          <p:cNvPr id="15" name="Text Placeholder 10">
            <a:extLst>
              <a:ext uri="{FF2B5EF4-FFF2-40B4-BE49-F238E27FC236}">
                <a16:creationId xmlns:a16="http://schemas.microsoft.com/office/drawing/2014/main" id="{69207E7A-871B-C1C3-99AF-A6AB696537D6}"/>
              </a:ext>
            </a:extLst>
          </p:cNvPr>
          <p:cNvSpPr txBox="1">
            <a:spLocks/>
          </p:cNvSpPr>
          <p:nvPr/>
        </p:nvSpPr>
        <p:spPr>
          <a:xfrm>
            <a:off x="744629" y="1244026"/>
            <a:ext cx="720783" cy="479019"/>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3200" b="0" i="0" kern="1200">
                <a:solidFill>
                  <a:schemeClr val="tx2"/>
                </a:solidFill>
                <a:latin typeface="+mj-lt"/>
                <a:ea typeface="+mn-ea"/>
                <a:cs typeface="+mn-cs"/>
              </a:defRPr>
            </a:lvl1pPr>
            <a:lvl2pPr marL="457200" indent="-228600" algn="l" defTabSz="914400" rtl="0" eaLnBrk="1" latinLnBrk="0" hangingPunct="1">
              <a:lnSpc>
                <a:spcPct val="100000"/>
              </a:lnSpc>
              <a:spcBef>
                <a:spcPts val="0"/>
              </a:spcBef>
              <a:spcAft>
                <a:spcPts val="300"/>
              </a:spcAft>
              <a:buFont typeface="Arial" panose="020B0604020202020204" pitchFamily="34" charset="0"/>
              <a:buChar char="–"/>
              <a:defRPr sz="1600" b="0" i="0" kern="1200">
                <a:solidFill>
                  <a:srgbClr val="00174C"/>
                </a:solidFill>
                <a:latin typeface="IBM Plex Sans Light" panose="020B0403050203000203" pitchFamily="34" charset="0"/>
                <a:ea typeface="+mn-ea"/>
                <a:cs typeface="+mn-cs"/>
              </a:defRPr>
            </a:lvl2pPr>
            <a:lvl3pPr marL="685800" indent="-228600"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rgbClr val="00174C"/>
                </a:solidFill>
                <a:latin typeface="IBM Plex Sans Light" panose="020B0403050203000203" pitchFamily="34" charset="0"/>
                <a:ea typeface="+mn-ea"/>
                <a:cs typeface="+mn-cs"/>
              </a:defRPr>
            </a:lvl3pPr>
            <a:lvl4pPr marL="914400" indent="-228600"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rgbClr val="00174C"/>
                </a:solidFill>
                <a:latin typeface="IBM Plex Sans Light" panose="020B0403050203000203" pitchFamily="34" charset="0"/>
                <a:ea typeface="+mn-ea"/>
                <a:cs typeface="+mn-cs"/>
              </a:defRPr>
            </a:lvl4pPr>
            <a:lvl5pPr marL="1143000" indent="-228600"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rgbClr val="00174C"/>
                </a:solidFill>
                <a:latin typeface="IBM Plex Sans Light" panose="020B0403050203000203" pitchFamily="34" charset="0"/>
                <a:ea typeface="+mn-ea"/>
                <a:cs typeface="+mn-cs"/>
              </a:defRPr>
            </a:lvl5pPr>
            <a:lvl6pPr marL="10795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6pPr>
            <a:lvl7pPr marL="126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7pPr>
            <a:lvl8pPr marL="144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8pPr>
            <a:lvl9pPr marL="162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2400" b="0" i="0" u="none" strike="noStrike" kern="1200" cap="none" spc="0" normalizeH="0" baseline="0" noProof="0">
                <a:ln>
                  <a:noFill/>
                </a:ln>
                <a:solidFill>
                  <a:schemeClr val="accent1"/>
                </a:solidFill>
                <a:effectLst>
                  <a:outerShdw blurRad="381000" dist="25400" sx="102000" sy="102000" algn="ctr" rotWithShape="0">
                    <a:srgbClr val="006EE5">
                      <a:alpha val="15000"/>
                    </a:srgbClr>
                  </a:outerShdw>
                </a:effectLst>
                <a:uLnTx/>
                <a:uFillTx/>
                <a:latin typeface="Montserrat" pitchFamily="2" charset="77"/>
                <a:ea typeface="+mn-ea"/>
                <a:cs typeface="+mn-cs"/>
              </a:rPr>
              <a:t>01</a:t>
            </a:r>
          </a:p>
        </p:txBody>
      </p:sp>
      <p:cxnSp>
        <p:nvCxnSpPr>
          <p:cNvPr id="22" name="Straight Connector 21">
            <a:extLst>
              <a:ext uri="{FF2B5EF4-FFF2-40B4-BE49-F238E27FC236}">
                <a16:creationId xmlns:a16="http://schemas.microsoft.com/office/drawing/2014/main" id="{0799B157-D785-0E02-B067-81348AF53B7D}"/>
              </a:ext>
            </a:extLst>
          </p:cNvPr>
          <p:cNvCxnSpPr>
            <a:cxnSpLocks/>
          </p:cNvCxnSpPr>
          <p:nvPr/>
        </p:nvCxnSpPr>
        <p:spPr>
          <a:xfrm flipV="1">
            <a:off x="744647" y="2452260"/>
            <a:ext cx="10479474" cy="5855"/>
          </a:xfrm>
          <a:prstGeom prst="line">
            <a:avLst/>
          </a:prstGeom>
          <a:noFill/>
          <a:ln w="12700" cap="flat" cmpd="sng" algn="ctr">
            <a:solidFill>
              <a:schemeClr val="tx2"/>
            </a:solidFill>
            <a:prstDash val="solid"/>
            <a:miter lim="800000"/>
          </a:ln>
          <a:effectLst/>
        </p:spPr>
      </p:cxnSp>
      <p:cxnSp>
        <p:nvCxnSpPr>
          <p:cNvPr id="23" name="Straight Connector 22">
            <a:extLst>
              <a:ext uri="{FF2B5EF4-FFF2-40B4-BE49-F238E27FC236}">
                <a16:creationId xmlns:a16="http://schemas.microsoft.com/office/drawing/2014/main" id="{4C43B979-0628-FFA5-3D81-2A6A3E21E52F}"/>
              </a:ext>
            </a:extLst>
          </p:cNvPr>
          <p:cNvCxnSpPr>
            <a:cxnSpLocks/>
          </p:cNvCxnSpPr>
          <p:nvPr/>
        </p:nvCxnSpPr>
        <p:spPr>
          <a:xfrm>
            <a:off x="744629" y="3268728"/>
            <a:ext cx="10479474" cy="0"/>
          </a:xfrm>
          <a:prstGeom prst="line">
            <a:avLst/>
          </a:prstGeom>
          <a:noFill/>
          <a:ln w="12700" cap="flat" cmpd="sng" algn="ctr">
            <a:solidFill>
              <a:schemeClr val="tx2"/>
            </a:solidFill>
            <a:prstDash val="solid"/>
            <a:miter lim="800000"/>
          </a:ln>
          <a:effectLst/>
        </p:spPr>
      </p:cxnSp>
      <p:cxnSp>
        <p:nvCxnSpPr>
          <p:cNvPr id="25" name="Straight Connector 24">
            <a:extLst>
              <a:ext uri="{FF2B5EF4-FFF2-40B4-BE49-F238E27FC236}">
                <a16:creationId xmlns:a16="http://schemas.microsoft.com/office/drawing/2014/main" id="{95DD4D7D-C580-3745-9E64-E7C176966FB6}"/>
              </a:ext>
            </a:extLst>
          </p:cNvPr>
          <p:cNvCxnSpPr>
            <a:cxnSpLocks/>
          </p:cNvCxnSpPr>
          <p:nvPr/>
        </p:nvCxnSpPr>
        <p:spPr>
          <a:xfrm>
            <a:off x="744629" y="3673913"/>
            <a:ext cx="10479474" cy="0"/>
          </a:xfrm>
          <a:prstGeom prst="line">
            <a:avLst/>
          </a:prstGeom>
          <a:noFill/>
          <a:ln w="12700" cap="flat" cmpd="sng" algn="ctr">
            <a:solidFill>
              <a:schemeClr val="tx2"/>
            </a:solidFill>
            <a:prstDash val="solid"/>
            <a:miter lim="800000"/>
          </a:ln>
          <a:effectLst/>
        </p:spPr>
      </p:cxnSp>
      <p:cxnSp>
        <p:nvCxnSpPr>
          <p:cNvPr id="33" name="Straight Connector 32">
            <a:extLst>
              <a:ext uri="{FF2B5EF4-FFF2-40B4-BE49-F238E27FC236}">
                <a16:creationId xmlns:a16="http://schemas.microsoft.com/office/drawing/2014/main" id="{829CAA55-934B-FEA2-EA64-6A32CCB94014}"/>
              </a:ext>
            </a:extLst>
          </p:cNvPr>
          <p:cNvCxnSpPr>
            <a:cxnSpLocks/>
          </p:cNvCxnSpPr>
          <p:nvPr/>
        </p:nvCxnSpPr>
        <p:spPr>
          <a:xfrm flipV="1">
            <a:off x="744647" y="2863542"/>
            <a:ext cx="10479474" cy="5855"/>
          </a:xfrm>
          <a:prstGeom prst="line">
            <a:avLst/>
          </a:prstGeom>
          <a:noFill/>
          <a:ln w="12700" cap="flat" cmpd="sng" algn="ctr">
            <a:solidFill>
              <a:schemeClr val="tx2"/>
            </a:solidFill>
            <a:prstDash val="solid"/>
            <a:miter lim="800000"/>
          </a:ln>
          <a:effectLst/>
        </p:spPr>
      </p:cxnSp>
      <p:sp>
        <p:nvSpPr>
          <p:cNvPr id="14" name="TextBox 2">
            <a:extLst>
              <a:ext uri="{FF2B5EF4-FFF2-40B4-BE49-F238E27FC236}">
                <a16:creationId xmlns:a16="http://schemas.microsoft.com/office/drawing/2014/main" id="{1A3158E1-7695-0C81-4A14-28927869505A}"/>
              </a:ext>
            </a:extLst>
          </p:cNvPr>
          <p:cNvSpPr txBox="1"/>
          <p:nvPr/>
        </p:nvSpPr>
        <p:spPr>
          <a:xfrm>
            <a:off x="1146100" y="1150296"/>
            <a:ext cx="10739400" cy="4616007"/>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t>Scope, Purpose, Objective</a:t>
            </a:r>
          </a:p>
          <a:p>
            <a:pPr>
              <a:lnSpc>
                <a:spcPct val="150000"/>
              </a:lnSpc>
            </a:pPr>
            <a:r>
              <a:rPr lang="en-US"/>
              <a:t>(L3) Create Business Master Data</a:t>
            </a:r>
          </a:p>
          <a:p>
            <a:pPr>
              <a:lnSpc>
                <a:spcPct val="150000"/>
              </a:lnSpc>
            </a:pPr>
            <a:r>
              <a:rPr lang="en-US" b="1">
                <a:solidFill>
                  <a:schemeClr val="accent2"/>
                </a:solidFill>
              </a:rPr>
              <a:t>BREAK – 10 Mins</a:t>
            </a:r>
            <a:endParaRPr lang="en-US"/>
          </a:p>
          <a:p>
            <a:pPr>
              <a:lnSpc>
                <a:spcPct val="150000"/>
              </a:lnSpc>
            </a:pPr>
            <a:r>
              <a:rPr lang="en-US"/>
              <a:t>(L3) Maintain Business Master Data</a:t>
            </a:r>
          </a:p>
          <a:p>
            <a:pPr>
              <a:lnSpc>
                <a:spcPct val="150000"/>
              </a:lnSpc>
            </a:pPr>
            <a:r>
              <a:rPr lang="en-US"/>
              <a:t>Current and Future State Assumptions</a:t>
            </a:r>
          </a:p>
          <a:p>
            <a:pPr>
              <a:lnSpc>
                <a:spcPct val="150000"/>
              </a:lnSpc>
            </a:pPr>
            <a:r>
              <a:rPr lang="en-US"/>
              <a:t>Key Decisions</a:t>
            </a:r>
          </a:p>
          <a:p>
            <a:pPr>
              <a:lnSpc>
                <a:spcPct val="150000"/>
              </a:lnSpc>
            </a:pPr>
            <a:r>
              <a:rPr lang="en-US"/>
              <a:t>FRICE-W</a:t>
            </a:r>
          </a:p>
          <a:p>
            <a:pPr>
              <a:lnSpc>
                <a:spcPct val="150000"/>
              </a:lnSpc>
            </a:pPr>
            <a:r>
              <a:rPr lang="en-US"/>
              <a:t>Drafted User Stories</a:t>
            </a:r>
          </a:p>
          <a:p>
            <a:pPr>
              <a:lnSpc>
                <a:spcPct val="150000"/>
              </a:lnSpc>
            </a:pPr>
            <a:r>
              <a:rPr lang="en-US"/>
              <a:t>3rd Party Integration</a:t>
            </a:r>
          </a:p>
          <a:p>
            <a:pPr>
              <a:lnSpc>
                <a:spcPct val="150000"/>
              </a:lnSpc>
            </a:pPr>
            <a:r>
              <a:rPr lang="en-US"/>
              <a:t>Data Migration</a:t>
            </a:r>
          </a:p>
          <a:p>
            <a:pPr>
              <a:lnSpc>
                <a:spcPct val="150000"/>
              </a:lnSpc>
            </a:pPr>
            <a:r>
              <a:rPr lang="en-US"/>
              <a:t>Key Decisions, Action Items, Change Impacts, Wrap-Up, and Next Steps</a:t>
            </a:r>
          </a:p>
        </p:txBody>
      </p:sp>
      <p:cxnSp>
        <p:nvCxnSpPr>
          <p:cNvPr id="17" name="Straight Connector 16">
            <a:extLst>
              <a:ext uri="{FF2B5EF4-FFF2-40B4-BE49-F238E27FC236}">
                <a16:creationId xmlns:a16="http://schemas.microsoft.com/office/drawing/2014/main" id="{23CE3659-5291-DEDD-2F76-4488BBA28AFA}"/>
              </a:ext>
            </a:extLst>
          </p:cNvPr>
          <p:cNvCxnSpPr>
            <a:cxnSpLocks/>
          </p:cNvCxnSpPr>
          <p:nvPr/>
        </p:nvCxnSpPr>
        <p:spPr>
          <a:xfrm>
            <a:off x="744629" y="4484284"/>
            <a:ext cx="10479474" cy="0"/>
          </a:xfrm>
          <a:prstGeom prst="line">
            <a:avLst/>
          </a:prstGeom>
          <a:noFill/>
          <a:ln w="12700" cap="flat" cmpd="sng" algn="ctr">
            <a:solidFill>
              <a:schemeClr val="tx2"/>
            </a:solidFill>
            <a:prstDash val="solid"/>
            <a:miter lim="800000"/>
          </a:ln>
          <a:effectLst/>
        </p:spPr>
      </p:cxnSp>
      <p:sp>
        <p:nvSpPr>
          <p:cNvPr id="20" name="Text Placeholder 11">
            <a:extLst>
              <a:ext uri="{FF2B5EF4-FFF2-40B4-BE49-F238E27FC236}">
                <a16:creationId xmlns:a16="http://schemas.microsoft.com/office/drawing/2014/main" id="{E37498B5-50A6-1993-F4E6-D125CEC4558D}"/>
              </a:ext>
            </a:extLst>
          </p:cNvPr>
          <p:cNvSpPr txBox="1">
            <a:spLocks/>
          </p:cNvSpPr>
          <p:nvPr/>
        </p:nvSpPr>
        <p:spPr>
          <a:xfrm>
            <a:off x="744629" y="4071380"/>
            <a:ext cx="799704" cy="479019"/>
          </a:xfrm>
          <a:prstGeom prst="rect">
            <a:avLst/>
          </a:prstGeom>
        </p:spPr>
        <p:txBody>
          <a:bodyPr vert="horz" lIns="0" tIns="0" rIns="0" bIns="0" rtlCol="0" anchor="t">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3200" b="0" i="0" kern="1200">
                <a:solidFill>
                  <a:schemeClr val="tx2"/>
                </a:solidFill>
                <a:latin typeface="+mj-lt"/>
                <a:ea typeface="+mn-ea"/>
                <a:cs typeface="+mn-cs"/>
              </a:defRPr>
            </a:lvl1pPr>
            <a:lvl2pPr marL="457200" indent="-228600"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0795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6pPr>
            <a:lvl7pPr marL="126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7pPr>
            <a:lvl8pPr marL="144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8pPr>
            <a:lvl9pPr marL="162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lang="en-US" sz="2400">
                <a:solidFill>
                  <a:schemeClr val="accent1"/>
                </a:solidFill>
                <a:effectLst>
                  <a:outerShdw blurRad="381000" dist="25400" sx="102000" sy="102000" algn="ctr" rotWithShape="0">
                    <a:srgbClr val="006EE5">
                      <a:alpha val="15000"/>
                    </a:srgbClr>
                  </a:outerShdw>
                </a:effectLst>
                <a:latin typeface="Montserrat"/>
              </a:rPr>
              <a:t>07</a:t>
            </a:r>
            <a:endParaRPr kumimoji="0" lang="en-US" sz="2400" b="0" i="0" u="none" strike="noStrike" kern="1200" cap="none" spc="0" normalizeH="0" baseline="0" noProof="0">
              <a:ln>
                <a:noFill/>
              </a:ln>
              <a:solidFill>
                <a:schemeClr val="accent1"/>
              </a:solidFill>
              <a:effectLst>
                <a:outerShdw blurRad="381000" dist="25400" sx="102000" sy="102000" algn="ctr" rotWithShape="0">
                  <a:srgbClr val="006EE5">
                    <a:alpha val="15000"/>
                  </a:srgbClr>
                </a:outerShdw>
              </a:effectLst>
              <a:uLnTx/>
              <a:uFillTx/>
              <a:latin typeface="Montserrat" pitchFamily="2" charset="77"/>
              <a:ea typeface="+mn-ea"/>
              <a:cs typeface="+mn-cs"/>
            </a:endParaRPr>
          </a:p>
        </p:txBody>
      </p:sp>
      <p:sp>
        <p:nvSpPr>
          <p:cNvPr id="2" name="Text Placeholder 11">
            <a:extLst>
              <a:ext uri="{FF2B5EF4-FFF2-40B4-BE49-F238E27FC236}">
                <a16:creationId xmlns:a16="http://schemas.microsoft.com/office/drawing/2014/main" id="{440C7EC6-DBBB-DA51-BFFF-8CA5BC63AD30}"/>
              </a:ext>
            </a:extLst>
          </p:cNvPr>
          <p:cNvSpPr txBox="1">
            <a:spLocks/>
          </p:cNvSpPr>
          <p:nvPr/>
        </p:nvSpPr>
        <p:spPr>
          <a:xfrm>
            <a:off x="744629" y="4476565"/>
            <a:ext cx="799704" cy="479019"/>
          </a:xfrm>
          <a:prstGeom prst="rect">
            <a:avLst/>
          </a:prstGeom>
        </p:spPr>
        <p:txBody>
          <a:bodyPr vert="horz" lIns="0" tIns="0" rIns="0" bIns="0" rtlCol="0" anchor="t">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3200" b="0" i="0" kern="1200">
                <a:solidFill>
                  <a:schemeClr val="tx2"/>
                </a:solidFill>
                <a:latin typeface="+mj-lt"/>
                <a:ea typeface="+mn-ea"/>
                <a:cs typeface="+mn-cs"/>
              </a:defRPr>
            </a:lvl1pPr>
            <a:lvl2pPr marL="457200" indent="-228600"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0795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6pPr>
            <a:lvl7pPr marL="126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7pPr>
            <a:lvl8pPr marL="144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8pPr>
            <a:lvl9pPr marL="162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lang="en-US" sz="2400">
                <a:solidFill>
                  <a:schemeClr val="accent1"/>
                </a:solidFill>
                <a:effectLst>
                  <a:outerShdw blurRad="381000" dist="25400" sx="102000" sy="102000" algn="ctr" rotWithShape="0">
                    <a:srgbClr val="006EE5">
                      <a:alpha val="15000"/>
                    </a:srgbClr>
                  </a:outerShdw>
                </a:effectLst>
                <a:latin typeface="Montserrat"/>
              </a:rPr>
              <a:t>08</a:t>
            </a:r>
            <a:endParaRPr kumimoji="0" lang="en-US" sz="2400" b="0" i="0" u="none" strike="noStrike" kern="1200" cap="none" spc="0" normalizeH="0" baseline="0" noProof="0">
              <a:ln>
                <a:noFill/>
              </a:ln>
              <a:solidFill>
                <a:schemeClr val="accent1"/>
              </a:solidFill>
              <a:effectLst>
                <a:outerShdw blurRad="381000" dist="25400" sx="102000" sy="102000" algn="ctr" rotWithShape="0">
                  <a:srgbClr val="006EE5">
                    <a:alpha val="15000"/>
                  </a:srgbClr>
                </a:outerShdw>
              </a:effectLst>
              <a:uLnTx/>
              <a:uFillTx/>
              <a:latin typeface="Montserrat" pitchFamily="2" charset="77"/>
              <a:ea typeface="+mn-ea"/>
              <a:cs typeface="+mn-cs"/>
            </a:endParaRPr>
          </a:p>
        </p:txBody>
      </p:sp>
      <p:sp>
        <p:nvSpPr>
          <p:cNvPr id="5" name="Text Placeholder 11">
            <a:extLst>
              <a:ext uri="{FF2B5EF4-FFF2-40B4-BE49-F238E27FC236}">
                <a16:creationId xmlns:a16="http://schemas.microsoft.com/office/drawing/2014/main" id="{190299F6-71FD-C862-BBAE-0A1B505E3A82}"/>
              </a:ext>
            </a:extLst>
          </p:cNvPr>
          <p:cNvSpPr txBox="1">
            <a:spLocks/>
          </p:cNvSpPr>
          <p:nvPr/>
        </p:nvSpPr>
        <p:spPr>
          <a:xfrm>
            <a:off x="744629" y="4875655"/>
            <a:ext cx="799704" cy="479019"/>
          </a:xfrm>
          <a:prstGeom prst="rect">
            <a:avLst/>
          </a:prstGeom>
        </p:spPr>
        <p:txBody>
          <a:bodyPr vert="horz" lIns="0" tIns="0" rIns="0" bIns="0" rtlCol="0" anchor="t">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3200" b="0" i="0" kern="1200">
                <a:solidFill>
                  <a:schemeClr val="tx2"/>
                </a:solidFill>
                <a:latin typeface="+mj-lt"/>
                <a:ea typeface="+mn-ea"/>
                <a:cs typeface="+mn-cs"/>
              </a:defRPr>
            </a:lvl1pPr>
            <a:lvl2pPr marL="457200" indent="-228600"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0795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6pPr>
            <a:lvl7pPr marL="126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7pPr>
            <a:lvl8pPr marL="144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8pPr>
            <a:lvl9pPr marL="162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lang="en-US" sz="2400">
                <a:solidFill>
                  <a:schemeClr val="accent1"/>
                </a:solidFill>
                <a:effectLst>
                  <a:outerShdw blurRad="381000" dist="25400" sx="102000" sy="102000" algn="ctr" rotWithShape="0">
                    <a:srgbClr val="006EE5">
                      <a:alpha val="15000"/>
                    </a:srgbClr>
                  </a:outerShdw>
                </a:effectLst>
                <a:latin typeface="Montserrat"/>
              </a:rPr>
              <a:t>09</a:t>
            </a:r>
            <a:endParaRPr kumimoji="0" lang="en-US" sz="2400" b="0" i="0" u="none" strike="noStrike" kern="1200" cap="none" spc="0" normalizeH="0" baseline="0" noProof="0">
              <a:ln>
                <a:noFill/>
              </a:ln>
              <a:solidFill>
                <a:schemeClr val="accent1"/>
              </a:solidFill>
              <a:effectLst>
                <a:outerShdw blurRad="381000" dist="25400" sx="102000" sy="102000" algn="ctr" rotWithShape="0">
                  <a:srgbClr val="006EE5">
                    <a:alpha val="15000"/>
                  </a:srgbClr>
                </a:outerShdw>
              </a:effectLst>
              <a:uLnTx/>
              <a:uFillTx/>
              <a:latin typeface="Montserrat" pitchFamily="2" charset="77"/>
              <a:ea typeface="+mn-ea"/>
              <a:cs typeface="+mn-cs"/>
            </a:endParaRPr>
          </a:p>
        </p:txBody>
      </p:sp>
      <p:sp>
        <p:nvSpPr>
          <p:cNvPr id="10" name="Text Placeholder 11">
            <a:extLst>
              <a:ext uri="{FF2B5EF4-FFF2-40B4-BE49-F238E27FC236}">
                <a16:creationId xmlns:a16="http://schemas.microsoft.com/office/drawing/2014/main" id="{028D6BF8-5599-788E-3EDB-AE4CCDB8558F}"/>
              </a:ext>
            </a:extLst>
          </p:cNvPr>
          <p:cNvSpPr txBox="1">
            <a:spLocks/>
          </p:cNvSpPr>
          <p:nvPr/>
        </p:nvSpPr>
        <p:spPr>
          <a:xfrm>
            <a:off x="744629" y="5280840"/>
            <a:ext cx="799704" cy="479019"/>
          </a:xfrm>
          <a:prstGeom prst="rect">
            <a:avLst/>
          </a:prstGeom>
        </p:spPr>
        <p:txBody>
          <a:bodyPr vert="horz" lIns="0" tIns="0" rIns="0" bIns="0" rtlCol="0" anchor="t">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3200" b="0" i="0" kern="1200">
                <a:solidFill>
                  <a:schemeClr val="tx2"/>
                </a:solidFill>
                <a:latin typeface="+mj-lt"/>
                <a:ea typeface="+mn-ea"/>
                <a:cs typeface="+mn-cs"/>
              </a:defRPr>
            </a:lvl1pPr>
            <a:lvl2pPr marL="457200" indent="-228600"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0795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6pPr>
            <a:lvl7pPr marL="126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7pPr>
            <a:lvl8pPr marL="144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8pPr>
            <a:lvl9pPr marL="162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lang="en-US" sz="2400">
                <a:solidFill>
                  <a:schemeClr val="accent1"/>
                </a:solidFill>
                <a:effectLst>
                  <a:outerShdw blurRad="381000" dist="25400" sx="102000" sy="102000" algn="ctr" rotWithShape="0">
                    <a:srgbClr val="006EE5">
                      <a:alpha val="15000"/>
                    </a:srgbClr>
                  </a:outerShdw>
                </a:effectLst>
                <a:latin typeface="Montserrat" pitchFamily="2" charset="77"/>
              </a:rPr>
              <a:t>10</a:t>
            </a:r>
            <a:endParaRPr lang="en-US" sz="2400" b="0" i="0" u="none" strike="noStrike" kern="1200" cap="none" spc="0" normalizeH="0" baseline="0" noProof="0">
              <a:ln>
                <a:noFill/>
              </a:ln>
              <a:solidFill>
                <a:schemeClr val="accent1"/>
              </a:solidFill>
              <a:effectLst>
                <a:outerShdw blurRad="381000" dist="25400" sx="102000" sy="102000" algn="ctr" rotWithShape="0">
                  <a:srgbClr val="006EE5">
                    <a:alpha val="15000"/>
                  </a:srgbClr>
                </a:outerShdw>
              </a:effectLst>
              <a:uLnTx/>
              <a:uFillTx/>
              <a:latin typeface="Montserrat" pitchFamily="2" charset="77"/>
            </a:endParaRPr>
          </a:p>
        </p:txBody>
      </p:sp>
      <p:cxnSp>
        <p:nvCxnSpPr>
          <p:cNvPr id="13" name="Straight Connector 12">
            <a:extLst>
              <a:ext uri="{FF2B5EF4-FFF2-40B4-BE49-F238E27FC236}">
                <a16:creationId xmlns:a16="http://schemas.microsoft.com/office/drawing/2014/main" id="{3120E3D8-22F4-C94C-6FC1-F097D9CDE7B1}"/>
              </a:ext>
            </a:extLst>
          </p:cNvPr>
          <p:cNvCxnSpPr>
            <a:cxnSpLocks/>
          </p:cNvCxnSpPr>
          <p:nvPr/>
        </p:nvCxnSpPr>
        <p:spPr>
          <a:xfrm>
            <a:off x="744629" y="5288560"/>
            <a:ext cx="10479474" cy="0"/>
          </a:xfrm>
          <a:prstGeom prst="line">
            <a:avLst/>
          </a:prstGeom>
          <a:noFill/>
          <a:ln w="12700" cap="flat" cmpd="sng" algn="ctr">
            <a:solidFill>
              <a:schemeClr val="tx2"/>
            </a:solidFill>
            <a:prstDash val="solid"/>
            <a:miter lim="800000"/>
          </a:ln>
          <a:effectLst/>
        </p:spPr>
      </p:cxnSp>
      <p:cxnSp>
        <p:nvCxnSpPr>
          <p:cNvPr id="16" name="Straight Connector 15">
            <a:extLst>
              <a:ext uri="{FF2B5EF4-FFF2-40B4-BE49-F238E27FC236}">
                <a16:creationId xmlns:a16="http://schemas.microsoft.com/office/drawing/2014/main" id="{28733F61-66C7-18F4-6938-676D88C48CC5}"/>
              </a:ext>
            </a:extLst>
          </p:cNvPr>
          <p:cNvCxnSpPr>
            <a:cxnSpLocks/>
          </p:cNvCxnSpPr>
          <p:nvPr/>
        </p:nvCxnSpPr>
        <p:spPr>
          <a:xfrm>
            <a:off x="744629" y="4883374"/>
            <a:ext cx="10479474" cy="0"/>
          </a:xfrm>
          <a:prstGeom prst="line">
            <a:avLst/>
          </a:prstGeom>
          <a:noFill/>
          <a:ln w="12700" cap="flat" cmpd="sng" algn="ctr">
            <a:solidFill>
              <a:schemeClr val="tx2"/>
            </a:solidFill>
            <a:prstDash val="solid"/>
            <a:miter lim="800000"/>
          </a:ln>
          <a:effectLst/>
        </p:spPr>
      </p:cxnSp>
      <p:cxnSp>
        <p:nvCxnSpPr>
          <p:cNvPr id="18" name="Straight Connector 17">
            <a:extLst>
              <a:ext uri="{FF2B5EF4-FFF2-40B4-BE49-F238E27FC236}">
                <a16:creationId xmlns:a16="http://schemas.microsoft.com/office/drawing/2014/main" id="{D690A27B-9CFA-576F-7867-E4A2DCB77791}"/>
              </a:ext>
            </a:extLst>
          </p:cNvPr>
          <p:cNvCxnSpPr>
            <a:cxnSpLocks/>
          </p:cNvCxnSpPr>
          <p:nvPr/>
        </p:nvCxnSpPr>
        <p:spPr>
          <a:xfrm>
            <a:off x="744629" y="5693745"/>
            <a:ext cx="10479474" cy="0"/>
          </a:xfrm>
          <a:prstGeom prst="line">
            <a:avLst/>
          </a:prstGeom>
          <a:noFill/>
          <a:ln w="12700" cap="flat" cmpd="sng" algn="ctr">
            <a:solidFill>
              <a:schemeClr val="tx2"/>
            </a:solidFill>
            <a:prstDash val="solid"/>
            <a:miter lim="800000"/>
          </a:ln>
          <a:effectLst/>
        </p:spPr>
      </p:cxnSp>
      <p:cxnSp>
        <p:nvCxnSpPr>
          <p:cNvPr id="27" name="Straight Connector 26">
            <a:extLst>
              <a:ext uri="{FF2B5EF4-FFF2-40B4-BE49-F238E27FC236}">
                <a16:creationId xmlns:a16="http://schemas.microsoft.com/office/drawing/2014/main" id="{BF47A323-8294-0E08-D343-EAD02302621C}"/>
              </a:ext>
            </a:extLst>
          </p:cNvPr>
          <p:cNvCxnSpPr>
            <a:cxnSpLocks/>
          </p:cNvCxnSpPr>
          <p:nvPr/>
        </p:nvCxnSpPr>
        <p:spPr>
          <a:xfrm>
            <a:off x="721009" y="2050718"/>
            <a:ext cx="10479474" cy="0"/>
          </a:xfrm>
          <a:prstGeom prst="line">
            <a:avLst/>
          </a:prstGeom>
          <a:noFill/>
          <a:ln w="12700" cap="flat" cmpd="sng" algn="ctr">
            <a:solidFill>
              <a:schemeClr val="tx2"/>
            </a:solidFill>
            <a:prstDash val="solid"/>
            <a:miter lim="800000"/>
          </a:ln>
          <a:effectLst/>
        </p:spPr>
      </p:cxnSp>
    </p:spTree>
    <p:extLst>
      <p:ext uri="{BB962C8B-B14F-4D97-AF65-F5344CB8AC3E}">
        <p14:creationId xmlns:p14="http://schemas.microsoft.com/office/powerpoint/2010/main" val="42930659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81D28-E381-D82D-4CE8-2AD86600F3C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363667B-981C-A7C5-B405-AF1006A4BA19}"/>
              </a:ext>
            </a:extLst>
          </p:cNvPr>
          <p:cNvSpPr>
            <a:spLocks noGrp="1"/>
          </p:cNvSpPr>
          <p:nvPr>
            <p:ph type="title"/>
          </p:nvPr>
        </p:nvSpPr>
        <p:spPr>
          <a:xfrm>
            <a:off x="268904" y="4970926"/>
            <a:ext cx="10831690" cy="1887074"/>
          </a:xfrm>
        </p:spPr>
        <p:txBody>
          <a:bodyPr/>
          <a:lstStyle/>
          <a:p>
            <a:r>
              <a:rPr lang="en-US" sz="4250" b="1">
                <a:latin typeface="Montserrat"/>
              </a:rPr>
              <a:t>01</a:t>
            </a:r>
            <a:r>
              <a:rPr lang="en-US" sz="4250">
                <a:latin typeface="Montserrat"/>
              </a:rPr>
              <a:t> Scope, Purpose, Objective</a:t>
            </a:r>
            <a:br>
              <a:rPr lang="en-GB" sz="4400"/>
            </a:br>
            <a:br>
              <a:rPr lang="en-CA" sz="4400"/>
            </a:br>
            <a:endParaRPr lang="en-US"/>
          </a:p>
        </p:txBody>
      </p:sp>
    </p:spTree>
    <p:extLst>
      <p:ext uri="{BB962C8B-B14F-4D97-AF65-F5344CB8AC3E}">
        <p14:creationId xmlns:p14="http://schemas.microsoft.com/office/powerpoint/2010/main" val="12258175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626BE-82DC-C3E0-175A-3A300D93E637}"/>
              </a:ext>
            </a:extLst>
          </p:cNvPr>
          <p:cNvSpPr>
            <a:spLocks noGrp="1"/>
          </p:cNvSpPr>
          <p:nvPr>
            <p:ph type="title"/>
          </p:nvPr>
        </p:nvSpPr>
        <p:spPr>
          <a:xfrm>
            <a:off x="247840" y="272224"/>
            <a:ext cx="11375136" cy="609600"/>
          </a:xfrm>
        </p:spPr>
        <p:txBody>
          <a:bodyPr>
            <a:normAutofit/>
          </a:bodyPr>
          <a:lstStyle/>
          <a:p>
            <a:r>
              <a:rPr lang="en-US">
                <a:latin typeface="Montserrat"/>
              </a:rPr>
              <a:t>Scope, Purpose, Objectives</a:t>
            </a:r>
            <a:endParaRPr lang="en-US"/>
          </a:p>
        </p:txBody>
      </p:sp>
      <p:sp>
        <p:nvSpPr>
          <p:cNvPr id="1055" name="Rectangle 1054">
            <a:extLst>
              <a:ext uri="{FF2B5EF4-FFF2-40B4-BE49-F238E27FC236}">
                <a16:creationId xmlns:a16="http://schemas.microsoft.com/office/drawing/2014/main" id="{741648DD-4218-4BE8-7835-E2FEC3AD90A5}"/>
              </a:ext>
            </a:extLst>
          </p:cNvPr>
          <p:cNvSpPr/>
          <p:nvPr/>
        </p:nvSpPr>
        <p:spPr>
          <a:xfrm>
            <a:off x="668741" y="1709382"/>
            <a:ext cx="3324971" cy="4226647"/>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1064" name="Rectangle 1063">
            <a:extLst>
              <a:ext uri="{FF2B5EF4-FFF2-40B4-BE49-F238E27FC236}">
                <a16:creationId xmlns:a16="http://schemas.microsoft.com/office/drawing/2014/main" id="{8B61822E-C6DD-3567-E7D0-EB09E981B1A4}"/>
              </a:ext>
            </a:extLst>
          </p:cNvPr>
          <p:cNvSpPr/>
          <p:nvPr/>
        </p:nvSpPr>
        <p:spPr>
          <a:xfrm>
            <a:off x="4433248" y="1720754"/>
            <a:ext cx="3313065" cy="4226647"/>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1065" name="Rectangle 1064">
            <a:extLst>
              <a:ext uri="{FF2B5EF4-FFF2-40B4-BE49-F238E27FC236}">
                <a16:creationId xmlns:a16="http://schemas.microsoft.com/office/drawing/2014/main" id="{62FBCF2D-842F-77C1-E421-560EFB911469}"/>
              </a:ext>
            </a:extLst>
          </p:cNvPr>
          <p:cNvSpPr/>
          <p:nvPr/>
        </p:nvSpPr>
        <p:spPr>
          <a:xfrm>
            <a:off x="8288740" y="1720753"/>
            <a:ext cx="3336877" cy="4214740"/>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1066" name="Rectangle 1065">
            <a:extLst>
              <a:ext uri="{FF2B5EF4-FFF2-40B4-BE49-F238E27FC236}">
                <a16:creationId xmlns:a16="http://schemas.microsoft.com/office/drawing/2014/main" id="{F7AC8526-0BC0-5086-C656-0FB2FF4449F2}"/>
              </a:ext>
            </a:extLst>
          </p:cNvPr>
          <p:cNvSpPr/>
          <p:nvPr/>
        </p:nvSpPr>
        <p:spPr>
          <a:xfrm>
            <a:off x="663765" y="1101629"/>
            <a:ext cx="3325504" cy="618699"/>
          </a:xfrm>
          <a:prstGeom prst="rect">
            <a:avLst/>
          </a:prstGeom>
          <a:solidFill>
            <a:schemeClr val="accent4">
              <a:lumMod val="20000"/>
              <a:lumOff val="80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1068" name="Rectangle 1067">
            <a:extLst>
              <a:ext uri="{FF2B5EF4-FFF2-40B4-BE49-F238E27FC236}">
                <a16:creationId xmlns:a16="http://schemas.microsoft.com/office/drawing/2014/main" id="{A89469BA-CFF6-D096-4A3C-61901337270E}"/>
              </a:ext>
            </a:extLst>
          </p:cNvPr>
          <p:cNvSpPr/>
          <p:nvPr/>
        </p:nvSpPr>
        <p:spPr>
          <a:xfrm>
            <a:off x="4428272" y="1101628"/>
            <a:ext cx="3325504" cy="618699"/>
          </a:xfrm>
          <a:prstGeom prst="rect">
            <a:avLst/>
          </a:prstGeom>
          <a:solidFill>
            <a:schemeClr val="accent4">
              <a:lumMod val="20000"/>
              <a:lumOff val="80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1069" name="Rectangle 1068">
            <a:extLst>
              <a:ext uri="{FF2B5EF4-FFF2-40B4-BE49-F238E27FC236}">
                <a16:creationId xmlns:a16="http://schemas.microsoft.com/office/drawing/2014/main" id="{7D1D11F0-635C-A5D2-ABC6-26B771A1B782}"/>
              </a:ext>
            </a:extLst>
          </p:cNvPr>
          <p:cNvSpPr/>
          <p:nvPr/>
        </p:nvSpPr>
        <p:spPr>
          <a:xfrm>
            <a:off x="8343295" y="1101627"/>
            <a:ext cx="3277880" cy="618699"/>
          </a:xfrm>
          <a:prstGeom prst="rect">
            <a:avLst/>
          </a:prstGeom>
          <a:solidFill>
            <a:schemeClr val="accent4">
              <a:lumMod val="20000"/>
              <a:lumOff val="80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1070" name="TextBox 1069">
            <a:extLst>
              <a:ext uri="{FF2B5EF4-FFF2-40B4-BE49-F238E27FC236}">
                <a16:creationId xmlns:a16="http://schemas.microsoft.com/office/drawing/2014/main" id="{3488D4D5-5CD8-4795-9990-CE0CF387E5E3}"/>
              </a:ext>
            </a:extLst>
          </p:cNvPr>
          <p:cNvSpPr txBox="1"/>
          <p:nvPr/>
        </p:nvSpPr>
        <p:spPr>
          <a:xfrm>
            <a:off x="1132048" y="1105142"/>
            <a:ext cx="2402006" cy="892552"/>
          </a:xfrm>
          <a:prstGeom prst="rect">
            <a:avLst/>
          </a:prstGeom>
          <a:noFill/>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3200">
                <a:solidFill>
                  <a:srgbClr val="1866AE"/>
                </a:solidFill>
                <a:latin typeface="Montserrat"/>
                <a:ea typeface="+mj-ea"/>
                <a:cs typeface="+mj-cs"/>
              </a:rPr>
              <a:t>Scope</a:t>
            </a:r>
          </a:p>
          <a:p>
            <a:endParaRPr lang="en-US" sz="1000">
              <a:latin typeface="Montserrat" pitchFamily="2" charset="77"/>
            </a:endParaRPr>
          </a:p>
          <a:p>
            <a:endParaRPr lang="en-US" sz="1000">
              <a:latin typeface="Montserrat" pitchFamily="2" charset="77"/>
            </a:endParaRPr>
          </a:p>
        </p:txBody>
      </p:sp>
      <p:sp>
        <p:nvSpPr>
          <p:cNvPr id="3" name="TextBox 2">
            <a:extLst>
              <a:ext uri="{FF2B5EF4-FFF2-40B4-BE49-F238E27FC236}">
                <a16:creationId xmlns:a16="http://schemas.microsoft.com/office/drawing/2014/main" id="{D31735DA-84BE-BABC-7597-E1E0AC846AEA}"/>
              </a:ext>
            </a:extLst>
          </p:cNvPr>
          <p:cNvSpPr txBox="1"/>
          <p:nvPr/>
        </p:nvSpPr>
        <p:spPr>
          <a:xfrm>
            <a:off x="4906329" y="1105142"/>
            <a:ext cx="2402006" cy="892552"/>
          </a:xfrm>
          <a:prstGeom prst="rect">
            <a:avLst/>
          </a:prstGeom>
          <a:noFill/>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3200">
                <a:solidFill>
                  <a:srgbClr val="1866AE"/>
                </a:solidFill>
                <a:latin typeface="Montserrat"/>
                <a:ea typeface="+mj-ea"/>
                <a:cs typeface="+mj-cs"/>
              </a:rPr>
              <a:t>Purpose</a:t>
            </a:r>
          </a:p>
          <a:p>
            <a:endParaRPr lang="en-US" sz="1000">
              <a:latin typeface="Montserrat" pitchFamily="2" charset="77"/>
            </a:endParaRPr>
          </a:p>
          <a:p>
            <a:endParaRPr lang="en-US" sz="1000">
              <a:latin typeface="Montserrat" pitchFamily="2" charset="77"/>
            </a:endParaRPr>
          </a:p>
        </p:txBody>
      </p:sp>
      <p:sp>
        <p:nvSpPr>
          <p:cNvPr id="4" name="TextBox 3">
            <a:extLst>
              <a:ext uri="{FF2B5EF4-FFF2-40B4-BE49-F238E27FC236}">
                <a16:creationId xmlns:a16="http://schemas.microsoft.com/office/drawing/2014/main" id="{EB274CF1-E679-4FA2-4961-699915B99E26}"/>
              </a:ext>
            </a:extLst>
          </p:cNvPr>
          <p:cNvSpPr txBox="1"/>
          <p:nvPr/>
        </p:nvSpPr>
        <p:spPr>
          <a:xfrm>
            <a:off x="8752048" y="1105142"/>
            <a:ext cx="2402006" cy="892552"/>
          </a:xfrm>
          <a:prstGeom prst="rect">
            <a:avLst/>
          </a:prstGeom>
          <a:noFill/>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3200">
                <a:solidFill>
                  <a:srgbClr val="1866AE"/>
                </a:solidFill>
                <a:latin typeface="Montserrat"/>
                <a:ea typeface="+mj-ea"/>
                <a:cs typeface="+mj-cs"/>
              </a:rPr>
              <a:t>Objective</a:t>
            </a:r>
          </a:p>
          <a:p>
            <a:endParaRPr lang="en-US" sz="1000">
              <a:latin typeface="Montserrat" pitchFamily="2" charset="77"/>
            </a:endParaRPr>
          </a:p>
          <a:p>
            <a:endParaRPr lang="en-US" sz="1000">
              <a:latin typeface="Montserrat" pitchFamily="2" charset="77"/>
            </a:endParaRPr>
          </a:p>
        </p:txBody>
      </p:sp>
      <p:sp>
        <p:nvSpPr>
          <p:cNvPr id="5" name="TextBox 4">
            <a:extLst>
              <a:ext uri="{FF2B5EF4-FFF2-40B4-BE49-F238E27FC236}">
                <a16:creationId xmlns:a16="http://schemas.microsoft.com/office/drawing/2014/main" id="{2A0B2ECB-81D5-58D2-6118-D4651F04DC2A}"/>
              </a:ext>
            </a:extLst>
          </p:cNvPr>
          <p:cNvSpPr txBox="1"/>
          <p:nvPr/>
        </p:nvSpPr>
        <p:spPr>
          <a:xfrm>
            <a:off x="804175" y="1806066"/>
            <a:ext cx="3040854" cy="1569660"/>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chemeClr val="bg1"/>
                </a:solidFill>
                <a:latin typeface="Montserrat"/>
                <a:ea typeface="+mj-ea"/>
                <a:cs typeface="+mj-cs"/>
              </a:rPr>
              <a:t>Scope of this document covers the to-be state business master data processes between SAP Service Cloud v2 and SAP S4HANA</a:t>
            </a:r>
            <a:r>
              <a:rPr lang="en-US" sz="1600">
                <a:solidFill>
                  <a:srgbClr val="1866AE"/>
                </a:solidFill>
                <a:latin typeface="Montserrat"/>
                <a:ea typeface="+mj-ea"/>
                <a:cs typeface="+mj-cs"/>
              </a:rPr>
              <a:t>er</a:t>
            </a:r>
          </a:p>
        </p:txBody>
      </p:sp>
      <p:sp>
        <p:nvSpPr>
          <p:cNvPr id="6" name="TextBox 5">
            <a:extLst>
              <a:ext uri="{FF2B5EF4-FFF2-40B4-BE49-F238E27FC236}">
                <a16:creationId xmlns:a16="http://schemas.microsoft.com/office/drawing/2014/main" id="{830222EA-B48B-A73B-8B97-C9D2C354B0CD}"/>
              </a:ext>
            </a:extLst>
          </p:cNvPr>
          <p:cNvSpPr txBox="1"/>
          <p:nvPr/>
        </p:nvSpPr>
        <p:spPr>
          <a:xfrm>
            <a:off x="4561049" y="1801867"/>
            <a:ext cx="3044942" cy="1138773"/>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chemeClr val="bg1"/>
                </a:solidFill>
                <a:latin typeface="Montserrat"/>
                <a:ea typeface="+mj-ea"/>
                <a:cs typeface="+mj-cs"/>
              </a:rPr>
              <a:t>Describe how to create and maintain business master data </a:t>
            </a:r>
            <a:endParaRPr lang="en-US" sz="1600">
              <a:solidFill>
                <a:schemeClr val="bg1"/>
              </a:solidFill>
              <a:ea typeface="+mj-ea"/>
              <a:cs typeface="+mj-cs"/>
            </a:endParaRPr>
          </a:p>
          <a:p>
            <a:endParaRPr lang="en-US" sz="1000">
              <a:latin typeface="Montserrat" pitchFamily="2" charset="77"/>
            </a:endParaRPr>
          </a:p>
          <a:p>
            <a:endParaRPr lang="en-US" sz="1000">
              <a:latin typeface="Montserrat" pitchFamily="2" charset="77"/>
            </a:endParaRPr>
          </a:p>
        </p:txBody>
      </p:sp>
      <p:sp>
        <p:nvSpPr>
          <p:cNvPr id="7" name="TextBox 6">
            <a:extLst>
              <a:ext uri="{FF2B5EF4-FFF2-40B4-BE49-F238E27FC236}">
                <a16:creationId xmlns:a16="http://schemas.microsoft.com/office/drawing/2014/main" id="{B67A8F84-D62C-19BE-A519-41A2E08899EA}"/>
              </a:ext>
            </a:extLst>
          </p:cNvPr>
          <p:cNvSpPr txBox="1"/>
          <p:nvPr/>
        </p:nvSpPr>
        <p:spPr>
          <a:xfrm>
            <a:off x="8418673" y="1801867"/>
            <a:ext cx="3128285" cy="4462760"/>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a:solidFill>
                  <a:schemeClr val="bg1"/>
                </a:solidFill>
                <a:latin typeface="Montserrat"/>
                <a:ea typeface="+mj-ea"/>
                <a:cs typeface="+mj-cs"/>
              </a:rPr>
              <a:t>Offer a holistic view of all the key elements of the to-be process including organization/roles, configuration or customization if needed, data, reporting, security, and controls requirements. </a:t>
            </a:r>
            <a:endParaRPr lang="en-US">
              <a:solidFill>
                <a:schemeClr val="bg1"/>
              </a:solidFill>
              <a:latin typeface="Montserrat"/>
              <a:ea typeface="+mj-ea"/>
              <a:cs typeface="+mj-cs"/>
            </a:endParaRPr>
          </a:p>
          <a:p>
            <a:pPr marL="285750" indent="-285750">
              <a:buFont typeface="Arial"/>
              <a:buChar char="•"/>
            </a:pPr>
            <a:r>
              <a:rPr lang="en-US" sz="1600">
                <a:solidFill>
                  <a:schemeClr val="bg1"/>
                </a:solidFill>
                <a:latin typeface="Montserrat"/>
                <a:ea typeface="+mj-ea"/>
                <a:cs typeface="+mj-cs"/>
              </a:rPr>
              <a:t>Define the target-state ownership and L3 processes. </a:t>
            </a:r>
            <a:endParaRPr lang="en-US">
              <a:solidFill>
                <a:schemeClr val="bg1"/>
              </a:solidFill>
            </a:endParaRPr>
          </a:p>
          <a:p>
            <a:pPr marL="285750" indent="-285750">
              <a:buFont typeface="Arial"/>
              <a:buChar char="•"/>
            </a:pPr>
            <a:r>
              <a:rPr lang="en-US" sz="1600">
                <a:solidFill>
                  <a:schemeClr val="bg1"/>
                </a:solidFill>
                <a:latin typeface="Montserrat"/>
                <a:ea typeface="+mj-ea"/>
                <a:cs typeface="+mj-cs"/>
              </a:rPr>
              <a:t>Document key assumptions/decisions and outline any FRICE-W's and reports. </a:t>
            </a:r>
            <a:endParaRPr lang="en-US">
              <a:solidFill>
                <a:schemeClr val="bg1"/>
              </a:solidFill>
              <a:ea typeface="+mj-ea"/>
              <a:cs typeface="+mj-cs"/>
            </a:endParaRPr>
          </a:p>
          <a:p>
            <a:endParaRPr lang="en-US">
              <a:solidFill>
                <a:schemeClr val="bg1"/>
              </a:solidFill>
              <a:latin typeface="Montserrat"/>
              <a:ea typeface="+mj-ea"/>
              <a:cs typeface="+mj-cs"/>
            </a:endParaRPr>
          </a:p>
          <a:p>
            <a:endParaRPr lang="en-US" sz="1000">
              <a:latin typeface="Montserrat" pitchFamily="2" charset="77"/>
            </a:endParaRPr>
          </a:p>
        </p:txBody>
      </p:sp>
    </p:spTree>
    <p:extLst>
      <p:ext uri="{BB962C8B-B14F-4D97-AF65-F5344CB8AC3E}">
        <p14:creationId xmlns:p14="http://schemas.microsoft.com/office/powerpoint/2010/main" val="18085445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9AD18-E547-A4B4-8118-17CE0757547C}"/>
              </a:ext>
            </a:extLst>
          </p:cNvPr>
          <p:cNvSpPr>
            <a:spLocks noGrp="1"/>
          </p:cNvSpPr>
          <p:nvPr>
            <p:ph type="title"/>
          </p:nvPr>
        </p:nvSpPr>
        <p:spPr/>
        <p:txBody>
          <a:bodyPr>
            <a:normAutofit/>
          </a:bodyPr>
          <a:lstStyle/>
          <a:p>
            <a:r>
              <a:rPr lang="en-US"/>
              <a:t>Ownership</a:t>
            </a:r>
          </a:p>
        </p:txBody>
      </p:sp>
      <p:graphicFrame>
        <p:nvGraphicFramePr>
          <p:cNvPr id="3" name="Table 2">
            <a:extLst>
              <a:ext uri="{FF2B5EF4-FFF2-40B4-BE49-F238E27FC236}">
                <a16:creationId xmlns:a16="http://schemas.microsoft.com/office/drawing/2014/main" id="{E73EA292-10A9-8DEE-D658-3C59414824E6}"/>
              </a:ext>
            </a:extLst>
          </p:cNvPr>
          <p:cNvGraphicFramePr>
            <a:graphicFrameLocks noGrp="1"/>
          </p:cNvGraphicFramePr>
          <p:nvPr>
            <p:extLst>
              <p:ext uri="{D42A27DB-BD31-4B8C-83A1-F6EECF244321}">
                <p14:modId xmlns:p14="http://schemas.microsoft.com/office/powerpoint/2010/main" val="1471717946"/>
              </p:ext>
            </p:extLst>
          </p:nvPr>
        </p:nvGraphicFramePr>
        <p:xfrm>
          <a:off x="895350" y="1309077"/>
          <a:ext cx="10423576" cy="2499360"/>
        </p:xfrm>
        <a:graphic>
          <a:graphicData uri="http://schemas.openxmlformats.org/drawingml/2006/table">
            <a:tbl>
              <a:tblPr firstRow="1" bandRow="1">
                <a:tableStyleId>{5C22544A-7EE6-4342-B048-85BDC9FD1C3A}</a:tableStyleId>
              </a:tblPr>
              <a:tblGrid>
                <a:gridCol w="2605894">
                  <a:extLst>
                    <a:ext uri="{9D8B030D-6E8A-4147-A177-3AD203B41FA5}">
                      <a16:colId xmlns:a16="http://schemas.microsoft.com/office/drawing/2014/main" val="884605905"/>
                    </a:ext>
                  </a:extLst>
                </a:gridCol>
                <a:gridCol w="2605894">
                  <a:extLst>
                    <a:ext uri="{9D8B030D-6E8A-4147-A177-3AD203B41FA5}">
                      <a16:colId xmlns:a16="http://schemas.microsoft.com/office/drawing/2014/main" val="670828646"/>
                    </a:ext>
                  </a:extLst>
                </a:gridCol>
                <a:gridCol w="2605894">
                  <a:extLst>
                    <a:ext uri="{9D8B030D-6E8A-4147-A177-3AD203B41FA5}">
                      <a16:colId xmlns:a16="http://schemas.microsoft.com/office/drawing/2014/main" val="1828442634"/>
                    </a:ext>
                  </a:extLst>
                </a:gridCol>
                <a:gridCol w="2605894">
                  <a:extLst>
                    <a:ext uri="{9D8B030D-6E8A-4147-A177-3AD203B41FA5}">
                      <a16:colId xmlns:a16="http://schemas.microsoft.com/office/drawing/2014/main" val="1777702620"/>
                    </a:ext>
                  </a:extLst>
                </a:gridCol>
              </a:tblGrid>
              <a:tr h="370840">
                <a:tc>
                  <a:txBody>
                    <a:bodyPr/>
                    <a:lstStyle/>
                    <a:p>
                      <a:pPr algn="ctr"/>
                      <a:r>
                        <a:rPr lang="en-US" sz="1600"/>
                        <a:t>Object</a:t>
                      </a:r>
                    </a:p>
                  </a:txBody>
                  <a:tcPr anchor="ctr"/>
                </a:tc>
                <a:tc>
                  <a:txBody>
                    <a:bodyPr/>
                    <a:lstStyle/>
                    <a:p>
                      <a:pPr algn="ctr"/>
                      <a:r>
                        <a:rPr lang="en-US" sz="1600"/>
                        <a:t>Teams Impacted</a:t>
                      </a:r>
                    </a:p>
                  </a:txBody>
                  <a:tcPr anchor="ctr"/>
                </a:tc>
                <a:tc>
                  <a:txBody>
                    <a:bodyPr/>
                    <a:lstStyle/>
                    <a:p>
                      <a:pPr algn="ctr"/>
                      <a:r>
                        <a:rPr lang="en-US" sz="1600"/>
                        <a:t>Business Process Owner</a:t>
                      </a:r>
                    </a:p>
                  </a:txBody>
                  <a:tcPr anchor="ctr"/>
                </a:tc>
                <a:tc>
                  <a:txBody>
                    <a:bodyPr/>
                    <a:lstStyle/>
                    <a:p>
                      <a:pPr lvl="0" algn="ctr">
                        <a:buNone/>
                      </a:pPr>
                      <a:r>
                        <a:rPr lang="en-US" sz="1600"/>
                        <a:t>Reviewer</a:t>
                      </a:r>
                    </a:p>
                  </a:txBody>
                  <a:tcPr anchor="ctr"/>
                </a:tc>
                <a:extLst>
                  <a:ext uri="{0D108BD9-81ED-4DB2-BD59-A6C34878D82A}">
                    <a16:rowId xmlns:a16="http://schemas.microsoft.com/office/drawing/2014/main" val="4008269926"/>
                  </a:ext>
                </a:extLst>
              </a:tr>
              <a:tr h="370840">
                <a:tc>
                  <a:txBody>
                    <a:bodyPr/>
                    <a:lstStyle/>
                    <a:p>
                      <a:r>
                        <a:rPr lang="en-US" sz="1800"/>
                        <a:t>Business Partner</a:t>
                      </a:r>
                    </a:p>
                  </a:txBody>
                  <a:tcPr/>
                </a:tc>
                <a:tc>
                  <a:txBody>
                    <a:bodyPr/>
                    <a:lstStyle/>
                    <a:p>
                      <a:r>
                        <a:rPr lang="en-US" sz="1800"/>
                        <a:t>Customer, Finance</a:t>
                      </a:r>
                    </a:p>
                  </a:txBody>
                  <a:tcPr/>
                </a:tc>
                <a:tc>
                  <a:txBody>
                    <a:bodyPr/>
                    <a:lstStyle/>
                    <a:p>
                      <a:r>
                        <a:rPr lang="en-US" sz="1800"/>
                        <a:t>Dawn Pettengill, Tarah Wilson</a:t>
                      </a:r>
                    </a:p>
                  </a:txBody>
                  <a:tcPr/>
                </a:tc>
                <a:tc>
                  <a:txBody>
                    <a:bodyPr/>
                    <a:lstStyle/>
                    <a:p>
                      <a:r>
                        <a:rPr lang="en-US" sz="1800"/>
                        <a:t>Shibu Prabha</a:t>
                      </a:r>
                    </a:p>
                  </a:txBody>
                  <a:tcPr/>
                </a:tc>
                <a:extLst>
                  <a:ext uri="{0D108BD9-81ED-4DB2-BD59-A6C34878D82A}">
                    <a16:rowId xmlns:a16="http://schemas.microsoft.com/office/drawing/2014/main" val="3937748376"/>
                  </a:ext>
                </a:extLst>
              </a:tr>
              <a:tr h="370840">
                <a:tc>
                  <a:txBody>
                    <a:bodyPr/>
                    <a:lstStyle/>
                    <a:p>
                      <a:r>
                        <a:rPr lang="en-US" sz="1800"/>
                        <a:t>Contract Account</a:t>
                      </a:r>
                    </a:p>
                  </a:txBody>
                  <a:tcPr/>
                </a:tc>
                <a:tc>
                  <a:txBody>
                    <a:bodyPr/>
                    <a:lstStyle/>
                    <a:p>
                      <a:r>
                        <a:rPr lang="en-US" sz="1800"/>
                        <a:t>Customer, Finance, Supply Chain</a:t>
                      </a:r>
                    </a:p>
                  </a:txBody>
                  <a:tcPr/>
                </a:tc>
                <a:tc>
                  <a:txBody>
                    <a:bodyPr/>
                    <a:lstStyle/>
                    <a:p>
                      <a:pPr lvl="0">
                        <a:buNone/>
                      </a:pPr>
                      <a:r>
                        <a:rPr lang="en-US" sz="1800" b="0" i="0" u="none" strike="noStrike" noProof="0">
                          <a:solidFill>
                            <a:srgbClr val="000000"/>
                          </a:solidFill>
                          <a:latin typeface="Montserrat"/>
                        </a:rPr>
                        <a:t>Dawn Pettengill, Tarah Wilson</a:t>
                      </a:r>
                      <a:endParaRPr lang="en-US" sz="1800"/>
                    </a:p>
                  </a:txBody>
                  <a:tcPr/>
                </a:tc>
                <a:tc>
                  <a:txBody>
                    <a:bodyPr/>
                    <a:lstStyle/>
                    <a:p>
                      <a:r>
                        <a:rPr lang="en-US" sz="1800"/>
                        <a:t>Shibu Prabha</a:t>
                      </a:r>
                    </a:p>
                  </a:txBody>
                  <a:tcPr/>
                </a:tc>
                <a:extLst>
                  <a:ext uri="{0D108BD9-81ED-4DB2-BD59-A6C34878D82A}">
                    <a16:rowId xmlns:a16="http://schemas.microsoft.com/office/drawing/2014/main" val="2531424289"/>
                  </a:ext>
                </a:extLst>
              </a:tr>
              <a:tr h="370840">
                <a:tc>
                  <a:txBody>
                    <a:bodyPr/>
                    <a:lstStyle/>
                    <a:p>
                      <a:r>
                        <a:rPr lang="en-US" sz="1800"/>
                        <a:t>Contract</a:t>
                      </a:r>
                    </a:p>
                  </a:txBody>
                  <a:tcPr/>
                </a:tc>
                <a:tc>
                  <a:txBody>
                    <a:bodyPr/>
                    <a:lstStyle/>
                    <a:p>
                      <a:pPr lvl="0">
                        <a:buNone/>
                      </a:pPr>
                      <a:r>
                        <a:rPr lang="en-US" sz="1800" b="0" i="0" u="none" strike="noStrike" noProof="0">
                          <a:solidFill>
                            <a:srgbClr val="000000"/>
                          </a:solidFill>
                          <a:latin typeface="Montserrat"/>
                        </a:rPr>
                        <a:t>Customer, Finance, Supply Chain</a:t>
                      </a:r>
                      <a:endParaRPr lang="en-US" sz="1800"/>
                    </a:p>
                  </a:txBody>
                  <a:tcPr/>
                </a:tc>
                <a:tc>
                  <a:txBody>
                    <a:bodyPr/>
                    <a:lstStyle/>
                    <a:p>
                      <a:pPr lvl="0">
                        <a:buNone/>
                      </a:pPr>
                      <a:r>
                        <a:rPr lang="en-US" sz="1800" b="0" i="0" u="none" strike="noStrike" noProof="0">
                          <a:solidFill>
                            <a:srgbClr val="000000"/>
                          </a:solidFill>
                          <a:latin typeface="Montserrat"/>
                        </a:rPr>
                        <a:t>Dawn Pettengill, Tarah Wilson</a:t>
                      </a:r>
                      <a:endParaRPr lang="en-US" sz="1800"/>
                    </a:p>
                  </a:txBody>
                  <a:tcPr/>
                </a:tc>
                <a:tc>
                  <a:txBody>
                    <a:bodyPr/>
                    <a:lstStyle/>
                    <a:p>
                      <a:r>
                        <a:rPr lang="en-US" sz="1800"/>
                        <a:t>Shibu Prabha</a:t>
                      </a:r>
                    </a:p>
                  </a:txBody>
                  <a:tcPr/>
                </a:tc>
                <a:extLst>
                  <a:ext uri="{0D108BD9-81ED-4DB2-BD59-A6C34878D82A}">
                    <a16:rowId xmlns:a16="http://schemas.microsoft.com/office/drawing/2014/main" val="1696993170"/>
                  </a:ext>
                </a:extLst>
              </a:tr>
            </a:tbl>
          </a:graphicData>
        </a:graphic>
      </p:graphicFrame>
    </p:spTree>
    <p:extLst>
      <p:ext uri="{BB962C8B-B14F-4D97-AF65-F5344CB8AC3E}">
        <p14:creationId xmlns:p14="http://schemas.microsoft.com/office/powerpoint/2010/main" val="14178789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81D28-E381-D82D-4CE8-2AD86600F3C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363667B-981C-A7C5-B405-AF1006A4BA19}"/>
              </a:ext>
            </a:extLst>
          </p:cNvPr>
          <p:cNvSpPr>
            <a:spLocks noGrp="1"/>
          </p:cNvSpPr>
          <p:nvPr>
            <p:ph type="title"/>
          </p:nvPr>
        </p:nvSpPr>
        <p:spPr>
          <a:xfrm>
            <a:off x="255766" y="4425702"/>
            <a:ext cx="6483035" cy="1887074"/>
          </a:xfrm>
        </p:spPr>
        <p:txBody>
          <a:bodyPr/>
          <a:lstStyle/>
          <a:p>
            <a:r>
              <a:rPr lang="en-US" sz="4250" b="1">
                <a:latin typeface="Montserrat"/>
              </a:rPr>
              <a:t>02</a:t>
            </a:r>
            <a:r>
              <a:rPr lang="en-US" sz="4250">
                <a:latin typeface="Montserrat"/>
              </a:rPr>
              <a:t> (L3) </a:t>
            </a:r>
            <a:r>
              <a:rPr lang="en-US" sz="4400">
                <a:latin typeface="Montserrat"/>
              </a:rPr>
              <a:t>Create Business Master Data</a:t>
            </a:r>
            <a:endParaRPr lang="en-US"/>
          </a:p>
        </p:txBody>
      </p:sp>
    </p:spTree>
    <p:extLst>
      <p:ext uri="{BB962C8B-B14F-4D97-AF65-F5344CB8AC3E}">
        <p14:creationId xmlns:p14="http://schemas.microsoft.com/office/powerpoint/2010/main" val="28280658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B0A90-C1A5-0B52-017E-17C1C2F179E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D637AB3-A485-D8B8-99EC-E9CD869BA706}"/>
              </a:ext>
            </a:extLst>
          </p:cNvPr>
          <p:cNvSpPr>
            <a:spLocks noGrp="1"/>
          </p:cNvSpPr>
          <p:nvPr>
            <p:ph type="title"/>
          </p:nvPr>
        </p:nvSpPr>
        <p:spPr>
          <a:xfrm>
            <a:off x="-1021" y="5686"/>
            <a:ext cx="12186923" cy="743456"/>
          </a:xfrm>
        </p:spPr>
        <p:txBody>
          <a:bodyPr>
            <a:normAutofit/>
          </a:bodyPr>
          <a:lstStyle/>
          <a:p>
            <a:r>
              <a:rPr lang="en-US" sz="3200">
                <a:latin typeface="Montserrat"/>
              </a:rPr>
              <a:t>Business Partner Number Ranges and Replication</a:t>
            </a:r>
          </a:p>
        </p:txBody>
      </p:sp>
      <p:sp>
        <p:nvSpPr>
          <p:cNvPr id="6" name="TextBox 5">
            <a:extLst>
              <a:ext uri="{FF2B5EF4-FFF2-40B4-BE49-F238E27FC236}">
                <a16:creationId xmlns:a16="http://schemas.microsoft.com/office/drawing/2014/main" id="{D4AC7B8F-0085-B017-915D-859C0EA92D63}"/>
              </a:ext>
            </a:extLst>
          </p:cNvPr>
          <p:cNvSpPr txBox="1"/>
          <p:nvPr/>
        </p:nvSpPr>
        <p:spPr>
          <a:xfrm>
            <a:off x="1993692" y="2308485"/>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2" name="TextBox 1">
            <a:extLst>
              <a:ext uri="{FF2B5EF4-FFF2-40B4-BE49-F238E27FC236}">
                <a16:creationId xmlns:a16="http://schemas.microsoft.com/office/drawing/2014/main" id="{284AB7F5-0036-94DE-070B-1B8490A13AB2}"/>
              </a:ext>
            </a:extLst>
          </p:cNvPr>
          <p:cNvSpPr txBox="1"/>
          <p:nvPr/>
        </p:nvSpPr>
        <p:spPr>
          <a:xfrm>
            <a:off x="-7917" y="955788"/>
            <a:ext cx="12172947"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When creating a new business partner from SAP S4HANA, SAP will use the internal number range configured in SAP S4HANA. Once the business partner is saved, the business partner </a:t>
            </a:r>
            <a:r>
              <a:rPr lang="en-US">
                <a:ea typeface="+mn-lt"/>
                <a:cs typeface="+mn-lt"/>
              </a:rPr>
              <a:t>1006483279 as an example. Replication from SAP S4HANA to SAP Service Cloud v2 will be triggered. The external number in SAP Service Cloud v2 will be used to create the same business partner number created in S4HANA. Therefore, business partner 1006483279 now exists in both systems. </a:t>
            </a:r>
          </a:p>
          <a:p>
            <a:endParaRPr lang="en-US"/>
          </a:p>
          <a:p>
            <a:r>
              <a:rPr lang="en-US"/>
              <a:t>When creating a new business partner from SAP Service Cloud v2, SAP will use the internal number range configured in Service Cloud v2. Once the business partner is saved, the business partner </a:t>
            </a:r>
            <a:r>
              <a:rPr lang="en-US">
                <a:ea typeface="+mn-lt"/>
                <a:cs typeface="+mn-lt"/>
              </a:rPr>
              <a:t>1031941770</a:t>
            </a:r>
            <a:r>
              <a:rPr lang="en-US"/>
              <a:t> as an example. Replication from SAP Service Cloud v2 to SAP S4HANA will be triggered. The external number in SAP S4HANA will be used to create the same business partner number created in S4HANA. Therefore, business partner 1031941770 now exists in both systems. </a:t>
            </a:r>
          </a:p>
        </p:txBody>
      </p:sp>
      <p:graphicFrame>
        <p:nvGraphicFramePr>
          <p:cNvPr id="8" name="Table 7">
            <a:extLst>
              <a:ext uri="{FF2B5EF4-FFF2-40B4-BE49-F238E27FC236}">
                <a16:creationId xmlns:a16="http://schemas.microsoft.com/office/drawing/2014/main" id="{610337C4-32BD-DD95-73FA-AB11EB79895C}"/>
              </a:ext>
            </a:extLst>
          </p:cNvPr>
          <p:cNvGraphicFramePr>
            <a:graphicFrameLocks noGrp="1"/>
          </p:cNvGraphicFramePr>
          <p:nvPr>
            <p:extLst>
              <p:ext uri="{D42A27DB-BD31-4B8C-83A1-F6EECF244321}">
                <p14:modId xmlns:p14="http://schemas.microsoft.com/office/powerpoint/2010/main" val="1041996798"/>
              </p:ext>
            </p:extLst>
          </p:nvPr>
        </p:nvGraphicFramePr>
        <p:xfrm>
          <a:off x="167494" y="3753697"/>
          <a:ext cx="10974078" cy="1220340"/>
        </p:xfrm>
        <a:graphic>
          <a:graphicData uri="http://schemas.openxmlformats.org/drawingml/2006/table">
            <a:tbl>
              <a:tblPr firstRow="1" bandRow="1">
                <a:tableStyleId>{5C22544A-7EE6-4342-B048-85BDC9FD1C3A}</a:tableStyleId>
              </a:tblPr>
              <a:tblGrid>
                <a:gridCol w="920922">
                  <a:extLst>
                    <a:ext uri="{9D8B030D-6E8A-4147-A177-3AD203B41FA5}">
                      <a16:colId xmlns:a16="http://schemas.microsoft.com/office/drawing/2014/main" val="1859295381"/>
                    </a:ext>
                  </a:extLst>
                </a:gridCol>
                <a:gridCol w="1402635">
                  <a:extLst>
                    <a:ext uri="{9D8B030D-6E8A-4147-A177-3AD203B41FA5}">
                      <a16:colId xmlns:a16="http://schemas.microsoft.com/office/drawing/2014/main" val="4125018432"/>
                    </a:ext>
                  </a:extLst>
                </a:gridCol>
                <a:gridCol w="1586817">
                  <a:extLst>
                    <a:ext uri="{9D8B030D-6E8A-4147-A177-3AD203B41FA5}">
                      <a16:colId xmlns:a16="http://schemas.microsoft.com/office/drawing/2014/main" val="2752329662"/>
                    </a:ext>
                  </a:extLst>
                </a:gridCol>
                <a:gridCol w="595054">
                  <a:extLst>
                    <a:ext uri="{9D8B030D-6E8A-4147-A177-3AD203B41FA5}">
                      <a16:colId xmlns:a16="http://schemas.microsoft.com/office/drawing/2014/main" val="1372701946"/>
                    </a:ext>
                  </a:extLst>
                </a:gridCol>
                <a:gridCol w="1275121">
                  <a:extLst>
                    <a:ext uri="{9D8B030D-6E8A-4147-A177-3AD203B41FA5}">
                      <a16:colId xmlns:a16="http://schemas.microsoft.com/office/drawing/2014/main" val="1122817577"/>
                    </a:ext>
                  </a:extLst>
                </a:gridCol>
                <a:gridCol w="1416803">
                  <a:extLst>
                    <a:ext uri="{9D8B030D-6E8A-4147-A177-3AD203B41FA5}">
                      <a16:colId xmlns:a16="http://schemas.microsoft.com/office/drawing/2014/main" val="709650641"/>
                    </a:ext>
                  </a:extLst>
                </a:gridCol>
                <a:gridCol w="2626622">
                  <a:extLst>
                    <a:ext uri="{9D8B030D-6E8A-4147-A177-3AD203B41FA5}">
                      <a16:colId xmlns:a16="http://schemas.microsoft.com/office/drawing/2014/main" val="3379084665"/>
                    </a:ext>
                  </a:extLst>
                </a:gridCol>
                <a:gridCol w="1150104">
                  <a:extLst>
                    <a:ext uri="{9D8B030D-6E8A-4147-A177-3AD203B41FA5}">
                      <a16:colId xmlns:a16="http://schemas.microsoft.com/office/drawing/2014/main" val="7774650"/>
                    </a:ext>
                  </a:extLst>
                </a:gridCol>
              </a:tblGrid>
              <a:tr h="498917">
                <a:tc>
                  <a:txBody>
                    <a:bodyPr/>
                    <a:lstStyle/>
                    <a:p>
                      <a:pPr lvl="0" algn="ctr">
                        <a:buNone/>
                      </a:pPr>
                      <a:r>
                        <a:rPr lang="en-US" sz="1400"/>
                        <a:t>No</a:t>
                      </a:r>
                    </a:p>
                  </a:txBody>
                  <a:tcPr/>
                </a:tc>
                <a:tc>
                  <a:txBody>
                    <a:bodyPr/>
                    <a:lstStyle/>
                    <a:p>
                      <a:pPr lvl="0" algn="ctr">
                        <a:buNone/>
                      </a:pPr>
                      <a:r>
                        <a:rPr lang="en-US" sz="1400"/>
                        <a:t>From No</a:t>
                      </a:r>
                    </a:p>
                  </a:txBody>
                  <a:tcPr/>
                </a:tc>
                <a:tc>
                  <a:txBody>
                    <a:bodyPr/>
                    <a:lstStyle/>
                    <a:p>
                      <a:pPr lvl="0" algn="ctr">
                        <a:buNone/>
                      </a:pPr>
                      <a:r>
                        <a:rPr lang="en-US" sz="1400"/>
                        <a:t>To No</a:t>
                      </a:r>
                    </a:p>
                  </a:txBody>
                  <a:tcPr/>
                </a:tc>
                <a:tc>
                  <a:txBody>
                    <a:bodyPr/>
                    <a:lstStyle/>
                    <a:p>
                      <a:pPr lvl="0" algn="ctr">
                        <a:buNone/>
                      </a:pPr>
                      <a:r>
                        <a:rPr lang="en-US" sz="1400"/>
                        <a:t>Ext</a:t>
                      </a:r>
                    </a:p>
                  </a:txBody>
                  <a:tcPr/>
                </a:tc>
                <a:tc>
                  <a:txBody>
                    <a:bodyPr/>
                    <a:lstStyle/>
                    <a:p>
                      <a:pPr lvl="0" algn="ctr">
                        <a:buNone/>
                      </a:pPr>
                      <a:r>
                        <a:rPr lang="en-US" sz="1400"/>
                        <a:t>Grouping</a:t>
                      </a:r>
                    </a:p>
                  </a:txBody>
                  <a:tcPr/>
                </a:tc>
                <a:tc>
                  <a:txBody>
                    <a:bodyPr/>
                    <a:lstStyle/>
                    <a:p>
                      <a:pPr lvl="0" algn="ctr">
                        <a:buNone/>
                      </a:pPr>
                      <a:r>
                        <a:rPr lang="en-US" sz="1400"/>
                        <a:t>Short Name</a:t>
                      </a:r>
                    </a:p>
                  </a:txBody>
                  <a:tcPr/>
                </a:tc>
                <a:tc>
                  <a:txBody>
                    <a:bodyPr/>
                    <a:lstStyle/>
                    <a:p>
                      <a:pPr lvl="0" algn="ctr">
                        <a:buNone/>
                      </a:pPr>
                      <a:r>
                        <a:rPr lang="en-US" sz="1400"/>
                        <a:t>Description</a:t>
                      </a:r>
                    </a:p>
                  </a:txBody>
                  <a:tcPr/>
                </a:tc>
                <a:tc>
                  <a:txBody>
                    <a:bodyPr/>
                    <a:lstStyle/>
                    <a:p>
                      <a:pPr lvl="0" algn="ctr">
                        <a:buNone/>
                      </a:pPr>
                      <a:r>
                        <a:rPr lang="en-US" sz="1400"/>
                        <a:t>Number Range</a:t>
                      </a:r>
                    </a:p>
                  </a:txBody>
                  <a:tcPr/>
                </a:tc>
                <a:extLst>
                  <a:ext uri="{0D108BD9-81ED-4DB2-BD59-A6C34878D82A}">
                    <a16:rowId xmlns:a16="http://schemas.microsoft.com/office/drawing/2014/main" val="2425112939"/>
                  </a:ext>
                </a:extLst>
              </a:tr>
              <a:tr h="351090">
                <a:tc>
                  <a:txBody>
                    <a:bodyPr/>
                    <a:lstStyle/>
                    <a:p>
                      <a:pPr lvl="0" algn="ctr">
                        <a:buNone/>
                      </a:pPr>
                      <a:r>
                        <a:rPr lang="en-US" sz="1400"/>
                        <a:t>01</a:t>
                      </a:r>
                    </a:p>
                  </a:txBody>
                  <a:tcPr/>
                </a:tc>
                <a:tc>
                  <a:txBody>
                    <a:bodyPr/>
                    <a:lstStyle/>
                    <a:p>
                      <a:pPr lvl="0" algn="ctr">
                        <a:buNone/>
                      </a:pPr>
                      <a:r>
                        <a:rPr lang="en-US" sz="1400"/>
                        <a:t>1000000000</a:t>
                      </a:r>
                    </a:p>
                  </a:txBody>
                  <a:tcPr/>
                </a:tc>
                <a:tc>
                  <a:txBody>
                    <a:bodyPr/>
                    <a:lstStyle/>
                    <a:p>
                      <a:pPr lvl="0" algn="ctr">
                        <a:buNone/>
                      </a:pPr>
                      <a:r>
                        <a:rPr lang="en-US" sz="1400"/>
                        <a:t>1029999999</a:t>
                      </a:r>
                    </a:p>
                  </a:txBody>
                  <a:tcPr/>
                </a:tc>
                <a:tc>
                  <a:txBody>
                    <a:bodyPr/>
                    <a:lstStyle/>
                    <a:p>
                      <a:pPr lvl="0" algn="ctr">
                        <a:buNone/>
                      </a:pPr>
                      <a:endParaRPr lang="en-US" sz="1400"/>
                    </a:p>
                  </a:txBody>
                  <a:tcPr/>
                </a:tc>
                <a:tc>
                  <a:txBody>
                    <a:bodyPr/>
                    <a:lstStyle/>
                    <a:p>
                      <a:pPr lvl="0" algn="ctr">
                        <a:buNone/>
                      </a:pPr>
                      <a:r>
                        <a:rPr lang="en-US" sz="1400"/>
                        <a:t>0001</a:t>
                      </a:r>
                    </a:p>
                  </a:txBody>
                  <a:tcPr/>
                </a:tc>
                <a:tc>
                  <a:txBody>
                    <a:bodyPr/>
                    <a:lstStyle/>
                    <a:p>
                      <a:pPr lvl="0" algn="ctr">
                        <a:buNone/>
                      </a:pPr>
                      <a:r>
                        <a:rPr lang="en-US" sz="1400"/>
                        <a:t>ECC BP's</a:t>
                      </a:r>
                    </a:p>
                  </a:txBody>
                  <a:tcPr/>
                </a:tc>
                <a:tc>
                  <a:txBody>
                    <a:bodyPr/>
                    <a:lstStyle/>
                    <a:p>
                      <a:pPr lvl="0" algn="ctr">
                        <a:buNone/>
                      </a:pPr>
                      <a:r>
                        <a:rPr lang="en-US" sz="1400"/>
                        <a:t>BP's Created in ECC</a:t>
                      </a:r>
                    </a:p>
                  </a:txBody>
                  <a:tcPr/>
                </a:tc>
                <a:tc>
                  <a:txBody>
                    <a:bodyPr/>
                    <a:lstStyle/>
                    <a:p>
                      <a:pPr lvl="0" algn="ctr">
                        <a:buNone/>
                      </a:pPr>
                      <a:r>
                        <a:rPr lang="en-US" sz="1400"/>
                        <a:t>01</a:t>
                      </a:r>
                    </a:p>
                  </a:txBody>
                  <a:tcPr/>
                </a:tc>
                <a:extLst>
                  <a:ext uri="{0D108BD9-81ED-4DB2-BD59-A6C34878D82A}">
                    <a16:rowId xmlns:a16="http://schemas.microsoft.com/office/drawing/2014/main" val="1939654581"/>
                  </a:ext>
                </a:extLst>
              </a:tr>
              <a:tr h="351090">
                <a:tc>
                  <a:txBody>
                    <a:bodyPr/>
                    <a:lstStyle/>
                    <a:p>
                      <a:pPr lvl="0" algn="ctr">
                        <a:buNone/>
                      </a:pPr>
                      <a:r>
                        <a:rPr lang="en-US" sz="1400"/>
                        <a:t>02</a:t>
                      </a:r>
                    </a:p>
                  </a:txBody>
                  <a:tcPr/>
                </a:tc>
                <a:tc>
                  <a:txBody>
                    <a:bodyPr/>
                    <a:lstStyle/>
                    <a:p>
                      <a:pPr lvl="0" algn="ctr">
                        <a:buNone/>
                      </a:pPr>
                      <a:r>
                        <a:rPr lang="en-US" sz="1400"/>
                        <a:t>1030000000</a:t>
                      </a:r>
                    </a:p>
                  </a:txBody>
                  <a:tcPr/>
                </a:tc>
                <a:tc>
                  <a:txBody>
                    <a:bodyPr/>
                    <a:lstStyle/>
                    <a:p>
                      <a:pPr lvl="0" algn="ctr">
                        <a:buNone/>
                      </a:pPr>
                      <a:r>
                        <a:rPr lang="en-US" sz="1400"/>
                        <a:t>1999999999</a:t>
                      </a:r>
                    </a:p>
                  </a:txBody>
                  <a:tcPr/>
                </a:tc>
                <a:tc>
                  <a:txBody>
                    <a:bodyPr/>
                    <a:lstStyle/>
                    <a:p>
                      <a:pPr lvl="0" algn="ctr">
                        <a:buNone/>
                      </a:pPr>
                      <a:r>
                        <a:rPr lang="en-US" sz="1400"/>
                        <a:t>X</a:t>
                      </a:r>
                    </a:p>
                  </a:txBody>
                  <a:tcPr/>
                </a:tc>
                <a:tc>
                  <a:txBody>
                    <a:bodyPr/>
                    <a:lstStyle/>
                    <a:p>
                      <a:pPr lvl="0" algn="ctr">
                        <a:buNone/>
                      </a:pPr>
                      <a:r>
                        <a:rPr lang="en-US" sz="1400"/>
                        <a:t>0003</a:t>
                      </a:r>
                    </a:p>
                  </a:txBody>
                  <a:tcPr/>
                </a:tc>
                <a:tc>
                  <a:txBody>
                    <a:bodyPr/>
                    <a:lstStyle/>
                    <a:p>
                      <a:pPr lvl="0" algn="ctr">
                        <a:buNone/>
                      </a:pPr>
                      <a:r>
                        <a:rPr lang="en-US" sz="1400"/>
                        <a:t>CRM BP's</a:t>
                      </a:r>
                    </a:p>
                  </a:txBody>
                  <a:tcPr/>
                </a:tc>
                <a:tc>
                  <a:txBody>
                    <a:bodyPr/>
                    <a:lstStyle/>
                    <a:p>
                      <a:pPr lvl="0" algn="ctr">
                        <a:buNone/>
                      </a:pPr>
                      <a:r>
                        <a:rPr lang="en-US" sz="1400"/>
                        <a:t>BP's Created in CRM</a:t>
                      </a:r>
                    </a:p>
                  </a:txBody>
                  <a:tcPr/>
                </a:tc>
                <a:tc>
                  <a:txBody>
                    <a:bodyPr/>
                    <a:lstStyle/>
                    <a:p>
                      <a:pPr lvl="0" algn="ctr">
                        <a:buNone/>
                      </a:pPr>
                      <a:r>
                        <a:rPr lang="en-US" sz="1400"/>
                        <a:t>02</a:t>
                      </a:r>
                    </a:p>
                  </a:txBody>
                  <a:tcPr/>
                </a:tc>
                <a:extLst>
                  <a:ext uri="{0D108BD9-81ED-4DB2-BD59-A6C34878D82A}">
                    <a16:rowId xmlns:a16="http://schemas.microsoft.com/office/drawing/2014/main" val="1922440080"/>
                  </a:ext>
                </a:extLst>
              </a:tr>
            </a:tbl>
          </a:graphicData>
        </a:graphic>
      </p:graphicFrame>
      <p:sp>
        <p:nvSpPr>
          <p:cNvPr id="9" name="TextBox 8">
            <a:extLst>
              <a:ext uri="{FF2B5EF4-FFF2-40B4-BE49-F238E27FC236}">
                <a16:creationId xmlns:a16="http://schemas.microsoft.com/office/drawing/2014/main" id="{9746EAB8-EDDE-F2A4-3C82-B5E33C12A844}"/>
              </a:ext>
            </a:extLst>
          </p:cNvPr>
          <p:cNvSpPr txBox="1"/>
          <p:nvPr/>
        </p:nvSpPr>
        <p:spPr>
          <a:xfrm>
            <a:off x="10323" y="5408863"/>
            <a:ext cx="1113710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*Note*</a:t>
            </a:r>
            <a:r>
              <a:rPr lang="en-US"/>
              <a:t> employees will be created in S4HANA with an internal number range starting with 5* and replicate to Service Cloud v2 with an external number range starting with 8*. This is the same process that occurs today.  </a:t>
            </a:r>
          </a:p>
        </p:txBody>
      </p:sp>
    </p:spTree>
    <p:extLst>
      <p:ext uri="{BB962C8B-B14F-4D97-AF65-F5344CB8AC3E}">
        <p14:creationId xmlns:p14="http://schemas.microsoft.com/office/powerpoint/2010/main" val="40927502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35204-DBC3-A7D2-63EC-AC4CD2F1C2AB}"/>
              </a:ext>
            </a:extLst>
          </p:cNvPr>
          <p:cNvSpPr>
            <a:spLocks noGrp="1"/>
          </p:cNvSpPr>
          <p:nvPr>
            <p:ph type="title"/>
          </p:nvPr>
        </p:nvSpPr>
        <p:spPr>
          <a:xfrm>
            <a:off x="140684" y="200787"/>
            <a:ext cx="3409855" cy="609600"/>
          </a:xfrm>
        </p:spPr>
        <p:txBody>
          <a:bodyPr>
            <a:normAutofit/>
          </a:bodyPr>
          <a:lstStyle/>
          <a:p>
            <a:r>
              <a:rPr lang="en-US"/>
              <a:t>BP Roles </a:t>
            </a:r>
          </a:p>
        </p:txBody>
      </p:sp>
      <p:graphicFrame>
        <p:nvGraphicFramePr>
          <p:cNvPr id="3" name="Table 2">
            <a:extLst>
              <a:ext uri="{FF2B5EF4-FFF2-40B4-BE49-F238E27FC236}">
                <a16:creationId xmlns:a16="http://schemas.microsoft.com/office/drawing/2014/main" id="{C3BD8FBF-9355-3492-1902-E1ACF134C9CA}"/>
              </a:ext>
            </a:extLst>
          </p:cNvPr>
          <p:cNvGraphicFramePr>
            <a:graphicFrameLocks noGrp="1"/>
          </p:cNvGraphicFramePr>
          <p:nvPr>
            <p:extLst>
              <p:ext uri="{D42A27DB-BD31-4B8C-83A1-F6EECF244321}">
                <p14:modId xmlns:p14="http://schemas.microsoft.com/office/powerpoint/2010/main" val="554141826"/>
              </p:ext>
            </p:extLst>
          </p:nvPr>
        </p:nvGraphicFramePr>
        <p:xfrm>
          <a:off x="4951083" y="196931"/>
          <a:ext cx="6835100" cy="5983633"/>
        </p:xfrm>
        <a:graphic>
          <a:graphicData uri="http://schemas.openxmlformats.org/drawingml/2006/table">
            <a:tbl>
              <a:tblPr firstRow="1" bandRow="1">
                <a:tableStyleId>{5C22544A-7EE6-4342-B048-85BDC9FD1C3A}</a:tableStyleId>
              </a:tblPr>
              <a:tblGrid>
                <a:gridCol w="2388358">
                  <a:extLst>
                    <a:ext uri="{9D8B030D-6E8A-4147-A177-3AD203B41FA5}">
                      <a16:colId xmlns:a16="http://schemas.microsoft.com/office/drawing/2014/main" val="1563910559"/>
                    </a:ext>
                  </a:extLst>
                </a:gridCol>
                <a:gridCol w="4446742">
                  <a:extLst>
                    <a:ext uri="{9D8B030D-6E8A-4147-A177-3AD203B41FA5}">
                      <a16:colId xmlns:a16="http://schemas.microsoft.com/office/drawing/2014/main" val="1136100710"/>
                    </a:ext>
                  </a:extLst>
                </a:gridCol>
              </a:tblGrid>
              <a:tr h="322455">
                <a:tc>
                  <a:txBody>
                    <a:bodyPr/>
                    <a:lstStyle/>
                    <a:p>
                      <a:pPr algn="ctr"/>
                      <a:r>
                        <a:rPr lang="en-US" sz="1600">
                          <a:solidFill>
                            <a:srgbClr val="FFC000"/>
                          </a:solidFill>
                        </a:rPr>
                        <a:t>Custom BP Role in ECC</a:t>
                      </a:r>
                    </a:p>
                  </a:txBody>
                  <a:tcPr/>
                </a:tc>
                <a:tc>
                  <a:txBody>
                    <a:bodyPr/>
                    <a:lstStyle/>
                    <a:p>
                      <a:pPr algn="ctr"/>
                      <a:r>
                        <a:rPr lang="en-US" sz="1600"/>
                        <a:t>Description</a:t>
                      </a:r>
                    </a:p>
                  </a:txBody>
                  <a:tcPr/>
                </a:tc>
                <a:extLst>
                  <a:ext uri="{0D108BD9-81ED-4DB2-BD59-A6C34878D82A}">
                    <a16:rowId xmlns:a16="http://schemas.microsoft.com/office/drawing/2014/main" val="3462280352"/>
                  </a:ext>
                </a:extLst>
              </a:tr>
              <a:tr h="322455">
                <a:tc>
                  <a:txBody>
                    <a:bodyPr/>
                    <a:lstStyle/>
                    <a:p>
                      <a:pPr lvl="0">
                        <a:buNone/>
                      </a:pPr>
                      <a:r>
                        <a:rPr lang="en-US" sz="1600" b="1"/>
                        <a:t>Z3PRTY</a:t>
                      </a:r>
                    </a:p>
                  </a:txBody>
                  <a:tcPr/>
                </a:tc>
                <a:tc>
                  <a:txBody>
                    <a:bodyPr/>
                    <a:lstStyle/>
                    <a:p>
                      <a:r>
                        <a:rPr lang="en-US" sz="1600" b="1"/>
                        <a:t>Authorized 3rd Party</a:t>
                      </a:r>
                    </a:p>
                  </a:txBody>
                  <a:tcPr/>
                </a:tc>
                <a:extLst>
                  <a:ext uri="{0D108BD9-81ED-4DB2-BD59-A6C34878D82A}">
                    <a16:rowId xmlns:a16="http://schemas.microsoft.com/office/drawing/2014/main" val="2108041550"/>
                  </a:ext>
                </a:extLst>
              </a:tr>
              <a:tr h="322455">
                <a:tc>
                  <a:txBody>
                    <a:bodyPr/>
                    <a:lstStyle/>
                    <a:p>
                      <a:pPr lvl="0">
                        <a:buNone/>
                      </a:pPr>
                      <a:r>
                        <a:rPr lang="en-US" sz="1600" b="1"/>
                        <a:t>ZCORPD</a:t>
                      </a:r>
                    </a:p>
                  </a:txBody>
                  <a:tcPr/>
                </a:tc>
                <a:tc>
                  <a:txBody>
                    <a:bodyPr/>
                    <a:lstStyle/>
                    <a:p>
                      <a:r>
                        <a:rPr lang="en-US" sz="1600" b="1"/>
                        <a:t>Corporate Division</a:t>
                      </a:r>
                    </a:p>
                  </a:txBody>
                  <a:tcPr/>
                </a:tc>
                <a:extLst>
                  <a:ext uri="{0D108BD9-81ED-4DB2-BD59-A6C34878D82A}">
                    <a16:rowId xmlns:a16="http://schemas.microsoft.com/office/drawing/2014/main" val="2063194364"/>
                  </a:ext>
                </a:extLst>
              </a:tr>
              <a:tr h="322455">
                <a:tc>
                  <a:txBody>
                    <a:bodyPr/>
                    <a:lstStyle/>
                    <a:p>
                      <a:r>
                        <a:rPr lang="en-US" sz="1600" b="1"/>
                        <a:t>ZE_CAM</a:t>
                      </a:r>
                    </a:p>
                  </a:txBody>
                  <a:tcPr/>
                </a:tc>
                <a:tc>
                  <a:txBody>
                    <a:bodyPr/>
                    <a:lstStyle/>
                    <a:p>
                      <a:r>
                        <a:rPr lang="en-US" sz="1600" b="1"/>
                        <a:t>Employee-CAM</a:t>
                      </a:r>
                    </a:p>
                  </a:txBody>
                  <a:tcPr/>
                </a:tc>
                <a:extLst>
                  <a:ext uri="{0D108BD9-81ED-4DB2-BD59-A6C34878D82A}">
                    <a16:rowId xmlns:a16="http://schemas.microsoft.com/office/drawing/2014/main" val="1970437893"/>
                  </a:ext>
                </a:extLst>
              </a:tr>
              <a:tr h="322455">
                <a:tc>
                  <a:txBody>
                    <a:bodyPr/>
                    <a:lstStyle/>
                    <a:p>
                      <a:r>
                        <a:rPr lang="en-US" sz="1600"/>
                        <a:t>ZES001</a:t>
                      </a:r>
                    </a:p>
                  </a:txBody>
                  <a:tcPr/>
                </a:tc>
                <a:tc>
                  <a:txBody>
                    <a:bodyPr/>
                    <a:lstStyle/>
                    <a:p>
                      <a:r>
                        <a:rPr lang="en-US" sz="1600"/>
                        <a:t>ES Services Customer</a:t>
                      </a:r>
                    </a:p>
                  </a:txBody>
                  <a:tcPr/>
                </a:tc>
                <a:extLst>
                  <a:ext uri="{0D108BD9-81ED-4DB2-BD59-A6C34878D82A}">
                    <a16:rowId xmlns:a16="http://schemas.microsoft.com/office/drawing/2014/main" val="3471108391"/>
                  </a:ext>
                </a:extLst>
              </a:tr>
              <a:tr h="322455">
                <a:tc>
                  <a:txBody>
                    <a:bodyPr/>
                    <a:lstStyle/>
                    <a:p>
                      <a:r>
                        <a:rPr lang="en-US" sz="1600"/>
                        <a:t>ZFAE30</a:t>
                      </a:r>
                    </a:p>
                  </a:txBody>
                  <a:tcPr/>
                </a:tc>
                <a:tc>
                  <a:txBody>
                    <a:bodyPr/>
                    <a:lstStyle/>
                    <a:p>
                      <a:r>
                        <a:rPr lang="en-US" sz="1600"/>
                        <a:t>Occupant 3- Contractor</a:t>
                      </a:r>
                    </a:p>
                  </a:txBody>
                  <a:tcPr/>
                </a:tc>
                <a:extLst>
                  <a:ext uri="{0D108BD9-81ED-4DB2-BD59-A6C34878D82A}">
                    <a16:rowId xmlns:a16="http://schemas.microsoft.com/office/drawing/2014/main" val="1043134829"/>
                  </a:ext>
                </a:extLst>
              </a:tr>
              <a:tr h="322455">
                <a:tc>
                  <a:txBody>
                    <a:bodyPr/>
                    <a:lstStyle/>
                    <a:p>
                      <a:r>
                        <a:rPr lang="en-US" sz="1600"/>
                        <a:t>ZFAI10</a:t>
                      </a:r>
                    </a:p>
                  </a:txBody>
                  <a:tcPr/>
                </a:tc>
                <a:tc>
                  <a:txBody>
                    <a:bodyPr/>
                    <a:lstStyle/>
                    <a:p>
                      <a:r>
                        <a:rPr lang="en-US" sz="1600"/>
                        <a:t>Occupant 1 - Employee</a:t>
                      </a:r>
                    </a:p>
                  </a:txBody>
                  <a:tcPr/>
                </a:tc>
                <a:extLst>
                  <a:ext uri="{0D108BD9-81ED-4DB2-BD59-A6C34878D82A}">
                    <a16:rowId xmlns:a16="http://schemas.microsoft.com/office/drawing/2014/main" val="2184882742"/>
                  </a:ext>
                </a:extLst>
              </a:tr>
              <a:tr h="322455">
                <a:tc>
                  <a:txBody>
                    <a:bodyPr/>
                    <a:lstStyle/>
                    <a:p>
                      <a:r>
                        <a:rPr lang="en-US" sz="1600"/>
                        <a:t>ZFAI20</a:t>
                      </a:r>
                    </a:p>
                  </a:txBody>
                  <a:tcPr/>
                </a:tc>
                <a:tc>
                  <a:txBody>
                    <a:bodyPr/>
                    <a:lstStyle/>
                    <a:p>
                      <a:r>
                        <a:rPr lang="en-US" sz="1600"/>
                        <a:t>Occupant 2 – Cost Center</a:t>
                      </a:r>
                    </a:p>
                  </a:txBody>
                  <a:tcPr/>
                </a:tc>
                <a:extLst>
                  <a:ext uri="{0D108BD9-81ED-4DB2-BD59-A6C34878D82A}">
                    <a16:rowId xmlns:a16="http://schemas.microsoft.com/office/drawing/2014/main" val="101593901"/>
                  </a:ext>
                </a:extLst>
              </a:tr>
              <a:tr h="322455">
                <a:tc>
                  <a:txBody>
                    <a:bodyPr/>
                    <a:lstStyle/>
                    <a:p>
                      <a:pPr lvl="0">
                        <a:buNone/>
                      </a:pPr>
                      <a:r>
                        <a:rPr lang="en-US" sz="1600"/>
                        <a:t>ZFAI40</a:t>
                      </a:r>
                    </a:p>
                  </a:txBody>
                  <a:tcPr/>
                </a:tc>
                <a:tc>
                  <a:txBody>
                    <a:bodyPr/>
                    <a:lstStyle/>
                    <a:p>
                      <a:pPr lvl="0">
                        <a:buNone/>
                      </a:pPr>
                      <a:r>
                        <a:rPr lang="en-US" sz="1600"/>
                        <a:t>Field Leader</a:t>
                      </a:r>
                    </a:p>
                  </a:txBody>
                  <a:tcPr/>
                </a:tc>
                <a:extLst>
                  <a:ext uri="{0D108BD9-81ED-4DB2-BD59-A6C34878D82A}">
                    <a16:rowId xmlns:a16="http://schemas.microsoft.com/office/drawing/2014/main" val="615229678"/>
                  </a:ext>
                </a:extLst>
              </a:tr>
              <a:tr h="322455">
                <a:tc>
                  <a:txBody>
                    <a:bodyPr/>
                    <a:lstStyle/>
                    <a:p>
                      <a:pPr lvl="0">
                        <a:buNone/>
                      </a:pPr>
                      <a:r>
                        <a:rPr lang="en-US" sz="1600" b="1"/>
                        <a:t>ZIDE</a:t>
                      </a:r>
                    </a:p>
                  </a:txBody>
                  <a:tcPr/>
                </a:tc>
                <a:tc>
                  <a:txBody>
                    <a:bodyPr/>
                    <a:lstStyle/>
                    <a:p>
                      <a:pPr lvl="0">
                        <a:buNone/>
                      </a:pPr>
                      <a:r>
                        <a:rPr lang="en-US" sz="1600" b="1"/>
                        <a:t>IDE Contract Partner</a:t>
                      </a:r>
                    </a:p>
                  </a:txBody>
                  <a:tcPr/>
                </a:tc>
                <a:extLst>
                  <a:ext uri="{0D108BD9-81ED-4DB2-BD59-A6C34878D82A}">
                    <a16:rowId xmlns:a16="http://schemas.microsoft.com/office/drawing/2014/main" val="243461039"/>
                  </a:ext>
                </a:extLst>
              </a:tr>
              <a:tr h="322455">
                <a:tc>
                  <a:txBody>
                    <a:bodyPr/>
                    <a:lstStyle/>
                    <a:p>
                      <a:pPr lvl="0">
                        <a:buNone/>
                      </a:pPr>
                      <a:r>
                        <a:rPr lang="en-US" sz="1600" b="1"/>
                        <a:t>ZPARNT</a:t>
                      </a:r>
                    </a:p>
                  </a:txBody>
                  <a:tcPr/>
                </a:tc>
                <a:tc>
                  <a:txBody>
                    <a:bodyPr/>
                    <a:lstStyle/>
                    <a:p>
                      <a:pPr lvl="0">
                        <a:buNone/>
                      </a:pPr>
                      <a:r>
                        <a:rPr lang="en-US" sz="1600" b="1"/>
                        <a:t>Parent</a:t>
                      </a:r>
                    </a:p>
                  </a:txBody>
                  <a:tcPr/>
                </a:tc>
                <a:extLst>
                  <a:ext uri="{0D108BD9-81ED-4DB2-BD59-A6C34878D82A}">
                    <a16:rowId xmlns:a16="http://schemas.microsoft.com/office/drawing/2014/main" val="3374779250"/>
                  </a:ext>
                </a:extLst>
              </a:tr>
              <a:tr h="375313">
                <a:tc>
                  <a:txBody>
                    <a:bodyPr/>
                    <a:lstStyle/>
                    <a:p>
                      <a:pPr lvl="0">
                        <a:buNone/>
                      </a:pPr>
                      <a:r>
                        <a:rPr lang="en-US" sz="1600"/>
                        <a:t>ZSC001</a:t>
                      </a:r>
                    </a:p>
                  </a:txBody>
                  <a:tcPr/>
                </a:tc>
                <a:tc>
                  <a:txBody>
                    <a:bodyPr/>
                    <a:lstStyle/>
                    <a:p>
                      <a:pPr lvl="0">
                        <a:buNone/>
                      </a:pPr>
                      <a:r>
                        <a:rPr lang="en-US" sz="1600"/>
                        <a:t>SC Business Partner</a:t>
                      </a:r>
                    </a:p>
                  </a:txBody>
                  <a:tcPr/>
                </a:tc>
                <a:extLst>
                  <a:ext uri="{0D108BD9-81ED-4DB2-BD59-A6C34878D82A}">
                    <a16:rowId xmlns:a16="http://schemas.microsoft.com/office/drawing/2014/main" val="614171918"/>
                  </a:ext>
                </a:extLst>
              </a:tr>
              <a:tr h="324134">
                <a:tc>
                  <a:txBody>
                    <a:bodyPr/>
                    <a:lstStyle/>
                    <a:p>
                      <a:pPr lvl="0">
                        <a:buNone/>
                      </a:pPr>
                      <a:r>
                        <a:rPr lang="en-US" sz="1600" b="1"/>
                        <a:t>ZSUBSD</a:t>
                      </a:r>
                    </a:p>
                  </a:txBody>
                  <a:tcPr/>
                </a:tc>
                <a:tc>
                  <a:txBody>
                    <a:bodyPr/>
                    <a:lstStyle/>
                    <a:p>
                      <a:pPr lvl="0">
                        <a:buNone/>
                      </a:pPr>
                      <a:r>
                        <a:rPr lang="en-US" sz="1600" b="1"/>
                        <a:t>Subsidiary</a:t>
                      </a:r>
                    </a:p>
                  </a:txBody>
                  <a:tcPr/>
                </a:tc>
                <a:extLst>
                  <a:ext uri="{0D108BD9-81ED-4DB2-BD59-A6C34878D82A}">
                    <a16:rowId xmlns:a16="http://schemas.microsoft.com/office/drawing/2014/main" val="562830134"/>
                  </a:ext>
                </a:extLst>
              </a:tr>
              <a:tr h="322455">
                <a:tc>
                  <a:txBody>
                    <a:bodyPr/>
                    <a:lstStyle/>
                    <a:p>
                      <a:pPr lvl="0">
                        <a:buNone/>
                      </a:pPr>
                      <a:r>
                        <a:rPr lang="en-US" sz="1600" b="1"/>
                        <a:t>ZSVCPR</a:t>
                      </a:r>
                    </a:p>
                  </a:txBody>
                  <a:tcPr/>
                </a:tc>
                <a:tc>
                  <a:txBody>
                    <a:bodyPr/>
                    <a:lstStyle/>
                    <a:p>
                      <a:pPr lvl="0">
                        <a:buNone/>
                      </a:pPr>
                      <a:r>
                        <a:rPr lang="en-US" sz="1600" b="1"/>
                        <a:t>Service Provider</a:t>
                      </a:r>
                    </a:p>
                  </a:txBody>
                  <a:tcPr/>
                </a:tc>
                <a:extLst>
                  <a:ext uri="{0D108BD9-81ED-4DB2-BD59-A6C34878D82A}">
                    <a16:rowId xmlns:a16="http://schemas.microsoft.com/office/drawing/2014/main" val="2452127989"/>
                  </a:ext>
                </a:extLst>
              </a:tr>
              <a:tr h="322455">
                <a:tc>
                  <a:txBody>
                    <a:bodyPr/>
                    <a:lstStyle/>
                    <a:p>
                      <a:pPr lvl="0">
                        <a:buNone/>
                      </a:pPr>
                      <a:r>
                        <a:rPr lang="en-US" sz="1600"/>
                        <a:t>ZTA001</a:t>
                      </a:r>
                    </a:p>
                  </a:txBody>
                  <a:tcPr/>
                </a:tc>
                <a:tc>
                  <a:txBody>
                    <a:bodyPr/>
                    <a:lstStyle/>
                    <a:p>
                      <a:pPr lvl="0">
                        <a:buNone/>
                      </a:pPr>
                      <a:r>
                        <a:rPr lang="en-US" sz="1600"/>
                        <a:t>TA Business Partner-Vend</a:t>
                      </a:r>
                    </a:p>
                  </a:txBody>
                  <a:tcPr/>
                </a:tc>
                <a:extLst>
                  <a:ext uri="{0D108BD9-81ED-4DB2-BD59-A6C34878D82A}">
                    <a16:rowId xmlns:a16="http://schemas.microsoft.com/office/drawing/2014/main" val="825951031"/>
                  </a:ext>
                </a:extLst>
              </a:tr>
              <a:tr h="322455">
                <a:tc>
                  <a:txBody>
                    <a:bodyPr/>
                    <a:lstStyle/>
                    <a:p>
                      <a:pPr lvl="0">
                        <a:buNone/>
                      </a:pPr>
                      <a:r>
                        <a:rPr lang="en-US" sz="1600"/>
                        <a:t>ZTA002</a:t>
                      </a:r>
                    </a:p>
                  </a:txBody>
                  <a:tcPr/>
                </a:tc>
                <a:tc>
                  <a:txBody>
                    <a:bodyPr/>
                    <a:lstStyle/>
                    <a:p>
                      <a:pPr lvl="0">
                        <a:buNone/>
                      </a:pPr>
                      <a:r>
                        <a:rPr lang="en-US" sz="1600"/>
                        <a:t>TA Business Partner-CMS</a:t>
                      </a:r>
                    </a:p>
                  </a:txBody>
                  <a:tcPr/>
                </a:tc>
                <a:extLst>
                  <a:ext uri="{0D108BD9-81ED-4DB2-BD59-A6C34878D82A}">
                    <a16:rowId xmlns:a16="http://schemas.microsoft.com/office/drawing/2014/main" val="1422431102"/>
                  </a:ext>
                </a:extLst>
              </a:tr>
              <a:tr h="322455">
                <a:tc>
                  <a:txBody>
                    <a:bodyPr/>
                    <a:lstStyle/>
                    <a:p>
                      <a:pPr lvl="0">
                        <a:buNone/>
                      </a:pPr>
                      <a:r>
                        <a:rPr lang="en-US" sz="1600"/>
                        <a:t>ZTA003</a:t>
                      </a:r>
                    </a:p>
                  </a:txBody>
                  <a:tcPr/>
                </a:tc>
                <a:tc>
                  <a:txBody>
                    <a:bodyPr/>
                    <a:lstStyle/>
                    <a:p>
                      <a:pPr lvl="0">
                        <a:buNone/>
                      </a:pPr>
                      <a:r>
                        <a:rPr lang="en-US" sz="1600"/>
                        <a:t>TA-SG-E2E-BusinessPartner</a:t>
                      </a:r>
                    </a:p>
                  </a:txBody>
                  <a:tcPr/>
                </a:tc>
                <a:extLst>
                  <a:ext uri="{0D108BD9-81ED-4DB2-BD59-A6C34878D82A}">
                    <a16:rowId xmlns:a16="http://schemas.microsoft.com/office/drawing/2014/main" val="2825771477"/>
                  </a:ext>
                </a:extLst>
              </a:tr>
            </a:tbl>
          </a:graphicData>
        </a:graphic>
      </p:graphicFrame>
      <p:sp>
        <p:nvSpPr>
          <p:cNvPr id="4" name="TextBox 3">
            <a:extLst>
              <a:ext uri="{FF2B5EF4-FFF2-40B4-BE49-F238E27FC236}">
                <a16:creationId xmlns:a16="http://schemas.microsoft.com/office/drawing/2014/main" id="{8CBD055E-ABF4-54BD-B70A-3CF83127C7FB}"/>
              </a:ext>
            </a:extLst>
          </p:cNvPr>
          <p:cNvSpPr txBox="1"/>
          <p:nvPr/>
        </p:nvSpPr>
        <p:spPr>
          <a:xfrm>
            <a:off x="-3867" y="811041"/>
            <a:ext cx="4933947" cy="2346796"/>
          </a:xfrm>
          <a:prstGeom prst="rect">
            <a:avLst/>
          </a:prstGeom>
          <a:noFill/>
          <a:ln>
            <a:solidFill>
              <a:schemeClr val="bg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latin typeface="Montserrat"/>
              </a:rPr>
              <a:t>When a Business Partner is created n SAP, the business partner will assume one or more roles to show the nature of the business that is occurring between the business parter and Consumers. </a:t>
            </a:r>
          </a:p>
          <a:p>
            <a:endParaRPr lang="en-US" sz="1050">
              <a:latin typeface="Montserrat" pitchFamily="2" charset="77"/>
            </a:endParaRPr>
          </a:p>
          <a:p>
            <a:r>
              <a:rPr lang="en-US" sz="1050">
                <a:latin typeface="Montserrat"/>
              </a:rPr>
              <a:t>If the business partner is the utility customer of Consumers, the business partner will have the "Contract Partner" (MKK) role. Once the business partner is created, the role can be modified, or additional roles can be assigned. </a:t>
            </a:r>
          </a:p>
          <a:p>
            <a:endParaRPr lang="en-US" sz="1050">
              <a:latin typeface="Montserrat"/>
            </a:endParaRPr>
          </a:p>
          <a:p>
            <a:r>
              <a:rPr lang="en-US" sz="1050" b="1">
                <a:latin typeface="Montserrat"/>
              </a:rPr>
              <a:t>Consumers has 53 Business Partner Roles in CRM7 and 119 Business Partner Roles in ECC. Service Cloud will map the 53 roles to the corresponding S4HANA roles. </a:t>
            </a:r>
            <a:r>
              <a:rPr lang="en-US" sz="1050">
                <a:latin typeface="Montserrat"/>
              </a:rPr>
              <a:t>The following are the custom z roles that will remain in the future state. </a:t>
            </a:r>
          </a:p>
          <a:p>
            <a:endParaRPr lang="en-US" sz="1000">
              <a:latin typeface="Montserrat"/>
            </a:endParaRPr>
          </a:p>
        </p:txBody>
      </p:sp>
      <p:graphicFrame>
        <p:nvGraphicFramePr>
          <p:cNvPr id="5" name="Table 4">
            <a:extLst>
              <a:ext uri="{FF2B5EF4-FFF2-40B4-BE49-F238E27FC236}">
                <a16:creationId xmlns:a16="http://schemas.microsoft.com/office/drawing/2014/main" id="{E6C973E1-6B0C-5023-E88A-262DB2D5CB09}"/>
              </a:ext>
            </a:extLst>
          </p:cNvPr>
          <p:cNvGraphicFramePr>
            <a:graphicFrameLocks noGrp="1"/>
          </p:cNvGraphicFramePr>
          <p:nvPr>
            <p:extLst>
              <p:ext uri="{D42A27DB-BD31-4B8C-83A1-F6EECF244321}">
                <p14:modId xmlns:p14="http://schemas.microsoft.com/office/powerpoint/2010/main" val="2788977147"/>
              </p:ext>
            </p:extLst>
          </p:nvPr>
        </p:nvGraphicFramePr>
        <p:xfrm>
          <a:off x="142875" y="3119437"/>
          <a:ext cx="4689974" cy="3036316"/>
        </p:xfrm>
        <a:graphic>
          <a:graphicData uri="http://schemas.openxmlformats.org/drawingml/2006/table">
            <a:tbl>
              <a:tblPr firstRow="1" bandRow="1">
                <a:tableStyleId>{5C22544A-7EE6-4342-B048-85BDC9FD1C3A}</a:tableStyleId>
              </a:tblPr>
              <a:tblGrid>
                <a:gridCol w="2344987">
                  <a:extLst>
                    <a:ext uri="{9D8B030D-6E8A-4147-A177-3AD203B41FA5}">
                      <a16:colId xmlns:a16="http://schemas.microsoft.com/office/drawing/2014/main" val="2792330185"/>
                    </a:ext>
                  </a:extLst>
                </a:gridCol>
                <a:gridCol w="2344987">
                  <a:extLst>
                    <a:ext uri="{9D8B030D-6E8A-4147-A177-3AD203B41FA5}">
                      <a16:colId xmlns:a16="http://schemas.microsoft.com/office/drawing/2014/main" val="136402847"/>
                    </a:ext>
                  </a:extLst>
                </a:gridCol>
              </a:tblGrid>
              <a:tr h="526542">
                <a:tc>
                  <a:txBody>
                    <a:bodyPr/>
                    <a:lstStyle/>
                    <a:p>
                      <a:pPr algn="ctr"/>
                      <a:r>
                        <a:rPr lang="en-US" sz="1600" b="1" kern="1200">
                          <a:solidFill>
                            <a:srgbClr val="FFC000"/>
                          </a:solidFill>
                          <a:latin typeface="+mn-lt"/>
                          <a:ea typeface="+mn-ea"/>
                          <a:cs typeface="+mn-cs"/>
                        </a:rPr>
                        <a:t>Custom BP Roles in CRM</a:t>
                      </a:r>
                    </a:p>
                  </a:txBody>
                  <a:tcPr anchor="ctr"/>
                </a:tc>
                <a:tc>
                  <a:txBody>
                    <a:bodyPr/>
                    <a:lstStyle/>
                    <a:p>
                      <a:pPr algn="ctr"/>
                      <a:r>
                        <a:rPr lang="en-US" sz="1600" b="1" kern="1200">
                          <a:solidFill>
                            <a:schemeClr val="lt1"/>
                          </a:solidFill>
                          <a:latin typeface="+mn-lt"/>
                          <a:ea typeface="+mn-ea"/>
                          <a:cs typeface="+mn-cs"/>
                        </a:rPr>
                        <a:t>Description</a:t>
                      </a:r>
                    </a:p>
                  </a:txBody>
                  <a:tcPr anchor="ctr"/>
                </a:tc>
                <a:extLst>
                  <a:ext uri="{0D108BD9-81ED-4DB2-BD59-A6C34878D82A}">
                    <a16:rowId xmlns:a16="http://schemas.microsoft.com/office/drawing/2014/main" val="2065999821"/>
                  </a:ext>
                </a:extLst>
              </a:tr>
              <a:tr h="351028">
                <a:tc>
                  <a:txBody>
                    <a:bodyPr/>
                    <a:lstStyle/>
                    <a:p>
                      <a:pPr lvl="0">
                        <a:buNone/>
                      </a:pPr>
                      <a:r>
                        <a:rPr lang="en-US" sz="1600" b="1" i="0" u="none" strike="noStrike" noProof="0">
                          <a:solidFill>
                            <a:srgbClr val="000000"/>
                          </a:solidFill>
                          <a:latin typeface="Montserrat"/>
                        </a:rPr>
                        <a:t>Z3PRTY</a:t>
                      </a:r>
                      <a:endParaRPr lang="en-US" b="1"/>
                    </a:p>
                  </a:txBody>
                  <a:tcPr/>
                </a:tc>
                <a:tc>
                  <a:txBody>
                    <a:bodyPr/>
                    <a:lstStyle/>
                    <a:p>
                      <a:pPr lvl="0">
                        <a:buNone/>
                      </a:pPr>
                      <a:r>
                        <a:rPr lang="en-US" sz="1600" b="0" i="0" u="none" strike="noStrike" noProof="0">
                          <a:solidFill>
                            <a:srgbClr val="000000"/>
                          </a:solidFill>
                          <a:latin typeface="Montserrat"/>
                        </a:rPr>
                        <a:t>Authorized 3rd Party</a:t>
                      </a:r>
                      <a:endParaRPr lang="en-US"/>
                    </a:p>
                  </a:txBody>
                  <a:tcPr/>
                </a:tc>
                <a:extLst>
                  <a:ext uri="{0D108BD9-81ED-4DB2-BD59-A6C34878D82A}">
                    <a16:rowId xmlns:a16="http://schemas.microsoft.com/office/drawing/2014/main" val="414274974"/>
                  </a:ext>
                </a:extLst>
              </a:tr>
              <a:tr h="351028">
                <a:tc>
                  <a:txBody>
                    <a:bodyPr/>
                    <a:lstStyle/>
                    <a:p>
                      <a:pPr lvl="0">
                        <a:buNone/>
                      </a:pPr>
                      <a:r>
                        <a:rPr lang="en-US" sz="1600" b="1" i="0" u="none" strike="noStrike" noProof="0">
                          <a:solidFill>
                            <a:srgbClr val="000000"/>
                          </a:solidFill>
                          <a:latin typeface="Montserrat"/>
                        </a:rPr>
                        <a:t>ZCORPD</a:t>
                      </a:r>
                      <a:endParaRPr lang="en-US" b="1"/>
                    </a:p>
                  </a:txBody>
                  <a:tcPr/>
                </a:tc>
                <a:tc>
                  <a:txBody>
                    <a:bodyPr/>
                    <a:lstStyle/>
                    <a:p>
                      <a:pPr lvl="0">
                        <a:buNone/>
                      </a:pPr>
                      <a:r>
                        <a:rPr lang="en-US" sz="1600" b="0" i="0" u="none" strike="noStrike" noProof="0">
                          <a:solidFill>
                            <a:srgbClr val="000000"/>
                          </a:solidFill>
                          <a:latin typeface="Montserrat"/>
                        </a:rPr>
                        <a:t>Corporate Division</a:t>
                      </a:r>
                      <a:endParaRPr lang="en-US"/>
                    </a:p>
                  </a:txBody>
                  <a:tcPr/>
                </a:tc>
                <a:extLst>
                  <a:ext uri="{0D108BD9-81ED-4DB2-BD59-A6C34878D82A}">
                    <a16:rowId xmlns:a16="http://schemas.microsoft.com/office/drawing/2014/main" val="3229761996"/>
                  </a:ext>
                </a:extLst>
              </a:tr>
              <a:tr h="351028">
                <a:tc>
                  <a:txBody>
                    <a:bodyPr/>
                    <a:lstStyle/>
                    <a:p>
                      <a:pPr lvl="0">
                        <a:buNone/>
                      </a:pPr>
                      <a:r>
                        <a:rPr lang="en-US" sz="1600" b="1" i="0" u="none" strike="noStrike" noProof="0">
                          <a:solidFill>
                            <a:srgbClr val="000000"/>
                          </a:solidFill>
                          <a:latin typeface="Montserrat"/>
                        </a:rPr>
                        <a:t>ZE_CAM</a:t>
                      </a:r>
                      <a:endParaRPr lang="en-US" b="1"/>
                    </a:p>
                  </a:txBody>
                  <a:tcPr/>
                </a:tc>
                <a:tc>
                  <a:txBody>
                    <a:bodyPr/>
                    <a:lstStyle/>
                    <a:p>
                      <a:pPr lvl="0">
                        <a:buNone/>
                      </a:pPr>
                      <a:r>
                        <a:rPr lang="en-US" sz="1600" b="0" i="0" u="none" strike="noStrike" noProof="0">
                          <a:solidFill>
                            <a:srgbClr val="000000"/>
                          </a:solidFill>
                          <a:latin typeface="Montserrat"/>
                        </a:rPr>
                        <a:t>Employee-CAM</a:t>
                      </a:r>
                      <a:endParaRPr lang="en-US"/>
                    </a:p>
                  </a:txBody>
                  <a:tcPr/>
                </a:tc>
                <a:extLst>
                  <a:ext uri="{0D108BD9-81ED-4DB2-BD59-A6C34878D82A}">
                    <a16:rowId xmlns:a16="http://schemas.microsoft.com/office/drawing/2014/main" val="3891566193"/>
                  </a:ext>
                </a:extLst>
              </a:tr>
              <a:tr h="351028">
                <a:tc>
                  <a:txBody>
                    <a:bodyPr/>
                    <a:lstStyle/>
                    <a:p>
                      <a:pPr lvl="0">
                        <a:buNone/>
                      </a:pPr>
                      <a:r>
                        <a:rPr lang="en-US" sz="1600" b="1"/>
                        <a:t>ZIDE</a:t>
                      </a:r>
                      <a:endParaRPr lang="en-US" b="1"/>
                    </a:p>
                  </a:txBody>
                  <a:tcPr/>
                </a:tc>
                <a:tc>
                  <a:txBody>
                    <a:bodyPr/>
                    <a:lstStyle/>
                    <a:p>
                      <a:pPr lvl="0">
                        <a:buNone/>
                      </a:pPr>
                      <a:r>
                        <a:rPr lang="en-US" sz="1600" b="0" i="0" u="none" strike="noStrike" noProof="0">
                          <a:solidFill>
                            <a:srgbClr val="000000"/>
                          </a:solidFill>
                          <a:latin typeface="Montserrat"/>
                        </a:rPr>
                        <a:t>IDE Contract Partner</a:t>
                      </a:r>
                      <a:endParaRPr lang="en-US"/>
                    </a:p>
                  </a:txBody>
                  <a:tcPr/>
                </a:tc>
                <a:extLst>
                  <a:ext uri="{0D108BD9-81ED-4DB2-BD59-A6C34878D82A}">
                    <a16:rowId xmlns:a16="http://schemas.microsoft.com/office/drawing/2014/main" val="1349095150"/>
                  </a:ext>
                </a:extLst>
              </a:tr>
              <a:tr h="351028">
                <a:tc>
                  <a:txBody>
                    <a:bodyPr/>
                    <a:lstStyle/>
                    <a:p>
                      <a:pPr lvl="0">
                        <a:buNone/>
                      </a:pPr>
                      <a:r>
                        <a:rPr lang="en-US" sz="1600" b="1"/>
                        <a:t>ZPARNT</a:t>
                      </a:r>
                      <a:endParaRPr lang="en-US" b="1"/>
                    </a:p>
                  </a:txBody>
                  <a:tcPr/>
                </a:tc>
                <a:tc>
                  <a:txBody>
                    <a:bodyPr/>
                    <a:lstStyle/>
                    <a:p>
                      <a:pPr lvl="0">
                        <a:buNone/>
                      </a:pPr>
                      <a:r>
                        <a:rPr lang="en-US" sz="1600" b="0" i="0" u="none" strike="noStrike" noProof="0">
                          <a:solidFill>
                            <a:srgbClr val="000000"/>
                          </a:solidFill>
                          <a:latin typeface="Montserrat"/>
                        </a:rPr>
                        <a:t>Parent</a:t>
                      </a:r>
                      <a:endParaRPr lang="en-US"/>
                    </a:p>
                  </a:txBody>
                  <a:tcPr/>
                </a:tc>
                <a:extLst>
                  <a:ext uri="{0D108BD9-81ED-4DB2-BD59-A6C34878D82A}">
                    <a16:rowId xmlns:a16="http://schemas.microsoft.com/office/drawing/2014/main" val="3011054916"/>
                  </a:ext>
                </a:extLst>
              </a:tr>
              <a:tr h="351028">
                <a:tc>
                  <a:txBody>
                    <a:bodyPr/>
                    <a:lstStyle/>
                    <a:p>
                      <a:pPr lvl="0">
                        <a:buNone/>
                      </a:pPr>
                      <a:r>
                        <a:rPr lang="en-US" sz="1600" b="1"/>
                        <a:t>ZSUBSD</a:t>
                      </a:r>
                      <a:endParaRPr lang="en-US" b="1"/>
                    </a:p>
                  </a:txBody>
                  <a:tcPr/>
                </a:tc>
                <a:tc>
                  <a:txBody>
                    <a:bodyPr/>
                    <a:lstStyle/>
                    <a:p>
                      <a:pPr lvl="0">
                        <a:buNone/>
                      </a:pPr>
                      <a:r>
                        <a:rPr lang="en-US" sz="1600" b="0" i="0" u="none" strike="noStrike" noProof="0">
                          <a:solidFill>
                            <a:srgbClr val="000000"/>
                          </a:solidFill>
                          <a:latin typeface="Montserrat"/>
                        </a:rPr>
                        <a:t>Subsidiary</a:t>
                      </a:r>
                      <a:endParaRPr lang="en-US"/>
                    </a:p>
                  </a:txBody>
                  <a:tcPr/>
                </a:tc>
                <a:extLst>
                  <a:ext uri="{0D108BD9-81ED-4DB2-BD59-A6C34878D82A}">
                    <a16:rowId xmlns:a16="http://schemas.microsoft.com/office/drawing/2014/main" val="494181651"/>
                  </a:ext>
                </a:extLst>
              </a:tr>
              <a:tr h="351028">
                <a:tc>
                  <a:txBody>
                    <a:bodyPr/>
                    <a:lstStyle/>
                    <a:p>
                      <a:pPr lvl="0">
                        <a:buNone/>
                      </a:pPr>
                      <a:r>
                        <a:rPr lang="en-US" sz="1600" b="1"/>
                        <a:t>ZSVCPR</a:t>
                      </a:r>
                      <a:endParaRPr lang="en-US" b="1"/>
                    </a:p>
                  </a:txBody>
                  <a:tcPr/>
                </a:tc>
                <a:tc>
                  <a:txBody>
                    <a:bodyPr/>
                    <a:lstStyle/>
                    <a:p>
                      <a:pPr lvl="0">
                        <a:buNone/>
                      </a:pPr>
                      <a:r>
                        <a:rPr lang="en-US" sz="1600" b="0" i="0" u="none" strike="noStrike" noProof="0">
                          <a:solidFill>
                            <a:srgbClr val="000000"/>
                          </a:solidFill>
                          <a:latin typeface="Montserrat"/>
                        </a:rPr>
                        <a:t>Service Provider</a:t>
                      </a:r>
                      <a:endParaRPr lang="en-US"/>
                    </a:p>
                  </a:txBody>
                  <a:tcPr/>
                </a:tc>
                <a:extLst>
                  <a:ext uri="{0D108BD9-81ED-4DB2-BD59-A6C34878D82A}">
                    <a16:rowId xmlns:a16="http://schemas.microsoft.com/office/drawing/2014/main" val="1937261014"/>
                  </a:ext>
                </a:extLst>
              </a:tr>
            </a:tbl>
          </a:graphicData>
        </a:graphic>
      </p:graphicFrame>
    </p:spTree>
    <p:extLst>
      <p:ext uri="{BB962C8B-B14F-4D97-AF65-F5344CB8AC3E}">
        <p14:creationId xmlns:p14="http://schemas.microsoft.com/office/powerpoint/2010/main" val="37181270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D2C12-8B3D-A98B-F2F4-22DD095F86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7BBA53-C3F9-2511-8401-7C3B940F5143}"/>
              </a:ext>
            </a:extLst>
          </p:cNvPr>
          <p:cNvSpPr>
            <a:spLocks noGrp="1"/>
          </p:cNvSpPr>
          <p:nvPr>
            <p:ph type="title"/>
          </p:nvPr>
        </p:nvSpPr>
        <p:spPr/>
        <p:txBody>
          <a:bodyPr>
            <a:normAutofit/>
          </a:bodyPr>
          <a:lstStyle/>
          <a:p>
            <a:r>
              <a:rPr lang="en-US">
                <a:latin typeface="Montserrat"/>
              </a:rPr>
              <a:t>Custom Business Partner Role Mapping  </a:t>
            </a:r>
          </a:p>
        </p:txBody>
      </p:sp>
      <p:graphicFrame>
        <p:nvGraphicFramePr>
          <p:cNvPr id="5" name="Table 4">
            <a:extLst>
              <a:ext uri="{FF2B5EF4-FFF2-40B4-BE49-F238E27FC236}">
                <a16:creationId xmlns:a16="http://schemas.microsoft.com/office/drawing/2014/main" id="{92F4F39A-F855-66F4-7151-F3AF79986634}"/>
              </a:ext>
            </a:extLst>
          </p:cNvPr>
          <p:cNvGraphicFramePr>
            <a:graphicFrameLocks noGrp="1"/>
          </p:cNvGraphicFramePr>
          <p:nvPr>
            <p:extLst>
              <p:ext uri="{D42A27DB-BD31-4B8C-83A1-F6EECF244321}">
                <p14:modId xmlns:p14="http://schemas.microsoft.com/office/powerpoint/2010/main" val="2591808482"/>
              </p:ext>
            </p:extLst>
          </p:nvPr>
        </p:nvGraphicFramePr>
        <p:xfrm>
          <a:off x="83344" y="1452563"/>
          <a:ext cx="12019088" cy="4684268"/>
        </p:xfrm>
        <a:graphic>
          <a:graphicData uri="http://schemas.openxmlformats.org/drawingml/2006/table">
            <a:tbl>
              <a:tblPr firstRow="1" bandRow="1">
                <a:tableStyleId>{5C22544A-7EE6-4342-B048-85BDC9FD1C3A}</a:tableStyleId>
              </a:tblPr>
              <a:tblGrid>
                <a:gridCol w="1569491">
                  <a:extLst>
                    <a:ext uri="{9D8B030D-6E8A-4147-A177-3AD203B41FA5}">
                      <a16:colId xmlns:a16="http://schemas.microsoft.com/office/drawing/2014/main" val="2792330185"/>
                    </a:ext>
                  </a:extLst>
                </a:gridCol>
                <a:gridCol w="3258403">
                  <a:extLst>
                    <a:ext uri="{9D8B030D-6E8A-4147-A177-3AD203B41FA5}">
                      <a16:colId xmlns:a16="http://schemas.microsoft.com/office/drawing/2014/main" val="136402847"/>
                    </a:ext>
                  </a:extLst>
                </a:gridCol>
                <a:gridCol w="1705967">
                  <a:extLst>
                    <a:ext uri="{9D8B030D-6E8A-4147-A177-3AD203B41FA5}">
                      <a16:colId xmlns:a16="http://schemas.microsoft.com/office/drawing/2014/main" val="3283775382"/>
                    </a:ext>
                  </a:extLst>
                </a:gridCol>
                <a:gridCol w="2393132">
                  <a:extLst>
                    <a:ext uri="{9D8B030D-6E8A-4147-A177-3AD203B41FA5}">
                      <a16:colId xmlns:a16="http://schemas.microsoft.com/office/drawing/2014/main" val="4042153328"/>
                    </a:ext>
                  </a:extLst>
                </a:gridCol>
                <a:gridCol w="3092095">
                  <a:extLst>
                    <a:ext uri="{9D8B030D-6E8A-4147-A177-3AD203B41FA5}">
                      <a16:colId xmlns:a16="http://schemas.microsoft.com/office/drawing/2014/main" val="2552122475"/>
                    </a:ext>
                  </a:extLst>
                </a:gridCol>
              </a:tblGrid>
              <a:tr h="526542">
                <a:tc>
                  <a:txBody>
                    <a:bodyPr/>
                    <a:lstStyle/>
                    <a:p>
                      <a:pPr algn="ctr"/>
                      <a:r>
                        <a:rPr lang="en-US" sz="1600" b="1" kern="1200">
                          <a:solidFill>
                            <a:schemeClr val="lt1"/>
                          </a:solidFill>
                          <a:latin typeface="+mn-lt"/>
                          <a:ea typeface="+mn-ea"/>
                          <a:cs typeface="+mn-cs"/>
                        </a:rPr>
                        <a:t>Custom BP Roles in CRM</a:t>
                      </a:r>
                    </a:p>
                  </a:txBody>
                  <a:tcPr anchor="ctr"/>
                </a:tc>
                <a:tc>
                  <a:txBody>
                    <a:bodyPr/>
                    <a:lstStyle/>
                    <a:p>
                      <a:pPr algn="ctr"/>
                      <a:r>
                        <a:rPr lang="en-US" sz="1600" b="1" kern="1200">
                          <a:solidFill>
                            <a:schemeClr val="lt1"/>
                          </a:solidFill>
                          <a:latin typeface="+mn-lt"/>
                          <a:ea typeface="+mn-ea"/>
                          <a:cs typeface="+mn-cs"/>
                        </a:rPr>
                        <a:t>Description</a:t>
                      </a:r>
                    </a:p>
                  </a:txBody>
                  <a:tcPr anchor="ctr"/>
                </a:tc>
                <a:tc>
                  <a:txBody>
                    <a:bodyPr/>
                    <a:lstStyle/>
                    <a:p>
                      <a:pPr lvl="0" algn="ctr">
                        <a:buNone/>
                      </a:pPr>
                      <a:r>
                        <a:rPr lang="en-US" sz="1600" b="1" kern="1200">
                          <a:solidFill>
                            <a:schemeClr val="lt1"/>
                          </a:solidFill>
                          <a:latin typeface="+mn-lt"/>
                          <a:ea typeface="+mn-ea"/>
                          <a:cs typeface="+mn-cs"/>
                        </a:rPr>
                        <a:t>Direction of Replication</a:t>
                      </a:r>
                    </a:p>
                  </a:txBody>
                  <a:tcPr anchor="ctr"/>
                </a:tc>
                <a:tc>
                  <a:txBody>
                    <a:bodyPr/>
                    <a:lstStyle/>
                    <a:p>
                      <a:pPr lvl="0" algn="ctr">
                        <a:buNone/>
                      </a:pPr>
                      <a:r>
                        <a:rPr lang="en-US" sz="1600" b="1" i="0" u="none" strike="noStrike" kern="1200" noProof="0">
                          <a:solidFill>
                            <a:srgbClr val="FFFEFE"/>
                          </a:solidFill>
                          <a:latin typeface="Montserrat"/>
                          <a:ea typeface="+mn-ea"/>
                          <a:cs typeface="+mn-cs"/>
                        </a:rPr>
                        <a:t>Custom BP Role in ECC</a:t>
                      </a:r>
                      <a:endParaRPr lang="en-US"/>
                    </a:p>
                  </a:txBody>
                  <a:tcPr anchor="ctr"/>
                </a:tc>
                <a:tc>
                  <a:txBody>
                    <a:bodyPr/>
                    <a:lstStyle/>
                    <a:p>
                      <a:pPr lvl="0" algn="ctr">
                        <a:lnSpc>
                          <a:spcPct val="100000"/>
                        </a:lnSpc>
                        <a:spcBef>
                          <a:spcPts val="0"/>
                        </a:spcBef>
                        <a:spcAft>
                          <a:spcPts val="0"/>
                        </a:spcAft>
                        <a:buNone/>
                      </a:pPr>
                      <a:r>
                        <a:rPr lang="en-US" sz="1600" b="1" i="0" u="none" strike="noStrike" kern="1200" noProof="0">
                          <a:solidFill>
                            <a:srgbClr val="FFFEFE"/>
                          </a:solidFill>
                          <a:latin typeface="Montserrat"/>
                          <a:ea typeface="+mn-ea"/>
                          <a:cs typeface="+mn-cs"/>
                        </a:rPr>
                        <a:t>Description</a:t>
                      </a:r>
                    </a:p>
                    <a:p>
                      <a:pPr lvl="0" algn="ctr">
                        <a:buNone/>
                      </a:pPr>
                      <a:endParaRPr lang="en-US" sz="1600" b="1" kern="1200">
                        <a:solidFill>
                          <a:schemeClr val="lt1"/>
                        </a:solidFill>
                        <a:latin typeface="+mn-lt"/>
                        <a:ea typeface="+mn-ea"/>
                        <a:cs typeface="+mn-cs"/>
                      </a:endParaRPr>
                    </a:p>
                  </a:txBody>
                  <a:tcPr anchor="ctr"/>
                </a:tc>
                <a:extLst>
                  <a:ext uri="{0D108BD9-81ED-4DB2-BD59-A6C34878D82A}">
                    <a16:rowId xmlns:a16="http://schemas.microsoft.com/office/drawing/2014/main" val="2065999821"/>
                  </a:ext>
                </a:extLst>
              </a:tr>
              <a:tr h="351028">
                <a:tc>
                  <a:txBody>
                    <a:bodyPr/>
                    <a:lstStyle/>
                    <a:p>
                      <a:pPr lvl="0">
                        <a:buNone/>
                      </a:pPr>
                      <a:r>
                        <a:rPr lang="en-US" sz="1600" b="0" i="0" u="none" strike="noStrike" noProof="0">
                          <a:solidFill>
                            <a:srgbClr val="000000"/>
                          </a:solidFill>
                          <a:latin typeface="Montserrat"/>
                        </a:rPr>
                        <a:t>Z3PRTY</a:t>
                      </a:r>
                      <a:endParaRPr lang="en-US"/>
                    </a:p>
                  </a:txBody>
                  <a:tcPr/>
                </a:tc>
                <a:tc>
                  <a:txBody>
                    <a:bodyPr/>
                    <a:lstStyle/>
                    <a:p>
                      <a:pPr lvl="0">
                        <a:buNone/>
                      </a:pPr>
                      <a:r>
                        <a:rPr lang="en-US" sz="1600" b="0" i="0" u="none" strike="noStrike" noProof="0">
                          <a:solidFill>
                            <a:srgbClr val="000000"/>
                          </a:solidFill>
                          <a:latin typeface="Montserrat"/>
                        </a:rPr>
                        <a:t>Authorized 3rd Party</a:t>
                      </a:r>
                      <a:endParaRPr lang="en-US"/>
                    </a:p>
                  </a:txBody>
                  <a:tcPr/>
                </a:tc>
                <a:tc>
                  <a:txBody>
                    <a:bodyPr/>
                    <a:lstStyle/>
                    <a:p>
                      <a:pPr lvl="0">
                        <a:buNone/>
                      </a:pPr>
                      <a:endParaRPr lang="en-US" sz="1600" b="0" i="0" u="none" strike="noStrike" noProof="0">
                        <a:solidFill>
                          <a:srgbClr val="000000"/>
                        </a:solidFill>
                        <a:latin typeface="Montserrat"/>
                      </a:endParaRPr>
                    </a:p>
                  </a:txBody>
                  <a:tcPr/>
                </a:tc>
                <a:tc>
                  <a:txBody>
                    <a:bodyPr/>
                    <a:lstStyle/>
                    <a:p>
                      <a:pPr lvl="0">
                        <a:buNone/>
                      </a:pPr>
                      <a:r>
                        <a:rPr lang="en-US" sz="1600" b="0" i="0" u="none" strike="noStrike" noProof="0">
                          <a:solidFill>
                            <a:srgbClr val="000000"/>
                          </a:solidFill>
                          <a:latin typeface="Montserrat"/>
                        </a:rPr>
                        <a:t>Z3PRTY</a:t>
                      </a:r>
                      <a:endParaRPr lang="en-US"/>
                    </a:p>
                  </a:txBody>
                  <a:tcPr/>
                </a:tc>
                <a:tc>
                  <a:txBody>
                    <a:bodyPr/>
                    <a:lstStyle/>
                    <a:p>
                      <a:pPr lvl="0">
                        <a:buNone/>
                      </a:pPr>
                      <a:r>
                        <a:rPr lang="en-US" sz="1600" b="0" i="0" u="none" strike="noStrike" noProof="0">
                          <a:solidFill>
                            <a:srgbClr val="000000"/>
                          </a:solidFill>
                          <a:latin typeface="Montserrat"/>
                        </a:rPr>
                        <a:t>Authorized 3rd Party</a:t>
                      </a:r>
                    </a:p>
                  </a:txBody>
                  <a:tcPr/>
                </a:tc>
                <a:extLst>
                  <a:ext uri="{0D108BD9-81ED-4DB2-BD59-A6C34878D82A}">
                    <a16:rowId xmlns:a16="http://schemas.microsoft.com/office/drawing/2014/main" val="414274974"/>
                  </a:ext>
                </a:extLst>
              </a:tr>
              <a:tr h="351028">
                <a:tc>
                  <a:txBody>
                    <a:bodyPr/>
                    <a:lstStyle/>
                    <a:p>
                      <a:pPr lvl="0">
                        <a:buNone/>
                      </a:pPr>
                      <a:r>
                        <a:rPr lang="en-US" sz="1600" b="0" i="0" u="none" strike="noStrike" noProof="0">
                          <a:solidFill>
                            <a:srgbClr val="000000"/>
                          </a:solidFill>
                          <a:latin typeface="Montserrat"/>
                        </a:rPr>
                        <a:t>ZCORPD</a:t>
                      </a:r>
                      <a:endParaRPr lang="en-US"/>
                    </a:p>
                  </a:txBody>
                  <a:tcPr/>
                </a:tc>
                <a:tc>
                  <a:txBody>
                    <a:bodyPr/>
                    <a:lstStyle/>
                    <a:p>
                      <a:pPr lvl="0">
                        <a:buNone/>
                      </a:pPr>
                      <a:r>
                        <a:rPr lang="en-US" sz="1600" b="0" i="0" u="none" strike="noStrike" noProof="0">
                          <a:solidFill>
                            <a:srgbClr val="000000"/>
                          </a:solidFill>
                          <a:latin typeface="Montserrat"/>
                        </a:rPr>
                        <a:t>Corporate Division</a:t>
                      </a:r>
                      <a:endParaRPr lang="en-US"/>
                    </a:p>
                  </a:txBody>
                  <a:tcPr/>
                </a:tc>
                <a:tc>
                  <a:txBody>
                    <a:bodyPr/>
                    <a:lstStyle/>
                    <a:p>
                      <a:pPr lvl="0">
                        <a:buNone/>
                      </a:pPr>
                      <a:endParaRPr lang="en-US" sz="1600" b="0" i="0" u="none" strike="noStrike" noProof="0">
                        <a:solidFill>
                          <a:srgbClr val="000000"/>
                        </a:solidFill>
                        <a:latin typeface="Montserrat"/>
                      </a:endParaRPr>
                    </a:p>
                  </a:txBody>
                  <a:tcPr/>
                </a:tc>
                <a:tc>
                  <a:txBody>
                    <a:bodyPr/>
                    <a:lstStyle/>
                    <a:p>
                      <a:pPr lvl="0">
                        <a:buNone/>
                      </a:pPr>
                      <a:r>
                        <a:rPr lang="en-US" sz="1600" b="0" i="0" u="none" strike="noStrike" noProof="0">
                          <a:solidFill>
                            <a:srgbClr val="000000"/>
                          </a:solidFill>
                          <a:latin typeface="Montserrat"/>
                        </a:rPr>
                        <a:t>ZCORPD</a:t>
                      </a:r>
                      <a:endParaRPr lang="en-US"/>
                    </a:p>
                  </a:txBody>
                  <a:tcPr/>
                </a:tc>
                <a:tc>
                  <a:txBody>
                    <a:bodyPr/>
                    <a:lstStyle/>
                    <a:p>
                      <a:pPr lvl="0">
                        <a:buNone/>
                      </a:pPr>
                      <a:r>
                        <a:rPr lang="en-US" sz="1600" b="0" i="0" u="none" strike="noStrike" noProof="0">
                          <a:solidFill>
                            <a:srgbClr val="000000"/>
                          </a:solidFill>
                          <a:latin typeface="Montserrat"/>
                        </a:rPr>
                        <a:t>Corporate Division</a:t>
                      </a:r>
                    </a:p>
                  </a:txBody>
                  <a:tcPr/>
                </a:tc>
                <a:extLst>
                  <a:ext uri="{0D108BD9-81ED-4DB2-BD59-A6C34878D82A}">
                    <a16:rowId xmlns:a16="http://schemas.microsoft.com/office/drawing/2014/main" val="3229761996"/>
                  </a:ext>
                </a:extLst>
              </a:tr>
              <a:tr h="351028">
                <a:tc>
                  <a:txBody>
                    <a:bodyPr/>
                    <a:lstStyle/>
                    <a:p>
                      <a:pPr lvl="0">
                        <a:buNone/>
                      </a:pPr>
                      <a:r>
                        <a:rPr lang="en-US" sz="1600" b="0" i="0" u="none" strike="noStrike" noProof="0">
                          <a:solidFill>
                            <a:srgbClr val="000000"/>
                          </a:solidFill>
                          <a:latin typeface="Montserrat"/>
                        </a:rPr>
                        <a:t>ZE_CAM</a:t>
                      </a:r>
                      <a:endParaRPr lang="en-US"/>
                    </a:p>
                  </a:txBody>
                  <a:tcPr/>
                </a:tc>
                <a:tc>
                  <a:txBody>
                    <a:bodyPr/>
                    <a:lstStyle/>
                    <a:p>
                      <a:pPr lvl="0">
                        <a:buNone/>
                      </a:pPr>
                      <a:r>
                        <a:rPr lang="en-US" sz="1600" b="0" i="0" u="none" strike="noStrike" noProof="0">
                          <a:solidFill>
                            <a:srgbClr val="000000"/>
                          </a:solidFill>
                          <a:latin typeface="Montserrat"/>
                        </a:rPr>
                        <a:t>Employee-CAM</a:t>
                      </a:r>
                      <a:endParaRPr lang="en-US"/>
                    </a:p>
                  </a:txBody>
                  <a:tcPr/>
                </a:tc>
                <a:tc>
                  <a:txBody>
                    <a:bodyPr/>
                    <a:lstStyle/>
                    <a:p>
                      <a:pPr lvl="0">
                        <a:buNone/>
                      </a:pPr>
                      <a:endParaRPr lang="en-US" sz="1600" b="0" i="0" u="none" strike="noStrike" noProof="0">
                        <a:solidFill>
                          <a:srgbClr val="000000"/>
                        </a:solidFill>
                        <a:latin typeface="Montserrat"/>
                      </a:endParaRPr>
                    </a:p>
                  </a:txBody>
                  <a:tcPr/>
                </a:tc>
                <a:tc>
                  <a:txBody>
                    <a:bodyPr/>
                    <a:lstStyle/>
                    <a:p>
                      <a:pPr lvl="0">
                        <a:buNone/>
                      </a:pPr>
                      <a:r>
                        <a:rPr lang="en-US" sz="1600" b="0" i="0" u="none" strike="noStrike" noProof="0">
                          <a:solidFill>
                            <a:srgbClr val="000000"/>
                          </a:solidFill>
                          <a:latin typeface="Montserrat"/>
                        </a:rPr>
                        <a:t>ZE_CAM</a:t>
                      </a:r>
                      <a:endParaRPr lang="en-US"/>
                    </a:p>
                  </a:txBody>
                  <a:tcPr/>
                </a:tc>
                <a:tc>
                  <a:txBody>
                    <a:bodyPr/>
                    <a:lstStyle/>
                    <a:p>
                      <a:pPr lvl="0">
                        <a:buNone/>
                      </a:pPr>
                      <a:r>
                        <a:rPr lang="en-US" sz="1600" b="0" i="0" u="none" strike="noStrike" noProof="0">
                          <a:solidFill>
                            <a:srgbClr val="000000"/>
                          </a:solidFill>
                          <a:latin typeface="Montserrat"/>
                        </a:rPr>
                        <a:t>Employee-CAM</a:t>
                      </a:r>
                    </a:p>
                  </a:txBody>
                  <a:tcPr/>
                </a:tc>
                <a:extLst>
                  <a:ext uri="{0D108BD9-81ED-4DB2-BD59-A6C34878D82A}">
                    <a16:rowId xmlns:a16="http://schemas.microsoft.com/office/drawing/2014/main" val="3891566193"/>
                  </a:ext>
                </a:extLst>
              </a:tr>
              <a:tr h="351028">
                <a:tc>
                  <a:txBody>
                    <a:bodyPr/>
                    <a:lstStyle/>
                    <a:p>
                      <a:pPr lvl="0">
                        <a:buNone/>
                      </a:pPr>
                      <a:r>
                        <a:rPr lang="en-US" sz="1600"/>
                        <a:t>ZIDE</a:t>
                      </a:r>
                      <a:endParaRPr lang="en-US"/>
                    </a:p>
                  </a:txBody>
                  <a:tcPr/>
                </a:tc>
                <a:tc>
                  <a:txBody>
                    <a:bodyPr/>
                    <a:lstStyle/>
                    <a:p>
                      <a:pPr lvl="0">
                        <a:buNone/>
                      </a:pPr>
                      <a:r>
                        <a:rPr lang="en-US" sz="1600" b="0" i="0" u="none" strike="noStrike" noProof="0">
                          <a:solidFill>
                            <a:srgbClr val="000000"/>
                          </a:solidFill>
                          <a:latin typeface="Montserrat"/>
                        </a:rPr>
                        <a:t>IDE Contract Partner</a:t>
                      </a:r>
                      <a:endParaRPr lang="en-US"/>
                    </a:p>
                  </a:txBody>
                  <a:tcPr/>
                </a:tc>
                <a:tc>
                  <a:txBody>
                    <a:bodyPr/>
                    <a:lstStyle/>
                    <a:p>
                      <a:pPr lvl="0">
                        <a:buNone/>
                      </a:pPr>
                      <a:endParaRPr lang="en-US" sz="1600" b="0" i="0" u="none" strike="noStrike" noProof="0">
                        <a:solidFill>
                          <a:srgbClr val="000000"/>
                        </a:solidFill>
                        <a:latin typeface="Montserrat"/>
                      </a:endParaRPr>
                    </a:p>
                  </a:txBody>
                  <a:tcPr/>
                </a:tc>
                <a:tc>
                  <a:txBody>
                    <a:bodyPr/>
                    <a:lstStyle/>
                    <a:p>
                      <a:pPr lvl="0">
                        <a:buNone/>
                      </a:pPr>
                      <a:r>
                        <a:rPr lang="en-US" sz="1600" b="0" i="0" u="none" strike="noStrike" noProof="0">
                          <a:solidFill>
                            <a:srgbClr val="000000"/>
                          </a:solidFill>
                          <a:latin typeface="Montserrat"/>
                        </a:rPr>
                        <a:t>ZIDE</a:t>
                      </a:r>
                      <a:endParaRPr lang="en-US"/>
                    </a:p>
                  </a:txBody>
                  <a:tcPr/>
                </a:tc>
                <a:tc>
                  <a:txBody>
                    <a:bodyPr/>
                    <a:lstStyle/>
                    <a:p>
                      <a:pPr lvl="0">
                        <a:buNone/>
                      </a:pPr>
                      <a:r>
                        <a:rPr lang="en-US" sz="1600" b="0" i="0" u="none" strike="noStrike" kern="1200" noProof="0">
                          <a:solidFill>
                            <a:srgbClr val="000000"/>
                          </a:solidFill>
                          <a:latin typeface="Montserrat"/>
                          <a:ea typeface="+mn-ea"/>
                          <a:cs typeface="+mn-cs"/>
                        </a:rPr>
                        <a:t>IDE Contract Partner</a:t>
                      </a:r>
                      <a:endParaRPr lang="en-US" sz="1600" b="0" i="0" u="none" strike="noStrike" kern="1200">
                        <a:solidFill>
                          <a:srgbClr val="000000"/>
                        </a:solidFill>
                        <a:latin typeface="Montserrat"/>
                        <a:ea typeface="+mn-ea"/>
                        <a:cs typeface="+mn-cs"/>
                      </a:endParaRPr>
                    </a:p>
                  </a:txBody>
                  <a:tcPr/>
                </a:tc>
                <a:extLst>
                  <a:ext uri="{0D108BD9-81ED-4DB2-BD59-A6C34878D82A}">
                    <a16:rowId xmlns:a16="http://schemas.microsoft.com/office/drawing/2014/main" val="1349095150"/>
                  </a:ext>
                </a:extLst>
              </a:tr>
              <a:tr h="351028">
                <a:tc>
                  <a:txBody>
                    <a:bodyPr/>
                    <a:lstStyle/>
                    <a:p>
                      <a:pPr lvl="0">
                        <a:buNone/>
                      </a:pPr>
                      <a:r>
                        <a:rPr lang="en-US" sz="1600"/>
                        <a:t>ZPARNT</a:t>
                      </a:r>
                      <a:endParaRPr lang="en-US"/>
                    </a:p>
                  </a:txBody>
                  <a:tcPr/>
                </a:tc>
                <a:tc>
                  <a:txBody>
                    <a:bodyPr/>
                    <a:lstStyle/>
                    <a:p>
                      <a:pPr lvl="0">
                        <a:buNone/>
                      </a:pPr>
                      <a:r>
                        <a:rPr lang="en-US" sz="1600" b="0" i="0" u="none" strike="noStrike" noProof="0">
                          <a:solidFill>
                            <a:srgbClr val="000000"/>
                          </a:solidFill>
                          <a:latin typeface="Montserrat"/>
                        </a:rPr>
                        <a:t>Parent</a:t>
                      </a:r>
                      <a:endParaRPr lang="en-US"/>
                    </a:p>
                  </a:txBody>
                  <a:tcPr/>
                </a:tc>
                <a:tc>
                  <a:txBody>
                    <a:bodyPr/>
                    <a:lstStyle/>
                    <a:p>
                      <a:pPr lvl="0">
                        <a:buNone/>
                      </a:pPr>
                      <a:endParaRPr lang="en-US" sz="1600" b="0" i="0" u="none" strike="noStrike" noProof="0">
                        <a:solidFill>
                          <a:srgbClr val="000000"/>
                        </a:solidFill>
                        <a:latin typeface="Montserrat"/>
                      </a:endParaRPr>
                    </a:p>
                  </a:txBody>
                  <a:tcPr/>
                </a:tc>
                <a:tc>
                  <a:txBody>
                    <a:bodyPr/>
                    <a:lstStyle/>
                    <a:p>
                      <a:pPr lvl="0">
                        <a:buNone/>
                      </a:pPr>
                      <a:r>
                        <a:rPr lang="en-US" sz="1600" b="0" i="0" u="none" strike="noStrike" noProof="0">
                          <a:solidFill>
                            <a:srgbClr val="000000"/>
                          </a:solidFill>
                          <a:latin typeface="Montserrat"/>
                        </a:rPr>
                        <a:t>ZPARNT</a:t>
                      </a:r>
                      <a:endParaRPr lang="en-US"/>
                    </a:p>
                  </a:txBody>
                  <a:tcPr/>
                </a:tc>
                <a:tc>
                  <a:txBody>
                    <a:bodyPr/>
                    <a:lstStyle/>
                    <a:p>
                      <a:pPr lvl="0">
                        <a:buNone/>
                      </a:pPr>
                      <a:r>
                        <a:rPr lang="en-US" sz="1600" b="0" i="0" u="none" strike="noStrike" kern="1200" noProof="0">
                          <a:solidFill>
                            <a:srgbClr val="000000"/>
                          </a:solidFill>
                          <a:latin typeface="Montserrat"/>
                          <a:ea typeface="+mn-ea"/>
                          <a:cs typeface="+mn-cs"/>
                        </a:rPr>
                        <a:t>Parent</a:t>
                      </a:r>
                      <a:endParaRPr lang="en-US" sz="1600" b="0" i="0" u="none" strike="noStrike" kern="1200">
                        <a:solidFill>
                          <a:srgbClr val="000000"/>
                        </a:solidFill>
                        <a:latin typeface="Montserrat"/>
                        <a:ea typeface="+mn-ea"/>
                        <a:cs typeface="+mn-cs"/>
                      </a:endParaRPr>
                    </a:p>
                  </a:txBody>
                  <a:tcPr/>
                </a:tc>
                <a:extLst>
                  <a:ext uri="{0D108BD9-81ED-4DB2-BD59-A6C34878D82A}">
                    <a16:rowId xmlns:a16="http://schemas.microsoft.com/office/drawing/2014/main" val="3011054916"/>
                  </a:ext>
                </a:extLst>
              </a:tr>
              <a:tr h="351028">
                <a:tc>
                  <a:txBody>
                    <a:bodyPr/>
                    <a:lstStyle/>
                    <a:p>
                      <a:pPr lvl="0">
                        <a:buNone/>
                      </a:pPr>
                      <a:r>
                        <a:rPr lang="en-US" sz="1600"/>
                        <a:t>ZSUBSD</a:t>
                      </a:r>
                      <a:endParaRPr lang="en-US"/>
                    </a:p>
                  </a:txBody>
                  <a:tcPr/>
                </a:tc>
                <a:tc>
                  <a:txBody>
                    <a:bodyPr/>
                    <a:lstStyle/>
                    <a:p>
                      <a:pPr lvl="0">
                        <a:buNone/>
                      </a:pPr>
                      <a:r>
                        <a:rPr lang="en-US" sz="1600" b="0" i="0" u="none" strike="noStrike" noProof="0">
                          <a:solidFill>
                            <a:srgbClr val="000000"/>
                          </a:solidFill>
                          <a:latin typeface="Montserrat"/>
                        </a:rPr>
                        <a:t>Subsidiary</a:t>
                      </a:r>
                      <a:endParaRPr lang="en-US"/>
                    </a:p>
                  </a:txBody>
                  <a:tcPr/>
                </a:tc>
                <a:tc>
                  <a:txBody>
                    <a:bodyPr/>
                    <a:lstStyle/>
                    <a:p>
                      <a:pPr lvl="0">
                        <a:buNone/>
                      </a:pPr>
                      <a:endParaRPr lang="en-US" sz="1600" b="0" i="0" u="none" strike="noStrike" noProof="0">
                        <a:solidFill>
                          <a:srgbClr val="000000"/>
                        </a:solidFill>
                        <a:latin typeface="Montserrat"/>
                      </a:endParaRPr>
                    </a:p>
                  </a:txBody>
                  <a:tcPr/>
                </a:tc>
                <a:tc>
                  <a:txBody>
                    <a:bodyPr/>
                    <a:lstStyle/>
                    <a:p>
                      <a:pPr lvl="0">
                        <a:buNone/>
                      </a:pPr>
                      <a:r>
                        <a:rPr lang="en-US" sz="1600" b="0" i="0" u="none" strike="noStrike" kern="1200" noProof="0">
                          <a:solidFill>
                            <a:srgbClr val="000000"/>
                          </a:solidFill>
                          <a:latin typeface="Montserrat"/>
                          <a:ea typeface="+mn-ea"/>
                          <a:cs typeface="+mn-cs"/>
                        </a:rPr>
                        <a:t>ZSUBSD</a:t>
                      </a:r>
                      <a:endParaRPr lang="en-US"/>
                    </a:p>
                  </a:txBody>
                  <a:tcPr/>
                </a:tc>
                <a:tc>
                  <a:txBody>
                    <a:bodyPr/>
                    <a:lstStyle/>
                    <a:p>
                      <a:pPr lvl="0">
                        <a:buNone/>
                      </a:pPr>
                      <a:r>
                        <a:rPr lang="en-US" sz="1600" b="0" i="0" u="none" strike="noStrike" kern="1200" noProof="0">
                          <a:solidFill>
                            <a:srgbClr val="000000"/>
                          </a:solidFill>
                          <a:latin typeface="Montserrat"/>
                          <a:ea typeface="+mn-ea"/>
                          <a:cs typeface="+mn-cs"/>
                        </a:rPr>
                        <a:t>Subsidiary</a:t>
                      </a:r>
                      <a:endParaRPr lang="en-US" sz="1600" b="0" i="0" u="none" strike="noStrike" kern="1200">
                        <a:solidFill>
                          <a:srgbClr val="000000"/>
                        </a:solidFill>
                        <a:latin typeface="Montserrat"/>
                        <a:ea typeface="+mn-ea"/>
                        <a:cs typeface="+mn-cs"/>
                      </a:endParaRPr>
                    </a:p>
                  </a:txBody>
                  <a:tcPr/>
                </a:tc>
                <a:extLst>
                  <a:ext uri="{0D108BD9-81ED-4DB2-BD59-A6C34878D82A}">
                    <a16:rowId xmlns:a16="http://schemas.microsoft.com/office/drawing/2014/main" val="494181651"/>
                  </a:ext>
                </a:extLst>
              </a:tr>
              <a:tr h="351028">
                <a:tc>
                  <a:txBody>
                    <a:bodyPr/>
                    <a:lstStyle/>
                    <a:p>
                      <a:pPr lvl="0">
                        <a:buNone/>
                      </a:pPr>
                      <a:r>
                        <a:rPr lang="en-US" sz="1600"/>
                        <a:t>ZSVCPR</a:t>
                      </a:r>
                      <a:endParaRPr lang="en-US"/>
                    </a:p>
                  </a:txBody>
                  <a:tcPr/>
                </a:tc>
                <a:tc>
                  <a:txBody>
                    <a:bodyPr/>
                    <a:lstStyle/>
                    <a:p>
                      <a:pPr lvl="0">
                        <a:buNone/>
                      </a:pPr>
                      <a:r>
                        <a:rPr lang="en-US" sz="1600" b="0" i="0" u="none" strike="noStrike" noProof="0">
                          <a:solidFill>
                            <a:srgbClr val="000000"/>
                          </a:solidFill>
                          <a:latin typeface="Montserrat"/>
                        </a:rPr>
                        <a:t>Service Provider</a:t>
                      </a:r>
                      <a:endParaRPr lang="en-US"/>
                    </a:p>
                  </a:txBody>
                  <a:tcPr/>
                </a:tc>
                <a:tc>
                  <a:txBody>
                    <a:bodyPr/>
                    <a:lstStyle/>
                    <a:p>
                      <a:pPr lvl="0">
                        <a:buNone/>
                      </a:pPr>
                      <a:endParaRPr lang="en-US" sz="1600" b="0" i="0" u="none" strike="noStrike" noProof="0">
                        <a:solidFill>
                          <a:srgbClr val="000000"/>
                        </a:solidFill>
                        <a:latin typeface="Montserrat"/>
                      </a:endParaRPr>
                    </a:p>
                  </a:txBody>
                  <a:tcPr/>
                </a:tc>
                <a:tc>
                  <a:txBody>
                    <a:bodyPr/>
                    <a:lstStyle/>
                    <a:p>
                      <a:pPr lvl="0">
                        <a:buNone/>
                      </a:pPr>
                      <a:r>
                        <a:rPr lang="en-US" sz="1600" b="0" i="0" u="none" strike="noStrike" noProof="0">
                          <a:solidFill>
                            <a:srgbClr val="000000"/>
                          </a:solidFill>
                          <a:latin typeface="Montserrat"/>
                        </a:rPr>
                        <a:t>ZSVCPR</a:t>
                      </a:r>
                      <a:endParaRPr lang="en-US"/>
                    </a:p>
                  </a:txBody>
                  <a:tcPr/>
                </a:tc>
                <a:tc>
                  <a:txBody>
                    <a:bodyPr/>
                    <a:lstStyle/>
                    <a:p>
                      <a:pPr lvl="0">
                        <a:buNone/>
                      </a:pPr>
                      <a:r>
                        <a:rPr lang="en-US" sz="1600" b="0" i="0" u="none" strike="noStrike" noProof="0">
                          <a:solidFill>
                            <a:srgbClr val="000000"/>
                          </a:solidFill>
                          <a:latin typeface="Montserrat"/>
                        </a:rPr>
                        <a:t>Service Provider</a:t>
                      </a:r>
                    </a:p>
                  </a:txBody>
                  <a:tcPr/>
                </a:tc>
                <a:extLst>
                  <a:ext uri="{0D108BD9-81ED-4DB2-BD59-A6C34878D82A}">
                    <a16:rowId xmlns:a16="http://schemas.microsoft.com/office/drawing/2014/main" val="1937261014"/>
                  </a:ext>
                </a:extLst>
              </a:tr>
              <a:tr h="351028">
                <a:tc>
                  <a:txBody>
                    <a:bodyPr/>
                    <a:lstStyle/>
                    <a:p>
                      <a:pPr lvl="0">
                        <a:buNone/>
                      </a:pPr>
                      <a:r>
                        <a:rPr lang="en-US" sz="1600" b="1"/>
                        <a:t>CRM000</a:t>
                      </a:r>
                    </a:p>
                  </a:txBody>
                  <a:tcPr/>
                </a:tc>
                <a:tc>
                  <a:txBody>
                    <a:bodyPr/>
                    <a:lstStyle/>
                    <a:p>
                      <a:pPr lvl="0">
                        <a:buNone/>
                      </a:pPr>
                      <a:r>
                        <a:rPr lang="en-US" sz="1600" b="1" i="0" u="none" strike="noStrike" noProof="0">
                          <a:solidFill>
                            <a:srgbClr val="000000"/>
                          </a:solidFill>
                          <a:latin typeface="Montserrat"/>
                        </a:rPr>
                        <a:t>Sold-To </a:t>
                      </a:r>
                      <a:r>
                        <a:rPr lang="en-US" sz="1600" b="1" i="0" u="none" strike="noStrike" noProof="0" err="1">
                          <a:solidFill>
                            <a:srgbClr val="000000"/>
                          </a:solidFill>
                          <a:latin typeface="Montserrat"/>
                        </a:rPr>
                        <a:t>Party</a:t>
                      </a:r>
                      <a:endParaRPr lang="en-US" sz="1600" b="1" i="0" u="none" strike="noStrike" noProof="0">
                        <a:solidFill>
                          <a:srgbClr val="000000"/>
                        </a:solidFill>
                        <a:latin typeface="Montserrat"/>
                      </a:endParaRPr>
                    </a:p>
                  </a:txBody>
                  <a:tcPr/>
                </a:tc>
                <a:tc>
                  <a:txBody>
                    <a:bodyPr/>
                    <a:lstStyle/>
                    <a:p>
                      <a:pPr lvl="0">
                        <a:buNone/>
                      </a:pPr>
                      <a:endParaRPr lang="en-US" sz="1600" b="0" i="0" u="none" strike="noStrike" noProof="0">
                        <a:solidFill>
                          <a:srgbClr val="000000"/>
                        </a:solidFill>
                        <a:latin typeface="Montserrat"/>
                      </a:endParaRPr>
                    </a:p>
                  </a:txBody>
                  <a:tcPr/>
                </a:tc>
                <a:tc>
                  <a:txBody>
                    <a:bodyPr/>
                    <a:lstStyle/>
                    <a:p>
                      <a:pPr lvl="0">
                        <a:buNone/>
                      </a:pPr>
                      <a:r>
                        <a:rPr lang="en-US" sz="1600" b="1" i="0" u="none" strike="noStrike" noProof="0">
                          <a:solidFill>
                            <a:srgbClr val="000000"/>
                          </a:solidFill>
                          <a:latin typeface="Montserrat"/>
                        </a:rPr>
                        <a:t>MKK</a:t>
                      </a:r>
                    </a:p>
                  </a:txBody>
                  <a:tcPr/>
                </a:tc>
                <a:tc>
                  <a:txBody>
                    <a:bodyPr/>
                    <a:lstStyle/>
                    <a:p>
                      <a:pPr lvl="0">
                        <a:buNone/>
                      </a:pPr>
                      <a:r>
                        <a:rPr lang="en-US" sz="1600" b="1" i="0" u="none" strike="noStrike" noProof="0">
                          <a:solidFill>
                            <a:srgbClr val="000000"/>
                          </a:solidFill>
                          <a:latin typeface="Montserrat"/>
                        </a:rPr>
                        <a:t>Contract Partner</a:t>
                      </a:r>
                    </a:p>
                  </a:txBody>
                  <a:tcPr/>
                </a:tc>
                <a:extLst>
                  <a:ext uri="{0D108BD9-81ED-4DB2-BD59-A6C34878D82A}">
                    <a16:rowId xmlns:a16="http://schemas.microsoft.com/office/drawing/2014/main" val="36569017"/>
                  </a:ext>
                </a:extLst>
              </a:tr>
              <a:tr h="351028">
                <a:tc>
                  <a:txBody>
                    <a:bodyPr/>
                    <a:lstStyle/>
                    <a:p>
                      <a:pPr lvl="0">
                        <a:buNone/>
                      </a:pPr>
                      <a:r>
                        <a:rPr lang="en-US" sz="1600" b="1"/>
                        <a:t>BUP001</a:t>
                      </a:r>
                    </a:p>
                  </a:txBody>
                  <a:tcPr/>
                </a:tc>
                <a:tc>
                  <a:txBody>
                    <a:bodyPr/>
                    <a:lstStyle/>
                    <a:p>
                      <a:pPr lvl="0">
                        <a:buNone/>
                      </a:pPr>
                      <a:r>
                        <a:rPr lang="en-US" sz="1600" b="1" i="0" u="none" strike="noStrike" noProof="0">
                          <a:solidFill>
                            <a:srgbClr val="000000"/>
                          </a:solidFill>
                          <a:latin typeface="Montserrat"/>
                        </a:rPr>
                        <a:t>Contact Person</a:t>
                      </a:r>
                    </a:p>
                  </a:txBody>
                  <a:tcPr/>
                </a:tc>
                <a:tc>
                  <a:txBody>
                    <a:bodyPr/>
                    <a:lstStyle/>
                    <a:p>
                      <a:pPr lvl="0">
                        <a:buNone/>
                      </a:pPr>
                      <a:endParaRPr lang="en-US" sz="1600" b="0" i="0" u="none" strike="noStrike" noProof="0">
                        <a:solidFill>
                          <a:srgbClr val="000000"/>
                        </a:solidFill>
                        <a:latin typeface="Montserrat"/>
                      </a:endParaRPr>
                    </a:p>
                  </a:txBody>
                  <a:tcPr/>
                </a:tc>
                <a:tc>
                  <a:txBody>
                    <a:bodyPr/>
                    <a:lstStyle/>
                    <a:p>
                      <a:pPr lvl="0">
                        <a:buNone/>
                      </a:pPr>
                      <a:r>
                        <a:rPr lang="en-US" sz="1600" b="1" i="0" u="none" strike="noStrike" noProof="0">
                          <a:solidFill>
                            <a:srgbClr val="000000"/>
                          </a:solidFill>
                          <a:latin typeface="Montserrat"/>
                        </a:rPr>
                        <a:t>BUP001</a:t>
                      </a:r>
                    </a:p>
                  </a:txBody>
                  <a:tcPr/>
                </a:tc>
                <a:tc>
                  <a:txBody>
                    <a:bodyPr/>
                    <a:lstStyle/>
                    <a:p>
                      <a:pPr lvl="0">
                        <a:buNone/>
                      </a:pPr>
                      <a:r>
                        <a:rPr lang="en-US" sz="1600" b="1" i="0" u="none" strike="noStrike" noProof="0">
                          <a:solidFill>
                            <a:srgbClr val="000000"/>
                          </a:solidFill>
                          <a:latin typeface="Montserrat"/>
                        </a:rPr>
                        <a:t>Contact Person</a:t>
                      </a:r>
                    </a:p>
                  </a:txBody>
                  <a:tcPr/>
                </a:tc>
                <a:extLst>
                  <a:ext uri="{0D108BD9-81ED-4DB2-BD59-A6C34878D82A}">
                    <a16:rowId xmlns:a16="http://schemas.microsoft.com/office/drawing/2014/main" val="10149700"/>
                  </a:ext>
                </a:extLst>
              </a:tr>
              <a:tr h="351028">
                <a:tc>
                  <a:txBody>
                    <a:bodyPr/>
                    <a:lstStyle/>
                    <a:p>
                      <a:pPr lvl="0">
                        <a:buNone/>
                      </a:pPr>
                      <a:r>
                        <a:rPr lang="en-US" sz="1600"/>
                        <a:t>BUP003</a:t>
                      </a:r>
                    </a:p>
                  </a:txBody>
                  <a:tcPr/>
                </a:tc>
                <a:tc>
                  <a:txBody>
                    <a:bodyPr/>
                    <a:lstStyle/>
                    <a:p>
                      <a:pPr lvl="0">
                        <a:buNone/>
                      </a:pPr>
                      <a:r>
                        <a:rPr lang="en-US" sz="1600" b="0" i="0" u="none" strike="noStrike" noProof="0">
                          <a:solidFill>
                            <a:srgbClr val="000000"/>
                          </a:solidFill>
                          <a:latin typeface="Montserrat"/>
                        </a:rPr>
                        <a:t>Employee</a:t>
                      </a:r>
                    </a:p>
                  </a:txBody>
                  <a:tcPr/>
                </a:tc>
                <a:tc>
                  <a:txBody>
                    <a:bodyPr/>
                    <a:lstStyle/>
                    <a:p>
                      <a:pPr lvl="0">
                        <a:buNone/>
                      </a:pPr>
                      <a:endParaRPr lang="en-US" sz="1600" b="0" i="0" u="none" strike="noStrike" noProof="0">
                        <a:solidFill>
                          <a:srgbClr val="000000"/>
                        </a:solidFill>
                        <a:latin typeface="Montserrat"/>
                      </a:endParaRPr>
                    </a:p>
                  </a:txBody>
                  <a:tcPr/>
                </a:tc>
                <a:tc>
                  <a:txBody>
                    <a:bodyPr/>
                    <a:lstStyle/>
                    <a:p>
                      <a:pPr lvl="0">
                        <a:buNone/>
                      </a:pPr>
                      <a:r>
                        <a:rPr lang="en-US" sz="1600" b="0" i="0" u="none" strike="noStrike" noProof="0">
                          <a:solidFill>
                            <a:srgbClr val="000000"/>
                          </a:solidFill>
                          <a:latin typeface="Montserrat"/>
                        </a:rPr>
                        <a:t>BUP003</a:t>
                      </a:r>
                    </a:p>
                  </a:txBody>
                  <a:tcPr/>
                </a:tc>
                <a:tc>
                  <a:txBody>
                    <a:bodyPr/>
                    <a:lstStyle/>
                    <a:p>
                      <a:pPr lvl="0">
                        <a:buNone/>
                      </a:pPr>
                      <a:r>
                        <a:rPr lang="en-US" sz="1600" b="0" i="0" u="none" strike="noStrike" noProof="0">
                          <a:solidFill>
                            <a:srgbClr val="000000"/>
                          </a:solidFill>
                          <a:latin typeface="Montserrat"/>
                        </a:rPr>
                        <a:t>Employee</a:t>
                      </a:r>
                    </a:p>
                  </a:txBody>
                  <a:tcPr/>
                </a:tc>
                <a:extLst>
                  <a:ext uri="{0D108BD9-81ED-4DB2-BD59-A6C34878D82A}">
                    <a16:rowId xmlns:a16="http://schemas.microsoft.com/office/drawing/2014/main" val="736552222"/>
                  </a:ext>
                </a:extLst>
              </a:tr>
              <a:tr h="351028">
                <a:tc>
                  <a:txBody>
                    <a:bodyPr/>
                    <a:lstStyle/>
                    <a:p>
                      <a:pPr lvl="0">
                        <a:buNone/>
                      </a:pPr>
                      <a:endParaRPr lang="en-US" sz="1600"/>
                    </a:p>
                  </a:txBody>
                  <a:tcPr/>
                </a:tc>
                <a:tc>
                  <a:txBody>
                    <a:bodyPr/>
                    <a:lstStyle/>
                    <a:p>
                      <a:pPr lvl="0">
                        <a:buNone/>
                      </a:pPr>
                      <a:endParaRPr lang="en-US" sz="1600" b="0" i="0" u="none" strike="noStrike" noProof="0">
                        <a:solidFill>
                          <a:srgbClr val="000000"/>
                        </a:solidFill>
                        <a:latin typeface="Montserrat"/>
                      </a:endParaRPr>
                    </a:p>
                  </a:txBody>
                  <a:tcPr/>
                </a:tc>
                <a:tc>
                  <a:txBody>
                    <a:bodyPr/>
                    <a:lstStyle/>
                    <a:p>
                      <a:pPr lvl="0">
                        <a:buNone/>
                      </a:pPr>
                      <a:endParaRPr lang="en-US" sz="1600" b="0" i="0" u="none" strike="noStrike" noProof="0">
                        <a:solidFill>
                          <a:srgbClr val="000000"/>
                        </a:solidFill>
                        <a:latin typeface="Montserrat"/>
                      </a:endParaRPr>
                    </a:p>
                  </a:txBody>
                  <a:tcPr/>
                </a:tc>
                <a:tc>
                  <a:txBody>
                    <a:bodyPr/>
                    <a:lstStyle/>
                    <a:p>
                      <a:pPr lvl="0">
                        <a:buNone/>
                      </a:pPr>
                      <a:endParaRPr lang="en-US" sz="1600" b="0" i="0" u="none" strike="noStrike" noProof="0">
                        <a:solidFill>
                          <a:srgbClr val="000000"/>
                        </a:solidFill>
                        <a:latin typeface="Montserrat"/>
                      </a:endParaRPr>
                    </a:p>
                  </a:txBody>
                  <a:tcPr/>
                </a:tc>
                <a:tc>
                  <a:txBody>
                    <a:bodyPr/>
                    <a:lstStyle/>
                    <a:p>
                      <a:pPr lvl="0">
                        <a:buNone/>
                      </a:pPr>
                      <a:endParaRPr lang="en-US" sz="1600" b="0" i="0" u="none" strike="noStrike" noProof="0">
                        <a:solidFill>
                          <a:srgbClr val="000000"/>
                        </a:solidFill>
                        <a:latin typeface="Montserrat"/>
                      </a:endParaRPr>
                    </a:p>
                  </a:txBody>
                  <a:tcPr/>
                </a:tc>
                <a:extLst>
                  <a:ext uri="{0D108BD9-81ED-4DB2-BD59-A6C34878D82A}">
                    <a16:rowId xmlns:a16="http://schemas.microsoft.com/office/drawing/2014/main" val="3885607363"/>
                  </a:ext>
                </a:extLst>
              </a:tr>
            </a:tbl>
          </a:graphicData>
        </a:graphic>
      </p:graphicFrame>
      <p:sp>
        <p:nvSpPr>
          <p:cNvPr id="9" name="Arrow: Left 8">
            <a:extLst>
              <a:ext uri="{FF2B5EF4-FFF2-40B4-BE49-F238E27FC236}">
                <a16:creationId xmlns:a16="http://schemas.microsoft.com/office/drawing/2014/main" id="{EAEDC19F-FC4B-8ADF-7FA2-7999C729F732}"/>
              </a:ext>
            </a:extLst>
          </p:cNvPr>
          <p:cNvSpPr/>
          <p:nvPr/>
        </p:nvSpPr>
        <p:spPr>
          <a:xfrm>
            <a:off x="5309140" y="2246089"/>
            <a:ext cx="787908" cy="365569"/>
          </a:xfrm>
          <a:prstGeom prst="leftArrow">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p>
        </p:txBody>
      </p:sp>
      <p:sp>
        <p:nvSpPr>
          <p:cNvPr id="10" name="Arrow: Left 9">
            <a:extLst>
              <a:ext uri="{FF2B5EF4-FFF2-40B4-BE49-F238E27FC236}">
                <a16:creationId xmlns:a16="http://schemas.microsoft.com/office/drawing/2014/main" id="{18BFED7A-8625-C6C7-7CE2-2F2DAA67FC83}"/>
              </a:ext>
            </a:extLst>
          </p:cNvPr>
          <p:cNvSpPr/>
          <p:nvPr/>
        </p:nvSpPr>
        <p:spPr>
          <a:xfrm>
            <a:off x="5309139" y="2603277"/>
            <a:ext cx="787908" cy="365569"/>
          </a:xfrm>
          <a:prstGeom prst="leftArrow">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p>
        </p:txBody>
      </p:sp>
      <p:sp>
        <p:nvSpPr>
          <p:cNvPr id="11" name="Arrow: Left 10">
            <a:extLst>
              <a:ext uri="{FF2B5EF4-FFF2-40B4-BE49-F238E27FC236}">
                <a16:creationId xmlns:a16="http://schemas.microsoft.com/office/drawing/2014/main" id="{1D1B70A1-D473-348D-6189-5DE0489D2F74}"/>
              </a:ext>
            </a:extLst>
          </p:cNvPr>
          <p:cNvSpPr/>
          <p:nvPr/>
        </p:nvSpPr>
        <p:spPr>
          <a:xfrm>
            <a:off x="5309139" y="2960465"/>
            <a:ext cx="787908" cy="365569"/>
          </a:xfrm>
          <a:prstGeom prst="leftArrow">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p>
        </p:txBody>
      </p:sp>
      <p:sp>
        <p:nvSpPr>
          <p:cNvPr id="12" name="Arrow: Left 11">
            <a:extLst>
              <a:ext uri="{FF2B5EF4-FFF2-40B4-BE49-F238E27FC236}">
                <a16:creationId xmlns:a16="http://schemas.microsoft.com/office/drawing/2014/main" id="{B4031250-E103-AB7A-1F9C-9607488C91A2}"/>
              </a:ext>
            </a:extLst>
          </p:cNvPr>
          <p:cNvSpPr/>
          <p:nvPr/>
        </p:nvSpPr>
        <p:spPr>
          <a:xfrm>
            <a:off x="5309139" y="3317653"/>
            <a:ext cx="787908" cy="365569"/>
          </a:xfrm>
          <a:prstGeom prst="leftArrow">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p>
        </p:txBody>
      </p:sp>
      <p:sp>
        <p:nvSpPr>
          <p:cNvPr id="13" name="Arrow: Left 12">
            <a:extLst>
              <a:ext uri="{FF2B5EF4-FFF2-40B4-BE49-F238E27FC236}">
                <a16:creationId xmlns:a16="http://schemas.microsoft.com/office/drawing/2014/main" id="{88A56C08-7FCD-DDC5-6FDB-6F7461613AA1}"/>
              </a:ext>
            </a:extLst>
          </p:cNvPr>
          <p:cNvSpPr/>
          <p:nvPr/>
        </p:nvSpPr>
        <p:spPr>
          <a:xfrm>
            <a:off x="5309139" y="3674840"/>
            <a:ext cx="787908" cy="365569"/>
          </a:xfrm>
          <a:prstGeom prst="leftArrow">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p>
        </p:txBody>
      </p:sp>
      <p:sp>
        <p:nvSpPr>
          <p:cNvPr id="14" name="Arrow: Left 13">
            <a:extLst>
              <a:ext uri="{FF2B5EF4-FFF2-40B4-BE49-F238E27FC236}">
                <a16:creationId xmlns:a16="http://schemas.microsoft.com/office/drawing/2014/main" id="{EE539CAA-05AF-2E98-6977-B9222AE2F151}"/>
              </a:ext>
            </a:extLst>
          </p:cNvPr>
          <p:cNvSpPr/>
          <p:nvPr/>
        </p:nvSpPr>
        <p:spPr>
          <a:xfrm>
            <a:off x="5309139" y="4032028"/>
            <a:ext cx="787908" cy="365569"/>
          </a:xfrm>
          <a:prstGeom prst="leftArrow">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p>
        </p:txBody>
      </p:sp>
      <p:sp>
        <p:nvSpPr>
          <p:cNvPr id="15" name="Arrow: Left 14">
            <a:extLst>
              <a:ext uri="{FF2B5EF4-FFF2-40B4-BE49-F238E27FC236}">
                <a16:creationId xmlns:a16="http://schemas.microsoft.com/office/drawing/2014/main" id="{1790DC80-A2A1-CA7C-25E5-775AEF2FA50F}"/>
              </a:ext>
            </a:extLst>
          </p:cNvPr>
          <p:cNvSpPr/>
          <p:nvPr/>
        </p:nvSpPr>
        <p:spPr>
          <a:xfrm>
            <a:off x="5309139" y="4389215"/>
            <a:ext cx="787908" cy="365569"/>
          </a:xfrm>
          <a:prstGeom prst="leftArrow">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p>
        </p:txBody>
      </p:sp>
      <p:sp>
        <p:nvSpPr>
          <p:cNvPr id="3" name="Arrow: Left-Right 2">
            <a:extLst>
              <a:ext uri="{FF2B5EF4-FFF2-40B4-BE49-F238E27FC236}">
                <a16:creationId xmlns:a16="http://schemas.microsoft.com/office/drawing/2014/main" id="{5A9C809B-50E3-D6A8-3A6F-C759D39F5EB2}"/>
              </a:ext>
            </a:extLst>
          </p:cNvPr>
          <p:cNvSpPr/>
          <p:nvPr/>
        </p:nvSpPr>
        <p:spPr>
          <a:xfrm>
            <a:off x="5309330" y="4722590"/>
            <a:ext cx="823246" cy="353662"/>
          </a:xfrm>
          <a:prstGeom prst="leftRightArrow">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6" name="Arrow: Left 5">
            <a:extLst>
              <a:ext uri="{FF2B5EF4-FFF2-40B4-BE49-F238E27FC236}">
                <a16:creationId xmlns:a16="http://schemas.microsoft.com/office/drawing/2014/main" id="{1F8AFE4F-5004-4EFE-44A5-8F8ED3561FDF}"/>
              </a:ext>
            </a:extLst>
          </p:cNvPr>
          <p:cNvSpPr/>
          <p:nvPr/>
        </p:nvSpPr>
        <p:spPr>
          <a:xfrm>
            <a:off x="5309139" y="5389340"/>
            <a:ext cx="787908" cy="365569"/>
          </a:xfrm>
          <a:prstGeom prst="leftArrow">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p>
        </p:txBody>
      </p:sp>
      <p:sp>
        <p:nvSpPr>
          <p:cNvPr id="8" name="Arrow: Left-Right 7">
            <a:extLst>
              <a:ext uri="{FF2B5EF4-FFF2-40B4-BE49-F238E27FC236}">
                <a16:creationId xmlns:a16="http://schemas.microsoft.com/office/drawing/2014/main" id="{F980ED86-2F47-B01E-C693-8D1A840A2C5F}"/>
              </a:ext>
            </a:extLst>
          </p:cNvPr>
          <p:cNvSpPr/>
          <p:nvPr/>
        </p:nvSpPr>
        <p:spPr>
          <a:xfrm>
            <a:off x="5309329" y="5075156"/>
            <a:ext cx="823246" cy="353662"/>
          </a:xfrm>
          <a:prstGeom prst="leftRightArrow">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Tree>
    <p:extLst>
      <p:ext uri="{BB962C8B-B14F-4D97-AF65-F5344CB8AC3E}">
        <p14:creationId xmlns:p14="http://schemas.microsoft.com/office/powerpoint/2010/main" val="313940145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E2AD4-3483-5D08-521E-428B017A4B6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5CAA2AB-DDC8-6554-FC50-C4662E13B7DF}"/>
              </a:ext>
            </a:extLst>
          </p:cNvPr>
          <p:cNvSpPr>
            <a:spLocks noGrp="1"/>
          </p:cNvSpPr>
          <p:nvPr>
            <p:ph type="title"/>
          </p:nvPr>
        </p:nvSpPr>
        <p:spPr>
          <a:xfrm>
            <a:off x="-1021" y="4974"/>
            <a:ext cx="2819402" cy="1886456"/>
          </a:xfrm>
        </p:spPr>
        <p:txBody>
          <a:bodyPr>
            <a:normAutofit/>
          </a:bodyPr>
          <a:lstStyle/>
          <a:p>
            <a:r>
              <a:rPr lang="en-US" sz="3200">
                <a:latin typeface="Montserrat"/>
              </a:rPr>
              <a:t>Create Person BP in CRM</a:t>
            </a:r>
          </a:p>
        </p:txBody>
      </p:sp>
      <p:sp>
        <p:nvSpPr>
          <p:cNvPr id="6" name="TextBox 5">
            <a:extLst>
              <a:ext uri="{FF2B5EF4-FFF2-40B4-BE49-F238E27FC236}">
                <a16:creationId xmlns:a16="http://schemas.microsoft.com/office/drawing/2014/main" id="{B8046A68-1988-91C7-5925-F3741991218D}"/>
              </a:ext>
            </a:extLst>
          </p:cNvPr>
          <p:cNvSpPr txBox="1"/>
          <p:nvPr/>
        </p:nvSpPr>
        <p:spPr>
          <a:xfrm>
            <a:off x="1993692" y="2308485"/>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ontserrat" pitchFamily="2" charset="77"/>
              <a:ea typeface="+mn-ea"/>
              <a:cs typeface="+mn-cs"/>
            </a:endParaRPr>
          </a:p>
        </p:txBody>
      </p:sp>
      <p:pic>
        <p:nvPicPr>
          <p:cNvPr id="5" name="Picture 4">
            <a:extLst>
              <a:ext uri="{FF2B5EF4-FFF2-40B4-BE49-F238E27FC236}">
                <a16:creationId xmlns:a16="http://schemas.microsoft.com/office/drawing/2014/main" id="{9CF92372-F93A-B205-D330-4C58DCB47FD9}"/>
              </a:ext>
            </a:extLst>
          </p:cNvPr>
          <p:cNvPicPr>
            <a:picLocks noChangeAspect="1"/>
          </p:cNvPicPr>
          <p:nvPr/>
        </p:nvPicPr>
        <p:blipFill>
          <a:blip r:embed="rId2"/>
          <a:stretch>
            <a:fillRect/>
          </a:stretch>
        </p:blipFill>
        <p:spPr>
          <a:xfrm>
            <a:off x="3211286" y="248996"/>
            <a:ext cx="8826954" cy="2609984"/>
          </a:xfrm>
          <a:prstGeom prst="rect">
            <a:avLst/>
          </a:prstGeom>
          <a:effectLst>
            <a:innerShdw blurRad="114300">
              <a:prstClr val="black"/>
            </a:innerShdw>
          </a:effectLst>
        </p:spPr>
      </p:pic>
      <p:graphicFrame>
        <p:nvGraphicFramePr>
          <p:cNvPr id="13" name="Table 12">
            <a:extLst>
              <a:ext uri="{FF2B5EF4-FFF2-40B4-BE49-F238E27FC236}">
                <a16:creationId xmlns:a16="http://schemas.microsoft.com/office/drawing/2014/main" id="{AA9825A5-73DC-ABED-C037-EC840B1D223F}"/>
              </a:ext>
            </a:extLst>
          </p:cNvPr>
          <p:cNvGraphicFramePr>
            <a:graphicFrameLocks noGrp="1"/>
          </p:cNvGraphicFramePr>
          <p:nvPr>
            <p:extLst>
              <p:ext uri="{D42A27DB-BD31-4B8C-83A1-F6EECF244321}">
                <p14:modId xmlns:p14="http://schemas.microsoft.com/office/powerpoint/2010/main" val="169741575"/>
              </p:ext>
            </p:extLst>
          </p:nvPr>
        </p:nvGraphicFramePr>
        <p:xfrm>
          <a:off x="2816149" y="3081464"/>
          <a:ext cx="9220200" cy="3294516"/>
        </p:xfrm>
        <a:graphic>
          <a:graphicData uri="http://schemas.openxmlformats.org/drawingml/2006/table">
            <a:tbl>
              <a:tblPr firstRow="1" bandRow="1">
                <a:tableStyleId>{5C22544A-7EE6-4342-B048-85BDC9FD1C3A}</a:tableStyleId>
              </a:tblPr>
              <a:tblGrid>
                <a:gridCol w="1583743">
                  <a:extLst>
                    <a:ext uri="{9D8B030D-6E8A-4147-A177-3AD203B41FA5}">
                      <a16:colId xmlns:a16="http://schemas.microsoft.com/office/drawing/2014/main" val="4084044958"/>
                    </a:ext>
                  </a:extLst>
                </a:gridCol>
                <a:gridCol w="948053">
                  <a:extLst>
                    <a:ext uri="{9D8B030D-6E8A-4147-A177-3AD203B41FA5}">
                      <a16:colId xmlns:a16="http://schemas.microsoft.com/office/drawing/2014/main" val="3615934369"/>
                    </a:ext>
                  </a:extLst>
                </a:gridCol>
                <a:gridCol w="806870">
                  <a:extLst>
                    <a:ext uri="{9D8B030D-6E8A-4147-A177-3AD203B41FA5}">
                      <a16:colId xmlns:a16="http://schemas.microsoft.com/office/drawing/2014/main" val="73187036"/>
                    </a:ext>
                  </a:extLst>
                </a:gridCol>
                <a:gridCol w="858926">
                  <a:extLst>
                    <a:ext uri="{9D8B030D-6E8A-4147-A177-3AD203B41FA5}">
                      <a16:colId xmlns:a16="http://schemas.microsoft.com/office/drawing/2014/main" val="3147726669"/>
                    </a:ext>
                  </a:extLst>
                </a:gridCol>
                <a:gridCol w="2142977">
                  <a:extLst>
                    <a:ext uri="{9D8B030D-6E8A-4147-A177-3AD203B41FA5}">
                      <a16:colId xmlns:a16="http://schemas.microsoft.com/office/drawing/2014/main" val="2929055363"/>
                    </a:ext>
                  </a:extLst>
                </a:gridCol>
                <a:gridCol w="913671">
                  <a:extLst>
                    <a:ext uri="{9D8B030D-6E8A-4147-A177-3AD203B41FA5}">
                      <a16:colId xmlns:a16="http://schemas.microsoft.com/office/drawing/2014/main" val="2386789796"/>
                    </a:ext>
                  </a:extLst>
                </a:gridCol>
                <a:gridCol w="890941">
                  <a:extLst>
                    <a:ext uri="{9D8B030D-6E8A-4147-A177-3AD203B41FA5}">
                      <a16:colId xmlns:a16="http://schemas.microsoft.com/office/drawing/2014/main" val="2536028979"/>
                    </a:ext>
                  </a:extLst>
                </a:gridCol>
                <a:gridCol w="1075019">
                  <a:extLst>
                    <a:ext uri="{9D8B030D-6E8A-4147-A177-3AD203B41FA5}">
                      <a16:colId xmlns:a16="http://schemas.microsoft.com/office/drawing/2014/main" val="1126145318"/>
                    </a:ext>
                  </a:extLst>
                </a:gridCol>
              </a:tblGrid>
              <a:tr h="253588">
                <a:tc>
                  <a:txBody>
                    <a:bodyPr/>
                    <a:lstStyle/>
                    <a:p>
                      <a:pPr algn="ctr"/>
                      <a:r>
                        <a:rPr lang="en-US" sz="1050"/>
                        <a:t>Field</a:t>
                      </a:r>
                    </a:p>
                  </a:txBody>
                  <a:tcPr anchor="ctr"/>
                </a:tc>
                <a:tc>
                  <a:txBody>
                    <a:bodyPr/>
                    <a:lstStyle/>
                    <a:p>
                      <a:pPr algn="ctr"/>
                      <a:r>
                        <a:rPr lang="en-US" sz="1050"/>
                        <a:t>Mandatory</a:t>
                      </a:r>
                    </a:p>
                  </a:txBody>
                  <a:tcPr anchor="ctr"/>
                </a:tc>
                <a:tc>
                  <a:txBody>
                    <a:bodyPr/>
                    <a:lstStyle/>
                    <a:p>
                      <a:pPr algn="ctr"/>
                      <a:r>
                        <a:rPr lang="en-US" sz="1050"/>
                        <a:t>Optional</a:t>
                      </a:r>
                    </a:p>
                  </a:txBody>
                  <a:tcPr anchor="ctr"/>
                </a:tc>
                <a:tc>
                  <a:txBody>
                    <a:bodyPr/>
                    <a:lstStyle/>
                    <a:p>
                      <a:pPr algn="ctr"/>
                      <a:r>
                        <a:rPr lang="en-US" sz="1050"/>
                        <a:t>Defaulted</a:t>
                      </a:r>
                    </a:p>
                  </a:txBody>
                  <a:tcPr anchor="ctr"/>
                </a:tc>
                <a:tc>
                  <a:txBody>
                    <a:bodyPr/>
                    <a:lstStyle/>
                    <a:p>
                      <a:pPr algn="ctr"/>
                      <a:r>
                        <a:rPr lang="en-US" sz="1050"/>
                        <a:t>Field</a:t>
                      </a:r>
                    </a:p>
                  </a:txBody>
                  <a:tcPr anchor="ctr"/>
                </a:tc>
                <a:tc>
                  <a:txBody>
                    <a:bodyPr/>
                    <a:lstStyle/>
                    <a:p>
                      <a:pPr algn="ctr"/>
                      <a:r>
                        <a:rPr lang="en-US" sz="1050"/>
                        <a:t>Mandatory</a:t>
                      </a:r>
                    </a:p>
                  </a:txBody>
                  <a:tcPr anchor="ctr"/>
                </a:tc>
                <a:tc>
                  <a:txBody>
                    <a:bodyPr/>
                    <a:lstStyle/>
                    <a:p>
                      <a:pPr algn="ctr"/>
                      <a:r>
                        <a:rPr lang="en-US" sz="1050"/>
                        <a:t>Optional</a:t>
                      </a:r>
                    </a:p>
                  </a:txBody>
                  <a:tcPr anchor="ctr"/>
                </a:tc>
                <a:tc>
                  <a:txBody>
                    <a:bodyPr/>
                    <a:lstStyle/>
                    <a:p>
                      <a:pPr algn="ctr"/>
                      <a:r>
                        <a:rPr lang="en-US" sz="1050"/>
                        <a:t>Defaulted</a:t>
                      </a:r>
                    </a:p>
                  </a:txBody>
                  <a:tcPr anchor="ctr"/>
                </a:tc>
                <a:extLst>
                  <a:ext uri="{0D108BD9-81ED-4DB2-BD59-A6C34878D82A}">
                    <a16:rowId xmlns:a16="http://schemas.microsoft.com/office/drawing/2014/main" val="4282288673"/>
                  </a:ext>
                </a:extLst>
              </a:tr>
              <a:tr h="253588">
                <a:tc>
                  <a:txBody>
                    <a:bodyPr/>
                    <a:lstStyle/>
                    <a:p>
                      <a:r>
                        <a:rPr lang="en-US" sz="1050"/>
                        <a:t>First Name</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endParaRPr lang="en-US" sz="1050"/>
                    </a:p>
                  </a:txBody>
                  <a:tcPr anchor="ctr"/>
                </a:tc>
                <a:tc>
                  <a:txBody>
                    <a:bodyPr/>
                    <a:lstStyle/>
                    <a:p>
                      <a:r>
                        <a:rPr lang="en-US" sz="1050"/>
                        <a:t>Apartment</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3849373528"/>
                  </a:ext>
                </a:extLst>
              </a:tr>
              <a:tr h="253588">
                <a:tc>
                  <a:txBody>
                    <a:bodyPr/>
                    <a:lstStyle/>
                    <a:p>
                      <a:r>
                        <a:rPr lang="en-US" sz="1050"/>
                        <a:t>Last Name</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endParaRPr lang="en-US" sz="1050"/>
                    </a:p>
                  </a:txBody>
                  <a:tcPr anchor="ctr"/>
                </a:tc>
                <a:tc>
                  <a:txBody>
                    <a:bodyPr/>
                    <a:lstStyle/>
                    <a:p>
                      <a:r>
                        <a:rPr lang="en-US" sz="1050"/>
                        <a:t>Building</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100861940"/>
                  </a:ext>
                </a:extLst>
              </a:tr>
              <a:tr h="253588">
                <a:tc>
                  <a:txBody>
                    <a:bodyPr/>
                    <a:lstStyle/>
                    <a:p>
                      <a:r>
                        <a:rPr lang="en-US" sz="1050"/>
                        <a:t>Middle Name</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r>
                        <a:rPr lang="en-US" sz="1050"/>
                        <a:t>Room</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3011119898"/>
                  </a:ext>
                </a:extLst>
              </a:tr>
              <a:tr h="253588">
                <a:tc>
                  <a:txBody>
                    <a:bodyPr/>
                    <a:lstStyle/>
                    <a:p>
                      <a:r>
                        <a:rPr lang="en-US" sz="1050"/>
                        <a:t>Title</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r>
                        <a:rPr lang="en-US" sz="1050"/>
                        <a:t>Floor</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2045713161"/>
                  </a:ext>
                </a:extLst>
              </a:tr>
              <a:tr h="253588">
                <a:tc>
                  <a:txBody>
                    <a:bodyPr/>
                    <a:lstStyle/>
                    <a:p>
                      <a:r>
                        <a:rPr lang="en-US" sz="1050"/>
                        <a:t>Suffix</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r>
                        <a:rPr lang="en-US" sz="1050"/>
                        <a:t>City</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endParaRPr lang="en-US" sz="1050"/>
                    </a:p>
                  </a:txBody>
                  <a:tcPr anchor="ctr"/>
                </a:tc>
                <a:extLst>
                  <a:ext uri="{0D108BD9-81ED-4DB2-BD59-A6C34878D82A}">
                    <a16:rowId xmlns:a16="http://schemas.microsoft.com/office/drawing/2014/main" val="3815704308"/>
                  </a:ext>
                </a:extLst>
              </a:tr>
              <a:tr h="253588">
                <a:tc>
                  <a:txBody>
                    <a:bodyPr/>
                    <a:lstStyle/>
                    <a:p>
                      <a:r>
                        <a:rPr lang="en-US" sz="1050"/>
                        <a:t>Drivers License #</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r>
                        <a:rPr lang="en-US" sz="1050"/>
                        <a:t>State</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endParaRPr lang="en-US" sz="1050"/>
                    </a:p>
                  </a:txBody>
                  <a:tcPr anchor="ctr"/>
                </a:tc>
                <a:extLst>
                  <a:ext uri="{0D108BD9-81ED-4DB2-BD59-A6C34878D82A}">
                    <a16:rowId xmlns:a16="http://schemas.microsoft.com/office/drawing/2014/main" val="2729228727"/>
                  </a:ext>
                </a:extLst>
              </a:tr>
              <a:tr h="253588">
                <a:tc>
                  <a:txBody>
                    <a:bodyPr/>
                    <a:lstStyle/>
                    <a:p>
                      <a:r>
                        <a:rPr lang="en-US" sz="1050"/>
                        <a:t>Drivers License State</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r>
                        <a:rPr lang="en-US" sz="1050"/>
                        <a:t>Zip Code</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endParaRPr lang="en-US" sz="1050"/>
                    </a:p>
                  </a:txBody>
                  <a:tcPr anchor="ctr"/>
                </a:tc>
                <a:extLst>
                  <a:ext uri="{0D108BD9-81ED-4DB2-BD59-A6C34878D82A}">
                    <a16:rowId xmlns:a16="http://schemas.microsoft.com/office/drawing/2014/main" val="2316147996"/>
                  </a:ext>
                </a:extLst>
              </a:tr>
              <a:tr h="253588">
                <a:tc>
                  <a:txBody>
                    <a:bodyPr/>
                    <a:lstStyle/>
                    <a:p>
                      <a:r>
                        <a:rPr lang="en-US" sz="1050"/>
                        <a:t>Drivers License Country </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r>
                        <a:rPr lang="en-US" sz="1050"/>
                        <a:t>Country</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r>
                        <a:rPr lang="en-US" sz="1050"/>
                        <a:t>X</a:t>
                      </a:r>
                    </a:p>
                  </a:txBody>
                  <a:tcPr anchor="ctr"/>
                </a:tc>
                <a:extLst>
                  <a:ext uri="{0D108BD9-81ED-4DB2-BD59-A6C34878D82A}">
                    <a16:rowId xmlns:a16="http://schemas.microsoft.com/office/drawing/2014/main" val="3573349906"/>
                  </a:ext>
                </a:extLst>
              </a:tr>
              <a:tr h="253588">
                <a:tc>
                  <a:txBody>
                    <a:bodyPr/>
                    <a:lstStyle/>
                    <a:p>
                      <a:r>
                        <a:rPr lang="en-US" sz="1050"/>
                        <a:t>Social Security #</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r>
                        <a:rPr lang="en-US" sz="1050"/>
                        <a:t>PMB</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2970660839"/>
                  </a:ext>
                </a:extLst>
              </a:tr>
              <a:tr h="253588">
                <a:tc>
                  <a:txBody>
                    <a:bodyPr/>
                    <a:lstStyle/>
                    <a:p>
                      <a:r>
                        <a:rPr lang="en-US" sz="1050" b="1"/>
                        <a:t>Tax Jurisdiction</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r>
                        <a:rPr lang="en-US" sz="1050"/>
                        <a:t>X</a:t>
                      </a:r>
                    </a:p>
                  </a:txBody>
                  <a:tcPr anchor="ctr"/>
                </a:tc>
                <a:tc>
                  <a:txBody>
                    <a:bodyPr/>
                    <a:lstStyle/>
                    <a:p>
                      <a:r>
                        <a:rPr lang="en-US" sz="1050"/>
                        <a:t>Address Dependent Landline #</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385980212"/>
                  </a:ext>
                </a:extLst>
              </a:tr>
              <a:tr h="253588">
                <a:tc>
                  <a:txBody>
                    <a:bodyPr/>
                    <a:lstStyle/>
                    <a:p>
                      <a:r>
                        <a:rPr lang="en-US" sz="1050"/>
                        <a:t>House</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r>
                        <a:rPr lang="en-US" sz="1050"/>
                        <a:t>Address Dependent Mobile #</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1003096985"/>
                  </a:ext>
                </a:extLst>
              </a:tr>
              <a:tr h="171298">
                <a:tc>
                  <a:txBody>
                    <a:bodyPr/>
                    <a:lstStyle/>
                    <a:p>
                      <a:r>
                        <a:rPr lang="en-US" sz="1050"/>
                        <a:t>Street</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endParaRPr lang="en-US" sz="1050"/>
                    </a:p>
                  </a:txBody>
                  <a:tcPr anchor="ctr"/>
                </a:tc>
                <a:tc>
                  <a:txBody>
                    <a:bodyPr/>
                    <a:lstStyle/>
                    <a:p>
                      <a:r>
                        <a:rPr lang="en-US" sz="1050"/>
                        <a:t>Address Dependent Email</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3242324598"/>
                  </a:ext>
                </a:extLst>
              </a:tr>
            </a:tbl>
          </a:graphicData>
        </a:graphic>
      </p:graphicFrame>
      <p:sp>
        <p:nvSpPr>
          <p:cNvPr id="2" name="TextBox 1">
            <a:extLst>
              <a:ext uri="{FF2B5EF4-FFF2-40B4-BE49-F238E27FC236}">
                <a16:creationId xmlns:a16="http://schemas.microsoft.com/office/drawing/2014/main" id="{CD456246-1629-F2AE-F607-FC04C37EA333}"/>
              </a:ext>
            </a:extLst>
          </p:cNvPr>
          <p:cNvSpPr txBox="1"/>
          <p:nvPr/>
        </p:nvSpPr>
        <p:spPr>
          <a:xfrm>
            <a:off x="68270" y="2321201"/>
            <a:ext cx="2743200"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A person BP has several data elements (i.e., fields) which a user </a:t>
            </a:r>
            <a:r>
              <a:rPr lang="en-US" err="1"/>
              <a:t>wi</a:t>
            </a:r>
            <a:r>
              <a:rPr lang="en-US"/>
              <a:t>ll enter to better understand the attributes of the person. </a:t>
            </a:r>
          </a:p>
          <a:p>
            <a:endParaRPr lang="en-US"/>
          </a:p>
          <a:p>
            <a:r>
              <a:rPr lang="en-US"/>
              <a:t>Some key fields include:</a:t>
            </a:r>
          </a:p>
          <a:p>
            <a:pPr marL="285750" indent="-285750">
              <a:buFont typeface="Calibri"/>
              <a:buChar char="-"/>
            </a:pPr>
            <a:r>
              <a:rPr lang="en-US"/>
              <a:t>First Name </a:t>
            </a:r>
          </a:p>
          <a:p>
            <a:pPr marL="285750" indent="-285750">
              <a:buFont typeface="Calibri"/>
              <a:buChar char="-"/>
            </a:pPr>
            <a:r>
              <a:rPr lang="en-US"/>
              <a:t>Last Name</a:t>
            </a:r>
          </a:p>
          <a:p>
            <a:pPr marL="285750" indent="-285750">
              <a:buFont typeface="Calibri"/>
              <a:buChar char="-"/>
            </a:pPr>
            <a:r>
              <a:rPr lang="en-US"/>
              <a:t>Title</a:t>
            </a:r>
          </a:p>
          <a:p>
            <a:pPr marL="285750" indent="-285750">
              <a:buFont typeface="Calibri"/>
              <a:buChar char="-"/>
            </a:pPr>
            <a:r>
              <a:rPr lang="en-US"/>
              <a:t>Suffix</a:t>
            </a:r>
          </a:p>
          <a:p>
            <a:pPr marL="285750" indent="-285750">
              <a:buFont typeface="Calibri"/>
              <a:buChar char="-"/>
            </a:pPr>
            <a:r>
              <a:rPr lang="en-US"/>
              <a:t>ID Types</a:t>
            </a:r>
          </a:p>
          <a:p>
            <a:pPr marL="742950" lvl="1" indent="-285750">
              <a:buFont typeface="Courier New"/>
              <a:buChar char="o"/>
            </a:pPr>
            <a:r>
              <a:rPr lang="en-US"/>
              <a:t>Social Security</a:t>
            </a:r>
          </a:p>
          <a:p>
            <a:pPr marL="742950" lvl="1" indent="-285750">
              <a:buFont typeface="Courier New"/>
              <a:buChar char="o"/>
            </a:pPr>
            <a:r>
              <a:rPr lang="en-US"/>
              <a:t>Driver's </a:t>
            </a:r>
            <a:r>
              <a:rPr lang="en-US" err="1"/>
              <a:t>Licen</a:t>
            </a:r>
            <a:r>
              <a:rPr lang="en-US"/>
              <a:t>se</a:t>
            </a:r>
          </a:p>
        </p:txBody>
      </p:sp>
    </p:spTree>
    <p:extLst>
      <p:ext uri="{BB962C8B-B14F-4D97-AF65-F5344CB8AC3E}">
        <p14:creationId xmlns:p14="http://schemas.microsoft.com/office/powerpoint/2010/main" val="11751589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C1FFA-CEA1-A2E8-C1FB-ACBB36703A2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C1849B2-4F4B-7540-AEC5-641C31D0646A}"/>
              </a:ext>
            </a:extLst>
          </p:cNvPr>
          <p:cNvSpPr>
            <a:spLocks noGrp="1"/>
          </p:cNvSpPr>
          <p:nvPr>
            <p:ph type="title"/>
          </p:nvPr>
        </p:nvSpPr>
        <p:spPr>
          <a:xfrm>
            <a:off x="-1021" y="5686"/>
            <a:ext cx="5041041" cy="1338236"/>
          </a:xfrm>
        </p:spPr>
        <p:txBody>
          <a:bodyPr>
            <a:normAutofit/>
          </a:bodyPr>
          <a:lstStyle/>
          <a:p>
            <a:r>
              <a:rPr lang="en-US" sz="3200">
                <a:latin typeface="Montserrat"/>
              </a:rPr>
              <a:t>Create Organization BP in CRM</a:t>
            </a:r>
          </a:p>
        </p:txBody>
      </p:sp>
      <p:sp>
        <p:nvSpPr>
          <p:cNvPr id="6" name="TextBox 5">
            <a:extLst>
              <a:ext uri="{FF2B5EF4-FFF2-40B4-BE49-F238E27FC236}">
                <a16:creationId xmlns:a16="http://schemas.microsoft.com/office/drawing/2014/main" id="{576BD2E4-1969-5357-C8D7-5DBDCABE965E}"/>
              </a:ext>
            </a:extLst>
          </p:cNvPr>
          <p:cNvSpPr txBox="1"/>
          <p:nvPr/>
        </p:nvSpPr>
        <p:spPr>
          <a:xfrm>
            <a:off x="1993692" y="2308485"/>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ontserrat" pitchFamily="2" charset="77"/>
              <a:ea typeface="+mn-ea"/>
              <a:cs typeface="+mn-cs"/>
            </a:endParaRPr>
          </a:p>
        </p:txBody>
      </p:sp>
      <p:graphicFrame>
        <p:nvGraphicFramePr>
          <p:cNvPr id="13" name="Table 12">
            <a:extLst>
              <a:ext uri="{FF2B5EF4-FFF2-40B4-BE49-F238E27FC236}">
                <a16:creationId xmlns:a16="http://schemas.microsoft.com/office/drawing/2014/main" id="{23E3CA3E-9F2A-C791-22C4-26D269C2DE24}"/>
              </a:ext>
            </a:extLst>
          </p:cNvPr>
          <p:cNvGraphicFramePr>
            <a:graphicFrameLocks noGrp="1"/>
          </p:cNvGraphicFramePr>
          <p:nvPr>
            <p:extLst>
              <p:ext uri="{D42A27DB-BD31-4B8C-83A1-F6EECF244321}">
                <p14:modId xmlns:p14="http://schemas.microsoft.com/office/powerpoint/2010/main" val="224036051"/>
              </p:ext>
            </p:extLst>
          </p:nvPr>
        </p:nvGraphicFramePr>
        <p:xfrm>
          <a:off x="2841197" y="3426829"/>
          <a:ext cx="9220195" cy="3294516"/>
        </p:xfrm>
        <a:graphic>
          <a:graphicData uri="http://schemas.openxmlformats.org/drawingml/2006/table">
            <a:tbl>
              <a:tblPr firstRow="1" bandRow="1">
                <a:tableStyleId>{5C22544A-7EE6-4342-B048-85BDC9FD1C3A}</a:tableStyleId>
              </a:tblPr>
              <a:tblGrid>
                <a:gridCol w="1583742">
                  <a:extLst>
                    <a:ext uri="{9D8B030D-6E8A-4147-A177-3AD203B41FA5}">
                      <a16:colId xmlns:a16="http://schemas.microsoft.com/office/drawing/2014/main" val="4084044958"/>
                    </a:ext>
                  </a:extLst>
                </a:gridCol>
                <a:gridCol w="948052">
                  <a:extLst>
                    <a:ext uri="{9D8B030D-6E8A-4147-A177-3AD203B41FA5}">
                      <a16:colId xmlns:a16="http://schemas.microsoft.com/office/drawing/2014/main" val="3615934369"/>
                    </a:ext>
                  </a:extLst>
                </a:gridCol>
                <a:gridCol w="806870">
                  <a:extLst>
                    <a:ext uri="{9D8B030D-6E8A-4147-A177-3AD203B41FA5}">
                      <a16:colId xmlns:a16="http://schemas.microsoft.com/office/drawing/2014/main" val="73187036"/>
                    </a:ext>
                  </a:extLst>
                </a:gridCol>
                <a:gridCol w="858926">
                  <a:extLst>
                    <a:ext uri="{9D8B030D-6E8A-4147-A177-3AD203B41FA5}">
                      <a16:colId xmlns:a16="http://schemas.microsoft.com/office/drawing/2014/main" val="3147726669"/>
                    </a:ext>
                  </a:extLst>
                </a:gridCol>
                <a:gridCol w="2142976">
                  <a:extLst>
                    <a:ext uri="{9D8B030D-6E8A-4147-A177-3AD203B41FA5}">
                      <a16:colId xmlns:a16="http://schemas.microsoft.com/office/drawing/2014/main" val="2929055363"/>
                    </a:ext>
                  </a:extLst>
                </a:gridCol>
                <a:gridCol w="913670">
                  <a:extLst>
                    <a:ext uri="{9D8B030D-6E8A-4147-A177-3AD203B41FA5}">
                      <a16:colId xmlns:a16="http://schemas.microsoft.com/office/drawing/2014/main" val="2386789796"/>
                    </a:ext>
                  </a:extLst>
                </a:gridCol>
                <a:gridCol w="890940">
                  <a:extLst>
                    <a:ext uri="{9D8B030D-6E8A-4147-A177-3AD203B41FA5}">
                      <a16:colId xmlns:a16="http://schemas.microsoft.com/office/drawing/2014/main" val="2536028979"/>
                    </a:ext>
                  </a:extLst>
                </a:gridCol>
                <a:gridCol w="1075019">
                  <a:extLst>
                    <a:ext uri="{9D8B030D-6E8A-4147-A177-3AD203B41FA5}">
                      <a16:colId xmlns:a16="http://schemas.microsoft.com/office/drawing/2014/main" val="1126145318"/>
                    </a:ext>
                  </a:extLst>
                </a:gridCol>
              </a:tblGrid>
              <a:tr h="253588">
                <a:tc>
                  <a:txBody>
                    <a:bodyPr/>
                    <a:lstStyle/>
                    <a:p>
                      <a:pPr algn="ctr"/>
                      <a:r>
                        <a:rPr lang="en-US" sz="1050"/>
                        <a:t>Field</a:t>
                      </a:r>
                    </a:p>
                  </a:txBody>
                  <a:tcPr anchor="ctr"/>
                </a:tc>
                <a:tc>
                  <a:txBody>
                    <a:bodyPr/>
                    <a:lstStyle/>
                    <a:p>
                      <a:pPr algn="ctr"/>
                      <a:r>
                        <a:rPr lang="en-US" sz="1050"/>
                        <a:t>Mandatory</a:t>
                      </a:r>
                    </a:p>
                  </a:txBody>
                  <a:tcPr anchor="ctr"/>
                </a:tc>
                <a:tc>
                  <a:txBody>
                    <a:bodyPr/>
                    <a:lstStyle/>
                    <a:p>
                      <a:pPr algn="ctr"/>
                      <a:r>
                        <a:rPr lang="en-US" sz="1050"/>
                        <a:t>Optional</a:t>
                      </a:r>
                    </a:p>
                  </a:txBody>
                  <a:tcPr anchor="ctr"/>
                </a:tc>
                <a:tc>
                  <a:txBody>
                    <a:bodyPr/>
                    <a:lstStyle/>
                    <a:p>
                      <a:pPr algn="ctr"/>
                      <a:r>
                        <a:rPr lang="en-US" sz="1050"/>
                        <a:t>Defaulted</a:t>
                      </a:r>
                    </a:p>
                  </a:txBody>
                  <a:tcPr anchor="ctr"/>
                </a:tc>
                <a:tc>
                  <a:txBody>
                    <a:bodyPr/>
                    <a:lstStyle/>
                    <a:p>
                      <a:pPr algn="ctr"/>
                      <a:r>
                        <a:rPr lang="en-US" sz="1050"/>
                        <a:t>Field</a:t>
                      </a:r>
                    </a:p>
                  </a:txBody>
                  <a:tcPr anchor="ctr"/>
                </a:tc>
                <a:tc>
                  <a:txBody>
                    <a:bodyPr/>
                    <a:lstStyle/>
                    <a:p>
                      <a:pPr algn="ctr"/>
                      <a:r>
                        <a:rPr lang="en-US" sz="1050"/>
                        <a:t>Mandatory</a:t>
                      </a:r>
                    </a:p>
                  </a:txBody>
                  <a:tcPr anchor="ctr"/>
                </a:tc>
                <a:tc>
                  <a:txBody>
                    <a:bodyPr/>
                    <a:lstStyle/>
                    <a:p>
                      <a:pPr algn="ctr"/>
                      <a:r>
                        <a:rPr lang="en-US" sz="1050"/>
                        <a:t>Optional</a:t>
                      </a:r>
                    </a:p>
                  </a:txBody>
                  <a:tcPr anchor="ctr"/>
                </a:tc>
                <a:tc>
                  <a:txBody>
                    <a:bodyPr/>
                    <a:lstStyle/>
                    <a:p>
                      <a:pPr algn="ctr"/>
                      <a:r>
                        <a:rPr lang="en-US" sz="1050"/>
                        <a:t>Defaulted</a:t>
                      </a:r>
                    </a:p>
                  </a:txBody>
                  <a:tcPr anchor="ctr"/>
                </a:tc>
                <a:extLst>
                  <a:ext uri="{0D108BD9-81ED-4DB2-BD59-A6C34878D82A}">
                    <a16:rowId xmlns:a16="http://schemas.microsoft.com/office/drawing/2014/main" val="4282288673"/>
                  </a:ext>
                </a:extLst>
              </a:tr>
              <a:tr h="253588">
                <a:tc>
                  <a:txBody>
                    <a:bodyPr/>
                    <a:lstStyle/>
                    <a:p>
                      <a:r>
                        <a:rPr lang="en-US" sz="1050"/>
                        <a:t>Name 1</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endParaRPr lang="en-US" sz="1050"/>
                    </a:p>
                  </a:txBody>
                  <a:tcPr anchor="ctr"/>
                </a:tc>
                <a:tc>
                  <a:txBody>
                    <a:bodyPr/>
                    <a:lstStyle/>
                    <a:p>
                      <a:r>
                        <a:rPr lang="en-US" sz="1050"/>
                        <a:t>Zip Code</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endParaRPr lang="en-US" sz="1050"/>
                    </a:p>
                  </a:txBody>
                  <a:tcPr anchor="ctr"/>
                </a:tc>
                <a:extLst>
                  <a:ext uri="{0D108BD9-81ED-4DB2-BD59-A6C34878D82A}">
                    <a16:rowId xmlns:a16="http://schemas.microsoft.com/office/drawing/2014/main" val="3849373528"/>
                  </a:ext>
                </a:extLst>
              </a:tr>
              <a:tr h="253588">
                <a:tc>
                  <a:txBody>
                    <a:bodyPr/>
                    <a:lstStyle/>
                    <a:p>
                      <a:r>
                        <a:rPr lang="en-US" sz="1050"/>
                        <a:t>Name 2</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r>
                        <a:rPr lang="en-US" sz="1050"/>
                        <a:t>Country</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r>
                        <a:rPr lang="en-US" sz="1050"/>
                        <a:t>X</a:t>
                      </a:r>
                    </a:p>
                  </a:txBody>
                  <a:tcPr anchor="ctr"/>
                </a:tc>
                <a:extLst>
                  <a:ext uri="{0D108BD9-81ED-4DB2-BD59-A6C34878D82A}">
                    <a16:rowId xmlns:a16="http://schemas.microsoft.com/office/drawing/2014/main" val="100861940"/>
                  </a:ext>
                </a:extLst>
              </a:tr>
              <a:tr h="253588">
                <a:tc>
                  <a:txBody>
                    <a:bodyPr/>
                    <a:lstStyle/>
                    <a:p>
                      <a:r>
                        <a:rPr lang="en-US" sz="1050"/>
                        <a:t>Tax Identification</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r>
                        <a:rPr lang="en-US" sz="1050"/>
                        <a:t>PMB</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3011119898"/>
                  </a:ext>
                </a:extLst>
              </a:tr>
              <a:tr h="253588">
                <a:tc>
                  <a:txBody>
                    <a:bodyPr/>
                    <a:lstStyle/>
                    <a:p>
                      <a:r>
                        <a:rPr lang="en-US" sz="1050"/>
                        <a:t>Tax Jurisdiction</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r>
                        <a:rPr lang="en-US" sz="1050"/>
                        <a:t>X</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a:t>Address Dependent Landline #</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2045713161"/>
                  </a:ext>
                </a:extLst>
              </a:tr>
              <a:tr h="253588">
                <a:tc>
                  <a:txBody>
                    <a:bodyPr/>
                    <a:lstStyle/>
                    <a:p>
                      <a:r>
                        <a:rPr lang="en-US" sz="1050"/>
                        <a:t>House</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a:t>Address Dependent Mobile #</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3815704308"/>
                  </a:ext>
                </a:extLst>
              </a:tr>
              <a:tr h="253588">
                <a:tc>
                  <a:txBody>
                    <a:bodyPr/>
                    <a:lstStyle/>
                    <a:p>
                      <a:r>
                        <a:rPr lang="en-US" sz="1050"/>
                        <a:t>Street</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endParaRPr lang="en-US" sz="105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a:t>Address Dependent Email</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2729228727"/>
                  </a:ext>
                </a:extLst>
              </a:tr>
              <a:tr h="253588">
                <a:tc>
                  <a:txBody>
                    <a:bodyPr/>
                    <a:lstStyle/>
                    <a:p>
                      <a:r>
                        <a:rPr lang="en-US" sz="1050"/>
                        <a:t>Apartment</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a:t>CAM Zone</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2316147996"/>
                  </a:ext>
                </a:extLst>
              </a:tr>
              <a:tr h="253588">
                <a:tc>
                  <a:txBody>
                    <a:bodyPr/>
                    <a:lstStyle/>
                    <a:p>
                      <a:r>
                        <a:rPr lang="en-US" sz="1050"/>
                        <a:t>Building</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a:t>Classification</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3573349906"/>
                  </a:ext>
                </a:extLst>
              </a:tr>
              <a:tr h="253588">
                <a:tc>
                  <a:txBody>
                    <a:bodyPr/>
                    <a:lstStyle/>
                    <a:p>
                      <a:r>
                        <a:rPr lang="en-US" sz="1050"/>
                        <a:t>Room</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endParaRPr lang="en-US" sz="1050"/>
                    </a:p>
                  </a:txBody>
                  <a:tcPr/>
                </a:tc>
                <a:tc>
                  <a:txBody>
                    <a:bodyPr/>
                    <a:lstStyle/>
                    <a:p>
                      <a:pPr algn="ctr"/>
                      <a:endParaRPr lang="en-US" sz="1050"/>
                    </a:p>
                  </a:txBody>
                  <a:tcPr anchor="ctr"/>
                </a:tc>
                <a:tc>
                  <a:txBody>
                    <a:bodyPr/>
                    <a:lstStyle/>
                    <a:p>
                      <a:pPr algn="ctr"/>
                      <a:endParaRPr lang="en-US" sz="1050"/>
                    </a:p>
                  </a:txBody>
                  <a:tcPr anchor="ctr"/>
                </a:tc>
                <a:tc>
                  <a:txBody>
                    <a:bodyPr/>
                    <a:lstStyle/>
                    <a:p>
                      <a:pPr algn="ctr"/>
                      <a:endParaRPr lang="en-US" sz="1050"/>
                    </a:p>
                  </a:txBody>
                  <a:tcPr anchor="ctr"/>
                </a:tc>
                <a:extLst>
                  <a:ext uri="{0D108BD9-81ED-4DB2-BD59-A6C34878D82A}">
                    <a16:rowId xmlns:a16="http://schemas.microsoft.com/office/drawing/2014/main" val="2970660839"/>
                  </a:ext>
                </a:extLst>
              </a:tr>
              <a:tr h="253588">
                <a:tc>
                  <a:txBody>
                    <a:bodyPr/>
                    <a:lstStyle/>
                    <a:p>
                      <a:r>
                        <a:rPr lang="en-US" sz="1050"/>
                        <a:t>Floor</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endParaRPr lang="en-US" sz="1050"/>
                    </a:p>
                  </a:txBody>
                  <a:tcPr/>
                </a:tc>
                <a:tc>
                  <a:txBody>
                    <a:bodyPr/>
                    <a:lstStyle/>
                    <a:p>
                      <a:pPr algn="ctr"/>
                      <a:endParaRPr lang="en-US" sz="1050"/>
                    </a:p>
                  </a:txBody>
                  <a:tcPr anchor="ctr"/>
                </a:tc>
                <a:tc>
                  <a:txBody>
                    <a:bodyPr/>
                    <a:lstStyle/>
                    <a:p>
                      <a:pPr algn="ctr"/>
                      <a:endParaRPr lang="en-US" sz="1050"/>
                    </a:p>
                  </a:txBody>
                  <a:tcPr anchor="ctr"/>
                </a:tc>
                <a:tc>
                  <a:txBody>
                    <a:bodyPr/>
                    <a:lstStyle/>
                    <a:p>
                      <a:pPr algn="ctr"/>
                      <a:endParaRPr lang="en-US" sz="1050"/>
                    </a:p>
                  </a:txBody>
                  <a:tcPr anchor="ctr"/>
                </a:tc>
                <a:extLst>
                  <a:ext uri="{0D108BD9-81ED-4DB2-BD59-A6C34878D82A}">
                    <a16:rowId xmlns:a16="http://schemas.microsoft.com/office/drawing/2014/main" val="385980212"/>
                  </a:ext>
                </a:extLst>
              </a:tr>
              <a:tr h="253588">
                <a:tc>
                  <a:txBody>
                    <a:bodyPr/>
                    <a:lstStyle/>
                    <a:p>
                      <a:r>
                        <a:rPr lang="en-US" sz="1050"/>
                        <a:t>City</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endParaRPr lang="en-US" sz="1050"/>
                    </a:p>
                  </a:txBody>
                  <a:tcPr anchor="ctr"/>
                </a:tc>
                <a:tc>
                  <a:txBody>
                    <a:bodyPr/>
                    <a:lstStyle/>
                    <a:p>
                      <a:endParaRPr lang="en-US" sz="1050"/>
                    </a:p>
                  </a:txBody>
                  <a:tcPr/>
                </a:tc>
                <a:tc>
                  <a:txBody>
                    <a:bodyPr/>
                    <a:lstStyle/>
                    <a:p>
                      <a:pPr algn="ctr"/>
                      <a:endParaRPr lang="en-US" sz="1050"/>
                    </a:p>
                  </a:txBody>
                  <a:tcPr anchor="ctr"/>
                </a:tc>
                <a:tc>
                  <a:txBody>
                    <a:bodyPr/>
                    <a:lstStyle/>
                    <a:p>
                      <a:pPr algn="ctr"/>
                      <a:endParaRPr lang="en-US" sz="1050"/>
                    </a:p>
                  </a:txBody>
                  <a:tcPr anchor="ctr"/>
                </a:tc>
                <a:tc>
                  <a:txBody>
                    <a:bodyPr/>
                    <a:lstStyle/>
                    <a:p>
                      <a:pPr algn="ctr"/>
                      <a:endParaRPr lang="en-US" sz="1050"/>
                    </a:p>
                  </a:txBody>
                  <a:tcPr anchor="ctr"/>
                </a:tc>
                <a:extLst>
                  <a:ext uri="{0D108BD9-81ED-4DB2-BD59-A6C34878D82A}">
                    <a16:rowId xmlns:a16="http://schemas.microsoft.com/office/drawing/2014/main" val="1003096985"/>
                  </a:ext>
                </a:extLst>
              </a:tr>
              <a:tr h="171298">
                <a:tc>
                  <a:txBody>
                    <a:bodyPr/>
                    <a:lstStyle/>
                    <a:p>
                      <a:r>
                        <a:rPr lang="en-US" sz="1050"/>
                        <a:t>State</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endParaRPr lang="en-US" sz="1050"/>
                    </a:p>
                  </a:txBody>
                  <a:tcPr anchor="ctr"/>
                </a:tc>
                <a:tc>
                  <a:txBody>
                    <a:bodyPr/>
                    <a:lstStyle/>
                    <a:p>
                      <a:endParaRPr lang="en-US" sz="1050"/>
                    </a:p>
                  </a:txBody>
                  <a:tcPr/>
                </a:tc>
                <a:tc>
                  <a:txBody>
                    <a:bodyPr/>
                    <a:lstStyle/>
                    <a:p>
                      <a:pPr algn="ctr"/>
                      <a:endParaRPr lang="en-US" sz="1050"/>
                    </a:p>
                  </a:txBody>
                  <a:tcPr anchor="ctr"/>
                </a:tc>
                <a:tc>
                  <a:txBody>
                    <a:bodyPr/>
                    <a:lstStyle/>
                    <a:p>
                      <a:pPr algn="ctr"/>
                      <a:endParaRPr lang="en-US" sz="1050"/>
                    </a:p>
                  </a:txBody>
                  <a:tcPr anchor="ctr"/>
                </a:tc>
                <a:tc>
                  <a:txBody>
                    <a:bodyPr/>
                    <a:lstStyle/>
                    <a:p>
                      <a:pPr algn="ctr"/>
                      <a:endParaRPr lang="en-US" sz="1050"/>
                    </a:p>
                  </a:txBody>
                  <a:tcPr anchor="ctr"/>
                </a:tc>
                <a:extLst>
                  <a:ext uri="{0D108BD9-81ED-4DB2-BD59-A6C34878D82A}">
                    <a16:rowId xmlns:a16="http://schemas.microsoft.com/office/drawing/2014/main" val="3242324598"/>
                  </a:ext>
                </a:extLst>
              </a:tr>
            </a:tbl>
          </a:graphicData>
        </a:graphic>
      </p:graphicFrame>
      <p:pic>
        <p:nvPicPr>
          <p:cNvPr id="4" name="Picture 3">
            <a:extLst>
              <a:ext uri="{FF2B5EF4-FFF2-40B4-BE49-F238E27FC236}">
                <a16:creationId xmlns:a16="http://schemas.microsoft.com/office/drawing/2014/main" id="{1664D318-C018-D752-F3DE-8807FC03E9E7}"/>
              </a:ext>
            </a:extLst>
          </p:cNvPr>
          <p:cNvPicPr>
            <a:picLocks noChangeAspect="1"/>
          </p:cNvPicPr>
          <p:nvPr/>
        </p:nvPicPr>
        <p:blipFill>
          <a:blip r:embed="rId2"/>
          <a:stretch>
            <a:fillRect/>
          </a:stretch>
        </p:blipFill>
        <p:spPr>
          <a:xfrm>
            <a:off x="5039708" y="118306"/>
            <a:ext cx="6591639" cy="3198896"/>
          </a:xfrm>
          <a:prstGeom prst="rect">
            <a:avLst/>
          </a:prstGeom>
        </p:spPr>
      </p:pic>
      <p:sp>
        <p:nvSpPr>
          <p:cNvPr id="5" name="TextBox 4">
            <a:extLst>
              <a:ext uri="{FF2B5EF4-FFF2-40B4-BE49-F238E27FC236}">
                <a16:creationId xmlns:a16="http://schemas.microsoft.com/office/drawing/2014/main" id="{493F26BE-FF9F-7186-D0A6-1B521F097E99}"/>
              </a:ext>
            </a:extLst>
          </p:cNvPr>
          <p:cNvSpPr txBox="1"/>
          <p:nvPr/>
        </p:nvSpPr>
        <p:spPr>
          <a:xfrm>
            <a:off x="102389" y="1343111"/>
            <a:ext cx="2743200"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An Organization BP has several data elements (i.e., fields) which a user will enter to better understand the attributes of the person. </a:t>
            </a:r>
          </a:p>
          <a:p>
            <a:endParaRPr lang="en-US"/>
          </a:p>
          <a:p>
            <a:r>
              <a:rPr lang="en-US"/>
              <a:t>Some key fields include:</a:t>
            </a:r>
          </a:p>
          <a:p>
            <a:pPr marL="285750" indent="-285750">
              <a:buFont typeface="Calibri"/>
              <a:buChar char="-"/>
            </a:pPr>
            <a:r>
              <a:rPr lang="en-US"/>
              <a:t>Organization Name</a:t>
            </a:r>
          </a:p>
          <a:p>
            <a:pPr marL="285750" indent="-285750">
              <a:buFont typeface="Calibri"/>
              <a:buChar char="-"/>
            </a:pPr>
            <a:r>
              <a:rPr lang="en-US"/>
              <a:t>CAM Zone</a:t>
            </a:r>
          </a:p>
          <a:p>
            <a:pPr marL="285750" indent="-285750">
              <a:buFont typeface="Calibri"/>
              <a:buChar char="-"/>
            </a:pPr>
            <a:r>
              <a:rPr lang="en-US"/>
              <a:t>Classification</a:t>
            </a:r>
          </a:p>
          <a:p>
            <a:pPr marL="285750" indent="-285750">
              <a:buFont typeface="Calibri"/>
              <a:buChar char="-"/>
            </a:pPr>
            <a:r>
              <a:rPr lang="en-US"/>
              <a:t>ID Types</a:t>
            </a:r>
          </a:p>
          <a:p>
            <a:pPr marL="742950" lvl="1" indent="-285750">
              <a:buFont typeface="Courier New"/>
              <a:buChar char="o"/>
            </a:pPr>
            <a:r>
              <a:rPr lang="en-US"/>
              <a:t>Tax ID </a:t>
            </a:r>
          </a:p>
        </p:txBody>
      </p:sp>
    </p:spTree>
    <p:extLst>
      <p:ext uri="{BB962C8B-B14F-4D97-AF65-F5344CB8AC3E}">
        <p14:creationId xmlns:p14="http://schemas.microsoft.com/office/powerpoint/2010/main" val="1837094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643A0-3C03-D529-32DA-028796E4B3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A69CC9-0C04-2616-CDB9-0C0B4F775FE1}"/>
              </a:ext>
            </a:extLst>
          </p:cNvPr>
          <p:cNvSpPr>
            <a:spLocks noGrp="1"/>
          </p:cNvSpPr>
          <p:nvPr>
            <p:ph type="title"/>
          </p:nvPr>
        </p:nvSpPr>
        <p:spPr>
          <a:xfrm>
            <a:off x="652653" y="450818"/>
            <a:ext cx="1627182" cy="628386"/>
          </a:xfrm>
        </p:spPr>
        <p:txBody>
          <a:bodyPr vert="horz" lIns="0" tIns="45720" rIns="91440" bIns="0" rtlCol="0" anchor="t">
            <a:normAutofit/>
          </a:bodyPr>
          <a:lstStyle/>
          <a:p>
            <a:r>
              <a:rPr lang="en-US">
                <a:latin typeface="Montserrat"/>
              </a:rPr>
              <a:t>Titles</a:t>
            </a:r>
          </a:p>
        </p:txBody>
      </p:sp>
      <p:graphicFrame>
        <p:nvGraphicFramePr>
          <p:cNvPr id="6" name="Table 5">
            <a:extLst>
              <a:ext uri="{FF2B5EF4-FFF2-40B4-BE49-F238E27FC236}">
                <a16:creationId xmlns:a16="http://schemas.microsoft.com/office/drawing/2014/main" id="{988DD1EC-70D0-788B-74E1-30A0F05B5E3D}"/>
              </a:ext>
            </a:extLst>
          </p:cNvPr>
          <p:cNvGraphicFramePr>
            <a:graphicFrameLocks noGrp="1"/>
          </p:cNvGraphicFramePr>
          <p:nvPr>
            <p:extLst>
              <p:ext uri="{D42A27DB-BD31-4B8C-83A1-F6EECF244321}">
                <p14:modId xmlns:p14="http://schemas.microsoft.com/office/powerpoint/2010/main" val="341602685"/>
              </p:ext>
            </p:extLst>
          </p:nvPr>
        </p:nvGraphicFramePr>
        <p:xfrm>
          <a:off x="419100" y="1838324"/>
          <a:ext cx="2081282" cy="4678680"/>
        </p:xfrm>
        <a:graphic>
          <a:graphicData uri="http://schemas.openxmlformats.org/drawingml/2006/table">
            <a:tbl>
              <a:tblPr firstRow="1" bandRow="1">
                <a:tableStyleId>{6E25E649-3F16-4E02-A733-19D2CDBF48F0}</a:tableStyleId>
              </a:tblPr>
              <a:tblGrid>
                <a:gridCol w="1006521">
                  <a:extLst>
                    <a:ext uri="{9D8B030D-6E8A-4147-A177-3AD203B41FA5}">
                      <a16:colId xmlns:a16="http://schemas.microsoft.com/office/drawing/2014/main" val="1071993016"/>
                    </a:ext>
                  </a:extLst>
                </a:gridCol>
                <a:gridCol w="1074761">
                  <a:extLst>
                    <a:ext uri="{9D8B030D-6E8A-4147-A177-3AD203B41FA5}">
                      <a16:colId xmlns:a16="http://schemas.microsoft.com/office/drawing/2014/main" val="3174711847"/>
                    </a:ext>
                  </a:extLst>
                </a:gridCol>
              </a:tblGrid>
              <a:tr h="165965">
                <a:tc>
                  <a:txBody>
                    <a:bodyPr/>
                    <a:lstStyle/>
                    <a:p>
                      <a:pPr>
                        <a:buNone/>
                      </a:pPr>
                      <a:r>
                        <a:rPr lang="en-US" sz="1200" b="1">
                          <a:effectLst/>
                        </a:rPr>
                        <a:t>Key</a:t>
                      </a:r>
                    </a:p>
                  </a:txBody>
                  <a:tcPr anchor="ctr"/>
                </a:tc>
                <a:tc>
                  <a:txBody>
                    <a:bodyPr/>
                    <a:lstStyle/>
                    <a:p>
                      <a:pPr>
                        <a:buNone/>
                      </a:pPr>
                      <a:r>
                        <a:rPr lang="en-US" sz="1200" b="1">
                          <a:effectLst/>
                        </a:rPr>
                        <a:t>Title</a:t>
                      </a:r>
                    </a:p>
                  </a:txBody>
                  <a:tcPr anchor="ctr"/>
                </a:tc>
                <a:extLst>
                  <a:ext uri="{0D108BD9-81ED-4DB2-BD59-A6C34878D82A}">
                    <a16:rowId xmlns:a16="http://schemas.microsoft.com/office/drawing/2014/main" val="2312966192"/>
                  </a:ext>
                </a:extLst>
              </a:tr>
              <a:tr h="165965">
                <a:tc>
                  <a:txBody>
                    <a:bodyPr/>
                    <a:lstStyle/>
                    <a:p>
                      <a:pPr>
                        <a:buNone/>
                      </a:pPr>
                      <a:r>
                        <a:rPr lang="en-US" sz="1100">
                          <a:effectLst/>
                        </a:rPr>
                        <a:t>0001</a:t>
                      </a:r>
                    </a:p>
                  </a:txBody>
                  <a:tcPr anchor="ctr"/>
                </a:tc>
                <a:tc>
                  <a:txBody>
                    <a:bodyPr/>
                    <a:lstStyle/>
                    <a:p>
                      <a:pPr>
                        <a:buNone/>
                      </a:pPr>
                      <a:r>
                        <a:rPr lang="en-US" sz="1100"/>
                        <a:t>Ms.</a:t>
                      </a:r>
                    </a:p>
                  </a:txBody>
                  <a:tcPr anchor="ctr"/>
                </a:tc>
                <a:extLst>
                  <a:ext uri="{0D108BD9-81ED-4DB2-BD59-A6C34878D82A}">
                    <a16:rowId xmlns:a16="http://schemas.microsoft.com/office/drawing/2014/main" val="3475115320"/>
                  </a:ext>
                </a:extLst>
              </a:tr>
              <a:tr h="165965">
                <a:tc>
                  <a:txBody>
                    <a:bodyPr/>
                    <a:lstStyle/>
                    <a:p>
                      <a:pPr>
                        <a:buNone/>
                      </a:pPr>
                      <a:r>
                        <a:rPr lang="en-US" sz="1100">
                          <a:effectLst/>
                        </a:rPr>
                        <a:t>0002</a:t>
                      </a:r>
                    </a:p>
                  </a:txBody>
                  <a:tcPr anchor="ctr"/>
                </a:tc>
                <a:tc>
                  <a:txBody>
                    <a:bodyPr/>
                    <a:lstStyle/>
                    <a:p>
                      <a:pPr>
                        <a:buNone/>
                      </a:pPr>
                      <a:r>
                        <a:rPr lang="en-US" sz="1100"/>
                        <a:t>Mr.</a:t>
                      </a:r>
                    </a:p>
                  </a:txBody>
                  <a:tcPr anchor="ctr"/>
                </a:tc>
                <a:extLst>
                  <a:ext uri="{0D108BD9-81ED-4DB2-BD59-A6C34878D82A}">
                    <a16:rowId xmlns:a16="http://schemas.microsoft.com/office/drawing/2014/main" val="4106532621"/>
                  </a:ext>
                </a:extLst>
              </a:tr>
              <a:tr h="165965">
                <a:tc>
                  <a:txBody>
                    <a:bodyPr/>
                    <a:lstStyle/>
                    <a:p>
                      <a:pPr>
                        <a:buNone/>
                      </a:pPr>
                      <a:r>
                        <a:rPr lang="en-US" sz="1100">
                          <a:effectLst/>
                        </a:rPr>
                        <a:t>0003</a:t>
                      </a:r>
                    </a:p>
                  </a:txBody>
                  <a:tcPr anchor="ctr"/>
                </a:tc>
                <a:tc>
                  <a:txBody>
                    <a:bodyPr/>
                    <a:lstStyle/>
                    <a:p>
                      <a:pPr>
                        <a:buNone/>
                      </a:pPr>
                      <a:r>
                        <a:rPr lang="en-US" sz="1100"/>
                        <a:t>Company</a:t>
                      </a:r>
                    </a:p>
                  </a:txBody>
                  <a:tcPr anchor="ctr"/>
                </a:tc>
                <a:extLst>
                  <a:ext uri="{0D108BD9-81ED-4DB2-BD59-A6C34878D82A}">
                    <a16:rowId xmlns:a16="http://schemas.microsoft.com/office/drawing/2014/main" val="1299358257"/>
                  </a:ext>
                </a:extLst>
              </a:tr>
              <a:tr h="165965">
                <a:tc>
                  <a:txBody>
                    <a:bodyPr/>
                    <a:lstStyle/>
                    <a:p>
                      <a:pPr>
                        <a:buNone/>
                      </a:pPr>
                      <a:r>
                        <a:rPr lang="en-US" sz="1100">
                          <a:effectLst/>
                        </a:rPr>
                        <a:t>0004</a:t>
                      </a:r>
                    </a:p>
                  </a:txBody>
                  <a:tcPr anchor="ctr"/>
                </a:tc>
                <a:tc>
                  <a:txBody>
                    <a:bodyPr/>
                    <a:lstStyle/>
                    <a:p>
                      <a:pPr>
                        <a:buNone/>
                      </a:pPr>
                      <a:r>
                        <a:rPr lang="en-US" sz="1100"/>
                        <a:t>Mrs.</a:t>
                      </a:r>
                    </a:p>
                  </a:txBody>
                  <a:tcPr anchor="ctr"/>
                </a:tc>
                <a:extLst>
                  <a:ext uri="{0D108BD9-81ED-4DB2-BD59-A6C34878D82A}">
                    <a16:rowId xmlns:a16="http://schemas.microsoft.com/office/drawing/2014/main" val="2613232226"/>
                  </a:ext>
                </a:extLst>
              </a:tr>
              <a:tr h="165965">
                <a:tc>
                  <a:txBody>
                    <a:bodyPr/>
                    <a:lstStyle/>
                    <a:p>
                      <a:pPr>
                        <a:buNone/>
                      </a:pPr>
                      <a:r>
                        <a:rPr lang="en-US" sz="1100">
                          <a:effectLst/>
                        </a:rPr>
                        <a:t>0005</a:t>
                      </a:r>
                    </a:p>
                  </a:txBody>
                  <a:tcPr anchor="ctr"/>
                </a:tc>
                <a:tc>
                  <a:txBody>
                    <a:bodyPr/>
                    <a:lstStyle/>
                    <a:p>
                      <a:pPr>
                        <a:buNone/>
                      </a:pPr>
                      <a:r>
                        <a:rPr lang="en-US" sz="1100"/>
                        <a:t>Miss</a:t>
                      </a:r>
                    </a:p>
                  </a:txBody>
                  <a:tcPr anchor="ctr"/>
                </a:tc>
                <a:extLst>
                  <a:ext uri="{0D108BD9-81ED-4DB2-BD59-A6C34878D82A}">
                    <a16:rowId xmlns:a16="http://schemas.microsoft.com/office/drawing/2014/main" val="2976975717"/>
                  </a:ext>
                </a:extLst>
              </a:tr>
              <a:tr h="165965">
                <a:tc>
                  <a:txBody>
                    <a:bodyPr/>
                    <a:lstStyle/>
                    <a:p>
                      <a:pPr>
                        <a:buNone/>
                      </a:pPr>
                      <a:r>
                        <a:rPr lang="en-US" sz="1100">
                          <a:effectLst/>
                        </a:rPr>
                        <a:t>0006</a:t>
                      </a:r>
                    </a:p>
                  </a:txBody>
                  <a:tcPr anchor="ctr"/>
                </a:tc>
                <a:tc>
                  <a:txBody>
                    <a:bodyPr/>
                    <a:lstStyle/>
                    <a:p>
                      <a:pPr>
                        <a:buNone/>
                      </a:pPr>
                      <a:r>
                        <a:rPr lang="en-US" sz="1100"/>
                        <a:t>Rev.</a:t>
                      </a:r>
                    </a:p>
                  </a:txBody>
                  <a:tcPr anchor="ctr"/>
                </a:tc>
                <a:extLst>
                  <a:ext uri="{0D108BD9-81ED-4DB2-BD59-A6C34878D82A}">
                    <a16:rowId xmlns:a16="http://schemas.microsoft.com/office/drawing/2014/main" val="3247081013"/>
                  </a:ext>
                </a:extLst>
              </a:tr>
              <a:tr h="165965">
                <a:tc>
                  <a:txBody>
                    <a:bodyPr/>
                    <a:lstStyle/>
                    <a:p>
                      <a:pPr>
                        <a:buNone/>
                      </a:pPr>
                      <a:r>
                        <a:rPr lang="en-US" sz="1100">
                          <a:effectLst/>
                        </a:rPr>
                        <a:t>0007</a:t>
                      </a:r>
                    </a:p>
                  </a:txBody>
                  <a:tcPr anchor="ctr"/>
                </a:tc>
                <a:tc>
                  <a:txBody>
                    <a:bodyPr/>
                    <a:lstStyle/>
                    <a:p>
                      <a:pPr>
                        <a:buNone/>
                      </a:pPr>
                      <a:r>
                        <a:rPr lang="en-US" sz="1100"/>
                        <a:t>Dr.</a:t>
                      </a:r>
                    </a:p>
                  </a:txBody>
                  <a:tcPr anchor="ctr"/>
                </a:tc>
                <a:extLst>
                  <a:ext uri="{0D108BD9-81ED-4DB2-BD59-A6C34878D82A}">
                    <a16:rowId xmlns:a16="http://schemas.microsoft.com/office/drawing/2014/main" val="1145031596"/>
                  </a:ext>
                </a:extLst>
              </a:tr>
              <a:tr h="165965">
                <a:tc>
                  <a:txBody>
                    <a:bodyPr/>
                    <a:lstStyle/>
                    <a:p>
                      <a:pPr>
                        <a:buNone/>
                      </a:pPr>
                      <a:r>
                        <a:rPr lang="en-US" sz="1100">
                          <a:effectLst/>
                        </a:rPr>
                        <a:t>0008</a:t>
                      </a:r>
                    </a:p>
                  </a:txBody>
                  <a:tcPr anchor="ctr"/>
                </a:tc>
                <a:tc>
                  <a:txBody>
                    <a:bodyPr/>
                    <a:lstStyle/>
                    <a:p>
                      <a:pPr>
                        <a:buNone/>
                      </a:pPr>
                      <a:r>
                        <a:rPr lang="en-US" sz="1100"/>
                        <a:t>Prof.</a:t>
                      </a:r>
                    </a:p>
                  </a:txBody>
                  <a:tcPr anchor="ctr"/>
                </a:tc>
                <a:extLst>
                  <a:ext uri="{0D108BD9-81ED-4DB2-BD59-A6C34878D82A}">
                    <a16:rowId xmlns:a16="http://schemas.microsoft.com/office/drawing/2014/main" val="818085399"/>
                  </a:ext>
                </a:extLst>
              </a:tr>
              <a:tr h="165965">
                <a:tc>
                  <a:txBody>
                    <a:bodyPr/>
                    <a:lstStyle/>
                    <a:p>
                      <a:pPr>
                        <a:buNone/>
                      </a:pPr>
                      <a:r>
                        <a:rPr lang="en-US" sz="1100">
                          <a:effectLst/>
                        </a:rPr>
                        <a:t>0009</a:t>
                      </a:r>
                    </a:p>
                  </a:txBody>
                  <a:tcPr anchor="ctr"/>
                </a:tc>
                <a:tc>
                  <a:txBody>
                    <a:bodyPr/>
                    <a:lstStyle/>
                    <a:p>
                      <a:pPr>
                        <a:buNone/>
                      </a:pPr>
                      <a:r>
                        <a:rPr lang="en-US" sz="1100"/>
                        <a:t>Sir</a:t>
                      </a:r>
                    </a:p>
                  </a:txBody>
                  <a:tcPr anchor="ctr"/>
                </a:tc>
                <a:extLst>
                  <a:ext uri="{0D108BD9-81ED-4DB2-BD59-A6C34878D82A}">
                    <a16:rowId xmlns:a16="http://schemas.microsoft.com/office/drawing/2014/main" val="2932724433"/>
                  </a:ext>
                </a:extLst>
              </a:tr>
              <a:tr h="255895">
                <a:tc>
                  <a:txBody>
                    <a:bodyPr/>
                    <a:lstStyle/>
                    <a:p>
                      <a:pPr>
                        <a:buNone/>
                      </a:pPr>
                      <a:r>
                        <a:rPr lang="en-US" sz="1100">
                          <a:effectLst/>
                        </a:rPr>
                        <a:t>0010</a:t>
                      </a:r>
                    </a:p>
                  </a:txBody>
                  <a:tcPr anchor="ctr"/>
                </a:tc>
                <a:tc>
                  <a:txBody>
                    <a:bodyPr/>
                    <a:lstStyle/>
                    <a:p>
                      <a:pPr>
                        <a:buNone/>
                      </a:pPr>
                      <a:r>
                        <a:rPr lang="en-US" sz="1100"/>
                        <a:t>Maj.</a:t>
                      </a:r>
                    </a:p>
                  </a:txBody>
                  <a:tcPr anchor="ctr"/>
                </a:tc>
                <a:extLst>
                  <a:ext uri="{0D108BD9-81ED-4DB2-BD59-A6C34878D82A}">
                    <a16:rowId xmlns:a16="http://schemas.microsoft.com/office/drawing/2014/main" val="1847117496"/>
                  </a:ext>
                </a:extLst>
              </a:tr>
              <a:tr h="165965">
                <a:tc>
                  <a:txBody>
                    <a:bodyPr/>
                    <a:lstStyle/>
                    <a:p>
                      <a:pPr>
                        <a:buNone/>
                      </a:pPr>
                      <a:r>
                        <a:rPr lang="en-US" sz="1100">
                          <a:effectLst/>
                        </a:rPr>
                        <a:t>0011</a:t>
                      </a:r>
                    </a:p>
                  </a:txBody>
                  <a:tcPr anchor="ctr"/>
                </a:tc>
                <a:tc>
                  <a:txBody>
                    <a:bodyPr/>
                    <a:lstStyle/>
                    <a:p>
                      <a:pPr>
                        <a:buNone/>
                      </a:pPr>
                      <a:r>
                        <a:rPr lang="en-US" sz="1100"/>
                        <a:t>Lt.</a:t>
                      </a:r>
                    </a:p>
                  </a:txBody>
                  <a:tcPr anchor="ctr"/>
                </a:tc>
                <a:extLst>
                  <a:ext uri="{0D108BD9-81ED-4DB2-BD59-A6C34878D82A}">
                    <a16:rowId xmlns:a16="http://schemas.microsoft.com/office/drawing/2014/main" val="3203548463"/>
                  </a:ext>
                </a:extLst>
              </a:tr>
              <a:tr h="165965">
                <a:tc>
                  <a:txBody>
                    <a:bodyPr/>
                    <a:lstStyle/>
                    <a:p>
                      <a:pPr>
                        <a:buNone/>
                      </a:pPr>
                      <a:r>
                        <a:rPr lang="en-US" sz="1100">
                          <a:effectLst/>
                        </a:rPr>
                        <a:t>0012</a:t>
                      </a:r>
                    </a:p>
                  </a:txBody>
                  <a:tcPr anchor="ctr"/>
                </a:tc>
                <a:tc>
                  <a:txBody>
                    <a:bodyPr/>
                    <a:lstStyle/>
                    <a:p>
                      <a:pPr>
                        <a:buNone/>
                      </a:pPr>
                      <a:r>
                        <a:rPr lang="en-US" sz="1100"/>
                        <a:t>Capt.</a:t>
                      </a:r>
                    </a:p>
                  </a:txBody>
                  <a:tcPr anchor="ctr"/>
                </a:tc>
                <a:extLst>
                  <a:ext uri="{0D108BD9-81ED-4DB2-BD59-A6C34878D82A}">
                    <a16:rowId xmlns:a16="http://schemas.microsoft.com/office/drawing/2014/main" val="2490388920"/>
                  </a:ext>
                </a:extLst>
              </a:tr>
              <a:tr h="165965">
                <a:tc>
                  <a:txBody>
                    <a:bodyPr/>
                    <a:lstStyle/>
                    <a:p>
                      <a:pPr>
                        <a:buNone/>
                      </a:pPr>
                      <a:r>
                        <a:rPr lang="en-US" sz="1100">
                          <a:effectLst/>
                        </a:rPr>
                        <a:t>0013</a:t>
                      </a:r>
                    </a:p>
                  </a:txBody>
                  <a:tcPr anchor="ctr"/>
                </a:tc>
                <a:tc>
                  <a:txBody>
                    <a:bodyPr/>
                    <a:lstStyle/>
                    <a:p>
                      <a:pPr>
                        <a:buNone/>
                      </a:pPr>
                      <a:r>
                        <a:rPr lang="en-US" sz="1100"/>
                        <a:t>MD.</a:t>
                      </a:r>
                    </a:p>
                  </a:txBody>
                  <a:tcPr anchor="ctr"/>
                </a:tc>
                <a:extLst>
                  <a:ext uri="{0D108BD9-81ED-4DB2-BD59-A6C34878D82A}">
                    <a16:rowId xmlns:a16="http://schemas.microsoft.com/office/drawing/2014/main" val="299016283"/>
                  </a:ext>
                </a:extLst>
              </a:tr>
              <a:tr h="165965">
                <a:tc>
                  <a:txBody>
                    <a:bodyPr/>
                    <a:lstStyle/>
                    <a:p>
                      <a:pPr>
                        <a:buNone/>
                      </a:pPr>
                      <a:r>
                        <a:rPr lang="en-US" sz="1100">
                          <a:effectLst/>
                        </a:rPr>
                        <a:t>0014</a:t>
                      </a:r>
                    </a:p>
                  </a:txBody>
                  <a:tcPr anchor="ctr"/>
                </a:tc>
                <a:tc>
                  <a:txBody>
                    <a:bodyPr/>
                    <a:lstStyle/>
                    <a:p>
                      <a:pPr>
                        <a:buNone/>
                      </a:pPr>
                      <a:r>
                        <a:rPr lang="en-US" sz="1100"/>
                        <a:t>Sen.</a:t>
                      </a:r>
                    </a:p>
                  </a:txBody>
                  <a:tcPr anchor="ctr"/>
                </a:tc>
                <a:extLst>
                  <a:ext uri="{0D108BD9-81ED-4DB2-BD59-A6C34878D82A}">
                    <a16:rowId xmlns:a16="http://schemas.microsoft.com/office/drawing/2014/main" val="3951219538"/>
                  </a:ext>
                </a:extLst>
              </a:tr>
              <a:tr h="165965">
                <a:tc>
                  <a:txBody>
                    <a:bodyPr/>
                    <a:lstStyle/>
                    <a:p>
                      <a:pPr>
                        <a:buNone/>
                      </a:pPr>
                      <a:r>
                        <a:rPr lang="en-US" sz="1100">
                          <a:effectLst/>
                        </a:rPr>
                        <a:t>0015</a:t>
                      </a:r>
                    </a:p>
                  </a:txBody>
                  <a:tcPr anchor="ctr"/>
                </a:tc>
                <a:tc>
                  <a:txBody>
                    <a:bodyPr/>
                    <a:lstStyle/>
                    <a:p>
                      <a:pPr>
                        <a:buNone/>
                      </a:pPr>
                      <a:r>
                        <a:rPr lang="en-US" sz="1100"/>
                        <a:t>Cpl.</a:t>
                      </a:r>
                    </a:p>
                  </a:txBody>
                  <a:tcPr anchor="ctr"/>
                </a:tc>
                <a:extLst>
                  <a:ext uri="{0D108BD9-81ED-4DB2-BD59-A6C34878D82A}">
                    <a16:rowId xmlns:a16="http://schemas.microsoft.com/office/drawing/2014/main" val="3200218826"/>
                  </a:ext>
                </a:extLst>
              </a:tr>
              <a:tr h="165965">
                <a:tc>
                  <a:txBody>
                    <a:bodyPr/>
                    <a:lstStyle/>
                    <a:p>
                      <a:pPr>
                        <a:buNone/>
                      </a:pPr>
                      <a:r>
                        <a:rPr lang="en-US" sz="1100">
                          <a:effectLst/>
                        </a:rPr>
                        <a:t>0016</a:t>
                      </a:r>
                    </a:p>
                  </a:txBody>
                  <a:tcPr anchor="ctr"/>
                </a:tc>
                <a:tc>
                  <a:txBody>
                    <a:bodyPr/>
                    <a:lstStyle/>
                    <a:p>
                      <a:pPr>
                        <a:buNone/>
                      </a:pPr>
                      <a:r>
                        <a:rPr lang="en-US" sz="1100"/>
                        <a:t>Col.</a:t>
                      </a:r>
                    </a:p>
                  </a:txBody>
                  <a:tcPr anchor="ctr"/>
                </a:tc>
                <a:extLst>
                  <a:ext uri="{0D108BD9-81ED-4DB2-BD59-A6C34878D82A}">
                    <a16:rowId xmlns:a16="http://schemas.microsoft.com/office/drawing/2014/main" val="2193047446"/>
                  </a:ext>
                </a:extLst>
              </a:tr>
              <a:tr h="165965">
                <a:tc>
                  <a:txBody>
                    <a:bodyPr/>
                    <a:lstStyle/>
                    <a:p>
                      <a:pPr>
                        <a:buNone/>
                      </a:pPr>
                      <a:r>
                        <a:rPr lang="en-US" sz="1100">
                          <a:effectLst/>
                        </a:rPr>
                        <a:t>0017</a:t>
                      </a:r>
                    </a:p>
                  </a:txBody>
                  <a:tcPr anchor="ctr"/>
                </a:tc>
                <a:tc>
                  <a:txBody>
                    <a:bodyPr/>
                    <a:lstStyle/>
                    <a:p>
                      <a:pPr>
                        <a:buNone/>
                      </a:pPr>
                      <a:r>
                        <a:rPr lang="en-US" sz="1100"/>
                        <a:t>Sgt.</a:t>
                      </a:r>
                    </a:p>
                  </a:txBody>
                  <a:tcPr anchor="ctr"/>
                </a:tc>
                <a:extLst>
                  <a:ext uri="{0D108BD9-81ED-4DB2-BD59-A6C34878D82A}">
                    <a16:rowId xmlns:a16="http://schemas.microsoft.com/office/drawing/2014/main" val="3692065177"/>
                  </a:ext>
                </a:extLst>
              </a:tr>
            </a:tbl>
          </a:graphicData>
        </a:graphic>
      </p:graphicFrame>
      <p:sp>
        <p:nvSpPr>
          <p:cNvPr id="8" name="Title 1">
            <a:extLst>
              <a:ext uri="{FF2B5EF4-FFF2-40B4-BE49-F238E27FC236}">
                <a16:creationId xmlns:a16="http://schemas.microsoft.com/office/drawing/2014/main" id="{AF999A32-5BC7-EDCC-6DEA-9EABC3497715}"/>
              </a:ext>
            </a:extLst>
          </p:cNvPr>
          <p:cNvSpPr txBox="1">
            <a:spLocks/>
          </p:cNvSpPr>
          <p:nvPr/>
        </p:nvSpPr>
        <p:spPr>
          <a:xfrm>
            <a:off x="4276828" y="462106"/>
            <a:ext cx="1627182" cy="627151"/>
          </a:xfrm>
          <a:prstGeom prst="rect">
            <a:avLst/>
          </a:prstGeom>
        </p:spPr>
        <p:txBody>
          <a:bodyPr vert="horz" lIns="0" tIns="45720" rIns="91440" bIns="0" rtlCol="0" anchor="t">
            <a:normAutofit/>
          </a:bodyPr>
          <a:lstStyle>
            <a:lvl1pPr algn="l" defTabSz="609585" rtl="0" eaLnBrk="1" latinLnBrk="0" hangingPunct="1">
              <a:lnSpc>
                <a:spcPct val="90000"/>
              </a:lnSpc>
              <a:spcBef>
                <a:spcPct val="0"/>
              </a:spcBef>
              <a:buNone/>
              <a:defRPr sz="3200" b="0" i="0" kern="1200" baseline="0">
                <a:solidFill>
                  <a:srgbClr val="1866AE"/>
                </a:solidFill>
                <a:latin typeface="Montserrat" pitchFamily="2" charset="77"/>
                <a:ea typeface="+mj-ea"/>
                <a:cs typeface="+mj-cs"/>
              </a:defRPr>
            </a:lvl1pPr>
          </a:lstStyle>
          <a:p>
            <a:r>
              <a:rPr lang="en-US">
                <a:latin typeface="Montserrat"/>
              </a:rPr>
              <a:t>Prefix</a:t>
            </a:r>
          </a:p>
        </p:txBody>
      </p:sp>
      <p:graphicFrame>
        <p:nvGraphicFramePr>
          <p:cNvPr id="10" name="Table 9">
            <a:extLst>
              <a:ext uri="{FF2B5EF4-FFF2-40B4-BE49-F238E27FC236}">
                <a16:creationId xmlns:a16="http://schemas.microsoft.com/office/drawing/2014/main" id="{643E9F4C-7F27-B1C3-A4D6-994878956A93}"/>
              </a:ext>
            </a:extLst>
          </p:cNvPr>
          <p:cNvGraphicFramePr>
            <a:graphicFrameLocks noGrp="1"/>
          </p:cNvGraphicFramePr>
          <p:nvPr>
            <p:extLst>
              <p:ext uri="{D42A27DB-BD31-4B8C-83A1-F6EECF244321}">
                <p14:modId xmlns:p14="http://schemas.microsoft.com/office/powerpoint/2010/main" val="2630645831"/>
              </p:ext>
            </p:extLst>
          </p:nvPr>
        </p:nvGraphicFramePr>
        <p:xfrm>
          <a:off x="4002705" y="2016918"/>
          <a:ext cx="2183874" cy="2824300"/>
        </p:xfrm>
        <a:graphic>
          <a:graphicData uri="http://schemas.openxmlformats.org/drawingml/2006/table">
            <a:tbl>
              <a:tblPr firstRow="1" bandRow="1">
                <a:tableStyleId>{6E25E649-3F16-4E02-A733-19D2CDBF48F0}</a:tableStyleId>
              </a:tblPr>
              <a:tblGrid>
                <a:gridCol w="848497">
                  <a:extLst>
                    <a:ext uri="{9D8B030D-6E8A-4147-A177-3AD203B41FA5}">
                      <a16:colId xmlns:a16="http://schemas.microsoft.com/office/drawing/2014/main" val="1071993016"/>
                    </a:ext>
                  </a:extLst>
                </a:gridCol>
                <a:gridCol w="1335377">
                  <a:extLst>
                    <a:ext uri="{9D8B030D-6E8A-4147-A177-3AD203B41FA5}">
                      <a16:colId xmlns:a16="http://schemas.microsoft.com/office/drawing/2014/main" val="3174711847"/>
                    </a:ext>
                  </a:extLst>
                </a:gridCol>
              </a:tblGrid>
              <a:tr h="278317">
                <a:tc>
                  <a:txBody>
                    <a:bodyPr/>
                    <a:lstStyle/>
                    <a:p>
                      <a:pPr>
                        <a:buNone/>
                      </a:pPr>
                      <a:r>
                        <a:rPr lang="en-US" sz="1400" b="1">
                          <a:effectLst/>
                        </a:rPr>
                        <a:t>Prefix</a:t>
                      </a:r>
                    </a:p>
                  </a:txBody>
                  <a:tcPr anchor="ctr"/>
                </a:tc>
                <a:tc>
                  <a:txBody>
                    <a:bodyPr/>
                    <a:lstStyle/>
                    <a:p>
                      <a:pPr>
                        <a:buNone/>
                      </a:pPr>
                      <a:r>
                        <a:rPr lang="en-US" sz="1400" b="1">
                          <a:effectLst/>
                        </a:rPr>
                        <a:t>Key</a:t>
                      </a:r>
                    </a:p>
                  </a:txBody>
                  <a:tcPr anchor="ctr"/>
                </a:tc>
                <a:extLst>
                  <a:ext uri="{0D108BD9-81ED-4DB2-BD59-A6C34878D82A}">
                    <a16:rowId xmlns:a16="http://schemas.microsoft.com/office/drawing/2014/main" val="2312966192"/>
                  </a:ext>
                </a:extLst>
              </a:tr>
              <a:tr h="278317">
                <a:tc>
                  <a:txBody>
                    <a:bodyPr/>
                    <a:lstStyle/>
                    <a:p>
                      <a:pPr marL="0" marR="0" lvl="0" indent="0" algn="l">
                        <a:lnSpc>
                          <a:spcPct val="100000"/>
                        </a:lnSpc>
                        <a:spcBef>
                          <a:spcPts val="0"/>
                        </a:spcBef>
                        <a:spcAft>
                          <a:spcPts val="0"/>
                        </a:spcAft>
                        <a:buNone/>
                      </a:pPr>
                      <a:r>
                        <a:rPr lang="en-US" sz="1100" kern="1200" noProof="0">
                          <a:solidFill>
                            <a:schemeClr val="dk1"/>
                          </a:solidFill>
                          <a:latin typeface="+mn-lt"/>
                          <a:ea typeface="+mn-ea"/>
                          <a:cs typeface="+mn-cs"/>
                        </a:rPr>
                        <a:t>Jr.       </a:t>
                      </a:r>
                    </a:p>
                  </a:txBody>
                  <a:tcPr anchor="ctr"/>
                </a:tc>
                <a:tc>
                  <a:txBody>
                    <a:bodyPr/>
                    <a:lstStyle/>
                    <a:p>
                      <a:pPr lvl="0">
                        <a:buNone/>
                      </a:pPr>
                      <a:r>
                        <a:rPr lang="en-US" sz="1100" kern="1200" noProof="0">
                          <a:solidFill>
                            <a:schemeClr val="dk1"/>
                          </a:solidFill>
                          <a:latin typeface="+mn-lt"/>
                          <a:ea typeface="+mn-ea"/>
                          <a:cs typeface="+mn-cs"/>
                        </a:rPr>
                        <a:t>0001</a:t>
                      </a:r>
                      <a:endParaRPr lang="en-US" sz="1100" kern="1200">
                        <a:solidFill>
                          <a:schemeClr val="dk1"/>
                        </a:solidFill>
                        <a:latin typeface="+mn-lt"/>
                        <a:ea typeface="+mn-ea"/>
                        <a:cs typeface="+mn-cs"/>
                      </a:endParaRPr>
                    </a:p>
                  </a:txBody>
                  <a:tcPr anchor="ctr"/>
                </a:tc>
                <a:extLst>
                  <a:ext uri="{0D108BD9-81ED-4DB2-BD59-A6C34878D82A}">
                    <a16:rowId xmlns:a16="http://schemas.microsoft.com/office/drawing/2014/main" val="3475115320"/>
                  </a:ext>
                </a:extLst>
              </a:tr>
              <a:tr h="278317">
                <a:tc>
                  <a:txBody>
                    <a:bodyPr/>
                    <a:lstStyle/>
                    <a:p>
                      <a:pPr lvl="0">
                        <a:buNone/>
                      </a:pPr>
                      <a:r>
                        <a:rPr lang="en-US" sz="1100">
                          <a:effectLst/>
                        </a:rPr>
                        <a:t>Sr.</a:t>
                      </a:r>
                    </a:p>
                  </a:txBody>
                  <a:tcPr anchor="ctr"/>
                </a:tc>
                <a:tc>
                  <a:txBody>
                    <a:bodyPr/>
                    <a:lstStyle/>
                    <a:p>
                      <a:pPr lvl="0">
                        <a:buNone/>
                      </a:pPr>
                      <a:r>
                        <a:rPr lang="en-US" sz="1100"/>
                        <a:t>0002</a:t>
                      </a:r>
                    </a:p>
                  </a:txBody>
                  <a:tcPr anchor="ctr"/>
                </a:tc>
                <a:extLst>
                  <a:ext uri="{0D108BD9-81ED-4DB2-BD59-A6C34878D82A}">
                    <a16:rowId xmlns:a16="http://schemas.microsoft.com/office/drawing/2014/main" val="4106532621"/>
                  </a:ext>
                </a:extLst>
              </a:tr>
              <a:tr h="292964">
                <a:tc>
                  <a:txBody>
                    <a:bodyPr/>
                    <a:lstStyle/>
                    <a:p>
                      <a:pPr lvl="0">
                        <a:buNone/>
                      </a:pPr>
                      <a:r>
                        <a:rPr lang="en-US" sz="1100">
                          <a:effectLst/>
                        </a:rPr>
                        <a:t>I</a:t>
                      </a:r>
                    </a:p>
                  </a:txBody>
                  <a:tcPr anchor="ctr"/>
                </a:tc>
                <a:tc>
                  <a:txBody>
                    <a:bodyPr/>
                    <a:lstStyle/>
                    <a:p>
                      <a:pPr lvl="0">
                        <a:buNone/>
                      </a:pPr>
                      <a:r>
                        <a:rPr lang="en-US" sz="1100"/>
                        <a:t>0003</a:t>
                      </a:r>
                    </a:p>
                  </a:txBody>
                  <a:tcPr anchor="ctr"/>
                </a:tc>
                <a:extLst>
                  <a:ext uri="{0D108BD9-81ED-4DB2-BD59-A6C34878D82A}">
                    <a16:rowId xmlns:a16="http://schemas.microsoft.com/office/drawing/2014/main" val="1299358257"/>
                  </a:ext>
                </a:extLst>
              </a:tr>
              <a:tr h="278317">
                <a:tc>
                  <a:txBody>
                    <a:bodyPr/>
                    <a:lstStyle/>
                    <a:p>
                      <a:pPr lvl="0">
                        <a:buNone/>
                      </a:pPr>
                      <a:r>
                        <a:rPr lang="en-US" sz="1100">
                          <a:effectLst/>
                        </a:rPr>
                        <a:t>II</a:t>
                      </a:r>
                    </a:p>
                  </a:txBody>
                  <a:tcPr anchor="ctr"/>
                </a:tc>
                <a:tc>
                  <a:txBody>
                    <a:bodyPr/>
                    <a:lstStyle/>
                    <a:p>
                      <a:pPr lvl="0">
                        <a:buNone/>
                      </a:pPr>
                      <a:r>
                        <a:rPr lang="en-US" sz="1100"/>
                        <a:t>0004</a:t>
                      </a:r>
                    </a:p>
                  </a:txBody>
                  <a:tcPr anchor="ctr"/>
                </a:tc>
                <a:extLst>
                  <a:ext uri="{0D108BD9-81ED-4DB2-BD59-A6C34878D82A}">
                    <a16:rowId xmlns:a16="http://schemas.microsoft.com/office/drawing/2014/main" val="2613232226"/>
                  </a:ext>
                </a:extLst>
              </a:tr>
              <a:tr h="278317">
                <a:tc>
                  <a:txBody>
                    <a:bodyPr/>
                    <a:lstStyle/>
                    <a:p>
                      <a:pPr lvl="0">
                        <a:buNone/>
                      </a:pPr>
                      <a:r>
                        <a:rPr lang="en-US" sz="1100">
                          <a:effectLst/>
                        </a:rPr>
                        <a:t>III</a:t>
                      </a:r>
                    </a:p>
                  </a:txBody>
                  <a:tcPr anchor="ctr"/>
                </a:tc>
                <a:tc>
                  <a:txBody>
                    <a:bodyPr/>
                    <a:lstStyle/>
                    <a:p>
                      <a:pPr lvl="0">
                        <a:buNone/>
                      </a:pPr>
                      <a:r>
                        <a:rPr lang="en-US" sz="1100"/>
                        <a:t>0005</a:t>
                      </a:r>
                    </a:p>
                  </a:txBody>
                  <a:tcPr anchor="ctr"/>
                </a:tc>
                <a:extLst>
                  <a:ext uri="{0D108BD9-81ED-4DB2-BD59-A6C34878D82A}">
                    <a16:rowId xmlns:a16="http://schemas.microsoft.com/office/drawing/2014/main" val="2976975717"/>
                  </a:ext>
                </a:extLst>
              </a:tr>
              <a:tr h="278317">
                <a:tc>
                  <a:txBody>
                    <a:bodyPr/>
                    <a:lstStyle/>
                    <a:p>
                      <a:pPr lvl="0">
                        <a:buNone/>
                      </a:pPr>
                      <a:r>
                        <a:rPr lang="en-US" sz="1100">
                          <a:effectLst/>
                        </a:rPr>
                        <a:t>IV</a:t>
                      </a:r>
                    </a:p>
                  </a:txBody>
                  <a:tcPr anchor="ctr"/>
                </a:tc>
                <a:tc>
                  <a:txBody>
                    <a:bodyPr/>
                    <a:lstStyle/>
                    <a:p>
                      <a:pPr lvl="0">
                        <a:buNone/>
                      </a:pPr>
                      <a:r>
                        <a:rPr lang="en-US" sz="1100"/>
                        <a:t>0006</a:t>
                      </a:r>
                    </a:p>
                  </a:txBody>
                  <a:tcPr anchor="ctr"/>
                </a:tc>
                <a:extLst>
                  <a:ext uri="{0D108BD9-81ED-4DB2-BD59-A6C34878D82A}">
                    <a16:rowId xmlns:a16="http://schemas.microsoft.com/office/drawing/2014/main" val="3247081013"/>
                  </a:ext>
                </a:extLst>
              </a:tr>
              <a:tr h="278317">
                <a:tc>
                  <a:txBody>
                    <a:bodyPr/>
                    <a:lstStyle/>
                    <a:p>
                      <a:pPr lvl="0">
                        <a:buNone/>
                      </a:pPr>
                      <a:r>
                        <a:rPr lang="en-US" sz="1100">
                          <a:effectLst/>
                        </a:rPr>
                        <a:t>DDS.</a:t>
                      </a:r>
                    </a:p>
                  </a:txBody>
                  <a:tcPr anchor="ctr"/>
                </a:tc>
                <a:tc>
                  <a:txBody>
                    <a:bodyPr/>
                    <a:lstStyle/>
                    <a:p>
                      <a:pPr lvl="0">
                        <a:buNone/>
                      </a:pPr>
                      <a:r>
                        <a:rPr lang="en-US" sz="1100"/>
                        <a:t>0007</a:t>
                      </a:r>
                    </a:p>
                  </a:txBody>
                  <a:tcPr anchor="ctr"/>
                </a:tc>
                <a:extLst>
                  <a:ext uri="{0D108BD9-81ED-4DB2-BD59-A6C34878D82A}">
                    <a16:rowId xmlns:a16="http://schemas.microsoft.com/office/drawing/2014/main" val="1145031596"/>
                  </a:ext>
                </a:extLst>
              </a:tr>
              <a:tr h="278317">
                <a:tc>
                  <a:txBody>
                    <a:bodyPr/>
                    <a:lstStyle/>
                    <a:p>
                      <a:pPr lvl="0">
                        <a:buNone/>
                      </a:pPr>
                      <a:r>
                        <a:rPr lang="en-US" sz="1100">
                          <a:effectLst/>
                        </a:rPr>
                        <a:t>PC</a:t>
                      </a:r>
                    </a:p>
                  </a:txBody>
                  <a:tcPr anchor="ctr"/>
                </a:tc>
                <a:tc>
                  <a:txBody>
                    <a:bodyPr/>
                    <a:lstStyle/>
                    <a:p>
                      <a:pPr lvl="0">
                        <a:buNone/>
                      </a:pPr>
                      <a:r>
                        <a:rPr lang="en-US" sz="1100"/>
                        <a:t>0008</a:t>
                      </a:r>
                    </a:p>
                  </a:txBody>
                  <a:tcPr anchor="ctr"/>
                </a:tc>
                <a:extLst>
                  <a:ext uri="{0D108BD9-81ED-4DB2-BD59-A6C34878D82A}">
                    <a16:rowId xmlns:a16="http://schemas.microsoft.com/office/drawing/2014/main" val="818085399"/>
                  </a:ext>
                </a:extLst>
              </a:tr>
              <a:tr h="278317">
                <a:tc>
                  <a:txBody>
                    <a:bodyPr/>
                    <a:lstStyle/>
                    <a:p>
                      <a:pPr lvl="0">
                        <a:buNone/>
                      </a:pPr>
                      <a:r>
                        <a:rPr lang="en-US" sz="1100">
                          <a:effectLst/>
                        </a:rPr>
                        <a:t>V</a:t>
                      </a:r>
                    </a:p>
                  </a:txBody>
                  <a:tcPr anchor="ctr"/>
                </a:tc>
                <a:tc>
                  <a:txBody>
                    <a:bodyPr/>
                    <a:lstStyle/>
                    <a:p>
                      <a:pPr lvl="0">
                        <a:buNone/>
                      </a:pPr>
                      <a:r>
                        <a:rPr lang="en-US" sz="1100"/>
                        <a:t>0009</a:t>
                      </a:r>
                    </a:p>
                  </a:txBody>
                  <a:tcPr anchor="ctr"/>
                </a:tc>
                <a:extLst>
                  <a:ext uri="{0D108BD9-81ED-4DB2-BD59-A6C34878D82A}">
                    <a16:rowId xmlns:a16="http://schemas.microsoft.com/office/drawing/2014/main" val="2932724433"/>
                  </a:ext>
                </a:extLst>
              </a:tr>
            </a:tbl>
          </a:graphicData>
        </a:graphic>
      </p:graphicFrame>
      <p:sp>
        <p:nvSpPr>
          <p:cNvPr id="3" name="TextBox 2">
            <a:extLst>
              <a:ext uri="{FF2B5EF4-FFF2-40B4-BE49-F238E27FC236}">
                <a16:creationId xmlns:a16="http://schemas.microsoft.com/office/drawing/2014/main" id="{67C34AC8-BB03-3F81-FDFE-65EE1C4F0AE1}"/>
              </a:ext>
            </a:extLst>
          </p:cNvPr>
          <p:cNvSpPr txBox="1"/>
          <p:nvPr/>
        </p:nvSpPr>
        <p:spPr>
          <a:xfrm>
            <a:off x="-4340" y="1070573"/>
            <a:ext cx="3243261" cy="64633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latin typeface="Montserrat"/>
              </a:rPr>
              <a:t>The following S4HANA Titles will be maintained  in Service Cloud v2 for persons.</a:t>
            </a:r>
          </a:p>
        </p:txBody>
      </p:sp>
      <p:sp>
        <p:nvSpPr>
          <p:cNvPr id="4" name="TextBox 3">
            <a:extLst>
              <a:ext uri="{FF2B5EF4-FFF2-40B4-BE49-F238E27FC236}">
                <a16:creationId xmlns:a16="http://schemas.microsoft.com/office/drawing/2014/main" id="{BBF1A813-5D3A-127F-2285-1651F5E8174E}"/>
              </a:ext>
            </a:extLst>
          </p:cNvPr>
          <p:cNvSpPr txBox="1"/>
          <p:nvPr/>
        </p:nvSpPr>
        <p:spPr>
          <a:xfrm>
            <a:off x="3710411" y="1082478"/>
            <a:ext cx="3088480" cy="64633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latin typeface="Montserrat"/>
              </a:rPr>
              <a:t>The following S4HANA Prefixes will be maintained  in Service Cloud v2 for persons.</a:t>
            </a:r>
          </a:p>
        </p:txBody>
      </p:sp>
      <p:graphicFrame>
        <p:nvGraphicFramePr>
          <p:cNvPr id="9" name="Table 8">
            <a:extLst>
              <a:ext uri="{FF2B5EF4-FFF2-40B4-BE49-F238E27FC236}">
                <a16:creationId xmlns:a16="http://schemas.microsoft.com/office/drawing/2014/main" id="{4D98C5DE-8CBB-E441-2356-6052B17E4714}"/>
              </a:ext>
            </a:extLst>
          </p:cNvPr>
          <p:cNvGraphicFramePr>
            <a:graphicFrameLocks noGrp="1"/>
          </p:cNvGraphicFramePr>
          <p:nvPr>
            <p:extLst>
              <p:ext uri="{D42A27DB-BD31-4B8C-83A1-F6EECF244321}">
                <p14:modId xmlns:p14="http://schemas.microsoft.com/office/powerpoint/2010/main" val="3828310893"/>
              </p:ext>
            </p:extLst>
          </p:nvPr>
        </p:nvGraphicFramePr>
        <p:xfrm>
          <a:off x="7596187" y="2012155"/>
          <a:ext cx="3753655" cy="2397834"/>
        </p:xfrm>
        <a:graphic>
          <a:graphicData uri="http://schemas.openxmlformats.org/drawingml/2006/table">
            <a:tbl>
              <a:tblPr firstRow="1" bandRow="1">
                <a:tableStyleId>{6E25E649-3F16-4E02-A733-19D2CDBF48F0}</a:tableStyleId>
              </a:tblPr>
              <a:tblGrid>
                <a:gridCol w="1023582">
                  <a:extLst>
                    <a:ext uri="{9D8B030D-6E8A-4147-A177-3AD203B41FA5}">
                      <a16:colId xmlns:a16="http://schemas.microsoft.com/office/drawing/2014/main" val="1071993016"/>
                    </a:ext>
                  </a:extLst>
                </a:gridCol>
                <a:gridCol w="2730073">
                  <a:extLst>
                    <a:ext uri="{9D8B030D-6E8A-4147-A177-3AD203B41FA5}">
                      <a16:colId xmlns:a16="http://schemas.microsoft.com/office/drawing/2014/main" val="3174711847"/>
                    </a:ext>
                  </a:extLst>
                </a:gridCol>
              </a:tblGrid>
              <a:tr h="298563">
                <a:tc>
                  <a:txBody>
                    <a:bodyPr/>
                    <a:lstStyle/>
                    <a:p>
                      <a:pPr>
                        <a:buNone/>
                      </a:pPr>
                      <a:r>
                        <a:rPr lang="en-US" sz="1200" b="1">
                          <a:effectLst/>
                        </a:rPr>
                        <a:t>Key</a:t>
                      </a:r>
                    </a:p>
                  </a:txBody>
                  <a:tcPr anchor="ctr"/>
                </a:tc>
                <a:tc>
                  <a:txBody>
                    <a:bodyPr/>
                    <a:lstStyle/>
                    <a:p>
                      <a:pPr>
                        <a:buNone/>
                      </a:pPr>
                      <a:r>
                        <a:rPr lang="en-US" sz="1200" b="1">
                          <a:effectLst/>
                        </a:rPr>
                        <a:t>Title</a:t>
                      </a:r>
                    </a:p>
                  </a:txBody>
                  <a:tcPr anchor="ctr"/>
                </a:tc>
                <a:extLst>
                  <a:ext uri="{0D108BD9-81ED-4DB2-BD59-A6C34878D82A}">
                    <a16:rowId xmlns:a16="http://schemas.microsoft.com/office/drawing/2014/main" val="2312966192"/>
                  </a:ext>
                </a:extLst>
              </a:tr>
              <a:tr h="298563">
                <a:tc>
                  <a:txBody>
                    <a:bodyPr/>
                    <a:lstStyle/>
                    <a:p>
                      <a:pPr>
                        <a:buNone/>
                      </a:pPr>
                      <a:r>
                        <a:rPr lang="en-US" sz="1100">
                          <a:effectLst/>
                        </a:rPr>
                        <a:t>01</a:t>
                      </a:r>
                    </a:p>
                  </a:txBody>
                  <a:tcPr anchor="ctr"/>
                </a:tc>
                <a:tc>
                  <a:txBody>
                    <a:bodyPr/>
                    <a:lstStyle/>
                    <a:p>
                      <a:pPr lvl="0">
                        <a:buNone/>
                      </a:pPr>
                      <a:r>
                        <a:rPr lang="en-US" sz="1100" b="0" i="0" u="none" strike="noStrike" noProof="0">
                          <a:latin typeface="Montserrat"/>
                        </a:rPr>
                        <a:t>Joint-Stock Company</a:t>
                      </a:r>
                      <a:endParaRPr lang="en-US"/>
                    </a:p>
                  </a:txBody>
                  <a:tcPr anchor="ctr"/>
                </a:tc>
                <a:extLst>
                  <a:ext uri="{0D108BD9-81ED-4DB2-BD59-A6C34878D82A}">
                    <a16:rowId xmlns:a16="http://schemas.microsoft.com/office/drawing/2014/main" val="3475115320"/>
                  </a:ext>
                </a:extLst>
              </a:tr>
              <a:tr h="298563">
                <a:tc>
                  <a:txBody>
                    <a:bodyPr/>
                    <a:lstStyle/>
                    <a:p>
                      <a:pPr>
                        <a:buNone/>
                      </a:pPr>
                      <a:r>
                        <a:rPr lang="en-US" sz="1100">
                          <a:effectLst/>
                        </a:rPr>
                        <a:t>02</a:t>
                      </a:r>
                    </a:p>
                  </a:txBody>
                  <a:tcPr anchor="ctr"/>
                </a:tc>
                <a:tc>
                  <a:txBody>
                    <a:bodyPr/>
                    <a:lstStyle/>
                    <a:p>
                      <a:pPr lvl="0">
                        <a:buNone/>
                      </a:pPr>
                      <a:r>
                        <a:rPr lang="en-US" sz="1100" b="0" i="0" u="none" strike="noStrike" noProof="0">
                          <a:latin typeface="Montserrat"/>
                        </a:rPr>
                        <a:t>Limited Liability Company</a:t>
                      </a:r>
                      <a:endParaRPr lang="en-US" sz="1100"/>
                    </a:p>
                  </a:txBody>
                  <a:tcPr anchor="ctr"/>
                </a:tc>
                <a:extLst>
                  <a:ext uri="{0D108BD9-81ED-4DB2-BD59-A6C34878D82A}">
                    <a16:rowId xmlns:a16="http://schemas.microsoft.com/office/drawing/2014/main" val="4106532621"/>
                  </a:ext>
                </a:extLst>
              </a:tr>
              <a:tr h="307893">
                <a:tc>
                  <a:txBody>
                    <a:bodyPr/>
                    <a:lstStyle/>
                    <a:p>
                      <a:pPr>
                        <a:buNone/>
                      </a:pPr>
                      <a:r>
                        <a:rPr lang="en-US" sz="1100">
                          <a:effectLst/>
                        </a:rPr>
                        <a:t>03</a:t>
                      </a:r>
                    </a:p>
                  </a:txBody>
                  <a:tcPr anchor="ctr"/>
                </a:tc>
                <a:tc>
                  <a:txBody>
                    <a:bodyPr/>
                    <a:lstStyle/>
                    <a:p>
                      <a:pPr lvl="0">
                        <a:buNone/>
                      </a:pPr>
                      <a:r>
                        <a:rPr lang="en-US" sz="1100" b="0" i="0" u="none" strike="noStrike" noProof="0">
                          <a:latin typeface="Montserrat"/>
                        </a:rPr>
                        <a:t>Partnership limited by shares</a:t>
                      </a:r>
                      <a:endParaRPr lang="en-US" sz="1100"/>
                    </a:p>
                  </a:txBody>
                  <a:tcPr anchor="ctr"/>
                </a:tc>
                <a:extLst>
                  <a:ext uri="{0D108BD9-81ED-4DB2-BD59-A6C34878D82A}">
                    <a16:rowId xmlns:a16="http://schemas.microsoft.com/office/drawing/2014/main" val="1299358257"/>
                  </a:ext>
                </a:extLst>
              </a:tr>
              <a:tr h="298563">
                <a:tc>
                  <a:txBody>
                    <a:bodyPr/>
                    <a:lstStyle/>
                    <a:p>
                      <a:pPr>
                        <a:buNone/>
                      </a:pPr>
                      <a:r>
                        <a:rPr lang="en-US" sz="1100">
                          <a:effectLst/>
                        </a:rPr>
                        <a:t>05</a:t>
                      </a:r>
                    </a:p>
                  </a:txBody>
                  <a:tcPr anchor="ctr"/>
                </a:tc>
                <a:tc>
                  <a:txBody>
                    <a:bodyPr/>
                    <a:lstStyle/>
                    <a:p>
                      <a:pPr lvl="0">
                        <a:buNone/>
                      </a:pPr>
                      <a:r>
                        <a:rPr lang="en-US" sz="1100" b="0" i="0" u="none" strike="noStrike" noProof="0">
                          <a:latin typeface="Montserrat"/>
                        </a:rPr>
                        <a:t>Limited Company by Shares</a:t>
                      </a:r>
                      <a:endParaRPr lang="en-US" sz="1100"/>
                    </a:p>
                  </a:txBody>
                  <a:tcPr anchor="ctr"/>
                </a:tc>
                <a:extLst>
                  <a:ext uri="{0D108BD9-81ED-4DB2-BD59-A6C34878D82A}">
                    <a16:rowId xmlns:a16="http://schemas.microsoft.com/office/drawing/2014/main" val="2976975717"/>
                  </a:ext>
                </a:extLst>
              </a:tr>
              <a:tr h="298563">
                <a:tc>
                  <a:txBody>
                    <a:bodyPr/>
                    <a:lstStyle/>
                    <a:p>
                      <a:pPr>
                        <a:buNone/>
                      </a:pPr>
                      <a:r>
                        <a:rPr lang="en-US" sz="1100">
                          <a:effectLst/>
                        </a:rPr>
                        <a:t>09</a:t>
                      </a:r>
                    </a:p>
                  </a:txBody>
                  <a:tcPr anchor="ctr"/>
                </a:tc>
                <a:tc>
                  <a:txBody>
                    <a:bodyPr/>
                    <a:lstStyle/>
                    <a:p>
                      <a:pPr lvl="0">
                        <a:buNone/>
                      </a:pPr>
                      <a:r>
                        <a:rPr lang="en-US" sz="1100" b="0" i="0" u="none" strike="noStrike" noProof="0">
                          <a:latin typeface="Montserrat"/>
                        </a:rPr>
                        <a:t>Corporation</a:t>
                      </a:r>
                      <a:endParaRPr lang="en-US"/>
                    </a:p>
                  </a:txBody>
                  <a:tcPr anchor="ctr"/>
                </a:tc>
                <a:extLst>
                  <a:ext uri="{0D108BD9-81ED-4DB2-BD59-A6C34878D82A}">
                    <a16:rowId xmlns:a16="http://schemas.microsoft.com/office/drawing/2014/main" val="2932724433"/>
                  </a:ext>
                </a:extLst>
              </a:tr>
              <a:tr h="298563">
                <a:tc>
                  <a:txBody>
                    <a:bodyPr/>
                    <a:lstStyle/>
                    <a:p>
                      <a:pPr>
                        <a:buNone/>
                      </a:pPr>
                      <a:r>
                        <a:rPr lang="en-US" sz="1100">
                          <a:effectLst/>
                        </a:rPr>
                        <a:t>10</a:t>
                      </a:r>
                    </a:p>
                  </a:txBody>
                  <a:tcPr anchor="ctr"/>
                </a:tc>
                <a:tc>
                  <a:txBody>
                    <a:bodyPr/>
                    <a:lstStyle/>
                    <a:p>
                      <a:pPr lvl="0">
                        <a:buNone/>
                      </a:pPr>
                      <a:r>
                        <a:rPr lang="en-US" sz="1100" b="0" i="0" u="none" strike="noStrike" noProof="0">
                          <a:latin typeface="Montserrat"/>
                        </a:rPr>
                        <a:t>Company</a:t>
                      </a:r>
                      <a:endParaRPr lang="en-US" sz="1100"/>
                    </a:p>
                  </a:txBody>
                  <a:tcPr anchor="ctr"/>
                </a:tc>
                <a:extLst>
                  <a:ext uri="{0D108BD9-81ED-4DB2-BD59-A6C34878D82A}">
                    <a16:rowId xmlns:a16="http://schemas.microsoft.com/office/drawing/2014/main" val="1847117496"/>
                  </a:ext>
                </a:extLst>
              </a:tr>
              <a:tr h="298563">
                <a:tc>
                  <a:txBody>
                    <a:bodyPr/>
                    <a:lstStyle/>
                    <a:p>
                      <a:pPr>
                        <a:buNone/>
                      </a:pPr>
                      <a:r>
                        <a:rPr lang="en-US" sz="1100">
                          <a:effectLst/>
                        </a:rPr>
                        <a:t>11</a:t>
                      </a:r>
                    </a:p>
                  </a:txBody>
                  <a:tcPr anchor="ctr"/>
                </a:tc>
                <a:tc>
                  <a:txBody>
                    <a:bodyPr/>
                    <a:lstStyle/>
                    <a:p>
                      <a:pPr lvl="0">
                        <a:buNone/>
                      </a:pPr>
                      <a:r>
                        <a:rPr lang="en-US" sz="1100" b="0" i="0" u="none" strike="noStrike" noProof="0">
                          <a:latin typeface="Montserrat"/>
                        </a:rPr>
                        <a:t>Proprietorship</a:t>
                      </a:r>
                      <a:endParaRPr lang="en-US" sz="1100"/>
                    </a:p>
                  </a:txBody>
                  <a:tcPr anchor="ctr"/>
                </a:tc>
                <a:extLst>
                  <a:ext uri="{0D108BD9-81ED-4DB2-BD59-A6C34878D82A}">
                    <a16:rowId xmlns:a16="http://schemas.microsoft.com/office/drawing/2014/main" val="3203548463"/>
                  </a:ext>
                </a:extLst>
              </a:tr>
            </a:tbl>
          </a:graphicData>
        </a:graphic>
      </p:graphicFrame>
      <p:sp>
        <p:nvSpPr>
          <p:cNvPr id="11" name="Title 1">
            <a:extLst>
              <a:ext uri="{FF2B5EF4-FFF2-40B4-BE49-F238E27FC236}">
                <a16:creationId xmlns:a16="http://schemas.microsoft.com/office/drawing/2014/main" id="{FB80657F-286F-76A4-A83D-9E77A221C49E}"/>
              </a:ext>
            </a:extLst>
          </p:cNvPr>
          <p:cNvSpPr txBox="1">
            <a:spLocks/>
          </p:cNvSpPr>
          <p:nvPr/>
        </p:nvSpPr>
        <p:spPr>
          <a:xfrm>
            <a:off x="8027296" y="450199"/>
            <a:ext cx="2889243" cy="627151"/>
          </a:xfrm>
          <a:prstGeom prst="rect">
            <a:avLst/>
          </a:prstGeom>
        </p:spPr>
        <p:txBody>
          <a:bodyPr vert="horz" lIns="0" tIns="45720" rIns="91440" bIns="0" rtlCol="0" anchor="t">
            <a:noAutofit/>
          </a:bodyPr>
          <a:lstStyle>
            <a:lvl1pPr algn="l" defTabSz="609585" rtl="0" eaLnBrk="1" latinLnBrk="0" hangingPunct="1">
              <a:lnSpc>
                <a:spcPct val="90000"/>
              </a:lnSpc>
              <a:spcBef>
                <a:spcPct val="0"/>
              </a:spcBef>
              <a:buNone/>
              <a:defRPr sz="3200" b="0" i="0" kern="1200" baseline="0">
                <a:solidFill>
                  <a:srgbClr val="1866AE"/>
                </a:solidFill>
                <a:latin typeface="Montserrat" pitchFamily="2" charset="77"/>
                <a:ea typeface="+mj-ea"/>
                <a:cs typeface="+mj-cs"/>
              </a:defRPr>
            </a:lvl1pPr>
          </a:lstStyle>
          <a:p>
            <a:r>
              <a:rPr lang="en-US">
                <a:latin typeface="Montserrat"/>
              </a:rPr>
              <a:t>Legal Forms</a:t>
            </a:r>
          </a:p>
        </p:txBody>
      </p:sp>
      <p:sp>
        <p:nvSpPr>
          <p:cNvPr id="12" name="TextBox 11">
            <a:extLst>
              <a:ext uri="{FF2B5EF4-FFF2-40B4-BE49-F238E27FC236}">
                <a16:creationId xmlns:a16="http://schemas.microsoft.com/office/drawing/2014/main" id="{352C8AB3-6A86-E8B5-3A7B-A761FC9D4E78}"/>
              </a:ext>
            </a:extLst>
          </p:cNvPr>
          <p:cNvSpPr txBox="1"/>
          <p:nvPr/>
        </p:nvSpPr>
        <p:spPr>
          <a:xfrm>
            <a:off x="7591849" y="1070572"/>
            <a:ext cx="3600448" cy="64633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latin typeface="Montserrat"/>
              </a:rPr>
              <a:t>The following S4HANA Legal Forms will be maintained  in Service Cloud v2 for organizations.</a:t>
            </a:r>
          </a:p>
        </p:txBody>
      </p:sp>
      <p:sp>
        <p:nvSpPr>
          <p:cNvPr id="13" name="TextBox 12">
            <a:extLst>
              <a:ext uri="{FF2B5EF4-FFF2-40B4-BE49-F238E27FC236}">
                <a16:creationId xmlns:a16="http://schemas.microsoft.com/office/drawing/2014/main" id="{0656E5F6-7E3E-ECD0-DE16-543201E2B1D2}"/>
              </a:ext>
            </a:extLst>
          </p:cNvPr>
          <p:cNvSpPr txBox="1"/>
          <p:nvPr/>
        </p:nvSpPr>
        <p:spPr>
          <a:xfrm>
            <a:off x="7406129" y="5755789"/>
            <a:ext cx="4386261" cy="400110"/>
          </a:xfrm>
          <a:prstGeom prst="rect">
            <a:avLst/>
          </a:prstGeom>
          <a:noFill/>
          <a:ln>
            <a:solidFill>
              <a:schemeClr val="bg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b="1">
                <a:latin typeface="Montserrat"/>
              </a:rPr>
              <a:t>*Note* Legal Entity and Industry Sector do not seem to be used. Industry Sector has 6 total records. </a:t>
            </a:r>
            <a:endParaRPr lang="en-US" sz="1000" b="1">
              <a:latin typeface="Montserrat" pitchFamily="2" charset="77"/>
            </a:endParaRPr>
          </a:p>
        </p:txBody>
      </p:sp>
    </p:spTree>
    <p:extLst>
      <p:ext uri="{BB962C8B-B14F-4D97-AF65-F5344CB8AC3E}">
        <p14:creationId xmlns:p14="http://schemas.microsoft.com/office/powerpoint/2010/main" val="157044973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A0A3F-2F13-DFD3-BBF6-7CFD02327C8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1EBFEBD-49CA-0A31-B233-6E4803752898}"/>
              </a:ext>
            </a:extLst>
          </p:cNvPr>
          <p:cNvSpPr>
            <a:spLocks noGrp="1"/>
          </p:cNvSpPr>
          <p:nvPr>
            <p:ph type="title"/>
          </p:nvPr>
        </p:nvSpPr>
        <p:spPr>
          <a:xfrm>
            <a:off x="723" y="-3607"/>
            <a:ext cx="6093620" cy="969674"/>
          </a:xfrm>
        </p:spPr>
        <p:txBody>
          <a:bodyPr>
            <a:noAutofit/>
          </a:bodyPr>
          <a:lstStyle/>
          <a:p>
            <a:r>
              <a:rPr lang="en-US" sz="3200">
                <a:latin typeface="Montserrat"/>
              </a:rPr>
              <a:t>Create Contact Person</a:t>
            </a:r>
          </a:p>
        </p:txBody>
      </p:sp>
      <p:sp>
        <p:nvSpPr>
          <p:cNvPr id="6" name="TextBox 5">
            <a:extLst>
              <a:ext uri="{FF2B5EF4-FFF2-40B4-BE49-F238E27FC236}">
                <a16:creationId xmlns:a16="http://schemas.microsoft.com/office/drawing/2014/main" id="{EE8DBBDF-AFB6-8762-C5AB-71F997399F53}"/>
              </a:ext>
            </a:extLst>
          </p:cNvPr>
          <p:cNvSpPr txBox="1"/>
          <p:nvPr/>
        </p:nvSpPr>
        <p:spPr>
          <a:xfrm>
            <a:off x="1993692" y="2308485"/>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9" name="TextBox 8">
            <a:extLst>
              <a:ext uri="{FF2B5EF4-FFF2-40B4-BE49-F238E27FC236}">
                <a16:creationId xmlns:a16="http://schemas.microsoft.com/office/drawing/2014/main" id="{0747679F-C3F4-4B9C-048A-9AB9AEB3F962}"/>
              </a:ext>
            </a:extLst>
          </p:cNvPr>
          <p:cNvSpPr txBox="1"/>
          <p:nvPr/>
        </p:nvSpPr>
        <p:spPr>
          <a:xfrm>
            <a:off x="197020" y="840805"/>
            <a:ext cx="11336027"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Current State Use</a:t>
            </a:r>
            <a:r>
              <a:rPr lang="en-US"/>
              <a:t>: Users create contact persons in both CRM7 and ECC directly as a BUP001 Contact Person Role and associate the business partner to another business partner as a relationship. This contact person gets replicated to CRM7.</a:t>
            </a:r>
          </a:p>
          <a:p>
            <a:endParaRPr lang="en-US"/>
          </a:p>
          <a:p>
            <a:r>
              <a:rPr lang="en-US" b="1"/>
              <a:t>Future State Use</a:t>
            </a:r>
            <a:r>
              <a:rPr lang="en-US"/>
              <a:t>: Users will be able to create a contact in Service Cloud v2. Decision needed to approve this direction? </a:t>
            </a:r>
            <a:r>
              <a:rPr lang="en-US" b="1"/>
              <a:t>The same fields being utilized in CRM7 will be configured in Service Cloud v2.</a:t>
            </a:r>
          </a:p>
        </p:txBody>
      </p:sp>
      <p:pic>
        <p:nvPicPr>
          <p:cNvPr id="2" name="Picture 1" descr="A screenshot of a search box&#10;&#10;AI-generated content may be incorrect.">
            <a:extLst>
              <a:ext uri="{FF2B5EF4-FFF2-40B4-BE49-F238E27FC236}">
                <a16:creationId xmlns:a16="http://schemas.microsoft.com/office/drawing/2014/main" id="{78750318-A5A5-A37D-3E91-E4C7D6D1E06E}"/>
              </a:ext>
            </a:extLst>
          </p:cNvPr>
          <p:cNvPicPr>
            <a:picLocks noChangeAspect="1"/>
          </p:cNvPicPr>
          <p:nvPr/>
        </p:nvPicPr>
        <p:blipFill>
          <a:blip r:embed="rId2"/>
          <a:stretch>
            <a:fillRect/>
          </a:stretch>
        </p:blipFill>
        <p:spPr>
          <a:xfrm>
            <a:off x="202405" y="2680648"/>
            <a:ext cx="10620376" cy="3711265"/>
          </a:xfrm>
          <a:prstGeom prst="rect">
            <a:avLst/>
          </a:prstGeom>
        </p:spPr>
      </p:pic>
    </p:spTree>
    <p:extLst>
      <p:ext uri="{BB962C8B-B14F-4D97-AF65-F5344CB8AC3E}">
        <p14:creationId xmlns:p14="http://schemas.microsoft.com/office/powerpoint/2010/main" val="20882300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262C4-2B76-9BD2-7B28-1BE980D73D8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E23A853-5EAE-F348-13C4-F15910F8C8A7}"/>
              </a:ext>
            </a:extLst>
          </p:cNvPr>
          <p:cNvSpPr>
            <a:spLocks noGrp="1"/>
          </p:cNvSpPr>
          <p:nvPr>
            <p:ph type="title"/>
          </p:nvPr>
        </p:nvSpPr>
        <p:spPr>
          <a:xfrm>
            <a:off x="-1021" y="5686"/>
            <a:ext cx="12186923" cy="743456"/>
          </a:xfrm>
        </p:spPr>
        <p:txBody>
          <a:bodyPr>
            <a:normAutofit/>
          </a:bodyPr>
          <a:lstStyle/>
          <a:p>
            <a:r>
              <a:rPr lang="en-US" sz="3200">
                <a:latin typeface="Montserrat"/>
              </a:rPr>
              <a:t>Contract Account Number Ranges and Replication</a:t>
            </a:r>
          </a:p>
        </p:txBody>
      </p:sp>
      <p:sp>
        <p:nvSpPr>
          <p:cNvPr id="6" name="TextBox 5">
            <a:extLst>
              <a:ext uri="{FF2B5EF4-FFF2-40B4-BE49-F238E27FC236}">
                <a16:creationId xmlns:a16="http://schemas.microsoft.com/office/drawing/2014/main" id="{7382334D-53DB-B8F3-1496-A6139375D8B7}"/>
              </a:ext>
            </a:extLst>
          </p:cNvPr>
          <p:cNvSpPr txBox="1"/>
          <p:nvPr/>
        </p:nvSpPr>
        <p:spPr>
          <a:xfrm>
            <a:off x="1993692" y="2308485"/>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2" name="TextBox 1">
            <a:extLst>
              <a:ext uri="{FF2B5EF4-FFF2-40B4-BE49-F238E27FC236}">
                <a16:creationId xmlns:a16="http://schemas.microsoft.com/office/drawing/2014/main" id="{B844BAF0-A47D-DDEF-F11B-920F300FAAC2}"/>
              </a:ext>
            </a:extLst>
          </p:cNvPr>
          <p:cNvSpPr txBox="1"/>
          <p:nvPr/>
        </p:nvSpPr>
        <p:spPr>
          <a:xfrm>
            <a:off x="1376" y="677008"/>
            <a:ext cx="12172947" cy="28315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A Contract Account (Also known as a Business Agreement) is the object via which financial postings are made. Financial documents posted to the contract account are subject to receivables management in the sub ledger in Contract Accounts Receivable and Payable (part of FI-CA). All charges and payments will be held at the contract account. It also has the control data for payment transactions and collections (i.e., dunning).</a:t>
            </a:r>
          </a:p>
          <a:p>
            <a:endParaRPr lang="en-US" sz="1600"/>
          </a:p>
          <a:p>
            <a:r>
              <a:rPr lang="en-US" sz="1600"/>
              <a:t>Contract Accounts will be created via SAP Service Cloud v2 as part of the Move In process and via SAP S4HANA. When creating a new contract account in S4HANA, SAP will use the internal number range configured for the contract account category in SAP S4HANA. Once the contract account is saved in S4HANA, the contract account will be </a:t>
            </a:r>
            <a:r>
              <a:rPr lang="en-US" sz="1600">
                <a:ea typeface="+mn-lt"/>
                <a:cs typeface="+mn-lt"/>
              </a:rPr>
              <a:t>100000191906 as an example. </a:t>
            </a:r>
          </a:p>
          <a:p>
            <a:endParaRPr lang="en-US" sz="1600">
              <a:ea typeface="+mn-lt"/>
              <a:cs typeface="+mn-lt"/>
            </a:endParaRPr>
          </a:p>
          <a:p>
            <a:r>
              <a:rPr lang="en-US" sz="1600">
                <a:ea typeface="+mn-lt"/>
                <a:cs typeface="+mn-lt"/>
              </a:rPr>
              <a:t>When creating a contract account from Service Cloud v2, SAP will use the external number range configured for the contract account category in S4HANA. Once the contract account is saved in S4HANA, the contract account will be 103001473067 as an example.</a:t>
            </a:r>
            <a:r>
              <a:rPr lang="en-US">
                <a:ea typeface="+mn-lt"/>
                <a:cs typeface="+mn-lt"/>
              </a:rPr>
              <a:t>  </a:t>
            </a:r>
          </a:p>
        </p:txBody>
      </p:sp>
      <p:graphicFrame>
        <p:nvGraphicFramePr>
          <p:cNvPr id="8" name="Table 7">
            <a:extLst>
              <a:ext uri="{FF2B5EF4-FFF2-40B4-BE49-F238E27FC236}">
                <a16:creationId xmlns:a16="http://schemas.microsoft.com/office/drawing/2014/main" id="{B64DA63E-29A9-C564-AFC7-E4A2D8C058F8}"/>
              </a:ext>
            </a:extLst>
          </p:cNvPr>
          <p:cNvGraphicFramePr>
            <a:graphicFrameLocks noGrp="1"/>
          </p:cNvGraphicFramePr>
          <p:nvPr/>
        </p:nvGraphicFramePr>
        <p:xfrm>
          <a:off x="111737" y="3586429"/>
          <a:ext cx="8133836" cy="2946386"/>
        </p:xfrm>
        <a:graphic>
          <a:graphicData uri="http://schemas.openxmlformats.org/drawingml/2006/table">
            <a:tbl>
              <a:tblPr firstRow="1" bandRow="1">
                <a:tableStyleId>{5C22544A-7EE6-4342-B048-85BDC9FD1C3A}</a:tableStyleId>
              </a:tblPr>
              <a:tblGrid>
                <a:gridCol w="1077592">
                  <a:extLst>
                    <a:ext uri="{9D8B030D-6E8A-4147-A177-3AD203B41FA5}">
                      <a16:colId xmlns:a16="http://schemas.microsoft.com/office/drawing/2014/main" val="1859295381"/>
                    </a:ext>
                  </a:extLst>
                </a:gridCol>
                <a:gridCol w="1641254">
                  <a:extLst>
                    <a:ext uri="{9D8B030D-6E8A-4147-A177-3AD203B41FA5}">
                      <a16:colId xmlns:a16="http://schemas.microsoft.com/office/drawing/2014/main" val="4125018432"/>
                    </a:ext>
                  </a:extLst>
                </a:gridCol>
                <a:gridCol w="1856775">
                  <a:extLst>
                    <a:ext uri="{9D8B030D-6E8A-4147-A177-3AD203B41FA5}">
                      <a16:colId xmlns:a16="http://schemas.microsoft.com/office/drawing/2014/main" val="2752329662"/>
                    </a:ext>
                  </a:extLst>
                </a:gridCol>
                <a:gridCol w="924560">
                  <a:extLst>
                    <a:ext uri="{9D8B030D-6E8A-4147-A177-3AD203B41FA5}">
                      <a16:colId xmlns:a16="http://schemas.microsoft.com/office/drawing/2014/main" val="1372701946"/>
                    </a:ext>
                  </a:extLst>
                </a:gridCol>
                <a:gridCol w="2633655">
                  <a:extLst>
                    <a:ext uri="{9D8B030D-6E8A-4147-A177-3AD203B41FA5}">
                      <a16:colId xmlns:a16="http://schemas.microsoft.com/office/drawing/2014/main" val="2160032817"/>
                    </a:ext>
                  </a:extLst>
                </a:gridCol>
              </a:tblGrid>
              <a:tr h="355586">
                <a:tc>
                  <a:txBody>
                    <a:bodyPr/>
                    <a:lstStyle/>
                    <a:p>
                      <a:pPr lvl="0" algn="ctr">
                        <a:buNone/>
                      </a:pPr>
                      <a:r>
                        <a:rPr lang="en-US" sz="1100"/>
                        <a:t>No</a:t>
                      </a:r>
                    </a:p>
                  </a:txBody>
                  <a:tcPr/>
                </a:tc>
                <a:tc>
                  <a:txBody>
                    <a:bodyPr/>
                    <a:lstStyle/>
                    <a:p>
                      <a:pPr lvl="0" algn="ctr">
                        <a:buNone/>
                      </a:pPr>
                      <a:r>
                        <a:rPr lang="en-US" sz="1100"/>
                        <a:t>From No</a:t>
                      </a:r>
                    </a:p>
                  </a:txBody>
                  <a:tcPr/>
                </a:tc>
                <a:tc>
                  <a:txBody>
                    <a:bodyPr/>
                    <a:lstStyle/>
                    <a:p>
                      <a:pPr lvl="0" algn="ctr">
                        <a:buNone/>
                      </a:pPr>
                      <a:r>
                        <a:rPr lang="en-US" sz="1100"/>
                        <a:t>To No</a:t>
                      </a:r>
                    </a:p>
                  </a:txBody>
                  <a:tcPr/>
                </a:tc>
                <a:tc>
                  <a:txBody>
                    <a:bodyPr/>
                    <a:lstStyle/>
                    <a:p>
                      <a:pPr lvl="0" algn="ctr">
                        <a:buNone/>
                      </a:pPr>
                      <a:r>
                        <a:rPr lang="en-US" sz="1100"/>
                        <a:t>External</a:t>
                      </a:r>
                    </a:p>
                  </a:txBody>
                  <a:tcPr/>
                </a:tc>
                <a:tc>
                  <a:txBody>
                    <a:bodyPr/>
                    <a:lstStyle/>
                    <a:p>
                      <a:pPr lvl="0" algn="ctr">
                        <a:buNone/>
                      </a:pPr>
                      <a:r>
                        <a:rPr lang="en-US" sz="1100"/>
                        <a:t>Category Description</a:t>
                      </a:r>
                    </a:p>
                  </a:txBody>
                  <a:tcPr/>
                </a:tc>
                <a:extLst>
                  <a:ext uri="{0D108BD9-81ED-4DB2-BD59-A6C34878D82A}">
                    <a16:rowId xmlns:a16="http://schemas.microsoft.com/office/drawing/2014/main" val="2425112939"/>
                  </a:ext>
                </a:extLst>
              </a:tr>
              <a:tr h="253989">
                <a:tc>
                  <a:txBody>
                    <a:bodyPr/>
                    <a:lstStyle/>
                    <a:p>
                      <a:pPr lvl="0" algn="ctr">
                        <a:buNone/>
                      </a:pPr>
                      <a:r>
                        <a:rPr lang="en-US" sz="1100"/>
                        <a:t>C1</a:t>
                      </a:r>
                    </a:p>
                  </a:txBody>
                  <a:tcPr/>
                </a:tc>
                <a:tc>
                  <a:txBody>
                    <a:bodyPr/>
                    <a:lstStyle/>
                    <a:p>
                      <a:pPr lvl="0" algn="ctr">
                        <a:buNone/>
                      </a:pPr>
                      <a:r>
                        <a:rPr lang="en-US" sz="1100" b="0" i="0" u="none" strike="noStrike" noProof="0">
                          <a:latin typeface="Aptos"/>
                        </a:rPr>
                        <a:t>010000000000</a:t>
                      </a:r>
                      <a:endParaRPr lang="en-US" sz="1100"/>
                    </a:p>
                  </a:txBody>
                  <a:tcPr/>
                </a:tc>
                <a:tc>
                  <a:txBody>
                    <a:bodyPr/>
                    <a:lstStyle/>
                    <a:p>
                      <a:pPr lvl="0" algn="ctr">
                        <a:buNone/>
                      </a:pPr>
                      <a:r>
                        <a:rPr lang="en-US" sz="1100" b="0" i="0" u="none" strike="noStrike" noProof="0">
                          <a:latin typeface="Aptos"/>
                        </a:rPr>
                        <a:t>010299999999</a:t>
                      </a:r>
                      <a:endParaRPr lang="en-US"/>
                    </a:p>
                  </a:txBody>
                  <a:tcPr/>
                </a:tc>
                <a:tc>
                  <a:txBody>
                    <a:bodyPr/>
                    <a:lstStyle/>
                    <a:p>
                      <a:pPr lvl="0" algn="ctr">
                        <a:buNone/>
                      </a:pPr>
                      <a:endParaRPr lang="en-US" sz="1100"/>
                    </a:p>
                  </a:txBody>
                  <a:tcPr/>
                </a:tc>
                <a:tc>
                  <a:txBody>
                    <a:bodyPr/>
                    <a:lstStyle/>
                    <a:p>
                      <a:pPr lvl="0" algn="ctr">
                        <a:buNone/>
                      </a:pPr>
                      <a:r>
                        <a:rPr lang="en-US" sz="1100" b="0" i="0" u="none" strike="noStrike" noProof="0">
                          <a:solidFill>
                            <a:srgbClr val="0070C0"/>
                          </a:solidFill>
                          <a:latin typeface="Aptos"/>
                        </a:rPr>
                        <a:t>Energy Contract Account</a:t>
                      </a:r>
                      <a:endParaRPr lang="en-US">
                        <a:solidFill>
                          <a:srgbClr val="0070C0"/>
                        </a:solidFill>
                      </a:endParaRPr>
                    </a:p>
                  </a:txBody>
                  <a:tcPr/>
                </a:tc>
                <a:extLst>
                  <a:ext uri="{0D108BD9-81ED-4DB2-BD59-A6C34878D82A}">
                    <a16:rowId xmlns:a16="http://schemas.microsoft.com/office/drawing/2014/main" val="1939654581"/>
                  </a:ext>
                </a:extLst>
              </a:tr>
              <a:tr h="253989">
                <a:tc>
                  <a:txBody>
                    <a:bodyPr/>
                    <a:lstStyle/>
                    <a:p>
                      <a:pPr lvl="0" algn="ctr">
                        <a:buNone/>
                      </a:pPr>
                      <a:r>
                        <a:rPr lang="en-US" sz="1100"/>
                        <a:t>C2</a:t>
                      </a:r>
                    </a:p>
                  </a:txBody>
                  <a:tcPr/>
                </a:tc>
                <a:tc>
                  <a:txBody>
                    <a:bodyPr/>
                    <a:lstStyle/>
                    <a:p>
                      <a:pPr lvl="0" algn="ctr">
                        <a:buNone/>
                      </a:pPr>
                      <a:r>
                        <a:rPr lang="en-US" sz="1100" b="0" i="0" u="none" strike="noStrike" noProof="0">
                          <a:latin typeface="Aptos"/>
                        </a:rPr>
                        <a:t>020000000000</a:t>
                      </a:r>
                      <a:endParaRPr lang="en-US"/>
                    </a:p>
                  </a:txBody>
                  <a:tcPr/>
                </a:tc>
                <a:tc>
                  <a:txBody>
                    <a:bodyPr/>
                    <a:lstStyle/>
                    <a:p>
                      <a:pPr lvl="0" algn="ctr">
                        <a:buNone/>
                      </a:pPr>
                      <a:r>
                        <a:rPr lang="en-US" sz="1100" b="0" i="0" u="none" strike="noStrike" noProof="0">
                          <a:latin typeface="Aptos"/>
                        </a:rPr>
                        <a:t>020299999999</a:t>
                      </a:r>
                      <a:endParaRPr lang="en-US"/>
                    </a:p>
                  </a:txBody>
                  <a:tcPr/>
                </a:tc>
                <a:tc>
                  <a:txBody>
                    <a:bodyPr/>
                    <a:lstStyle/>
                    <a:p>
                      <a:pPr lvl="0" algn="ctr">
                        <a:buNone/>
                      </a:pPr>
                      <a:endParaRPr lang="en-US" sz="1100"/>
                    </a:p>
                  </a:txBody>
                  <a:tcPr/>
                </a:tc>
                <a:tc>
                  <a:txBody>
                    <a:bodyPr/>
                    <a:lstStyle/>
                    <a:p>
                      <a:pPr lvl="0" algn="ctr">
                        <a:buNone/>
                      </a:pPr>
                      <a:r>
                        <a:rPr lang="en-US" sz="1100" b="0" i="0" u="none" strike="noStrike" noProof="0">
                          <a:solidFill>
                            <a:schemeClr val="accent2">
                              <a:lumMod val="76000"/>
                            </a:schemeClr>
                          </a:solidFill>
                          <a:latin typeface="Aptos"/>
                        </a:rPr>
                        <a:t>Collective Contract Account</a:t>
                      </a:r>
                      <a:endParaRPr lang="en-US">
                        <a:solidFill>
                          <a:schemeClr val="accent2">
                            <a:lumMod val="76000"/>
                          </a:schemeClr>
                        </a:solidFill>
                      </a:endParaRPr>
                    </a:p>
                  </a:txBody>
                  <a:tcPr/>
                </a:tc>
                <a:extLst>
                  <a:ext uri="{0D108BD9-81ED-4DB2-BD59-A6C34878D82A}">
                    <a16:rowId xmlns:a16="http://schemas.microsoft.com/office/drawing/2014/main" val="1922440080"/>
                  </a:ext>
                </a:extLst>
              </a:tr>
              <a:tr h="253989">
                <a:tc>
                  <a:txBody>
                    <a:bodyPr/>
                    <a:lstStyle/>
                    <a:p>
                      <a:pPr lvl="0" algn="ctr">
                        <a:buNone/>
                      </a:pPr>
                      <a:r>
                        <a:rPr lang="en-US" sz="1100"/>
                        <a:t>C3</a:t>
                      </a:r>
                    </a:p>
                  </a:txBody>
                  <a:tcPr/>
                </a:tc>
                <a:tc>
                  <a:txBody>
                    <a:bodyPr/>
                    <a:lstStyle/>
                    <a:p>
                      <a:pPr lvl="0" algn="ctr">
                        <a:buNone/>
                      </a:pPr>
                      <a:r>
                        <a:rPr lang="en-US" sz="1100" b="0" i="0" u="none" strike="noStrike" noProof="0">
                          <a:latin typeface="Aptos"/>
                        </a:rPr>
                        <a:t>030000000000</a:t>
                      </a:r>
                      <a:endParaRPr lang="en-US"/>
                    </a:p>
                  </a:txBody>
                  <a:tcPr/>
                </a:tc>
                <a:tc>
                  <a:txBody>
                    <a:bodyPr/>
                    <a:lstStyle/>
                    <a:p>
                      <a:pPr lvl="0" algn="ctr">
                        <a:buNone/>
                      </a:pPr>
                      <a:r>
                        <a:rPr lang="en-US" sz="1100" b="0" i="0" u="none" strike="noStrike" noProof="0">
                          <a:latin typeface="Aptos"/>
                        </a:rPr>
                        <a:t>030299999999</a:t>
                      </a:r>
                      <a:endParaRPr lang="en-US"/>
                    </a:p>
                  </a:txBody>
                  <a:tcPr/>
                </a:tc>
                <a:tc>
                  <a:txBody>
                    <a:bodyPr/>
                    <a:lstStyle/>
                    <a:p>
                      <a:pPr lvl="0" algn="ctr">
                        <a:buNone/>
                      </a:pPr>
                      <a:endParaRPr lang="en-US" sz="1100"/>
                    </a:p>
                  </a:txBody>
                  <a:tcPr/>
                </a:tc>
                <a:tc>
                  <a:txBody>
                    <a:bodyPr/>
                    <a:lstStyle/>
                    <a:p>
                      <a:pPr lvl="0" algn="ctr">
                        <a:buNone/>
                      </a:pPr>
                      <a:r>
                        <a:rPr lang="en-US" sz="1100" b="0" i="0" u="none" strike="noStrike" noProof="0">
                          <a:solidFill>
                            <a:schemeClr val="accent6">
                              <a:lumMod val="76000"/>
                            </a:schemeClr>
                          </a:solidFill>
                          <a:latin typeface="Aptos"/>
                        </a:rPr>
                        <a:t>Non-Energy Contract Account</a:t>
                      </a:r>
                      <a:endParaRPr lang="en-US">
                        <a:solidFill>
                          <a:schemeClr val="accent6">
                            <a:lumMod val="76000"/>
                          </a:schemeClr>
                        </a:solidFill>
                      </a:endParaRPr>
                    </a:p>
                  </a:txBody>
                  <a:tcPr/>
                </a:tc>
                <a:extLst>
                  <a:ext uri="{0D108BD9-81ED-4DB2-BD59-A6C34878D82A}">
                    <a16:rowId xmlns:a16="http://schemas.microsoft.com/office/drawing/2014/main" val="1242098446"/>
                  </a:ext>
                </a:extLst>
              </a:tr>
              <a:tr h="253989">
                <a:tc>
                  <a:txBody>
                    <a:bodyPr/>
                    <a:lstStyle/>
                    <a:p>
                      <a:pPr lvl="0" algn="ctr">
                        <a:buNone/>
                      </a:pPr>
                      <a:r>
                        <a:rPr lang="en-US" sz="1100"/>
                        <a:t>C4</a:t>
                      </a:r>
                    </a:p>
                  </a:txBody>
                  <a:tcPr/>
                </a:tc>
                <a:tc>
                  <a:txBody>
                    <a:bodyPr/>
                    <a:lstStyle/>
                    <a:p>
                      <a:pPr lvl="0" algn="ctr">
                        <a:buNone/>
                      </a:pPr>
                      <a:r>
                        <a:rPr lang="en-US" sz="1100" b="0" i="0" u="none" strike="noStrike" noProof="0">
                          <a:latin typeface="Aptos"/>
                        </a:rPr>
                        <a:t>040000000000</a:t>
                      </a:r>
                      <a:endParaRPr lang="en-US"/>
                    </a:p>
                  </a:txBody>
                  <a:tcPr/>
                </a:tc>
                <a:tc>
                  <a:txBody>
                    <a:bodyPr/>
                    <a:lstStyle/>
                    <a:p>
                      <a:pPr lvl="0" algn="ctr">
                        <a:buNone/>
                      </a:pPr>
                      <a:r>
                        <a:rPr lang="en-US" sz="1100" b="0" i="0" u="none" strike="noStrike" noProof="0">
                          <a:latin typeface="Aptos"/>
                        </a:rPr>
                        <a:t>040299999999</a:t>
                      </a:r>
                      <a:endParaRPr lang="en-US"/>
                    </a:p>
                  </a:txBody>
                  <a:tcPr/>
                </a:tc>
                <a:tc>
                  <a:txBody>
                    <a:bodyPr/>
                    <a:lstStyle/>
                    <a:p>
                      <a:pPr lvl="0" algn="ctr">
                        <a:buNone/>
                      </a:pPr>
                      <a:endParaRPr lang="en-US" sz="1100"/>
                    </a:p>
                  </a:txBody>
                  <a:tcPr/>
                </a:tc>
                <a:tc>
                  <a:txBody>
                    <a:bodyPr/>
                    <a:lstStyle/>
                    <a:p>
                      <a:pPr lvl="0" algn="ctr">
                        <a:buNone/>
                      </a:pPr>
                      <a:r>
                        <a:rPr lang="en-US" sz="1100" b="0" i="0" u="none" strike="noStrike" noProof="0">
                          <a:latin typeface="Aptos"/>
                        </a:rPr>
                        <a:t>Gas Trans Composite Account</a:t>
                      </a:r>
                      <a:endParaRPr lang="en-US"/>
                    </a:p>
                  </a:txBody>
                  <a:tcPr/>
                </a:tc>
                <a:extLst>
                  <a:ext uri="{0D108BD9-81ED-4DB2-BD59-A6C34878D82A}">
                    <a16:rowId xmlns:a16="http://schemas.microsoft.com/office/drawing/2014/main" val="1437949607"/>
                  </a:ext>
                </a:extLst>
              </a:tr>
              <a:tr h="253989">
                <a:tc>
                  <a:txBody>
                    <a:bodyPr/>
                    <a:lstStyle/>
                    <a:p>
                      <a:pPr lvl="0" algn="ctr">
                        <a:buNone/>
                      </a:pPr>
                      <a:r>
                        <a:rPr lang="en-US" sz="1100"/>
                        <a:t>C5</a:t>
                      </a:r>
                    </a:p>
                  </a:txBody>
                  <a:tcPr/>
                </a:tc>
                <a:tc>
                  <a:txBody>
                    <a:bodyPr/>
                    <a:lstStyle/>
                    <a:p>
                      <a:pPr lvl="0" algn="ctr">
                        <a:buNone/>
                      </a:pPr>
                      <a:r>
                        <a:rPr lang="en-US" sz="1100" b="0" i="0" u="none" strike="noStrike" noProof="0">
                          <a:latin typeface="Aptos"/>
                        </a:rPr>
                        <a:t>103000000000</a:t>
                      </a:r>
                      <a:endParaRPr lang="en-US"/>
                    </a:p>
                  </a:txBody>
                  <a:tcPr/>
                </a:tc>
                <a:tc>
                  <a:txBody>
                    <a:bodyPr/>
                    <a:lstStyle/>
                    <a:p>
                      <a:pPr lvl="0" algn="ctr">
                        <a:buNone/>
                      </a:pPr>
                      <a:r>
                        <a:rPr lang="en-US" sz="1100" b="0" i="0" u="none" strike="noStrike" noProof="0">
                          <a:latin typeface="Aptos"/>
                        </a:rPr>
                        <a:t>109999999999</a:t>
                      </a:r>
                      <a:endParaRPr lang="en-US"/>
                    </a:p>
                  </a:txBody>
                  <a:tcPr/>
                </a:tc>
                <a:tc>
                  <a:txBody>
                    <a:bodyPr/>
                    <a:lstStyle/>
                    <a:p>
                      <a:pPr lvl="0" algn="ctr">
                        <a:buNone/>
                      </a:pPr>
                      <a:r>
                        <a:rPr lang="en-US" sz="1100"/>
                        <a:t>X</a:t>
                      </a:r>
                    </a:p>
                  </a:txBody>
                  <a:tcPr/>
                </a:tc>
                <a:tc>
                  <a:txBody>
                    <a:bodyPr/>
                    <a:lstStyle/>
                    <a:p>
                      <a:pPr lvl="0" algn="ctr">
                        <a:buNone/>
                      </a:pPr>
                      <a:r>
                        <a:rPr lang="en-US" sz="1100" b="0" i="0" u="none" strike="noStrike" noProof="0">
                          <a:solidFill>
                            <a:srgbClr val="0070C0"/>
                          </a:solidFill>
                          <a:latin typeface="Aptos"/>
                        </a:rPr>
                        <a:t>Energy Contract Account</a:t>
                      </a:r>
                      <a:endParaRPr lang="en-US">
                        <a:solidFill>
                          <a:srgbClr val="0070C0"/>
                        </a:solidFill>
                      </a:endParaRPr>
                    </a:p>
                  </a:txBody>
                  <a:tcPr/>
                </a:tc>
                <a:extLst>
                  <a:ext uri="{0D108BD9-81ED-4DB2-BD59-A6C34878D82A}">
                    <a16:rowId xmlns:a16="http://schemas.microsoft.com/office/drawing/2014/main" val="421062875"/>
                  </a:ext>
                </a:extLst>
              </a:tr>
              <a:tr h="253989">
                <a:tc>
                  <a:txBody>
                    <a:bodyPr/>
                    <a:lstStyle/>
                    <a:p>
                      <a:pPr lvl="0" algn="ctr">
                        <a:buNone/>
                      </a:pPr>
                      <a:r>
                        <a:rPr lang="en-US" sz="1100"/>
                        <a:t>C6</a:t>
                      </a:r>
                    </a:p>
                  </a:txBody>
                  <a:tcPr/>
                </a:tc>
                <a:tc>
                  <a:txBody>
                    <a:bodyPr/>
                    <a:lstStyle/>
                    <a:p>
                      <a:pPr lvl="0" algn="ctr">
                        <a:buNone/>
                      </a:pPr>
                      <a:r>
                        <a:rPr lang="en-US" sz="1100" b="0" i="0" u="none" strike="noStrike" noProof="0">
                          <a:latin typeface="Aptos"/>
                        </a:rPr>
                        <a:t>203000000000</a:t>
                      </a:r>
                      <a:endParaRPr lang="en-US"/>
                    </a:p>
                  </a:txBody>
                  <a:tcPr/>
                </a:tc>
                <a:tc>
                  <a:txBody>
                    <a:bodyPr/>
                    <a:lstStyle/>
                    <a:p>
                      <a:pPr lvl="0" algn="ctr">
                        <a:buNone/>
                      </a:pPr>
                      <a:r>
                        <a:rPr lang="en-US" sz="1100" b="0" i="0" u="none" strike="noStrike" noProof="0">
                          <a:latin typeface="Aptos"/>
                        </a:rPr>
                        <a:t>209999999999</a:t>
                      </a:r>
                      <a:endParaRPr lang="en-US"/>
                    </a:p>
                  </a:txBody>
                  <a:tcPr/>
                </a:tc>
                <a:tc>
                  <a:txBody>
                    <a:bodyPr/>
                    <a:lstStyle/>
                    <a:p>
                      <a:pPr lvl="0" algn="ctr">
                        <a:buNone/>
                      </a:pPr>
                      <a:r>
                        <a:rPr lang="en-US" sz="1100"/>
                        <a:t>X</a:t>
                      </a:r>
                    </a:p>
                  </a:txBody>
                  <a:tcPr/>
                </a:tc>
                <a:tc>
                  <a:txBody>
                    <a:bodyPr/>
                    <a:lstStyle/>
                    <a:p>
                      <a:pPr lvl="0" algn="ctr">
                        <a:buNone/>
                      </a:pPr>
                      <a:r>
                        <a:rPr lang="en-US" sz="1100" b="0" i="0" u="none" strike="noStrike" noProof="0">
                          <a:solidFill>
                            <a:schemeClr val="accent2">
                              <a:lumMod val="76000"/>
                            </a:schemeClr>
                          </a:solidFill>
                          <a:latin typeface="Aptos"/>
                        </a:rPr>
                        <a:t>Collective Contract Account</a:t>
                      </a:r>
                      <a:endParaRPr lang="en-US">
                        <a:solidFill>
                          <a:schemeClr val="accent2">
                            <a:lumMod val="76000"/>
                          </a:schemeClr>
                        </a:solidFill>
                      </a:endParaRPr>
                    </a:p>
                  </a:txBody>
                  <a:tcPr/>
                </a:tc>
                <a:extLst>
                  <a:ext uri="{0D108BD9-81ED-4DB2-BD59-A6C34878D82A}">
                    <a16:rowId xmlns:a16="http://schemas.microsoft.com/office/drawing/2014/main" val="2490352472"/>
                  </a:ext>
                </a:extLst>
              </a:tr>
              <a:tr h="253989">
                <a:tc>
                  <a:txBody>
                    <a:bodyPr/>
                    <a:lstStyle/>
                    <a:p>
                      <a:pPr lvl="0" algn="ctr">
                        <a:buNone/>
                      </a:pPr>
                      <a:r>
                        <a:rPr lang="en-US" sz="1100"/>
                        <a:t>C7</a:t>
                      </a:r>
                    </a:p>
                  </a:txBody>
                  <a:tcPr/>
                </a:tc>
                <a:tc>
                  <a:txBody>
                    <a:bodyPr/>
                    <a:lstStyle/>
                    <a:p>
                      <a:pPr lvl="0" algn="ctr">
                        <a:buNone/>
                      </a:pPr>
                      <a:r>
                        <a:rPr lang="en-US" sz="1100" b="0" i="0" u="none" strike="noStrike" noProof="0">
                          <a:latin typeface="Aptos"/>
                        </a:rPr>
                        <a:t>303000000000</a:t>
                      </a:r>
                      <a:endParaRPr lang="en-US"/>
                    </a:p>
                  </a:txBody>
                  <a:tcPr/>
                </a:tc>
                <a:tc>
                  <a:txBody>
                    <a:bodyPr/>
                    <a:lstStyle/>
                    <a:p>
                      <a:pPr lvl="0" algn="ctr">
                        <a:buNone/>
                      </a:pPr>
                      <a:r>
                        <a:rPr lang="en-US" sz="1100" b="0" i="0" u="none" strike="noStrike" noProof="0">
                          <a:latin typeface="Aptos"/>
                        </a:rPr>
                        <a:t>309999999999</a:t>
                      </a:r>
                      <a:endParaRPr lang="en-US"/>
                    </a:p>
                  </a:txBody>
                  <a:tcPr/>
                </a:tc>
                <a:tc>
                  <a:txBody>
                    <a:bodyPr/>
                    <a:lstStyle/>
                    <a:p>
                      <a:pPr lvl="0" algn="ctr">
                        <a:buNone/>
                      </a:pPr>
                      <a:r>
                        <a:rPr lang="en-US" sz="1100"/>
                        <a:t>X</a:t>
                      </a:r>
                    </a:p>
                  </a:txBody>
                  <a:tcPr/>
                </a:tc>
                <a:tc>
                  <a:txBody>
                    <a:bodyPr/>
                    <a:lstStyle/>
                    <a:p>
                      <a:pPr lvl="0" algn="ctr">
                        <a:buNone/>
                      </a:pPr>
                      <a:r>
                        <a:rPr lang="en-US" sz="1100" b="0" i="0" u="none" strike="noStrike" noProof="0">
                          <a:solidFill>
                            <a:schemeClr val="accent6">
                              <a:lumMod val="76000"/>
                            </a:schemeClr>
                          </a:solidFill>
                          <a:latin typeface="Aptos"/>
                        </a:rPr>
                        <a:t>Non-Energy Contract Account</a:t>
                      </a:r>
                      <a:endParaRPr lang="en-US">
                        <a:solidFill>
                          <a:schemeClr val="accent6">
                            <a:lumMod val="76000"/>
                          </a:schemeClr>
                        </a:solidFill>
                      </a:endParaRPr>
                    </a:p>
                  </a:txBody>
                  <a:tcPr/>
                </a:tc>
                <a:extLst>
                  <a:ext uri="{0D108BD9-81ED-4DB2-BD59-A6C34878D82A}">
                    <a16:rowId xmlns:a16="http://schemas.microsoft.com/office/drawing/2014/main" val="1693427471"/>
                  </a:ext>
                </a:extLst>
              </a:tr>
              <a:tr h="253989">
                <a:tc>
                  <a:txBody>
                    <a:bodyPr/>
                    <a:lstStyle/>
                    <a:p>
                      <a:pPr lvl="0" algn="ctr">
                        <a:buNone/>
                      </a:pPr>
                      <a:r>
                        <a:rPr lang="en-US" sz="1100"/>
                        <a:t>C8</a:t>
                      </a:r>
                    </a:p>
                  </a:txBody>
                  <a:tcPr/>
                </a:tc>
                <a:tc>
                  <a:txBody>
                    <a:bodyPr/>
                    <a:lstStyle/>
                    <a:p>
                      <a:pPr lvl="0" algn="ctr">
                        <a:buNone/>
                      </a:pPr>
                      <a:r>
                        <a:rPr lang="en-US" sz="1100" b="0" i="0" u="none" strike="noStrike" noProof="0">
                          <a:latin typeface="Aptos"/>
                        </a:rPr>
                        <a:t>403000000000</a:t>
                      </a:r>
                      <a:endParaRPr lang="en-US"/>
                    </a:p>
                  </a:txBody>
                  <a:tcPr/>
                </a:tc>
                <a:tc>
                  <a:txBody>
                    <a:bodyPr/>
                    <a:lstStyle/>
                    <a:p>
                      <a:pPr lvl="0" algn="ctr">
                        <a:buNone/>
                      </a:pPr>
                      <a:r>
                        <a:rPr lang="en-US" sz="1100" b="0" i="0" u="none" strike="noStrike" noProof="0">
                          <a:latin typeface="Aptos"/>
                        </a:rPr>
                        <a:t>409999999999</a:t>
                      </a:r>
                      <a:endParaRPr lang="en-US"/>
                    </a:p>
                  </a:txBody>
                  <a:tcPr/>
                </a:tc>
                <a:tc>
                  <a:txBody>
                    <a:bodyPr/>
                    <a:lstStyle/>
                    <a:p>
                      <a:pPr lvl="0" algn="ctr">
                        <a:buNone/>
                      </a:pPr>
                      <a:r>
                        <a:rPr lang="en-US" sz="1100"/>
                        <a:t>X</a:t>
                      </a:r>
                    </a:p>
                  </a:txBody>
                  <a:tcPr/>
                </a:tc>
                <a:tc>
                  <a:txBody>
                    <a:bodyPr/>
                    <a:lstStyle/>
                    <a:p>
                      <a:pPr lvl="0" algn="ctr">
                        <a:buNone/>
                      </a:pPr>
                      <a:r>
                        <a:rPr lang="en-US" sz="1100" b="0" i="0" u="none" strike="noStrike" noProof="0">
                          <a:latin typeface="Aptos"/>
                        </a:rPr>
                        <a:t>Gas Trans Composite Account</a:t>
                      </a:r>
                      <a:endParaRPr lang="en-US"/>
                    </a:p>
                  </a:txBody>
                  <a:tcPr/>
                </a:tc>
                <a:extLst>
                  <a:ext uri="{0D108BD9-81ED-4DB2-BD59-A6C34878D82A}">
                    <a16:rowId xmlns:a16="http://schemas.microsoft.com/office/drawing/2014/main" val="216127731"/>
                  </a:ext>
                </a:extLst>
              </a:tr>
              <a:tr h="253988">
                <a:tc>
                  <a:txBody>
                    <a:bodyPr/>
                    <a:lstStyle/>
                    <a:p>
                      <a:pPr lvl="0" algn="ctr">
                        <a:buNone/>
                      </a:pPr>
                      <a:r>
                        <a:rPr lang="en-US" sz="1100"/>
                        <a:t>C9</a:t>
                      </a:r>
                    </a:p>
                  </a:txBody>
                  <a:tcPr/>
                </a:tc>
                <a:tc>
                  <a:txBody>
                    <a:bodyPr/>
                    <a:lstStyle/>
                    <a:p>
                      <a:pPr lvl="0" algn="ctr">
                        <a:buNone/>
                      </a:pPr>
                      <a:r>
                        <a:rPr lang="en-US" sz="1100" b="0" i="0" u="none" strike="noStrike" noProof="0"/>
                        <a:t>060000000000</a:t>
                      </a:r>
                      <a:endParaRPr lang="en-US"/>
                    </a:p>
                  </a:txBody>
                  <a:tcPr/>
                </a:tc>
                <a:tc>
                  <a:txBody>
                    <a:bodyPr/>
                    <a:lstStyle/>
                    <a:p>
                      <a:pPr lvl="0" algn="ctr">
                        <a:buNone/>
                      </a:pPr>
                      <a:r>
                        <a:rPr lang="en-US" sz="1100" b="0" i="0" u="none" strike="noStrike" noProof="0">
                          <a:latin typeface="Aptos"/>
                        </a:rPr>
                        <a:t>060299999999</a:t>
                      </a:r>
                      <a:endParaRPr lang="en-US"/>
                    </a:p>
                  </a:txBody>
                  <a:tcPr/>
                </a:tc>
                <a:tc>
                  <a:txBody>
                    <a:bodyPr/>
                    <a:lstStyle/>
                    <a:p>
                      <a:pPr lvl="0" algn="ctr">
                        <a:buNone/>
                      </a:pPr>
                      <a:endParaRPr lang="en-US" sz="1100"/>
                    </a:p>
                  </a:txBody>
                  <a:tcPr/>
                </a:tc>
                <a:tc>
                  <a:txBody>
                    <a:bodyPr/>
                    <a:lstStyle/>
                    <a:p>
                      <a:pPr lvl="0" algn="ctr">
                        <a:buNone/>
                      </a:pPr>
                      <a:r>
                        <a:rPr lang="en-US" sz="1100" b="0" i="0" u="none" strike="noStrike" noProof="0">
                          <a:solidFill>
                            <a:schemeClr val="accent5">
                              <a:lumMod val="76000"/>
                            </a:schemeClr>
                          </a:solidFill>
                          <a:latin typeface="Aptos"/>
                        </a:rPr>
                        <a:t>Gas Trans Pooling Composite Account</a:t>
                      </a:r>
                      <a:endParaRPr lang="en-US">
                        <a:solidFill>
                          <a:schemeClr val="accent5">
                            <a:lumMod val="76000"/>
                          </a:schemeClr>
                        </a:solidFill>
                      </a:endParaRPr>
                    </a:p>
                  </a:txBody>
                  <a:tcPr/>
                </a:tc>
                <a:extLst>
                  <a:ext uri="{0D108BD9-81ED-4DB2-BD59-A6C34878D82A}">
                    <a16:rowId xmlns:a16="http://schemas.microsoft.com/office/drawing/2014/main" val="1874983190"/>
                  </a:ext>
                </a:extLst>
              </a:tr>
              <a:tr h="253987">
                <a:tc>
                  <a:txBody>
                    <a:bodyPr/>
                    <a:lstStyle/>
                    <a:p>
                      <a:pPr lvl="0" algn="ctr">
                        <a:buNone/>
                      </a:pPr>
                      <a:r>
                        <a:rPr lang="en-US" sz="1100"/>
                        <a:t>CZ</a:t>
                      </a:r>
                    </a:p>
                  </a:txBody>
                  <a:tcPr/>
                </a:tc>
                <a:tc>
                  <a:txBody>
                    <a:bodyPr/>
                    <a:lstStyle/>
                    <a:p>
                      <a:pPr lvl="0" algn="ctr">
                        <a:buNone/>
                      </a:pPr>
                      <a:r>
                        <a:rPr lang="en-US" sz="1100" b="0" i="0" u="none" strike="noStrike" noProof="0"/>
                        <a:t>603000000000</a:t>
                      </a:r>
                      <a:endParaRPr lang="en-US"/>
                    </a:p>
                  </a:txBody>
                  <a:tcPr/>
                </a:tc>
                <a:tc>
                  <a:txBody>
                    <a:bodyPr/>
                    <a:lstStyle/>
                    <a:p>
                      <a:pPr lvl="0" algn="ctr">
                        <a:buNone/>
                      </a:pPr>
                      <a:r>
                        <a:rPr lang="en-US" sz="1100" b="0" i="0" u="none" strike="noStrike" noProof="0">
                          <a:latin typeface="Aptos"/>
                        </a:rPr>
                        <a:t>609999999999</a:t>
                      </a:r>
                      <a:endParaRPr lang="en-US"/>
                    </a:p>
                  </a:txBody>
                  <a:tcPr/>
                </a:tc>
                <a:tc>
                  <a:txBody>
                    <a:bodyPr/>
                    <a:lstStyle/>
                    <a:p>
                      <a:pPr lvl="0" algn="ctr">
                        <a:buNone/>
                      </a:pPr>
                      <a:r>
                        <a:rPr lang="en-US" sz="1100"/>
                        <a:t>X</a:t>
                      </a:r>
                    </a:p>
                  </a:txBody>
                  <a:tcPr/>
                </a:tc>
                <a:tc>
                  <a:txBody>
                    <a:bodyPr/>
                    <a:lstStyle/>
                    <a:p>
                      <a:pPr lvl="0" algn="ctr">
                        <a:buNone/>
                      </a:pPr>
                      <a:r>
                        <a:rPr lang="en-US" sz="1100" b="0" i="0" u="none" strike="noStrike" noProof="0">
                          <a:solidFill>
                            <a:schemeClr val="accent5">
                              <a:lumMod val="76000"/>
                            </a:schemeClr>
                          </a:solidFill>
                          <a:latin typeface="Aptos"/>
                        </a:rPr>
                        <a:t>Gas Trans Pooling Composite Account</a:t>
                      </a:r>
                      <a:endParaRPr lang="en-US">
                        <a:solidFill>
                          <a:schemeClr val="accent5">
                            <a:lumMod val="76000"/>
                          </a:schemeClr>
                        </a:solidFill>
                      </a:endParaRPr>
                    </a:p>
                  </a:txBody>
                  <a:tcPr/>
                </a:tc>
                <a:extLst>
                  <a:ext uri="{0D108BD9-81ED-4DB2-BD59-A6C34878D82A}">
                    <a16:rowId xmlns:a16="http://schemas.microsoft.com/office/drawing/2014/main" val="329379813"/>
                  </a:ext>
                </a:extLst>
              </a:tr>
            </a:tbl>
          </a:graphicData>
        </a:graphic>
      </p:graphicFrame>
      <p:sp>
        <p:nvSpPr>
          <p:cNvPr id="4" name="TextBox 3">
            <a:extLst>
              <a:ext uri="{FF2B5EF4-FFF2-40B4-BE49-F238E27FC236}">
                <a16:creationId xmlns:a16="http://schemas.microsoft.com/office/drawing/2014/main" id="{BA53E1A1-8B65-7ACE-FF99-7DBA93B12688}"/>
              </a:ext>
            </a:extLst>
          </p:cNvPr>
          <p:cNvSpPr txBox="1"/>
          <p:nvPr/>
        </p:nvSpPr>
        <p:spPr>
          <a:xfrm>
            <a:off x="8716784" y="3763784"/>
            <a:ext cx="2743200"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t>SAP Service Cloud v2 will only create contract accounts with the Energy Contract Account Category. </a:t>
            </a:r>
          </a:p>
        </p:txBody>
      </p:sp>
      <p:cxnSp>
        <p:nvCxnSpPr>
          <p:cNvPr id="7" name="Connector: Elbow 6">
            <a:extLst>
              <a:ext uri="{FF2B5EF4-FFF2-40B4-BE49-F238E27FC236}">
                <a16:creationId xmlns:a16="http://schemas.microsoft.com/office/drawing/2014/main" id="{1929D4B1-1ECA-7C0D-0DB9-CFF5B2D5B0B6}"/>
              </a:ext>
            </a:extLst>
          </p:cNvPr>
          <p:cNvCxnSpPr/>
          <p:nvPr/>
        </p:nvCxnSpPr>
        <p:spPr>
          <a:xfrm flipH="1">
            <a:off x="8303694" y="4419600"/>
            <a:ext cx="423746" cy="67279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109227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F9CD2-8F06-616D-5455-5034B37AB56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4A682FB-0C4F-28C3-3ECC-976D1093DD21}"/>
              </a:ext>
            </a:extLst>
          </p:cNvPr>
          <p:cNvSpPr>
            <a:spLocks noGrp="1"/>
          </p:cNvSpPr>
          <p:nvPr>
            <p:ph type="title"/>
          </p:nvPr>
        </p:nvSpPr>
        <p:spPr>
          <a:xfrm>
            <a:off x="274566" y="282143"/>
            <a:ext cx="3057526" cy="2207924"/>
          </a:xfrm>
        </p:spPr>
        <p:txBody>
          <a:bodyPr>
            <a:noAutofit/>
          </a:bodyPr>
          <a:lstStyle/>
          <a:p>
            <a:r>
              <a:rPr lang="en-US" sz="3200">
                <a:latin typeface="Montserrat"/>
              </a:rPr>
              <a:t>Create Contract Account in CRM</a:t>
            </a:r>
          </a:p>
        </p:txBody>
      </p:sp>
      <p:sp>
        <p:nvSpPr>
          <p:cNvPr id="6" name="TextBox 5">
            <a:extLst>
              <a:ext uri="{FF2B5EF4-FFF2-40B4-BE49-F238E27FC236}">
                <a16:creationId xmlns:a16="http://schemas.microsoft.com/office/drawing/2014/main" id="{69047457-131E-714B-5B6E-41559C2F8D26}"/>
              </a:ext>
            </a:extLst>
          </p:cNvPr>
          <p:cNvSpPr txBox="1"/>
          <p:nvPr/>
        </p:nvSpPr>
        <p:spPr>
          <a:xfrm>
            <a:off x="1993692" y="2308485"/>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ontserrat" pitchFamily="2" charset="77"/>
              <a:ea typeface="+mn-ea"/>
              <a:cs typeface="+mn-cs"/>
            </a:endParaRPr>
          </a:p>
        </p:txBody>
      </p:sp>
      <p:pic>
        <p:nvPicPr>
          <p:cNvPr id="2" name="Picture 1" descr="A screenshot of a computer&#10;&#10;AI-generated content may be incorrect.">
            <a:extLst>
              <a:ext uri="{FF2B5EF4-FFF2-40B4-BE49-F238E27FC236}">
                <a16:creationId xmlns:a16="http://schemas.microsoft.com/office/drawing/2014/main" id="{590C709E-CC10-7670-F940-D28FEF6E7633}"/>
              </a:ext>
            </a:extLst>
          </p:cNvPr>
          <p:cNvPicPr>
            <a:picLocks noChangeAspect="1"/>
          </p:cNvPicPr>
          <p:nvPr/>
        </p:nvPicPr>
        <p:blipFill>
          <a:blip r:embed="rId2"/>
          <a:stretch>
            <a:fillRect/>
          </a:stretch>
        </p:blipFill>
        <p:spPr>
          <a:xfrm>
            <a:off x="3336072" y="114458"/>
            <a:ext cx="8298366" cy="4073596"/>
          </a:xfrm>
          <a:prstGeom prst="rect">
            <a:avLst/>
          </a:prstGeom>
        </p:spPr>
      </p:pic>
      <p:sp>
        <p:nvSpPr>
          <p:cNvPr id="9" name="TextBox 8">
            <a:extLst>
              <a:ext uri="{FF2B5EF4-FFF2-40B4-BE49-F238E27FC236}">
                <a16:creationId xmlns:a16="http://schemas.microsoft.com/office/drawing/2014/main" id="{C32AC615-2431-1680-631F-0263CD394E03}"/>
              </a:ext>
            </a:extLst>
          </p:cNvPr>
          <p:cNvSpPr txBox="1"/>
          <p:nvPr/>
        </p:nvSpPr>
        <p:spPr>
          <a:xfrm>
            <a:off x="435145" y="4519837"/>
            <a:ext cx="1050259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Current State Use</a:t>
            </a:r>
            <a:r>
              <a:rPr lang="en-US"/>
              <a:t>: Some users create a new account to temporarily transfer funds if the customer does not have another account.</a:t>
            </a:r>
          </a:p>
          <a:p>
            <a:endParaRPr lang="en-US"/>
          </a:p>
          <a:p>
            <a:r>
              <a:rPr lang="en-US" b="1"/>
              <a:t>Future State Use</a:t>
            </a:r>
            <a:r>
              <a:rPr lang="en-US"/>
              <a:t>: This functionality will be moved to Case Management PDD. Meaning agents will be trained to create a Case in Service Cloud v2 which will create a BPEM Case in S/4HANA. </a:t>
            </a:r>
          </a:p>
        </p:txBody>
      </p:sp>
    </p:spTree>
    <p:extLst>
      <p:ext uri="{BB962C8B-B14F-4D97-AF65-F5344CB8AC3E}">
        <p14:creationId xmlns:p14="http://schemas.microsoft.com/office/powerpoint/2010/main" val="297238056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118EA-06C2-50F5-BDDC-BBD8D4134CA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D586B49-9B06-B0F7-ABDF-F88EB634267A}"/>
              </a:ext>
            </a:extLst>
          </p:cNvPr>
          <p:cNvSpPr>
            <a:spLocks noGrp="1"/>
          </p:cNvSpPr>
          <p:nvPr>
            <p:ph type="title"/>
          </p:nvPr>
        </p:nvSpPr>
        <p:spPr>
          <a:xfrm>
            <a:off x="723" y="-3607"/>
            <a:ext cx="6093620" cy="969674"/>
          </a:xfrm>
        </p:spPr>
        <p:txBody>
          <a:bodyPr>
            <a:noAutofit/>
          </a:bodyPr>
          <a:lstStyle/>
          <a:p>
            <a:r>
              <a:rPr lang="en-US" sz="3200">
                <a:latin typeface="Montserrat"/>
              </a:rPr>
              <a:t>Identification Types </a:t>
            </a:r>
          </a:p>
        </p:txBody>
      </p:sp>
      <p:sp>
        <p:nvSpPr>
          <p:cNvPr id="6" name="TextBox 5">
            <a:extLst>
              <a:ext uri="{FF2B5EF4-FFF2-40B4-BE49-F238E27FC236}">
                <a16:creationId xmlns:a16="http://schemas.microsoft.com/office/drawing/2014/main" id="{208767FC-212A-5A33-07E5-EC1018FBE71F}"/>
              </a:ext>
            </a:extLst>
          </p:cNvPr>
          <p:cNvSpPr txBox="1"/>
          <p:nvPr/>
        </p:nvSpPr>
        <p:spPr>
          <a:xfrm>
            <a:off x="1993692" y="2308485"/>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9" name="TextBox 8">
            <a:extLst>
              <a:ext uri="{FF2B5EF4-FFF2-40B4-BE49-F238E27FC236}">
                <a16:creationId xmlns:a16="http://schemas.microsoft.com/office/drawing/2014/main" id="{BC31EBD3-9D9A-922A-1968-AD554A902D1D}"/>
              </a:ext>
            </a:extLst>
          </p:cNvPr>
          <p:cNvSpPr txBox="1"/>
          <p:nvPr/>
        </p:nvSpPr>
        <p:spPr>
          <a:xfrm>
            <a:off x="268457" y="959868"/>
            <a:ext cx="4782827" cy="53553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When creating a person business partner, the user will typically request a form of ID (i.e., Identification Type). Each of these identification types can be unique, meaning that the same identification number should not be assigned to different business partners. Identification Types will be created, changed, and viewed from SAP Service Cloud v2 as well as S4HANA. </a:t>
            </a:r>
          </a:p>
          <a:p>
            <a:endParaRPr lang="en-US"/>
          </a:p>
          <a:p>
            <a:r>
              <a:rPr lang="en-US" b="1"/>
              <a:t>Consumers has 96 Identification Types in CRM7 and 78  Identification Types in ECC. Service Cloud v2 will maintain mapping with the 78 Identification Types maintained in S4HANA.</a:t>
            </a:r>
          </a:p>
          <a:p>
            <a:endParaRPr lang="en-US"/>
          </a:p>
          <a:p>
            <a:r>
              <a:rPr lang="en-US"/>
              <a:t>FRICE-W "</a:t>
            </a:r>
            <a:r>
              <a:rPr lang="en-US" b="1"/>
              <a:t>ID Type Field Masking</a:t>
            </a:r>
            <a:r>
              <a:rPr lang="en-US"/>
              <a:t>" will cover any masking needs for the ID types being configured. </a:t>
            </a:r>
          </a:p>
        </p:txBody>
      </p:sp>
      <p:pic>
        <p:nvPicPr>
          <p:cNvPr id="2" name="Picture 1" descr="A screenshot of a computer&#10;&#10;AI-generated content may be incorrect.">
            <a:extLst>
              <a:ext uri="{FF2B5EF4-FFF2-40B4-BE49-F238E27FC236}">
                <a16:creationId xmlns:a16="http://schemas.microsoft.com/office/drawing/2014/main" id="{4FBC5DFE-1A19-5E03-F7FF-BFAA241ADA0A}"/>
              </a:ext>
            </a:extLst>
          </p:cNvPr>
          <p:cNvPicPr>
            <a:picLocks noChangeAspect="1"/>
          </p:cNvPicPr>
          <p:nvPr/>
        </p:nvPicPr>
        <p:blipFill>
          <a:blip r:embed="rId2"/>
          <a:stretch>
            <a:fillRect/>
          </a:stretch>
        </p:blipFill>
        <p:spPr>
          <a:xfrm>
            <a:off x="5508105" y="863600"/>
            <a:ext cx="5646189" cy="5140960"/>
          </a:xfrm>
          <a:prstGeom prst="rect">
            <a:avLst/>
          </a:prstGeom>
        </p:spPr>
      </p:pic>
    </p:spTree>
    <p:extLst>
      <p:ext uri="{BB962C8B-B14F-4D97-AF65-F5344CB8AC3E}">
        <p14:creationId xmlns:p14="http://schemas.microsoft.com/office/powerpoint/2010/main" val="33174913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F944C-3E2A-4C54-313C-8F79D1632BC0}"/>
              </a:ext>
            </a:extLst>
          </p:cNvPr>
          <p:cNvSpPr>
            <a:spLocks noGrp="1"/>
          </p:cNvSpPr>
          <p:nvPr>
            <p:ph type="title"/>
          </p:nvPr>
        </p:nvSpPr>
        <p:spPr>
          <a:xfrm>
            <a:off x="335311" y="-433253"/>
            <a:ext cx="4169127" cy="1182609"/>
          </a:xfrm>
        </p:spPr>
        <p:txBody>
          <a:bodyPr>
            <a:normAutofit/>
          </a:bodyPr>
          <a:lstStyle/>
          <a:p>
            <a:r>
              <a:rPr lang="en-US">
                <a:latin typeface="Montserrat"/>
              </a:rPr>
              <a:t>BP ID Types - 78 </a:t>
            </a:r>
            <a:endParaRPr lang="en-US"/>
          </a:p>
        </p:txBody>
      </p:sp>
      <p:graphicFrame>
        <p:nvGraphicFramePr>
          <p:cNvPr id="7" name="Table 6">
            <a:extLst>
              <a:ext uri="{FF2B5EF4-FFF2-40B4-BE49-F238E27FC236}">
                <a16:creationId xmlns:a16="http://schemas.microsoft.com/office/drawing/2014/main" id="{265D56FB-BB86-16CF-5E1E-15A084DBD714}"/>
              </a:ext>
            </a:extLst>
          </p:cNvPr>
          <p:cNvGraphicFramePr>
            <a:graphicFrameLocks noGrp="1"/>
          </p:cNvGraphicFramePr>
          <p:nvPr>
            <p:extLst>
              <p:ext uri="{D42A27DB-BD31-4B8C-83A1-F6EECF244321}">
                <p14:modId xmlns:p14="http://schemas.microsoft.com/office/powerpoint/2010/main" val="2380576514"/>
              </p:ext>
            </p:extLst>
          </p:nvPr>
        </p:nvGraphicFramePr>
        <p:xfrm>
          <a:off x="96661" y="902493"/>
          <a:ext cx="3892679" cy="5929964"/>
        </p:xfrm>
        <a:graphic>
          <a:graphicData uri="http://schemas.openxmlformats.org/drawingml/2006/table">
            <a:tbl>
              <a:tblPr firstRow="1" bandRow="1">
                <a:tableStyleId>{6E25E649-3F16-4E02-A733-19D2CDBF48F0}</a:tableStyleId>
              </a:tblPr>
              <a:tblGrid>
                <a:gridCol w="1036776">
                  <a:extLst>
                    <a:ext uri="{9D8B030D-6E8A-4147-A177-3AD203B41FA5}">
                      <a16:colId xmlns:a16="http://schemas.microsoft.com/office/drawing/2014/main" val="2348846701"/>
                    </a:ext>
                  </a:extLst>
                </a:gridCol>
                <a:gridCol w="2855903">
                  <a:extLst>
                    <a:ext uri="{9D8B030D-6E8A-4147-A177-3AD203B41FA5}">
                      <a16:colId xmlns:a16="http://schemas.microsoft.com/office/drawing/2014/main" val="371716989"/>
                    </a:ext>
                  </a:extLst>
                </a:gridCol>
              </a:tblGrid>
              <a:tr h="260684">
                <a:tc>
                  <a:txBody>
                    <a:bodyPr/>
                    <a:lstStyle/>
                    <a:p>
                      <a:pPr>
                        <a:buNone/>
                      </a:pPr>
                      <a:r>
                        <a:rPr lang="en-US" sz="1000" err="1">
                          <a:solidFill>
                            <a:schemeClr val="bg1"/>
                          </a:solidFill>
                          <a:effectLst/>
                        </a:rPr>
                        <a:t>IDType</a:t>
                      </a:r>
                    </a:p>
                  </a:txBody>
                  <a:tcPr anchor="ctr"/>
                </a:tc>
                <a:tc>
                  <a:txBody>
                    <a:bodyPr/>
                    <a:lstStyle/>
                    <a:p>
                      <a:pPr>
                        <a:buNone/>
                      </a:pPr>
                      <a:r>
                        <a:rPr lang="en-US" sz="1000">
                          <a:solidFill>
                            <a:schemeClr val="bg1"/>
                          </a:solidFill>
                          <a:effectLst/>
                        </a:rPr>
                        <a:t>Description</a:t>
                      </a:r>
                    </a:p>
                  </a:txBody>
                  <a:tcPr anchor="ctr"/>
                </a:tc>
                <a:extLst>
                  <a:ext uri="{0D108BD9-81ED-4DB2-BD59-A6C34878D82A}">
                    <a16:rowId xmlns:a16="http://schemas.microsoft.com/office/drawing/2014/main" val="282513691"/>
                  </a:ext>
                </a:extLst>
              </a:tr>
              <a:tr h="0">
                <a:tc>
                  <a:txBody>
                    <a:bodyPr/>
                    <a:lstStyle/>
                    <a:p>
                      <a:pPr>
                        <a:buNone/>
                      </a:pPr>
                      <a:r>
                        <a:rPr lang="en-US" sz="1000">
                          <a:effectLst/>
                        </a:rPr>
                        <a:t>BUP001</a:t>
                      </a:r>
                    </a:p>
                  </a:txBody>
                  <a:tcPr anchor="ctr"/>
                </a:tc>
                <a:tc>
                  <a:txBody>
                    <a:bodyPr/>
                    <a:lstStyle/>
                    <a:p>
                      <a:pPr>
                        <a:buNone/>
                      </a:pPr>
                      <a:r>
                        <a:rPr lang="en-US" sz="1000"/>
                        <a:t>Dun &amp; Bradstreet Number</a:t>
                      </a:r>
                    </a:p>
                  </a:txBody>
                  <a:tcPr anchor="ctr"/>
                </a:tc>
                <a:extLst>
                  <a:ext uri="{0D108BD9-81ED-4DB2-BD59-A6C34878D82A}">
                    <a16:rowId xmlns:a16="http://schemas.microsoft.com/office/drawing/2014/main" val="52845194"/>
                  </a:ext>
                </a:extLst>
              </a:tr>
              <a:tr h="120006">
                <a:tc>
                  <a:txBody>
                    <a:bodyPr/>
                    <a:lstStyle/>
                    <a:p>
                      <a:pPr>
                        <a:buNone/>
                      </a:pPr>
                      <a:r>
                        <a:rPr lang="en-US" sz="1000">
                          <a:effectLst/>
                        </a:rPr>
                        <a:t>BUP002</a:t>
                      </a:r>
                    </a:p>
                  </a:txBody>
                  <a:tcPr anchor="ctr"/>
                </a:tc>
                <a:tc>
                  <a:txBody>
                    <a:bodyPr/>
                    <a:lstStyle/>
                    <a:p>
                      <a:pPr>
                        <a:buNone/>
                      </a:pPr>
                      <a:r>
                        <a:rPr lang="en-US" sz="1000"/>
                        <a:t>Commercial Register Number</a:t>
                      </a:r>
                    </a:p>
                  </a:txBody>
                  <a:tcPr anchor="ctr"/>
                </a:tc>
                <a:extLst>
                  <a:ext uri="{0D108BD9-81ED-4DB2-BD59-A6C34878D82A}">
                    <a16:rowId xmlns:a16="http://schemas.microsoft.com/office/drawing/2014/main" val="1154901279"/>
                  </a:ext>
                </a:extLst>
              </a:tr>
              <a:tr h="126673">
                <a:tc>
                  <a:txBody>
                    <a:bodyPr/>
                    <a:lstStyle/>
                    <a:p>
                      <a:pPr>
                        <a:buNone/>
                      </a:pPr>
                      <a:r>
                        <a:rPr lang="en-US" sz="1000">
                          <a:effectLst/>
                        </a:rPr>
                        <a:t>BUP003</a:t>
                      </a:r>
                    </a:p>
                  </a:txBody>
                  <a:tcPr anchor="ctr"/>
                </a:tc>
                <a:tc>
                  <a:txBody>
                    <a:bodyPr/>
                    <a:lstStyle/>
                    <a:p>
                      <a:pPr>
                        <a:buNone/>
                      </a:pPr>
                      <a:r>
                        <a:rPr lang="en-US" sz="1000"/>
                        <a:t>Register of Associations Number</a:t>
                      </a:r>
                    </a:p>
                  </a:txBody>
                  <a:tcPr anchor="ctr"/>
                </a:tc>
                <a:extLst>
                  <a:ext uri="{0D108BD9-81ED-4DB2-BD59-A6C34878D82A}">
                    <a16:rowId xmlns:a16="http://schemas.microsoft.com/office/drawing/2014/main" val="3247606289"/>
                  </a:ext>
                </a:extLst>
              </a:tr>
              <a:tr h="146674">
                <a:tc>
                  <a:txBody>
                    <a:bodyPr/>
                    <a:lstStyle/>
                    <a:p>
                      <a:pPr>
                        <a:buNone/>
                      </a:pPr>
                      <a:r>
                        <a:rPr lang="en-US" sz="1000">
                          <a:effectLst/>
                        </a:rPr>
                        <a:t>BUP004</a:t>
                      </a:r>
                    </a:p>
                  </a:txBody>
                  <a:tcPr anchor="ctr"/>
                </a:tc>
                <a:tc>
                  <a:txBody>
                    <a:bodyPr/>
                    <a:lstStyle/>
                    <a:p>
                      <a:pPr>
                        <a:buNone/>
                      </a:pPr>
                      <a:r>
                        <a:rPr lang="en-US" sz="1000"/>
                        <a:t>Public Register of Cooperatives Number</a:t>
                      </a:r>
                    </a:p>
                  </a:txBody>
                  <a:tcPr anchor="ctr"/>
                </a:tc>
                <a:extLst>
                  <a:ext uri="{0D108BD9-81ED-4DB2-BD59-A6C34878D82A}">
                    <a16:rowId xmlns:a16="http://schemas.microsoft.com/office/drawing/2014/main" val="1000059997"/>
                  </a:ext>
                </a:extLst>
              </a:tr>
              <a:tr h="0">
                <a:tc>
                  <a:txBody>
                    <a:bodyPr/>
                    <a:lstStyle/>
                    <a:p>
                      <a:pPr>
                        <a:buNone/>
                      </a:pPr>
                      <a:r>
                        <a:rPr lang="en-US" sz="1000">
                          <a:effectLst/>
                        </a:rPr>
                        <a:t>CRM002</a:t>
                      </a:r>
                    </a:p>
                  </a:txBody>
                  <a:tcPr anchor="ctr"/>
                </a:tc>
                <a:tc>
                  <a:txBody>
                    <a:bodyPr/>
                    <a:lstStyle/>
                    <a:p>
                      <a:pPr>
                        <a:buNone/>
                      </a:pPr>
                      <a:r>
                        <a:rPr lang="en-US" sz="1000"/>
                        <a:t>R/3 Customer Number</a:t>
                      </a:r>
                    </a:p>
                  </a:txBody>
                  <a:tcPr anchor="ctr"/>
                </a:tc>
                <a:extLst>
                  <a:ext uri="{0D108BD9-81ED-4DB2-BD59-A6C34878D82A}">
                    <a16:rowId xmlns:a16="http://schemas.microsoft.com/office/drawing/2014/main" val="3110338052"/>
                  </a:ext>
                </a:extLst>
              </a:tr>
              <a:tr h="0">
                <a:tc>
                  <a:txBody>
                    <a:bodyPr/>
                    <a:lstStyle/>
                    <a:p>
                      <a:pPr>
                        <a:buNone/>
                      </a:pPr>
                      <a:r>
                        <a:rPr lang="en-US" sz="1000">
                          <a:effectLst/>
                        </a:rPr>
                        <a:t>FS0001</a:t>
                      </a:r>
                    </a:p>
                  </a:txBody>
                  <a:tcPr anchor="ctr"/>
                </a:tc>
                <a:tc>
                  <a:txBody>
                    <a:bodyPr/>
                    <a:lstStyle/>
                    <a:p>
                      <a:pPr>
                        <a:buNone/>
                      </a:pPr>
                      <a:r>
                        <a:rPr lang="en-US" sz="1000"/>
                        <a:t>Identity card</a:t>
                      </a:r>
                    </a:p>
                  </a:txBody>
                  <a:tcPr anchor="ctr"/>
                </a:tc>
                <a:extLst>
                  <a:ext uri="{0D108BD9-81ED-4DB2-BD59-A6C34878D82A}">
                    <a16:rowId xmlns:a16="http://schemas.microsoft.com/office/drawing/2014/main" val="2798656393"/>
                  </a:ext>
                </a:extLst>
              </a:tr>
              <a:tr h="0">
                <a:tc>
                  <a:txBody>
                    <a:bodyPr/>
                    <a:lstStyle/>
                    <a:p>
                      <a:pPr>
                        <a:buNone/>
                      </a:pPr>
                      <a:r>
                        <a:rPr lang="en-US" sz="1000">
                          <a:effectLst/>
                        </a:rPr>
                        <a:t>IBS001</a:t>
                      </a:r>
                    </a:p>
                  </a:txBody>
                  <a:tcPr anchor="ctr"/>
                </a:tc>
                <a:tc>
                  <a:txBody>
                    <a:bodyPr/>
                    <a:lstStyle/>
                    <a:p>
                      <a:pPr>
                        <a:buNone/>
                      </a:pPr>
                      <a:r>
                        <a:rPr lang="en-US" sz="1000"/>
                        <a:t>Social Security Number</a:t>
                      </a:r>
                    </a:p>
                  </a:txBody>
                  <a:tcPr anchor="ctr"/>
                </a:tc>
                <a:extLst>
                  <a:ext uri="{0D108BD9-81ED-4DB2-BD59-A6C34878D82A}">
                    <a16:rowId xmlns:a16="http://schemas.microsoft.com/office/drawing/2014/main" val="1786355902"/>
                  </a:ext>
                </a:extLst>
              </a:tr>
              <a:tr h="0">
                <a:tc>
                  <a:txBody>
                    <a:bodyPr/>
                    <a:lstStyle/>
                    <a:p>
                      <a:pPr>
                        <a:buNone/>
                      </a:pPr>
                      <a:r>
                        <a:rPr lang="en-US" sz="1000">
                          <a:effectLst/>
                        </a:rPr>
                        <a:t>IBS002</a:t>
                      </a:r>
                    </a:p>
                  </a:txBody>
                  <a:tcPr anchor="ctr"/>
                </a:tc>
                <a:tc>
                  <a:txBody>
                    <a:bodyPr/>
                    <a:lstStyle/>
                    <a:p>
                      <a:pPr>
                        <a:buNone/>
                      </a:pPr>
                      <a:r>
                        <a:rPr lang="en-US" sz="1000"/>
                        <a:t>Driver's license number</a:t>
                      </a:r>
                    </a:p>
                  </a:txBody>
                  <a:tcPr anchor="ctr"/>
                </a:tc>
                <a:extLst>
                  <a:ext uri="{0D108BD9-81ED-4DB2-BD59-A6C34878D82A}">
                    <a16:rowId xmlns:a16="http://schemas.microsoft.com/office/drawing/2014/main" val="2475896790"/>
                  </a:ext>
                </a:extLst>
              </a:tr>
              <a:tr h="0">
                <a:tc>
                  <a:txBody>
                    <a:bodyPr/>
                    <a:lstStyle/>
                    <a:p>
                      <a:pPr>
                        <a:buNone/>
                      </a:pPr>
                      <a:r>
                        <a:rPr lang="en-US" sz="1000">
                          <a:effectLst/>
                        </a:rPr>
                        <a:t>ZAGENT</a:t>
                      </a:r>
                    </a:p>
                  </a:txBody>
                  <a:tcPr anchor="ctr"/>
                </a:tc>
                <a:tc>
                  <a:txBody>
                    <a:bodyPr/>
                    <a:lstStyle/>
                    <a:p>
                      <a:pPr>
                        <a:buNone/>
                      </a:pPr>
                      <a:r>
                        <a:rPr lang="en-US" sz="1000"/>
                        <a:t>CEPASS CASE WORKER</a:t>
                      </a:r>
                    </a:p>
                  </a:txBody>
                  <a:tcPr anchor="ctr"/>
                </a:tc>
                <a:extLst>
                  <a:ext uri="{0D108BD9-81ED-4DB2-BD59-A6C34878D82A}">
                    <a16:rowId xmlns:a16="http://schemas.microsoft.com/office/drawing/2014/main" val="3181019657"/>
                  </a:ext>
                </a:extLst>
              </a:tr>
              <a:tr h="0">
                <a:tc>
                  <a:txBody>
                    <a:bodyPr/>
                    <a:lstStyle/>
                    <a:p>
                      <a:pPr>
                        <a:buNone/>
                      </a:pPr>
                      <a:r>
                        <a:rPr lang="en-US" sz="1000">
                          <a:effectLst/>
                        </a:rPr>
                        <a:t>ZAPNEA</a:t>
                      </a:r>
                    </a:p>
                  </a:txBody>
                  <a:tcPr anchor="ctr"/>
                </a:tc>
                <a:tc>
                  <a:txBody>
                    <a:bodyPr/>
                    <a:lstStyle/>
                    <a:p>
                      <a:pPr>
                        <a:buNone/>
                      </a:pPr>
                      <a:r>
                        <a:rPr lang="en-US" sz="1000"/>
                        <a:t>Apnea Monitor</a:t>
                      </a:r>
                    </a:p>
                  </a:txBody>
                  <a:tcPr anchor="ctr"/>
                </a:tc>
                <a:extLst>
                  <a:ext uri="{0D108BD9-81ED-4DB2-BD59-A6C34878D82A}">
                    <a16:rowId xmlns:a16="http://schemas.microsoft.com/office/drawing/2014/main" val="2559376195"/>
                  </a:ext>
                </a:extLst>
              </a:tr>
              <a:tr h="180009">
                <a:tc>
                  <a:txBody>
                    <a:bodyPr/>
                    <a:lstStyle/>
                    <a:p>
                      <a:pPr>
                        <a:buNone/>
                      </a:pPr>
                      <a:r>
                        <a:rPr lang="en-US" sz="1000">
                          <a:effectLst/>
                        </a:rPr>
                        <a:t>ZATN</a:t>
                      </a:r>
                    </a:p>
                  </a:txBody>
                  <a:tcPr anchor="ctr"/>
                </a:tc>
                <a:tc>
                  <a:txBody>
                    <a:bodyPr/>
                    <a:lstStyle/>
                    <a:p>
                      <a:pPr>
                        <a:buNone/>
                      </a:pPr>
                      <a:r>
                        <a:rPr lang="en-US" sz="1000"/>
                        <a:t>DO NOT ENROLL ASP Termination Non-pay</a:t>
                      </a:r>
                    </a:p>
                  </a:txBody>
                  <a:tcPr anchor="ctr"/>
                </a:tc>
                <a:extLst>
                  <a:ext uri="{0D108BD9-81ED-4DB2-BD59-A6C34878D82A}">
                    <a16:rowId xmlns:a16="http://schemas.microsoft.com/office/drawing/2014/main" val="3425559192"/>
                  </a:ext>
                </a:extLst>
              </a:tr>
              <a:tr h="180009">
                <a:tc>
                  <a:txBody>
                    <a:bodyPr/>
                    <a:lstStyle/>
                    <a:p>
                      <a:pPr>
                        <a:buNone/>
                      </a:pPr>
                      <a:r>
                        <a:rPr lang="en-US" sz="1000">
                          <a:effectLst/>
                        </a:rPr>
                        <a:t>ZATV</a:t>
                      </a:r>
                    </a:p>
                  </a:txBody>
                  <a:tcPr anchor="ctr"/>
                </a:tc>
                <a:tc>
                  <a:txBody>
                    <a:bodyPr/>
                    <a:lstStyle/>
                    <a:p>
                      <a:pPr>
                        <a:buNone/>
                      </a:pPr>
                      <a:r>
                        <a:rPr lang="en-US" sz="1000"/>
                        <a:t>DO NOT ENROLL ASP Termination Voluntary</a:t>
                      </a:r>
                    </a:p>
                  </a:txBody>
                  <a:tcPr anchor="ctr"/>
                </a:tc>
                <a:extLst>
                  <a:ext uri="{0D108BD9-81ED-4DB2-BD59-A6C34878D82A}">
                    <a16:rowId xmlns:a16="http://schemas.microsoft.com/office/drawing/2014/main" val="240837925"/>
                  </a:ext>
                </a:extLst>
              </a:tr>
              <a:tr h="120006">
                <a:tc>
                  <a:txBody>
                    <a:bodyPr/>
                    <a:lstStyle/>
                    <a:p>
                      <a:pPr>
                        <a:buNone/>
                      </a:pPr>
                      <a:r>
                        <a:rPr lang="en-US" sz="1000">
                          <a:effectLst/>
                        </a:rPr>
                        <a:t>ZBCTR</a:t>
                      </a:r>
                    </a:p>
                  </a:txBody>
                  <a:tcPr anchor="ctr"/>
                </a:tc>
                <a:tc>
                  <a:txBody>
                    <a:bodyPr/>
                    <a:lstStyle/>
                    <a:p>
                      <a:pPr>
                        <a:buNone/>
                      </a:pPr>
                      <a:r>
                        <a:rPr lang="en-US" sz="1000"/>
                        <a:t>Business Center 1-800-805-0490</a:t>
                      </a:r>
                    </a:p>
                  </a:txBody>
                  <a:tcPr anchor="ctr"/>
                </a:tc>
                <a:extLst>
                  <a:ext uri="{0D108BD9-81ED-4DB2-BD59-A6C34878D82A}">
                    <a16:rowId xmlns:a16="http://schemas.microsoft.com/office/drawing/2014/main" val="2002977448"/>
                  </a:ext>
                </a:extLst>
              </a:tr>
              <a:tr h="0">
                <a:tc>
                  <a:txBody>
                    <a:bodyPr/>
                    <a:lstStyle/>
                    <a:p>
                      <a:pPr>
                        <a:buNone/>
                      </a:pPr>
                      <a:r>
                        <a:rPr lang="en-US" sz="1000">
                          <a:effectLst/>
                        </a:rPr>
                        <a:t>ZCARE</a:t>
                      </a:r>
                    </a:p>
                  </a:txBody>
                  <a:tcPr anchor="ctr"/>
                </a:tc>
                <a:tc>
                  <a:txBody>
                    <a:bodyPr/>
                    <a:lstStyle/>
                    <a:p>
                      <a:pPr>
                        <a:buNone/>
                      </a:pPr>
                      <a:r>
                        <a:rPr lang="en-US" sz="1000"/>
                        <a:t>CARE Program</a:t>
                      </a:r>
                    </a:p>
                  </a:txBody>
                  <a:tcPr anchor="ctr"/>
                </a:tc>
                <a:extLst>
                  <a:ext uri="{0D108BD9-81ED-4DB2-BD59-A6C34878D82A}">
                    <a16:rowId xmlns:a16="http://schemas.microsoft.com/office/drawing/2014/main" val="1432774305"/>
                  </a:ext>
                </a:extLst>
              </a:tr>
              <a:tr h="140007">
                <a:tc>
                  <a:txBody>
                    <a:bodyPr/>
                    <a:lstStyle/>
                    <a:p>
                      <a:pPr>
                        <a:buNone/>
                      </a:pPr>
                      <a:r>
                        <a:rPr lang="en-US" sz="1000">
                          <a:effectLst/>
                        </a:rPr>
                        <a:t>ZCVM</a:t>
                      </a:r>
                    </a:p>
                  </a:txBody>
                  <a:tcPr anchor="ctr"/>
                </a:tc>
                <a:tc>
                  <a:txBody>
                    <a:bodyPr/>
                    <a:lstStyle/>
                    <a:p>
                      <a:pPr>
                        <a:buNone/>
                      </a:pPr>
                      <a:r>
                        <a:rPr lang="en-US" sz="1000"/>
                        <a:t>Customer Value Management Score</a:t>
                      </a:r>
                    </a:p>
                  </a:txBody>
                  <a:tcPr anchor="ctr"/>
                </a:tc>
                <a:extLst>
                  <a:ext uri="{0D108BD9-81ED-4DB2-BD59-A6C34878D82A}">
                    <a16:rowId xmlns:a16="http://schemas.microsoft.com/office/drawing/2014/main" val="3251436142"/>
                  </a:ext>
                </a:extLst>
              </a:tr>
              <a:tr h="0">
                <a:tc>
                  <a:txBody>
                    <a:bodyPr/>
                    <a:lstStyle/>
                    <a:p>
                      <a:pPr>
                        <a:buNone/>
                      </a:pPr>
                      <a:r>
                        <a:rPr lang="en-US" sz="1000">
                          <a:effectLst/>
                        </a:rPr>
                        <a:t>ZCVMPS</a:t>
                      </a:r>
                    </a:p>
                  </a:txBody>
                  <a:tcPr anchor="ctr"/>
                </a:tc>
                <a:tc>
                  <a:txBody>
                    <a:bodyPr/>
                    <a:lstStyle/>
                    <a:p>
                      <a:pPr>
                        <a:buNone/>
                      </a:pPr>
                      <a:r>
                        <a:rPr lang="en-US" sz="1000"/>
                        <a:t>CVM Price Score</a:t>
                      </a:r>
                    </a:p>
                  </a:txBody>
                  <a:tcPr anchor="ctr"/>
                </a:tc>
                <a:extLst>
                  <a:ext uri="{0D108BD9-81ED-4DB2-BD59-A6C34878D82A}">
                    <a16:rowId xmlns:a16="http://schemas.microsoft.com/office/drawing/2014/main" val="1836760738"/>
                  </a:ext>
                </a:extLst>
              </a:tr>
              <a:tr h="0">
                <a:tc>
                  <a:txBody>
                    <a:bodyPr/>
                    <a:lstStyle/>
                    <a:p>
                      <a:pPr>
                        <a:buNone/>
                      </a:pPr>
                      <a:r>
                        <a:rPr lang="en-US" sz="1000">
                          <a:effectLst/>
                        </a:rPr>
                        <a:t>ZCVMRS</a:t>
                      </a:r>
                    </a:p>
                  </a:txBody>
                  <a:tcPr anchor="ctr"/>
                </a:tc>
                <a:tc>
                  <a:txBody>
                    <a:bodyPr/>
                    <a:lstStyle/>
                    <a:p>
                      <a:pPr>
                        <a:buNone/>
                      </a:pPr>
                      <a:r>
                        <a:rPr lang="en-US" sz="1000"/>
                        <a:t>CVM Switch Response Score</a:t>
                      </a:r>
                    </a:p>
                  </a:txBody>
                  <a:tcPr anchor="ctr"/>
                </a:tc>
                <a:extLst>
                  <a:ext uri="{0D108BD9-81ED-4DB2-BD59-A6C34878D82A}">
                    <a16:rowId xmlns:a16="http://schemas.microsoft.com/office/drawing/2014/main" val="1924963020"/>
                  </a:ext>
                </a:extLst>
              </a:tr>
              <a:tr h="0">
                <a:tc>
                  <a:txBody>
                    <a:bodyPr/>
                    <a:lstStyle/>
                    <a:p>
                      <a:pPr>
                        <a:buNone/>
                      </a:pPr>
                      <a:r>
                        <a:rPr lang="en-US" sz="1000">
                          <a:effectLst/>
                        </a:rPr>
                        <a:t>ZCVMSS</a:t>
                      </a:r>
                    </a:p>
                  </a:txBody>
                  <a:tcPr anchor="ctr"/>
                </a:tc>
                <a:tc>
                  <a:txBody>
                    <a:bodyPr/>
                    <a:lstStyle/>
                    <a:p>
                      <a:pPr>
                        <a:buNone/>
                      </a:pPr>
                      <a:r>
                        <a:rPr lang="en-US" sz="1000"/>
                        <a:t>CVM Service Score</a:t>
                      </a:r>
                    </a:p>
                  </a:txBody>
                  <a:tcPr anchor="ctr"/>
                </a:tc>
                <a:extLst>
                  <a:ext uri="{0D108BD9-81ED-4DB2-BD59-A6C34878D82A}">
                    <a16:rowId xmlns:a16="http://schemas.microsoft.com/office/drawing/2014/main" val="2567790129"/>
                  </a:ext>
                </a:extLst>
              </a:tr>
              <a:tr h="0">
                <a:tc>
                  <a:txBody>
                    <a:bodyPr/>
                    <a:lstStyle/>
                    <a:p>
                      <a:pPr>
                        <a:buNone/>
                      </a:pPr>
                      <a:r>
                        <a:rPr lang="en-US" sz="1000">
                          <a:effectLst/>
                        </a:rPr>
                        <a:t>ZCVMVS</a:t>
                      </a:r>
                    </a:p>
                  </a:txBody>
                  <a:tcPr anchor="ctr"/>
                </a:tc>
                <a:tc>
                  <a:txBody>
                    <a:bodyPr/>
                    <a:lstStyle/>
                    <a:p>
                      <a:pPr>
                        <a:buNone/>
                      </a:pPr>
                      <a:r>
                        <a:rPr lang="en-US" sz="1000"/>
                        <a:t>CVM Value Score</a:t>
                      </a:r>
                    </a:p>
                  </a:txBody>
                  <a:tcPr anchor="ctr"/>
                </a:tc>
                <a:extLst>
                  <a:ext uri="{0D108BD9-81ED-4DB2-BD59-A6C34878D82A}">
                    <a16:rowId xmlns:a16="http://schemas.microsoft.com/office/drawing/2014/main" val="1726888310"/>
                  </a:ext>
                </a:extLst>
              </a:tr>
              <a:tr h="0">
                <a:tc>
                  <a:txBody>
                    <a:bodyPr/>
                    <a:lstStyle/>
                    <a:p>
                      <a:pPr>
                        <a:buNone/>
                      </a:pPr>
                      <a:r>
                        <a:rPr lang="en-US" sz="1000">
                          <a:effectLst/>
                        </a:rPr>
                        <a:t>ZDCEAS</a:t>
                      </a:r>
                    </a:p>
                  </a:txBody>
                  <a:tcPr anchor="ctr"/>
                </a:tc>
                <a:tc>
                  <a:txBody>
                    <a:bodyPr/>
                    <a:lstStyle/>
                    <a:p>
                      <a:pPr>
                        <a:buNone/>
                      </a:pPr>
                      <a:r>
                        <a:rPr lang="en-US" sz="1000"/>
                        <a:t>Deceased</a:t>
                      </a:r>
                    </a:p>
                  </a:txBody>
                  <a:tcPr anchor="ctr"/>
                </a:tc>
                <a:extLst>
                  <a:ext uri="{0D108BD9-81ED-4DB2-BD59-A6C34878D82A}">
                    <a16:rowId xmlns:a16="http://schemas.microsoft.com/office/drawing/2014/main" val="234493042"/>
                  </a:ext>
                </a:extLst>
              </a:tr>
              <a:tr h="0">
                <a:tc>
                  <a:txBody>
                    <a:bodyPr/>
                    <a:lstStyle/>
                    <a:p>
                      <a:pPr>
                        <a:buNone/>
                      </a:pPr>
                      <a:r>
                        <a:rPr lang="en-US" sz="1000">
                          <a:effectLst/>
                        </a:rPr>
                        <a:t>ZDNB</a:t>
                      </a:r>
                    </a:p>
                  </a:txBody>
                  <a:tcPr anchor="ctr"/>
                </a:tc>
                <a:tc>
                  <a:txBody>
                    <a:bodyPr/>
                    <a:lstStyle/>
                    <a:p>
                      <a:pPr>
                        <a:buNone/>
                      </a:pPr>
                      <a:r>
                        <a:rPr lang="en-US" sz="1000"/>
                        <a:t>Dun &amp; Bradstreet Number</a:t>
                      </a:r>
                    </a:p>
                  </a:txBody>
                  <a:tcPr anchor="ctr"/>
                </a:tc>
                <a:extLst>
                  <a:ext uri="{0D108BD9-81ED-4DB2-BD59-A6C34878D82A}">
                    <a16:rowId xmlns:a16="http://schemas.microsoft.com/office/drawing/2014/main" val="3428624306"/>
                  </a:ext>
                </a:extLst>
              </a:tr>
              <a:tr h="0">
                <a:tc>
                  <a:txBody>
                    <a:bodyPr/>
                    <a:lstStyle/>
                    <a:p>
                      <a:pPr>
                        <a:buNone/>
                      </a:pPr>
                      <a:r>
                        <a:rPr lang="en-US" sz="1000">
                          <a:effectLst/>
                        </a:rPr>
                        <a:t>ZDPREQ</a:t>
                      </a:r>
                    </a:p>
                  </a:txBody>
                  <a:tcPr anchor="ctr"/>
                </a:tc>
                <a:tc>
                  <a:txBody>
                    <a:bodyPr/>
                    <a:lstStyle/>
                    <a:p>
                      <a:pPr>
                        <a:buNone/>
                      </a:pPr>
                      <a:r>
                        <a:rPr lang="en-US" sz="1000"/>
                        <a:t>Deposit Requested 530-4170</a:t>
                      </a:r>
                    </a:p>
                  </a:txBody>
                  <a:tcPr anchor="ctr"/>
                </a:tc>
                <a:extLst>
                  <a:ext uri="{0D108BD9-81ED-4DB2-BD59-A6C34878D82A}">
                    <a16:rowId xmlns:a16="http://schemas.microsoft.com/office/drawing/2014/main" val="1704341950"/>
                  </a:ext>
                </a:extLst>
              </a:tr>
            </a:tbl>
          </a:graphicData>
        </a:graphic>
      </p:graphicFrame>
      <p:graphicFrame>
        <p:nvGraphicFramePr>
          <p:cNvPr id="8" name="Table 7">
            <a:extLst>
              <a:ext uri="{FF2B5EF4-FFF2-40B4-BE49-F238E27FC236}">
                <a16:creationId xmlns:a16="http://schemas.microsoft.com/office/drawing/2014/main" id="{90E11A68-2011-0743-A048-C794496AE5D3}"/>
              </a:ext>
            </a:extLst>
          </p:cNvPr>
          <p:cNvGraphicFramePr>
            <a:graphicFrameLocks noGrp="1"/>
          </p:cNvGraphicFramePr>
          <p:nvPr>
            <p:extLst>
              <p:ext uri="{D42A27DB-BD31-4B8C-83A1-F6EECF244321}">
                <p14:modId xmlns:p14="http://schemas.microsoft.com/office/powerpoint/2010/main" val="1464924243"/>
              </p:ext>
            </p:extLst>
          </p:nvPr>
        </p:nvGraphicFramePr>
        <p:xfrm>
          <a:off x="3988946" y="27075"/>
          <a:ext cx="4202331" cy="6827520"/>
        </p:xfrm>
        <a:graphic>
          <a:graphicData uri="http://schemas.openxmlformats.org/drawingml/2006/table">
            <a:tbl>
              <a:tblPr bandRow="1">
                <a:tableStyleId>{6E25E649-3F16-4E02-A733-19D2CDBF48F0}</a:tableStyleId>
              </a:tblPr>
              <a:tblGrid>
                <a:gridCol w="1119249">
                  <a:extLst>
                    <a:ext uri="{9D8B030D-6E8A-4147-A177-3AD203B41FA5}">
                      <a16:colId xmlns:a16="http://schemas.microsoft.com/office/drawing/2014/main" val="2348846701"/>
                    </a:ext>
                  </a:extLst>
                </a:gridCol>
                <a:gridCol w="3083082">
                  <a:extLst>
                    <a:ext uri="{9D8B030D-6E8A-4147-A177-3AD203B41FA5}">
                      <a16:colId xmlns:a16="http://schemas.microsoft.com/office/drawing/2014/main" val="371716989"/>
                    </a:ext>
                  </a:extLst>
                </a:gridCol>
              </a:tblGrid>
              <a:tr h="231704">
                <a:tc>
                  <a:txBody>
                    <a:bodyPr/>
                    <a:lstStyle/>
                    <a:p>
                      <a:pPr>
                        <a:buNone/>
                      </a:pPr>
                      <a:r>
                        <a:rPr lang="en-US" sz="1000">
                          <a:effectLst/>
                        </a:rPr>
                        <a:t>ZDUN$</a:t>
                      </a:r>
                    </a:p>
                  </a:txBody>
                  <a:tcPr anchor="ctr"/>
                </a:tc>
                <a:tc>
                  <a:txBody>
                    <a:bodyPr/>
                    <a:lstStyle/>
                    <a:p>
                      <a:pPr>
                        <a:buNone/>
                      </a:pPr>
                      <a:r>
                        <a:rPr lang="en-US" sz="1000"/>
                        <a:t>Dun &amp; Bradstreet - Sales Amt</a:t>
                      </a:r>
                    </a:p>
                  </a:txBody>
                  <a:tcPr anchor="ctr"/>
                </a:tc>
                <a:extLst>
                  <a:ext uri="{0D108BD9-81ED-4DB2-BD59-A6C34878D82A}">
                    <a16:rowId xmlns:a16="http://schemas.microsoft.com/office/drawing/2014/main" val="3988422612"/>
                  </a:ext>
                </a:extLst>
              </a:tr>
              <a:tr h="231704">
                <a:tc>
                  <a:txBody>
                    <a:bodyPr/>
                    <a:lstStyle/>
                    <a:p>
                      <a:pPr>
                        <a:buNone/>
                      </a:pPr>
                      <a:r>
                        <a:rPr lang="en-US" sz="1000">
                          <a:effectLst/>
                        </a:rPr>
                        <a:t>ZDUNCD</a:t>
                      </a:r>
                    </a:p>
                  </a:txBody>
                  <a:tcPr anchor="ctr"/>
                </a:tc>
                <a:tc>
                  <a:txBody>
                    <a:bodyPr/>
                    <a:lstStyle/>
                    <a:p>
                      <a:pPr>
                        <a:buNone/>
                      </a:pPr>
                      <a:r>
                        <a:rPr lang="en-US" sz="1000"/>
                        <a:t>Dun &amp; Bradstreet - Conf Code</a:t>
                      </a:r>
                    </a:p>
                  </a:txBody>
                  <a:tcPr anchor="ctr"/>
                </a:tc>
                <a:extLst>
                  <a:ext uri="{0D108BD9-81ED-4DB2-BD59-A6C34878D82A}">
                    <a16:rowId xmlns:a16="http://schemas.microsoft.com/office/drawing/2014/main" val="2563054282"/>
                  </a:ext>
                </a:extLst>
              </a:tr>
              <a:tr h="231704">
                <a:tc>
                  <a:txBody>
                    <a:bodyPr/>
                    <a:lstStyle/>
                    <a:p>
                      <a:pPr>
                        <a:buNone/>
                      </a:pPr>
                      <a:r>
                        <a:rPr lang="en-US" sz="1000">
                          <a:effectLst/>
                        </a:rPr>
                        <a:t>ZDUNHQ</a:t>
                      </a:r>
                    </a:p>
                  </a:txBody>
                  <a:tcPr anchor="ctr"/>
                </a:tc>
                <a:tc>
                  <a:txBody>
                    <a:bodyPr/>
                    <a:lstStyle/>
                    <a:p>
                      <a:pPr>
                        <a:buNone/>
                      </a:pPr>
                      <a:r>
                        <a:rPr lang="en-US" sz="1000"/>
                        <a:t>Dun &amp; Bradstreet Number - </a:t>
                      </a:r>
                      <a:r>
                        <a:rPr lang="en-US" sz="1000" err="1"/>
                        <a:t>HeadQuarter</a:t>
                      </a:r>
                    </a:p>
                  </a:txBody>
                  <a:tcPr anchor="ctr"/>
                </a:tc>
                <a:extLst>
                  <a:ext uri="{0D108BD9-81ED-4DB2-BD59-A6C34878D82A}">
                    <a16:rowId xmlns:a16="http://schemas.microsoft.com/office/drawing/2014/main" val="3619997871"/>
                  </a:ext>
                </a:extLst>
              </a:tr>
              <a:tr h="231704">
                <a:tc>
                  <a:txBody>
                    <a:bodyPr/>
                    <a:lstStyle/>
                    <a:p>
                      <a:pPr>
                        <a:buNone/>
                      </a:pPr>
                      <a:r>
                        <a:rPr lang="en-US" sz="1000">
                          <a:effectLst/>
                        </a:rPr>
                        <a:t>ZDUNPT</a:t>
                      </a:r>
                    </a:p>
                  </a:txBody>
                  <a:tcPr anchor="ctr"/>
                </a:tc>
                <a:tc>
                  <a:txBody>
                    <a:bodyPr/>
                    <a:lstStyle/>
                    <a:p>
                      <a:pPr>
                        <a:buNone/>
                      </a:pPr>
                      <a:r>
                        <a:rPr lang="en-US" sz="1000"/>
                        <a:t>Dun &amp; Bradstreet Number - Parent</a:t>
                      </a:r>
                    </a:p>
                  </a:txBody>
                  <a:tcPr anchor="ctr"/>
                </a:tc>
                <a:extLst>
                  <a:ext uri="{0D108BD9-81ED-4DB2-BD59-A6C34878D82A}">
                    <a16:rowId xmlns:a16="http://schemas.microsoft.com/office/drawing/2014/main" val="550136548"/>
                  </a:ext>
                </a:extLst>
              </a:tr>
              <a:tr h="231704">
                <a:tc>
                  <a:txBody>
                    <a:bodyPr/>
                    <a:lstStyle/>
                    <a:p>
                      <a:pPr>
                        <a:buNone/>
                      </a:pPr>
                      <a:r>
                        <a:rPr lang="en-US" sz="1000">
                          <a:effectLst/>
                        </a:rPr>
                        <a:t>ZDUNST</a:t>
                      </a:r>
                    </a:p>
                  </a:txBody>
                  <a:tcPr anchor="ctr"/>
                </a:tc>
                <a:tc>
                  <a:txBody>
                    <a:bodyPr/>
                    <a:lstStyle/>
                    <a:p>
                      <a:pPr>
                        <a:buNone/>
                      </a:pPr>
                      <a:r>
                        <a:rPr lang="en-US" sz="1000"/>
                        <a:t>Dun &amp; Bradstreet Number - Standard</a:t>
                      </a:r>
                    </a:p>
                  </a:txBody>
                  <a:tcPr anchor="ctr"/>
                </a:tc>
                <a:extLst>
                  <a:ext uri="{0D108BD9-81ED-4DB2-BD59-A6C34878D82A}">
                    <a16:rowId xmlns:a16="http://schemas.microsoft.com/office/drawing/2014/main" val="1434416313"/>
                  </a:ext>
                </a:extLst>
              </a:tr>
              <a:tr h="231704">
                <a:tc>
                  <a:txBody>
                    <a:bodyPr/>
                    <a:lstStyle/>
                    <a:p>
                      <a:pPr>
                        <a:buNone/>
                      </a:pPr>
                      <a:r>
                        <a:rPr lang="en-US" sz="1000">
                          <a:effectLst/>
                        </a:rPr>
                        <a:t>ZDUNUL</a:t>
                      </a:r>
                    </a:p>
                  </a:txBody>
                  <a:tcPr anchor="ctr"/>
                </a:tc>
                <a:tc>
                  <a:txBody>
                    <a:bodyPr/>
                    <a:lstStyle/>
                    <a:p>
                      <a:pPr>
                        <a:buNone/>
                      </a:pPr>
                      <a:r>
                        <a:rPr lang="en-US" sz="1000"/>
                        <a:t>Dun &amp; Bradstreet Number - Ultimate</a:t>
                      </a:r>
                    </a:p>
                  </a:txBody>
                  <a:tcPr anchor="ctr"/>
                </a:tc>
                <a:extLst>
                  <a:ext uri="{0D108BD9-81ED-4DB2-BD59-A6C34878D82A}">
                    <a16:rowId xmlns:a16="http://schemas.microsoft.com/office/drawing/2014/main" val="3462249566"/>
                  </a:ext>
                </a:extLst>
              </a:tr>
              <a:tr h="231704">
                <a:tc>
                  <a:txBody>
                    <a:bodyPr/>
                    <a:lstStyle/>
                    <a:p>
                      <a:pPr>
                        <a:buNone/>
                      </a:pPr>
                      <a:r>
                        <a:rPr lang="en-US" sz="1000">
                          <a:effectLst/>
                        </a:rPr>
                        <a:t>ZEPLOC</a:t>
                      </a:r>
                    </a:p>
                  </a:txBody>
                  <a:tcPr anchor="ctr"/>
                </a:tc>
                <a:tc>
                  <a:txBody>
                    <a:bodyPr/>
                    <a:lstStyle/>
                    <a:p>
                      <a:pPr>
                        <a:buNone/>
                      </a:pPr>
                      <a:r>
                        <a:rPr lang="en-US" sz="1000" err="1"/>
                        <a:t>Eservices</a:t>
                      </a:r>
                      <a:r>
                        <a:rPr lang="en-US" sz="1000"/>
                        <a:t> Profile Locked</a:t>
                      </a:r>
                    </a:p>
                  </a:txBody>
                  <a:tcPr anchor="ctr"/>
                </a:tc>
                <a:extLst>
                  <a:ext uri="{0D108BD9-81ED-4DB2-BD59-A6C34878D82A}">
                    <a16:rowId xmlns:a16="http://schemas.microsoft.com/office/drawing/2014/main" val="805410127"/>
                  </a:ext>
                </a:extLst>
              </a:tr>
              <a:tr h="231704">
                <a:tc>
                  <a:txBody>
                    <a:bodyPr/>
                    <a:lstStyle/>
                    <a:p>
                      <a:pPr>
                        <a:buNone/>
                      </a:pPr>
                      <a:r>
                        <a:rPr lang="en-US" sz="1000">
                          <a:effectLst/>
                        </a:rPr>
                        <a:t>ZFCCOO</a:t>
                      </a:r>
                    </a:p>
                  </a:txBody>
                  <a:tcPr anchor="ctr"/>
                </a:tc>
                <a:tc>
                  <a:txBody>
                    <a:bodyPr/>
                    <a:lstStyle/>
                    <a:p>
                      <a:pPr>
                        <a:buNone/>
                      </a:pPr>
                      <a:r>
                        <a:rPr lang="en-US" sz="1000"/>
                        <a:t>FCC Phone Opt-Out</a:t>
                      </a:r>
                    </a:p>
                  </a:txBody>
                  <a:tcPr anchor="ctr"/>
                </a:tc>
                <a:extLst>
                  <a:ext uri="{0D108BD9-81ED-4DB2-BD59-A6C34878D82A}">
                    <a16:rowId xmlns:a16="http://schemas.microsoft.com/office/drawing/2014/main" val="2841851325"/>
                  </a:ext>
                </a:extLst>
              </a:tr>
              <a:tr h="231704">
                <a:tc>
                  <a:txBody>
                    <a:bodyPr/>
                    <a:lstStyle/>
                    <a:p>
                      <a:pPr>
                        <a:buNone/>
                      </a:pPr>
                      <a:r>
                        <a:rPr lang="en-US" sz="1000">
                          <a:effectLst/>
                        </a:rPr>
                        <a:t>ZFRAUD</a:t>
                      </a:r>
                    </a:p>
                  </a:txBody>
                  <a:tcPr anchor="ctr"/>
                </a:tc>
                <a:tc>
                  <a:txBody>
                    <a:bodyPr/>
                    <a:lstStyle/>
                    <a:p>
                      <a:pPr>
                        <a:buNone/>
                      </a:pPr>
                      <a:r>
                        <a:rPr lang="en-US" sz="1000"/>
                        <a:t>Fraud</a:t>
                      </a:r>
                    </a:p>
                  </a:txBody>
                  <a:tcPr anchor="ctr"/>
                </a:tc>
                <a:extLst>
                  <a:ext uri="{0D108BD9-81ED-4DB2-BD59-A6C34878D82A}">
                    <a16:rowId xmlns:a16="http://schemas.microsoft.com/office/drawing/2014/main" val="3581373356"/>
                  </a:ext>
                </a:extLst>
              </a:tr>
              <a:tr h="231704">
                <a:tc>
                  <a:txBody>
                    <a:bodyPr/>
                    <a:lstStyle/>
                    <a:p>
                      <a:pPr>
                        <a:buNone/>
                      </a:pPr>
                      <a:r>
                        <a:rPr lang="en-US" sz="1000">
                          <a:effectLst/>
                        </a:rPr>
                        <a:t>ZGASTR</a:t>
                      </a:r>
                    </a:p>
                  </a:txBody>
                  <a:tcPr anchor="ctr"/>
                </a:tc>
                <a:tc>
                  <a:txBody>
                    <a:bodyPr/>
                    <a:lstStyle/>
                    <a:p>
                      <a:pPr>
                        <a:buNone/>
                      </a:pPr>
                      <a:r>
                        <a:rPr lang="en-US" sz="1000"/>
                        <a:t>Gas Transportation</a:t>
                      </a:r>
                    </a:p>
                  </a:txBody>
                  <a:tcPr anchor="ctr"/>
                </a:tc>
                <a:extLst>
                  <a:ext uri="{0D108BD9-81ED-4DB2-BD59-A6C34878D82A}">
                    <a16:rowId xmlns:a16="http://schemas.microsoft.com/office/drawing/2014/main" val="1156917262"/>
                  </a:ext>
                </a:extLst>
              </a:tr>
              <a:tr h="231704">
                <a:tc>
                  <a:txBody>
                    <a:bodyPr/>
                    <a:lstStyle/>
                    <a:p>
                      <a:pPr>
                        <a:buNone/>
                      </a:pPr>
                      <a:r>
                        <a:rPr lang="en-US" sz="1000">
                          <a:effectLst/>
                        </a:rPr>
                        <a:t>ZGCCID</a:t>
                      </a:r>
                    </a:p>
                  </a:txBody>
                  <a:tcPr anchor="ctr"/>
                </a:tc>
                <a:tc>
                  <a:txBody>
                    <a:bodyPr/>
                    <a:lstStyle/>
                    <a:p>
                      <a:pPr>
                        <a:buNone/>
                      </a:pPr>
                      <a:r>
                        <a:rPr lang="en-US" sz="1000"/>
                        <a:t>GCC Customer Block</a:t>
                      </a:r>
                    </a:p>
                  </a:txBody>
                  <a:tcPr anchor="ctr"/>
                </a:tc>
                <a:extLst>
                  <a:ext uri="{0D108BD9-81ED-4DB2-BD59-A6C34878D82A}">
                    <a16:rowId xmlns:a16="http://schemas.microsoft.com/office/drawing/2014/main" val="2662221663"/>
                  </a:ext>
                </a:extLst>
              </a:tr>
              <a:tr h="231704">
                <a:tc>
                  <a:txBody>
                    <a:bodyPr/>
                    <a:lstStyle/>
                    <a:p>
                      <a:pPr>
                        <a:buNone/>
                      </a:pPr>
                      <a:r>
                        <a:rPr lang="en-US" sz="1000">
                          <a:effectLst/>
                        </a:rPr>
                        <a:t>ZHHCBP</a:t>
                      </a:r>
                    </a:p>
                  </a:txBody>
                  <a:tcPr anchor="ctr"/>
                </a:tc>
                <a:tc>
                  <a:txBody>
                    <a:bodyPr/>
                    <a:lstStyle/>
                    <a:p>
                      <a:pPr>
                        <a:buNone/>
                      </a:pPr>
                      <a:r>
                        <a:rPr lang="en-US" sz="1000"/>
                        <a:t>HHC Annual File Bypass</a:t>
                      </a:r>
                    </a:p>
                  </a:txBody>
                  <a:tcPr anchor="ctr"/>
                </a:tc>
                <a:extLst>
                  <a:ext uri="{0D108BD9-81ED-4DB2-BD59-A6C34878D82A}">
                    <a16:rowId xmlns:a16="http://schemas.microsoft.com/office/drawing/2014/main" val="372460652"/>
                  </a:ext>
                </a:extLst>
              </a:tr>
              <a:tr h="231704">
                <a:tc>
                  <a:txBody>
                    <a:bodyPr/>
                    <a:lstStyle/>
                    <a:p>
                      <a:pPr>
                        <a:buNone/>
                      </a:pPr>
                      <a:r>
                        <a:rPr lang="en-US" sz="1000">
                          <a:effectLst/>
                        </a:rPr>
                        <a:t>ZIBS01</a:t>
                      </a:r>
                    </a:p>
                  </a:txBody>
                  <a:tcPr anchor="ctr"/>
                </a:tc>
                <a:tc>
                  <a:txBody>
                    <a:bodyPr/>
                    <a:lstStyle/>
                    <a:p>
                      <a:pPr>
                        <a:buNone/>
                      </a:pPr>
                      <a:r>
                        <a:rPr lang="en-US" sz="1000"/>
                        <a:t>SSN/Tax ID No.</a:t>
                      </a:r>
                    </a:p>
                  </a:txBody>
                  <a:tcPr anchor="ctr"/>
                </a:tc>
                <a:extLst>
                  <a:ext uri="{0D108BD9-81ED-4DB2-BD59-A6C34878D82A}">
                    <a16:rowId xmlns:a16="http://schemas.microsoft.com/office/drawing/2014/main" val="886033222"/>
                  </a:ext>
                </a:extLst>
              </a:tr>
              <a:tr h="231704">
                <a:tc>
                  <a:txBody>
                    <a:bodyPr/>
                    <a:lstStyle/>
                    <a:p>
                      <a:pPr>
                        <a:buNone/>
                      </a:pPr>
                      <a:r>
                        <a:rPr lang="en-US" sz="1000">
                          <a:effectLst/>
                        </a:rPr>
                        <a:t>ZIBS02</a:t>
                      </a:r>
                    </a:p>
                  </a:txBody>
                  <a:tcPr anchor="ctr"/>
                </a:tc>
                <a:tc>
                  <a:txBody>
                    <a:bodyPr/>
                    <a:lstStyle/>
                    <a:p>
                      <a:pPr>
                        <a:buNone/>
                      </a:pPr>
                      <a:r>
                        <a:rPr lang="en-US" sz="1000"/>
                        <a:t>Driver's license number</a:t>
                      </a:r>
                    </a:p>
                  </a:txBody>
                  <a:tcPr anchor="ctr"/>
                </a:tc>
                <a:extLst>
                  <a:ext uri="{0D108BD9-81ED-4DB2-BD59-A6C34878D82A}">
                    <a16:rowId xmlns:a16="http://schemas.microsoft.com/office/drawing/2014/main" val="2272115470"/>
                  </a:ext>
                </a:extLst>
              </a:tr>
              <a:tr h="231704">
                <a:tc>
                  <a:txBody>
                    <a:bodyPr/>
                    <a:lstStyle/>
                    <a:p>
                      <a:pPr>
                        <a:buNone/>
                      </a:pPr>
                      <a:r>
                        <a:rPr lang="en-US" sz="1000">
                          <a:effectLst/>
                        </a:rPr>
                        <a:t>ZINC&amp;I</a:t>
                      </a:r>
                    </a:p>
                  </a:txBody>
                  <a:tcPr anchor="ctr"/>
                </a:tc>
                <a:tc>
                  <a:txBody>
                    <a:bodyPr/>
                    <a:lstStyle/>
                    <a:p>
                      <a:pPr>
                        <a:buNone/>
                      </a:pPr>
                      <a:r>
                        <a:rPr lang="en-US" sz="1000"/>
                        <a:t>Other C&amp;I Customer</a:t>
                      </a:r>
                    </a:p>
                  </a:txBody>
                  <a:tcPr anchor="ctr"/>
                </a:tc>
                <a:extLst>
                  <a:ext uri="{0D108BD9-81ED-4DB2-BD59-A6C34878D82A}">
                    <a16:rowId xmlns:a16="http://schemas.microsoft.com/office/drawing/2014/main" val="1552506955"/>
                  </a:ext>
                </a:extLst>
              </a:tr>
              <a:tr h="231704">
                <a:tc>
                  <a:txBody>
                    <a:bodyPr/>
                    <a:lstStyle/>
                    <a:p>
                      <a:pPr>
                        <a:buNone/>
                      </a:pPr>
                      <a:r>
                        <a:rPr lang="en-US" sz="1000">
                          <a:effectLst/>
                        </a:rPr>
                        <a:t>ZINEDU</a:t>
                      </a:r>
                    </a:p>
                  </a:txBody>
                  <a:tcPr anchor="ctr"/>
                </a:tc>
                <a:tc>
                  <a:txBody>
                    <a:bodyPr/>
                    <a:lstStyle/>
                    <a:p>
                      <a:pPr>
                        <a:buNone/>
                      </a:pPr>
                      <a:r>
                        <a:rPr lang="en-US" sz="1000"/>
                        <a:t>Education Customer</a:t>
                      </a:r>
                    </a:p>
                  </a:txBody>
                  <a:tcPr anchor="ctr"/>
                </a:tc>
                <a:extLst>
                  <a:ext uri="{0D108BD9-81ED-4DB2-BD59-A6C34878D82A}">
                    <a16:rowId xmlns:a16="http://schemas.microsoft.com/office/drawing/2014/main" val="445942528"/>
                  </a:ext>
                </a:extLst>
              </a:tr>
              <a:tr h="231704">
                <a:tc>
                  <a:txBody>
                    <a:bodyPr/>
                    <a:lstStyle/>
                    <a:p>
                      <a:pPr>
                        <a:buNone/>
                      </a:pPr>
                      <a:r>
                        <a:rPr lang="en-US" sz="1000">
                          <a:effectLst/>
                        </a:rPr>
                        <a:t>ZINFNC</a:t>
                      </a:r>
                    </a:p>
                  </a:txBody>
                  <a:tcPr anchor="ctr"/>
                </a:tc>
                <a:tc>
                  <a:txBody>
                    <a:bodyPr/>
                    <a:lstStyle/>
                    <a:p>
                      <a:pPr>
                        <a:buNone/>
                      </a:pPr>
                      <a:r>
                        <a:rPr lang="en-US" sz="1000"/>
                        <a:t>Franchise Customer</a:t>
                      </a:r>
                    </a:p>
                  </a:txBody>
                  <a:tcPr anchor="ctr"/>
                </a:tc>
                <a:extLst>
                  <a:ext uri="{0D108BD9-81ED-4DB2-BD59-A6C34878D82A}">
                    <a16:rowId xmlns:a16="http://schemas.microsoft.com/office/drawing/2014/main" val="3480283302"/>
                  </a:ext>
                </a:extLst>
              </a:tr>
              <a:tr h="231704">
                <a:tc>
                  <a:txBody>
                    <a:bodyPr/>
                    <a:lstStyle/>
                    <a:p>
                      <a:pPr>
                        <a:buNone/>
                      </a:pPr>
                      <a:r>
                        <a:rPr lang="en-US" sz="1000">
                          <a:effectLst/>
                        </a:rPr>
                        <a:t>ZINGOV</a:t>
                      </a:r>
                    </a:p>
                  </a:txBody>
                  <a:tcPr anchor="ctr"/>
                </a:tc>
                <a:tc>
                  <a:txBody>
                    <a:bodyPr/>
                    <a:lstStyle/>
                    <a:p>
                      <a:pPr>
                        <a:buNone/>
                      </a:pPr>
                      <a:r>
                        <a:rPr lang="en-US" sz="1000"/>
                        <a:t>Government Customer</a:t>
                      </a:r>
                    </a:p>
                  </a:txBody>
                  <a:tcPr anchor="ctr"/>
                </a:tc>
                <a:extLst>
                  <a:ext uri="{0D108BD9-81ED-4DB2-BD59-A6C34878D82A}">
                    <a16:rowId xmlns:a16="http://schemas.microsoft.com/office/drawing/2014/main" val="1455112946"/>
                  </a:ext>
                </a:extLst>
              </a:tr>
              <a:tr h="231704">
                <a:tc>
                  <a:txBody>
                    <a:bodyPr/>
                    <a:lstStyle/>
                    <a:p>
                      <a:pPr>
                        <a:buNone/>
                      </a:pPr>
                      <a:r>
                        <a:rPr lang="en-US" sz="1000">
                          <a:effectLst/>
                        </a:rPr>
                        <a:t>ZINHEA</a:t>
                      </a:r>
                    </a:p>
                  </a:txBody>
                  <a:tcPr anchor="ctr"/>
                </a:tc>
                <a:tc>
                  <a:txBody>
                    <a:bodyPr/>
                    <a:lstStyle/>
                    <a:p>
                      <a:pPr>
                        <a:buNone/>
                      </a:pPr>
                      <a:r>
                        <a:rPr lang="en-US" sz="1000"/>
                        <a:t>Healthcare Customer</a:t>
                      </a:r>
                    </a:p>
                  </a:txBody>
                  <a:tcPr anchor="ctr"/>
                </a:tc>
                <a:extLst>
                  <a:ext uri="{0D108BD9-81ED-4DB2-BD59-A6C34878D82A}">
                    <a16:rowId xmlns:a16="http://schemas.microsoft.com/office/drawing/2014/main" val="2760804163"/>
                  </a:ext>
                </a:extLst>
              </a:tr>
              <a:tr h="231704">
                <a:tc>
                  <a:txBody>
                    <a:bodyPr/>
                    <a:lstStyle/>
                    <a:p>
                      <a:pPr>
                        <a:buNone/>
                      </a:pPr>
                      <a:r>
                        <a:rPr lang="en-US" sz="1000">
                          <a:effectLst/>
                        </a:rPr>
                        <a:t>ZINNAT</a:t>
                      </a:r>
                    </a:p>
                  </a:txBody>
                  <a:tcPr anchor="ctr"/>
                </a:tc>
                <a:tc>
                  <a:txBody>
                    <a:bodyPr/>
                    <a:lstStyle/>
                    <a:p>
                      <a:pPr>
                        <a:buNone/>
                      </a:pPr>
                      <a:r>
                        <a:rPr lang="en-US" sz="1000"/>
                        <a:t>National Customer</a:t>
                      </a:r>
                    </a:p>
                  </a:txBody>
                  <a:tcPr anchor="ctr"/>
                </a:tc>
                <a:extLst>
                  <a:ext uri="{0D108BD9-81ED-4DB2-BD59-A6C34878D82A}">
                    <a16:rowId xmlns:a16="http://schemas.microsoft.com/office/drawing/2014/main" val="3596777974"/>
                  </a:ext>
                </a:extLst>
              </a:tr>
              <a:tr h="231704">
                <a:tc>
                  <a:txBody>
                    <a:bodyPr/>
                    <a:lstStyle/>
                    <a:p>
                      <a:pPr>
                        <a:buNone/>
                      </a:pPr>
                      <a:r>
                        <a:rPr lang="en-US" sz="1000">
                          <a:effectLst/>
                        </a:rPr>
                        <a:t>ZINREL</a:t>
                      </a:r>
                    </a:p>
                  </a:txBody>
                  <a:tcPr anchor="ctr"/>
                </a:tc>
                <a:tc>
                  <a:txBody>
                    <a:bodyPr/>
                    <a:lstStyle/>
                    <a:p>
                      <a:pPr>
                        <a:buNone/>
                      </a:pPr>
                      <a:r>
                        <a:rPr lang="en-US" sz="1000"/>
                        <a:t>Religious Customer</a:t>
                      </a:r>
                    </a:p>
                  </a:txBody>
                  <a:tcPr anchor="ctr"/>
                </a:tc>
                <a:extLst>
                  <a:ext uri="{0D108BD9-81ED-4DB2-BD59-A6C34878D82A}">
                    <a16:rowId xmlns:a16="http://schemas.microsoft.com/office/drawing/2014/main" val="4033045851"/>
                  </a:ext>
                </a:extLst>
              </a:tr>
              <a:tr h="231704">
                <a:tc>
                  <a:txBody>
                    <a:bodyPr/>
                    <a:lstStyle/>
                    <a:p>
                      <a:pPr>
                        <a:buNone/>
                      </a:pPr>
                      <a:r>
                        <a:rPr lang="en-US" sz="1000">
                          <a:effectLst/>
                        </a:rPr>
                        <a:t>ZINUTL</a:t>
                      </a:r>
                    </a:p>
                  </a:txBody>
                  <a:tcPr anchor="ctr"/>
                </a:tc>
                <a:tc>
                  <a:txBody>
                    <a:bodyPr/>
                    <a:lstStyle/>
                    <a:p>
                      <a:pPr>
                        <a:buNone/>
                      </a:pPr>
                      <a:r>
                        <a:rPr lang="en-US" sz="1000"/>
                        <a:t>Utility Industry Customer</a:t>
                      </a:r>
                    </a:p>
                  </a:txBody>
                  <a:tcPr anchor="ctr"/>
                </a:tc>
                <a:extLst>
                  <a:ext uri="{0D108BD9-81ED-4DB2-BD59-A6C34878D82A}">
                    <a16:rowId xmlns:a16="http://schemas.microsoft.com/office/drawing/2014/main" val="1810942818"/>
                  </a:ext>
                </a:extLst>
              </a:tr>
              <a:tr h="231704">
                <a:tc>
                  <a:txBody>
                    <a:bodyPr/>
                    <a:lstStyle/>
                    <a:p>
                      <a:pPr>
                        <a:buNone/>
                      </a:pPr>
                      <a:r>
                        <a:rPr lang="en-US" sz="1000">
                          <a:effectLst/>
                        </a:rPr>
                        <a:t>ZLFSPT</a:t>
                      </a:r>
                    </a:p>
                  </a:txBody>
                  <a:tcPr anchor="ctr"/>
                </a:tc>
                <a:tc>
                  <a:txBody>
                    <a:bodyPr/>
                    <a:lstStyle/>
                    <a:p>
                      <a:pPr>
                        <a:buNone/>
                      </a:pPr>
                      <a:r>
                        <a:rPr lang="en-US" sz="1000"/>
                        <a:t>Life Support</a:t>
                      </a:r>
                    </a:p>
                  </a:txBody>
                  <a:tcPr anchor="ctr"/>
                </a:tc>
                <a:extLst>
                  <a:ext uri="{0D108BD9-81ED-4DB2-BD59-A6C34878D82A}">
                    <a16:rowId xmlns:a16="http://schemas.microsoft.com/office/drawing/2014/main" val="3251607221"/>
                  </a:ext>
                </a:extLst>
              </a:tr>
              <a:tr h="231704">
                <a:tc>
                  <a:txBody>
                    <a:bodyPr/>
                    <a:lstStyle/>
                    <a:p>
                      <a:pPr>
                        <a:buNone/>
                      </a:pPr>
                      <a:r>
                        <a:rPr lang="en-US" sz="1000">
                          <a:effectLst/>
                        </a:rPr>
                        <a:t>ZLOWIN</a:t>
                      </a:r>
                    </a:p>
                  </a:txBody>
                  <a:tcPr anchor="ctr"/>
                </a:tc>
                <a:tc>
                  <a:txBody>
                    <a:bodyPr/>
                    <a:lstStyle/>
                    <a:p>
                      <a:pPr>
                        <a:buNone/>
                      </a:pPr>
                      <a:r>
                        <a:rPr lang="en-US" sz="1000"/>
                        <a:t>Low Income Customer</a:t>
                      </a:r>
                    </a:p>
                  </a:txBody>
                  <a:tcPr anchor="ctr"/>
                </a:tc>
                <a:extLst>
                  <a:ext uri="{0D108BD9-81ED-4DB2-BD59-A6C34878D82A}">
                    <a16:rowId xmlns:a16="http://schemas.microsoft.com/office/drawing/2014/main" val="1463686900"/>
                  </a:ext>
                </a:extLst>
              </a:tr>
              <a:tr h="231704">
                <a:tc>
                  <a:txBody>
                    <a:bodyPr/>
                    <a:lstStyle/>
                    <a:p>
                      <a:pPr>
                        <a:buNone/>
                      </a:pPr>
                      <a:r>
                        <a:rPr lang="en-US" sz="1000">
                          <a:effectLst/>
                        </a:rPr>
                        <a:t>ZMEDCL</a:t>
                      </a:r>
                    </a:p>
                  </a:txBody>
                  <a:tcPr anchor="ctr"/>
                </a:tc>
                <a:tc>
                  <a:txBody>
                    <a:bodyPr/>
                    <a:lstStyle/>
                    <a:p>
                      <a:pPr>
                        <a:buNone/>
                      </a:pPr>
                      <a:r>
                        <a:rPr lang="en-US" sz="1000"/>
                        <a:t>Medical Condition</a:t>
                      </a:r>
                    </a:p>
                  </a:txBody>
                  <a:tcPr anchor="ctr"/>
                </a:tc>
                <a:extLst>
                  <a:ext uri="{0D108BD9-81ED-4DB2-BD59-A6C34878D82A}">
                    <a16:rowId xmlns:a16="http://schemas.microsoft.com/office/drawing/2014/main" val="354813292"/>
                  </a:ext>
                </a:extLst>
              </a:tr>
              <a:tr h="231704">
                <a:tc>
                  <a:txBody>
                    <a:bodyPr/>
                    <a:lstStyle/>
                    <a:p>
                      <a:pPr>
                        <a:buNone/>
                      </a:pPr>
                      <a:r>
                        <a:rPr lang="en-US" sz="1000">
                          <a:effectLst/>
                        </a:rPr>
                        <a:t>ZMILID</a:t>
                      </a:r>
                    </a:p>
                  </a:txBody>
                  <a:tcPr anchor="ctr"/>
                </a:tc>
                <a:tc>
                  <a:txBody>
                    <a:bodyPr/>
                    <a:lstStyle/>
                    <a:p>
                      <a:pPr>
                        <a:buNone/>
                      </a:pPr>
                      <a:r>
                        <a:rPr lang="en-US" sz="1000"/>
                        <a:t>Military ID</a:t>
                      </a:r>
                    </a:p>
                  </a:txBody>
                  <a:tcPr anchor="ctr"/>
                </a:tc>
                <a:extLst>
                  <a:ext uri="{0D108BD9-81ED-4DB2-BD59-A6C34878D82A}">
                    <a16:rowId xmlns:a16="http://schemas.microsoft.com/office/drawing/2014/main" val="1010660388"/>
                  </a:ext>
                </a:extLst>
              </a:tr>
              <a:tr h="231704">
                <a:tc>
                  <a:txBody>
                    <a:bodyPr/>
                    <a:lstStyle/>
                    <a:p>
                      <a:pPr>
                        <a:buNone/>
                      </a:pPr>
                      <a:r>
                        <a:rPr lang="en-US" sz="1000">
                          <a:effectLst/>
                        </a:rPr>
                        <a:t>ZMINOR</a:t>
                      </a:r>
                    </a:p>
                  </a:txBody>
                  <a:tcPr anchor="ctr"/>
                </a:tc>
                <a:tc>
                  <a:txBody>
                    <a:bodyPr/>
                    <a:lstStyle/>
                    <a:p>
                      <a:pPr>
                        <a:buNone/>
                      </a:pPr>
                      <a:r>
                        <a:rPr lang="en-US" sz="1000"/>
                        <a:t>Minor</a:t>
                      </a:r>
                    </a:p>
                  </a:txBody>
                  <a:tcPr anchor="ctr"/>
                </a:tc>
                <a:extLst>
                  <a:ext uri="{0D108BD9-81ED-4DB2-BD59-A6C34878D82A}">
                    <a16:rowId xmlns:a16="http://schemas.microsoft.com/office/drawing/2014/main" val="1120486504"/>
                  </a:ext>
                </a:extLst>
              </a:tr>
              <a:tr h="231704">
                <a:tc>
                  <a:txBody>
                    <a:bodyPr/>
                    <a:lstStyle/>
                    <a:p>
                      <a:pPr lvl="0">
                        <a:buNone/>
                      </a:pPr>
                      <a:r>
                        <a:rPr lang="en-US" sz="1000">
                          <a:effectLst/>
                        </a:rPr>
                        <a:t>ZMOFF</a:t>
                      </a:r>
                      <a:endParaRPr lang="en-US" sz="1000"/>
                    </a:p>
                  </a:txBody>
                  <a:tcPr anchor="ctr"/>
                </a:tc>
                <a:tc>
                  <a:txBody>
                    <a:bodyPr/>
                    <a:lstStyle/>
                    <a:p>
                      <a:pPr lvl="0">
                        <a:buNone/>
                      </a:pPr>
                      <a:r>
                        <a:rPr lang="en-US" sz="1000"/>
                        <a:t>MMOP FORMAL SHUTOFF</a:t>
                      </a:r>
                    </a:p>
                  </a:txBody>
                  <a:tcPr anchor="ctr"/>
                </a:tc>
                <a:extLst>
                  <a:ext uri="{0D108BD9-81ED-4DB2-BD59-A6C34878D82A}">
                    <a16:rowId xmlns:a16="http://schemas.microsoft.com/office/drawing/2014/main" val="1042868243"/>
                  </a:ext>
                </a:extLst>
              </a:tr>
            </a:tbl>
          </a:graphicData>
        </a:graphic>
      </p:graphicFrame>
      <p:graphicFrame>
        <p:nvGraphicFramePr>
          <p:cNvPr id="9" name="Table 8">
            <a:extLst>
              <a:ext uri="{FF2B5EF4-FFF2-40B4-BE49-F238E27FC236}">
                <a16:creationId xmlns:a16="http://schemas.microsoft.com/office/drawing/2014/main" id="{254F72F1-B945-BB7F-2562-52DFC344F5BF}"/>
              </a:ext>
            </a:extLst>
          </p:cNvPr>
          <p:cNvGraphicFramePr>
            <a:graphicFrameLocks noGrp="1"/>
          </p:cNvGraphicFramePr>
          <p:nvPr>
            <p:extLst>
              <p:ext uri="{D42A27DB-BD31-4B8C-83A1-F6EECF244321}">
                <p14:modId xmlns:p14="http://schemas.microsoft.com/office/powerpoint/2010/main" val="1184268639"/>
              </p:ext>
            </p:extLst>
          </p:nvPr>
        </p:nvGraphicFramePr>
        <p:xfrm>
          <a:off x="8194763" y="27075"/>
          <a:ext cx="3789552" cy="6827520"/>
        </p:xfrm>
        <a:graphic>
          <a:graphicData uri="http://schemas.openxmlformats.org/drawingml/2006/table">
            <a:tbl>
              <a:tblPr bandRow="1">
                <a:tableStyleId>{6E25E649-3F16-4E02-A733-19D2CDBF48F0}</a:tableStyleId>
              </a:tblPr>
              <a:tblGrid>
                <a:gridCol w="1009309">
                  <a:extLst>
                    <a:ext uri="{9D8B030D-6E8A-4147-A177-3AD203B41FA5}">
                      <a16:colId xmlns:a16="http://schemas.microsoft.com/office/drawing/2014/main" val="2348846701"/>
                    </a:ext>
                  </a:extLst>
                </a:gridCol>
                <a:gridCol w="2780243">
                  <a:extLst>
                    <a:ext uri="{9D8B030D-6E8A-4147-A177-3AD203B41FA5}">
                      <a16:colId xmlns:a16="http://schemas.microsoft.com/office/drawing/2014/main" val="371716989"/>
                    </a:ext>
                  </a:extLst>
                </a:gridCol>
              </a:tblGrid>
              <a:tr h="192836">
                <a:tc>
                  <a:txBody>
                    <a:bodyPr/>
                    <a:lstStyle/>
                    <a:p>
                      <a:pPr>
                        <a:buNone/>
                      </a:pPr>
                      <a:r>
                        <a:rPr lang="en-US" sz="1000">
                          <a:effectLst/>
                        </a:rPr>
                        <a:t>ZNETME</a:t>
                      </a:r>
                    </a:p>
                  </a:txBody>
                  <a:tcPr anchor="ctr"/>
                </a:tc>
                <a:tc>
                  <a:txBody>
                    <a:bodyPr/>
                    <a:lstStyle/>
                    <a:p>
                      <a:pPr>
                        <a:buNone/>
                      </a:pPr>
                      <a:r>
                        <a:rPr lang="en-US" sz="1000"/>
                        <a:t>Net Metering</a:t>
                      </a:r>
                    </a:p>
                  </a:txBody>
                  <a:tcPr anchor="ctr"/>
                </a:tc>
                <a:extLst>
                  <a:ext uri="{0D108BD9-81ED-4DB2-BD59-A6C34878D82A}">
                    <a16:rowId xmlns:a16="http://schemas.microsoft.com/office/drawing/2014/main" val="3017103625"/>
                  </a:ext>
                </a:extLst>
              </a:tr>
              <a:tr h="192836">
                <a:tc>
                  <a:txBody>
                    <a:bodyPr/>
                    <a:lstStyle/>
                    <a:p>
                      <a:pPr>
                        <a:buNone/>
                      </a:pPr>
                      <a:r>
                        <a:rPr lang="en-US" sz="1000">
                          <a:effectLst/>
                        </a:rPr>
                        <a:t>ZNMRBD</a:t>
                      </a:r>
                    </a:p>
                  </a:txBody>
                  <a:tcPr anchor="ctr"/>
                </a:tc>
                <a:tc>
                  <a:txBody>
                    <a:bodyPr/>
                    <a:lstStyle/>
                    <a:p>
                      <a:pPr>
                        <a:buNone/>
                      </a:pPr>
                      <a:r>
                        <a:rPr lang="en-US" sz="1000"/>
                        <a:t>Numerous Bad Debt</a:t>
                      </a:r>
                    </a:p>
                  </a:txBody>
                  <a:tcPr anchor="ctr"/>
                </a:tc>
                <a:extLst>
                  <a:ext uri="{0D108BD9-81ED-4DB2-BD59-A6C34878D82A}">
                    <a16:rowId xmlns:a16="http://schemas.microsoft.com/office/drawing/2014/main" val="4011143179"/>
                  </a:ext>
                </a:extLst>
              </a:tr>
              <a:tr h="192836">
                <a:tc>
                  <a:txBody>
                    <a:bodyPr/>
                    <a:lstStyle/>
                    <a:p>
                      <a:pPr>
                        <a:buNone/>
                      </a:pPr>
                      <a:r>
                        <a:rPr lang="en-US" sz="1000">
                          <a:effectLst/>
                        </a:rPr>
                        <a:t>ZNOCHK</a:t>
                      </a:r>
                    </a:p>
                  </a:txBody>
                  <a:tcPr anchor="ctr"/>
                </a:tc>
                <a:tc>
                  <a:txBody>
                    <a:bodyPr/>
                    <a:lstStyle/>
                    <a:p>
                      <a:pPr>
                        <a:buNone/>
                      </a:pPr>
                      <a:r>
                        <a:rPr lang="en-US" sz="1000"/>
                        <a:t>No Checks Accepted</a:t>
                      </a:r>
                    </a:p>
                  </a:txBody>
                  <a:tcPr anchor="ctr"/>
                </a:tc>
                <a:extLst>
                  <a:ext uri="{0D108BD9-81ED-4DB2-BD59-A6C34878D82A}">
                    <a16:rowId xmlns:a16="http://schemas.microsoft.com/office/drawing/2014/main" val="377711017"/>
                  </a:ext>
                </a:extLst>
              </a:tr>
              <a:tr h="192836">
                <a:tc>
                  <a:txBody>
                    <a:bodyPr/>
                    <a:lstStyle/>
                    <a:p>
                      <a:pPr>
                        <a:buNone/>
                      </a:pPr>
                      <a:r>
                        <a:rPr lang="en-US" sz="1000">
                          <a:effectLst/>
                        </a:rPr>
                        <a:t>ZNOCRD</a:t>
                      </a:r>
                    </a:p>
                  </a:txBody>
                  <a:tcPr anchor="ctr"/>
                </a:tc>
                <a:tc>
                  <a:txBody>
                    <a:bodyPr/>
                    <a:lstStyle/>
                    <a:p>
                      <a:pPr>
                        <a:buNone/>
                      </a:pPr>
                      <a:r>
                        <a:rPr lang="en-US" sz="1000"/>
                        <a:t>No Payment Cards Accepted</a:t>
                      </a:r>
                    </a:p>
                  </a:txBody>
                  <a:tcPr anchor="ctr"/>
                </a:tc>
                <a:extLst>
                  <a:ext uri="{0D108BD9-81ED-4DB2-BD59-A6C34878D82A}">
                    <a16:rowId xmlns:a16="http://schemas.microsoft.com/office/drawing/2014/main" val="3358199575"/>
                  </a:ext>
                </a:extLst>
              </a:tr>
              <a:tr h="238748">
                <a:tc>
                  <a:txBody>
                    <a:bodyPr/>
                    <a:lstStyle/>
                    <a:p>
                      <a:pPr>
                        <a:buNone/>
                      </a:pPr>
                      <a:r>
                        <a:rPr lang="en-US" sz="1000">
                          <a:effectLst/>
                        </a:rPr>
                        <a:t>ZPEND</a:t>
                      </a:r>
                    </a:p>
                  </a:txBody>
                  <a:tcPr anchor="ctr"/>
                </a:tc>
                <a:tc>
                  <a:txBody>
                    <a:bodyPr/>
                    <a:lstStyle/>
                    <a:p>
                      <a:pPr>
                        <a:buNone/>
                      </a:pPr>
                      <a:r>
                        <a:rPr lang="en-US" sz="1000"/>
                        <a:t>Pending Theft/</a:t>
                      </a:r>
                      <a:r>
                        <a:rPr lang="en-US" sz="1000" err="1"/>
                        <a:t>Fruad</a:t>
                      </a:r>
                      <a:r>
                        <a:rPr lang="en-US" sz="1000"/>
                        <a:t>/TOV Investigation</a:t>
                      </a:r>
                    </a:p>
                  </a:txBody>
                  <a:tcPr anchor="ctr"/>
                </a:tc>
                <a:extLst>
                  <a:ext uri="{0D108BD9-81ED-4DB2-BD59-A6C34878D82A}">
                    <a16:rowId xmlns:a16="http://schemas.microsoft.com/office/drawing/2014/main" val="1811412532"/>
                  </a:ext>
                </a:extLst>
              </a:tr>
              <a:tr h="192836">
                <a:tc>
                  <a:txBody>
                    <a:bodyPr/>
                    <a:lstStyle/>
                    <a:p>
                      <a:pPr>
                        <a:buNone/>
                      </a:pPr>
                      <a:r>
                        <a:rPr lang="en-US" sz="1000">
                          <a:effectLst/>
                        </a:rPr>
                        <a:t>ZPRTMR</a:t>
                      </a:r>
                    </a:p>
                  </a:txBody>
                  <a:tcPr anchor="ctr"/>
                </a:tc>
                <a:tc>
                  <a:txBody>
                    <a:bodyPr/>
                    <a:lstStyle/>
                    <a:p>
                      <a:pPr>
                        <a:buNone/>
                      </a:pPr>
                      <a:r>
                        <a:rPr lang="en-US" sz="1000" err="1"/>
                        <a:t>Primetimers</a:t>
                      </a:r>
                      <a:r>
                        <a:rPr lang="en-US" sz="1000"/>
                        <a:t> Club</a:t>
                      </a:r>
                    </a:p>
                  </a:txBody>
                  <a:tcPr anchor="ctr"/>
                </a:tc>
                <a:extLst>
                  <a:ext uri="{0D108BD9-81ED-4DB2-BD59-A6C34878D82A}">
                    <a16:rowId xmlns:a16="http://schemas.microsoft.com/office/drawing/2014/main" val="1327695589"/>
                  </a:ext>
                </a:extLst>
              </a:tr>
              <a:tr h="192836">
                <a:tc>
                  <a:txBody>
                    <a:bodyPr/>
                    <a:lstStyle/>
                    <a:p>
                      <a:pPr>
                        <a:buNone/>
                      </a:pPr>
                      <a:r>
                        <a:rPr lang="en-US" sz="1000">
                          <a:effectLst/>
                        </a:rPr>
                        <a:t>ZPSSPT</a:t>
                      </a:r>
                    </a:p>
                  </a:txBody>
                  <a:tcPr anchor="ctr"/>
                </a:tc>
                <a:tc>
                  <a:txBody>
                    <a:bodyPr/>
                    <a:lstStyle/>
                    <a:p>
                      <a:pPr>
                        <a:buNone/>
                      </a:pPr>
                      <a:r>
                        <a:rPr lang="en-US" sz="1000"/>
                        <a:t>Passport</a:t>
                      </a:r>
                    </a:p>
                  </a:txBody>
                  <a:tcPr anchor="ctr"/>
                </a:tc>
                <a:extLst>
                  <a:ext uri="{0D108BD9-81ED-4DB2-BD59-A6C34878D82A}">
                    <a16:rowId xmlns:a16="http://schemas.microsoft.com/office/drawing/2014/main" val="2153781129"/>
                  </a:ext>
                </a:extLst>
              </a:tr>
              <a:tr h="192836">
                <a:tc>
                  <a:txBody>
                    <a:bodyPr/>
                    <a:lstStyle/>
                    <a:p>
                      <a:pPr>
                        <a:buNone/>
                      </a:pPr>
                      <a:r>
                        <a:rPr lang="en-US" sz="1000">
                          <a:effectLst/>
                        </a:rPr>
                        <a:t>ZPWD</a:t>
                      </a:r>
                    </a:p>
                  </a:txBody>
                  <a:tcPr anchor="ctr"/>
                </a:tc>
                <a:tc>
                  <a:txBody>
                    <a:bodyPr/>
                    <a:lstStyle/>
                    <a:p>
                      <a:pPr>
                        <a:buNone/>
                      </a:pPr>
                      <a:r>
                        <a:rPr lang="en-US" sz="1000"/>
                        <a:t>Password</a:t>
                      </a:r>
                    </a:p>
                  </a:txBody>
                  <a:tcPr anchor="ctr"/>
                </a:tc>
                <a:extLst>
                  <a:ext uri="{0D108BD9-81ED-4DB2-BD59-A6C34878D82A}">
                    <a16:rowId xmlns:a16="http://schemas.microsoft.com/office/drawing/2014/main" val="2065925198"/>
                  </a:ext>
                </a:extLst>
              </a:tr>
              <a:tr h="192836">
                <a:tc>
                  <a:txBody>
                    <a:bodyPr/>
                    <a:lstStyle/>
                    <a:p>
                      <a:pPr>
                        <a:buNone/>
                      </a:pPr>
                      <a:r>
                        <a:rPr lang="en-US" sz="1000">
                          <a:effectLst/>
                        </a:rPr>
                        <a:t>ZREFID</a:t>
                      </a:r>
                    </a:p>
                  </a:txBody>
                  <a:tcPr anchor="ctr"/>
                </a:tc>
                <a:tc>
                  <a:txBody>
                    <a:bodyPr/>
                    <a:lstStyle/>
                    <a:p>
                      <a:pPr>
                        <a:buNone/>
                      </a:pPr>
                      <a:r>
                        <a:rPr lang="en-US" sz="1000"/>
                        <a:t>Refuses to Provide ID</a:t>
                      </a:r>
                    </a:p>
                  </a:txBody>
                  <a:tcPr anchor="ctr"/>
                </a:tc>
                <a:extLst>
                  <a:ext uri="{0D108BD9-81ED-4DB2-BD59-A6C34878D82A}">
                    <a16:rowId xmlns:a16="http://schemas.microsoft.com/office/drawing/2014/main" val="353515833"/>
                  </a:ext>
                </a:extLst>
              </a:tr>
              <a:tr h="192836">
                <a:tc>
                  <a:txBody>
                    <a:bodyPr/>
                    <a:lstStyle/>
                    <a:p>
                      <a:pPr>
                        <a:buNone/>
                      </a:pPr>
                      <a:r>
                        <a:rPr lang="en-US" sz="1000">
                          <a:effectLst/>
                        </a:rPr>
                        <a:t>ZSEGB</a:t>
                      </a:r>
                    </a:p>
                  </a:txBody>
                  <a:tcPr anchor="ctr"/>
                </a:tc>
                <a:tc>
                  <a:txBody>
                    <a:bodyPr/>
                    <a:lstStyle/>
                    <a:p>
                      <a:pPr>
                        <a:buNone/>
                      </a:pPr>
                      <a:r>
                        <a:rPr lang="en-US" sz="1000"/>
                        <a:t>B</a:t>
                      </a:r>
                    </a:p>
                  </a:txBody>
                  <a:tcPr anchor="ctr"/>
                </a:tc>
                <a:extLst>
                  <a:ext uri="{0D108BD9-81ED-4DB2-BD59-A6C34878D82A}">
                    <a16:rowId xmlns:a16="http://schemas.microsoft.com/office/drawing/2014/main" val="1493852825"/>
                  </a:ext>
                </a:extLst>
              </a:tr>
              <a:tr h="192836">
                <a:tc>
                  <a:txBody>
                    <a:bodyPr/>
                    <a:lstStyle/>
                    <a:p>
                      <a:pPr>
                        <a:buNone/>
                      </a:pPr>
                      <a:r>
                        <a:rPr lang="en-US" sz="1000">
                          <a:effectLst/>
                        </a:rPr>
                        <a:t>ZSEGB+</a:t>
                      </a:r>
                    </a:p>
                  </a:txBody>
                  <a:tcPr anchor="ctr"/>
                </a:tc>
                <a:tc>
                  <a:txBody>
                    <a:bodyPr/>
                    <a:lstStyle/>
                    <a:p>
                      <a:pPr>
                        <a:buNone/>
                      </a:pPr>
                      <a:r>
                        <a:rPr lang="en-US" sz="1000"/>
                        <a:t>B+</a:t>
                      </a:r>
                    </a:p>
                  </a:txBody>
                  <a:tcPr anchor="ctr"/>
                </a:tc>
                <a:extLst>
                  <a:ext uri="{0D108BD9-81ED-4DB2-BD59-A6C34878D82A}">
                    <a16:rowId xmlns:a16="http://schemas.microsoft.com/office/drawing/2014/main" val="1651756739"/>
                  </a:ext>
                </a:extLst>
              </a:tr>
              <a:tr h="192836">
                <a:tc>
                  <a:txBody>
                    <a:bodyPr/>
                    <a:lstStyle/>
                    <a:p>
                      <a:pPr>
                        <a:buNone/>
                      </a:pPr>
                      <a:r>
                        <a:rPr lang="en-US" sz="1000">
                          <a:effectLst/>
                        </a:rPr>
                        <a:t>ZSEGP</a:t>
                      </a:r>
                    </a:p>
                  </a:txBody>
                  <a:tcPr anchor="ctr"/>
                </a:tc>
                <a:tc>
                  <a:txBody>
                    <a:bodyPr/>
                    <a:lstStyle/>
                    <a:p>
                      <a:pPr>
                        <a:buNone/>
                      </a:pPr>
                      <a:r>
                        <a:rPr lang="en-US" sz="1000"/>
                        <a:t>P</a:t>
                      </a:r>
                    </a:p>
                  </a:txBody>
                  <a:tcPr anchor="ctr"/>
                </a:tc>
                <a:extLst>
                  <a:ext uri="{0D108BD9-81ED-4DB2-BD59-A6C34878D82A}">
                    <a16:rowId xmlns:a16="http://schemas.microsoft.com/office/drawing/2014/main" val="468440395"/>
                  </a:ext>
                </a:extLst>
              </a:tr>
              <a:tr h="192836">
                <a:tc>
                  <a:txBody>
                    <a:bodyPr/>
                    <a:lstStyle/>
                    <a:p>
                      <a:pPr>
                        <a:buNone/>
                      </a:pPr>
                      <a:r>
                        <a:rPr lang="en-US" sz="1000">
                          <a:effectLst/>
                        </a:rPr>
                        <a:t>ZSEGP+</a:t>
                      </a:r>
                    </a:p>
                  </a:txBody>
                  <a:tcPr anchor="ctr"/>
                </a:tc>
                <a:tc>
                  <a:txBody>
                    <a:bodyPr/>
                    <a:lstStyle/>
                    <a:p>
                      <a:pPr>
                        <a:buNone/>
                      </a:pPr>
                      <a:r>
                        <a:rPr lang="en-US" sz="1000"/>
                        <a:t>P+</a:t>
                      </a:r>
                    </a:p>
                  </a:txBody>
                  <a:tcPr anchor="ctr"/>
                </a:tc>
                <a:extLst>
                  <a:ext uri="{0D108BD9-81ED-4DB2-BD59-A6C34878D82A}">
                    <a16:rowId xmlns:a16="http://schemas.microsoft.com/office/drawing/2014/main" val="1588150696"/>
                  </a:ext>
                </a:extLst>
              </a:tr>
              <a:tr h="192836">
                <a:tc>
                  <a:txBody>
                    <a:bodyPr/>
                    <a:lstStyle/>
                    <a:p>
                      <a:pPr>
                        <a:buNone/>
                      </a:pPr>
                      <a:r>
                        <a:rPr lang="en-US" sz="1000">
                          <a:effectLst/>
                        </a:rPr>
                        <a:t>ZSEGPL</a:t>
                      </a:r>
                    </a:p>
                  </a:txBody>
                  <a:tcPr anchor="ctr"/>
                </a:tc>
                <a:tc>
                  <a:txBody>
                    <a:bodyPr/>
                    <a:lstStyle/>
                    <a:p>
                      <a:pPr>
                        <a:buNone/>
                      </a:pPr>
                      <a:r>
                        <a:rPr lang="en-US" sz="1000"/>
                        <a:t>PL</a:t>
                      </a:r>
                    </a:p>
                  </a:txBody>
                  <a:tcPr anchor="ctr"/>
                </a:tc>
                <a:extLst>
                  <a:ext uri="{0D108BD9-81ED-4DB2-BD59-A6C34878D82A}">
                    <a16:rowId xmlns:a16="http://schemas.microsoft.com/office/drawing/2014/main" val="2053798469"/>
                  </a:ext>
                </a:extLst>
              </a:tr>
              <a:tr h="192836">
                <a:tc>
                  <a:txBody>
                    <a:bodyPr/>
                    <a:lstStyle/>
                    <a:p>
                      <a:pPr>
                        <a:buNone/>
                      </a:pPr>
                      <a:r>
                        <a:rPr lang="en-US" sz="1000">
                          <a:effectLst/>
                        </a:rPr>
                        <a:t>ZSELFH</a:t>
                      </a:r>
                    </a:p>
                  </a:txBody>
                  <a:tcPr anchor="ctr"/>
                </a:tc>
                <a:tc>
                  <a:txBody>
                    <a:bodyPr/>
                    <a:lstStyle/>
                    <a:p>
                      <a:pPr>
                        <a:buNone/>
                      </a:pPr>
                      <a:r>
                        <a:rPr lang="en-US" sz="1000"/>
                        <a:t>High Income Range</a:t>
                      </a:r>
                    </a:p>
                  </a:txBody>
                  <a:tcPr anchor="ctr"/>
                </a:tc>
                <a:extLst>
                  <a:ext uri="{0D108BD9-81ED-4DB2-BD59-A6C34878D82A}">
                    <a16:rowId xmlns:a16="http://schemas.microsoft.com/office/drawing/2014/main" val="401592883"/>
                  </a:ext>
                </a:extLst>
              </a:tr>
              <a:tr h="192836">
                <a:tc>
                  <a:txBody>
                    <a:bodyPr/>
                    <a:lstStyle/>
                    <a:p>
                      <a:pPr>
                        <a:buNone/>
                      </a:pPr>
                      <a:r>
                        <a:rPr lang="en-US" sz="1000">
                          <a:effectLst/>
                        </a:rPr>
                        <a:t>ZSELFL</a:t>
                      </a:r>
                    </a:p>
                  </a:txBody>
                  <a:tcPr anchor="ctr"/>
                </a:tc>
                <a:tc>
                  <a:txBody>
                    <a:bodyPr/>
                    <a:lstStyle/>
                    <a:p>
                      <a:pPr>
                        <a:buNone/>
                      </a:pPr>
                      <a:r>
                        <a:rPr lang="en-US" sz="1000"/>
                        <a:t>Low Income Range</a:t>
                      </a:r>
                    </a:p>
                  </a:txBody>
                  <a:tcPr anchor="ctr"/>
                </a:tc>
                <a:extLst>
                  <a:ext uri="{0D108BD9-81ED-4DB2-BD59-A6C34878D82A}">
                    <a16:rowId xmlns:a16="http://schemas.microsoft.com/office/drawing/2014/main" val="1508363873"/>
                  </a:ext>
                </a:extLst>
              </a:tr>
              <a:tr h="192836">
                <a:tc>
                  <a:txBody>
                    <a:bodyPr/>
                    <a:lstStyle/>
                    <a:p>
                      <a:pPr>
                        <a:buNone/>
                      </a:pPr>
                      <a:r>
                        <a:rPr lang="en-US" sz="1000">
                          <a:effectLst/>
                        </a:rPr>
                        <a:t>ZSELFM</a:t>
                      </a:r>
                    </a:p>
                  </a:txBody>
                  <a:tcPr anchor="ctr"/>
                </a:tc>
                <a:tc>
                  <a:txBody>
                    <a:bodyPr/>
                    <a:lstStyle/>
                    <a:p>
                      <a:pPr>
                        <a:buNone/>
                      </a:pPr>
                      <a:r>
                        <a:rPr lang="en-US" sz="1000"/>
                        <a:t>Medium Income Range</a:t>
                      </a:r>
                    </a:p>
                  </a:txBody>
                  <a:tcPr anchor="ctr"/>
                </a:tc>
                <a:extLst>
                  <a:ext uri="{0D108BD9-81ED-4DB2-BD59-A6C34878D82A}">
                    <a16:rowId xmlns:a16="http://schemas.microsoft.com/office/drawing/2014/main" val="2096953792"/>
                  </a:ext>
                </a:extLst>
              </a:tr>
              <a:tr h="192836">
                <a:tc>
                  <a:txBody>
                    <a:bodyPr/>
                    <a:lstStyle/>
                    <a:p>
                      <a:pPr>
                        <a:buNone/>
                      </a:pPr>
                      <a:r>
                        <a:rPr lang="en-US" sz="1000">
                          <a:effectLst/>
                        </a:rPr>
                        <a:t>ZSOLAR</a:t>
                      </a:r>
                    </a:p>
                  </a:txBody>
                  <a:tcPr anchor="ctr"/>
                </a:tc>
                <a:tc>
                  <a:txBody>
                    <a:bodyPr/>
                    <a:lstStyle/>
                    <a:p>
                      <a:pPr>
                        <a:buNone/>
                      </a:pPr>
                      <a:r>
                        <a:rPr lang="en-US" sz="1000"/>
                        <a:t>Solar Garden Customer</a:t>
                      </a:r>
                    </a:p>
                  </a:txBody>
                  <a:tcPr anchor="ctr"/>
                </a:tc>
                <a:extLst>
                  <a:ext uri="{0D108BD9-81ED-4DB2-BD59-A6C34878D82A}">
                    <a16:rowId xmlns:a16="http://schemas.microsoft.com/office/drawing/2014/main" val="868373840"/>
                  </a:ext>
                </a:extLst>
              </a:tr>
              <a:tr h="192836">
                <a:tc>
                  <a:txBody>
                    <a:bodyPr/>
                    <a:lstStyle/>
                    <a:p>
                      <a:pPr>
                        <a:buNone/>
                      </a:pPr>
                      <a:r>
                        <a:rPr lang="en-US" sz="1000">
                          <a:effectLst/>
                        </a:rPr>
                        <a:t>ZSTID</a:t>
                      </a:r>
                    </a:p>
                  </a:txBody>
                  <a:tcPr anchor="ctr"/>
                </a:tc>
                <a:tc>
                  <a:txBody>
                    <a:bodyPr/>
                    <a:lstStyle/>
                    <a:p>
                      <a:pPr>
                        <a:buNone/>
                      </a:pPr>
                      <a:r>
                        <a:rPr lang="en-US" sz="1000"/>
                        <a:t>State ID - MI</a:t>
                      </a:r>
                    </a:p>
                  </a:txBody>
                  <a:tcPr anchor="ctr"/>
                </a:tc>
                <a:extLst>
                  <a:ext uri="{0D108BD9-81ED-4DB2-BD59-A6C34878D82A}">
                    <a16:rowId xmlns:a16="http://schemas.microsoft.com/office/drawing/2014/main" val="1173330106"/>
                  </a:ext>
                </a:extLst>
              </a:tr>
              <a:tr h="192836">
                <a:tc>
                  <a:txBody>
                    <a:bodyPr/>
                    <a:lstStyle/>
                    <a:p>
                      <a:pPr>
                        <a:buNone/>
                      </a:pPr>
                      <a:r>
                        <a:rPr lang="en-US" sz="1000">
                          <a:effectLst/>
                        </a:rPr>
                        <a:t>ZSTIDO</a:t>
                      </a:r>
                    </a:p>
                  </a:txBody>
                  <a:tcPr anchor="ctr"/>
                </a:tc>
                <a:tc>
                  <a:txBody>
                    <a:bodyPr/>
                    <a:lstStyle/>
                    <a:p>
                      <a:pPr>
                        <a:buNone/>
                      </a:pPr>
                      <a:r>
                        <a:rPr lang="en-US" sz="1000"/>
                        <a:t>State ID - Other</a:t>
                      </a:r>
                    </a:p>
                  </a:txBody>
                  <a:tcPr anchor="ctr"/>
                </a:tc>
                <a:extLst>
                  <a:ext uri="{0D108BD9-81ED-4DB2-BD59-A6C34878D82A}">
                    <a16:rowId xmlns:a16="http://schemas.microsoft.com/office/drawing/2014/main" val="4001109349"/>
                  </a:ext>
                </a:extLst>
              </a:tr>
              <a:tr h="192836">
                <a:tc>
                  <a:txBody>
                    <a:bodyPr/>
                    <a:lstStyle/>
                    <a:p>
                      <a:pPr>
                        <a:buNone/>
                      </a:pPr>
                      <a:r>
                        <a:rPr lang="en-US" sz="1000">
                          <a:effectLst/>
                        </a:rPr>
                        <a:t>ZTAXEX</a:t>
                      </a:r>
                    </a:p>
                  </a:txBody>
                  <a:tcPr anchor="ctr"/>
                </a:tc>
                <a:tc>
                  <a:txBody>
                    <a:bodyPr/>
                    <a:lstStyle/>
                    <a:p>
                      <a:pPr>
                        <a:buNone/>
                      </a:pPr>
                      <a:r>
                        <a:rPr lang="en-US" sz="1000"/>
                        <a:t>Tax Exemption Indicator</a:t>
                      </a:r>
                    </a:p>
                  </a:txBody>
                  <a:tcPr anchor="ctr"/>
                </a:tc>
                <a:extLst>
                  <a:ext uri="{0D108BD9-81ED-4DB2-BD59-A6C34878D82A}">
                    <a16:rowId xmlns:a16="http://schemas.microsoft.com/office/drawing/2014/main" val="1447425164"/>
                  </a:ext>
                </a:extLst>
              </a:tr>
              <a:tr h="192836">
                <a:tc>
                  <a:txBody>
                    <a:bodyPr/>
                    <a:lstStyle/>
                    <a:p>
                      <a:pPr>
                        <a:buNone/>
                      </a:pPr>
                      <a:r>
                        <a:rPr lang="en-US" sz="1000">
                          <a:effectLst/>
                        </a:rPr>
                        <a:t>ZTDD</a:t>
                      </a:r>
                    </a:p>
                  </a:txBody>
                  <a:tcPr anchor="ctr"/>
                </a:tc>
                <a:tc>
                  <a:txBody>
                    <a:bodyPr/>
                    <a:lstStyle/>
                    <a:p>
                      <a:pPr>
                        <a:buNone/>
                      </a:pPr>
                      <a:r>
                        <a:rPr lang="en-US" sz="1000"/>
                        <a:t>Hearing Impaired-TDD</a:t>
                      </a:r>
                    </a:p>
                  </a:txBody>
                  <a:tcPr anchor="ctr"/>
                </a:tc>
                <a:extLst>
                  <a:ext uri="{0D108BD9-81ED-4DB2-BD59-A6C34878D82A}">
                    <a16:rowId xmlns:a16="http://schemas.microsoft.com/office/drawing/2014/main" val="101528761"/>
                  </a:ext>
                </a:extLst>
              </a:tr>
              <a:tr h="192836">
                <a:tc>
                  <a:txBody>
                    <a:bodyPr/>
                    <a:lstStyle/>
                    <a:p>
                      <a:pPr>
                        <a:buNone/>
                      </a:pPr>
                      <a:r>
                        <a:rPr lang="en-US" sz="1000">
                          <a:effectLst/>
                        </a:rPr>
                        <a:t>ZTHEFT</a:t>
                      </a:r>
                    </a:p>
                  </a:txBody>
                  <a:tcPr anchor="ctr"/>
                </a:tc>
                <a:tc>
                  <a:txBody>
                    <a:bodyPr/>
                    <a:lstStyle/>
                    <a:p>
                      <a:pPr>
                        <a:buNone/>
                      </a:pPr>
                      <a:r>
                        <a:rPr lang="en-US" sz="1000"/>
                        <a:t>Theft</a:t>
                      </a:r>
                    </a:p>
                  </a:txBody>
                  <a:tcPr anchor="ctr"/>
                </a:tc>
                <a:extLst>
                  <a:ext uri="{0D108BD9-81ED-4DB2-BD59-A6C34878D82A}">
                    <a16:rowId xmlns:a16="http://schemas.microsoft.com/office/drawing/2014/main" val="996916344"/>
                  </a:ext>
                </a:extLst>
              </a:tr>
              <a:tr h="192836">
                <a:tc>
                  <a:txBody>
                    <a:bodyPr/>
                    <a:lstStyle/>
                    <a:p>
                      <a:pPr>
                        <a:buNone/>
                      </a:pPr>
                      <a:r>
                        <a:rPr lang="en-US" sz="1000">
                          <a:effectLst/>
                        </a:rPr>
                        <a:t>ZTHRT</a:t>
                      </a:r>
                    </a:p>
                  </a:txBody>
                  <a:tcPr anchor="ctr"/>
                </a:tc>
                <a:tc>
                  <a:txBody>
                    <a:bodyPr/>
                    <a:lstStyle/>
                    <a:p>
                      <a:pPr>
                        <a:buNone/>
                      </a:pPr>
                      <a:r>
                        <a:rPr lang="en-US" sz="1000"/>
                        <a:t>Threat of Violence</a:t>
                      </a:r>
                    </a:p>
                  </a:txBody>
                  <a:tcPr anchor="ctr"/>
                </a:tc>
                <a:extLst>
                  <a:ext uri="{0D108BD9-81ED-4DB2-BD59-A6C34878D82A}">
                    <a16:rowId xmlns:a16="http://schemas.microsoft.com/office/drawing/2014/main" val="3428502082"/>
                  </a:ext>
                </a:extLst>
              </a:tr>
              <a:tr h="192836">
                <a:tc>
                  <a:txBody>
                    <a:bodyPr/>
                    <a:lstStyle/>
                    <a:p>
                      <a:pPr>
                        <a:buNone/>
                      </a:pPr>
                      <a:r>
                        <a:rPr lang="en-US" sz="1000">
                          <a:effectLst/>
                        </a:rPr>
                        <a:t>ZTHRTA</a:t>
                      </a:r>
                    </a:p>
                  </a:txBody>
                  <a:tcPr anchor="ctr"/>
                </a:tc>
                <a:tc>
                  <a:txBody>
                    <a:bodyPr/>
                    <a:lstStyle/>
                    <a:p>
                      <a:pPr>
                        <a:buNone/>
                      </a:pPr>
                      <a:r>
                        <a:rPr lang="en-US" sz="1000"/>
                        <a:t>Aggressive Behavior</a:t>
                      </a:r>
                    </a:p>
                  </a:txBody>
                  <a:tcPr anchor="ctr"/>
                </a:tc>
                <a:extLst>
                  <a:ext uri="{0D108BD9-81ED-4DB2-BD59-A6C34878D82A}">
                    <a16:rowId xmlns:a16="http://schemas.microsoft.com/office/drawing/2014/main" val="601447877"/>
                  </a:ext>
                </a:extLst>
              </a:tr>
              <a:tr h="192836">
                <a:tc>
                  <a:txBody>
                    <a:bodyPr/>
                    <a:lstStyle/>
                    <a:p>
                      <a:pPr>
                        <a:buNone/>
                      </a:pPr>
                      <a:r>
                        <a:rPr lang="en-US" sz="1000">
                          <a:effectLst/>
                        </a:rPr>
                        <a:t>ZTHRTD</a:t>
                      </a:r>
                    </a:p>
                  </a:txBody>
                  <a:tcPr anchor="ctr"/>
                </a:tc>
                <a:tc>
                  <a:txBody>
                    <a:bodyPr/>
                    <a:lstStyle/>
                    <a:p>
                      <a:pPr>
                        <a:buNone/>
                      </a:pPr>
                      <a:r>
                        <a:rPr lang="en-US" sz="1000"/>
                        <a:t>Threat of Violence - Dog</a:t>
                      </a:r>
                    </a:p>
                  </a:txBody>
                  <a:tcPr anchor="ctr"/>
                </a:tc>
                <a:extLst>
                  <a:ext uri="{0D108BD9-81ED-4DB2-BD59-A6C34878D82A}">
                    <a16:rowId xmlns:a16="http://schemas.microsoft.com/office/drawing/2014/main" val="2911654780"/>
                  </a:ext>
                </a:extLst>
              </a:tr>
              <a:tr h="192836">
                <a:tc>
                  <a:txBody>
                    <a:bodyPr/>
                    <a:lstStyle/>
                    <a:p>
                      <a:pPr>
                        <a:buNone/>
                      </a:pPr>
                      <a:r>
                        <a:rPr lang="en-US" sz="1000">
                          <a:effectLst/>
                        </a:rPr>
                        <a:t>ZTHRTP</a:t>
                      </a:r>
                    </a:p>
                  </a:txBody>
                  <a:tcPr anchor="ctr"/>
                </a:tc>
                <a:tc>
                  <a:txBody>
                    <a:bodyPr/>
                    <a:lstStyle/>
                    <a:p>
                      <a:pPr>
                        <a:buNone/>
                      </a:pPr>
                      <a:r>
                        <a:rPr lang="en-US" sz="1000"/>
                        <a:t>Threat of Violence - Police Escort</a:t>
                      </a:r>
                    </a:p>
                  </a:txBody>
                  <a:tcPr anchor="ctr"/>
                </a:tc>
                <a:extLst>
                  <a:ext uri="{0D108BD9-81ED-4DB2-BD59-A6C34878D82A}">
                    <a16:rowId xmlns:a16="http://schemas.microsoft.com/office/drawing/2014/main" val="2429400955"/>
                  </a:ext>
                </a:extLst>
              </a:tr>
              <a:tr h="192836">
                <a:tc>
                  <a:txBody>
                    <a:bodyPr/>
                    <a:lstStyle/>
                    <a:p>
                      <a:pPr>
                        <a:buNone/>
                      </a:pPr>
                      <a:r>
                        <a:rPr lang="en-US" sz="1000">
                          <a:effectLst/>
                        </a:rPr>
                        <a:t>ZTRBID</a:t>
                      </a:r>
                    </a:p>
                  </a:txBody>
                  <a:tcPr anchor="ctr"/>
                </a:tc>
                <a:tc>
                  <a:txBody>
                    <a:bodyPr/>
                    <a:lstStyle/>
                    <a:p>
                      <a:pPr>
                        <a:buNone/>
                      </a:pPr>
                      <a:r>
                        <a:rPr lang="en-US" sz="1000"/>
                        <a:t>Tribal ID</a:t>
                      </a:r>
                    </a:p>
                  </a:txBody>
                  <a:tcPr anchor="ctr"/>
                </a:tc>
                <a:extLst>
                  <a:ext uri="{0D108BD9-81ED-4DB2-BD59-A6C34878D82A}">
                    <a16:rowId xmlns:a16="http://schemas.microsoft.com/office/drawing/2014/main" val="2449683549"/>
                  </a:ext>
                </a:extLst>
              </a:tr>
            </a:tbl>
          </a:graphicData>
        </a:graphic>
      </p:graphicFrame>
    </p:spTree>
    <p:extLst>
      <p:ext uri="{BB962C8B-B14F-4D97-AF65-F5344CB8AC3E}">
        <p14:creationId xmlns:p14="http://schemas.microsoft.com/office/powerpoint/2010/main" val="1421335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D9F6D-FAEA-E04B-5327-0F43009104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7FD1BD-D7D5-8DE7-8289-7E3E54D3BB33}"/>
              </a:ext>
            </a:extLst>
          </p:cNvPr>
          <p:cNvSpPr>
            <a:spLocks noGrp="1"/>
          </p:cNvSpPr>
          <p:nvPr>
            <p:ph type="title"/>
          </p:nvPr>
        </p:nvSpPr>
        <p:spPr>
          <a:xfrm>
            <a:off x="9715" y="236506"/>
            <a:ext cx="11375136" cy="609600"/>
          </a:xfrm>
        </p:spPr>
        <p:txBody>
          <a:bodyPr>
            <a:normAutofit/>
          </a:bodyPr>
          <a:lstStyle/>
          <a:p>
            <a:r>
              <a:rPr lang="en-US">
                <a:latin typeface="Montserrat"/>
              </a:rPr>
              <a:t>BP Relationship Categories </a:t>
            </a:r>
          </a:p>
        </p:txBody>
      </p:sp>
      <p:graphicFrame>
        <p:nvGraphicFramePr>
          <p:cNvPr id="5" name="Table 4">
            <a:extLst>
              <a:ext uri="{FF2B5EF4-FFF2-40B4-BE49-F238E27FC236}">
                <a16:creationId xmlns:a16="http://schemas.microsoft.com/office/drawing/2014/main" id="{56478E73-5EC7-63BD-0DCE-2CE0498CE29E}"/>
              </a:ext>
            </a:extLst>
          </p:cNvPr>
          <p:cNvGraphicFramePr>
            <a:graphicFrameLocks noGrp="1"/>
          </p:cNvGraphicFramePr>
          <p:nvPr>
            <p:extLst>
              <p:ext uri="{D42A27DB-BD31-4B8C-83A1-F6EECF244321}">
                <p14:modId xmlns:p14="http://schemas.microsoft.com/office/powerpoint/2010/main" val="3925882583"/>
              </p:ext>
            </p:extLst>
          </p:nvPr>
        </p:nvGraphicFramePr>
        <p:xfrm>
          <a:off x="-11906" y="3000374"/>
          <a:ext cx="12199243" cy="3795669"/>
        </p:xfrm>
        <a:graphic>
          <a:graphicData uri="http://schemas.openxmlformats.org/drawingml/2006/table">
            <a:tbl>
              <a:tblPr firstRow="1" bandRow="1">
                <a:tableStyleId>{5C22544A-7EE6-4342-B048-85BDC9FD1C3A}</a:tableStyleId>
              </a:tblPr>
              <a:tblGrid>
                <a:gridCol w="2200699">
                  <a:extLst>
                    <a:ext uri="{9D8B030D-6E8A-4147-A177-3AD203B41FA5}">
                      <a16:colId xmlns:a16="http://schemas.microsoft.com/office/drawing/2014/main" val="2792330185"/>
                    </a:ext>
                  </a:extLst>
                </a:gridCol>
                <a:gridCol w="1859504">
                  <a:extLst>
                    <a:ext uri="{9D8B030D-6E8A-4147-A177-3AD203B41FA5}">
                      <a16:colId xmlns:a16="http://schemas.microsoft.com/office/drawing/2014/main" val="136402847"/>
                    </a:ext>
                  </a:extLst>
                </a:gridCol>
                <a:gridCol w="2251879">
                  <a:extLst>
                    <a:ext uri="{9D8B030D-6E8A-4147-A177-3AD203B41FA5}">
                      <a16:colId xmlns:a16="http://schemas.microsoft.com/office/drawing/2014/main" val="4042153328"/>
                    </a:ext>
                  </a:extLst>
                </a:gridCol>
                <a:gridCol w="2030104">
                  <a:extLst>
                    <a:ext uri="{9D8B030D-6E8A-4147-A177-3AD203B41FA5}">
                      <a16:colId xmlns:a16="http://schemas.microsoft.com/office/drawing/2014/main" val="2552122475"/>
                    </a:ext>
                  </a:extLst>
                </a:gridCol>
                <a:gridCol w="1740076">
                  <a:extLst>
                    <a:ext uri="{9D8B030D-6E8A-4147-A177-3AD203B41FA5}">
                      <a16:colId xmlns:a16="http://schemas.microsoft.com/office/drawing/2014/main" val="1403989370"/>
                    </a:ext>
                  </a:extLst>
                </a:gridCol>
                <a:gridCol w="2116981">
                  <a:extLst>
                    <a:ext uri="{9D8B030D-6E8A-4147-A177-3AD203B41FA5}">
                      <a16:colId xmlns:a16="http://schemas.microsoft.com/office/drawing/2014/main" val="3233010690"/>
                    </a:ext>
                  </a:extLst>
                </a:gridCol>
              </a:tblGrid>
              <a:tr h="402919">
                <a:tc>
                  <a:txBody>
                    <a:bodyPr/>
                    <a:lstStyle/>
                    <a:p>
                      <a:pPr algn="ctr"/>
                      <a:r>
                        <a:rPr lang="en-US" sz="1200" b="1" kern="1200">
                          <a:solidFill>
                            <a:schemeClr val="lt1"/>
                          </a:solidFill>
                          <a:latin typeface="+mn-lt"/>
                          <a:ea typeface="+mn-ea"/>
                          <a:cs typeface="+mn-cs"/>
                        </a:rPr>
                        <a:t>Custom BP Relationships in </a:t>
                      </a:r>
                      <a:r>
                        <a:rPr lang="en-US" sz="1200" b="1" kern="1200" dirty="0">
                          <a:solidFill>
                            <a:schemeClr val="lt1"/>
                          </a:solidFill>
                          <a:latin typeface="+mn-lt"/>
                          <a:ea typeface="+mn-ea"/>
                          <a:cs typeface="+mn-cs"/>
                        </a:rPr>
                        <a:t>S4HANA</a:t>
                      </a:r>
                    </a:p>
                  </a:txBody>
                  <a:tcPr anchor="ctr"/>
                </a:tc>
                <a:tc>
                  <a:txBody>
                    <a:bodyPr/>
                    <a:lstStyle/>
                    <a:p>
                      <a:pPr algn="ctr"/>
                      <a:r>
                        <a:rPr lang="en-US" sz="1200" b="1" kern="1200">
                          <a:solidFill>
                            <a:schemeClr val="lt1"/>
                          </a:solidFill>
                          <a:latin typeface="+mn-lt"/>
                          <a:ea typeface="+mn-ea"/>
                          <a:cs typeface="+mn-cs"/>
                        </a:rPr>
                        <a:t>Description</a:t>
                      </a:r>
                    </a:p>
                  </a:txBody>
                  <a:tcPr anchor="ctr"/>
                </a:tc>
                <a:tc>
                  <a:txBody>
                    <a:bodyPr/>
                    <a:lstStyle/>
                    <a:p>
                      <a:pPr lvl="0" algn="ctr">
                        <a:buNone/>
                      </a:pPr>
                      <a:r>
                        <a:rPr lang="en-US" sz="1200" b="1" i="0" u="none" strike="noStrike" kern="1200" noProof="0">
                          <a:solidFill>
                            <a:schemeClr val="lt1"/>
                          </a:solidFill>
                          <a:latin typeface="Montserrat"/>
                          <a:ea typeface="+mn-ea"/>
                          <a:cs typeface="+mn-cs"/>
                        </a:rPr>
                        <a:t>Custom BP Relationships in </a:t>
                      </a:r>
                      <a:r>
                        <a:rPr lang="en-US" sz="1200" b="1" i="0" u="none" strike="noStrike" kern="1200" noProof="0" dirty="0">
                          <a:solidFill>
                            <a:schemeClr val="lt1"/>
                          </a:solidFill>
                          <a:latin typeface="Montserrat"/>
                          <a:ea typeface="+mn-ea"/>
                          <a:cs typeface="+mn-cs"/>
                        </a:rPr>
                        <a:t>S4HANA</a:t>
                      </a:r>
                    </a:p>
                  </a:txBody>
                  <a:tcPr anchor="ctr"/>
                </a:tc>
                <a:tc>
                  <a:txBody>
                    <a:bodyPr/>
                    <a:lstStyle/>
                    <a:p>
                      <a:pPr lvl="0" algn="ctr">
                        <a:lnSpc>
                          <a:spcPct val="100000"/>
                        </a:lnSpc>
                        <a:spcBef>
                          <a:spcPts val="0"/>
                        </a:spcBef>
                        <a:spcAft>
                          <a:spcPts val="0"/>
                        </a:spcAft>
                        <a:buNone/>
                      </a:pPr>
                      <a:r>
                        <a:rPr lang="en-US" sz="1200" b="1" i="0" u="none" strike="noStrike" kern="1200" noProof="0">
                          <a:solidFill>
                            <a:srgbClr val="FFFEFE"/>
                          </a:solidFill>
                          <a:latin typeface="Montserrat"/>
                          <a:ea typeface="+mn-ea"/>
                          <a:cs typeface="+mn-cs"/>
                        </a:rPr>
                        <a:t>Description</a:t>
                      </a:r>
                    </a:p>
                    <a:p>
                      <a:pPr lvl="0" algn="ctr">
                        <a:buNone/>
                      </a:pPr>
                      <a:endParaRPr lang="en-US" sz="1200" b="1" kern="1200">
                        <a:solidFill>
                          <a:schemeClr val="lt1"/>
                        </a:solidFill>
                        <a:latin typeface="+mn-lt"/>
                        <a:ea typeface="+mn-ea"/>
                        <a:cs typeface="+mn-cs"/>
                      </a:endParaRPr>
                    </a:p>
                  </a:txBody>
                  <a:tcPr anchor="ctr"/>
                </a:tc>
                <a:tc>
                  <a:txBody>
                    <a:bodyPr/>
                    <a:lstStyle/>
                    <a:p>
                      <a:pPr lvl="0" algn="ctr">
                        <a:buNone/>
                      </a:pPr>
                      <a:r>
                        <a:rPr lang="en-US" sz="1200" b="1" kern="1200">
                          <a:solidFill>
                            <a:schemeClr val="lt1"/>
                          </a:solidFill>
                          <a:latin typeface="+mn-lt"/>
                          <a:ea typeface="+mn-ea"/>
                          <a:cs typeface="+mn-cs"/>
                        </a:rPr>
                        <a:t>Custom BP Relationships</a:t>
                      </a:r>
                      <a:r>
                        <a:rPr lang="en-US" sz="1200" b="1" kern="1200" dirty="0">
                          <a:solidFill>
                            <a:schemeClr val="lt1"/>
                          </a:solidFill>
                          <a:latin typeface="+mn-lt"/>
                          <a:ea typeface="+mn-ea"/>
                          <a:cs typeface="+mn-cs"/>
                        </a:rPr>
                        <a:t> in S4HANA</a:t>
                      </a:r>
                    </a:p>
                  </a:txBody>
                  <a:tcPr anchor="ctr"/>
                </a:tc>
                <a:tc>
                  <a:txBody>
                    <a:bodyPr/>
                    <a:lstStyle/>
                    <a:p>
                      <a:pPr lvl="0" algn="ctr">
                        <a:buNone/>
                      </a:pPr>
                      <a:r>
                        <a:rPr lang="en-US" sz="1200" b="1" kern="1200">
                          <a:solidFill>
                            <a:schemeClr val="lt1"/>
                          </a:solidFill>
                          <a:latin typeface="+mn-lt"/>
                          <a:ea typeface="+mn-ea"/>
                          <a:cs typeface="+mn-cs"/>
                        </a:rPr>
                        <a:t>Description</a:t>
                      </a:r>
                    </a:p>
                  </a:txBody>
                  <a:tcPr anchor="ctr"/>
                </a:tc>
                <a:extLst>
                  <a:ext uri="{0D108BD9-81ED-4DB2-BD59-A6C34878D82A}">
                    <a16:rowId xmlns:a16="http://schemas.microsoft.com/office/drawing/2014/main" val="2065999821"/>
                  </a:ext>
                </a:extLst>
              </a:tr>
              <a:tr h="194961">
                <a:tc>
                  <a:txBody>
                    <a:bodyPr/>
                    <a:lstStyle/>
                    <a:p>
                      <a:pPr lvl="0" algn="ctr">
                        <a:buNone/>
                      </a:pPr>
                      <a:r>
                        <a:rPr lang="en-US" sz="1100" b="1" i="0" u="none" strike="noStrike" kern="1200" noProof="0">
                          <a:solidFill>
                            <a:srgbClr val="000000"/>
                          </a:solidFill>
                          <a:latin typeface="Montserrat"/>
                          <a:ea typeface="+mn-ea"/>
                          <a:cs typeface="+mn-cs"/>
                        </a:rPr>
                        <a:t>Z3PRTY</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3rd Party</a:t>
                      </a:r>
                      <a:endParaRPr lang="en-US" sz="1100" b="0" i="0" u="none" strike="noStrike" kern="1200">
                        <a:solidFill>
                          <a:srgbClr val="000000"/>
                        </a:solidFill>
                        <a:latin typeface="Montserrat"/>
                        <a:ea typeface="+mn-ea"/>
                        <a:cs typeface="+mn-cs"/>
                      </a:endParaRPr>
                    </a:p>
                  </a:txBody>
                  <a:tcPr/>
                </a:tc>
                <a:tc>
                  <a:txBody>
                    <a:bodyPr/>
                    <a:lstStyle/>
                    <a:p>
                      <a:pPr lvl="0" algn="ctr">
                        <a:buNone/>
                      </a:pPr>
                      <a:r>
                        <a:rPr lang="en-US" sz="1100" b="1" i="0" u="none" strike="noStrike" kern="1200" noProof="0">
                          <a:solidFill>
                            <a:srgbClr val="000000"/>
                          </a:solidFill>
                          <a:latin typeface="Montserrat"/>
                          <a:ea typeface="+mn-ea"/>
                          <a:cs typeface="+mn-cs"/>
                        </a:rPr>
                        <a:t>ZGASCU</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Gas Curtailment Contact</a:t>
                      </a:r>
                      <a:endParaRPr lang="en-US" sz="1100" b="0" i="0" u="none" strike="noStrike" kern="1200">
                        <a:solidFill>
                          <a:srgbClr val="000000"/>
                        </a:solidFill>
                        <a:latin typeface="Montserrat"/>
                        <a:ea typeface="+mn-ea"/>
                        <a:cs typeface="+mn-cs"/>
                      </a:endParaRPr>
                    </a:p>
                  </a:txBody>
                  <a:tcPr/>
                </a:tc>
                <a:tc>
                  <a:txBody>
                    <a:bodyPr/>
                    <a:lstStyle/>
                    <a:p>
                      <a:pPr lvl="0" algn="ctr">
                        <a:buNone/>
                      </a:pPr>
                      <a:r>
                        <a:rPr lang="en-US" sz="1100" b="1" i="0" u="none" strike="noStrike" kern="1200" noProof="0">
                          <a:solidFill>
                            <a:srgbClr val="000000"/>
                          </a:solidFill>
                          <a:latin typeface="Montserrat"/>
                          <a:ea typeface="+mn-ea"/>
                          <a:cs typeface="+mn-cs"/>
                        </a:rPr>
                        <a:t>ZROA</a:t>
                      </a: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ROA Contact</a:t>
                      </a:r>
                      <a:endParaRPr lang="en-US" sz="1100" b="0" i="0" u="none" strike="noStrike" kern="1200">
                        <a:solidFill>
                          <a:srgbClr val="000000"/>
                        </a:solidFill>
                        <a:latin typeface="Montserrat"/>
                        <a:ea typeface="+mn-ea"/>
                        <a:cs typeface="+mn-cs"/>
                      </a:endParaRPr>
                    </a:p>
                  </a:txBody>
                  <a:tcPr/>
                </a:tc>
                <a:extLst>
                  <a:ext uri="{0D108BD9-81ED-4DB2-BD59-A6C34878D82A}">
                    <a16:rowId xmlns:a16="http://schemas.microsoft.com/office/drawing/2014/main" val="414274974"/>
                  </a:ext>
                </a:extLst>
              </a:tr>
              <a:tr h="194961">
                <a:tc>
                  <a:txBody>
                    <a:bodyPr/>
                    <a:lstStyle/>
                    <a:p>
                      <a:pPr lvl="0" algn="ctr">
                        <a:buNone/>
                      </a:pPr>
                      <a:r>
                        <a:rPr lang="en-US" sz="1100" b="1" i="0" u="none" strike="noStrike" kern="1200" noProof="0">
                          <a:solidFill>
                            <a:srgbClr val="000000"/>
                          </a:solidFill>
                          <a:latin typeface="Montserrat"/>
                          <a:ea typeface="+mn-ea"/>
                          <a:cs typeface="+mn-cs"/>
                        </a:rPr>
                        <a:t>ZA/P</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Accts. Payable Contact</a:t>
                      </a:r>
                      <a:endParaRPr lang="en-US" sz="1100" b="0" i="0" u="none" strike="noStrike" kern="1200">
                        <a:solidFill>
                          <a:srgbClr val="000000"/>
                        </a:solidFill>
                        <a:latin typeface="Montserrat"/>
                        <a:ea typeface="+mn-ea"/>
                        <a:cs typeface="+mn-cs"/>
                      </a:endParaRPr>
                    </a:p>
                  </a:txBody>
                  <a:tcPr/>
                </a:tc>
                <a:tc>
                  <a:txBody>
                    <a:bodyPr/>
                    <a:lstStyle/>
                    <a:p>
                      <a:pPr lvl="0" algn="ctr">
                        <a:buNone/>
                      </a:pPr>
                      <a:r>
                        <a:rPr lang="en-US" sz="1100" b="1" i="0" u="none" strike="noStrike" kern="1200" noProof="0">
                          <a:solidFill>
                            <a:srgbClr val="000000"/>
                          </a:solidFill>
                          <a:latin typeface="Montserrat"/>
                          <a:ea typeface="+mn-ea"/>
                          <a:cs typeface="+mn-cs"/>
                        </a:rPr>
                        <a:t>ZGSTRS</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Gas Trans Supplier</a:t>
                      </a:r>
                      <a:endParaRPr lang="en-US" sz="1100" b="0" i="0" u="none" strike="noStrike" kern="1200">
                        <a:solidFill>
                          <a:srgbClr val="000000"/>
                        </a:solidFill>
                        <a:latin typeface="Montserrat"/>
                        <a:ea typeface="+mn-ea"/>
                        <a:cs typeface="+mn-cs"/>
                      </a:endParaRPr>
                    </a:p>
                  </a:txBody>
                  <a:tcPr/>
                </a:tc>
                <a:tc>
                  <a:txBody>
                    <a:bodyPr/>
                    <a:lstStyle/>
                    <a:p>
                      <a:pPr lvl="0" algn="ctr">
                        <a:buNone/>
                      </a:pPr>
                      <a:r>
                        <a:rPr lang="en-US" sz="1100" b="1" i="0" u="none" strike="noStrike" kern="1200" noProof="0">
                          <a:solidFill>
                            <a:srgbClr val="000000"/>
                          </a:solidFill>
                          <a:latin typeface="Montserrat"/>
                          <a:ea typeface="+mn-ea"/>
                          <a:cs typeface="+mn-cs"/>
                        </a:rPr>
                        <a:t>ZRSPTY</a:t>
                      </a: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Second Responsible Party</a:t>
                      </a:r>
                    </a:p>
                  </a:txBody>
                  <a:tcPr/>
                </a:tc>
                <a:extLst>
                  <a:ext uri="{0D108BD9-81ED-4DB2-BD59-A6C34878D82A}">
                    <a16:rowId xmlns:a16="http://schemas.microsoft.com/office/drawing/2014/main" val="3229761996"/>
                  </a:ext>
                </a:extLst>
              </a:tr>
              <a:tr h="272955">
                <a:tc>
                  <a:txBody>
                    <a:bodyPr/>
                    <a:lstStyle/>
                    <a:p>
                      <a:pPr lvl="0" algn="ctr">
                        <a:buNone/>
                      </a:pPr>
                      <a:r>
                        <a:rPr lang="en-US" sz="1100" b="1" i="0" u="none" strike="noStrike" kern="1200" noProof="0">
                          <a:solidFill>
                            <a:srgbClr val="000000"/>
                          </a:solidFill>
                          <a:latin typeface="Montserrat"/>
                          <a:ea typeface="+mn-ea"/>
                          <a:cs typeface="+mn-cs"/>
                        </a:rPr>
                        <a:t>ZABUS1</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Alt Business Contact1</a:t>
                      </a:r>
                      <a:endParaRPr lang="en-US" sz="1100" b="0" i="0" u="none" strike="noStrike" kern="1200">
                        <a:solidFill>
                          <a:srgbClr val="000000"/>
                        </a:solidFill>
                        <a:latin typeface="Montserrat"/>
                        <a:ea typeface="+mn-ea"/>
                        <a:cs typeface="+mn-cs"/>
                      </a:endParaRPr>
                    </a:p>
                  </a:txBody>
                  <a:tcPr/>
                </a:tc>
                <a:tc>
                  <a:txBody>
                    <a:bodyPr/>
                    <a:lstStyle/>
                    <a:p>
                      <a:pPr lvl="0" algn="ctr">
                        <a:buNone/>
                      </a:pPr>
                      <a:r>
                        <a:rPr lang="en-US" sz="1100" b="1" i="0" u="none" strike="noStrike" kern="1200" noProof="0">
                          <a:solidFill>
                            <a:srgbClr val="000000"/>
                          </a:solidFill>
                          <a:latin typeface="Montserrat"/>
                          <a:ea typeface="+mn-ea"/>
                          <a:cs typeface="+mn-cs"/>
                        </a:rPr>
                        <a:t>ZLLP01</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Landlord</a:t>
                      </a:r>
                      <a:endParaRPr lang="en-US" sz="1100" b="0" i="0" u="none" strike="noStrike" kern="1200">
                        <a:solidFill>
                          <a:srgbClr val="000000"/>
                        </a:solidFill>
                        <a:latin typeface="Montserrat"/>
                        <a:ea typeface="+mn-ea"/>
                        <a:cs typeface="+mn-cs"/>
                      </a:endParaRPr>
                    </a:p>
                  </a:txBody>
                  <a:tcPr/>
                </a:tc>
                <a:tc>
                  <a:txBody>
                    <a:bodyPr/>
                    <a:lstStyle/>
                    <a:p>
                      <a:pPr lvl="0" algn="ctr">
                        <a:buNone/>
                      </a:pPr>
                      <a:r>
                        <a:rPr lang="en-US" sz="1100" b="1" i="0" u="none" strike="noStrike" kern="1200" noProof="0">
                          <a:solidFill>
                            <a:srgbClr val="000000"/>
                          </a:solidFill>
                          <a:latin typeface="Montserrat"/>
                          <a:ea typeface="+mn-ea"/>
                          <a:cs typeface="+mn-cs"/>
                        </a:rPr>
                        <a:t>ZSUBCH</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Subsidiary/Child Co.</a:t>
                      </a:r>
                      <a:endParaRPr lang="en-US" sz="1100" b="0" i="0" u="none" strike="noStrike" kern="1200">
                        <a:solidFill>
                          <a:srgbClr val="000000"/>
                        </a:solidFill>
                        <a:latin typeface="Montserrat"/>
                        <a:ea typeface="+mn-ea"/>
                        <a:cs typeface="+mn-cs"/>
                      </a:endParaRPr>
                    </a:p>
                  </a:txBody>
                  <a:tcPr/>
                </a:tc>
                <a:extLst>
                  <a:ext uri="{0D108BD9-81ED-4DB2-BD59-A6C34878D82A}">
                    <a16:rowId xmlns:a16="http://schemas.microsoft.com/office/drawing/2014/main" val="3891566193"/>
                  </a:ext>
                </a:extLst>
              </a:tr>
              <a:tr h="194961">
                <a:tc>
                  <a:txBody>
                    <a:bodyPr/>
                    <a:lstStyle/>
                    <a:p>
                      <a:pPr lvl="0" algn="ctr">
                        <a:buNone/>
                      </a:pPr>
                      <a:r>
                        <a:rPr lang="en-US" sz="1100" b="1" i="0" u="none" strike="noStrike" kern="1200" noProof="0">
                          <a:solidFill>
                            <a:srgbClr val="000000"/>
                          </a:solidFill>
                          <a:latin typeface="Montserrat"/>
                          <a:ea typeface="+mn-ea"/>
                          <a:cs typeface="+mn-cs"/>
                        </a:rPr>
                        <a:t>ZABUS2</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Alt Business Contact2</a:t>
                      </a:r>
                      <a:endParaRPr lang="en-US" sz="1100" b="0" i="0" u="none" strike="noStrike" kern="1200">
                        <a:solidFill>
                          <a:srgbClr val="000000"/>
                        </a:solidFill>
                        <a:latin typeface="Montserrat"/>
                        <a:ea typeface="+mn-ea"/>
                        <a:cs typeface="+mn-cs"/>
                      </a:endParaRPr>
                    </a:p>
                  </a:txBody>
                  <a:tcPr/>
                </a:tc>
                <a:tc>
                  <a:txBody>
                    <a:bodyPr/>
                    <a:lstStyle/>
                    <a:p>
                      <a:pPr lvl="0" algn="ctr">
                        <a:buNone/>
                      </a:pPr>
                      <a:r>
                        <a:rPr lang="en-US" sz="1100" b="1" i="0" u="none" strike="noStrike" kern="1200" noProof="0">
                          <a:solidFill>
                            <a:srgbClr val="000000"/>
                          </a:solidFill>
                          <a:latin typeface="Montserrat"/>
                          <a:ea typeface="+mn-ea"/>
                          <a:cs typeface="+mn-cs"/>
                        </a:rPr>
                        <a:t>ZOPISS</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Operational Issues</a:t>
                      </a:r>
                      <a:endParaRPr lang="en-US" sz="1100" b="0" i="0" u="none" strike="noStrike" kern="1200">
                        <a:solidFill>
                          <a:srgbClr val="000000"/>
                        </a:solidFill>
                        <a:latin typeface="Montserrat"/>
                        <a:ea typeface="+mn-ea"/>
                        <a:cs typeface="+mn-cs"/>
                      </a:endParaRPr>
                    </a:p>
                  </a:txBody>
                  <a:tcPr/>
                </a:tc>
                <a:tc>
                  <a:txBody>
                    <a:bodyPr/>
                    <a:lstStyle/>
                    <a:p>
                      <a:pPr lvl="0" algn="ctr">
                        <a:buNone/>
                      </a:pPr>
                      <a:r>
                        <a:rPr lang="en-US" sz="1100" b="1" i="0" u="none" strike="noStrike" kern="1200" noProof="0">
                          <a:solidFill>
                            <a:srgbClr val="000000"/>
                          </a:solidFill>
                          <a:latin typeface="Montserrat"/>
                          <a:ea typeface="+mn-ea"/>
                          <a:cs typeface="+mn-cs"/>
                        </a:rPr>
                        <a:t>ZSUBDV</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Subsidiary/Corp Division</a:t>
                      </a:r>
                      <a:endParaRPr lang="en-US" sz="1100" b="0" i="0" u="none" strike="noStrike" kern="1200">
                        <a:solidFill>
                          <a:srgbClr val="000000"/>
                        </a:solidFill>
                        <a:latin typeface="Montserrat"/>
                        <a:ea typeface="+mn-ea"/>
                        <a:cs typeface="+mn-cs"/>
                      </a:endParaRPr>
                    </a:p>
                  </a:txBody>
                  <a:tcPr/>
                </a:tc>
                <a:extLst>
                  <a:ext uri="{0D108BD9-81ED-4DB2-BD59-A6C34878D82A}">
                    <a16:rowId xmlns:a16="http://schemas.microsoft.com/office/drawing/2014/main" val="1349095150"/>
                  </a:ext>
                </a:extLst>
              </a:tr>
              <a:tr h="194961">
                <a:tc>
                  <a:txBody>
                    <a:bodyPr/>
                    <a:lstStyle/>
                    <a:p>
                      <a:pPr lvl="0" algn="ctr">
                        <a:buNone/>
                      </a:pPr>
                      <a:r>
                        <a:rPr lang="en-US" sz="1100" b="1" i="0" u="none" strike="noStrike" kern="1200" noProof="0">
                          <a:solidFill>
                            <a:srgbClr val="000000"/>
                          </a:solidFill>
                          <a:latin typeface="Montserrat"/>
                          <a:ea typeface="+mn-ea"/>
                          <a:cs typeface="+mn-cs"/>
                        </a:rPr>
                        <a:t>ZBNKRP</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Bankruptcy Contact</a:t>
                      </a:r>
                      <a:endParaRPr lang="en-US" sz="1100" b="0" i="0" u="none" strike="noStrike" kern="1200">
                        <a:solidFill>
                          <a:srgbClr val="000000"/>
                        </a:solidFill>
                        <a:latin typeface="Montserrat"/>
                        <a:ea typeface="+mn-ea"/>
                        <a:cs typeface="+mn-cs"/>
                      </a:endParaRPr>
                    </a:p>
                  </a:txBody>
                  <a:tcPr/>
                </a:tc>
                <a:tc>
                  <a:txBody>
                    <a:bodyPr/>
                    <a:lstStyle/>
                    <a:p>
                      <a:pPr lvl="0" algn="ctr">
                        <a:buNone/>
                      </a:pPr>
                      <a:r>
                        <a:rPr lang="en-US" sz="1100" b="1" i="0" u="none" strike="noStrike" kern="1200" noProof="0">
                          <a:solidFill>
                            <a:srgbClr val="000000"/>
                          </a:solidFill>
                          <a:latin typeface="Montserrat"/>
                          <a:ea typeface="+mn-ea"/>
                          <a:cs typeface="+mn-cs"/>
                        </a:rPr>
                        <a:t>ZOUTG1</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Alternate Outage Contact1</a:t>
                      </a:r>
                      <a:endParaRPr lang="en-US" sz="1100" b="0" i="0" u="none" strike="noStrike" kern="1200">
                        <a:solidFill>
                          <a:srgbClr val="000000"/>
                        </a:solidFill>
                        <a:latin typeface="Montserrat"/>
                        <a:ea typeface="+mn-ea"/>
                        <a:cs typeface="+mn-cs"/>
                      </a:endParaRPr>
                    </a:p>
                  </a:txBody>
                  <a:tcPr/>
                </a:tc>
                <a:tc>
                  <a:txBody>
                    <a:bodyPr/>
                    <a:lstStyle/>
                    <a:p>
                      <a:pPr lvl="0" algn="ctr">
                        <a:buNone/>
                      </a:pPr>
                      <a:r>
                        <a:rPr lang="en-US" sz="1100" b="1" i="0" u="none" strike="noStrike" kern="1200" noProof="0">
                          <a:solidFill>
                            <a:srgbClr val="000000"/>
                          </a:solidFill>
                          <a:latin typeface="Montserrat"/>
                          <a:ea typeface="+mn-ea"/>
                          <a:cs typeface="+mn-cs"/>
                        </a:rPr>
                        <a:t>ZTRUST</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Trustee</a:t>
                      </a:r>
                      <a:endParaRPr lang="en-US" sz="1100" b="0" i="0" u="none" strike="noStrike" kern="1200">
                        <a:solidFill>
                          <a:srgbClr val="000000"/>
                        </a:solidFill>
                        <a:latin typeface="Montserrat"/>
                        <a:ea typeface="+mn-ea"/>
                        <a:cs typeface="+mn-cs"/>
                      </a:endParaRPr>
                    </a:p>
                  </a:txBody>
                  <a:tcPr/>
                </a:tc>
                <a:extLst>
                  <a:ext uri="{0D108BD9-81ED-4DB2-BD59-A6C34878D82A}">
                    <a16:rowId xmlns:a16="http://schemas.microsoft.com/office/drawing/2014/main" val="3011054916"/>
                  </a:ext>
                </a:extLst>
              </a:tr>
              <a:tr h="194961">
                <a:tc>
                  <a:txBody>
                    <a:bodyPr/>
                    <a:lstStyle/>
                    <a:p>
                      <a:pPr lvl="0" algn="ctr">
                        <a:buNone/>
                      </a:pPr>
                      <a:r>
                        <a:rPr lang="en-US" sz="1100" b="1" i="0" u="none" strike="noStrike" kern="1200" noProof="0">
                          <a:solidFill>
                            <a:srgbClr val="000000"/>
                          </a:solidFill>
                          <a:latin typeface="Montserrat"/>
                          <a:ea typeface="+mn-ea"/>
                          <a:cs typeface="+mn-cs"/>
                        </a:rPr>
                        <a:t>ZCAM</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CAM</a:t>
                      </a:r>
                      <a:endParaRPr lang="en-US" sz="1100" b="0" i="0" u="none" strike="noStrike" kern="1200">
                        <a:solidFill>
                          <a:srgbClr val="000000"/>
                        </a:solidFill>
                        <a:latin typeface="Montserrat"/>
                        <a:ea typeface="+mn-ea"/>
                        <a:cs typeface="+mn-cs"/>
                      </a:endParaRPr>
                    </a:p>
                  </a:txBody>
                  <a:tcPr/>
                </a:tc>
                <a:tc>
                  <a:txBody>
                    <a:bodyPr/>
                    <a:lstStyle/>
                    <a:p>
                      <a:pPr lvl="0" algn="ctr">
                        <a:buNone/>
                      </a:pPr>
                      <a:r>
                        <a:rPr lang="en-US" sz="1100" b="1" i="0" u="none" strike="noStrike" kern="1200" noProof="0">
                          <a:solidFill>
                            <a:srgbClr val="000000"/>
                          </a:solidFill>
                          <a:latin typeface="Montserrat"/>
                          <a:ea typeface="+mn-ea"/>
                          <a:cs typeface="+mn-cs"/>
                        </a:rPr>
                        <a:t>ZOUTG2</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Alternate Outage Contact2</a:t>
                      </a:r>
                      <a:endParaRPr lang="en-US" sz="1100" b="0" i="0" u="none" strike="noStrike" kern="1200">
                        <a:solidFill>
                          <a:srgbClr val="000000"/>
                        </a:solidFill>
                        <a:latin typeface="Montserrat"/>
                        <a:ea typeface="+mn-ea"/>
                        <a:cs typeface="+mn-cs"/>
                      </a:endParaRPr>
                    </a:p>
                  </a:txBody>
                  <a:tcPr/>
                </a:tc>
                <a:tc>
                  <a:txBody>
                    <a:bodyPr/>
                    <a:lstStyle/>
                    <a:p>
                      <a:pPr lvl="0" algn="ctr">
                        <a:buNone/>
                      </a:pPr>
                      <a:r>
                        <a:rPr lang="en-US" sz="1100" b="1" i="0" u="none" strike="noStrike" kern="1200" noProof="0">
                          <a:solidFill>
                            <a:srgbClr val="000000"/>
                          </a:solidFill>
                          <a:latin typeface="Montserrat"/>
                          <a:ea typeface="+mn-ea"/>
                          <a:cs typeface="+mn-cs"/>
                        </a:rPr>
                        <a:t>ZVLOAD</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Voluntary Load Reduction</a:t>
                      </a:r>
                      <a:endParaRPr lang="en-US" sz="1100" b="0" i="0" u="none" strike="noStrike" kern="1200">
                        <a:solidFill>
                          <a:srgbClr val="000000"/>
                        </a:solidFill>
                        <a:latin typeface="Montserrat"/>
                        <a:ea typeface="+mn-ea"/>
                        <a:cs typeface="+mn-cs"/>
                      </a:endParaRPr>
                    </a:p>
                  </a:txBody>
                  <a:tcPr/>
                </a:tc>
                <a:extLst>
                  <a:ext uri="{0D108BD9-81ED-4DB2-BD59-A6C34878D82A}">
                    <a16:rowId xmlns:a16="http://schemas.microsoft.com/office/drawing/2014/main" val="494181651"/>
                  </a:ext>
                </a:extLst>
              </a:tr>
              <a:tr h="324134">
                <a:tc>
                  <a:txBody>
                    <a:bodyPr/>
                    <a:lstStyle/>
                    <a:p>
                      <a:pPr lvl="0" algn="ctr">
                        <a:buNone/>
                      </a:pPr>
                      <a:r>
                        <a:rPr lang="en-US" sz="1100" b="1" i="0" u="none" strike="noStrike" kern="1200" noProof="0">
                          <a:solidFill>
                            <a:srgbClr val="000000"/>
                          </a:solidFill>
                          <a:latin typeface="Montserrat"/>
                          <a:ea typeface="+mn-ea"/>
                          <a:cs typeface="+mn-cs"/>
                        </a:rPr>
                        <a:t>ZCONT</a:t>
                      </a:r>
                      <a:endParaRPr lang="en-US" sz="1100" b="1" i="0" u="none" strike="noStrike" kern="1200">
                        <a:solidFill>
                          <a:srgbClr val="000000"/>
                        </a:solidFill>
                        <a:latin typeface="Montserrat"/>
                        <a:ea typeface="+mn-ea"/>
                        <a:cs typeface="+mn-cs"/>
                      </a:endParaRPr>
                    </a:p>
                  </a:txBody>
                  <a:tcPr anchor="ctr">
                    <a:solidFill>
                      <a:schemeClr val="accent6">
                        <a:lumMod val="40000"/>
                        <a:lumOff val="60000"/>
                      </a:schemeClr>
                    </a:solidFill>
                  </a:tcPr>
                </a:tc>
                <a:tc>
                  <a:txBody>
                    <a:bodyPr/>
                    <a:lstStyle/>
                    <a:p>
                      <a:pPr lvl="0">
                        <a:buNone/>
                      </a:pPr>
                      <a:r>
                        <a:rPr lang="en-US" sz="1100" b="0" i="0" u="none" strike="noStrike" kern="1200" noProof="0" dirty="0" err="1">
                          <a:solidFill>
                            <a:srgbClr val="000000"/>
                          </a:solidFill>
                          <a:latin typeface="Montserrat"/>
                          <a:ea typeface="+mn-ea"/>
                          <a:cs typeface="+mn-cs"/>
                        </a:rPr>
                        <a:t>MiscContactPerson</a:t>
                      </a:r>
                      <a:r>
                        <a:rPr lang="en-US" sz="1100" b="0" i="0" u="none" strike="noStrike" kern="1200" noProof="0" dirty="0">
                          <a:solidFill>
                            <a:srgbClr val="000000"/>
                          </a:solidFill>
                          <a:latin typeface="Montserrat"/>
                          <a:ea typeface="+mn-ea"/>
                          <a:cs typeface="+mn-cs"/>
                        </a:rPr>
                        <a:t>(</a:t>
                      </a:r>
                      <a:r>
                        <a:rPr lang="en-US" sz="1100" b="0" i="0" u="none" strike="noStrike" kern="1200" noProof="0" dirty="0" err="1">
                          <a:solidFill>
                            <a:srgbClr val="000000"/>
                          </a:solidFill>
                          <a:latin typeface="Montserrat"/>
                          <a:ea typeface="+mn-ea"/>
                          <a:cs typeface="+mn-cs"/>
                        </a:rPr>
                        <a:t>BusCtr</a:t>
                      </a:r>
                      <a:r>
                        <a:rPr lang="en-US" sz="1100" b="0" i="0" u="none" strike="noStrike" kern="1200" noProof="0" dirty="0">
                          <a:solidFill>
                            <a:srgbClr val="000000"/>
                          </a:solidFill>
                          <a:latin typeface="Montserrat"/>
                          <a:ea typeface="+mn-ea"/>
                          <a:cs typeface="+mn-cs"/>
                        </a:rPr>
                        <a:t>)</a:t>
                      </a:r>
                      <a:endParaRPr lang="en-US" sz="1100" b="0" i="0" u="none" strike="noStrike" kern="1200" dirty="0">
                        <a:solidFill>
                          <a:srgbClr val="000000"/>
                        </a:solidFill>
                        <a:latin typeface="Montserrat"/>
                        <a:ea typeface="+mn-ea"/>
                        <a:cs typeface="+mn-cs"/>
                      </a:endParaRPr>
                    </a:p>
                  </a:txBody>
                  <a:tcPr anchor="ctr"/>
                </a:tc>
                <a:tc>
                  <a:txBody>
                    <a:bodyPr/>
                    <a:lstStyle/>
                    <a:p>
                      <a:pPr lvl="0" algn="ctr">
                        <a:buNone/>
                      </a:pPr>
                      <a:r>
                        <a:rPr lang="en-US" sz="1100" b="1" i="0" u="none" strike="noStrike" kern="1200" noProof="0">
                          <a:solidFill>
                            <a:srgbClr val="000000"/>
                          </a:solidFill>
                          <a:latin typeface="Montserrat"/>
                          <a:ea typeface="+mn-ea"/>
                          <a:cs typeface="+mn-cs"/>
                        </a:rPr>
                        <a:t>ZOUTG3</a:t>
                      </a:r>
                      <a:endParaRPr lang="en-US" sz="1100" b="1" i="0" u="none" strike="noStrike" kern="1200">
                        <a:solidFill>
                          <a:srgbClr val="000000"/>
                        </a:solidFill>
                        <a:latin typeface="Montserrat"/>
                        <a:ea typeface="+mn-ea"/>
                        <a:cs typeface="+mn-cs"/>
                      </a:endParaRPr>
                    </a:p>
                  </a:txBody>
                  <a:tcPr anchor="ct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Alternate Outage Contact3</a:t>
                      </a:r>
                      <a:endParaRPr lang="en-US" sz="1100" b="0" i="0" u="none" strike="noStrike" kern="1200">
                        <a:solidFill>
                          <a:srgbClr val="000000"/>
                        </a:solidFill>
                        <a:latin typeface="Montserrat"/>
                        <a:ea typeface="+mn-ea"/>
                        <a:cs typeface="+mn-cs"/>
                      </a:endParaRPr>
                    </a:p>
                  </a:txBody>
                  <a:tcPr anchor="ctr"/>
                </a:tc>
                <a:tc>
                  <a:txBody>
                    <a:bodyPr/>
                    <a:lstStyle/>
                    <a:p>
                      <a:pPr lvl="0" algn="ctr">
                        <a:buNone/>
                      </a:pPr>
                      <a:r>
                        <a:rPr lang="en-US" sz="1100" b="1" i="0" u="none" strike="noStrike" kern="1200" noProof="0">
                          <a:solidFill>
                            <a:srgbClr val="000000"/>
                          </a:solidFill>
                          <a:latin typeface="Montserrat"/>
                          <a:ea typeface="+mn-ea"/>
                          <a:cs typeface="+mn-cs"/>
                        </a:rPr>
                        <a:t>ZPRCHD</a:t>
                      </a:r>
                      <a:endParaRPr lang="en-US" sz="1100" b="1" i="0" u="none" strike="noStrike" kern="1200">
                        <a:solidFill>
                          <a:srgbClr val="000000"/>
                        </a:solidFill>
                        <a:latin typeface="Montserrat"/>
                        <a:ea typeface="+mn-ea"/>
                        <a:cs typeface="+mn-cs"/>
                      </a:endParaRPr>
                    </a:p>
                  </a:txBody>
                  <a:tcPr anchor="ct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Parent / Child Company</a:t>
                      </a:r>
                      <a:endParaRPr lang="en-US" sz="1100" b="0" i="0" u="none" strike="noStrike" kern="1200">
                        <a:solidFill>
                          <a:srgbClr val="000000"/>
                        </a:solidFill>
                        <a:latin typeface="Montserrat"/>
                        <a:ea typeface="+mn-ea"/>
                        <a:cs typeface="+mn-cs"/>
                      </a:endParaRPr>
                    </a:p>
                  </a:txBody>
                  <a:tcPr anchor="ctr"/>
                </a:tc>
                <a:extLst>
                  <a:ext uri="{0D108BD9-81ED-4DB2-BD59-A6C34878D82A}">
                    <a16:rowId xmlns:a16="http://schemas.microsoft.com/office/drawing/2014/main" val="1937261014"/>
                  </a:ext>
                </a:extLst>
              </a:tr>
              <a:tr h="194961">
                <a:tc>
                  <a:txBody>
                    <a:bodyPr/>
                    <a:lstStyle/>
                    <a:p>
                      <a:pPr lvl="0" algn="ctr">
                        <a:buNone/>
                      </a:pPr>
                      <a:r>
                        <a:rPr lang="en-US" sz="1100" b="1" i="0" u="none" strike="noStrike" kern="1200" noProof="0">
                          <a:solidFill>
                            <a:srgbClr val="000000"/>
                          </a:solidFill>
                          <a:latin typeface="Montserrat"/>
                          <a:ea typeface="+mn-ea"/>
                          <a:cs typeface="+mn-cs"/>
                        </a:rPr>
                        <a:t>ZCOSGN</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Co-Signor</a:t>
                      </a:r>
                    </a:p>
                  </a:txBody>
                  <a:tcPr/>
                </a:tc>
                <a:tc>
                  <a:txBody>
                    <a:bodyPr/>
                    <a:lstStyle/>
                    <a:p>
                      <a:pPr lvl="0" algn="ctr">
                        <a:buNone/>
                      </a:pPr>
                      <a:r>
                        <a:rPr lang="en-US" sz="1100" b="1" i="0" u="none" strike="noStrike" kern="1200" noProof="0">
                          <a:solidFill>
                            <a:srgbClr val="000000"/>
                          </a:solidFill>
                          <a:latin typeface="Montserrat"/>
                          <a:ea typeface="+mn-ea"/>
                          <a:cs typeface="+mn-cs"/>
                        </a:rPr>
                        <a:t>ZPBUS</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Primary Business Contact</a:t>
                      </a:r>
                    </a:p>
                  </a:txBody>
                  <a:tcPr/>
                </a:tc>
                <a:tc>
                  <a:txBody>
                    <a:bodyPr/>
                    <a:lstStyle/>
                    <a:p>
                      <a:pPr lvl="0" algn="ctr">
                        <a:buNone/>
                      </a:pPr>
                      <a:r>
                        <a:rPr lang="en-US" sz="1100" b="1" i="0" u="none" strike="noStrike" kern="1200" noProof="0">
                          <a:solidFill>
                            <a:srgbClr val="000000"/>
                          </a:solidFill>
                          <a:latin typeface="Montserrat"/>
                          <a:ea typeface="+mn-ea"/>
                          <a:cs typeface="+mn-cs"/>
                        </a:rPr>
                        <a:t>ZPRDIV</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Parent / Corp. Division</a:t>
                      </a:r>
                      <a:endParaRPr lang="en-US" sz="1100" b="0" i="0" u="none" strike="noStrike" kern="1200">
                        <a:solidFill>
                          <a:srgbClr val="000000"/>
                        </a:solidFill>
                        <a:latin typeface="Montserrat"/>
                        <a:ea typeface="+mn-ea"/>
                        <a:cs typeface="+mn-cs"/>
                      </a:endParaRPr>
                    </a:p>
                  </a:txBody>
                  <a:tcPr/>
                </a:tc>
                <a:extLst>
                  <a:ext uri="{0D108BD9-81ED-4DB2-BD59-A6C34878D82A}">
                    <a16:rowId xmlns:a16="http://schemas.microsoft.com/office/drawing/2014/main" val="36569017"/>
                  </a:ext>
                </a:extLst>
              </a:tr>
              <a:tr h="307074">
                <a:tc>
                  <a:txBody>
                    <a:bodyPr/>
                    <a:lstStyle/>
                    <a:p>
                      <a:pPr lvl="0" algn="ctr">
                        <a:buNone/>
                      </a:pPr>
                      <a:r>
                        <a:rPr lang="en-US" sz="1100" b="1" i="0" u="none" strike="noStrike" kern="1200" noProof="0">
                          <a:solidFill>
                            <a:srgbClr val="000000"/>
                          </a:solidFill>
                          <a:latin typeface="Montserrat"/>
                          <a:ea typeface="+mn-ea"/>
                          <a:cs typeface="+mn-cs"/>
                        </a:rPr>
                        <a:t>ZDIVCH</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Corp Division / Child Co.</a:t>
                      </a:r>
                    </a:p>
                  </a:txBody>
                  <a:tcPr/>
                </a:tc>
                <a:tc>
                  <a:txBody>
                    <a:bodyPr/>
                    <a:lstStyle/>
                    <a:p>
                      <a:pPr lvl="0" algn="ctr">
                        <a:lnSpc>
                          <a:spcPct val="100000"/>
                        </a:lnSpc>
                        <a:spcBef>
                          <a:spcPts val="0"/>
                        </a:spcBef>
                        <a:spcAft>
                          <a:spcPts val="0"/>
                        </a:spcAft>
                        <a:buNone/>
                      </a:pPr>
                      <a:r>
                        <a:rPr lang="en-US" sz="1100" b="1" i="0" u="none" strike="noStrike" kern="1200" noProof="0">
                          <a:solidFill>
                            <a:srgbClr val="000000"/>
                          </a:solidFill>
                          <a:latin typeface="Montserrat"/>
                          <a:ea typeface="+mn-ea"/>
                          <a:cs typeface="+mn-cs"/>
                        </a:rPr>
                        <a:t>ZOUTGE</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Primary Outage Contact</a:t>
                      </a:r>
                    </a:p>
                  </a:txBody>
                  <a:tcPr/>
                </a:tc>
                <a:tc>
                  <a:txBody>
                    <a:bodyPr/>
                    <a:lstStyle/>
                    <a:p>
                      <a:pPr lvl="0" algn="ctr">
                        <a:lnSpc>
                          <a:spcPct val="100000"/>
                        </a:lnSpc>
                        <a:spcBef>
                          <a:spcPts val="0"/>
                        </a:spcBef>
                        <a:spcAft>
                          <a:spcPts val="0"/>
                        </a:spcAft>
                        <a:buNone/>
                      </a:pPr>
                      <a:r>
                        <a:rPr lang="en-US" sz="1100" b="1" i="0" u="none" strike="noStrike" kern="1200" noProof="0">
                          <a:solidFill>
                            <a:srgbClr val="000000"/>
                          </a:solidFill>
                          <a:latin typeface="Montserrat"/>
                          <a:ea typeface="+mn-ea"/>
                          <a:cs typeface="+mn-cs"/>
                        </a:rPr>
                        <a:t>ZFRCHZ</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Franchise</a:t>
                      </a:r>
                      <a:endParaRPr lang="en-US" sz="1100" b="0" i="0" u="none" strike="noStrike" kern="1200">
                        <a:solidFill>
                          <a:srgbClr val="000000"/>
                        </a:solidFill>
                        <a:latin typeface="Montserrat"/>
                        <a:ea typeface="+mn-ea"/>
                        <a:cs typeface="+mn-cs"/>
                      </a:endParaRPr>
                    </a:p>
                  </a:txBody>
                  <a:tcPr/>
                </a:tc>
                <a:extLst>
                  <a:ext uri="{0D108BD9-81ED-4DB2-BD59-A6C34878D82A}">
                    <a16:rowId xmlns:a16="http://schemas.microsoft.com/office/drawing/2014/main" val="10149700"/>
                  </a:ext>
                </a:extLst>
              </a:tr>
              <a:tr h="255895">
                <a:tc>
                  <a:txBody>
                    <a:bodyPr/>
                    <a:lstStyle/>
                    <a:p>
                      <a:pPr lvl="0" algn="ctr">
                        <a:buNone/>
                      </a:pPr>
                      <a:r>
                        <a:rPr lang="en-US" sz="1100" b="1" i="0" u="none" strike="noStrike" kern="1200" noProof="0">
                          <a:solidFill>
                            <a:srgbClr val="000000"/>
                          </a:solidFill>
                          <a:latin typeface="Montserrat"/>
                          <a:ea typeface="+mn-ea"/>
                          <a:cs typeface="+mn-cs"/>
                        </a:rPr>
                        <a:t>ZFIMGR</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Financial Manager</a:t>
                      </a:r>
                      <a:endParaRPr lang="en-US" sz="1100" b="0" i="0" u="none" strike="noStrike" kern="1200">
                        <a:solidFill>
                          <a:srgbClr val="000000"/>
                        </a:solidFill>
                        <a:latin typeface="Montserrat"/>
                        <a:ea typeface="+mn-ea"/>
                        <a:cs typeface="+mn-cs"/>
                      </a:endParaRPr>
                    </a:p>
                  </a:txBody>
                  <a:tcPr/>
                </a:tc>
                <a:tc>
                  <a:txBody>
                    <a:bodyPr/>
                    <a:lstStyle/>
                    <a:p>
                      <a:pPr lvl="0" algn="ctr">
                        <a:buNone/>
                      </a:pPr>
                      <a:r>
                        <a:rPr lang="en-US" sz="1100" b="1" i="0" u="none" strike="noStrike" kern="1200" noProof="0">
                          <a:solidFill>
                            <a:srgbClr val="000000"/>
                          </a:solidFill>
                          <a:latin typeface="Montserrat"/>
                          <a:ea typeface="+mn-ea"/>
                          <a:cs typeface="+mn-cs"/>
                        </a:rPr>
                        <a:t>ZPOFA</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Power of Attorney</a:t>
                      </a:r>
                      <a:endParaRPr lang="en-US" sz="1100" b="0" i="0" u="none" strike="noStrike" kern="1200">
                        <a:solidFill>
                          <a:srgbClr val="000000"/>
                        </a:solidFill>
                        <a:latin typeface="Montserrat"/>
                        <a:ea typeface="+mn-ea"/>
                        <a:cs typeface="+mn-cs"/>
                      </a:endParaRPr>
                    </a:p>
                  </a:txBody>
                  <a:tcPr/>
                </a:tc>
                <a:tc>
                  <a:txBody>
                    <a:bodyPr/>
                    <a:lstStyle/>
                    <a:p>
                      <a:pPr lvl="0" algn="ctr">
                        <a:buNone/>
                      </a:pPr>
                      <a:r>
                        <a:rPr lang="en-US" sz="1100" b="1" i="0" u="none" strike="noStrike" kern="1200" noProof="0">
                          <a:solidFill>
                            <a:srgbClr val="000000"/>
                          </a:solidFill>
                          <a:latin typeface="Montserrat"/>
                          <a:ea typeface="+mn-ea"/>
                          <a:cs typeface="+mn-cs"/>
                        </a:rPr>
                        <a:t>ZPRSUB</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Parent / Subsidiary</a:t>
                      </a:r>
                      <a:endParaRPr lang="en-US" sz="1100" b="0" i="0" u="none" strike="noStrike" kern="1200">
                        <a:solidFill>
                          <a:srgbClr val="000000"/>
                        </a:solidFill>
                        <a:latin typeface="Montserrat"/>
                        <a:ea typeface="+mn-ea"/>
                        <a:cs typeface="+mn-cs"/>
                      </a:endParaRPr>
                    </a:p>
                  </a:txBody>
                  <a:tcPr/>
                </a:tc>
                <a:extLst>
                  <a:ext uri="{0D108BD9-81ED-4DB2-BD59-A6C34878D82A}">
                    <a16:rowId xmlns:a16="http://schemas.microsoft.com/office/drawing/2014/main" val="736552222"/>
                  </a:ext>
                </a:extLst>
              </a:tr>
            </a:tbl>
          </a:graphicData>
        </a:graphic>
      </p:graphicFrame>
      <p:sp>
        <p:nvSpPr>
          <p:cNvPr id="8" name="TextBox 7">
            <a:extLst>
              <a:ext uri="{FF2B5EF4-FFF2-40B4-BE49-F238E27FC236}">
                <a16:creationId xmlns:a16="http://schemas.microsoft.com/office/drawing/2014/main" id="{F396E990-83E8-68C0-70CE-FC690B98AB01}"/>
              </a:ext>
            </a:extLst>
          </p:cNvPr>
          <p:cNvSpPr txBox="1"/>
          <p:nvPr/>
        </p:nvSpPr>
        <p:spPr>
          <a:xfrm>
            <a:off x="8040" y="846760"/>
            <a:ext cx="12196759" cy="2154436"/>
          </a:xfrm>
          <a:prstGeom prst="rect">
            <a:avLst/>
          </a:prstGeom>
          <a:noFill/>
          <a:ln>
            <a:solidFill>
              <a:schemeClr val="bg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latin typeface="Montserrat"/>
              </a:rPr>
              <a:t>Business Partner Relationships are used to model relationships between one business partner and another. Different relationship categories define the type of relationship between the business partners. Relationship categories will be different between person business partner categories and organization business partner categories. For example, person business partner could be spouses, parent/minor, or roommates. Whereas a person and an organization business partner could have a contact person relationship, such as an office manager or account manager. In addition to relationship category, time restrictions,(i.e., validity start and end dates) will also be captured when maintaining the relationship in the S4HANA system. A Business Partner can have multiple relationships of the same category (e.g., an organization could have five contact persons).  </a:t>
            </a:r>
            <a:endParaRPr lang="en-US" sz="1100"/>
          </a:p>
          <a:p>
            <a:endParaRPr lang="en-US" sz="1100">
              <a:latin typeface="Montserrat"/>
            </a:endParaRPr>
          </a:p>
          <a:p>
            <a:r>
              <a:rPr lang="en-US" sz="1100">
                <a:latin typeface="Montserrat"/>
              </a:rPr>
              <a:t>Consumers has 77 Business Partner Relationship Categories in CRM7and 45 Business Partner Relationship Categories in S4HANA</a:t>
            </a:r>
            <a:r>
              <a:rPr lang="en-US" sz="1400">
                <a:latin typeface="Montserrat"/>
              </a:rPr>
              <a:t>. </a:t>
            </a:r>
            <a:r>
              <a:rPr lang="en-US" sz="1100">
                <a:latin typeface="Montserrat"/>
              </a:rPr>
              <a:t>SAP offers standard business partner categories and configuration for business partner relationship categories. The following custom business partner relationship will be used at Consumers. </a:t>
            </a:r>
            <a:r>
              <a:rPr lang="en-US" sz="1100" b="1">
                <a:latin typeface="Montserrat"/>
              </a:rPr>
              <a:t>Service Cloud v2 will be configured with the 45 Business Partner Relationship categories maintained in S4HANA. The existing relationship categories that are not mapped currently will be examined if there is any negative impact to data migration. The following custom business partner relationship will be used at Consumers. </a:t>
            </a:r>
            <a:endParaRPr lang="en-US" sz="1100" b="1"/>
          </a:p>
          <a:p>
            <a:endParaRPr lang="en-US" sz="1000" b="1">
              <a:latin typeface="Montserrat"/>
            </a:endParaRPr>
          </a:p>
        </p:txBody>
      </p:sp>
    </p:spTree>
    <p:extLst>
      <p:ext uri="{BB962C8B-B14F-4D97-AF65-F5344CB8AC3E}">
        <p14:creationId xmlns:p14="http://schemas.microsoft.com/office/powerpoint/2010/main" val="5083570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0F39A-1030-DE8A-8852-B14A7DDE7219}"/>
              </a:ext>
            </a:extLst>
          </p:cNvPr>
          <p:cNvSpPr>
            <a:spLocks noGrp="1"/>
          </p:cNvSpPr>
          <p:nvPr>
            <p:ph type="title"/>
          </p:nvPr>
        </p:nvSpPr>
        <p:spPr>
          <a:xfrm>
            <a:off x="212122" y="3584"/>
            <a:ext cx="11293033" cy="715663"/>
          </a:xfrm>
        </p:spPr>
        <p:txBody>
          <a:bodyPr anchor="ctr">
            <a:normAutofit/>
          </a:bodyPr>
          <a:lstStyle/>
          <a:p>
            <a:r>
              <a:rPr lang="en-US">
                <a:latin typeface="Montserrat"/>
              </a:rPr>
              <a:t>BP Relationships Categories in S4HANA </a:t>
            </a:r>
            <a:endParaRPr lang="en-US"/>
          </a:p>
        </p:txBody>
      </p:sp>
      <p:graphicFrame>
        <p:nvGraphicFramePr>
          <p:cNvPr id="7" name="Table 6">
            <a:extLst>
              <a:ext uri="{FF2B5EF4-FFF2-40B4-BE49-F238E27FC236}">
                <a16:creationId xmlns:a16="http://schemas.microsoft.com/office/drawing/2014/main" id="{3C531A11-6541-0552-362D-D9F32ED33B64}"/>
              </a:ext>
            </a:extLst>
          </p:cNvPr>
          <p:cNvGraphicFramePr>
            <a:graphicFrameLocks noGrp="1"/>
          </p:cNvGraphicFramePr>
          <p:nvPr>
            <p:extLst>
              <p:ext uri="{D42A27DB-BD31-4B8C-83A1-F6EECF244321}">
                <p14:modId xmlns:p14="http://schemas.microsoft.com/office/powerpoint/2010/main" val="2369953584"/>
              </p:ext>
            </p:extLst>
          </p:nvPr>
        </p:nvGraphicFramePr>
        <p:xfrm>
          <a:off x="209637" y="774612"/>
          <a:ext cx="4291747" cy="4084221"/>
        </p:xfrm>
        <a:graphic>
          <a:graphicData uri="http://schemas.openxmlformats.org/drawingml/2006/table">
            <a:tbl>
              <a:tblPr firstRow="1" bandRow="1">
                <a:tableStyleId>{6E25E649-3F16-4E02-A733-19D2CDBF48F0}</a:tableStyleId>
              </a:tblPr>
              <a:tblGrid>
                <a:gridCol w="1804412">
                  <a:extLst>
                    <a:ext uri="{9D8B030D-6E8A-4147-A177-3AD203B41FA5}">
                      <a16:colId xmlns:a16="http://schemas.microsoft.com/office/drawing/2014/main" val="1612380274"/>
                    </a:ext>
                  </a:extLst>
                </a:gridCol>
                <a:gridCol w="2487335">
                  <a:extLst>
                    <a:ext uri="{9D8B030D-6E8A-4147-A177-3AD203B41FA5}">
                      <a16:colId xmlns:a16="http://schemas.microsoft.com/office/drawing/2014/main" val="1939426159"/>
                    </a:ext>
                  </a:extLst>
                </a:gridCol>
              </a:tblGrid>
              <a:tr h="376947">
                <a:tc>
                  <a:txBody>
                    <a:bodyPr/>
                    <a:lstStyle/>
                    <a:p>
                      <a:pPr>
                        <a:buNone/>
                      </a:pPr>
                      <a:r>
                        <a:rPr lang="en-US" sz="1000" b="1">
                          <a:effectLst/>
                        </a:rPr>
                        <a:t>Relationship Category</a:t>
                      </a:r>
                    </a:p>
                  </a:txBody>
                  <a:tcPr anchor="ctr"/>
                </a:tc>
                <a:tc>
                  <a:txBody>
                    <a:bodyPr/>
                    <a:lstStyle/>
                    <a:p>
                      <a:pPr>
                        <a:buNone/>
                      </a:pPr>
                      <a:r>
                        <a:rPr lang="en-US" sz="1000" b="1">
                          <a:effectLst/>
                        </a:rPr>
                        <a:t>Description</a:t>
                      </a:r>
                    </a:p>
                  </a:txBody>
                  <a:tcPr anchor="ctr"/>
                </a:tc>
                <a:extLst>
                  <a:ext uri="{0D108BD9-81ED-4DB2-BD59-A6C34878D82A}">
                    <a16:rowId xmlns:a16="http://schemas.microsoft.com/office/drawing/2014/main" val="2303786335"/>
                  </a:ext>
                </a:extLst>
              </a:tr>
              <a:tr h="232820">
                <a:tc>
                  <a:txBody>
                    <a:bodyPr/>
                    <a:lstStyle/>
                    <a:p>
                      <a:pPr>
                        <a:buNone/>
                      </a:pPr>
                      <a:r>
                        <a:rPr lang="en-US" sz="1000" b="0">
                          <a:effectLst/>
                        </a:rPr>
                        <a:t>BUR001</a:t>
                      </a:r>
                    </a:p>
                  </a:txBody>
                  <a:tcPr anchor="ctr"/>
                </a:tc>
                <a:tc>
                  <a:txBody>
                    <a:bodyPr/>
                    <a:lstStyle/>
                    <a:p>
                      <a:pPr>
                        <a:buNone/>
                      </a:pPr>
                      <a:r>
                        <a:rPr lang="en-US" sz="1000" b="0"/>
                        <a:t>Has Contact Person</a:t>
                      </a:r>
                    </a:p>
                  </a:txBody>
                  <a:tcPr anchor="ctr"/>
                </a:tc>
                <a:extLst>
                  <a:ext uri="{0D108BD9-81ED-4DB2-BD59-A6C34878D82A}">
                    <a16:rowId xmlns:a16="http://schemas.microsoft.com/office/drawing/2014/main" val="1109438910"/>
                  </a:ext>
                </a:extLst>
              </a:tr>
              <a:tr h="232820">
                <a:tc>
                  <a:txBody>
                    <a:bodyPr/>
                    <a:lstStyle/>
                    <a:p>
                      <a:pPr>
                        <a:buNone/>
                      </a:pPr>
                      <a:r>
                        <a:rPr lang="en-US" sz="1000" b="0">
                          <a:effectLst/>
                        </a:rPr>
                        <a:t>BUR002</a:t>
                      </a:r>
                    </a:p>
                  </a:txBody>
                  <a:tcPr anchor="ctr"/>
                </a:tc>
                <a:tc>
                  <a:txBody>
                    <a:bodyPr/>
                    <a:lstStyle/>
                    <a:p>
                      <a:pPr>
                        <a:buNone/>
                      </a:pPr>
                      <a:r>
                        <a:rPr lang="en-US" sz="1000" b="0"/>
                        <a:t>Has Activity Partner</a:t>
                      </a:r>
                    </a:p>
                  </a:txBody>
                  <a:tcPr anchor="ctr"/>
                </a:tc>
                <a:extLst>
                  <a:ext uri="{0D108BD9-81ED-4DB2-BD59-A6C34878D82A}">
                    <a16:rowId xmlns:a16="http://schemas.microsoft.com/office/drawing/2014/main" val="3422357598"/>
                  </a:ext>
                </a:extLst>
              </a:tr>
              <a:tr h="376947">
                <a:tc>
                  <a:txBody>
                    <a:bodyPr/>
                    <a:lstStyle/>
                    <a:p>
                      <a:pPr>
                        <a:buNone/>
                      </a:pPr>
                      <a:r>
                        <a:rPr lang="en-US" sz="1000" b="0">
                          <a:effectLst/>
                        </a:rPr>
                        <a:t>BUR003</a:t>
                      </a:r>
                    </a:p>
                  </a:txBody>
                  <a:tcPr anchor="ctr"/>
                </a:tc>
                <a:tc>
                  <a:txBody>
                    <a:bodyPr/>
                    <a:lstStyle/>
                    <a:p>
                      <a:pPr>
                        <a:buNone/>
                      </a:pPr>
                      <a:r>
                        <a:rPr lang="en-US" sz="1000" b="0"/>
                        <a:t>Has Shared Living Arrangement Member</a:t>
                      </a:r>
                    </a:p>
                  </a:txBody>
                  <a:tcPr anchor="ctr"/>
                </a:tc>
                <a:extLst>
                  <a:ext uri="{0D108BD9-81ED-4DB2-BD59-A6C34878D82A}">
                    <a16:rowId xmlns:a16="http://schemas.microsoft.com/office/drawing/2014/main" val="3497106244"/>
                  </a:ext>
                </a:extLst>
              </a:tr>
              <a:tr h="232820">
                <a:tc>
                  <a:txBody>
                    <a:bodyPr/>
                    <a:lstStyle/>
                    <a:p>
                      <a:pPr>
                        <a:buNone/>
                      </a:pPr>
                      <a:r>
                        <a:rPr lang="en-US" sz="1000" b="0">
                          <a:effectLst/>
                        </a:rPr>
                        <a:t>BUR004</a:t>
                      </a:r>
                    </a:p>
                  </a:txBody>
                  <a:tcPr anchor="ctr"/>
                </a:tc>
                <a:tc>
                  <a:txBody>
                    <a:bodyPr/>
                    <a:lstStyle/>
                    <a:p>
                      <a:pPr>
                        <a:buNone/>
                      </a:pPr>
                      <a:r>
                        <a:rPr lang="en-US" sz="1000" b="0"/>
                        <a:t>Is Married To</a:t>
                      </a:r>
                    </a:p>
                  </a:txBody>
                  <a:tcPr anchor="ctr"/>
                </a:tc>
                <a:extLst>
                  <a:ext uri="{0D108BD9-81ED-4DB2-BD59-A6C34878D82A}">
                    <a16:rowId xmlns:a16="http://schemas.microsoft.com/office/drawing/2014/main" val="1463648097"/>
                  </a:ext>
                </a:extLst>
              </a:tr>
              <a:tr h="232820">
                <a:tc>
                  <a:txBody>
                    <a:bodyPr/>
                    <a:lstStyle/>
                    <a:p>
                      <a:pPr lvl="0">
                        <a:buNone/>
                      </a:pPr>
                      <a:r>
                        <a:rPr lang="en-US" sz="1000" b="0">
                          <a:effectLst/>
                        </a:rPr>
                        <a:t>BUR011</a:t>
                      </a:r>
                      <a:endParaRPr lang="en-US"/>
                    </a:p>
                  </a:txBody>
                  <a:tcPr anchor="ctr"/>
                </a:tc>
                <a:tc>
                  <a:txBody>
                    <a:bodyPr/>
                    <a:lstStyle/>
                    <a:p>
                      <a:pPr lvl="0">
                        <a:buNone/>
                      </a:pPr>
                      <a:r>
                        <a:rPr lang="en-US" sz="1000" b="0"/>
                        <a:t>Has the Employee Responsible</a:t>
                      </a:r>
                      <a:endParaRPr lang="en-US"/>
                    </a:p>
                  </a:txBody>
                  <a:tcPr anchor="ctr"/>
                </a:tc>
                <a:extLst>
                  <a:ext uri="{0D108BD9-81ED-4DB2-BD59-A6C34878D82A}">
                    <a16:rowId xmlns:a16="http://schemas.microsoft.com/office/drawing/2014/main" val="2012842152"/>
                  </a:ext>
                </a:extLst>
              </a:tr>
              <a:tr h="232820">
                <a:tc>
                  <a:txBody>
                    <a:bodyPr/>
                    <a:lstStyle/>
                    <a:p>
                      <a:pPr lvl="0">
                        <a:buNone/>
                      </a:pPr>
                      <a:r>
                        <a:rPr lang="en-US" sz="1000" b="0">
                          <a:effectLst/>
                        </a:rPr>
                        <a:t>BUR013</a:t>
                      </a:r>
                      <a:endParaRPr lang="en-US"/>
                    </a:p>
                  </a:txBody>
                  <a:tcPr anchor="ctr"/>
                </a:tc>
                <a:tc>
                  <a:txBody>
                    <a:bodyPr/>
                    <a:lstStyle/>
                    <a:p>
                      <a:pPr lvl="0">
                        <a:buNone/>
                      </a:pPr>
                      <a:r>
                        <a:rPr lang="en-US" sz="1000" b="0"/>
                        <a:t>Is Replaced By</a:t>
                      </a:r>
                      <a:endParaRPr lang="en-US"/>
                    </a:p>
                  </a:txBody>
                  <a:tcPr anchor="ctr"/>
                </a:tc>
                <a:extLst>
                  <a:ext uri="{0D108BD9-81ED-4DB2-BD59-A6C34878D82A}">
                    <a16:rowId xmlns:a16="http://schemas.microsoft.com/office/drawing/2014/main" val="3910469361"/>
                  </a:ext>
                </a:extLst>
              </a:tr>
              <a:tr h="251847">
                <a:tc>
                  <a:txBody>
                    <a:bodyPr/>
                    <a:lstStyle/>
                    <a:p>
                      <a:pPr lvl="0">
                        <a:buNone/>
                      </a:pPr>
                      <a:r>
                        <a:rPr lang="en-US" sz="1000" b="0">
                          <a:effectLst/>
                        </a:rPr>
                        <a:t>BUR025</a:t>
                      </a:r>
                    </a:p>
                  </a:txBody>
                  <a:tcPr anchor="ctr"/>
                </a:tc>
                <a:tc>
                  <a:txBody>
                    <a:bodyPr/>
                    <a:lstStyle/>
                    <a:p>
                      <a:pPr lvl="0">
                        <a:buNone/>
                      </a:pPr>
                      <a:r>
                        <a:rPr lang="en-US" sz="1000" b="0"/>
                        <a:t>Is Inspector Of</a:t>
                      </a:r>
                    </a:p>
                  </a:txBody>
                  <a:tcPr anchor="ctr"/>
                </a:tc>
                <a:extLst>
                  <a:ext uri="{0D108BD9-81ED-4DB2-BD59-A6C34878D82A}">
                    <a16:rowId xmlns:a16="http://schemas.microsoft.com/office/drawing/2014/main" val="906615534"/>
                  </a:ext>
                </a:extLst>
              </a:tr>
              <a:tr h="232820">
                <a:tc>
                  <a:txBody>
                    <a:bodyPr/>
                    <a:lstStyle/>
                    <a:p>
                      <a:pPr lvl="0">
                        <a:buNone/>
                      </a:pPr>
                      <a:r>
                        <a:rPr lang="en-US" sz="1000" b="0">
                          <a:effectLst/>
                        </a:rPr>
                        <a:t>BUR998</a:t>
                      </a:r>
                    </a:p>
                  </a:txBody>
                  <a:tcPr anchor="ctr"/>
                </a:tc>
                <a:tc>
                  <a:txBody>
                    <a:bodyPr/>
                    <a:lstStyle/>
                    <a:p>
                      <a:pPr lvl="0">
                        <a:buNone/>
                      </a:pPr>
                      <a:r>
                        <a:rPr lang="en-US" sz="1000" b="0"/>
                        <a:t>Is Partner of</a:t>
                      </a:r>
                    </a:p>
                  </a:txBody>
                  <a:tcPr anchor="ctr"/>
                </a:tc>
                <a:extLst>
                  <a:ext uri="{0D108BD9-81ED-4DB2-BD59-A6C34878D82A}">
                    <a16:rowId xmlns:a16="http://schemas.microsoft.com/office/drawing/2014/main" val="1258813571"/>
                  </a:ext>
                </a:extLst>
              </a:tr>
              <a:tr h="232820">
                <a:tc>
                  <a:txBody>
                    <a:bodyPr/>
                    <a:lstStyle/>
                    <a:p>
                      <a:pPr lvl="0">
                        <a:buNone/>
                      </a:pPr>
                      <a:r>
                        <a:rPr lang="en-US" sz="1000" b="0">
                          <a:effectLst/>
                        </a:rPr>
                        <a:t>BURC01</a:t>
                      </a:r>
                      <a:endParaRPr lang="en-US"/>
                    </a:p>
                  </a:txBody>
                  <a:tcPr anchor="ctr"/>
                </a:tc>
                <a:tc>
                  <a:txBody>
                    <a:bodyPr/>
                    <a:lstStyle/>
                    <a:p>
                      <a:pPr lvl="0">
                        <a:buNone/>
                      </a:pPr>
                      <a:r>
                        <a:rPr lang="en-US" sz="1000" b="0"/>
                        <a:t>Is Shareholder Of</a:t>
                      </a:r>
                      <a:endParaRPr lang="en-US"/>
                    </a:p>
                  </a:txBody>
                  <a:tcPr anchor="ctr"/>
                </a:tc>
                <a:extLst>
                  <a:ext uri="{0D108BD9-81ED-4DB2-BD59-A6C34878D82A}">
                    <a16:rowId xmlns:a16="http://schemas.microsoft.com/office/drawing/2014/main" val="1045604235"/>
                  </a:ext>
                </a:extLst>
              </a:tr>
              <a:tr h="232820">
                <a:tc>
                  <a:txBody>
                    <a:bodyPr/>
                    <a:lstStyle/>
                    <a:p>
                      <a:pPr lvl="0">
                        <a:buNone/>
                      </a:pPr>
                      <a:r>
                        <a:rPr lang="en-US" sz="1000" b="0">
                          <a:effectLst/>
                        </a:rPr>
                        <a:t>CHM001</a:t>
                      </a:r>
                      <a:endParaRPr lang="en-US"/>
                    </a:p>
                  </a:txBody>
                  <a:tcPr anchor="ctr"/>
                </a:tc>
                <a:tc>
                  <a:txBody>
                    <a:bodyPr/>
                    <a:lstStyle/>
                    <a:p>
                      <a:pPr lvl="0">
                        <a:buNone/>
                      </a:pPr>
                      <a:r>
                        <a:rPr lang="en-US" sz="1000" b="0"/>
                        <a:t>Responsible for Channel Partner</a:t>
                      </a:r>
                      <a:endParaRPr lang="en-US"/>
                    </a:p>
                  </a:txBody>
                  <a:tcPr anchor="ctr"/>
                </a:tc>
                <a:extLst>
                  <a:ext uri="{0D108BD9-81ED-4DB2-BD59-A6C34878D82A}">
                    <a16:rowId xmlns:a16="http://schemas.microsoft.com/office/drawing/2014/main" val="3766656216"/>
                  </a:ext>
                </a:extLst>
              </a:tr>
              <a:tr h="232820">
                <a:tc>
                  <a:txBody>
                    <a:bodyPr/>
                    <a:lstStyle/>
                    <a:p>
                      <a:pPr lvl="0">
                        <a:buNone/>
                      </a:pPr>
                      <a:r>
                        <a:rPr lang="en-US" sz="1000" b="0">
                          <a:effectLst/>
                        </a:rPr>
                        <a:t>CRMS03</a:t>
                      </a:r>
                      <a:endParaRPr lang="en-US"/>
                    </a:p>
                  </a:txBody>
                  <a:tcPr anchor="ctr"/>
                </a:tc>
                <a:tc>
                  <a:txBody>
                    <a:bodyPr/>
                    <a:lstStyle/>
                    <a:p>
                      <a:pPr lvl="0">
                        <a:buNone/>
                      </a:pPr>
                      <a:r>
                        <a:rPr lang="en-US" sz="1000" b="0"/>
                        <a:t>Is the Responsible Scrapper For</a:t>
                      </a:r>
                      <a:endParaRPr lang="en-US"/>
                    </a:p>
                  </a:txBody>
                  <a:tcPr anchor="ctr"/>
                </a:tc>
                <a:extLst>
                  <a:ext uri="{0D108BD9-81ED-4DB2-BD59-A6C34878D82A}">
                    <a16:rowId xmlns:a16="http://schemas.microsoft.com/office/drawing/2014/main" val="2465633610"/>
                  </a:ext>
                </a:extLst>
              </a:tr>
              <a:tr h="232820">
                <a:tc>
                  <a:txBody>
                    <a:bodyPr/>
                    <a:lstStyle/>
                    <a:p>
                      <a:pPr lvl="0">
                        <a:buNone/>
                      </a:pPr>
                      <a:r>
                        <a:rPr lang="en-US" sz="1000" b="0">
                          <a:effectLst/>
                        </a:rPr>
                        <a:t>EDO001</a:t>
                      </a:r>
                      <a:endParaRPr lang="en-US"/>
                    </a:p>
                  </a:txBody>
                  <a:tcPr anchor="ctr"/>
                </a:tc>
                <a:tc>
                  <a:txBody>
                    <a:bodyPr/>
                    <a:lstStyle/>
                    <a:p>
                      <a:pPr lvl="0">
                        <a:buNone/>
                      </a:pPr>
                      <a:r>
                        <a:rPr lang="en-US" sz="1000" b="0"/>
                        <a:t>Singapore: Has </a:t>
                      </a:r>
                      <a:r>
                        <a:rPr lang="en-US" sz="1000" b="0" err="1"/>
                        <a:t>Peppol</a:t>
                      </a:r>
                      <a:r>
                        <a:rPr lang="en-US" sz="1000" b="0"/>
                        <a:t> Endpoint ID</a:t>
                      </a:r>
                      <a:endParaRPr lang="en-US"/>
                    </a:p>
                  </a:txBody>
                  <a:tcPr anchor="ctr"/>
                </a:tc>
                <a:extLst>
                  <a:ext uri="{0D108BD9-81ED-4DB2-BD59-A6C34878D82A}">
                    <a16:rowId xmlns:a16="http://schemas.microsoft.com/office/drawing/2014/main" val="3631960704"/>
                  </a:ext>
                </a:extLst>
              </a:tr>
              <a:tr h="376947">
                <a:tc>
                  <a:txBody>
                    <a:bodyPr/>
                    <a:lstStyle/>
                    <a:p>
                      <a:pPr lvl="0">
                        <a:buNone/>
                      </a:pPr>
                      <a:r>
                        <a:rPr lang="en-US" sz="1000" b="0">
                          <a:effectLst/>
                        </a:rPr>
                        <a:t>FS0030</a:t>
                      </a:r>
                      <a:endParaRPr lang="en-US"/>
                    </a:p>
                  </a:txBody>
                  <a:tcPr anchor="ctr"/>
                </a:tc>
                <a:tc>
                  <a:txBody>
                    <a:bodyPr/>
                    <a:lstStyle/>
                    <a:p>
                      <a:pPr lvl="0">
                        <a:buNone/>
                      </a:pPr>
                      <a:r>
                        <a:rPr lang="en-US" sz="1000" b="0"/>
                        <a:t>Borrower Entity Member</a:t>
                      </a:r>
                      <a:endParaRPr lang="en-US"/>
                    </a:p>
                  </a:txBody>
                  <a:tcPr anchor="ctr"/>
                </a:tc>
                <a:extLst>
                  <a:ext uri="{0D108BD9-81ED-4DB2-BD59-A6C34878D82A}">
                    <a16:rowId xmlns:a16="http://schemas.microsoft.com/office/drawing/2014/main" val="59291135"/>
                  </a:ext>
                </a:extLst>
              </a:tr>
              <a:tr h="232820">
                <a:tc>
                  <a:txBody>
                    <a:bodyPr/>
                    <a:lstStyle/>
                    <a:p>
                      <a:pPr lvl="0">
                        <a:buNone/>
                      </a:pPr>
                      <a:r>
                        <a:rPr lang="en-US" sz="1000" b="0">
                          <a:effectLst/>
                        </a:rPr>
                        <a:t>HEA010</a:t>
                      </a:r>
                      <a:endParaRPr lang="en-US"/>
                    </a:p>
                  </a:txBody>
                  <a:tcPr anchor="ctr"/>
                </a:tc>
                <a:tc>
                  <a:txBody>
                    <a:bodyPr/>
                    <a:lstStyle/>
                    <a:p>
                      <a:pPr lvl="0">
                        <a:buNone/>
                      </a:pPr>
                      <a:r>
                        <a:rPr lang="en-US" sz="1000" b="0"/>
                        <a:t>Has Hospital Employee</a:t>
                      </a:r>
                      <a:endParaRPr lang="en-US"/>
                    </a:p>
                  </a:txBody>
                  <a:tcPr anchor="ctr"/>
                </a:tc>
                <a:extLst>
                  <a:ext uri="{0D108BD9-81ED-4DB2-BD59-A6C34878D82A}">
                    <a16:rowId xmlns:a16="http://schemas.microsoft.com/office/drawing/2014/main" val="1033772136"/>
                  </a:ext>
                </a:extLst>
              </a:tr>
            </a:tbl>
          </a:graphicData>
        </a:graphic>
      </p:graphicFrame>
      <p:graphicFrame>
        <p:nvGraphicFramePr>
          <p:cNvPr id="8" name="Table 7">
            <a:extLst>
              <a:ext uri="{FF2B5EF4-FFF2-40B4-BE49-F238E27FC236}">
                <a16:creationId xmlns:a16="http://schemas.microsoft.com/office/drawing/2014/main" id="{B6FE1698-8D8A-0320-6D3A-DEBC66B1D6A1}"/>
              </a:ext>
            </a:extLst>
          </p:cNvPr>
          <p:cNvGraphicFramePr>
            <a:graphicFrameLocks noGrp="1"/>
          </p:cNvGraphicFramePr>
          <p:nvPr>
            <p:extLst>
              <p:ext uri="{D42A27DB-BD31-4B8C-83A1-F6EECF244321}">
                <p14:modId xmlns:p14="http://schemas.microsoft.com/office/powerpoint/2010/main" val="2188915842"/>
              </p:ext>
            </p:extLst>
          </p:nvPr>
        </p:nvGraphicFramePr>
        <p:xfrm>
          <a:off x="4673854" y="1193752"/>
          <a:ext cx="3800537" cy="3963744"/>
        </p:xfrm>
        <a:graphic>
          <a:graphicData uri="http://schemas.openxmlformats.org/drawingml/2006/table">
            <a:tbl>
              <a:tblPr bandRow="1">
                <a:tableStyleId>{6E25E649-3F16-4E02-A733-19D2CDBF48F0}</a:tableStyleId>
              </a:tblPr>
              <a:tblGrid>
                <a:gridCol w="1084973">
                  <a:extLst>
                    <a:ext uri="{9D8B030D-6E8A-4147-A177-3AD203B41FA5}">
                      <a16:colId xmlns:a16="http://schemas.microsoft.com/office/drawing/2014/main" val="1612380274"/>
                    </a:ext>
                  </a:extLst>
                </a:gridCol>
                <a:gridCol w="2715564">
                  <a:extLst>
                    <a:ext uri="{9D8B030D-6E8A-4147-A177-3AD203B41FA5}">
                      <a16:colId xmlns:a16="http://schemas.microsoft.com/office/drawing/2014/main" val="1939426159"/>
                    </a:ext>
                  </a:extLst>
                </a:gridCol>
              </a:tblGrid>
              <a:tr h="247734">
                <a:tc>
                  <a:txBody>
                    <a:bodyPr/>
                    <a:lstStyle/>
                    <a:p>
                      <a:pPr>
                        <a:buNone/>
                      </a:pPr>
                      <a:r>
                        <a:rPr lang="en-US" sz="1000" b="0">
                          <a:effectLst/>
                        </a:rPr>
                        <a:t>FS0030</a:t>
                      </a:r>
                    </a:p>
                  </a:txBody>
                  <a:tcPr anchor="ctr"/>
                </a:tc>
                <a:tc>
                  <a:txBody>
                    <a:bodyPr/>
                    <a:lstStyle/>
                    <a:p>
                      <a:pPr>
                        <a:buNone/>
                      </a:pPr>
                      <a:r>
                        <a:rPr lang="en-US" sz="1000" b="0"/>
                        <a:t>Borrower Entity Member</a:t>
                      </a:r>
                    </a:p>
                  </a:txBody>
                  <a:tcPr anchor="ctr"/>
                </a:tc>
                <a:extLst>
                  <a:ext uri="{0D108BD9-81ED-4DB2-BD59-A6C34878D82A}">
                    <a16:rowId xmlns:a16="http://schemas.microsoft.com/office/drawing/2014/main" val="178312031"/>
                  </a:ext>
                </a:extLst>
              </a:tr>
              <a:tr h="247734">
                <a:tc>
                  <a:txBody>
                    <a:bodyPr/>
                    <a:lstStyle/>
                    <a:p>
                      <a:pPr>
                        <a:buNone/>
                      </a:pPr>
                      <a:r>
                        <a:rPr lang="en-US" sz="1000" b="0">
                          <a:effectLst/>
                        </a:rPr>
                        <a:t>HEA010</a:t>
                      </a:r>
                    </a:p>
                  </a:txBody>
                  <a:tcPr anchor="ctr"/>
                </a:tc>
                <a:tc>
                  <a:txBody>
                    <a:bodyPr/>
                    <a:lstStyle/>
                    <a:p>
                      <a:pPr>
                        <a:buNone/>
                      </a:pPr>
                      <a:r>
                        <a:rPr lang="en-US" sz="1000" b="0"/>
                        <a:t>Has Hospital Employee</a:t>
                      </a:r>
                    </a:p>
                  </a:txBody>
                  <a:tcPr anchor="ctr"/>
                </a:tc>
                <a:extLst>
                  <a:ext uri="{0D108BD9-81ED-4DB2-BD59-A6C34878D82A}">
                    <a16:rowId xmlns:a16="http://schemas.microsoft.com/office/drawing/2014/main" val="3854269319"/>
                  </a:ext>
                </a:extLst>
              </a:tr>
              <a:tr h="247734">
                <a:tc>
                  <a:txBody>
                    <a:bodyPr/>
                    <a:lstStyle/>
                    <a:p>
                      <a:pPr>
                        <a:buNone/>
                      </a:pPr>
                      <a:r>
                        <a:rPr lang="en-US" sz="1000" b="0">
                          <a:effectLst/>
                        </a:rPr>
                        <a:t>HEA020</a:t>
                      </a:r>
                    </a:p>
                  </a:txBody>
                  <a:tcPr anchor="ctr"/>
                </a:tc>
                <a:tc>
                  <a:txBody>
                    <a:bodyPr/>
                    <a:lstStyle/>
                    <a:p>
                      <a:pPr>
                        <a:buNone/>
                      </a:pPr>
                      <a:r>
                        <a:rPr lang="en-US" sz="1000" b="0"/>
                        <a:t>Has Hospital Employee</a:t>
                      </a:r>
                    </a:p>
                  </a:txBody>
                  <a:tcPr anchor="ctr"/>
                </a:tc>
                <a:extLst>
                  <a:ext uri="{0D108BD9-81ED-4DB2-BD59-A6C34878D82A}">
                    <a16:rowId xmlns:a16="http://schemas.microsoft.com/office/drawing/2014/main" val="4166371433"/>
                  </a:ext>
                </a:extLst>
              </a:tr>
              <a:tr h="247734">
                <a:tc>
                  <a:txBody>
                    <a:bodyPr/>
                    <a:lstStyle/>
                    <a:p>
                      <a:pPr>
                        <a:buNone/>
                      </a:pPr>
                      <a:r>
                        <a:rPr lang="en-US" sz="1000" b="0">
                          <a:effectLst/>
                        </a:rPr>
                        <a:t>Z3PRTY</a:t>
                      </a:r>
                    </a:p>
                  </a:txBody>
                  <a:tcPr anchor="ctr"/>
                </a:tc>
                <a:tc>
                  <a:txBody>
                    <a:bodyPr/>
                    <a:lstStyle/>
                    <a:p>
                      <a:pPr>
                        <a:buNone/>
                      </a:pPr>
                      <a:r>
                        <a:rPr lang="en-US" sz="1000" b="0"/>
                        <a:t>Has 3rd Party</a:t>
                      </a:r>
                    </a:p>
                  </a:txBody>
                  <a:tcPr anchor="ctr"/>
                </a:tc>
                <a:extLst>
                  <a:ext uri="{0D108BD9-81ED-4DB2-BD59-A6C34878D82A}">
                    <a16:rowId xmlns:a16="http://schemas.microsoft.com/office/drawing/2014/main" val="2616199622"/>
                  </a:ext>
                </a:extLst>
              </a:tr>
              <a:tr h="247734">
                <a:tc>
                  <a:txBody>
                    <a:bodyPr/>
                    <a:lstStyle/>
                    <a:p>
                      <a:pPr>
                        <a:buNone/>
                      </a:pPr>
                      <a:r>
                        <a:rPr lang="en-US" sz="1000" b="0">
                          <a:effectLst/>
                        </a:rPr>
                        <a:t>ZA/P</a:t>
                      </a:r>
                    </a:p>
                  </a:txBody>
                  <a:tcPr anchor="ctr"/>
                </a:tc>
                <a:tc>
                  <a:txBody>
                    <a:bodyPr/>
                    <a:lstStyle/>
                    <a:p>
                      <a:pPr>
                        <a:buNone/>
                      </a:pPr>
                      <a:r>
                        <a:rPr lang="en-US" sz="1000" b="0"/>
                        <a:t>Has Accounts Payable Contact</a:t>
                      </a:r>
                    </a:p>
                  </a:txBody>
                  <a:tcPr anchor="ctr"/>
                </a:tc>
                <a:extLst>
                  <a:ext uri="{0D108BD9-81ED-4DB2-BD59-A6C34878D82A}">
                    <a16:rowId xmlns:a16="http://schemas.microsoft.com/office/drawing/2014/main" val="933124426"/>
                  </a:ext>
                </a:extLst>
              </a:tr>
              <a:tr h="247734">
                <a:tc>
                  <a:txBody>
                    <a:bodyPr/>
                    <a:lstStyle/>
                    <a:p>
                      <a:pPr>
                        <a:buNone/>
                      </a:pPr>
                      <a:r>
                        <a:rPr lang="en-US" sz="1000" b="0">
                          <a:effectLst/>
                        </a:rPr>
                        <a:t>ZABUS1</a:t>
                      </a:r>
                    </a:p>
                  </a:txBody>
                  <a:tcPr anchor="ctr"/>
                </a:tc>
                <a:tc>
                  <a:txBody>
                    <a:bodyPr/>
                    <a:lstStyle/>
                    <a:p>
                      <a:pPr>
                        <a:buNone/>
                      </a:pPr>
                      <a:r>
                        <a:rPr lang="en-US" sz="1000" b="0"/>
                        <a:t>Has Alternate Business Contact1</a:t>
                      </a:r>
                    </a:p>
                  </a:txBody>
                  <a:tcPr anchor="ctr"/>
                </a:tc>
                <a:extLst>
                  <a:ext uri="{0D108BD9-81ED-4DB2-BD59-A6C34878D82A}">
                    <a16:rowId xmlns:a16="http://schemas.microsoft.com/office/drawing/2014/main" val="536400279"/>
                  </a:ext>
                </a:extLst>
              </a:tr>
              <a:tr h="247734">
                <a:tc>
                  <a:txBody>
                    <a:bodyPr/>
                    <a:lstStyle/>
                    <a:p>
                      <a:pPr>
                        <a:buNone/>
                      </a:pPr>
                      <a:r>
                        <a:rPr lang="en-US" sz="1000" b="0">
                          <a:effectLst/>
                        </a:rPr>
                        <a:t>ZABUS2</a:t>
                      </a:r>
                    </a:p>
                  </a:txBody>
                  <a:tcPr anchor="ctr"/>
                </a:tc>
                <a:tc>
                  <a:txBody>
                    <a:bodyPr/>
                    <a:lstStyle/>
                    <a:p>
                      <a:pPr>
                        <a:buNone/>
                      </a:pPr>
                      <a:r>
                        <a:rPr lang="en-US" sz="1000" b="0"/>
                        <a:t>Has Alternate Business Contact2</a:t>
                      </a:r>
                    </a:p>
                  </a:txBody>
                  <a:tcPr anchor="ctr"/>
                </a:tc>
                <a:extLst>
                  <a:ext uri="{0D108BD9-81ED-4DB2-BD59-A6C34878D82A}">
                    <a16:rowId xmlns:a16="http://schemas.microsoft.com/office/drawing/2014/main" val="3947631872"/>
                  </a:ext>
                </a:extLst>
              </a:tr>
              <a:tr h="247734">
                <a:tc>
                  <a:txBody>
                    <a:bodyPr/>
                    <a:lstStyle/>
                    <a:p>
                      <a:pPr>
                        <a:buNone/>
                      </a:pPr>
                      <a:r>
                        <a:rPr lang="en-US" sz="1000" b="0">
                          <a:effectLst/>
                        </a:rPr>
                        <a:t>ZBNKRP</a:t>
                      </a:r>
                    </a:p>
                  </a:txBody>
                  <a:tcPr anchor="ctr"/>
                </a:tc>
                <a:tc>
                  <a:txBody>
                    <a:bodyPr/>
                    <a:lstStyle/>
                    <a:p>
                      <a:pPr>
                        <a:buNone/>
                      </a:pPr>
                      <a:r>
                        <a:rPr lang="en-US" sz="1000" b="0"/>
                        <a:t>Has Bankruptcy Contact</a:t>
                      </a:r>
                    </a:p>
                  </a:txBody>
                  <a:tcPr anchor="ctr"/>
                </a:tc>
                <a:extLst>
                  <a:ext uri="{0D108BD9-81ED-4DB2-BD59-A6C34878D82A}">
                    <a16:rowId xmlns:a16="http://schemas.microsoft.com/office/drawing/2014/main" val="2951449564"/>
                  </a:ext>
                </a:extLst>
              </a:tr>
              <a:tr h="247734">
                <a:tc>
                  <a:txBody>
                    <a:bodyPr/>
                    <a:lstStyle/>
                    <a:p>
                      <a:pPr>
                        <a:buNone/>
                      </a:pPr>
                      <a:r>
                        <a:rPr lang="en-US" sz="1000" b="0">
                          <a:effectLst/>
                        </a:rPr>
                        <a:t>ZCAM</a:t>
                      </a:r>
                    </a:p>
                  </a:txBody>
                  <a:tcPr anchor="ctr"/>
                </a:tc>
                <a:tc>
                  <a:txBody>
                    <a:bodyPr/>
                    <a:lstStyle/>
                    <a:p>
                      <a:pPr>
                        <a:buNone/>
                      </a:pPr>
                      <a:r>
                        <a:rPr lang="en-US" sz="1000" b="0"/>
                        <a:t>Has Corporate Account Manager</a:t>
                      </a:r>
                    </a:p>
                  </a:txBody>
                  <a:tcPr anchor="ctr"/>
                </a:tc>
                <a:extLst>
                  <a:ext uri="{0D108BD9-81ED-4DB2-BD59-A6C34878D82A}">
                    <a16:rowId xmlns:a16="http://schemas.microsoft.com/office/drawing/2014/main" val="3956532769"/>
                  </a:ext>
                </a:extLst>
              </a:tr>
              <a:tr h="247734">
                <a:tc>
                  <a:txBody>
                    <a:bodyPr/>
                    <a:lstStyle/>
                    <a:p>
                      <a:pPr>
                        <a:buNone/>
                      </a:pPr>
                      <a:r>
                        <a:rPr lang="en-US" sz="1000" b="0">
                          <a:effectLst/>
                        </a:rPr>
                        <a:t>ZCONT</a:t>
                      </a:r>
                    </a:p>
                  </a:txBody>
                  <a:tcPr anchor="ctr"/>
                </a:tc>
                <a:tc>
                  <a:txBody>
                    <a:bodyPr/>
                    <a:lstStyle/>
                    <a:p>
                      <a:pPr>
                        <a:buNone/>
                      </a:pPr>
                      <a:r>
                        <a:rPr lang="en-US" sz="1000" b="0"/>
                        <a:t>Has </a:t>
                      </a:r>
                      <a:r>
                        <a:rPr lang="en-US" sz="1000" b="0" err="1"/>
                        <a:t>Misc</a:t>
                      </a:r>
                      <a:r>
                        <a:rPr lang="en-US" sz="1000" b="0"/>
                        <a:t> Contact Person (</a:t>
                      </a:r>
                      <a:r>
                        <a:rPr lang="en-US" sz="1000" b="0" err="1"/>
                        <a:t>BusCtr</a:t>
                      </a:r>
                      <a:r>
                        <a:rPr lang="en-US" sz="1000" b="0"/>
                        <a:t>)</a:t>
                      </a:r>
                    </a:p>
                  </a:txBody>
                  <a:tcPr anchor="ctr"/>
                </a:tc>
                <a:extLst>
                  <a:ext uri="{0D108BD9-81ED-4DB2-BD59-A6C34878D82A}">
                    <a16:rowId xmlns:a16="http://schemas.microsoft.com/office/drawing/2014/main" val="1840609420"/>
                  </a:ext>
                </a:extLst>
              </a:tr>
              <a:tr h="247734">
                <a:tc>
                  <a:txBody>
                    <a:bodyPr/>
                    <a:lstStyle/>
                    <a:p>
                      <a:pPr>
                        <a:buNone/>
                      </a:pPr>
                      <a:r>
                        <a:rPr lang="en-US" sz="1000" b="0">
                          <a:effectLst/>
                        </a:rPr>
                        <a:t>ZCOSGN</a:t>
                      </a:r>
                    </a:p>
                  </a:txBody>
                  <a:tcPr anchor="ctr"/>
                </a:tc>
                <a:tc>
                  <a:txBody>
                    <a:bodyPr/>
                    <a:lstStyle/>
                    <a:p>
                      <a:pPr>
                        <a:buNone/>
                      </a:pPr>
                      <a:r>
                        <a:rPr lang="en-US" sz="1000" b="0"/>
                        <a:t>Has Co-Signor</a:t>
                      </a:r>
                    </a:p>
                  </a:txBody>
                  <a:tcPr anchor="ctr"/>
                </a:tc>
                <a:extLst>
                  <a:ext uri="{0D108BD9-81ED-4DB2-BD59-A6C34878D82A}">
                    <a16:rowId xmlns:a16="http://schemas.microsoft.com/office/drawing/2014/main" val="4172913179"/>
                  </a:ext>
                </a:extLst>
              </a:tr>
              <a:tr h="247734">
                <a:tc>
                  <a:txBody>
                    <a:bodyPr/>
                    <a:lstStyle/>
                    <a:p>
                      <a:pPr>
                        <a:buNone/>
                      </a:pPr>
                      <a:r>
                        <a:rPr lang="en-US" sz="1000" b="0">
                          <a:effectLst/>
                        </a:rPr>
                        <a:t>ZDIVCH</a:t>
                      </a:r>
                    </a:p>
                  </a:txBody>
                  <a:tcPr anchor="ctr"/>
                </a:tc>
                <a:tc>
                  <a:txBody>
                    <a:bodyPr/>
                    <a:lstStyle/>
                    <a:p>
                      <a:pPr>
                        <a:buNone/>
                      </a:pPr>
                      <a:r>
                        <a:rPr lang="en-US" sz="1000" b="0"/>
                        <a:t>Is Corp Division / Has Child Co.</a:t>
                      </a:r>
                    </a:p>
                  </a:txBody>
                  <a:tcPr anchor="ctr"/>
                </a:tc>
                <a:extLst>
                  <a:ext uri="{0D108BD9-81ED-4DB2-BD59-A6C34878D82A}">
                    <a16:rowId xmlns:a16="http://schemas.microsoft.com/office/drawing/2014/main" val="3752386008"/>
                  </a:ext>
                </a:extLst>
              </a:tr>
              <a:tr h="247734">
                <a:tc>
                  <a:txBody>
                    <a:bodyPr/>
                    <a:lstStyle/>
                    <a:p>
                      <a:pPr>
                        <a:buNone/>
                      </a:pPr>
                      <a:r>
                        <a:rPr lang="en-US" sz="1000" b="0">
                          <a:effectLst/>
                        </a:rPr>
                        <a:t>ZFIMGR</a:t>
                      </a:r>
                    </a:p>
                  </a:txBody>
                  <a:tcPr anchor="ctr"/>
                </a:tc>
                <a:tc>
                  <a:txBody>
                    <a:bodyPr/>
                    <a:lstStyle/>
                    <a:p>
                      <a:pPr>
                        <a:buNone/>
                      </a:pPr>
                      <a:r>
                        <a:rPr lang="en-US" sz="1000" b="0"/>
                        <a:t>Has Financial Manager</a:t>
                      </a:r>
                    </a:p>
                  </a:txBody>
                  <a:tcPr anchor="ctr"/>
                </a:tc>
                <a:extLst>
                  <a:ext uri="{0D108BD9-81ED-4DB2-BD59-A6C34878D82A}">
                    <a16:rowId xmlns:a16="http://schemas.microsoft.com/office/drawing/2014/main" val="3729312887"/>
                  </a:ext>
                </a:extLst>
              </a:tr>
              <a:tr h="247734">
                <a:tc>
                  <a:txBody>
                    <a:bodyPr/>
                    <a:lstStyle/>
                    <a:p>
                      <a:pPr>
                        <a:buNone/>
                      </a:pPr>
                      <a:r>
                        <a:rPr lang="en-US" sz="1000" b="0">
                          <a:effectLst/>
                        </a:rPr>
                        <a:t>ZFRCHZ</a:t>
                      </a:r>
                    </a:p>
                  </a:txBody>
                  <a:tcPr anchor="ctr"/>
                </a:tc>
                <a:tc>
                  <a:txBody>
                    <a:bodyPr/>
                    <a:lstStyle/>
                    <a:p>
                      <a:pPr>
                        <a:buNone/>
                      </a:pPr>
                      <a:r>
                        <a:rPr lang="en-US" sz="1000" b="0"/>
                        <a:t>Is Franchise of</a:t>
                      </a:r>
                    </a:p>
                  </a:txBody>
                  <a:tcPr anchor="ctr"/>
                </a:tc>
                <a:extLst>
                  <a:ext uri="{0D108BD9-81ED-4DB2-BD59-A6C34878D82A}">
                    <a16:rowId xmlns:a16="http://schemas.microsoft.com/office/drawing/2014/main" val="1163397457"/>
                  </a:ext>
                </a:extLst>
              </a:tr>
              <a:tr h="247734">
                <a:tc>
                  <a:txBody>
                    <a:bodyPr/>
                    <a:lstStyle/>
                    <a:p>
                      <a:pPr>
                        <a:buNone/>
                      </a:pPr>
                      <a:r>
                        <a:rPr lang="en-US" sz="1000" b="0">
                          <a:effectLst/>
                        </a:rPr>
                        <a:t>ZGASCU</a:t>
                      </a:r>
                    </a:p>
                  </a:txBody>
                  <a:tcPr anchor="ctr"/>
                </a:tc>
                <a:tc>
                  <a:txBody>
                    <a:bodyPr/>
                    <a:lstStyle/>
                    <a:p>
                      <a:pPr>
                        <a:buNone/>
                      </a:pPr>
                      <a:r>
                        <a:rPr lang="en-US" sz="1000" b="0"/>
                        <a:t>Has Gas Curtailment Contact</a:t>
                      </a:r>
                    </a:p>
                  </a:txBody>
                  <a:tcPr anchor="ctr"/>
                </a:tc>
                <a:extLst>
                  <a:ext uri="{0D108BD9-81ED-4DB2-BD59-A6C34878D82A}">
                    <a16:rowId xmlns:a16="http://schemas.microsoft.com/office/drawing/2014/main" val="1197713834"/>
                  </a:ext>
                </a:extLst>
              </a:tr>
              <a:tr h="247734">
                <a:tc>
                  <a:txBody>
                    <a:bodyPr/>
                    <a:lstStyle/>
                    <a:p>
                      <a:pPr>
                        <a:buNone/>
                      </a:pPr>
                      <a:r>
                        <a:rPr lang="en-US" sz="1000" b="0">
                          <a:effectLst/>
                        </a:rPr>
                        <a:t>ZGSTRS</a:t>
                      </a:r>
                    </a:p>
                  </a:txBody>
                  <a:tcPr anchor="ctr"/>
                </a:tc>
                <a:tc>
                  <a:txBody>
                    <a:bodyPr/>
                    <a:lstStyle/>
                    <a:p>
                      <a:pPr>
                        <a:buNone/>
                      </a:pPr>
                      <a:r>
                        <a:rPr lang="en-US" sz="1000" b="0"/>
                        <a:t>Is Gas Trans Supplier</a:t>
                      </a:r>
                    </a:p>
                  </a:txBody>
                  <a:tcPr anchor="ctr"/>
                </a:tc>
                <a:extLst>
                  <a:ext uri="{0D108BD9-81ED-4DB2-BD59-A6C34878D82A}">
                    <a16:rowId xmlns:a16="http://schemas.microsoft.com/office/drawing/2014/main" val="2787051571"/>
                  </a:ext>
                </a:extLst>
              </a:tr>
            </a:tbl>
          </a:graphicData>
        </a:graphic>
      </p:graphicFrame>
      <p:graphicFrame>
        <p:nvGraphicFramePr>
          <p:cNvPr id="9" name="Table 8">
            <a:extLst>
              <a:ext uri="{FF2B5EF4-FFF2-40B4-BE49-F238E27FC236}">
                <a16:creationId xmlns:a16="http://schemas.microsoft.com/office/drawing/2014/main" id="{540DCE18-3EFF-467C-2F43-59D3EE6A9F27}"/>
              </a:ext>
            </a:extLst>
          </p:cNvPr>
          <p:cNvGraphicFramePr>
            <a:graphicFrameLocks noGrp="1"/>
          </p:cNvGraphicFramePr>
          <p:nvPr>
            <p:extLst>
              <p:ext uri="{D42A27DB-BD31-4B8C-83A1-F6EECF244321}">
                <p14:modId xmlns:p14="http://schemas.microsoft.com/office/powerpoint/2010/main" val="2083015587"/>
              </p:ext>
            </p:extLst>
          </p:nvPr>
        </p:nvGraphicFramePr>
        <p:xfrm>
          <a:off x="8642966" y="857955"/>
          <a:ext cx="3208952" cy="5887372"/>
        </p:xfrm>
        <a:graphic>
          <a:graphicData uri="http://schemas.openxmlformats.org/drawingml/2006/table">
            <a:tbl>
              <a:tblPr bandRow="1">
                <a:tableStyleId>{6E25E649-3F16-4E02-A733-19D2CDBF48F0}</a:tableStyleId>
              </a:tblPr>
              <a:tblGrid>
                <a:gridCol w="781368">
                  <a:extLst>
                    <a:ext uri="{9D8B030D-6E8A-4147-A177-3AD203B41FA5}">
                      <a16:colId xmlns:a16="http://schemas.microsoft.com/office/drawing/2014/main" val="1612380274"/>
                    </a:ext>
                  </a:extLst>
                </a:gridCol>
                <a:gridCol w="2427584">
                  <a:extLst>
                    <a:ext uri="{9D8B030D-6E8A-4147-A177-3AD203B41FA5}">
                      <a16:colId xmlns:a16="http://schemas.microsoft.com/office/drawing/2014/main" val="1939426159"/>
                    </a:ext>
                  </a:extLst>
                </a:gridCol>
              </a:tblGrid>
              <a:tr h="334117">
                <a:tc>
                  <a:txBody>
                    <a:bodyPr/>
                    <a:lstStyle/>
                    <a:p>
                      <a:pPr>
                        <a:buNone/>
                      </a:pPr>
                      <a:r>
                        <a:rPr lang="en-US" sz="1000" b="0">
                          <a:effectLst/>
                        </a:rPr>
                        <a:t>ZLLP01</a:t>
                      </a:r>
                    </a:p>
                  </a:txBody>
                  <a:tcPr anchor="ctr"/>
                </a:tc>
                <a:tc>
                  <a:txBody>
                    <a:bodyPr/>
                    <a:lstStyle/>
                    <a:p>
                      <a:pPr>
                        <a:buNone/>
                      </a:pPr>
                      <a:r>
                        <a:rPr lang="en-US" sz="1000" b="0"/>
                        <a:t>Has Community</a:t>
                      </a:r>
                    </a:p>
                  </a:txBody>
                  <a:tcPr anchor="ctr"/>
                </a:tc>
                <a:extLst>
                  <a:ext uri="{0D108BD9-81ED-4DB2-BD59-A6C34878D82A}">
                    <a16:rowId xmlns:a16="http://schemas.microsoft.com/office/drawing/2014/main" val="2801577558"/>
                  </a:ext>
                </a:extLst>
              </a:tr>
              <a:tr h="334117">
                <a:tc>
                  <a:txBody>
                    <a:bodyPr/>
                    <a:lstStyle/>
                    <a:p>
                      <a:pPr>
                        <a:buNone/>
                      </a:pPr>
                      <a:r>
                        <a:rPr lang="en-US" sz="1000" b="0">
                          <a:effectLst/>
                        </a:rPr>
                        <a:t>ZOPISS</a:t>
                      </a:r>
                    </a:p>
                  </a:txBody>
                  <a:tcPr anchor="ctr"/>
                </a:tc>
                <a:tc>
                  <a:txBody>
                    <a:bodyPr/>
                    <a:lstStyle/>
                    <a:p>
                      <a:pPr>
                        <a:buNone/>
                      </a:pPr>
                      <a:r>
                        <a:rPr lang="en-US" sz="1000" b="0"/>
                        <a:t>Has Operational Issues Contact</a:t>
                      </a:r>
                    </a:p>
                  </a:txBody>
                  <a:tcPr anchor="ctr"/>
                </a:tc>
                <a:extLst>
                  <a:ext uri="{0D108BD9-81ED-4DB2-BD59-A6C34878D82A}">
                    <a16:rowId xmlns:a16="http://schemas.microsoft.com/office/drawing/2014/main" val="3585253883"/>
                  </a:ext>
                </a:extLst>
              </a:tr>
              <a:tr h="334117">
                <a:tc>
                  <a:txBody>
                    <a:bodyPr/>
                    <a:lstStyle/>
                    <a:p>
                      <a:pPr>
                        <a:buNone/>
                      </a:pPr>
                      <a:r>
                        <a:rPr lang="en-US" sz="1000" b="0">
                          <a:effectLst/>
                        </a:rPr>
                        <a:t>ZOUTG1</a:t>
                      </a:r>
                    </a:p>
                  </a:txBody>
                  <a:tcPr anchor="ctr"/>
                </a:tc>
                <a:tc>
                  <a:txBody>
                    <a:bodyPr/>
                    <a:lstStyle/>
                    <a:p>
                      <a:pPr>
                        <a:buNone/>
                      </a:pPr>
                      <a:r>
                        <a:rPr lang="en-US" sz="1000" b="0"/>
                        <a:t>Has Alternate Outage Contact 1</a:t>
                      </a:r>
                    </a:p>
                  </a:txBody>
                  <a:tcPr anchor="ctr"/>
                </a:tc>
                <a:extLst>
                  <a:ext uri="{0D108BD9-81ED-4DB2-BD59-A6C34878D82A}">
                    <a16:rowId xmlns:a16="http://schemas.microsoft.com/office/drawing/2014/main" val="4156396771"/>
                  </a:ext>
                </a:extLst>
              </a:tr>
              <a:tr h="334117">
                <a:tc>
                  <a:txBody>
                    <a:bodyPr/>
                    <a:lstStyle/>
                    <a:p>
                      <a:pPr>
                        <a:buNone/>
                      </a:pPr>
                      <a:r>
                        <a:rPr lang="en-US" sz="1000" b="0">
                          <a:effectLst/>
                        </a:rPr>
                        <a:t>ZOUTG2</a:t>
                      </a:r>
                    </a:p>
                  </a:txBody>
                  <a:tcPr anchor="ctr"/>
                </a:tc>
                <a:tc>
                  <a:txBody>
                    <a:bodyPr/>
                    <a:lstStyle/>
                    <a:p>
                      <a:pPr>
                        <a:buNone/>
                      </a:pPr>
                      <a:r>
                        <a:rPr lang="en-US" sz="1000" b="0"/>
                        <a:t>Has Alternate Outage Contact 2</a:t>
                      </a:r>
                    </a:p>
                  </a:txBody>
                  <a:tcPr anchor="ctr"/>
                </a:tc>
                <a:extLst>
                  <a:ext uri="{0D108BD9-81ED-4DB2-BD59-A6C34878D82A}">
                    <a16:rowId xmlns:a16="http://schemas.microsoft.com/office/drawing/2014/main" val="2850405923"/>
                  </a:ext>
                </a:extLst>
              </a:tr>
              <a:tr h="334117">
                <a:tc>
                  <a:txBody>
                    <a:bodyPr/>
                    <a:lstStyle/>
                    <a:p>
                      <a:pPr>
                        <a:buNone/>
                      </a:pPr>
                      <a:r>
                        <a:rPr lang="en-US" sz="1000" b="0">
                          <a:effectLst/>
                        </a:rPr>
                        <a:t>ZOUTG3</a:t>
                      </a:r>
                    </a:p>
                  </a:txBody>
                  <a:tcPr anchor="ctr"/>
                </a:tc>
                <a:tc>
                  <a:txBody>
                    <a:bodyPr/>
                    <a:lstStyle/>
                    <a:p>
                      <a:pPr>
                        <a:buNone/>
                      </a:pPr>
                      <a:r>
                        <a:rPr lang="en-US" sz="1000" b="0"/>
                        <a:t>Has Alternate Outage Contact 3</a:t>
                      </a:r>
                    </a:p>
                  </a:txBody>
                  <a:tcPr anchor="ctr"/>
                </a:tc>
                <a:extLst>
                  <a:ext uri="{0D108BD9-81ED-4DB2-BD59-A6C34878D82A}">
                    <a16:rowId xmlns:a16="http://schemas.microsoft.com/office/drawing/2014/main" val="3569225077"/>
                  </a:ext>
                </a:extLst>
              </a:tr>
              <a:tr h="334117">
                <a:tc>
                  <a:txBody>
                    <a:bodyPr/>
                    <a:lstStyle/>
                    <a:p>
                      <a:pPr>
                        <a:buNone/>
                      </a:pPr>
                      <a:r>
                        <a:rPr lang="en-US" sz="1000" b="0">
                          <a:effectLst/>
                        </a:rPr>
                        <a:t>ZOUTGE</a:t>
                      </a:r>
                    </a:p>
                  </a:txBody>
                  <a:tcPr anchor="ctr"/>
                </a:tc>
                <a:tc>
                  <a:txBody>
                    <a:bodyPr/>
                    <a:lstStyle/>
                    <a:p>
                      <a:pPr>
                        <a:buNone/>
                      </a:pPr>
                      <a:r>
                        <a:rPr lang="en-US" sz="1000" b="0"/>
                        <a:t>Has Primary Outage Contact</a:t>
                      </a:r>
                    </a:p>
                  </a:txBody>
                  <a:tcPr anchor="ctr"/>
                </a:tc>
                <a:extLst>
                  <a:ext uri="{0D108BD9-81ED-4DB2-BD59-A6C34878D82A}">
                    <a16:rowId xmlns:a16="http://schemas.microsoft.com/office/drawing/2014/main" val="1347781038"/>
                  </a:ext>
                </a:extLst>
              </a:tr>
              <a:tr h="334117">
                <a:tc>
                  <a:txBody>
                    <a:bodyPr/>
                    <a:lstStyle/>
                    <a:p>
                      <a:pPr>
                        <a:buNone/>
                      </a:pPr>
                      <a:r>
                        <a:rPr lang="en-US" sz="1000" b="0">
                          <a:effectLst/>
                        </a:rPr>
                        <a:t>ZPBUS</a:t>
                      </a:r>
                    </a:p>
                  </a:txBody>
                  <a:tcPr anchor="ctr"/>
                </a:tc>
                <a:tc>
                  <a:txBody>
                    <a:bodyPr/>
                    <a:lstStyle/>
                    <a:p>
                      <a:pPr>
                        <a:buNone/>
                      </a:pPr>
                      <a:r>
                        <a:rPr lang="en-US" sz="1000" b="0"/>
                        <a:t>Has Primary Business Contact</a:t>
                      </a:r>
                    </a:p>
                  </a:txBody>
                  <a:tcPr anchor="ctr"/>
                </a:tc>
                <a:extLst>
                  <a:ext uri="{0D108BD9-81ED-4DB2-BD59-A6C34878D82A}">
                    <a16:rowId xmlns:a16="http://schemas.microsoft.com/office/drawing/2014/main" val="3354206971"/>
                  </a:ext>
                </a:extLst>
              </a:tr>
              <a:tr h="334117">
                <a:tc>
                  <a:txBody>
                    <a:bodyPr/>
                    <a:lstStyle/>
                    <a:p>
                      <a:pPr>
                        <a:buNone/>
                      </a:pPr>
                      <a:r>
                        <a:rPr lang="en-US" sz="1000" b="0">
                          <a:effectLst/>
                        </a:rPr>
                        <a:t>ZPOFA</a:t>
                      </a:r>
                    </a:p>
                  </a:txBody>
                  <a:tcPr anchor="ctr"/>
                </a:tc>
                <a:tc>
                  <a:txBody>
                    <a:bodyPr/>
                    <a:lstStyle/>
                    <a:p>
                      <a:pPr>
                        <a:buNone/>
                      </a:pPr>
                      <a:r>
                        <a:rPr lang="en-US" sz="1000" b="0"/>
                        <a:t>Has Power of Attorney</a:t>
                      </a:r>
                    </a:p>
                  </a:txBody>
                  <a:tcPr anchor="ctr"/>
                </a:tc>
                <a:extLst>
                  <a:ext uri="{0D108BD9-81ED-4DB2-BD59-A6C34878D82A}">
                    <a16:rowId xmlns:a16="http://schemas.microsoft.com/office/drawing/2014/main" val="3847329336"/>
                  </a:ext>
                </a:extLst>
              </a:tr>
              <a:tr h="334117">
                <a:tc>
                  <a:txBody>
                    <a:bodyPr/>
                    <a:lstStyle/>
                    <a:p>
                      <a:pPr>
                        <a:buNone/>
                      </a:pPr>
                      <a:r>
                        <a:rPr lang="en-US" sz="1000" b="0">
                          <a:effectLst/>
                        </a:rPr>
                        <a:t>ZPRCHD</a:t>
                      </a:r>
                    </a:p>
                  </a:txBody>
                  <a:tcPr anchor="ctr"/>
                </a:tc>
                <a:tc>
                  <a:txBody>
                    <a:bodyPr/>
                    <a:lstStyle/>
                    <a:p>
                      <a:pPr>
                        <a:buNone/>
                      </a:pPr>
                      <a:r>
                        <a:rPr lang="en-US" sz="1000" b="0"/>
                        <a:t>Is Parent / Has Child Company</a:t>
                      </a:r>
                    </a:p>
                  </a:txBody>
                  <a:tcPr anchor="ctr"/>
                </a:tc>
                <a:extLst>
                  <a:ext uri="{0D108BD9-81ED-4DB2-BD59-A6C34878D82A}">
                    <a16:rowId xmlns:a16="http://schemas.microsoft.com/office/drawing/2014/main" val="2930213064"/>
                  </a:ext>
                </a:extLst>
              </a:tr>
              <a:tr h="334117">
                <a:tc>
                  <a:txBody>
                    <a:bodyPr/>
                    <a:lstStyle/>
                    <a:p>
                      <a:pPr>
                        <a:buNone/>
                      </a:pPr>
                      <a:r>
                        <a:rPr lang="en-US" sz="1000" b="0">
                          <a:effectLst/>
                        </a:rPr>
                        <a:t>ZPRDIV</a:t>
                      </a:r>
                    </a:p>
                  </a:txBody>
                  <a:tcPr anchor="ctr"/>
                </a:tc>
                <a:tc>
                  <a:txBody>
                    <a:bodyPr/>
                    <a:lstStyle/>
                    <a:p>
                      <a:pPr>
                        <a:buNone/>
                      </a:pPr>
                      <a:r>
                        <a:rPr lang="en-US" sz="1000" b="0"/>
                        <a:t>Is Parent / Has Corp. Division</a:t>
                      </a:r>
                    </a:p>
                  </a:txBody>
                  <a:tcPr anchor="ctr"/>
                </a:tc>
                <a:extLst>
                  <a:ext uri="{0D108BD9-81ED-4DB2-BD59-A6C34878D82A}">
                    <a16:rowId xmlns:a16="http://schemas.microsoft.com/office/drawing/2014/main" val="2210735315"/>
                  </a:ext>
                </a:extLst>
              </a:tr>
              <a:tr h="334117">
                <a:tc>
                  <a:txBody>
                    <a:bodyPr/>
                    <a:lstStyle/>
                    <a:p>
                      <a:pPr>
                        <a:buNone/>
                      </a:pPr>
                      <a:r>
                        <a:rPr lang="en-US" sz="1000" b="0">
                          <a:effectLst/>
                        </a:rPr>
                        <a:t>ZPRSUB</a:t>
                      </a:r>
                    </a:p>
                  </a:txBody>
                  <a:tcPr anchor="ctr"/>
                </a:tc>
                <a:tc>
                  <a:txBody>
                    <a:bodyPr/>
                    <a:lstStyle/>
                    <a:p>
                      <a:pPr>
                        <a:buNone/>
                      </a:pPr>
                      <a:r>
                        <a:rPr lang="en-US" sz="1000" b="0"/>
                        <a:t>Is Parent / Has Subsidiary</a:t>
                      </a:r>
                    </a:p>
                  </a:txBody>
                  <a:tcPr anchor="ctr"/>
                </a:tc>
                <a:extLst>
                  <a:ext uri="{0D108BD9-81ED-4DB2-BD59-A6C34878D82A}">
                    <a16:rowId xmlns:a16="http://schemas.microsoft.com/office/drawing/2014/main" val="4088790258"/>
                  </a:ext>
                </a:extLst>
              </a:tr>
              <a:tr h="334117">
                <a:tc>
                  <a:txBody>
                    <a:bodyPr/>
                    <a:lstStyle/>
                    <a:p>
                      <a:pPr>
                        <a:buNone/>
                      </a:pPr>
                      <a:r>
                        <a:rPr lang="en-US" sz="1000" b="0">
                          <a:effectLst/>
                        </a:rPr>
                        <a:t>ZROA</a:t>
                      </a:r>
                    </a:p>
                  </a:txBody>
                  <a:tcPr anchor="ctr"/>
                </a:tc>
                <a:tc>
                  <a:txBody>
                    <a:bodyPr/>
                    <a:lstStyle/>
                    <a:p>
                      <a:pPr>
                        <a:buNone/>
                      </a:pPr>
                      <a:r>
                        <a:rPr lang="en-US" sz="1000" b="0"/>
                        <a:t>Has ROA Contact</a:t>
                      </a:r>
                    </a:p>
                  </a:txBody>
                  <a:tcPr anchor="ctr"/>
                </a:tc>
                <a:extLst>
                  <a:ext uri="{0D108BD9-81ED-4DB2-BD59-A6C34878D82A}">
                    <a16:rowId xmlns:a16="http://schemas.microsoft.com/office/drawing/2014/main" val="2504658136"/>
                  </a:ext>
                </a:extLst>
              </a:tr>
              <a:tr h="426287">
                <a:tc>
                  <a:txBody>
                    <a:bodyPr/>
                    <a:lstStyle/>
                    <a:p>
                      <a:pPr>
                        <a:buNone/>
                      </a:pPr>
                      <a:r>
                        <a:rPr lang="en-US" sz="1000" b="0">
                          <a:effectLst/>
                        </a:rPr>
                        <a:t>ZRSPTY</a:t>
                      </a:r>
                    </a:p>
                  </a:txBody>
                  <a:tcPr anchor="ctr"/>
                </a:tc>
                <a:tc>
                  <a:txBody>
                    <a:bodyPr/>
                    <a:lstStyle/>
                    <a:p>
                      <a:pPr>
                        <a:buNone/>
                      </a:pPr>
                      <a:r>
                        <a:rPr lang="en-US" sz="1000" b="0"/>
                        <a:t>Has Secondary Responsible Party</a:t>
                      </a:r>
                    </a:p>
                  </a:txBody>
                  <a:tcPr anchor="ctr"/>
                </a:tc>
                <a:extLst>
                  <a:ext uri="{0D108BD9-81ED-4DB2-BD59-A6C34878D82A}">
                    <a16:rowId xmlns:a16="http://schemas.microsoft.com/office/drawing/2014/main" val="2843133160"/>
                  </a:ext>
                </a:extLst>
              </a:tr>
              <a:tr h="334117">
                <a:tc>
                  <a:txBody>
                    <a:bodyPr/>
                    <a:lstStyle/>
                    <a:p>
                      <a:pPr>
                        <a:buNone/>
                      </a:pPr>
                      <a:r>
                        <a:rPr lang="en-US" sz="1000" b="0">
                          <a:effectLst/>
                        </a:rPr>
                        <a:t>ZSUBCH</a:t>
                      </a:r>
                    </a:p>
                  </a:txBody>
                  <a:tcPr anchor="ctr"/>
                </a:tc>
                <a:tc>
                  <a:txBody>
                    <a:bodyPr/>
                    <a:lstStyle/>
                    <a:p>
                      <a:pPr>
                        <a:buNone/>
                      </a:pPr>
                      <a:r>
                        <a:rPr lang="en-US" sz="1000" b="0"/>
                        <a:t>Is Subsidiary / Has Child Co.</a:t>
                      </a:r>
                    </a:p>
                  </a:txBody>
                  <a:tcPr anchor="ctr"/>
                </a:tc>
                <a:extLst>
                  <a:ext uri="{0D108BD9-81ED-4DB2-BD59-A6C34878D82A}">
                    <a16:rowId xmlns:a16="http://schemas.microsoft.com/office/drawing/2014/main" val="1682198119"/>
                  </a:ext>
                </a:extLst>
              </a:tr>
              <a:tr h="334117">
                <a:tc>
                  <a:txBody>
                    <a:bodyPr/>
                    <a:lstStyle/>
                    <a:p>
                      <a:pPr>
                        <a:buNone/>
                      </a:pPr>
                      <a:r>
                        <a:rPr lang="en-US" sz="1000" b="0">
                          <a:effectLst/>
                        </a:rPr>
                        <a:t>ZSUBDV</a:t>
                      </a:r>
                    </a:p>
                  </a:txBody>
                  <a:tcPr anchor="ctr"/>
                </a:tc>
                <a:tc>
                  <a:txBody>
                    <a:bodyPr/>
                    <a:lstStyle/>
                    <a:p>
                      <a:pPr>
                        <a:buNone/>
                      </a:pPr>
                      <a:r>
                        <a:rPr lang="en-US" sz="1000" b="0"/>
                        <a:t>Is Subsidiary / Has Corp. Division</a:t>
                      </a:r>
                    </a:p>
                  </a:txBody>
                  <a:tcPr anchor="ctr"/>
                </a:tc>
                <a:extLst>
                  <a:ext uri="{0D108BD9-81ED-4DB2-BD59-A6C34878D82A}">
                    <a16:rowId xmlns:a16="http://schemas.microsoft.com/office/drawing/2014/main" val="2836762920"/>
                  </a:ext>
                </a:extLst>
              </a:tr>
              <a:tr h="334117">
                <a:tc>
                  <a:txBody>
                    <a:bodyPr/>
                    <a:lstStyle/>
                    <a:p>
                      <a:pPr>
                        <a:buNone/>
                      </a:pPr>
                      <a:r>
                        <a:rPr lang="en-US" sz="1000" b="0">
                          <a:effectLst/>
                        </a:rPr>
                        <a:t>ZTRUST</a:t>
                      </a:r>
                    </a:p>
                  </a:txBody>
                  <a:tcPr anchor="ctr"/>
                </a:tc>
                <a:tc>
                  <a:txBody>
                    <a:bodyPr/>
                    <a:lstStyle/>
                    <a:p>
                      <a:pPr>
                        <a:buNone/>
                      </a:pPr>
                      <a:r>
                        <a:rPr lang="en-US" sz="1000" b="0"/>
                        <a:t>Has Trustee</a:t>
                      </a:r>
                    </a:p>
                  </a:txBody>
                  <a:tcPr anchor="ctr"/>
                </a:tc>
                <a:extLst>
                  <a:ext uri="{0D108BD9-81ED-4DB2-BD59-A6C34878D82A}">
                    <a16:rowId xmlns:a16="http://schemas.microsoft.com/office/drawing/2014/main" val="1663195445"/>
                  </a:ext>
                </a:extLst>
              </a:tr>
              <a:tr h="449330">
                <a:tc>
                  <a:txBody>
                    <a:bodyPr/>
                    <a:lstStyle/>
                    <a:p>
                      <a:pPr>
                        <a:buNone/>
                      </a:pPr>
                      <a:r>
                        <a:rPr lang="en-US" sz="1000" b="0">
                          <a:effectLst/>
                        </a:rPr>
                        <a:t>ZVLOAD</a:t>
                      </a:r>
                    </a:p>
                  </a:txBody>
                  <a:tcPr anchor="ctr"/>
                </a:tc>
                <a:tc>
                  <a:txBody>
                    <a:bodyPr/>
                    <a:lstStyle/>
                    <a:p>
                      <a:pPr>
                        <a:buNone/>
                      </a:pPr>
                      <a:r>
                        <a:rPr lang="en-US" sz="1000" b="0"/>
                        <a:t>Has Voluntary Load Reduction Contact</a:t>
                      </a:r>
                    </a:p>
                  </a:txBody>
                  <a:tcPr anchor="ctr"/>
                </a:tc>
                <a:extLst>
                  <a:ext uri="{0D108BD9-81ED-4DB2-BD59-A6C34878D82A}">
                    <a16:rowId xmlns:a16="http://schemas.microsoft.com/office/drawing/2014/main" val="289516350"/>
                  </a:ext>
                </a:extLst>
              </a:tr>
            </a:tbl>
          </a:graphicData>
        </a:graphic>
      </p:graphicFrame>
    </p:spTree>
    <p:extLst>
      <p:ext uri="{BB962C8B-B14F-4D97-AF65-F5344CB8AC3E}">
        <p14:creationId xmlns:p14="http://schemas.microsoft.com/office/powerpoint/2010/main" val="9203702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6950BFC3-D8DA-4A85-94F7-54DA5524770B}">
      <p188:commentRel xmlns:p188="http://schemas.microsoft.com/office/powerpoint/2018/8/main" r:id="rId2"/>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92EF1-B743-FBD2-4262-64D638AED60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A8D6DE3-6769-CD5D-29B8-1327D15C0850}"/>
              </a:ext>
            </a:extLst>
          </p:cNvPr>
          <p:cNvSpPr>
            <a:spLocks noGrp="1"/>
          </p:cNvSpPr>
          <p:nvPr>
            <p:ph type="title"/>
          </p:nvPr>
        </p:nvSpPr>
        <p:spPr>
          <a:xfrm>
            <a:off x="153760" y="291436"/>
            <a:ext cx="11413017" cy="624394"/>
          </a:xfrm>
        </p:spPr>
        <p:txBody>
          <a:bodyPr>
            <a:normAutofit fontScale="90000"/>
          </a:bodyPr>
          <a:lstStyle/>
          <a:p>
            <a:r>
              <a:rPr lang="en-US" sz="3600">
                <a:latin typeface="Montserrat"/>
              </a:rPr>
              <a:t>Create an Individual Customer in Service Cloud v2</a:t>
            </a:r>
            <a:endParaRPr lang="en-US" sz="3600"/>
          </a:p>
        </p:txBody>
      </p:sp>
      <p:sp>
        <p:nvSpPr>
          <p:cNvPr id="6" name="TextBox 5">
            <a:extLst>
              <a:ext uri="{FF2B5EF4-FFF2-40B4-BE49-F238E27FC236}">
                <a16:creationId xmlns:a16="http://schemas.microsoft.com/office/drawing/2014/main" id="{197FA471-9214-3FCD-209F-A229EAE2D85A}"/>
              </a:ext>
            </a:extLst>
          </p:cNvPr>
          <p:cNvSpPr txBox="1"/>
          <p:nvPr/>
        </p:nvSpPr>
        <p:spPr>
          <a:xfrm>
            <a:off x="1993692" y="2308485"/>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5" name="TextBox 4">
            <a:extLst>
              <a:ext uri="{FF2B5EF4-FFF2-40B4-BE49-F238E27FC236}">
                <a16:creationId xmlns:a16="http://schemas.microsoft.com/office/drawing/2014/main" id="{D26FEE58-A631-EEEE-D2BC-AD25FF6ED21A}"/>
              </a:ext>
            </a:extLst>
          </p:cNvPr>
          <p:cNvSpPr txBox="1"/>
          <p:nvPr/>
        </p:nvSpPr>
        <p:spPr>
          <a:xfrm>
            <a:off x="10015214" y="1783973"/>
            <a:ext cx="2180235"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FRICE-W "</a:t>
            </a:r>
            <a:r>
              <a:rPr lang="en-US" b="1"/>
              <a:t>Business Partner Field Enhancements</a:t>
            </a:r>
            <a:r>
              <a:rPr lang="en-US"/>
              <a:t>" will cover any custom fields that are needed.</a:t>
            </a:r>
          </a:p>
          <a:p>
            <a:endParaRPr lang="en-US"/>
          </a:p>
          <a:p>
            <a:r>
              <a:rPr lang="en-US" b="1" u="sng"/>
              <a:t>Pain point to address:</a:t>
            </a:r>
            <a:r>
              <a:rPr lang="en-US"/>
              <a:t> BPs are getting created with no phone number. </a:t>
            </a:r>
          </a:p>
        </p:txBody>
      </p:sp>
      <p:sp>
        <p:nvSpPr>
          <p:cNvPr id="2" name="TextBox 1">
            <a:extLst>
              <a:ext uri="{FF2B5EF4-FFF2-40B4-BE49-F238E27FC236}">
                <a16:creationId xmlns:a16="http://schemas.microsoft.com/office/drawing/2014/main" id="{43B7BD2B-04A8-1210-9A15-FBBA4F242A4E}"/>
              </a:ext>
            </a:extLst>
          </p:cNvPr>
          <p:cNvSpPr txBox="1"/>
          <p:nvPr/>
        </p:nvSpPr>
        <p:spPr>
          <a:xfrm>
            <a:off x="156425" y="1066173"/>
            <a:ext cx="1123235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An individual customer in SAP Service Cloud v2 is the equivalent of a person BP in CMR7. A user can create an Individual Customer through the Individual Customer work center.</a:t>
            </a:r>
          </a:p>
        </p:txBody>
      </p:sp>
      <p:pic>
        <p:nvPicPr>
          <p:cNvPr id="8" name="Picture 7" descr="A screenshot of a computer&#10;&#10;AI-generated content may be incorrect.">
            <a:extLst>
              <a:ext uri="{FF2B5EF4-FFF2-40B4-BE49-F238E27FC236}">
                <a16:creationId xmlns:a16="http://schemas.microsoft.com/office/drawing/2014/main" id="{9F88D36F-A136-B1BB-5F2B-364170D67834}"/>
              </a:ext>
            </a:extLst>
          </p:cNvPr>
          <p:cNvPicPr>
            <a:picLocks noChangeAspect="1"/>
          </p:cNvPicPr>
          <p:nvPr/>
        </p:nvPicPr>
        <p:blipFill>
          <a:blip r:embed="rId2"/>
          <a:stretch>
            <a:fillRect/>
          </a:stretch>
        </p:blipFill>
        <p:spPr>
          <a:xfrm>
            <a:off x="154781" y="1712921"/>
            <a:ext cx="9858376" cy="4533721"/>
          </a:xfrm>
          <a:prstGeom prst="rect">
            <a:avLst/>
          </a:prstGeom>
        </p:spPr>
      </p:pic>
    </p:spTree>
    <p:extLst>
      <p:ext uri="{BB962C8B-B14F-4D97-AF65-F5344CB8AC3E}">
        <p14:creationId xmlns:p14="http://schemas.microsoft.com/office/powerpoint/2010/main" val="22910572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A9257-A15A-26B4-D057-8508892EB87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7011D96-6B42-2E9D-0405-3AE80AD7E1A6}"/>
              </a:ext>
            </a:extLst>
          </p:cNvPr>
          <p:cNvSpPr>
            <a:spLocks noGrp="1"/>
          </p:cNvSpPr>
          <p:nvPr>
            <p:ph type="title"/>
          </p:nvPr>
        </p:nvSpPr>
        <p:spPr>
          <a:xfrm>
            <a:off x="153760" y="291436"/>
            <a:ext cx="11413017" cy="624394"/>
          </a:xfrm>
        </p:spPr>
        <p:txBody>
          <a:bodyPr>
            <a:normAutofit/>
          </a:bodyPr>
          <a:lstStyle/>
          <a:p>
            <a:r>
              <a:rPr lang="en-US" sz="3200">
                <a:latin typeface="Montserrat"/>
              </a:rPr>
              <a:t>Create an Account in Service Cloud v2</a:t>
            </a:r>
            <a:endParaRPr lang="en-US" sz="3200"/>
          </a:p>
        </p:txBody>
      </p:sp>
      <p:sp>
        <p:nvSpPr>
          <p:cNvPr id="6" name="TextBox 5">
            <a:extLst>
              <a:ext uri="{FF2B5EF4-FFF2-40B4-BE49-F238E27FC236}">
                <a16:creationId xmlns:a16="http://schemas.microsoft.com/office/drawing/2014/main" id="{2AD7A8D9-D1CA-481E-C9E5-00C9542052FD}"/>
              </a:ext>
            </a:extLst>
          </p:cNvPr>
          <p:cNvSpPr txBox="1"/>
          <p:nvPr/>
        </p:nvSpPr>
        <p:spPr>
          <a:xfrm>
            <a:off x="1993692" y="2308485"/>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5" name="TextBox 4">
            <a:extLst>
              <a:ext uri="{FF2B5EF4-FFF2-40B4-BE49-F238E27FC236}">
                <a16:creationId xmlns:a16="http://schemas.microsoft.com/office/drawing/2014/main" id="{A7B7736C-37EC-D13A-7DBA-84FACD5023E5}"/>
              </a:ext>
            </a:extLst>
          </p:cNvPr>
          <p:cNvSpPr txBox="1"/>
          <p:nvPr/>
        </p:nvSpPr>
        <p:spPr>
          <a:xfrm>
            <a:off x="9669933" y="1580336"/>
            <a:ext cx="2180235"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FRICE-W "</a:t>
            </a:r>
            <a:r>
              <a:rPr lang="en-US" b="1">
                <a:latin typeface="Aptos"/>
              </a:rPr>
              <a:t>Business Partner Field Enhancement</a:t>
            </a:r>
            <a:r>
              <a:rPr lang="en-US" b="1" err="1">
                <a:latin typeface="Aptos"/>
              </a:rPr>
              <a:t>s</a:t>
            </a:r>
            <a:r>
              <a:rPr lang="en-US">
                <a:latin typeface="Aptos"/>
              </a:rPr>
              <a:t>" will cover any custom fields that are needed.</a:t>
            </a:r>
          </a:p>
          <a:p>
            <a:endParaRPr lang="en-US">
              <a:latin typeface="Aptos"/>
            </a:endParaRPr>
          </a:p>
          <a:p>
            <a:r>
              <a:rPr lang="en-US" b="1" u="sng">
                <a:latin typeface="Aptos"/>
              </a:rPr>
              <a:t>Pain point to address:</a:t>
            </a:r>
            <a:r>
              <a:rPr lang="en-US">
                <a:latin typeface="Aptos"/>
              </a:rPr>
              <a:t> BPs are getting created with no phone number. </a:t>
            </a:r>
            <a:endParaRPr lang="en-US"/>
          </a:p>
        </p:txBody>
      </p:sp>
      <p:sp>
        <p:nvSpPr>
          <p:cNvPr id="2" name="TextBox 1">
            <a:extLst>
              <a:ext uri="{FF2B5EF4-FFF2-40B4-BE49-F238E27FC236}">
                <a16:creationId xmlns:a16="http://schemas.microsoft.com/office/drawing/2014/main" id="{8149CDBD-07AD-E52A-58DD-4B5A30DBD35E}"/>
              </a:ext>
            </a:extLst>
          </p:cNvPr>
          <p:cNvSpPr txBox="1"/>
          <p:nvPr/>
        </p:nvSpPr>
        <p:spPr>
          <a:xfrm>
            <a:off x="156425" y="1066173"/>
            <a:ext cx="1122044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An Account in SAP Service Cloud v2 is the equivalent of an Organization BP in CMR7. A user can create an Account through the Accounts work center.</a:t>
            </a:r>
          </a:p>
        </p:txBody>
      </p:sp>
      <p:pic>
        <p:nvPicPr>
          <p:cNvPr id="7" name="Picture 6" descr="A screenshot of a computer&#10;&#10;AI-generated content may be incorrect.">
            <a:extLst>
              <a:ext uri="{FF2B5EF4-FFF2-40B4-BE49-F238E27FC236}">
                <a16:creationId xmlns:a16="http://schemas.microsoft.com/office/drawing/2014/main" id="{536D3232-470F-78D4-994B-1898C69EEC46}"/>
              </a:ext>
            </a:extLst>
          </p:cNvPr>
          <p:cNvPicPr>
            <a:picLocks noChangeAspect="1"/>
          </p:cNvPicPr>
          <p:nvPr/>
        </p:nvPicPr>
        <p:blipFill>
          <a:blip r:embed="rId2"/>
          <a:stretch>
            <a:fillRect/>
          </a:stretch>
        </p:blipFill>
        <p:spPr>
          <a:xfrm>
            <a:off x="1" y="1750963"/>
            <a:ext cx="9667875" cy="4630041"/>
          </a:xfrm>
          <a:prstGeom prst="rect">
            <a:avLst/>
          </a:prstGeom>
        </p:spPr>
      </p:pic>
    </p:spTree>
    <p:extLst>
      <p:ext uri="{BB962C8B-B14F-4D97-AF65-F5344CB8AC3E}">
        <p14:creationId xmlns:p14="http://schemas.microsoft.com/office/powerpoint/2010/main" val="4442897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E55BA-C65B-E67A-864B-C2704040F56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96AACC9-8125-62FB-0C42-F50890938C8A}"/>
              </a:ext>
            </a:extLst>
          </p:cNvPr>
          <p:cNvSpPr>
            <a:spLocks noGrp="1"/>
          </p:cNvSpPr>
          <p:nvPr>
            <p:ph type="title"/>
          </p:nvPr>
        </p:nvSpPr>
        <p:spPr>
          <a:xfrm>
            <a:off x="153760" y="291436"/>
            <a:ext cx="11413017" cy="862518"/>
          </a:xfrm>
        </p:spPr>
        <p:txBody>
          <a:bodyPr>
            <a:normAutofit fontScale="90000"/>
          </a:bodyPr>
          <a:lstStyle/>
          <a:p>
            <a:r>
              <a:rPr lang="en-US" sz="3600">
                <a:latin typeface="Montserrat"/>
              </a:rPr>
              <a:t>Create an Individual Customer, Contact, or Account in Service Cloud v2</a:t>
            </a:r>
            <a:endParaRPr lang="en-US" sz="3600"/>
          </a:p>
        </p:txBody>
      </p:sp>
      <p:sp>
        <p:nvSpPr>
          <p:cNvPr id="6" name="TextBox 5">
            <a:extLst>
              <a:ext uri="{FF2B5EF4-FFF2-40B4-BE49-F238E27FC236}">
                <a16:creationId xmlns:a16="http://schemas.microsoft.com/office/drawing/2014/main" id="{551BACC7-56E9-40CA-9CFA-80A2B28F1471}"/>
              </a:ext>
            </a:extLst>
          </p:cNvPr>
          <p:cNvSpPr txBox="1"/>
          <p:nvPr/>
        </p:nvSpPr>
        <p:spPr>
          <a:xfrm>
            <a:off x="1993692" y="2308485"/>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2" name="TextBox 1">
            <a:extLst>
              <a:ext uri="{FF2B5EF4-FFF2-40B4-BE49-F238E27FC236}">
                <a16:creationId xmlns:a16="http://schemas.microsoft.com/office/drawing/2014/main" id="{FCAE80ED-FAB0-FE2B-7BF1-F5A4DBD6D64B}"/>
              </a:ext>
            </a:extLst>
          </p:cNvPr>
          <p:cNvSpPr txBox="1"/>
          <p:nvPr/>
        </p:nvSpPr>
        <p:spPr>
          <a:xfrm>
            <a:off x="156425" y="1173329"/>
            <a:ext cx="1123235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A user will be able to create an Individual Customer, Contact, or Account in the Agent </a:t>
            </a:r>
            <a:r>
              <a:rPr lang="en-US" err="1"/>
              <a:t>Desktop.</a:t>
            </a:r>
            <a:endParaRPr lang="en-US"/>
          </a:p>
        </p:txBody>
      </p:sp>
      <p:pic>
        <p:nvPicPr>
          <p:cNvPr id="9" name="Picture 8" descr="A screenshot of a search engine&#10;&#10;AI-generated content may be incorrect.">
            <a:extLst>
              <a:ext uri="{FF2B5EF4-FFF2-40B4-BE49-F238E27FC236}">
                <a16:creationId xmlns:a16="http://schemas.microsoft.com/office/drawing/2014/main" id="{320B6AE6-BE0B-6401-941B-7AB20A71DAA0}"/>
              </a:ext>
            </a:extLst>
          </p:cNvPr>
          <p:cNvPicPr>
            <a:picLocks noChangeAspect="1"/>
          </p:cNvPicPr>
          <p:nvPr/>
        </p:nvPicPr>
        <p:blipFill>
          <a:blip r:embed="rId2"/>
          <a:stretch>
            <a:fillRect/>
          </a:stretch>
        </p:blipFill>
        <p:spPr>
          <a:xfrm>
            <a:off x="154781" y="1714193"/>
            <a:ext cx="10287001" cy="4489270"/>
          </a:xfrm>
          <a:prstGeom prst="rect">
            <a:avLst/>
          </a:prstGeom>
        </p:spPr>
      </p:pic>
    </p:spTree>
    <p:extLst>
      <p:ext uri="{BB962C8B-B14F-4D97-AF65-F5344CB8AC3E}">
        <p14:creationId xmlns:p14="http://schemas.microsoft.com/office/powerpoint/2010/main" val="18660803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D3103-0AD6-724D-27E7-853AEBD04B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FDD7EC2-C2C8-D838-08D6-69F55ED9CB86}"/>
              </a:ext>
            </a:extLst>
          </p:cNvPr>
          <p:cNvSpPr>
            <a:spLocks noGrp="1"/>
          </p:cNvSpPr>
          <p:nvPr>
            <p:ph type="title"/>
          </p:nvPr>
        </p:nvSpPr>
        <p:spPr>
          <a:xfrm>
            <a:off x="153760" y="291436"/>
            <a:ext cx="11413017" cy="850612"/>
          </a:xfrm>
        </p:spPr>
        <p:txBody>
          <a:bodyPr>
            <a:normAutofit fontScale="90000"/>
          </a:bodyPr>
          <a:lstStyle/>
          <a:p>
            <a:r>
              <a:rPr lang="en-US" sz="3600">
                <a:latin typeface="Montserrat"/>
              </a:rPr>
              <a:t>Create an Individual Customer, Contact, or Account in Service Cloud v2</a:t>
            </a:r>
            <a:endParaRPr lang="en-US" sz="3600"/>
          </a:p>
        </p:txBody>
      </p:sp>
      <p:sp>
        <p:nvSpPr>
          <p:cNvPr id="6" name="TextBox 5">
            <a:extLst>
              <a:ext uri="{FF2B5EF4-FFF2-40B4-BE49-F238E27FC236}">
                <a16:creationId xmlns:a16="http://schemas.microsoft.com/office/drawing/2014/main" id="{5BC594EF-49CC-2E16-D24E-CFC70CF17BB3}"/>
              </a:ext>
            </a:extLst>
          </p:cNvPr>
          <p:cNvSpPr txBox="1"/>
          <p:nvPr/>
        </p:nvSpPr>
        <p:spPr>
          <a:xfrm>
            <a:off x="1993692" y="2308485"/>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2" name="TextBox 1">
            <a:extLst>
              <a:ext uri="{FF2B5EF4-FFF2-40B4-BE49-F238E27FC236}">
                <a16:creationId xmlns:a16="http://schemas.microsoft.com/office/drawing/2014/main" id="{1C2698A7-CA01-596E-0FCC-A3C49628EE2E}"/>
              </a:ext>
            </a:extLst>
          </p:cNvPr>
          <p:cNvSpPr txBox="1"/>
          <p:nvPr/>
        </p:nvSpPr>
        <p:spPr>
          <a:xfrm>
            <a:off x="156425" y="1173329"/>
            <a:ext cx="1123235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A user will be able to create an Individual Customer, Contact, or Account through My Cards quick access on the Home Page.</a:t>
            </a:r>
          </a:p>
        </p:txBody>
      </p:sp>
      <p:pic>
        <p:nvPicPr>
          <p:cNvPr id="4" name="Picture 3" descr="A screenshot of a computer&#10;&#10;AI-generated content may be incorrect.">
            <a:extLst>
              <a:ext uri="{FF2B5EF4-FFF2-40B4-BE49-F238E27FC236}">
                <a16:creationId xmlns:a16="http://schemas.microsoft.com/office/drawing/2014/main" id="{46EB03D7-D405-8632-2A5A-35CF5244DE3A}"/>
              </a:ext>
            </a:extLst>
          </p:cNvPr>
          <p:cNvPicPr>
            <a:picLocks noChangeAspect="1"/>
          </p:cNvPicPr>
          <p:nvPr/>
        </p:nvPicPr>
        <p:blipFill>
          <a:blip r:embed="rId2"/>
          <a:stretch>
            <a:fillRect/>
          </a:stretch>
        </p:blipFill>
        <p:spPr>
          <a:xfrm>
            <a:off x="309561" y="1850386"/>
            <a:ext cx="10596562" cy="4645510"/>
          </a:xfrm>
          <a:prstGeom prst="rect">
            <a:avLst/>
          </a:prstGeom>
        </p:spPr>
      </p:pic>
    </p:spTree>
    <p:extLst>
      <p:ext uri="{BB962C8B-B14F-4D97-AF65-F5344CB8AC3E}">
        <p14:creationId xmlns:p14="http://schemas.microsoft.com/office/powerpoint/2010/main" val="243052849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2E77E-B18D-1E14-CE69-BA3BFC3DD56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159D592-5026-E63E-5A95-94DA67690F94}"/>
              </a:ext>
            </a:extLst>
          </p:cNvPr>
          <p:cNvSpPr>
            <a:spLocks noGrp="1"/>
          </p:cNvSpPr>
          <p:nvPr>
            <p:ph type="title"/>
          </p:nvPr>
        </p:nvSpPr>
        <p:spPr>
          <a:xfrm>
            <a:off x="153760" y="291436"/>
            <a:ext cx="11413017" cy="850612"/>
          </a:xfrm>
        </p:spPr>
        <p:txBody>
          <a:bodyPr>
            <a:normAutofit/>
          </a:bodyPr>
          <a:lstStyle/>
          <a:p>
            <a:r>
              <a:rPr lang="en-US" sz="3600">
                <a:latin typeface="Montserrat"/>
              </a:rPr>
              <a:t>Create an Individual Contact in Service Cloud v2</a:t>
            </a:r>
            <a:endParaRPr lang="en-US" sz="3600"/>
          </a:p>
        </p:txBody>
      </p:sp>
      <p:sp>
        <p:nvSpPr>
          <p:cNvPr id="6" name="TextBox 5">
            <a:extLst>
              <a:ext uri="{FF2B5EF4-FFF2-40B4-BE49-F238E27FC236}">
                <a16:creationId xmlns:a16="http://schemas.microsoft.com/office/drawing/2014/main" id="{2E4E1EC4-F0CD-9D73-5CA8-D4293417F0B9}"/>
              </a:ext>
            </a:extLst>
          </p:cNvPr>
          <p:cNvSpPr txBox="1"/>
          <p:nvPr/>
        </p:nvSpPr>
        <p:spPr>
          <a:xfrm>
            <a:off x="1993692" y="2308485"/>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2" name="TextBox 1">
            <a:extLst>
              <a:ext uri="{FF2B5EF4-FFF2-40B4-BE49-F238E27FC236}">
                <a16:creationId xmlns:a16="http://schemas.microsoft.com/office/drawing/2014/main" id="{20AB19DA-CB0F-AE0E-4858-F6842FD229A3}"/>
              </a:ext>
            </a:extLst>
          </p:cNvPr>
          <p:cNvSpPr txBox="1"/>
          <p:nvPr/>
        </p:nvSpPr>
        <p:spPr>
          <a:xfrm>
            <a:off x="156425" y="1340017"/>
            <a:ext cx="1123235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A user will be able to create a Contact Person in Service Cloud v2.</a:t>
            </a:r>
          </a:p>
        </p:txBody>
      </p:sp>
      <p:pic>
        <p:nvPicPr>
          <p:cNvPr id="5" name="Picture 4" descr="A screenshot of a computer&#10;&#10;AI-generated content may be incorrect.">
            <a:extLst>
              <a:ext uri="{FF2B5EF4-FFF2-40B4-BE49-F238E27FC236}">
                <a16:creationId xmlns:a16="http://schemas.microsoft.com/office/drawing/2014/main" id="{3775BB6D-7010-1B6F-AA71-9107B4B263DE}"/>
              </a:ext>
            </a:extLst>
          </p:cNvPr>
          <p:cNvPicPr>
            <a:picLocks noChangeAspect="1"/>
          </p:cNvPicPr>
          <p:nvPr/>
        </p:nvPicPr>
        <p:blipFill>
          <a:blip r:embed="rId2"/>
          <a:stretch>
            <a:fillRect/>
          </a:stretch>
        </p:blipFill>
        <p:spPr>
          <a:xfrm>
            <a:off x="714376" y="1968288"/>
            <a:ext cx="10036969" cy="4540673"/>
          </a:xfrm>
          <a:prstGeom prst="rect">
            <a:avLst/>
          </a:prstGeom>
        </p:spPr>
      </p:pic>
    </p:spTree>
    <p:extLst>
      <p:ext uri="{BB962C8B-B14F-4D97-AF65-F5344CB8AC3E}">
        <p14:creationId xmlns:p14="http://schemas.microsoft.com/office/powerpoint/2010/main" val="9674175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EEA6E-7A0A-9158-4C92-51094BED4F6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24C5F9E6-3576-ABCE-2B99-6F16E81FF1D4}"/>
              </a:ext>
            </a:extLst>
          </p:cNvPr>
          <p:cNvSpPr>
            <a:spLocks noGrp="1"/>
          </p:cNvSpPr>
          <p:nvPr>
            <p:ph type="title"/>
          </p:nvPr>
        </p:nvSpPr>
        <p:spPr>
          <a:xfrm>
            <a:off x="268904" y="4970926"/>
            <a:ext cx="10831690" cy="1887074"/>
          </a:xfrm>
        </p:spPr>
        <p:txBody>
          <a:bodyPr/>
          <a:lstStyle/>
          <a:p>
            <a:r>
              <a:rPr lang="en-US" sz="4250" b="1">
                <a:latin typeface="Montserrat"/>
              </a:rPr>
              <a:t>BREAK!  - 10 mins</a:t>
            </a:r>
            <a:endParaRPr lang="en-US"/>
          </a:p>
        </p:txBody>
      </p:sp>
    </p:spTree>
    <p:extLst>
      <p:ext uri="{BB962C8B-B14F-4D97-AF65-F5344CB8AC3E}">
        <p14:creationId xmlns:p14="http://schemas.microsoft.com/office/powerpoint/2010/main" val="19636814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E96CB-2C3E-3649-84C9-E047CD09FBE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B98184E-2065-B50A-5DE8-04BEA6B96B3C}"/>
              </a:ext>
            </a:extLst>
          </p:cNvPr>
          <p:cNvSpPr>
            <a:spLocks noGrp="1"/>
          </p:cNvSpPr>
          <p:nvPr>
            <p:ph type="title"/>
          </p:nvPr>
        </p:nvSpPr>
        <p:spPr>
          <a:xfrm>
            <a:off x="268904" y="4970926"/>
            <a:ext cx="6515881" cy="1887074"/>
          </a:xfrm>
        </p:spPr>
        <p:txBody>
          <a:bodyPr/>
          <a:lstStyle/>
          <a:p>
            <a:r>
              <a:rPr lang="en-US" sz="4250" b="1">
                <a:latin typeface="Montserrat"/>
              </a:rPr>
              <a:t>03</a:t>
            </a:r>
            <a:r>
              <a:rPr lang="en-US" sz="4250">
                <a:latin typeface="Montserrat"/>
              </a:rPr>
              <a:t> (L3) </a:t>
            </a:r>
            <a:r>
              <a:rPr lang="en-US" sz="4400">
                <a:latin typeface="Montserrat"/>
              </a:rPr>
              <a:t>Maintain Business Master Data</a:t>
            </a:r>
            <a:endParaRPr lang="en-US"/>
          </a:p>
        </p:txBody>
      </p:sp>
    </p:spTree>
    <p:extLst>
      <p:ext uri="{BB962C8B-B14F-4D97-AF65-F5344CB8AC3E}">
        <p14:creationId xmlns:p14="http://schemas.microsoft.com/office/powerpoint/2010/main" val="126001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B1263-DC46-66D5-FE69-C0867149C2F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D97DA88-73B6-F2C1-F99A-5E407A3C55C3}"/>
              </a:ext>
            </a:extLst>
          </p:cNvPr>
          <p:cNvSpPr>
            <a:spLocks noGrp="1"/>
          </p:cNvSpPr>
          <p:nvPr>
            <p:ph type="title"/>
          </p:nvPr>
        </p:nvSpPr>
        <p:spPr>
          <a:xfrm>
            <a:off x="153760" y="2069"/>
            <a:ext cx="11242333" cy="635446"/>
          </a:xfrm>
        </p:spPr>
        <p:txBody>
          <a:bodyPr>
            <a:normAutofit fontScale="90000"/>
          </a:bodyPr>
          <a:lstStyle/>
          <a:p>
            <a:r>
              <a:rPr lang="en-US">
                <a:latin typeface="Montserrat"/>
              </a:rPr>
              <a:t>Maintain Person BP in CRM</a:t>
            </a:r>
          </a:p>
        </p:txBody>
      </p:sp>
      <p:sp>
        <p:nvSpPr>
          <p:cNvPr id="6" name="TextBox 5">
            <a:extLst>
              <a:ext uri="{FF2B5EF4-FFF2-40B4-BE49-F238E27FC236}">
                <a16:creationId xmlns:a16="http://schemas.microsoft.com/office/drawing/2014/main" id="{132E4748-54FC-3853-FA88-36E4B07862F7}"/>
              </a:ext>
            </a:extLst>
          </p:cNvPr>
          <p:cNvSpPr txBox="1"/>
          <p:nvPr/>
        </p:nvSpPr>
        <p:spPr>
          <a:xfrm>
            <a:off x="1993692" y="2308485"/>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ontserrat" pitchFamily="2" charset="77"/>
              <a:ea typeface="+mn-ea"/>
              <a:cs typeface="+mn-cs"/>
            </a:endParaRPr>
          </a:p>
        </p:txBody>
      </p:sp>
      <p:graphicFrame>
        <p:nvGraphicFramePr>
          <p:cNvPr id="13" name="Table 12">
            <a:extLst>
              <a:ext uri="{FF2B5EF4-FFF2-40B4-BE49-F238E27FC236}">
                <a16:creationId xmlns:a16="http://schemas.microsoft.com/office/drawing/2014/main" id="{C2BDECAA-1BE8-ED2C-5ECB-85B8668D4412}"/>
              </a:ext>
            </a:extLst>
          </p:cNvPr>
          <p:cNvGraphicFramePr>
            <a:graphicFrameLocks noGrp="1"/>
          </p:cNvGraphicFramePr>
          <p:nvPr>
            <p:extLst>
              <p:ext uri="{D42A27DB-BD31-4B8C-83A1-F6EECF244321}">
                <p14:modId xmlns:p14="http://schemas.microsoft.com/office/powerpoint/2010/main" val="1050011074"/>
              </p:ext>
            </p:extLst>
          </p:nvPr>
        </p:nvGraphicFramePr>
        <p:xfrm>
          <a:off x="154328" y="636607"/>
          <a:ext cx="11030980" cy="6173669"/>
        </p:xfrm>
        <a:graphic>
          <a:graphicData uri="http://schemas.openxmlformats.org/drawingml/2006/table">
            <a:tbl>
              <a:tblPr firstRow="1" bandRow="1">
                <a:tableStyleId>{5C22544A-7EE6-4342-B048-85BDC9FD1C3A}</a:tableStyleId>
              </a:tblPr>
              <a:tblGrid>
                <a:gridCol w="1778706">
                  <a:extLst>
                    <a:ext uri="{9D8B030D-6E8A-4147-A177-3AD203B41FA5}">
                      <a16:colId xmlns:a16="http://schemas.microsoft.com/office/drawing/2014/main" val="4084044958"/>
                    </a:ext>
                  </a:extLst>
                </a:gridCol>
                <a:gridCol w="1255741">
                  <a:extLst>
                    <a:ext uri="{9D8B030D-6E8A-4147-A177-3AD203B41FA5}">
                      <a16:colId xmlns:a16="http://schemas.microsoft.com/office/drawing/2014/main" val="3615934369"/>
                    </a:ext>
                  </a:extLst>
                </a:gridCol>
                <a:gridCol w="1296306">
                  <a:extLst>
                    <a:ext uri="{9D8B030D-6E8A-4147-A177-3AD203B41FA5}">
                      <a16:colId xmlns:a16="http://schemas.microsoft.com/office/drawing/2014/main" val="73187036"/>
                    </a:ext>
                  </a:extLst>
                </a:gridCol>
                <a:gridCol w="1287862">
                  <a:extLst>
                    <a:ext uri="{9D8B030D-6E8A-4147-A177-3AD203B41FA5}">
                      <a16:colId xmlns:a16="http://schemas.microsoft.com/office/drawing/2014/main" val="228284509"/>
                    </a:ext>
                  </a:extLst>
                </a:gridCol>
                <a:gridCol w="2155783">
                  <a:extLst>
                    <a:ext uri="{9D8B030D-6E8A-4147-A177-3AD203B41FA5}">
                      <a16:colId xmlns:a16="http://schemas.microsoft.com/office/drawing/2014/main" val="2929055363"/>
                    </a:ext>
                  </a:extLst>
                </a:gridCol>
                <a:gridCol w="897036">
                  <a:extLst>
                    <a:ext uri="{9D8B030D-6E8A-4147-A177-3AD203B41FA5}">
                      <a16:colId xmlns:a16="http://schemas.microsoft.com/office/drawing/2014/main" val="2386789796"/>
                    </a:ext>
                  </a:extLst>
                </a:gridCol>
                <a:gridCol w="1143000">
                  <a:extLst>
                    <a:ext uri="{9D8B030D-6E8A-4147-A177-3AD203B41FA5}">
                      <a16:colId xmlns:a16="http://schemas.microsoft.com/office/drawing/2014/main" val="2536028979"/>
                    </a:ext>
                  </a:extLst>
                </a:gridCol>
                <a:gridCol w="1216546">
                  <a:extLst>
                    <a:ext uri="{9D8B030D-6E8A-4147-A177-3AD203B41FA5}">
                      <a16:colId xmlns:a16="http://schemas.microsoft.com/office/drawing/2014/main" val="3158734004"/>
                    </a:ext>
                  </a:extLst>
                </a:gridCol>
              </a:tblGrid>
              <a:tr h="486933">
                <a:tc>
                  <a:txBody>
                    <a:bodyPr/>
                    <a:lstStyle/>
                    <a:p>
                      <a:pPr algn="ctr"/>
                      <a:r>
                        <a:rPr lang="en-US" sz="1100"/>
                        <a:t>Field</a:t>
                      </a:r>
                    </a:p>
                  </a:txBody>
                  <a:tcPr anchor="ctr"/>
                </a:tc>
                <a:tc>
                  <a:txBody>
                    <a:bodyPr/>
                    <a:lstStyle/>
                    <a:p>
                      <a:pPr algn="ctr"/>
                      <a:r>
                        <a:rPr lang="en-US" sz="1100"/>
                        <a:t>Mandatory</a:t>
                      </a:r>
                    </a:p>
                  </a:txBody>
                  <a:tcPr anchor="ctr"/>
                </a:tc>
                <a:tc>
                  <a:txBody>
                    <a:bodyPr/>
                    <a:lstStyle/>
                    <a:p>
                      <a:pPr algn="ctr"/>
                      <a:r>
                        <a:rPr lang="en-US" sz="1100"/>
                        <a:t>Optional</a:t>
                      </a:r>
                    </a:p>
                  </a:txBody>
                  <a:tcPr anchor="ctr"/>
                </a:tc>
                <a:tc>
                  <a:txBody>
                    <a:bodyPr/>
                    <a:lstStyle/>
                    <a:p>
                      <a:pPr lvl="0" algn="ctr">
                        <a:buNone/>
                      </a:pPr>
                      <a:r>
                        <a:rPr lang="en-US" sz="1100"/>
                        <a:t>View Only</a:t>
                      </a:r>
                    </a:p>
                  </a:txBody>
                  <a:tcPr anchor="ctr"/>
                </a:tc>
                <a:tc>
                  <a:txBody>
                    <a:bodyPr/>
                    <a:lstStyle/>
                    <a:p>
                      <a:pPr algn="ctr"/>
                      <a:r>
                        <a:rPr lang="en-US" sz="1100"/>
                        <a:t>Field</a:t>
                      </a:r>
                    </a:p>
                  </a:txBody>
                  <a:tcPr anchor="ctr"/>
                </a:tc>
                <a:tc>
                  <a:txBody>
                    <a:bodyPr/>
                    <a:lstStyle/>
                    <a:p>
                      <a:pPr algn="ctr"/>
                      <a:r>
                        <a:rPr lang="en-US" sz="1100"/>
                        <a:t>Mandatory</a:t>
                      </a:r>
                    </a:p>
                  </a:txBody>
                  <a:tcPr anchor="ctr"/>
                </a:tc>
                <a:tc>
                  <a:txBody>
                    <a:bodyPr/>
                    <a:lstStyle/>
                    <a:p>
                      <a:pPr algn="ctr"/>
                      <a:r>
                        <a:rPr lang="en-US" sz="1100"/>
                        <a:t>Optional</a:t>
                      </a:r>
                    </a:p>
                  </a:txBody>
                  <a:tcPr anchor="ctr"/>
                </a:tc>
                <a:tc>
                  <a:txBody>
                    <a:bodyPr/>
                    <a:lstStyle/>
                    <a:p>
                      <a:pPr lvl="0" algn="ctr">
                        <a:buNone/>
                      </a:pPr>
                      <a:r>
                        <a:rPr lang="en-US" sz="1200" b="1" i="0" u="none" strike="noStrike" noProof="0">
                          <a:solidFill>
                            <a:srgbClr val="FFFFFF"/>
                          </a:solidFill>
                          <a:latin typeface="Aptos"/>
                        </a:rPr>
                        <a:t>View Only</a:t>
                      </a:r>
                      <a:endParaRPr lang="en-US" sz="1200"/>
                    </a:p>
                  </a:txBody>
                  <a:tcPr anchor="ctr"/>
                </a:tc>
                <a:extLst>
                  <a:ext uri="{0D108BD9-81ED-4DB2-BD59-A6C34878D82A}">
                    <a16:rowId xmlns:a16="http://schemas.microsoft.com/office/drawing/2014/main" val="4282288673"/>
                  </a:ext>
                </a:extLst>
              </a:tr>
              <a:tr h="294723">
                <a:tc>
                  <a:txBody>
                    <a:bodyPr/>
                    <a:lstStyle/>
                    <a:p>
                      <a:r>
                        <a:rPr lang="en-US" sz="1100"/>
                        <a:t>Full Name</a:t>
                      </a:r>
                    </a:p>
                  </a:txBody>
                  <a:tcPr/>
                </a:tc>
                <a:tc>
                  <a:txBody>
                    <a:bodyPr/>
                    <a:lstStyle/>
                    <a:p>
                      <a:pPr algn="ctr"/>
                      <a:endParaRPr lang="en-US" sz="1100"/>
                    </a:p>
                  </a:txBody>
                  <a:tcPr anchor="ctr"/>
                </a:tc>
                <a:tc>
                  <a:txBody>
                    <a:bodyPr/>
                    <a:lstStyle/>
                    <a:p>
                      <a:pPr algn="ctr"/>
                      <a:endParaRPr lang="en-US" sz="1100"/>
                    </a:p>
                  </a:txBody>
                  <a:tcPr anchor="ctr"/>
                </a:tc>
                <a:tc>
                  <a:txBody>
                    <a:bodyPr/>
                    <a:lstStyle/>
                    <a:p>
                      <a:pPr lvl="0" algn="ctr">
                        <a:buNone/>
                      </a:pPr>
                      <a:r>
                        <a:rPr lang="en-US" sz="1100"/>
                        <a:t>X</a:t>
                      </a:r>
                    </a:p>
                  </a:txBody>
                  <a:tcPr anchor="ctr"/>
                </a:tc>
                <a:tc>
                  <a:txBody>
                    <a:bodyPr/>
                    <a:lstStyle/>
                    <a:p>
                      <a:pPr marL="0" marR="0" lvl="0" indent="0" algn="l">
                        <a:lnSpc>
                          <a:spcPct val="100000"/>
                        </a:lnSpc>
                        <a:spcBef>
                          <a:spcPts val="0"/>
                        </a:spcBef>
                        <a:spcAft>
                          <a:spcPts val="0"/>
                        </a:spcAft>
                        <a:buNone/>
                      </a:pPr>
                      <a:r>
                        <a:rPr lang="en-US" sz="1100"/>
                        <a:t>Info release</a:t>
                      </a:r>
                    </a:p>
                  </a:txBody>
                  <a:tcPr/>
                </a:tc>
                <a:tc>
                  <a:txBody>
                    <a:bodyPr/>
                    <a:lstStyle/>
                    <a:p>
                      <a:pPr algn="ctr"/>
                      <a:endParaRPr lang="en-US" sz="1100"/>
                    </a:p>
                  </a:txBody>
                  <a:tcPr anchor="ctr"/>
                </a:tc>
                <a:tc>
                  <a:txBody>
                    <a:bodyPr/>
                    <a:lstStyle/>
                    <a:p>
                      <a:pPr algn="ctr"/>
                      <a:r>
                        <a:rPr lang="en-US" sz="1100"/>
                        <a:t>X</a:t>
                      </a:r>
                    </a:p>
                  </a:txBody>
                  <a:tcPr anchor="ctr"/>
                </a:tc>
                <a:tc>
                  <a:txBody>
                    <a:bodyPr/>
                    <a:lstStyle/>
                    <a:p>
                      <a:pPr lvl="0" algn="ctr">
                        <a:buNone/>
                      </a:pPr>
                      <a:endParaRPr lang="en-US" sz="1100"/>
                    </a:p>
                  </a:txBody>
                  <a:tcPr anchor="ctr"/>
                </a:tc>
                <a:extLst>
                  <a:ext uri="{0D108BD9-81ED-4DB2-BD59-A6C34878D82A}">
                    <a16:rowId xmlns:a16="http://schemas.microsoft.com/office/drawing/2014/main" val="3849373528"/>
                  </a:ext>
                </a:extLst>
              </a:tr>
              <a:tr h="358793">
                <a:tc>
                  <a:txBody>
                    <a:bodyPr/>
                    <a:lstStyle/>
                    <a:p>
                      <a:r>
                        <a:rPr lang="en-US" sz="1100"/>
                        <a:t>ID</a:t>
                      </a:r>
                    </a:p>
                  </a:txBody>
                  <a:tcPr/>
                </a:tc>
                <a:tc>
                  <a:txBody>
                    <a:bodyPr/>
                    <a:lstStyle/>
                    <a:p>
                      <a:pPr algn="ctr"/>
                      <a:endParaRPr lang="en-US" sz="1100"/>
                    </a:p>
                  </a:txBody>
                  <a:tcPr anchor="ctr"/>
                </a:tc>
                <a:tc>
                  <a:txBody>
                    <a:bodyPr/>
                    <a:lstStyle/>
                    <a:p>
                      <a:pPr algn="ctr"/>
                      <a:endParaRPr lang="en-US" sz="1100"/>
                    </a:p>
                  </a:txBody>
                  <a:tcPr anchor="ctr"/>
                </a:tc>
                <a:tc>
                  <a:txBody>
                    <a:bodyPr/>
                    <a:lstStyle/>
                    <a:p>
                      <a:pPr lvl="0" algn="ctr">
                        <a:buNone/>
                      </a:pPr>
                      <a:r>
                        <a:rPr lang="en-US" sz="1100"/>
                        <a:t>X</a:t>
                      </a:r>
                    </a:p>
                  </a:txBody>
                  <a:tcPr anchor="ctr"/>
                </a:tc>
                <a:tc>
                  <a:txBody>
                    <a:bodyPr/>
                    <a:lstStyle/>
                    <a:p>
                      <a:pPr marL="0" marR="0" lvl="0" indent="0" algn="l">
                        <a:lnSpc>
                          <a:spcPct val="100000"/>
                        </a:lnSpc>
                        <a:spcBef>
                          <a:spcPts val="0"/>
                        </a:spcBef>
                        <a:spcAft>
                          <a:spcPts val="0"/>
                        </a:spcAft>
                        <a:buNone/>
                      </a:pPr>
                      <a:r>
                        <a:rPr lang="en-US" sz="1100"/>
                        <a:t>BCC Dunning Hold</a:t>
                      </a:r>
                    </a:p>
                  </a:txBody>
                  <a:tcPr/>
                </a:tc>
                <a:tc>
                  <a:txBody>
                    <a:bodyPr/>
                    <a:lstStyle/>
                    <a:p>
                      <a:pPr lvl="0" algn="ctr">
                        <a:buNone/>
                      </a:pPr>
                      <a:endParaRPr lang="en-US" sz="1100"/>
                    </a:p>
                  </a:txBody>
                  <a:tcPr anchor="ctr"/>
                </a:tc>
                <a:tc>
                  <a:txBody>
                    <a:bodyPr/>
                    <a:lstStyle/>
                    <a:p>
                      <a:pPr lvl="0" algn="ctr">
                        <a:buNone/>
                      </a:pPr>
                      <a:r>
                        <a:rPr lang="en-US" sz="1100"/>
                        <a:t>X</a:t>
                      </a:r>
                    </a:p>
                  </a:txBody>
                  <a:tcPr anchor="ctr"/>
                </a:tc>
                <a:tc>
                  <a:txBody>
                    <a:bodyPr/>
                    <a:lstStyle/>
                    <a:p>
                      <a:pPr lvl="0" algn="ctr">
                        <a:buNone/>
                      </a:pPr>
                      <a:endParaRPr lang="en-US" sz="1100"/>
                    </a:p>
                  </a:txBody>
                  <a:tcPr anchor="ctr"/>
                </a:tc>
                <a:extLst>
                  <a:ext uri="{0D108BD9-81ED-4DB2-BD59-A6C34878D82A}">
                    <a16:rowId xmlns:a16="http://schemas.microsoft.com/office/drawing/2014/main" val="100861940"/>
                  </a:ext>
                </a:extLst>
              </a:tr>
              <a:tr h="358793">
                <a:tc>
                  <a:txBody>
                    <a:bodyPr/>
                    <a:lstStyle/>
                    <a:p>
                      <a:r>
                        <a:rPr lang="en-US" sz="1100"/>
                        <a:t>First Name</a:t>
                      </a:r>
                    </a:p>
                  </a:txBody>
                  <a:tcPr/>
                </a:tc>
                <a:tc>
                  <a:txBody>
                    <a:bodyPr/>
                    <a:lstStyle/>
                    <a:p>
                      <a:pPr algn="ctr"/>
                      <a:r>
                        <a:rPr lang="en-US" sz="1100"/>
                        <a:t>X</a:t>
                      </a:r>
                    </a:p>
                  </a:txBody>
                  <a:tcPr anchor="ctr"/>
                </a:tc>
                <a:tc>
                  <a:txBody>
                    <a:bodyPr/>
                    <a:lstStyle/>
                    <a:p>
                      <a:pPr algn="ctr"/>
                      <a:endParaRPr lang="en-US" sz="1100"/>
                    </a:p>
                  </a:txBody>
                  <a:tcPr anchor="ctr"/>
                </a:tc>
                <a:tc>
                  <a:txBody>
                    <a:bodyPr/>
                    <a:lstStyle/>
                    <a:p>
                      <a:pPr lvl="0" algn="ctr">
                        <a:buNone/>
                      </a:pPr>
                      <a:endParaRPr lang="en-US" sz="1100"/>
                    </a:p>
                  </a:txBody>
                  <a:tcPr anchor="ctr"/>
                </a:tc>
                <a:tc>
                  <a:txBody>
                    <a:bodyPr/>
                    <a:lstStyle/>
                    <a:p>
                      <a:pPr lvl="0">
                        <a:buNone/>
                      </a:pPr>
                      <a:r>
                        <a:rPr lang="en-US" sz="1100"/>
                        <a:t>BCC Shut-Off Notice Suppression</a:t>
                      </a:r>
                    </a:p>
                  </a:txBody>
                  <a:tcPr/>
                </a:tc>
                <a:tc>
                  <a:txBody>
                    <a:bodyPr/>
                    <a:lstStyle/>
                    <a:p>
                      <a:pPr lvl="0" algn="ctr">
                        <a:buNone/>
                      </a:pPr>
                      <a:endParaRPr lang="en-US" sz="1100"/>
                    </a:p>
                  </a:txBody>
                  <a:tcPr anchor="ctr"/>
                </a:tc>
                <a:tc>
                  <a:txBody>
                    <a:bodyPr/>
                    <a:lstStyle/>
                    <a:p>
                      <a:pPr lvl="0" algn="ctr">
                        <a:buNone/>
                      </a:pPr>
                      <a:r>
                        <a:rPr lang="en-US" sz="1100"/>
                        <a:t>X</a:t>
                      </a:r>
                    </a:p>
                  </a:txBody>
                  <a:tcPr anchor="ctr"/>
                </a:tc>
                <a:tc>
                  <a:txBody>
                    <a:bodyPr/>
                    <a:lstStyle/>
                    <a:p>
                      <a:pPr lvl="0" algn="ctr">
                        <a:buNone/>
                      </a:pPr>
                      <a:endParaRPr lang="en-US" sz="1100"/>
                    </a:p>
                  </a:txBody>
                  <a:tcPr anchor="ctr"/>
                </a:tc>
                <a:extLst>
                  <a:ext uri="{0D108BD9-81ED-4DB2-BD59-A6C34878D82A}">
                    <a16:rowId xmlns:a16="http://schemas.microsoft.com/office/drawing/2014/main" val="3011119898"/>
                  </a:ext>
                </a:extLst>
              </a:tr>
              <a:tr h="499748">
                <a:tc>
                  <a:txBody>
                    <a:bodyPr/>
                    <a:lstStyle/>
                    <a:p>
                      <a:pPr lvl="0">
                        <a:buNone/>
                      </a:pPr>
                      <a:r>
                        <a:rPr lang="en-US" sz="1100"/>
                        <a:t>Last Name</a:t>
                      </a:r>
                    </a:p>
                  </a:txBody>
                  <a:tcPr/>
                </a:tc>
                <a:tc>
                  <a:txBody>
                    <a:bodyPr/>
                    <a:lstStyle/>
                    <a:p>
                      <a:pPr algn="ctr"/>
                      <a:r>
                        <a:rPr lang="en-US" sz="1100"/>
                        <a:t>X</a:t>
                      </a:r>
                    </a:p>
                  </a:txBody>
                  <a:tcPr anchor="ctr"/>
                </a:tc>
                <a:tc>
                  <a:txBody>
                    <a:bodyPr/>
                    <a:lstStyle/>
                    <a:p>
                      <a:pPr algn="ctr"/>
                      <a:endParaRPr lang="en-US" sz="1100"/>
                    </a:p>
                  </a:txBody>
                  <a:tcPr anchor="ctr"/>
                </a:tc>
                <a:tc>
                  <a:txBody>
                    <a:bodyPr/>
                    <a:lstStyle/>
                    <a:p>
                      <a:pPr lvl="0" algn="ctr">
                        <a:buNone/>
                      </a:pPr>
                      <a:endParaRPr lang="en-US" sz="1100"/>
                    </a:p>
                  </a:txBody>
                  <a:tcPr anchor="ctr"/>
                </a:tc>
                <a:tc>
                  <a:txBody>
                    <a:bodyPr/>
                    <a:lstStyle/>
                    <a:p>
                      <a:pPr marL="0" marR="0" lvl="0" indent="0" algn="l">
                        <a:lnSpc>
                          <a:spcPct val="100000"/>
                        </a:lnSpc>
                        <a:spcBef>
                          <a:spcPts val="0"/>
                        </a:spcBef>
                        <a:spcAft>
                          <a:spcPts val="0"/>
                        </a:spcAft>
                        <a:buNone/>
                      </a:pPr>
                      <a:r>
                        <a:rPr lang="en-US" sz="1100"/>
                        <a:t>CC Status</a:t>
                      </a:r>
                    </a:p>
                  </a:txBody>
                  <a:tcPr>
                    <a:solidFill>
                      <a:schemeClr val="tx2">
                        <a:lumMod val="10000"/>
                        <a:lumOff val="90000"/>
                      </a:schemeClr>
                    </a:solidFill>
                  </a:tcPr>
                </a:tc>
                <a:tc>
                  <a:txBody>
                    <a:bodyPr/>
                    <a:lstStyle/>
                    <a:p>
                      <a:pPr lvl="0" algn="ctr">
                        <a:buNone/>
                      </a:pPr>
                      <a:endParaRPr lang="en-US" sz="1100"/>
                    </a:p>
                  </a:txBody>
                  <a:tcPr anchor="ctr"/>
                </a:tc>
                <a:tc>
                  <a:txBody>
                    <a:bodyPr/>
                    <a:lstStyle/>
                    <a:p>
                      <a:pPr lvl="0" algn="ctr">
                        <a:buNone/>
                      </a:pPr>
                      <a:endParaRPr lang="en-US" sz="1100"/>
                    </a:p>
                  </a:txBody>
                  <a:tcPr anchor="ctr"/>
                </a:tc>
                <a:tc>
                  <a:txBody>
                    <a:bodyPr/>
                    <a:lstStyle/>
                    <a:p>
                      <a:pPr lvl="0" algn="ctr">
                        <a:buNone/>
                      </a:pPr>
                      <a:r>
                        <a:rPr lang="en-US" sz="1100"/>
                        <a:t>X</a:t>
                      </a:r>
                      <a:endParaRPr lang="en-US"/>
                    </a:p>
                  </a:txBody>
                  <a:tcPr anchor="ctr"/>
                </a:tc>
                <a:extLst>
                  <a:ext uri="{0D108BD9-81ED-4DB2-BD59-A6C34878D82A}">
                    <a16:rowId xmlns:a16="http://schemas.microsoft.com/office/drawing/2014/main" val="2045713161"/>
                  </a:ext>
                </a:extLst>
              </a:tr>
              <a:tr h="294723">
                <a:tc>
                  <a:txBody>
                    <a:bodyPr/>
                    <a:lstStyle/>
                    <a:p>
                      <a:pPr lvl="0">
                        <a:buNone/>
                      </a:pPr>
                      <a:r>
                        <a:rPr lang="en-US" sz="1100"/>
                        <a:t>Title</a:t>
                      </a:r>
                    </a:p>
                  </a:txBody>
                  <a:tcPr/>
                </a:tc>
                <a:tc>
                  <a:txBody>
                    <a:bodyPr/>
                    <a:lstStyle/>
                    <a:p>
                      <a:pPr algn="ctr"/>
                      <a:endParaRPr lang="en-US" sz="1100"/>
                    </a:p>
                  </a:txBody>
                  <a:tcPr anchor="ctr"/>
                </a:tc>
                <a:tc>
                  <a:txBody>
                    <a:bodyPr/>
                    <a:lstStyle/>
                    <a:p>
                      <a:pPr algn="ctr"/>
                      <a:r>
                        <a:rPr lang="en-US" sz="1100"/>
                        <a:t>X</a:t>
                      </a:r>
                    </a:p>
                  </a:txBody>
                  <a:tcPr anchor="ctr"/>
                </a:tc>
                <a:tc>
                  <a:txBody>
                    <a:bodyPr/>
                    <a:lstStyle/>
                    <a:p>
                      <a:pPr lvl="0" algn="ctr">
                        <a:buNone/>
                      </a:pPr>
                      <a:endParaRPr lang="en-US" sz="1100"/>
                    </a:p>
                  </a:txBody>
                  <a:tcPr anchor="ctr"/>
                </a:tc>
                <a:tc>
                  <a:txBody>
                    <a:bodyPr/>
                    <a:lstStyle/>
                    <a:p>
                      <a:pPr marL="0" marR="0" lvl="0" indent="0" algn="l">
                        <a:lnSpc>
                          <a:spcPct val="100000"/>
                        </a:lnSpc>
                        <a:spcBef>
                          <a:spcPts val="0"/>
                        </a:spcBef>
                        <a:spcAft>
                          <a:spcPts val="0"/>
                        </a:spcAft>
                        <a:buNone/>
                      </a:pPr>
                      <a:r>
                        <a:rPr lang="en-US" sz="1100"/>
                        <a:t>Date/Time</a:t>
                      </a:r>
                    </a:p>
                  </a:txBody>
                  <a:tcPr>
                    <a:solidFill>
                      <a:schemeClr val="tx2">
                        <a:lumMod val="10000"/>
                        <a:lumOff val="90000"/>
                      </a:schemeClr>
                    </a:solidFill>
                  </a:tcPr>
                </a:tc>
                <a:tc>
                  <a:txBody>
                    <a:bodyPr/>
                    <a:lstStyle/>
                    <a:p>
                      <a:pPr lvl="0" algn="ctr">
                        <a:buNone/>
                      </a:pPr>
                      <a:endParaRPr lang="en-US" sz="1100"/>
                    </a:p>
                  </a:txBody>
                  <a:tcPr anchor="ctr"/>
                </a:tc>
                <a:tc>
                  <a:txBody>
                    <a:bodyPr/>
                    <a:lstStyle/>
                    <a:p>
                      <a:pPr lvl="0" algn="ctr">
                        <a:buNone/>
                      </a:pPr>
                      <a:endParaRPr lang="en-US" sz="1100"/>
                    </a:p>
                  </a:txBody>
                  <a:tcPr anchor="ctr"/>
                </a:tc>
                <a:tc>
                  <a:txBody>
                    <a:bodyPr/>
                    <a:lstStyle/>
                    <a:p>
                      <a:pPr lvl="0" algn="ctr">
                        <a:buNone/>
                      </a:pPr>
                      <a:r>
                        <a:rPr lang="en-US" sz="1100"/>
                        <a:t>X</a:t>
                      </a:r>
                    </a:p>
                  </a:txBody>
                  <a:tcPr anchor="ctr"/>
                </a:tc>
                <a:extLst>
                  <a:ext uri="{0D108BD9-81ED-4DB2-BD59-A6C34878D82A}">
                    <a16:rowId xmlns:a16="http://schemas.microsoft.com/office/drawing/2014/main" val="3815704308"/>
                  </a:ext>
                </a:extLst>
              </a:tr>
              <a:tr h="217838">
                <a:tc>
                  <a:txBody>
                    <a:bodyPr/>
                    <a:lstStyle/>
                    <a:p>
                      <a:pPr lvl="0">
                        <a:buNone/>
                      </a:pPr>
                      <a:r>
                        <a:rPr lang="en-US" sz="1100"/>
                        <a:t>Middle Name</a:t>
                      </a:r>
                    </a:p>
                  </a:txBody>
                  <a:tcPr/>
                </a:tc>
                <a:tc>
                  <a:txBody>
                    <a:bodyPr/>
                    <a:lstStyle/>
                    <a:p>
                      <a:pPr algn="ctr"/>
                      <a:endParaRPr lang="en-US" sz="1100"/>
                    </a:p>
                  </a:txBody>
                  <a:tcPr anchor="ctr"/>
                </a:tc>
                <a:tc>
                  <a:txBody>
                    <a:bodyPr/>
                    <a:lstStyle/>
                    <a:p>
                      <a:pPr algn="ctr"/>
                      <a:r>
                        <a:rPr lang="en-US" sz="1100"/>
                        <a:t>X</a:t>
                      </a:r>
                    </a:p>
                  </a:txBody>
                  <a:tcPr anchor="ctr"/>
                </a:tc>
                <a:tc>
                  <a:txBody>
                    <a:bodyPr/>
                    <a:lstStyle/>
                    <a:p>
                      <a:pPr lvl="0" algn="ctr">
                        <a:buNone/>
                      </a:pPr>
                      <a:endParaRPr lang="en-US" sz="1100"/>
                    </a:p>
                  </a:txBody>
                  <a:tcPr anchor="ctr"/>
                </a:tc>
                <a:tc>
                  <a:txBody>
                    <a:bodyPr/>
                    <a:lstStyle/>
                    <a:p>
                      <a:pPr marL="0" marR="0" lvl="0" indent="0" algn="l">
                        <a:lnSpc>
                          <a:spcPct val="100000"/>
                        </a:lnSpc>
                        <a:spcBef>
                          <a:spcPts val="0"/>
                        </a:spcBef>
                        <a:spcAft>
                          <a:spcPts val="0"/>
                        </a:spcAft>
                        <a:buNone/>
                      </a:pPr>
                      <a:r>
                        <a:rPr lang="en-US" sz="1100"/>
                        <a:t>CC Updated By</a:t>
                      </a:r>
                    </a:p>
                  </a:txBody>
                  <a:tcPr>
                    <a:solidFill>
                      <a:schemeClr val="tx2">
                        <a:lumMod val="10000"/>
                        <a:lumOff val="90000"/>
                      </a:schemeClr>
                    </a:solidFill>
                  </a:tcPr>
                </a:tc>
                <a:tc>
                  <a:txBody>
                    <a:bodyPr/>
                    <a:lstStyle/>
                    <a:p>
                      <a:pPr lvl="0" algn="ctr">
                        <a:buNone/>
                      </a:pPr>
                      <a:endParaRPr lang="en-US" sz="1100"/>
                    </a:p>
                  </a:txBody>
                  <a:tcPr anchor="ctr"/>
                </a:tc>
                <a:tc>
                  <a:txBody>
                    <a:bodyPr/>
                    <a:lstStyle/>
                    <a:p>
                      <a:pPr lvl="0" algn="ctr">
                        <a:buNone/>
                      </a:pPr>
                      <a:endParaRPr lang="en-US" sz="1100"/>
                    </a:p>
                  </a:txBody>
                  <a:tcPr anchor="ctr"/>
                </a:tc>
                <a:tc>
                  <a:txBody>
                    <a:bodyPr/>
                    <a:lstStyle/>
                    <a:p>
                      <a:pPr lvl="0" algn="ctr">
                        <a:buNone/>
                      </a:pPr>
                      <a:r>
                        <a:rPr lang="en-US" sz="1100"/>
                        <a:t>X</a:t>
                      </a:r>
                    </a:p>
                  </a:txBody>
                  <a:tcPr anchor="ctr"/>
                </a:tc>
                <a:extLst>
                  <a:ext uri="{0D108BD9-81ED-4DB2-BD59-A6C34878D82A}">
                    <a16:rowId xmlns:a16="http://schemas.microsoft.com/office/drawing/2014/main" val="2729228727"/>
                  </a:ext>
                </a:extLst>
              </a:tr>
              <a:tr h="294723">
                <a:tc>
                  <a:txBody>
                    <a:bodyPr/>
                    <a:lstStyle/>
                    <a:p>
                      <a:pPr lvl="0">
                        <a:buNone/>
                      </a:pPr>
                      <a:r>
                        <a:rPr lang="en-US" sz="1100"/>
                        <a:t>Suffix</a:t>
                      </a:r>
                    </a:p>
                  </a:txBody>
                  <a:tcPr/>
                </a:tc>
                <a:tc>
                  <a:txBody>
                    <a:bodyPr/>
                    <a:lstStyle/>
                    <a:p>
                      <a:pPr algn="ctr"/>
                      <a:endParaRPr lang="en-US" sz="1100"/>
                    </a:p>
                  </a:txBody>
                  <a:tcPr anchor="ctr"/>
                </a:tc>
                <a:tc>
                  <a:txBody>
                    <a:bodyPr/>
                    <a:lstStyle/>
                    <a:p>
                      <a:pPr algn="ctr"/>
                      <a:r>
                        <a:rPr lang="en-US" sz="1100"/>
                        <a:t>X</a:t>
                      </a:r>
                    </a:p>
                  </a:txBody>
                  <a:tcPr anchor="ctr"/>
                </a:tc>
                <a:tc>
                  <a:txBody>
                    <a:bodyPr/>
                    <a:lstStyle/>
                    <a:p>
                      <a:pPr lvl="0" algn="ctr">
                        <a:buNone/>
                      </a:pPr>
                      <a:endParaRPr lang="en-US" sz="1100"/>
                    </a:p>
                  </a:txBody>
                  <a:tcPr anchor="ctr"/>
                </a:tc>
                <a:tc>
                  <a:txBody>
                    <a:bodyPr/>
                    <a:lstStyle/>
                    <a:p>
                      <a:pPr marL="0" marR="0" lvl="0" indent="0" algn="l">
                        <a:lnSpc>
                          <a:spcPct val="100000"/>
                        </a:lnSpc>
                        <a:spcBef>
                          <a:spcPts val="0"/>
                        </a:spcBef>
                        <a:spcAft>
                          <a:spcPts val="0"/>
                        </a:spcAft>
                        <a:buNone/>
                      </a:pPr>
                      <a:r>
                        <a:rPr lang="en-US" sz="1100"/>
                        <a:t>CC Source</a:t>
                      </a:r>
                    </a:p>
                  </a:txBody>
                  <a:tcPr>
                    <a:solidFill>
                      <a:schemeClr val="tx2">
                        <a:lumMod val="10000"/>
                        <a:lumOff val="90000"/>
                      </a:schemeClr>
                    </a:solidFill>
                  </a:tcPr>
                </a:tc>
                <a:tc>
                  <a:txBody>
                    <a:bodyPr/>
                    <a:lstStyle/>
                    <a:p>
                      <a:pPr lvl="0" algn="ctr">
                        <a:buNone/>
                      </a:pPr>
                      <a:endParaRPr lang="en-US" sz="1100"/>
                    </a:p>
                  </a:txBody>
                  <a:tcPr anchor="ctr"/>
                </a:tc>
                <a:tc>
                  <a:txBody>
                    <a:bodyPr/>
                    <a:lstStyle/>
                    <a:p>
                      <a:pPr lvl="0" algn="ctr">
                        <a:buNone/>
                      </a:pPr>
                      <a:endParaRPr lang="en-US" sz="1100"/>
                    </a:p>
                  </a:txBody>
                  <a:tcPr anchor="ctr"/>
                </a:tc>
                <a:tc>
                  <a:txBody>
                    <a:bodyPr/>
                    <a:lstStyle/>
                    <a:p>
                      <a:pPr lvl="0" algn="ctr">
                        <a:buNone/>
                      </a:pPr>
                      <a:r>
                        <a:rPr lang="en-US" sz="1100"/>
                        <a:t>X</a:t>
                      </a:r>
                    </a:p>
                  </a:txBody>
                  <a:tcPr anchor="ctr"/>
                </a:tc>
                <a:extLst>
                  <a:ext uri="{0D108BD9-81ED-4DB2-BD59-A6C34878D82A}">
                    <a16:rowId xmlns:a16="http://schemas.microsoft.com/office/drawing/2014/main" val="2316147996"/>
                  </a:ext>
                </a:extLst>
              </a:tr>
              <a:tr h="294723">
                <a:tc>
                  <a:txBody>
                    <a:bodyPr/>
                    <a:lstStyle/>
                    <a:p>
                      <a:pPr lvl="0">
                        <a:buNone/>
                      </a:pPr>
                      <a:r>
                        <a:rPr lang="en-US" sz="1100"/>
                        <a:t>Driver's License</a:t>
                      </a:r>
                    </a:p>
                  </a:txBody>
                  <a:tcPr/>
                </a:tc>
                <a:tc>
                  <a:txBody>
                    <a:bodyPr/>
                    <a:lstStyle/>
                    <a:p>
                      <a:pPr algn="ctr"/>
                      <a:endParaRPr lang="en-US" sz="1100"/>
                    </a:p>
                  </a:txBody>
                  <a:tcPr anchor="ctr"/>
                </a:tc>
                <a:tc>
                  <a:txBody>
                    <a:bodyPr/>
                    <a:lstStyle/>
                    <a:p>
                      <a:pPr algn="ctr"/>
                      <a:r>
                        <a:rPr lang="en-US" sz="1100"/>
                        <a:t>X</a:t>
                      </a:r>
                    </a:p>
                  </a:txBody>
                  <a:tcPr anchor="ctr"/>
                </a:tc>
                <a:tc>
                  <a:txBody>
                    <a:bodyPr/>
                    <a:lstStyle/>
                    <a:p>
                      <a:pPr lvl="0" algn="ctr">
                        <a:buNone/>
                      </a:pPr>
                      <a:endParaRPr lang="en-US" sz="1100"/>
                    </a:p>
                  </a:txBody>
                  <a:tcPr anchor="ctr"/>
                </a:tc>
                <a:tc>
                  <a:txBody>
                    <a:bodyPr/>
                    <a:lstStyle/>
                    <a:p>
                      <a:pPr lvl="0">
                        <a:buNone/>
                      </a:pPr>
                      <a:r>
                        <a:rPr lang="en-US" sz="1100"/>
                        <a:t>DP Status</a:t>
                      </a:r>
                    </a:p>
                  </a:txBody>
                  <a:tcPr>
                    <a:solidFill>
                      <a:schemeClr val="tx2">
                        <a:lumMod val="10000"/>
                        <a:lumOff val="90000"/>
                      </a:schemeClr>
                    </a:solidFill>
                  </a:tcPr>
                </a:tc>
                <a:tc>
                  <a:txBody>
                    <a:bodyPr/>
                    <a:lstStyle/>
                    <a:p>
                      <a:pPr lvl="0" algn="ctr">
                        <a:buNone/>
                      </a:pPr>
                      <a:endParaRPr lang="en-US" sz="1100"/>
                    </a:p>
                  </a:txBody>
                  <a:tcPr anchor="ctr"/>
                </a:tc>
                <a:tc>
                  <a:txBody>
                    <a:bodyPr/>
                    <a:lstStyle/>
                    <a:p>
                      <a:pPr lvl="0" algn="ctr">
                        <a:buNone/>
                      </a:pPr>
                      <a:endParaRPr lang="en-US" sz="1100"/>
                    </a:p>
                  </a:txBody>
                  <a:tcPr anchor="ctr"/>
                </a:tc>
                <a:tc>
                  <a:txBody>
                    <a:bodyPr/>
                    <a:lstStyle/>
                    <a:p>
                      <a:pPr lvl="0" algn="ctr">
                        <a:buNone/>
                      </a:pPr>
                      <a:r>
                        <a:rPr lang="en-US" sz="1100"/>
                        <a:t>X</a:t>
                      </a:r>
                    </a:p>
                  </a:txBody>
                  <a:tcPr anchor="ctr"/>
                </a:tc>
                <a:extLst>
                  <a:ext uri="{0D108BD9-81ED-4DB2-BD59-A6C34878D82A}">
                    <a16:rowId xmlns:a16="http://schemas.microsoft.com/office/drawing/2014/main" val="3573349906"/>
                  </a:ext>
                </a:extLst>
              </a:tr>
              <a:tr h="345978">
                <a:tc>
                  <a:txBody>
                    <a:bodyPr/>
                    <a:lstStyle/>
                    <a:p>
                      <a:pPr lvl="0">
                        <a:buNone/>
                      </a:pPr>
                      <a:r>
                        <a:rPr lang="en-US" sz="1100"/>
                        <a:t>SSN</a:t>
                      </a:r>
                    </a:p>
                  </a:txBody>
                  <a:tcPr/>
                </a:tc>
                <a:tc>
                  <a:txBody>
                    <a:bodyPr/>
                    <a:lstStyle/>
                    <a:p>
                      <a:pPr algn="ctr"/>
                      <a:endParaRPr lang="en-US" sz="1100"/>
                    </a:p>
                  </a:txBody>
                  <a:tcPr anchor="ctr"/>
                </a:tc>
                <a:tc>
                  <a:txBody>
                    <a:bodyPr/>
                    <a:lstStyle/>
                    <a:p>
                      <a:pPr algn="ctr"/>
                      <a:r>
                        <a:rPr lang="en-US" sz="1100"/>
                        <a:t>X</a:t>
                      </a:r>
                    </a:p>
                  </a:txBody>
                  <a:tcPr anchor="ctr"/>
                </a:tc>
                <a:tc>
                  <a:txBody>
                    <a:bodyPr/>
                    <a:lstStyle/>
                    <a:p>
                      <a:pPr lvl="0" algn="ctr">
                        <a:buNone/>
                      </a:pPr>
                      <a:endParaRPr lang="en-US" sz="1100"/>
                    </a:p>
                  </a:txBody>
                  <a:tcPr anchor="ctr"/>
                </a:tc>
                <a:tc>
                  <a:txBody>
                    <a:bodyPr/>
                    <a:lstStyle/>
                    <a:p>
                      <a:pPr lvl="0">
                        <a:buNone/>
                      </a:pPr>
                      <a:r>
                        <a:rPr lang="en-US" sz="1100"/>
                        <a:t>Date/Time</a:t>
                      </a:r>
                    </a:p>
                  </a:txBody>
                  <a:tcPr>
                    <a:solidFill>
                      <a:schemeClr val="tx2">
                        <a:lumMod val="10000"/>
                        <a:lumOff val="90000"/>
                      </a:schemeClr>
                    </a:solidFill>
                  </a:tcPr>
                </a:tc>
                <a:tc>
                  <a:txBody>
                    <a:bodyPr/>
                    <a:lstStyle/>
                    <a:p>
                      <a:pPr lvl="0" algn="ctr">
                        <a:buNone/>
                      </a:pPr>
                      <a:endParaRPr lang="en-US" sz="1100"/>
                    </a:p>
                  </a:txBody>
                  <a:tcPr anchor="ctr"/>
                </a:tc>
                <a:tc>
                  <a:txBody>
                    <a:bodyPr/>
                    <a:lstStyle/>
                    <a:p>
                      <a:pPr lvl="0" algn="ctr">
                        <a:buNone/>
                      </a:pPr>
                      <a:endParaRPr lang="en-US" sz="1100"/>
                    </a:p>
                  </a:txBody>
                  <a:tcPr anchor="ctr"/>
                </a:tc>
                <a:tc>
                  <a:txBody>
                    <a:bodyPr/>
                    <a:lstStyle/>
                    <a:p>
                      <a:pPr lvl="0" algn="ctr">
                        <a:buNone/>
                      </a:pPr>
                      <a:r>
                        <a:rPr lang="en-US" sz="1100"/>
                        <a:t>X</a:t>
                      </a:r>
                    </a:p>
                  </a:txBody>
                  <a:tcPr anchor="ctr"/>
                </a:tc>
                <a:extLst>
                  <a:ext uri="{0D108BD9-81ED-4DB2-BD59-A6C34878D82A}">
                    <a16:rowId xmlns:a16="http://schemas.microsoft.com/office/drawing/2014/main" val="2970660839"/>
                  </a:ext>
                </a:extLst>
              </a:tr>
              <a:tr h="217838">
                <a:tc>
                  <a:txBody>
                    <a:bodyPr/>
                    <a:lstStyle/>
                    <a:p>
                      <a:pPr lvl="0">
                        <a:buNone/>
                      </a:pPr>
                      <a:r>
                        <a:rPr lang="en-US" sz="1100"/>
                        <a:t>DL State </a:t>
                      </a:r>
                    </a:p>
                  </a:txBody>
                  <a:tcPr/>
                </a:tc>
                <a:tc>
                  <a:txBody>
                    <a:bodyPr/>
                    <a:lstStyle/>
                    <a:p>
                      <a:pPr algn="ctr"/>
                      <a:endParaRPr lang="en-US" sz="1100"/>
                    </a:p>
                  </a:txBody>
                  <a:tcPr anchor="ctr"/>
                </a:tc>
                <a:tc>
                  <a:txBody>
                    <a:bodyPr/>
                    <a:lstStyle/>
                    <a:p>
                      <a:pPr algn="ctr"/>
                      <a:r>
                        <a:rPr lang="en-US" sz="1100"/>
                        <a:t>X</a:t>
                      </a:r>
                    </a:p>
                  </a:txBody>
                  <a:tcPr anchor="ctr"/>
                </a:tc>
                <a:tc>
                  <a:txBody>
                    <a:bodyPr/>
                    <a:lstStyle/>
                    <a:p>
                      <a:pPr lvl="0" algn="ctr">
                        <a:buNone/>
                      </a:pPr>
                      <a:endParaRPr lang="en-US" sz="1100"/>
                    </a:p>
                  </a:txBody>
                  <a:tcPr anchor="ctr"/>
                </a:tc>
                <a:tc>
                  <a:txBody>
                    <a:bodyPr/>
                    <a:lstStyle/>
                    <a:p>
                      <a:pPr lvl="0">
                        <a:buNone/>
                      </a:pPr>
                      <a:r>
                        <a:rPr lang="en-US" sz="1100"/>
                        <a:t>DP Updated By</a:t>
                      </a:r>
                    </a:p>
                  </a:txBody>
                  <a:tcPr>
                    <a:solidFill>
                      <a:schemeClr val="tx2">
                        <a:lumMod val="10000"/>
                        <a:lumOff val="90000"/>
                      </a:schemeClr>
                    </a:solidFill>
                  </a:tcPr>
                </a:tc>
                <a:tc>
                  <a:txBody>
                    <a:bodyPr/>
                    <a:lstStyle/>
                    <a:p>
                      <a:pPr lvl="0" algn="ctr">
                        <a:buNone/>
                      </a:pPr>
                      <a:endParaRPr lang="en-US" sz="1100"/>
                    </a:p>
                  </a:txBody>
                  <a:tcPr anchor="ctr"/>
                </a:tc>
                <a:tc>
                  <a:txBody>
                    <a:bodyPr/>
                    <a:lstStyle/>
                    <a:p>
                      <a:pPr lvl="0" algn="ctr">
                        <a:buNone/>
                      </a:pPr>
                      <a:endParaRPr lang="en-US" sz="1100"/>
                    </a:p>
                  </a:txBody>
                  <a:tcPr anchor="ctr"/>
                </a:tc>
                <a:tc>
                  <a:txBody>
                    <a:bodyPr/>
                    <a:lstStyle/>
                    <a:p>
                      <a:pPr lvl="0" algn="ctr">
                        <a:buNone/>
                      </a:pPr>
                      <a:r>
                        <a:rPr lang="en-US" sz="1100"/>
                        <a:t>X</a:t>
                      </a:r>
                    </a:p>
                  </a:txBody>
                  <a:tcPr anchor="ctr"/>
                </a:tc>
                <a:extLst>
                  <a:ext uri="{0D108BD9-81ED-4DB2-BD59-A6C34878D82A}">
                    <a16:rowId xmlns:a16="http://schemas.microsoft.com/office/drawing/2014/main" val="385980212"/>
                  </a:ext>
                </a:extLst>
              </a:tr>
              <a:tr h="217838">
                <a:tc>
                  <a:txBody>
                    <a:bodyPr/>
                    <a:lstStyle/>
                    <a:p>
                      <a:r>
                        <a:rPr lang="en-US" sz="1100"/>
                        <a:t>DL Country</a:t>
                      </a:r>
                    </a:p>
                  </a:txBody>
                  <a:tcPr/>
                </a:tc>
                <a:tc>
                  <a:txBody>
                    <a:bodyPr/>
                    <a:lstStyle/>
                    <a:p>
                      <a:pPr algn="ctr"/>
                      <a:endParaRPr lang="en-US" sz="1100"/>
                    </a:p>
                  </a:txBody>
                  <a:tcPr anchor="ctr"/>
                </a:tc>
                <a:tc>
                  <a:txBody>
                    <a:bodyPr/>
                    <a:lstStyle/>
                    <a:p>
                      <a:pPr algn="ctr"/>
                      <a:r>
                        <a:rPr lang="en-US" sz="1100"/>
                        <a:t>X</a:t>
                      </a:r>
                    </a:p>
                  </a:txBody>
                  <a:tcPr anchor="ctr"/>
                </a:tc>
                <a:tc>
                  <a:txBody>
                    <a:bodyPr/>
                    <a:lstStyle/>
                    <a:p>
                      <a:pPr lvl="0" algn="ctr">
                        <a:buNone/>
                      </a:pPr>
                      <a:endParaRPr lang="en-US" sz="1100"/>
                    </a:p>
                  </a:txBody>
                  <a:tcPr anchor="ctr"/>
                </a:tc>
                <a:tc>
                  <a:txBody>
                    <a:bodyPr/>
                    <a:lstStyle/>
                    <a:p>
                      <a:pPr lvl="0">
                        <a:buNone/>
                      </a:pPr>
                      <a:r>
                        <a:rPr lang="en-US" sz="1100"/>
                        <a:t>DP Source</a:t>
                      </a:r>
                    </a:p>
                  </a:txBody>
                  <a:tcPr>
                    <a:solidFill>
                      <a:schemeClr val="tx2">
                        <a:lumMod val="10000"/>
                        <a:lumOff val="90000"/>
                      </a:schemeClr>
                    </a:solidFill>
                  </a:tcPr>
                </a:tc>
                <a:tc>
                  <a:txBody>
                    <a:bodyPr/>
                    <a:lstStyle/>
                    <a:p>
                      <a:pPr lvl="0" algn="ctr">
                        <a:buNone/>
                      </a:pPr>
                      <a:endParaRPr lang="en-US" sz="1100"/>
                    </a:p>
                  </a:txBody>
                  <a:tcPr anchor="ctr"/>
                </a:tc>
                <a:tc>
                  <a:txBody>
                    <a:bodyPr/>
                    <a:lstStyle/>
                    <a:p>
                      <a:pPr lvl="0" algn="ctr">
                        <a:buNone/>
                      </a:pPr>
                      <a:endParaRPr lang="en-US" sz="1100"/>
                    </a:p>
                  </a:txBody>
                  <a:tcPr anchor="ctr"/>
                </a:tc>
                <a:tc>
                  <a:txBody>
                    <a:bodyPr/>
                    <a:lstStyle/>
                    <a:p>
                      <a:pPr lvl="0" algn="ctr">
                        <a:buNone/>
                      </a:pPr>
                      <a:r>
                        <a:rPr lang="en-US" sz="1100"/>
                        <a:t>X</a:t>
                      </a:r>
                    </a:p>
                  </a:txBody>
                  <a:tcPr anchor="ctr"/>
                </a:tc>
                <a:extLst>
                  <a:ext uri="{0D108BD9-81ED-4DB2-BD59-A6C34878D82A}">
                    <a16:rowId xmlns:a16="http://schemas.microsoft.com/office/drawing/2014/main" val="1003096985"/>
                  </a:ext>
                </a:extLst>
              </a:tr>
              <a:tr h="230653">
                <a:tc>
                  <a:txBody>
                    <a:bodyPr/>
                    <a:lstStyle/>
                    <a:p>
                      <a:pPr lvl="0">
                        <a:buNone/>
                      </a:pPr>
                      <a:r>
                        <a:rPr lang="en-US" sz="1100" b="0" i="0" u="none" strike="noStrike" noProof="0">
                          <a:solidFill>
                            <a:srgbClr val="000000"/>
                          </a:solidFill>
                          <a:latin typeface="Aptos"/>
                        </a:rPr>
                        <a:t>Classification</a:t>
                      </a:r>
                      <a:endParaRPr lang="en-US" sz="1100"/>
                    </a:p>
                  </a:txBody>
                  <a:tcPr/>
                </a:tc>
                <a:tc>
                  <a:txBody>
                    <a:bodyPr/>
                    <a:lstStyle/>
                    <a:p>
                      <a:pPr lvl="0" algn="ctr">
                        <a:buNone/>
                      </a:pPr>
                      <a:endParaRPr lang="en-US" sz="1100"/>
                    </a:p>
                  </a:txBody>
                  <a:tcPr anchor="ctr"/>
                </a:tc>
                <a:tc>
                  <a:txBody>
                    <a:bodyPr/>
                    <a:lstStyle/>
                    <a:p>
                      <a:pPr lvl="0" algn="ctr">
                        <a:buNone/>
                      </a:pPr>
                      <a:r>
                        <a:rPr lang="en-US" sz="1100"/>
                        <a:t>X</a:t>
                      </a:r>
                    </a:p>
                  </a:txBody>
                  <a:tcPr anchor="ctr"/>
                </a:tc>
                <a:tc>
                  <a:txBody>
                    <a:bodyPr/>
                    <a:lstStyle/>
                    <a:p>
                      <a:pPr lvl="0" algn="ctr">
                        <a:buNone/>
                      </a:pPr>
                      <a:endParaRPr lang="en-US" sz="1100"/>
                    </a:p>
                  </a:txBody>
                  <a:tcPr anchor="ctr"/>
                </a:tc>
                <a:tc>
                  <a:txBody>
                    <a:bodyPr/>
                    <a:lstStyle/>
                    <a:p>
                      <a:pPr lvl="0">
                        <a:buNone/>
                      </a:pPr>
                      <a:r>
                        <a:rPr lang="en-US" sz="1100"/>
                        <a:t>People in Household</a:t>
                      </a:r>
                    </a:p>
                  </a:txBody>
                  <a:tcPr>
                    <a:solidFill>
                      <a:schemeClr val="accent2">
                        <a:lumMod val="20000"/>
                        <a:lumOff val="80000"/>
                      </a:schemeClr>
                    </a:solidFill>
                  </a:tcPr>
                </a:tc>
                <a:tc>
                  <a:txBody>
                    <a:bodyPr/>
                    <a:lstStyle/>
                    <a:p>
                      <a:pPr lvl="0" algn="ctr">
                        <a:buNone/>
                      </a:pPr>
                      <a:endParaRPr lang="en-US" sz="1100"/>
                    </a:p>
                  </a:txBody>
                  <a:tcPr anchor="ctr"/>
                </a:tc>
                <a:tc>
                  <a:txBody>
                    <a:bodyPr/>
                    <a:lstStyle/>
                    <a:p>
                      <a:pPr lvl="0" algn="ctr">
                        <a:buNone/>
                      </a:pPr>
                      <a:r>
                        <a:rPr lang="en-US" sz="1100"/>
                        <a:t>X</a:t>
                      </a:r>
                      <a:endParaRPr lang="en-US"/>
                    </a:p>
                  </a:txBody>
                  <a:tcPr anchor="ctr"/>
                </a:tc>
                <a:tc>
                  <a:txBody>
                    <a:bodyPr/>
                    <a:lstStyle/>
                    <a:p>
                      <a:pPr lvl="0" algn="ctr">
                        <a:buNone/>
                      </a:pPr>
                      <a:endParaRPr lang="en-US" sz="1100"/>
                    </a:p>
                  </a:txBody>
                  <a:tcPr anchor="ctr"/>
                </a:tc>
                <a:extLst>
                  <a:ext uri="{0D108BD9-81ED-4DB2-BD59-A6C34878D82A}">
                    <a16:rowId xmlns:a16="http://schemas.microsoft.com/office/drawing/2014/main" val="1065491678"/>
                  </a:ext>
                </a:extLst>
              </a:tr>
              <a:tr h="358793">
                <a:tc>
                  <a:txBody>
                    <a:bodyPr/>
                    <a:lstStyle/>
                    <a:p>
                      <a:pPr lvl="0">
                        <a:buNone/>
                      </a:pPr>
                      <a:r>
                        <a:rPr lang="en-US" sz="1100"/>
                        <a:t>Employee Classification</a:t>
                      </a:r>
                    </a:p>
                  </a:txBody>
                  <a:tcPr/>
                </a:tc>
                <a:tc>
                  <a:txBody>
                    <a:bodyPr/>
                    <a:lstStyle/>
                    <a:p>
                      <a:pPr lvl="0" algn="ctr">
                        <a:buNone/>
                      </a:pPr>
                      <a:endParaRPr lang="en-US" sz="1100"/>
                    </a:p>
                  </a:txBody>
                  <a:tcPr anchor="ctr"/>
                </a:tc>
                <a:tc>
                  <a:txBody>
                    <a:bodyPr/>
                    <a:lstStyle/>
                    <a:p>
                      <a:pPr lvl="0" algn="ctr">
                        <a:buNone/>
                      </a:pPr>
                      <a:r>
                        <a:rPr lang="en-US" sz="1100"/>
                        <a:t>X</a:t>
                      </a:r>
                    </a:p>
                  </a:txBody>
                  <a:tcPr anchor="ctr"/>
                </a:tc>
                <a:tc>
                  <a:txBody>
                    <a:bodyPr/>
                    <a:lstStyle/>
                    <a:p>
                      <a:pPr lvl="0" algn="ctr">
                        <a:buNone/>
                      </a:pPr>
                      <a:endParaRPr lang="en-US" sz="1100"/>
                    </a:p>
                  </a:txBody>
                  <a:tcPr anchor="ctr"/>
                </a:tc>
                <a:tc>
                  <a:txBody>
                    <a:bodyPr/>
                    <a:lstStyle/>
                    <a:p>
                      <a:pPr lvl="0">
                        <a:buNone/>
                      </a:pPr>
                      <a:r>
                        <a:rPr lang="en-US" sz="1100"/>
                        <a:t>Payment Frequency </a:t>
                      </a:r>
                    </a:p>
                  </a:txBody>
                  <a:tcPr>
                    <a:solidFill>
                      <a:schemeClr val="accent2">
                        <a:lumMod val="20000"/>
                        <a:lumOff val="80000"/>
                      </a:schemeClr>
                    </a:solidFill>
                  </a:tcPr>
                </a:tc>
                <a:tc>
                  <a:txBody>
                    <a:bodyPr/>
                    <a:lstStyle/>
                    <a:p>
                      <a:pPr lvl="0" algn="ctr">
                        <a:buNone/>
                      </a:pPr>
                      <a:endParaRPr lang="en-US" sz="1100"/>
                    </a:p>
                  </a:txBody>
                  <a:tcPr anchor="ctr"/>
                </a:tc>
                <a:tc>
                  <a:txBody>
                    <a:bodyPr/>
                    <a:lstStyle/>
                    <a:p>
                      <a:pPr lvl="0" algn="ctr">
                        <a:buNone/>
                      </a:pPr>
                      <a:r>
                        <a:rPr lang="en-US" sz="1100"/>
                        <a:t>X</a:t>
                      </a:r>
                    </a:p>
                  </a:txBody>
                  <a:tcPr anchor="ctr"/>
                </a:tc>
                <a:tc>
                  <a:txBody>
                    <a:bodyPr/>
                    <a:lstStyle/>
                    <a:p>
                      <a:pPr lvl="0" algn="ctr">
                        <a:buNone/>
                      </a:pPr>
                      <a:endParaRPr lang="en-US" sz="1100"/>
                    </a:p>
                  </a:txBody>
                  <a:tcPr anchor="ctr"/>
                </a:tc>
                <a:extLst>
                  <a:ext uri="{0D108BD9-81ED-4DB2-BD59-A6C34878D82A}">
                    <a16:rowId xmlns:a16="http://schemas.microsoft.com/office/drawing/2014/main" val="1484149209"/>
                  </a:ext>
                </a:extLst>
              </a:tr>
              <a:tr h="358793">
                <a:tc>
                  <a:txBody>
                    <a:bodyPr/>
                    <a:lstStyle/>
                    <a:p>
                      <a:pPr lvl="0">
                        <a:buNone/>
                      </a:pPr>
                      <a:r>
                        <a:rPr lang="en-US" sz="1100"/>
                        <a:t>Date of Birth</a:t>
                      </a:r>
                    </a:p>
                  </a:txBody>
                  <a:tcPr/>
                </a:tc>
                <a:tc>
                  <a:txBody>
                    <a:bodyPr/>
                    <a:lstStyle/>
                    <a:p>
                      <a:pPr lvl="0" algn="ctr">
                        <a:buNone/>
                      </a:pPr>
                      <a:endParaRPr lang="en-US" sz="1100"/>
                    </a:p>
                  </a:txBody>
                  <a:tcPr anchor="ctr"/>
                </a:tc>
                <a:tc>
                  <a:txBody>
                    <a:bodyPr/>
                    <a:lstStyle/>
                    <a:p>
                      <a:pPr lvl="0" algn="ctr">
                        <a:buNone/>
                      </a:pPr>
                      <a:r>
                        <a:rPr lang="en-US" sz="1100"/>
                        <a:t>X</a:t>
                      </a:r>
                    </a:p>
                  </a:txBody>
                  <a:tcPr anchor="ctr"/>
                </a:tc>
                <a:tc>
                  <a:txBody>
                    <a:bodyPr/>
                    <a:lstStyle/>
                    <a:p>
                      <a:pPr lvl="0" algn="ctr">
                        <a:buNone/>
                      </a:pPr>
                      <a:endParaRPr lang="en-US" sz="1100"/>
                    </a:p>
                  </a:txBody>
                  <a:tcPr anchor="ctr"/>
                </a:tc>
                <a:tc>
                  <a:txBody>
                    <a:bodyPr/>
                    <a:lstStyle/>
                    <a:p>
                      <a:pPr lvl="0">
                        <a:buNone/>
                      </a:pPr>
                      <a:r>
                        <a:rPr lang="en-US" sz="1100"/>
                        <a:t>Household Income</a:t>
                      </a:r>
                    </a:p>
                  </a:txBody>
                  <a:tcPr>
                    <a:solidFill>
                      <a:schemeClr val="accent2">
                        <a:lumMod val="20000"/>
                        <a:lumOff val="80000"/>
                      </a:schemeClr>
                    </a:solidFill>
                  </a:tcPr>
                </a:tc>
                <a:tc>
                  <a:txBody>
                    <a:bodyPr/>
                    <a:lstStyle/>
                    <a:p>
                      <a:pPr lvl="0" algn="ctr">
                        <a:buNone/>
                      </a:pPr>
                      <a:endParaRPr lang="en-US" sz="1100"/>
                    </a:p>
                  </a:txBody>
                  <a:tcPr anchor="ctr"/>
                </a:tc>
                <a:tc>
                  <a:txBody>
                    <a:bodyPr/>
                    <a:lstStyle/>
                    <a:p>
                      <a:pPr lvl="0" algn="ctr">
                        <a:buNone/>
                      </a:pPr>
                      <a:r>
                        <a:rPr lang="en-US" sz="1100" b="0" i="0" u="none" strike="noStrike" noProof="0">
                          <a:solidFill>
                            <a:srgbClr val="000000"/>
                          </a:solidFill>
                          <a:latin typeface="Aptos"/>
                        </a:rPr>
                        <a:t>X</a:t>
                      </a:r>
                      <a:endParaRPr lang="en-US"/>
                    </a:p>
                  </a:txBody>
                  <a:tcPr anchor="ctr"/>
                </a:tc>
                <a:tc>
                  <a:txBody>
                    <a:bodyPr/>
                    <a:lstStyle/>
                    <a:p>
                      <a:pPr lvl="0" algn="ctr">
                        <a:buNone/>
                      </a:pPr>
                      <a:endParaRPr lang="en-US" sz="1100"/>
                    </a:p>
                  </a:txBody>
                  <a:tcPr anchor="ctr"/>
                </a:tc>
                <a:extLst>
                  <a:ext uri="{0D108BD9-81ED-4DB2-BD59-A6C34878D82A}">
                    <a16:rowId xmlns:a16="http://schemas.microsoft.com/office/drawing/2014/main" val="1377308895"/>
                  </a:ext>
                </a:extLst>
              </a:tr>
              <a:tr h="358793">
                <a:tc>
                  <a:txBody>
                    <a:bodyPr/>
                    <a:lstStyle/>
                    <a:p>
                      <a:pPr lvl="0">
                        <a:buNone/>
                      </a:pPr>
                      <a:r>
                        <a:rPr lang="en-US" sz="1100"/>
                        <a:t>Job Title</a:t>
                      </a:r>
                    </a:p>
                  </a:txBody>
                  <a:tcPr/>
                </a:tc>
                <a:tc>
                  <a:txBody>
                    <a:bodyPr/>
                    <a:lstStyle/>
                    <a:p>
                      <a:pPr lvl="0" algn="ctr">
                        <a:buNone/>
                      </a:pPr>
                      <a:endParaRPr lang="en-US" sz="1100"/>
                    </a:p>
                  </a:txBody>
                  <a:tcPr anchor="ctr"/>
                </a:tc>
                <a:tc>
                  <a:txBody>
                    <a:bodyPr/>
                    <a:lstStyle/>
                    <a:p>
                      <a:pPr lvl="0" algn="ctr">
                        <a:buNone/>
                      </a:pPr>
                      <a:r>
                        <a:rPr lang="en-US" sz="1100"/>
                        <a:t>X</a:t>
                      </a:r>
                    </a:p>
                  </a:txBody>
                  <a:tcPr anchor="ctr"/>
                </a:tc>
                <a:tc>
                  <a:txBody>
                    <a:bodyPr/>
                    <a:lstStyle/>
                    <a:p>
                      <a:pPr lvl="0" algn="ctr">
                        <a:buNone/>
                      </a:pPr>
                      <a:endParaRPr lang="en-US" sz="1100"/>
                    </a:p>
                  </a:txBody>
                  <a:tcPr anchor="ctr"/>
                </a:tc>
                <a:tc>
                  <a:txBody>
                    <a:bodyPr/>
                    <a:lstStyle/>
                    <a:p>
                      <a:pPr lvl="0">
                        <a:buNone/>
                      </a:pPr>
                      <a:r>
                        <a:rPr lang="en-US" sz="1100"/>
                        <a:t>Updated Date</a:t>
                      </a:r>
                    </a:p>
                  </a:txBody>
                  <a:tcPr>
                    <a:solidFill>
                      <a:schemeClr val="accent2">
                        <a:lumMod val="20000"/>
                        <a:lumOff val="80000"/>
                      </a:schemeClr>
                    </a:solidFill>
                  </a:tcPr>
                </a:tc>
                <a:tc>
                  <a:txBody>
                    <a:bodyPr/>
                    <a:lstStyle/>
                    <a:p>
                      <a:pPr lvl="0" algn="ctr">
                        <a:buNone/>
                      </a:pPr>
                      <a:endParaRPr lang="en-US" sz="1100"/>
                    </a:p>
                  </a:txBody>
                  <a:tcPr anchor="ctr"/>
                </a:tc>
                <a:tc>
                  <a:txBody>
                    <a:bodyPr/>
                    <a:lstStyle/>
                    <a:p>
                      <a:pPr lvl="0" algn="ctr">
                        <a:buNone/>
                      </a:pPr>
                      <a:endParaRPr lang="en-US" sz="1100"/>
                    </a:p>
                  </a:txBody>
                  <a:tcPr anchor="ctr"/>
                </a:tc>
                <a:tc>
                  <a:txBody>
                    <a:bodyPr/>
                    <a:lstStyle/>
                    <a:p>
                      <a:pPr lvl="0" algn="ctr">
                        <a:buNone/>
                      </a:pPr>
                      <a:r>
                        <a:rPr lang="en-US" sz="1100"/>
                        <a:t>X</a:t>
                      </a:r>
                      <a:endParaRPr lang="en-US"/>
                    </a:p>
                  </a:txBody>
                  <a:tcPr anchor="ctr"/>
                </a:tc>
                <a:extLst>
                  <a:ext uri="{0D108BD9-81ED-4DB2-BD59-A6C34878D82A}">
                    <a16:rowId xmlns:a16="http://schemas.microsoft.com/office/drawing/2014/main" val="1518165288"/>
                  </a:ext>
                </a:extLst>
              </a:tr>
              <a:tr h="405113">
                <a:tc>
                  <a:txBody>
                    <a:bodyPr/>
                    <a:lstStyle/>
                    <a:p>
                      <a:pPr marL="0" marR="0" lvl="0" indent="0" algn="l">
                        <a:lnSpc>
                          <a:spcPct val="100000"/>
                        </a:lnSpc>
                        <a:spcBef>
                          <a:spcPts val="0"/>
                        </a:spcBef>
                        <a:spcAft>
                          <a:spcPts val="0"/>
                        </a:spcAft>
                        <a:buNone/>
                      </a:pPr>
                      <a:r>
                        <a:rPr lang="en-US" sz="1100"/>
                        <a:t>Do Not Solicit – VAPS</a:t>
                      </a:r>
                    </a:p>
                  </a:txBody>
                  <a:tcPr/>
                </a:tc>
                <a:tc>
                  <a:txBody>
                    <a:bodyPr/>
                    <a:lstStyle/>
                    <a:p>
                      <a:pPr lvl="0" algn="ctr">
                        <a:buNone/>
                      </a:pPr>
                      <a:endParaRPr lang="en-US" sz="1100"/>
                    </a:p>
                  </a:txBody>
                  <a:tcPr anchor="ctr"/>
                </a:tc>
                <a:tc>
                  <a:txBody>
                    <a:bodyPr/>
                    <a:lstStyle/>
                    <a:p>
                      <a:pPr lvl="0" algn="ctr">
                        <a:buNone/>
                      </a:pPr>
                      <a:r>
                        <a:rPr lang="en-US" sz="1100"/>
                        <a:t>X</a:t>
                      </a:r>
                    </a:p>
                  </a:txBody>
                  <a:tcPr anchor="ctr"/>
                </a:tc>
                <a:tc>
                  <a:txBody>
                    <a:bodyPr/>
                    <a:lstStyle/>
                    <a:p>
                      <a:pPr lvl="0" algn="ctr">
                        <a:buNone/>
                      </a:pPr>
                      <a:endParaRPr lang="en-US" sz="1100"/>
                    </a:p>
                  </a:txBody>
                  <a:tcPr anchor="ctr"/>
                </a:tc>
                <a:tc>
                  <a:txBody>
                    <a:bodyPr/>
                    <a:lstStyle/>
                    <a:p>
                      <a:pPr lvl="0">
                        <a:buNone/>
                      </a:pPr>
                      <a:r>
                        <a:rPr lang="en-US" sz="1100"/>
                        <a:t>Source</a:t>
                      </a:r>
                    </a:p>
                  </a:txBody>
                  <a:tcPr>
                    <a:solidFill>
                      <a:schemeClr val="accent2">
                        <a:lumMod val="20000"/>
                        <a:lumOff val="80000"/>
                      </a:schemeClr>
                    </a:solidFill>
                  </a:tcPr>
                </a:tc>
                <a:tc>
                  <a:txBody>
                    <a:bodyPr/>
                    <a:lstStyle/>
                    <a:p>
                      <a:pPr lvl="0" algn="ctr">
                        <a:buNone/>
                      </a:pPr>
                      <a:endParaRPr lang="en-US" sz="1100"/>
                    </a:p>
                  </a:txBody>
                  <a:tcPr anchor="ctr"/>
                </a:tc>
                <a:tc>
                  <a:txBody>
                    <a:bodyPr/>
                    <a:lstStyle/>
                    <a:p>
                      <a:pPr lvl="0" algn="ctr">
                        <a:buNone/>
                      </a:pPr>
                      <a:endParaRPr lang="en-US" sz="1100"/>
                    </a:p>
                  </a:txBody>
                  <a:tcPr anchor="ctr"/>
                </a:tc>
                <a:tc>
                  <a:txBody>
                    <a:bodyPr/>
                    <a:lstStyle/>
                    <a:p>
                      <a:pPr lvl="0" algn="ctr">
                        <a:buNone/>
                      </a:pPr>
                      <a:r>
                        <a:rPr lang="en-US" sz="1100"/>
                        <a:t>X</a:t>
                      </a:r>
                    </a:p>
                  </a:txBody>
                  <a:tcPr anchor="ctr"/>
                </a:tc>
                <a:extLst>
                  <a:ext uri="{0D108BD9-81ED-4DB2-BD59-A6C34878D82A}">
                    <a16:rowId xmlns:a16="http://schemas.microsoft.com/office/drawing/2014/main" val="4017462625"/>
                  </a:ext>
                </a:extLst>
              </a:tr>
              <a:tr h="358793">
                <a:tc>
                  <a:txBody>
                    <a:bodyPr/>
                    <a:lstStyle/>
                    <a:p>
                      <a:pPr marL="0" marR="0" lvl="0" indent="0" algn="l">
                        <a:lnSpc>
                          <a:spcPct val="100000"/>
                        </a:lnSpc>
                        <a:spcBef>
                          <a:spcPts val="0"/>
                        </a:spcBef>
                        <a:spcAft>
                          <a:spcPts val="0"/>
                        </a:spcAft>
                        <a:buNone/>
                      </a:pPr>
                      <a:r>
                        <a:rPr lang="en-US" sz="1100"/>
                        <a:t>No auto credit transfer</a:t>
                      </a:r>
                    </a:p>
                  </a:txBody>
                  <a:tcPr/>
                </a:tc>
                <a:tc>
                  <a:txBody>
                    <a:bodyPr/>
                    <a:lstStyle/>
                    <a:p>
                      <a:pPr algn="ctr"/>
                      <a:endParaRPr lang="en-US" sz="1100"/>
                    </a:p>
                  </a:txBody>
                  <a:tcPr anchor="ctr"/>
                </a:tc>
                <a:tc>
                  <a:txBody>
                    <a:bodyPr/>
                    <a:lstStyle/>
                    <a:p>
                      <a:pPr algn="ctr"/>
                      <a:r>
                        <a:rPr lang="en-US" sz="1100"/>
                        <a:t>X</a:t>
                      </a:r>
                    </a:p>
                  </a:txBody>
                  <a:tcPr anchor="ctr"/>
                </a:tc>
                <a:tc>
                  <a:txBody>
                    <a:bodyPr/>
                    <a:lstStyle/>
                    <a:p>
                      <a:pPr lvl="0" algn="ctr">
                        <a:buNone/>
                      </a:pPr>
                      <a:endParaRPr lang="en-US" sz="1100"/>
                    </a:p>
                  </a:txBody>
                  <a:tcPr anchor="ctr"/>
                </a:tc>
                <a:tc>
                  <a:txBody>
                    <a:bodyPr/>
                    <a:lstStyle/>
                    <a:p>
                      <a:pPr marL="0" algn="ctr" defTabSz="914400" rtl="0" eaLnBrk="1" latinLnBrk="0" hangingPunct="1"/>
                      <a:endParaRPr lang="en-US" sz="1100" kern="1200">
                        <a:solidFill>
                          <a:schemeClr val="dk1"/>
                        </a:solidFill>
                        <a:latin typeface="+mn-lt"/>
                        <a:ea typeface="+mn-ea"/>
                        <a:cs typeface="+mn-cs"/>
                      </a:endParaRPr>
                    </a:p>
                  </a:txBody>
                  <a:tcPr>
                    <a:solidFill>
                      <a:schemeClr val="accent2">
                        <a:lumMod val="20000"/>
                        <a:lumOff val="80000"/>
                      </a:schemeClr>
                    </a:solidFill>
                  </a:tcPr>
                </a:tc>
                <a:tc>
                  <a:txBody>
                    <a:bodyPr/>
                    <a:lstStyle/>
                    <a:p>
                      <a:pPr algn="ctr"/>
                      <a:endParaRPr lang="en-US" sz="1100"/>
                    </a:p>
                  </a:txBody>
                  <a:tcPr anchor="ctr"/>
                </a:tc>
                <a:tc>
                  <a:txBody>
                    <a:bodyPr/>
                    <a:lstStyle/>
                    <a:p>
                      <a:pPr algn="ctr"/>
                      <a:endParaRPr lang="en-US" sz="1100"/>
                    </a:p>
                  </a:txBody>
                  <a:tcPr anchor="ctr"/>
                </a:tc>
                <a:tc>
                  <a:txBody>
                    <a:bodyPr/>
                    <a:lstStyle/>
                    <a:p>
                      <a:pPr lvl="0" algn="ctr">
                        <a:buNone/>
                      </a:pPr>
                      <a:endParaRPr lang="en-US" sz="1100"/>
                    </a:p>
                  </a:txBody>
                  <a:tcPr anchor="ctr"/>
                </a:tc>
                <a:extLst>
                  <a:ext uri="{0D108BD9-81ED-4DB2-BD59-A6C34878D82A}">
                    <a16:rowId xmlns:a16="http://schemas.microsoft.com/office/drawing/2014/main" val="3242324598"/>
                  </a:ext>
                </a:extLst>
              </a:tr>
            </a:tbl>
          </a:graphicData>
        </a:graphic>
      </p:graphicFrame>
    </p:spTree>
    <p:extLst>
      <p:ext uri="{BB962C8B-B14F-4D97-AF65-F5344CB8AC3E}">
        <p14:creationId xmlns:p14="http://schemas.microsoft.com/office/powerpoint/2010/main" val="5316967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5324B-BD7B-8203-1D6F-AFFD83AD6F4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2536525-1268-C172-0C23-004F805AFB8C}"/>
              </a:ext>
            </a:extLst>
          </p:cNvPr>
          <p:cNvSpPr>
            <a:spLocks noGrp="1"/>
          </p:cNvSpPr>
          <p:nvPr>
            <p:ph type="title"/>
          </p:nvPr>
        </p:nvSpPr>
        <p:spPr>
          <a:xfrm>
            <a:off x="153761" y="-4265"/>
            <a:ext cx="11807907" cy="888817"/>
          </a:xfrm>
        </p:spPr>
        <p:txBody>
          <a:bodyPr>
            <a:normAutofit/>
          </a:bodyPr>
          <a:lstStyle/>
          <a:p>
            <a:r>
              <a:rPr lang="en-US" sz="4000">
                <a:latin typeface="Montserrat"/>
              </a:rPr>
              <a:t>Maintain Org BP in CRM</a:t>
            </a:r>
          </a:p>
        </p:txBody>
      </p:sp>
      <p:sp>
        <p:nvSpPr>
          <p:cNvPr id="6" name="TextBox 5">
            <a:extLst>
              <a:ext uri="{FF2B5EF4-FFF2-40B4-BE49-F238E27FC236}">
                <a16:creationId xmlns:a16="http://schemas.microsoft.com/office/drawing/2014/main" id="{1AF1B4F4-7C80-CD96-2FE2-E7C6419FD427}"/>
              </a:ext>
            </a:extLst>
          </p:cNvPr>
          <p:cNvSpPr txBox="1"/>
          <p:nvPr/>
        </p:nvSpPr>
        <p:spPr>
          <a:xfrm>
            <a:off x="1993692" y="2308485"/>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ontserrat" pitchFamily="2" charset="77"/>
              <a:ea typeface="+mn-ea"/>
              <a:cs typeface="+mn-cs"/>
            </a:endParaRPr>
          </a:p>
        </p:txBody>
      </p:sp>
      <p:graphicFrame>
        <p:nvGraphicFramePr>
          <p:cNvPr id="13" name="Table 12">
            <a:extLst>
              <a:ext uri="{FF2B5EF4-FFF2-40B4-BE49-F238E27FC236}">
                <a16:creationId xmlns:a16="http://schemas.microsoft.com/office/drawing/2014/main" id="{08DF9BED-6446-4F10-42DC-5AB7ACF7DBB4}"/>
              </a:ext>
            </a:extLst>
          </p:cNvPr>
          <p:cNvGraphicFramePr>
            <a:graphicFrameLocks noGrp="1"/>
          </p:cNvGraphicFramePr>
          <p:nvPr>
            <p:extLst>
              <p:ext uri="{D42A27DB-BD31-4B8C-83A1-F6EECF244321}">
                <p14:modId xmlns:p14="http://schemas.microsoft.com/office/powerpoint/2010/main" val="3793670444"/>
              </p:ext>
            </p:extLst>
          </p:nvPr>
        </p:nvGraphicFramePr>
        <p:xfrm>
          <a:off x="152400" y="1103665"/>
          <a:ext cx="11029059" cy="5036820"/>
        </p:xfrm>
        <a:graphic>
          <a:graphicData uri="http://schemas.openxmlformats.org/drawingml/2006/table">
            <a:tbl>
              <a:tblPr firstRow="1" bandRow="1">
                <a:tableStyleId>{5C22544A-7EE6-4342-B048-85BDC9FD1C3A}</a:tableStyleId>
              </a:tblPr>
              <a:tblGrid>
                <a:gridCol w="2393048">
                  <a:extLst>
                    <a:ext uri="{9D8B030D-6E8A-4147-A177-3AD203B41FA5}">
                      <a16:colId xmlns:a16="http://schemas.microsoft.com/office/drawing/2014/main" val="4084044958"/>
                    </a:ext>
                  </a:extLst>
                </a:gridCol>
                <a:gridCol w="843431">
                  <a:extLst>
                    <a:ext uri="{9D8B030D-6E8A-4147-A177-3AD203B41FA5}">
                      <a16:colId xmlns:a16="http://schemas.microsoft.com/office/drawing/2014/main" val="3615934369"/>
                    </a:ext>
                  </a:extLst>
                </a:gridCol>
                <a:gridCol w="843431">
                  <a:extLst>
                    <a:ext uri="{9D8B030D-6E8A-4147-A177-3AD203B41FA5}">
                      <a16:colId xmlns:a16="http://schemas.microsoft.com/office/drawing/2014/main" val="73187036"/>
                    </a:ext>
                  </a:extLst>
                </a:gridCol>
                <a:gridCol w="990113">
                  <a:extLst>
                    <a:ext uri="{9D8B030D-6E8A-4147-A177-3AD203B41FA5}">
                      <a16:colId xmlns:a16="http://schemas.microsoft.com/office/drawing/2014/main" val="3147726669"/>
                    </a:ext>
                  </a:extLst>
                </a:gridCol>
                <a:gridCol w="3135371">
                  <a:extLst>
                    <a:ext uri="{9D8B030D-6E8A-4147-A177-3AD203B41FA5}">
                      <a16:colId xmlns:a16="http://schemas.microsoft.com/office/drawing/2014/main" val="2929055363"/>
                    </a:ext>
                  </a:extLst>
                </a:gridCol>
                <a:gridCol w="916775">
                  <a:extLst>
                    <a:ext uri="{9D8B030D-6E8A-4147-A177-3AD203B41FA5}">
                      <a16:colId xmlns:a16="http://schemas.microsoft.com/office/drawing/2014/main" val="2386789796"/>
                    </a:ext>
                  </a:extLst>
                </a:gridCol>
                <a:gridCol w="898438">
                  <a:extLst>
                    <a:ext uri="{9D8B030D-6E8A-4147-A177-3AD203B41FA5}">
                      <a16:colId xmlns:a16="http://schemas.microsoft.com/office/drawing/2014/main" val="2536028979"/>
                    </a:ext>
                  </a:extLst>
                </a:gridCol>
                <a:gridCol w="1008452">
                  <a:extLst>
                    <a:ext uri="{9D8B030D-6E8A-4147-A177-3AD203B41FA5}">
                      <a16:colId xmlns:a16="http://schemas.microsoft.com/office/drawing/2014/main" val="1126145318"/>
                    </a:ext>
                  </a:extLst>
                </a:gridCol>
              </a:tblGrid>
              <a:tr h="222269">
                <a:tc>
                  <a:txBody>
                    <a:bodyPr/>
                    <a:lstStyle/>
                    <a:p>
                      <a:pPr algn="ctr"/>
                      <a:r>
                        <a:rPr lang="en-US" sz="1050"/>
                        <a:t>Field</a:t>
                      </a:r>
                    </a:p>
                  </a:txBody>
                  <a:tcPr anchor="ctr"/>
                </a:tc>
                <a:tc>
                  <a:txBody>
                    <a:bodyPr/>
                    <a:lstStyle/>
                    <a:p>
                      <a:pPr algn="ctr"/>
                      <a:r>
                        <a:rPr lang="en-US" sz="1050"/>
                        <a:t>Editable</a:t>
                      </a:r>
                    </a:p>
                  </a:txBody>
                  <a:tcPr anchor="ctr"/>
                </a:tc>
                <a:tc>
                  <a:txBody>
                    <a:bodyPr/>
                    <a:lstStyle/>
                    <a:p>
                      <a:pPr algn="ctr"/>
                      <a:r>
                        <a:rPr lang="en-US" sz="1050"/>
                        <a:t>Optional</a:t>
                      </a:r>
                    </a:p>
                  </a:txBody>
                  <a:tcPr anchor="ctr"/>
                </a:tc>
                <a:tc>
                  <a:txBody>
                    <a:bodyPr/>
                    <a:lstStyle/>
                    <a:p>
                      <a:pPr algn="ctr"/>
                      <a:r>
                        <a:rPr lang="en-US" sz="1050"/>
                        <a:t>Defaulted</a:t>
                      </a:r>
                    </a:p>
                  </a:txBody>
                  <a:tcPr anchor="ctr"/>
                </a:tc>
                <a:tc>
                  <a:txBody>
                    <a:bodyPr/>
                    <a:lstStyle/>
                    <a:p>
                      <a:pPr algn="ctr"/>
                      <a:r>
                        <a:rPr lang="en-US" sz="1050"/>
                        <a:t>Field</a:t>
                      </a:r>
                    </a:p>
                  </a:txBody>
                  <a:tcPr anchor="ctr"/>
                </a:tc>
                <a:tc>
                  <a:txBody>
                    <a:bodyPr/>
                    <a:lstStyle/>
                    <a:p>
                      <a:pPr algn="ctr"/>
                      <a:r>
                        <a:rPr lang="en-US" sz="1050"/>
                        <a:t>Editable</a:t>
                      </a:r>
                    </a:p>
                  </a:txBody>
                  <a:tcPr anchor="ctr"/>
                </a:tc>
                <a:tc>
                  <a:txBody>
                    <a:bodyPr/>
                    <a:lstStyle/>
                    <a:p>
                      <a:pPr algn="ctr"/>
                      <a:r>
                        <a:rPr lang="en-US" sz="1050"/>
                        <a:t>Optional</a:t>
                      </a:r>
                    </a:p>
                  </a:txBody>
                  <a:tcPr anchor="ctr"/>
                </a:tc>
                <a:tc>
                  <a:txBody>
                    <a:bodyPr/>
                    <a:lstStyle/>
                    <a:p>
                      <a:pPr algn="ctr"/>
                      <a:r>
                        <a:rPr lang="en-US" sz="1050"/>
                        <a:t>Defaulted</a:t>
                      </a:r>
                    </a:p>
                  </a:txBody>
                  <a:tcPr anchor="ctr"/>
                </a:tc>
                <a:extLst>
                  <a:ext uri="{0D108BD9-81ED-4DB2-BD59-A6C34878D82A}">
                    <a16:rowId xmlns:a16="http://schemas.microsoft.com/office/drawing/2014/main" val="4282288673"/>
                  </a:ext>
                </a:extLst>
              </a:tr>
              <a:tr h="222269">
                <a:tc>
                  <a:txBody>
                    <a:bodyPr/>
                    <a:lstStyle/>
                    <a:p>
                      <a:r>
                        <a:rPr lang="en-US" sz="1050"/>
                        <a:t>Full Name</a:t>
                      </a:r>
                    </a:p>
                  </a:txBody>
                  <a:tcPr/>
                </a:tc>
                <a:tc>
                  <a:txBody>
                    <a:bodyPr/>
                    <a:lstStyle/>
                    <a:p>
                      <a:pPr algn="ctr"/>
                      <a:endParaRPr lang="en-US" sz="1050"/>
                    </a:p>
                  </a:txBody>
                  <a:tcPr anchor="ctr"/>
                </a:tc>
                <a:tc>
                  <a:txBody>
                    <a:bodyPr/>
                    <a:lstStyle/>
                    <a:p>
                      <a:pPr algn="ctr"/>
                      <a:endParaRPr lang="en-US" sz="1050"/>
                    </a:p>
                  </a:txBody>
                  <a:tcPr anchor="ctr"/>
                </a:tc>
                <a:tc>
                  <a:txBody>
                    <a:bodyPr/>
                    <a:lstStyle/>
                    <a:p>
                      <a:pPr algn="ctr"/>
                      <a:r>
                        <a:rPr lang="en-US" sz="1050"/>
                        <a:t>X</a:t>
                      </a:r>
                    </a:p>
                  </a:txBody>
                  <a:tcPr anchor="ctr"/>
                </a:tc>
                <a:tc>
                  <a:txBody>
                    <a:bodyPr/>
                    <a:lstStyle/>
                    <a:p>
                      <a:pPr lvl="0">
                        <a:buNone/>
                      </a:pPr>
                      <a:r>
                        <a:rPr lang="en-US" sz="1050"/>
                        <a:t>Floor</a:t>
                      </a:r>
                    </a:p>
                  </a:txBody>
                  <a:tcPr/>
                </a:tc>
                <a:tc>
                  <a:txBody>
                    <a:bodyPr/>
                    <a:lstStyle/>
                    <a:p>
                      <a:pPr lvl="0" algn="ctr">
                        <a:buNone/>
                      </a:pPr>
                      <a:endParaRPr lang="en-US" sz="1050"/>
                    </a:p>
                  </a:txBody>
                  <a:tcPr anchor="ctr"/>
                </a:tc>
                <a:tc>
                  <a:txBody>
                    <a:bodyPr/>
                    <a:lstStyle/>
                    <a:p>
                      <a:pPr lvl="0" algn="ctr">
                        <a:buNone/>
                      </a:pPr>
                      <a:r>
                        <a:rPr lang="en-US" sz="1050"/>
                        <a:t>X</a:t>
                      </a:r>
                    </a:p>
                  </a:txBody>
                  <a:tcPr anchor="ctr"/>
                </a:tc>
                <a:tc>
                  <a:txBody>
                    <a:bodyPr/>
                    <a:lstStyle/>
                    <a:p>
                      <a:pPr lvl="0" algn="ctr">
                        <a:buNone/>
                      </a:pPr>
                      <a:endParaRPr lang="en-US" sz="1050"/>
                    </a:p>
                  </a:txBody>
                  <a:tcPr anchor="ctr"/>
                </a:tc>
                <a:extLst>
                  <a:ext uri="{0D108BD9-81ED-4DB2-BD59-A6C34878D82A}">
                    <a16:rowId xmlns:a16="http://schemas.microsoft.com/office/drawing/2014/main" val="3849373528"/>
                  </a:ext>
                </a:extLst>
              </a:tr>
              <a:tr h="222269">
                <a:tc>
                  <a:txBody>
                    <a:bodyPr/>
                    <a:lstStyle/>
                    <a:p>
                      <a:pPr lvl="0">
                        <a:buNone/>
                      </a:pPr>
                      <a:r>
                        <a:rPr lang="en-US" sz="1050"/>
                        <a:t>ID</a:t>
                      </a:r>
                    </a:p>
                  </a:txBody>
                  <a:tcPr/>
                </a:tc>
                <a:tc>
                  <a:txBody>
                    <a:bodyPr/>
                    <a:lstStyle/>
                    <a:p>
                      <a:pPr algn="ctr"/>
                      <a:endParaRPr lang="en-US" sz="1050"/>
                    </a:p>
                  </a:txBody>
                  <a:tcPr anchor="ctr"/>
                </a:tc>
                <a:tc>
                  <a:txBody>
                    <a:bodyPr/>
                    <a:lstStyle/>
                    <a:p>
                      <a:pPr algn="ctr"/>
                      <a:endParaRPr lang="en-US" sz="1050"/>
                    </a:p>
                  </a:txBody>
                  <a:tcPr anchor="ctr"/>
                </a:tc>
                <a:tc>
                  <a:txBody>
                    <a:bodyPr/>
                    <a:lstStyle/>
                    <a:p>
                      <a:pPr algn="ctr"/>
                      <a:endParaRPr lang="en-US" sz="1050"/>
                    </a:p>
                  </a:txBody>
                  <a:tcPr anchor="ctr"/>
                </a:tc>
                <a:tc>
                  <a:txBody>
                    <a:bodyPr/>
                    <a:lstStyle/>
                    <a:p>
                      <a:pPr lvl="0">
                        <a:buNone/>
                      </a:pPr>
                      <a:r>
                        <a:rPr lang="en-US" sz="1050"/>
                        <a:t>City</a:t>
                      </a:r>
                    </a:p>
                  </a:txBody>
                  <a:tcPr/>
                </a:tc>
                <a:tc>
                  <a:txBody>
                    <a:bodyPr/>
                    <a:lstStyle/>
                    <a:p>
                      <a:pPr lvl="0" algn="ctr">
                        <a:buNone/>
                      </a:pPr>
                      <a:endParaRPr lang="en-US" sz="1050"/>
                    </a:p>
                  </a:txBody>
                  <a:tcPr anchor="ctr"/>
                </a:tc>
                <a:tc>
                  <a:txBody>
                    <a:bodyPr/>
                    <a:lstStyle/>
                    <a:p>
                      <a:pPr lvl="0" algn="ctr">
                        <a:buNone/>
                      </a:pPr>
                      <a:r>
                        <a:rPr lang="en-US" sz="1050"/>
                        <a:t>X</a:t>
                      </a:r>
                    </a:p>
                  </a:txBody>
                  <a:tcPr anchor="ctr"/>
                </a:tc>
                <a:tc>
                  <a:txBody>
                    <a:bodyPr/>
                    <a:lstStyle/>
                    <a:p>
                      <a:pPr lvl="0" algn="ctr">
                        <a:buNone/>
                      </a:pPr>
                      <a:endParaRPr lang="en-US" sz="1050"/>
                    </a:p>
                  </a:txBody>
                  <a:tcPr anchor="ctr"/>
                </a:tc>
                <a:extLst>
                  <a:ext uri="{0D108BD9-81ED-4DB2-BD59-A6C34878D82A}">
                    <a16:rowId xmlns:a16="http://schemas.microsoft.com/office/drawing/2014/main" val="100861940"/>
                  </a:ext>
                </a:extLst>
              </a:tr>
              <a:tr h="222269">
                <a:tc>
                  <a:txBody>
                    <a:bodyPr/>
                    <a:lstStyle/>
                    <a:p>
                      <a:pPr lvl="0">
                        <a:buNone/>
                      </a:pPr>
                      <a:r>
                        <a:rPr lang="en-US" sz="1050"/>
                        <a:t>Name1</a:t>
                      </a:r>
                    </a:p>
                  </a:txBody>
                  <a:tcPr/>
                </a:tc>
                <a:tc>
                  <a:txBody>
                    <a:bodyPr/>
                    <a:lstStyle/>
                    <a:p>
                      <a:pPr algn="ctr"/>
                      <a:r>
                        <a:rPr lang="en-US" sz="1050"/>
                        <a:t>X</a:t>
                      </a:r>
                    </a:p>
                  </a:txBody>
                  <a:tcPr anchor="ctr"/>
                </a:tc>
                <a:tc>
                  <a:txBody>
                    <a:bodyPr/>
                    <a:lstStyle/>
                    <a:p>
                      <a:pPr algn="ctr"/>
                      <a:r>
                        <a:rPr lang="en-US" sz="1050"/>
                        <a:t>X</a:t>
                      </a:r>
                    </a:p>
                  </a:txBody>
                  <a:tcPr anchor="ctr"/>
                </a:tc>
                <a:tc>
                  <a:txBody>
                    <a:bodyPr/>
                    <a:lstStyle/>
                    <a:p>
                      <a:pPr algn="ctr"/>
                      <a:r>
                        <a:rPr lang="en-US" sz="1050"/>
                        <a:t>X</a:t>
                      </a:r>
                    </a:p>
                  </a:txBody>
                  <a:tcPr anchor="ctr"/>
                </a:tc>
                <a:tc>
                  <a:txBody>
                    <a:bodyPr/>
                    <a:lstStyle/>
                    <a:p>
                      <a:pPr lvl="0">
                        <a:buNone/>
                      </a:pPr>
                      <a:r>
                        <a:rPr lang="en-US" sz="1050"/>
                        <a:t>State</a:t>
                      </a:r>
                      <a:endParaRPr lang="en-US"/>
                    </a:p>
                  </a:txBody>
                  <a:tcPr/>
                </a:tc>
                <a:tc>
                  <a:txBody>
                    <a:bodyPr/>
                    <a:lstStyle/>
                    <a:p>
                      <a:pPr lvl="0" algn="ctr">
                        <a:buNone/>
                      </a:pPr>
                      <a:r>
                        <a:rPr lang="en-US" sz="1050"/>
                        <a:t>X</a:t>
                      </a:r>
                      <a:endParaRPr lang="en-US"/>
                    </a:p>
                  </a:txBody>
                  <a:tcPr anchor="ctr"/>
                </a:tc>
                <a:tc>
                  <a:txBody>
                    <a:bodyPr/>
                    <a:lstStyle/>
                    <a:p>
                      <a:pPr lvl="0" algn="ctr">
                        <a:buNone/>
                      </a:pPr>
                      <a:endParaRPr lang="en-US" sz="1050"/>
                    </a:p>
                  </a:txBody>
                  <a:tcPr anchor="ctr"/>
                </a:tc>
                <a:tc>
                  <a:txBody>
                    <a:bodyPr/>
                    <a:lstStyle/>
                    <a:p>
                      <a:pPr lvl="0" algn="ctr">
                        <a:buNone/>
                      </a:pPr>
                      <a:endParaRPr lang="en-US" sz="1050"/>
                    </a:p>
                  </a:txBody>
                  <a:tcPr anchor="ctr"/>
                </a:tc>
                <a:extLst>
                  <a:ext uri="{0D108BD9-81ED-4DB2-BD59-A6C34878D82A}">
                    <a16:rowId xmlns:a16="http://schemas.microsoft.com/office/drawing/2014/main" val="3011119898"/>
                  </a:ext>
                </a:extLst>
              </a:tr>
              <a:tr h="222269">
                <a:tc>
                  <a:txBody>
                    <a:bodyPr/>
                    <a:lstStyle/>
                    <a:p>
                      <a:pPr lvl="0">
                        <a:buNone/>
                      </a:pPr>
                      <a:r>
                        <a:rPr lang="en-US" sz="1050"/>
                        <a:t>Name2</a:t>
                      </a:r>
                    </a:p>
                  </a:txBody>
                  <a:tcPr/>
                </a:tc>
                <a:tc>
                  <a:txBody>
                    <a:bodyPr/>
                    <a:lstStyle/>
                    <a:p>
                      <a:pPr algn="ctr"/>
                      <a:r>
                        <a:rPr lang="en-US" sz="1050"/>
                        <a:t>X</a:t>
                      </a:r>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pPr lvl="0">
                        <a:buNone/>
                      </a:pPr>
                      <a:r>
                        <a:rPr lang="en-US" sz="1050"/>
                        <a:t>Zip Code</a:t>
                      </a:r>
                      <a:endParaRPr lang="en-US"/>
                    </a:p>
                  </a:txBody>
                  <a:tcPr/>
                </a:tc>
                <a:tc>
                  <a:txBody>
                    <a:bodyPr/>
                    <a:lstStyle/>
                    <a:p>
                      <a:pPr lvl="0" algn="ctr">
                        <a:buNone/>
                      </a:pPr>
                      <a:r>
                        <a:rPr lang="en-US" sz="1050"/>
                        <a:t>X</a:t>
                      </a:r>
                      <a:endParaRPr lang="en-US"/>
                    </a:p>
                  </a:txBody>
                  <a:tcPr anchor="ctr"/>
                </a:tc>
                <a:tc>
                  <a:txBody>
                    <a:bodyPr/>
                    <a:lstStyle/>
                    <a:p>
                      <a:pPr lvl="0" algn="ctr">
                        <a:buNone/>
                      </a:pPr>
                      <a:endParaRPr lang="en-US" sz="1050"/>
                    </a:p>
                  </a:txBody>
                  <a:tcPr anchor="ctr"/>
                </a:tc>
                <a:tc>
                  <a:txBody>
                    <a:bodyPr/>
                    <a:lstStyle/>
                    <a:p>
                      <a:pPr lvl="0" algn="ctr">
                        <a:buNone/>
                      </a:pPr>
                      <a:endParaRPr lang="en-US" sz="1050"/>
                    </a:p>
                  </a:txBody>
                  <a:tcPr anchor="ctr"/>
                </a:tc>
                <a:extLst>
                  <a:ext uri="{0D108BD9-81ED-4DB2-BD59-A6C34878D82A}">
                    <a16:rowId xmlns:a16="http://schemas.microsoft.com/office/drawing/2014/main" val="2045713161"/>
                  </a:ext>
                </a:extLst>
              </a:tr>
              <a:tr h="244230">
                <a:tc>
                  <a:txBody>
                    <a:bodyPr/>
                    <a:lstStyle/>
                    <a:p>
                      <a:pPr lvl="0">
                        <a:buNone/>
                      </a:pPr>
                      <a:r>
                        <a:rPr lang="en-US" sz="1050"/>
                        <a:t>Tax Identification</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r>
                        <a:rPr lang="en-US" sz="1050"/>
                        <a:t>X</a:t>
                      </a:r>
                    </a:p>
                  </a:txBody>
                  <a:tcPr anchor="ctr"/>
                </a:tc>
                <a:tc>
                  <a:txBody>
                    <a:bodyPr/>
                    <a:lstStyle/>
                    <a:p>
                      <a:pPr lvl="0">
                        <a:buNone/>
                      </a:pPr>
                      <a:r>
                        <a:rPr lang="en-US" sz="1050"/>
                        <a:t>Country</a:t>
                      </a:r>
                    </a:p>
                  </a:txBody>
                  <a:tcPr/>
                </a:tc>
                <a:tc>
                  <a:txBody>
                    <a:bodyPr/>
                    <a:lstStyle/>
                    <a:p>
                      <a:pPr lvl="0" algn="ctr">
                        <a:buNone/>
                      </a:pPr>
                      <a:r>
                        <a:rPr lang="en-US" sz="1050"/>
                        <a:t>X</a:t>
                      </a:r>
                    </a:p>
                  </a:txBody>
                  <a:tcPr anchor="ctr"/>
                </a:tc>
                <a:tc>
                  <a:txBody>
                    <a:bodyPr/>
                    <a:lstStyle/>
                    <a:p>
                      <a:pPr lvl="0" algn="ctr">
                        <a:buNone/>
                      </a:pPr>
                      <a:endParaRPr lang="en-US" sz="1050"/>
                    </a:p>
                  </a:txBody>
                  <a:tcPr anchor="ctr"/>
                </a:tc>
                <a:tc>
                  <a:txBody>
                    <a:bodyPr/>
                    <a:lstStyle/>
                    <a:p>
                      <a:pPr lvl="0" algn="ctr">
                        <a:buNone/>
                      </a:pPr>
                      <a:endParaRPr lang="en-US" sz="1050"/>
                    </a:p>
                  </a:txBody>
                  <a:tcPr anchor="ctr"/>
                </a:tc>
                <a:extLst>
                  <a:ext uri="{0D108BD9-81ED-4DB2-BD59-A6C34878D82A}">
                    <a16:rowId xmlns:a16="http://schemas.microsoft.com/office/drawing/2014/main" val="3815704308"/>
                  </a:ext>
                </a:extLst>
              </a:tr>
              <a:tr h="222269">
                <a:tc>
                  <a:txBody>
                    <a:bodyPr/>
                    <a:lstStyle/>
                    <a:p>
                      <a:r>
                        <a:rPr lang="en-US" sz="1050"/>
                        <a:t>Classification</a:t>
                      </a:r>
                    </a:p>
                  </a:txBody>
                  <a:tcPr/>
                </a:tc>
                <a:tc>
                  <a:txBody>
                    <a:bodyPr/>
                    <a:lstStyle/>
                    <a:p>
                      <a:pPr algn="ctr"/>
                      <a:r>
                        <a:rPr lang="en-US" sz="1050"/>
                        <a:t>X</a:t>
                      </a:r>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pPr lvl="0">
                        <a:buNone/>
                      </a:pPr>
                      <a:r>
                        <a:rPr lang="en-US" sz="1050"/>
                        <a:t>PMB</a:t>
                      </a:r>
                    </a:p>
                  </a:txBody>
                  <a:tcPr/>
                </a:tc>
                <a:tc>
                  <a:txBody>
                    <a:bodyPr/>
                    <a:lstStyle/>
                    <a:p>
                      <a:pPr lvl="0" algn="ctr">
                        <a:buNone/>
                      </a:pPr>
                      <a:r>
                        <a:rPr lang="en-US" sz="1050"/>
                        <a:t>X</a:t>
                      </a:r>
                    </a:p>
                  </a:txBody>
                  <a:tcPr anchor="ctr"/>
                </a:tc>
                <a:tc>
                  <a:txBody>
                    <a:bodyPr/>
                    <a:lstStyle/>
                    <a:p>
                      <a:pPr lvl="0" algn="ctr">
                        <a:buNone/>
                      </a:pPr>
                      <a:endParaRPr lang="en-US" sz="1050"/>
                    </a:p>
                  </a:txBody>
                  <a:tcPr anchor="ctr"/>
                </a:tc>
                <a:tc>
                  <a:txBody>
                    <a:bodyPr/>
                    <a:lstStyle/>
                    <a:p>
                      <a:pPr lvl="0" algn="ctr">
                        <a:buNone/>
                      </a:pPr>
                      <a:endParaRPr lang="en-US"/>
                    </a:p>
                  </a:txBody>
                  <a:tcPr anchor="ctr"/>
                </a:tc>
                <a:extLst>
                  <a:ext uri="{0D108BD9-81ED-4DB2-BD59-A6C34878D82A}">
                    <a16:rowId xmlns:a16="http://schemas.microsoft.com/office/drawing/2014/main" val="2729228727"/>
                  </a:ext>
                </a:extLst>
              </a:tr>
              <a:tr h="222269">
                <a:tc>
                  <a:txBody>
                    <a:bodyPr/>
                    <a:lstStyle/>
                    <a:p>
                      <a:r>
                        <a:rPr lang="en-US" sz="1050"/>
                        <a:t>CAM Zone</a:t>
                      </a:r>
                    </a:p>
                  </a:txBody>
                  <a:tcPr/>
                </a:tc>
                <a:tc>
                  <a:txBody>
                    <a:bodyPr/>
                    <a:lstStyle/>
                    <a:p>
                      <a:pPr algn="ctr"/>
                      <a:r>
                        <a:rPr lang="en-US" sz="1050"/>
                        <a:t>X</a:t>
                      </a:r>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pPr lvl="0">
                        <a:buNone/>
                      </a:pPr>
                      <a:r>
                        <a:rPr lang="en-US" sz="1050"/>
                        <a:t>C/O</a:t>
                      </a:r>
                    </a:p>
                  </a:txBody>
                  <a:tcPr/>
                </a:tc>
                <a:tc>
                  <a:txBody>
                    <a:bodyPr/>
                    <a:lstStyle/>
                    <a:p>
                      <a:pPr lvl="0" algn="ctr">
                        <a:buNone/>
                      </a:pPr>
                      <a:r>
                        <a:rPr lang="en-US" sz="1050"/>
                        <a:t>X</a:t>
                      </a:r>
                    </a:p>
                  </a:txBody>
                  <a:tcPr anchor="ctr"/>
                </a:tc>
                <a:tc>
                  <a:txBody>
                    <a:bodyPr/>
                    <a:lstStyle/>
                    <a:p>
                      <a:pPr lvl="0" algn="ctr">
                        <a:buNone/>
                      </a:pPr>
                      <a:endParaRPr lang="en-US" sz="1050"/>
                    </a:p>
                  </a:txBody>
                  <a:tcPr anchor="ctr"/>
                </a:tc>
                <a:tc>
                  <a:txBody>
                    <a:bodyPr/>
                    <a:lstStyle/>
                    <a:p>
                      <a:pPr lvl="0" algn="ctr">
                        <a:buNone/>
                      </a:pPr>
                      <a:endParaRPr lang="en-US"/>
                    </a:p>
                  </a:txBody>
                  <a:tcPr anchor="ctr"/>
                </a:tc>
                <a:extLst>
                  <a:ext uri="{0D108BD9-81ED-4DB2-BD59-A6C34878D82A}">
                    <a16:rowId xmlns:a16="http://schemas.microsoft.com/office/drawing/2014/main" val="2316147996"/>
                  </a:ext>
                </a:extLst>
              </a:tr>
              <a:tr h="222269">
                <a:tc>
                  <a:txBody>
                    <a:bodyPr/>
                    <a:lstStyle/>
                    <a:p>
                      <a:r>
                        <a:rPr lang="en-US" sz="1050"/>
                        <a:t>No auto credit transfer </a:t>
                      </a:r>
                    </a:p>
                  </a:txBody>
                  <a:tcPr/>
                </a:tc>
                <a:tc>
                  <a:txBody>
                    <a:bodyPr/>
                    <a:lstStyle/>
                    <a:p>
                      <a:pPr algn="ctr"/>
                      <a:r>
                        <a:rPr lang="en-US" sz="1050"/>
                        <a:t>X</a:t>
                      </a:r>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pPr lvl="0">
                        <a:buNone/>
                      </a:pPr>
                      <a:r>
                        <a:rPr lang="en-US" sz="1050"/>
                        <a:t>Tax Jurisdiction Code</a:t>
                      </a:r>
                    </a:p>
                  </a:txBody>
                  <a:tcPr/>
                </a:tc>
                <a:tc>
                  <a:txBody>
                    <a:bodyPr/>
                    <a:lstStyle/>
                    <a:p>
                      <a:pPr lvl="0" algn="ctr">
                        <a:buNone/>
                      </a:pPr>
                      <a:r>
                        <a:rPr lang="en-US" sz="1050"/>
                        <a:t>X</a:t>
                      </a:r>
                    </a:p>
                  </a:txBody>
                  <a:tcPr anchor="ctr"/>
                </a:tc>
                <a:tc>
                  <a:txBody>
                    <a:bodyPr/>
                    <a:lstStyle/>
                    <a:p>
                      <a:pPr lvl="0" algn="ctr">
                        <a:buNone/>
                      </a:pPr>
                      <a:r>
                        <a:rPr lang="en-US" sz="1050"/>
                        <a:t>X</a:t>
                      </a:r>
                      <a:endParaRPr lang="en-US"/>
                    </a:p>
                  </a:txBody>
                  <a:tcPr anchor="ctr"/>
                </a:tc>
                <a:tc>
                  <a:txBody>
                    <a:bodyPr/>
                    <a:lstStyle/>
                    <a:p>
                      <a:pPr lvl="0" algn="ctr">
                        <a:buNone/>
                      </a:pPr>
                      <a:endParaRPr lang="en-US" sz="1050"/>
                    </a:p>
                  </a:txBody>
                  <a:tcPr anchor="ctr"/>
                </a:tc>
                <a:extLst>
                  <a:ext uri="{0D108BD9-81ED-4DB2-BD59-A6C34878D82A}">
                    <a16:rowId xmlns:a16="http://schemas.microsoft.com/office/drawing/2014/main" val="3573349906"/>
                  </a:ext>
                </a:extLst>
              </a:tr>
              <a:tr h="222269">
                <a:tc>
                  <a:txBody>
                    <a:bodyPr/>
                    <a:lstStyle/>
                    <a:p>
                      <a:r>
                        <a:rPr lang="en-US" sz="1050"/>
                        <a:t>BCC Dunning Hold</a:t>
                      </a:r>
                    </a:p>
                  </a:txBody>
                  <a:tcPr/>
                </a:tc>
                <a:tc>
                  <a:txBody>
                    <a:bodyPr/>
                    <a:lstStyle/>
                    <a:p>
                      <a:pPr algn="ctr"/>
                      <a:endParaRPr lang="en-US" sz="1050"/>
                    </a:p>
                  </a:txBody>
                  <a:tcPr anchor="ctr"/>
                </a:tc>
                <a:tc>
                  <a:txBody>
                    <a:bodyPr/>
                    <a:lstStyle/>
                    <a:p>
                      <a:pPr algn="ctr"/>
                      <a:endParaRPr lang="en-US" sz="1050"/>
                    </a:p>
                  </a:txBody>
                  <a:tcPr anchor="ctr"/>
                </a:tc>
                <a:tc>
                  <a:txBody>
                    <a:bodyPr/>
                    <a:lstStyle/>
                    <a:p>
                      <a:pPr algn="ctr"/>
                      <a:endParaRPr lang="en-US" sz="1050"/>
                    </a:p>
                  </a:txBody>
                  <a:tcPr anchor="ctr"/>
                </a:tc>
                <a:tc>
                  <a:txBody>
                    <a:bodyPr/>
                    <a:lstStyle/>
                    <a:p>
                      <a:pPr lvl="0">
                        <a:buNone/>
                      </a:pPr>
                      <a:r>
                        <a:rPr lang="en-US" sz="1050"/>
                        <a:t>Home Phone / Ext</a:t>
                      </a:r>
                    </a:p>
                  </a:txBody>
                  <a:tcPr/>
                </a:tc>
                <a:tc>
                  <a:txBody>
                    <a:bodyPr/>
                    <a:lstStyle/>
                    <a:p>
                      <a:pPr lvl="0" algn="ctr">
                        <a:buNone/>
                      </a:pPr>
                      <a:r>
                        <a:rPr lang="en-US" sz="1050"/>
                        <a:t>X</a:t>
                      </a:r>
                    </a:p>
                  </a:txBody>
                  <a:tcPr anchor="ctr"/>
                </a:tc>
                <a:tc>
                  <a:txBody>
                    <a:bodyPr/>
                    <a:lstStyle/>
                    <a:p>
                      <a:pPr lvl="0" algn="ctr">
                        <a:buNone/>
                      </a:pPr>
                      <a:r>
                        <a:rPr lang="en-US" sz="1050"/>
                        <a:t>X</a:t>
                      </a:r>
                    </a:p>
                  </a:txBody>
                  <a:tcPr anchor="ctr"/>
                </a:tc>
                <a:tc>
                  <a:txBody>
                    <a:bodyPr/>
                    <a:lstStyle/>
                    <a:p>
                      <a:pPr lvl="0" algn="ctr">
                        <a:buNone/>
                      </a:pPr>
                      <a:endParaRPr lang="en-US" sz="1050"/>
                    </a:p>
                  </a:txBody>
                  <a:tcPr anchor="ctr"/>
                </a:tc>
                <a:extLst>
                  <a:ext uri="{0D108BD9-81ED-4DB2-BD59-A6C34878D82A}">
                    <a16:rowId xmlns:a16="http://schemas.microsoft.com/office/drawing/2014/main" val="2970660839"/>
                  </a:ext>
                </a:extLst>
              </a:tr>
              <a:tr h="222269">
                <a:tc>
                  <a:txBody>
                    <a:bodyPr/>
                    <a:lstStyle/>
                    <a:p>
                      <a:r>
                        <a:rPr lang="en-US" sz="1050"/>
                        <a:t>BCC Shut-Off Notice Suppression</a:t>
                      </a:r>
                    </a:p>
                  </a:txBody>
                  <a:tcPr/>
                </a:tc>
                <a:tc>
                  <a:txBody>
                    <a:bodyPr/>
                    <a:lstStyle/>
                    <a:p>
                      <a:pPr algn="ctr"/>
                      <a:endParaRPr lang="en-US" sz="1050"/>
                    </a:p>
                  </a:txBody>
                  <a:tcPr anchor="ctr"/>
                </a:tc>
                <a:tc>
                  <a:txBody>
                    <a:bodyPr/>
                    <a:lstStyle/>
                    <a:p>
                      <a:pPr algn="ctr"/>
                      <a:endParaRPr lang="en-US" sz="1050"/>
                    </a:p>
                  </a:txBody>
                  <a:tcPr anchor="ctr"/>
                </a:tc>
                <a:tc>
                  <a:txBody>
                    <a:bodyPr/>
                    <a:lstStyle/>
                    <a:p>
                      <a:pPr algn="ctr"/>
                      <a:endParaRPr lang="en-US" sz="1050"/>
                    </a:p>
                  </a:txBody>
                  <a:tcPr anchor="ctr"/>
                </a:tc>
                <a:tc>
                  <a:txBody>
                    <a:bodyPr/>
                    <a:lstStyle/>
                    <a:p>
                      <a:pPr lvl="0">
                        <a:buNone/>
                      </a:pPr>
                      <a:r>
                        <a:rPr lang="en-US" sz="1050"/>
                        <a:t>Mobile Phone / Ext</a:t>
                      </a:r>
                    </a:p>
                  </a:txBody>
                  <a:tcPr/>
                </a:tc>
                <a:tc>
                  <a:txBody>
                    <a:bodyPr/>
                    <a:lstStyle/>
                    <a:p>
                      <a:pPr lvl="0" algn="ctr">
                        <a:buNone/>
                      </a:pPr>
                      <a:r>
                        <a:rPr lang="en-US" sz="1050"/>
                        <a:t>X</a:t>
                      </a:r>
                    </a:p>
                  </a:txBody>
                  <a:tcPr anchor="ctr"/>
                </a:tc>
                <a:tc>
                  <a:txBody>
                    <a:bodyPr/>
                    <a:lstStyle/>
                    <a:p>
                      <a:pPr lvl="0" algn="ctr">
                        <a:buNone/>
                      </a:pPr>
                      <a:r>
                        <a:rPr lang="en-US" sz="1050"/>
                        <a:t>X</a:t>
                      </a:r>
                    </a:p>
                  </a:txBody>
                  <a:tcPr anchor="ctr"/>
                </a:tc>
                <a:tc>
                  <a:txBody>
                    <a:bodyPr/>
                    <a:lstStyle/>
                    <a:p>
                      <a:pPr lvl="0" algn="ctr">
                        <a:buNone/>
                      </a:pPr>
                      <a:endParaRPr lang="en-US" sz="1050"/>
                    </a:p>
                  </a:txBody>
                  <a:tcPr anchor="ctr"/>
                </a:tc>
                <a:extLst>
                  <a:ext uri="{0D108BD9-81ED-4DB2-BD59-A6C34878D82A}">
                    <a16:rowId xmlns:a16="http://schemas.microsoft.com/office/drawing/2014/main" val="385980212"/>
                  </a:ext>
                </a:extLst>
              </a:tr>
              <a:tr h="222269">
                <a:tc>
                  <a:txBody>
                    <a:bodyPr/>
                    <a:lstStyle/>
                    <a:p>
                      <a:pPr lvl="0">
                        <a:buNone/>
                      </a:pPr>
                      <a:r>
                        <a:rPr lang="en-US" sz="1050"/>
                        <a:t>House</a:t>
                      </a:r>
                    </a:p>
                  </a:txBody>
                  <a:tcPr/>
                </a:tc>
                <a:tc>
                  <a:txBody>
                    <a:bodyPr/>
                    <a:lstStyle/>
                    <a:p>
                      <a:pPr algn="ctr"/>
                      <a:endParaRPr lang="en-US" sz="1050"/>
                    </a:p>
                  </a:txBody>
                  <a:tcPr anchor="ctr"/>
                </a:tc>
                <a:tc>
                  <a:txBody>
                    <a:bodyPr/>
                    <a:lstStyle/>
                    <a:p>
                      <a:pPr algn="ctr"/>
                      <a:endParaRPr lang="en-US" sz="1050"/>
                    </a:p>
                  </a:txBody>
                  <a:tcPr anchor="ctr"/>
                </a:tc>
                <a:tc>
                  <a:txBody>
                    <a:bodyPr/>
                    <a:lstStyle/>
                    <a:p>
                      <a:pPr algn="ctr"/>
                      <a:endParaRPr lang="en-US" sz="1050"/>
                    </a:p>
                  </a:txBody>
                  <a:tcPr anchor="ctr"/>
                </a:tc>
                <a:tc>
                  <a:txBody>
                    <a:bodyPr/>
                    <a:lstStyle/>
                    <a:p>
                      <a:pPr lvl="0">
                        <a:buNone/>
                      </a:pPr>
                      <a:r>
                        <a:rPr lang="en-US" sz="1050"/>
                        <a:t>Address Independent E-Mail</a:t>
                      </a:r>
                    </a:p>
                  </a:txBody>
                  <a:tcPr/>
                </a:tc>
                <a:tc>
                  <a:txBody>
                    <a:bodyPr/>
                    <a:lstStyle/>
                    <a:p>
                      <a:pPr lvl="0" algn="ctr">
                        <a:buNone/>
                      </a:pPr>
                      <a:r>
                        <a:rPr lang="en-US" sz="1050"/>
                        <a:t>X</a:t>
                      </a:r>
                    </a:p>
                  </a:txBody>
                  <a:tcPr anchor="ctr"/>
                </a:tc>
                <a:tc>
                  <a:txBody>
                    <a:bodyPr/>
                    <a:lstStyle/>
                    <a:p>
                      <a:pPr lvl="0" algn="ctr">
                        <a:buNone/>
                      </a:pPr>
                      <a:r>
                        <a:rPr lang="en-US" sz="1050"/>
                        <a:t>X</a:t>
                      </a:r>
                    </a:p>
                  </a:txBody>
                  <a:tcPr anchor="ctr"/>
                </a:tc>
                <a:tc>
                  <a:txBody>
                    <a:bodyPr/>
                    <a:lstStyle/>
                    <a:p>
                      <a:pPr lvl="0" algn="ctr">
                        <a:buNone/>
                      </a:pPr>
                      <a:endParaRPr lang="en-US" sz="1050"/>
                    </a:p>
                  </a:txBody>
                  <a:tcPr anchor="ctr"/>
                </a:tc>
                <a:extLst>
                  <a:ext uri="{0D108BD9-81ED-4DB2-BD59-A6C34878D82A}">
                    <a16:rowId xmlns:a16="http://schemas.microsoft.com/office/drawing/2014/main" val="3242324598"/>
                  </a:ext>
                </a:extLst>
              </a:tr>
              <a:tr h="238835">
                <a:tc>
                  <a:txBody>
                    <a:bodyPr/>
                    <a:lstStyle/>
                    <a:p>
                      <a:pPr lvl="0">
                        <a:buNone/>
                      </a:pPr>
                      <a:r>
                        <a:rPr lang="en-US" sz="1050"/>
                        <a:t>Street</a:t>
                      </a:r>
                    </a:p>
                  </a:txBody>
                  <a:tcP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buNone/>
                      </a:pPr>
                      <a:r>
                        <a:rPr lang="en-US" sz="1050"/>
                        <a:t>Website</a:t>
                      </a:r>
                    </a:p>
                  </a:txBody>
                  <a:tcPr/>
                </a:tc>
                <a:tc>
                  <a:txBody>
                    <a:bodyPr/>
                    <a:lstStyle/>
                    <a:p>
                      <a:pPr lvl="0" algn="ctr">
                        <a:buNone/>
                      </a:pPr>
                      <a:r>
                        <a:rPr lang="en-US" sz="1050"/>
                        <a:t>X</a:t>
                      </a:r>
                    </a:p>
                  </a:txBody>
                  <a:tcPr anchor="ctr"/>
                </a:tc>
                <a:tc>
                  <a:txBody>
                    <a:bodyPr/>
                    <a:lstStyle/>
                    <a:p>
                      <a:pPr lvl="0" algn="ctr">
                        <a:buNone/>
                      </a:pPr>
                      <a:r>
                        <a:rPr lang="en-US" sz="1050"/>
                        <a:t>X</a:t>
                      </a:r>
                    </a:p>
                  </a:txBody>
                  <a:tcPr anchor="ctr"/>
                </a:tc>
                <a:tc>
                  <a:txBody>
                    <a:bodyPr/>
                    <a:lstStyle/>
                    <a:p>
                      <a:pPr lvl="0" algn="ctr">
                        <a:buNone/>
                      </a:pPr>
                      <a:endParaRPr lang="en-US" sz="1050"/>
                    </a:p>
                  </a:txBody>
                  <a:tcPr anchor="ctr"/>
                </a:tc>
                <a:extLst>
                  <a:ext uri="{0D108BD9-81ED-4DB2-BD59-A6C34878D82A}">
                    <a16:rowId xmlns:a16="http://schemas.microsoft.com/office/drawing/2014/main" val="1505038496"/>
                  </a:ext>
                </a:extLst>
              </a:tr>
              <a:tr h="222269">
                <a:tc>
                  <a:txBody>
                    <a:bodyPr/>
                    <a:lstStyle/>
                    <a:p>
                      <a:pPr lvl="0">
                        <a:buNone/>
                      </a:pPr>
                      <a:r>
                        <a:rPr lang="en-US" sz="1050"/>
                        <a:t>Apt</a:t>
                      </a:r>
                    </a:p>
                  </a:txBody>
                  <a:tcP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buNone/>
                      </a:pPr>
                      <a:r>
                        <a:rPr lang="en-US" sz="1050"/>
                        <a:t>VAPS Consent – Status</a:t>
                      </a:r>
                    </a:p>
                  </a:txBody>
                  <a:tcP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lgn="ctr">
                        <a:buNone/>
                      </a:pPr>
                      <a:endParaRPr lang="en-US" sz="1050"/>
                    </a:p>
                  </a:txBody>
                  <a:tcPr anchor="ctr"/>
                </a:tc>
                <a:extLst>
                  <a:ext uri="{0D108BD9-81ED-4DB2-BD59-A6C34878D82A}">
                    <a16:rowId xmlns:a16="http://schemas.microsoft.com/office/drawing/2014/main" val="1404798835"/>
                  </a:ext>
                </a:extLst>
              </a:tr>
              <a:tr h="222269">
                <a:tc>
                  <a:txBody>
                    <a:bodyPr/>
                    <a:lstStyle/>
                    <a:p>
                      <a:pPr lvl="0">
                        <a:buNone/>
                      </a:pPr>
                      <a:r>
                        <a:rPr lang="en-US" sz="1050"/>
                        <a:t>Building</a:t>
                      </a:r>
                    </a:p>
                  </a:txBody>
                  <a:tcP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buNone/>
                      </a:pPr>
                      <a:r>
                        <a:rPr lang="en-US" sz="1050"/>
                        <a:t>VAPS Consent – Date / Time</a:t>
                      </a:r>
                    </a:p>
                  </a:txBody>
                  <a:tcP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lgn="ctr">
                        <a:buNone/>
                      </a:pPr>
                      <a:endParaRPr lang="en-US" sz="1050"/>
                    </a:p>
                  </a:txBody>
                  <a:tcPr anchor="ctr"/>
                </a:tc>
                <a:extLst>
                  <a:ext uri="{0D108BD9-81ED-4DB2-BD59-A6C34878D82A}">
                    <a16:rowId xmlns:a16="http://schemas.microsoft.com/office/drawing/2014/main" val="438671675"/>
                  </a:ext>
                </a:extLst>
              </a:tr>
              <a:tr h="238144">
                <a:tc>
                  <a:txBody>
                    <a:bodyPr/>
                    <a:lstStyle/>
                    <a:p>
                      <a:pPr lvl="0">
                        <a:buNone/>
                      </a:pPr>
                      <a:r>
                        <a:rPr lang="en-US" sz="1050"/>
                        <a:t>Room</a:t>
                      </a:r>
                    </a:p>
                  </a:txBody>
                  <a:tcP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buNone/>
                      </a:pPr>
                      <a:r>
                        <a:rPr lang="en-US" sz="1100" b="0" i="0" u="none" strike="noStrike" noProof="0">
                          <a:solidFill>
                            <a:srgbClr val="000000"/>
                          </a:solidFill>
                          <a:latin typeface="Aptos"/>
                        </a:rPr>
                        <a:t>VAPS Consent – CC Updated By</a:t>
                      </a:r>
                      <a:endParaRPr lang="en-US"/>
                    </a:p>
                  </a:txBody>
                  <a:tcP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lgn="ctr">
                        <a:buNone/>
                      </a:pPr>
                      <a:endParaRPr lang="en-US" sz="1050"/>
                    </a:p>
                  </a:txBody>
                  <a:tcPr anchor="ctr"/>
                </a:tc>
                <a:extLst>
                  <a:ext uri="{0D108BD9-81ED-4DB2-BD59-A6C34878D82A}">
                    <a16:rowId xmlns:a16="http://schemas.microsoft.com/office/drawing/2014/main" val="2634731640"/>
                  </a:ext>
                </a:extLst>
              </a:tr>
              <a:tr h="238143">
                <a:tc>
                  <a:txBody>
                    <a:bodyPr/>
                    <a:lstStyle/>
                    <a:p>
                      <a:pPr lvl="0">
                        <a:buNone/>
                      </a:pPr>
                      <a:r>
                        <a:rPr lang="en-US" sz="1050"/>
                        <a:t>Data Privacy - Status</a:t>
                      </a:r>
                    </a:p>
                  </a:txBody>
                  <a:tcP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buNone/>
                      </a:pPr>
                      <a:r>
                        <a:rPr lang="en-US" sz="1100" b="0" i="0" u="none" strike="noStrike" noProof="0">
                          <a:solidFill>
                            <a:srgbClr val="000000"/>
                          </a:solidFill>
                          <a:latin typeface="Aptos"/>
                        </a:rPr>
                        <a:t>VAPS Consent – CC Source</a:t>
                      </a:r>
                      <a:endParaRPr lang="en-US"/>
                    </a:p>
                  </a:txBody>
                  <a:tcP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lgn="ctr">
                        <a:buNone/>
                      </a:pPr>
                      <a:endParaRPr lang="en-US" sz="1050"/>
                    </a:p>
                  </a:txBody>
                  <a:tcPr anchor="ctr"/>
                </a:tc>
                <a:extLst>
                  <a:ext uri="{0D108BD9-81ED-4DB2-BD59-A6C34878D82A}">
                    <a16:rowId xmlns:a16="http://schemas.microsoft.com/office/drawing/2014/main" val="132371486"/>
                  </a:ext>
                </a:extLst>
              </a:tr>
              <a:tr h="238142">
                <a:tc>
                  <a:txBody>
                    <a:bodyPr/>
                    <a:lstStyle/>
                    <a:p>
                      <a:pPr lvl="0">
                        <a:buNone/>
                      </a:pPr>
                      <a:r>
                        <a:rPr lang="en-US" sz="1100" b="0" i="0" u="none" strike="noStrike" noProof="0">
                          <a:solidFill>
                            <a:srgbClr val="000000"/>
                          </a:solidFill>
                          <a:latin typeface="Aptos"/>
                        </a:rPr>
                        <a:t>Data Privacy – Date/Time</a:t>
                      </a:r>
                      <a:endParaRPr lang="en-US"/>
                    </a:p>
                  </a:txBody>
                  <a:tcP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buNone/>
                      </a:pPr>
                      <a:r>
                        <a:rPr lang="en-US" sz="1100" b="0" i="0" u="none" strike="noStrike" noProof="0">
                          <a:solidFill>
                            <a:srgbClr val="000000"/>
                          </a:solidFill>
                          <a:latin typeface="Aptos"/>
                        </a:rPr>
                        <a:t>Data Privacy – DP Updated By</a:t>
                      </a:r>
                      <a:endParaRPr lang="en-US"/>
                    </a:p>
                  </a:txBody>
                  <a:tcP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lgn="ctr">
                        <a:buNone/>
                      </a:pPr>
                      <a:endParaRPr lang="en-US" sz="1050"/>
                    </a:p>
                  </a:txBody>
                  <a:tcPr anchor="ctr"/>
                </a:tc>
                <a:extLst>
                  <a:ext uri="{0D108BD9-81ED-4DB2-BD59-A6C34878D82A}">
                    <a16:rowId xmlns:a16="http://schemas.microsoft.com/office/drawing/2014/main" val="4254770380"/>
                  </a:ext>
                </a:extLst>
              </a:tr>
              <a:tr h="238142">
                <a:tc>
                  <a:txBody>
                    <a:bodyPr/>
                    <a:lstStyle/>
                    <a:p>
                      <a:pPr lvl="0">
                        <a:buNone/>
                      </a:pPr>
                      <a:r>
                        <a:rPr lang="en-US" sz="1100" b="0" i="0" u="none" strike="noStrike" noProof="0">
                          <a:solidFill>
                            <a:srgbClr val="000000"/>
                          </a:solidFill>
                          <a:latin typeface="Aptos"/>
                        </a:rPr>
                        <a:t>Data Privacy – DP Source</a:t>
                      </a:r>
                      <a:endParaRPr lang="en-US"/>
                    </a:p>
                  </a:txBody>
                  <a:tcP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buNone/>
                      </a:pPr>
                      <a:endParaRPr lang="en-US" sz="1100" b="0" i="0" u="none" strike="noStrike" noProof="0">
                        <a:solidFill>
                          <a:srgbClr val="000000"/>
                        </a:solidFill>
                        <a:latin typeface="Aptos"/>
                      </a:endParaRPr>
                    </a:p>
                  </a:txBody>
                  <a:tcP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lgn="ctr">
                        <a:buNone/>
                      </a:pPr>
                      <a:endParaRPr lang="en-US" sz="1050"/>
                    </a:p>
                  </a:txBody>
                  <a:tcPr anchor="ctr"/>
                </a:tc>
                <a:extLst>
                  <a:ext uri="{0D108BD9-81ED-4DB2-BD59-A6C34878D82A}">
                    <a16:rowId xmlns:a16="http://schemas.microsoft.com/office/drawing/2014/main" val="144362750"/>
                  </a:ext>
                </a:extLst>
              </a:tr>
            </a:tbl>
          </a:graphicData>
        </a:graphic>
      </p:graphicFrame>
    </p:spTree>
    <p:extLst>
      <p:ext uri="{BB962C8B-B14F-4D97-AF65-F5344CB8AC3E}">
        <p14:creationId xmlns:p14="http://schemas.microsoft.com/office/powerpoint/2010/main" val="6445644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46580-6900-D5CC-F317-B56BBEEDAA0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5DE47A1-FC5B-5410-E638-C40B9AB2D13B}"/>
              </a:ext>
            </a:extLst>
          </p:cNvPr>
          <p:cNvSpPr>
            <a:spLocks noGrp="1"/>
          </p:cNvSpPr>
          <p:nvPr>
            <p:ph type="title"/>
          </p:nvPr>
        </p:nvSpPr>
        <p:spPr>
          <a:xfrm>
            <a:off x="153761" y="-4265"/>
            <a:ext cx="11807907" cy="888817"/>
          </a:xfrm>
        </p:spPr>
        <p:txBody>
          <a:bodyPr>
            <a:normAutofit/>
          </a:bodyPr>
          <a:lstStyle/>
          <a:p>
            <a:r>
              <a:rPr lang="en-US" sz="4000">
                <a:latin typeface="Montserrat"/>
              </a:rPr>
              <a:t>Maintain Org BP in CRM</a:t>
            </a:r>
          </a:p>
        </p:txBody>
      </p:sp>
      <p:sp>
        <p:nvSpPr>
          <p:cNvPr id="6" name="TextBox 5">
            <a:extLst>
              <a:ext uri="{FF2B5EF4-FFF2-40B4-BE49-F238E27FC236}">
                <a16:creationId xmlns:a16="http://schemas.microsoft.com/office/drawing/2014/main" id="{2A55ACAD-EA7F-4311-551E-C07067C89D03}"/>
              </a:ext>
            </a:extLst>
          </p:cNvPr>
          <p:cNvSpPr txBox="1"/>
          <p:nvPr/>
        </p:nvSpPr>
        <p:spPr>
          <a:xfrm>
            <a:off x="1993692" y="2308485"/>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ontserrat" pitchFamily="2" charset="77"/>
              <a:ea typeface="+mn-ea"/>
              <a:cs typeface="+mn-cs"/>
            </a:endParaRPr>
          </a:p>
        </p:txBody>
      </p:sp>
      <p:graphicFrame>
        <p:nvGraphicFramePr>
          <p:cNvPr id="13" name="Table 12">
            <a:extLst>
              <a:ext uri="{FF2B5EF4-FFF2-40B4-BE49-F238E27FC236}">
                <a16:creationId xmlns:a16="http://schemas.microsoft.com/office/drawing/2014/main" id="{AEBE084E-E64E-07CE-16EF-0708EB2FDCFF}"/>
              </a:ext>
            </a:extLst>
          </p:cNvPr>
          <p:cNvGraphicFramePr>
            <a:graphicFrameLocks noGrp="1"/>
          </p:cNvGraphicFramePr>
          <p:nvPr/>
        </p:nvGraphicFramePr>
        <p:xfrm>
          <a:off x="152400" y="1103665"/>
          <a:ext cx="11029059" cy="5036820"/>
        </p:xfrm>
        <a:graphic>
          <a:graphicData uri="http://schemas.openxmlformats.org/drawingml/2006/table">
            <a:tbl>
              <a:tblPr firstRow="1" bandRow="1">
                <a:tableStyleId>{5C22544A-7EE6-4342-B048-85BDC9FD1C3A}</a:tableStyleId>
              </a:tblPr>
              <a:tblGrid>
                <a:gridCol w="2393048">
                  <a:extLst>
                    <a:ext uri="{9D8B030D-6E8A-4147-A177-3AD203B41FA5}">
                      <a16:colId xmlns:a16="http://schemas.microsoft.com/office/drawing/2014/main" val="4084044958"/>
                    </a:ext>
                  </a:extLst>
                </a:gridCol>
                <a:gridCol w="843431">
                  <a:extLst>
                    <a:ext uri="{9D8B030D-6E8A-4147-A177-3AD203B41FA5}">
                      <a16:colId xmlns:a16="http://schemas.microsoft.com/office/drawing/2014/main" val="3615934369"/>
                    </a:ext>
                  </a:extLst>
                </a:gridCol>
                <a:gridCol w="843431">
                  <a:extLst>
                    <a:ext uri="{9D8B030D-6E8A-4147-A177-3AD203B41FA5}">
                      <a16:colId xmlns:a16="http://schemas.microsoft.com/office/drawing/2014/main" val="73187036"/>
                    </a:ext>
                  </a:extLst>
                </a:gridCol>
                <a:gridCol w="990113">
                  <a:extLst>
                    <a:ext uri="{9D8B030D-6E8A-4147-A177-3AD203B41FA5}">
                      <a16:colId xmlns:a16="http://schemas.microsoft.com/office/drawing/2014/main" val="3147726669"/>
                    </a:ext>
                  </a:extLst>
                </a:gridCol>
                <a:gridCol w="3135371">
                  <a:extLst>
                    <a:ext uri="{9D8B030D-6E8A-4147-A177-3AD203B41FA5}">
                      <a16:colId xmlns:a16="http://schemas.microsoft.com/office/drawing/2014/main" val="2929055363"/>
                    </a:ext>
                  </a:extLst>
                </a:gridCol>
                <a:gridCol w="916775">
                  <a:extLst>
                    <a:ext uri="{9D8B030D-6E8A-4147-A177-3AD203B41FA5}">
                      <a16:colId xmlns:a16="http://schemas.microsoft.com/office/drawing/2014/main" val="2386789796"/>
                    </a:ext>
                  </a:extLst>
                </a:gridCol>
                <a:gridCol w="898438">
                  <a:extLst>
                    <a:ext uri="{9D8B030D-6E8A-4147-A177-3AD203B41FA5}">
                      <a16:colId xmlns:a16="http://schemas.microsoft.com/office/drawing/2014/main" val="2536028979"/>
                    </a:ext>
                  </a:extLst>
                </a:gridCol>
                <a:gridCol w="1008452">
                  <a:extLst>
                    <a:ext uri="{9D8B030D-6E8A-4147-A177-3AD203B41FA5}">
                      <a16:colId xmlns:a16="http://schemas.microsoft.com/office/drawing/2014/main" val="1126145318"/>
                    </a:ext>
                  </a:extLst>
                </a:gridCol>
              </a:tblGrid>
              <a:tr h="222269">
                <a:tc>
                  <a:txBody>
                    <a:bodyPr/>
                    <a:lstStyle/>
                    <a:p>
                      <a:pPr algn="ctr"/>
                      <a:r>
                        <a:rPr lang="en-US" sz="1050"/>
                        <a:t>Field</a:t>
                      </a:r>
                    </a:p>
                  </a:txBody>
                  <a:tcPr anchor="ctr"/>
                </a:tc>
                <a:tc>
                  <a:txBody>
                    <a:bodyPr/>
                    <a:lstStyle/>
                    <a:p>
                      <a:pPr algn="ctr"/>
                      <a:r>
                        <a:rPr lang="en-US" sz="1050"/>
                        <a:t>Editable</a:t>
                      </a:r>
                    </a:p>
                  </a:txBody>
                  <a:tcPr anchor="ctr"/>
                </a:tc>
                <a:tc>
                  <a:txBody>
                    <a:bodyPr/>
                    <a:lstStyle/>
                    <a:p>
                      <a:pPr algn="ctr"/>
                      <a:r>
                        <a:rPr lang="en-US" sz="1050"/>
                        <a:t>Optional</a:t>
                      </a:r>
                    </a:p>
                  </a:txBody>
                  <a:tcPr anchor="ctr"/>
                </a:tc>
                <a:tc>
                  <a:txBody>
                    <a:bodyPr/>
                    <a:lstStyle/>
                    <a:p>
                      <a:pPr algn="ctr"/>
                      <a:r>
                        <a:rPr lang="en-US" sz="1050"/>
                        <a:t>Defaulted</a:t>
                      </a:r>
                    </a:p>
                  </a:txBody>
                  <a:tcPr anchor="ctr"/>
                </a:tc>
                <a:tc>
                  <a:txBody>
                    <a:bodyPr/>
                    <a:lstStyle/>
                    <a:p>
                      <a:pPr algn="ctr"/>
                      <a:r>
                        <a:rPr lang="en-US" sz="1050"/>
                        <a:t>Field</a:t>
                      </a:r>
                    </a:p>
                  </a:txBody>
                  <a:tcPr anchor="ctr"/>
                </a:tc>
                <a:tc>
                  <a:txBody>
                    <a:bodyPr/>
                    <a:lstStyle/>
                    <a:p>
                      <a:pPr algn="ctr"/>
                      <a:r>
                        <a:rPr lang="en-US" sz="1050"/>
                        <a:t>Editable</a:t>
                      </a:r>
                    </a:p>
                  </a:txBody>
                  <a:tcPr anchor="ctr"/>
                </a:tc>
                <a:tc>
                  <a:txBody>
                    <a:bodyPr/>
                    <a:lstStyle/>
                    <a:p>
                      <a:pPr algn="ctr"/>
                      <a:r>
                        <a:rPr lang="en-US" sz="1050"/>
                        <a:t>Optional</a:t>
                      </a:r>
                    </a:p>
                  </a:txBody>
                  <a:tcPr anchor="ctr"/>
                </a:tc>
                <a:tc>
                  <a:txBody>
                    <a:bodyPr/>
                    <a:lstStyle/>
                    <a:p>
                      <a:pPr algn="ctr"/>
                      <a:r>
                        <a:rPr lang="en-US" sz="1050"/>
                        <a:t>Defaulted</a:t>
                      </a:r>
                    </a:p>
                  </a:txBody>
                  <a:tcPr anchor="ctr"/>
                </a:tc>
                <a:extLst>
                  <a:ext uri="{0D108BD9-81ED-4DB2-BD59-A6C34878D82A}">
                    <a16:rowId xmlns:a16="http://schemas.microsoft.com/office/drawing/2014/main" val="4282288673"/>
                  </a:ext>
                </a:extLst>
              </a:tr>
              <a:tr h="222269">
                <a:tc>
                  <a:txBody>
                    <a:bodyPr/>
                    <a:lstStyle/>
                    <a:p>
                      <a:r>
                        <a:rPr lang="en-US" sz="1050"/>
                        <a:t>Full Name</a:t>
                      </a:r>
                    </a:p>
                  </a:txBody>
                  <a:tcPr/>
                </a:tc>
                <a:tc>
                  <a:txBody>
                    <a:bodyPr/>
                    <a:lstStyle/>
                    <a:p>
                      <a:pPr algn="ctr"/>
                      <a:endParaRPr lang="en-US" sz="1050"/>
                    </a:p>
                  </a:txBody>
                  <a:tcPr anchor="ctr"/>
                </a:tc>
                <a:tc>
                  <a:txBody>
                    <a:bodyPr/>
                    <a:lstStyle/>
                    <a:p>
                      <a:pPr algn="ctr"/>
                      <a:endParaRPr lang="en-US" sz="1050"/>
                    </a:p>
                  </a:txBody>
                  <a:tcPr anchor="ctr"/>
                </a:tc>
                <a:tc>
                  <a:txBody>
                    <a:bodyPr/>
                    <a:lstStyle/>
                    <a:p>
                      <a:pPr algn="ctr"/>
                      <a:r>
                        <a:rPr lang="en-US" sz="1050"/>
                        <a:t>X</a:t>
                      </a:r>
                    </a:p>
                  </a:txBody>
                  <a:tcPr anchor="ctr"/>
                </a:tc>
                <a:tc>
                  <a:txBody>
                    <a:bodyPr/>
                    <a:lstStyle/>
                    <a:p>
                      <a:pPr lvl="0">
                        <a:buNone/>
                      </a:pPr>
                      <a:r>
                        <a:rPr lang="en-US" sz="1050"/>
                        <a:t>Floor</a:t>
                      </a:r>
                    </a:p>
                  </a:txBody>
                  <a:tcPr/>
                </a:tc>
                <a:tc>
                  <a:txBody>
                    <a:bodyPr/>
                    <a:lstStyle/>
                    <a:p>
                      <a:pPr lvl="0" algn="ctr">
                        <a:buNone/>
                      </a:pPr>
                      <a:endParaRPr lang="en-US" sz="1050"/>
                    </a:p>
                  </a:txBody>
                  <a:tcPr anchor="ctr"/>
                </a:tc>
                <a:tc>
                  <a:txBody>
                    <a:bodyPr/>
                    <a:lstStyle/>
                    <a:p>
                      <a:pPr lvl="0" algn="ctr">
                        <a:buNone/>
                      </a:pPr>
                      <a:r>
                        <a:rPr lang="en-US" sz="1050"/>
                        <a:t>X</a:t>
                      </a:r>
                    </a:p>
                  </a:txBody>
                  <a:tcPr anchor="ctr"/>
                </a:tc>
                <a:tc>
                  <a:txBody>
                    <a:bodyPr/>
                    <a:lstStyle/>
                    <a:p>
                      <a:pPr lvl="0" algn="ctr">
                        <a:buNone/>
                      </a:pPr>
                      <a:endParaRPr lang="en-US" sz="1050"/>
                    </a:p>
                  </a:txBody>
                  <a:tcPr anchor="ctr"/>
                </a:tc>
                <a:extLst>
                  <a:ext uri="{0D108BD9-81ED-4DB2-BD59-A6C34878D82A}">
                    <a16:rowId xmlns:a16="http://schemas.microsoft.com/office/drawing/2014/main" val="3849373528"/>
                  </a:ext>
                </a:extLst>
              </a:tr>
              <a:tr h="222269">
                <a:tc>
                  <a:txBody>
                    <a:bodyPr/>
                    <a:lstStyle/>
                    <a:p>
                      <a:pPr lvl="0">
                        <a:buNone/>
                      </a:pPr>
                      <a:r>
                        <a:rPr lang="en-US" sz="1050"/>
                        <a:t>ID</a:t>
                      </a:r>
                    </a:p>
                  </a:txBody>
                  <a:tcPr/>
                </a:tc>
                <a:tc>
                  <a:txBody>
                    <a:bodyPr/>
                    <a:lstStyle/>
                    <a:p>
                      <a:pPr algn="ctr"/>
                      <a:endParaRPr lang="en-US" sz="1050"/>
                    </a:p>
                  </a:txBody>
                  <a:tcPr anchor="ctr"/>
                </a:tc>
                <a:tc>
                  <a:txBody>
                    <a:bodyPr/>
                    <a:lstStyle/>
                    <a:p>
                      <a:pPr algn="ctr"/>
                      <a:endParaRPr lang="en-US" sz="1050"/>
                    </a:p>
                  </a:txBody>
                  <a:tcPr anchor="ctr"/>
                </a:tc>
                <a:tc>
                  <a:txBody>
                    <a:bodyPr/>
                    <a:lstStyle/>
                    <a:p>
                      <a:pPr algn="ctr"/>
                      <a:endParaRPr lang="en-US" sz="1050"/>
                    </a:p>
                  </a:txBody>
                  <a:tcPr anchor="ctr"/>
                </a:tc>
                <a:tc>
                  <a:txBody>
                    <a:bodyPr/>
                    <a:lstStyle/>
                    <a:p>
                      <a:pPr lvl="0">
                        <a:buNone/>
                      </a:pPr>
                      <a:r>
                        <a:rPr lang="en-US" sz="1050"/>
                        <a:t>City</a:t>
                      </a:r>
                    </a:p>
                  </a:txBody>
                  <a:tcPr/>
                </a:tc>
                <a:tc>
                  <a:txBody>
                    <a:bodyPr/>
                    <a:lstStyle/>
                    <a:p>
                      <a:pPr lvl="0" algn="ctr">
                        <a:buNone/>
                      </a:pPr>
                      <a:endParaRPr lang="en-US" sz="1050"/>
                    </a:p>
                  </a:txBody>
                  <a:tcPr anchor="ctr"/>
                </a:tc>
                <a:tc>
                  <a:txBody>
                    <a:bodyPr/>
                    <a:lstStyle/>
                    <a:p>
                      <a:pPr lvl="0" algn="ctr">
                        <a:buNone/>
                      </a:pPr>
                      <a:r>
                        <a:rPr lang="en-US" sz="1050"/>
                        <a:t>X</a:t>
                      </a:r>
                    </a:p>
                  </a:txBody>
                  <a:tcPr anchor="ctr"/>
                </a:tc>
                <a:tc>
                  <a:txBody>
                    <a:bodyPr/>
                    <a:lstStyle/>
                    <a:p>
                      <a:pPr lvl="0" algn="ctr">
                        <a:buNone/>
                      </a:pPr>
                      <a:endParaRPr lang="en-US" sz="1050"/>
                    </a:p>
                  </a:txBody>
                  <a:tcPr anchor="ctr"/>
                </a:tc>
                <a:extLst>
                  <a:ext uri="{0D108BD9-81ED-4DB2-BD59-A6C34878D82A}">
                    <a16:rowId xmlns:a16="http://schemas.microsoft.com/office/drawing/2014/main" val="100861940"/>
                  </a:ext>
                </a:extLst>
              </a:tr>
              <a:tr h="222269">
                <a:tc>
                  <a:txBody>
                    <a:bodyPr/>
                    <a:lstStyle/>
                    <a:p>
                      <a:pPr lvl="0">
                        <a:buNone/>
                      </a:pPr>
                      <a:r>
                        <a:rPr lang="en-US" sz="1050"/>
                        <a:t>Name1</a:t>
                      </a:r>
                    </a:p>
                  </a:txBody>
                  <a:tcPr/>
                </a:tc>
                <a:tc>
                  <a:txBody>
                    <a:bodyPr/>
                    <a:lstStyle/>
                    <a:p>
                      <a:pPr algn="ctr"/>
                      <a:r>
                        <a:rPr lang="en-US" sz="1050"/>
                        <a:t>X</a:t>
                      </a:r>
                    </a:p>
                  </a:txBody>
                  <a:tcPr anchor="ctr"/>
                </a:tc>
                <a:tc>
                  <a:txBody>
                    <a:bodyPr/>
                    <a:lstStyle/>
                    <a:p>
                      <a:pPr algn="ctr"/>
                      <a:r>
                        <a:rPr lang="en-US" sz="1050"/>
                        <a:t>X</a:t>
                      </a:r>
                    </a:p>
                  </a:txBody>
                  <a:tcPr anchor="ctr"/>
                </a:tc>
                <a:tc>
                  <a:txBody>
                    <a:bodyPr/>
                    <a:lstStyle/>
                    <a:p>
                      <a:pPr algn="ctr"/>
                      <a:r>
                        <a:rPr lang="en-US" sz="1050"/>
                        <a:t>X</a:t>
                      </a:r>
                    </a:p>
                  </a:txBody>
                  <a:tcPr anchor="ctr"/>
                </a:tc>
                <a:tc>
                  <a:txBody>
                    <a:bodyPr/>
                    <a:lstStyle/>
                    <a:p>
                      <a:pPr lvl="0">
                        <a:buNone/>
                      </a:pPr>
                      <a:r>
                        <a:rPr lang="en-US" sz="1050"/>
                        <a:t>State</a:t>
                      </a:r>
                      <a:endParaRPr lang="en-US"/>
                    </a:p>
                  </a:txBody>
                  <a:tcPr/>
                </a:tc>
                <a:tc>
                  <a:txBody>
                    <a:bodyPr/>
                    <a:lstStyle/>
                    <a:p>
                      <a:pPr lvl="0" algn="ctr">
                        <a:buNone/>
                      </a:pPr>
                      <a:r>
                        <a:rPr lang="en-US" sz="1050"/>
                        <a:t>X</a:t>
                      </a:r>
                      <a:endParaRPr lang="en-US"/>
                    </a:p>
                  </a:txBody>
                  <a:tcPr anchor="ctr"/>
                </a:tc>
                <a:tc>
                  <a:txBody>
                    <a:bodyPr/>
                    <a:lstStyle/>
                    <a:p>
                      <a:pPr lvl="0" algn="ctr">
                        <a:buNone/>
                      </a:pPr>
                      <a:endParaRPr lang="en-US" sz="1050"/>
                    </a:p>
                  </a:txBody>
                  <a:tcPr anchor="ctr"/>
                </a:tc>
                <a:tc>
                  <a:txBody>
                    <a:bodyPr/>
                    <a:lstStyle/>
                    <a:p>
                      <a:pPr lvl="0" algn="ctr">
                        <a:buNone/>
                      </a:pPr>
                      <a:endParaRPr lang="en-US" sz="1050"/>
                    </a:p>
                  </a:txBody>
                  <a:tcPr anchor="ctr"/>
                </a:tc>
                <a:extLst>
                  <a:ext uri="{0D108BD9-81ED-4DB2-BD59-A6C34878D82A}">
                    <a16:rowId xmlns:a16="http://schemas.microsoft.com/office/drawing/2014/main" val="3011119898"/>
                  </a:ext>
                </a:extLst>
              </a:tr>
              <a:tr h="222269">
                <a:tc>
                  <a:txBody>
                    <a:bodyPr/>
                    <a:lstStyle/>
                    <a:p>
                      <a:pPr lvl="0">
                        <a:buNone/>
                      </a:pPr>
                      <a:r>
                        <a:rPr lang="en-US" sz="1050"/>
                        <a:t>Name2</a:t>
                      </a:r>
                    </a:p>
                  </a:txBody>
                  <a:tcPr/>
                </a:tc>
                <a:tc>
                  <a:txBody>
                    <a:bodyPr/>
                    <a:lstStyle/>
                    <a:p>
                      <a:pPr algn="ctr"/>
                      <a:r>
                        <a:rPr lang="en-US" sz="1050"/>
                        <a:t>X</a:t>
                      </a:r>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pPr lvl="0">
                        <a:buNone/>
                      </a:pPr>
                      <a:r>
                        <a:rPr lang="en-US" sz="1050"/>
                        <a:t>Zip Code</a:t>
                      </a:r>
                      <a:endParaRPr lang="en-US"/>
                    </a:p>
                  </a:txBody>
                  <a:tcPr/>
                </a:tc>
                <a:tc>
                  <a:txBody>
                    <a:bodyPr/>
                    <a:lstStyle/>
                    <a:p>
                      <a:pPr lvl="0" algn="ctr">
                        <a:buNone/>
                      </a:pPr>
                      <a:r>
                        <a:rPr lang="en-US" sz="1050"/>
                        <a:t>X</a:t>
                      </a:r>
                      <a:endParaRPr lang="en-US"/>
                    </a:p>
                  </a:txBody>
                  <a:tcPr anchor="ctr"/>
                </a:tc>
                <a:tc>
                  <a:txBody>
                    <a:bodyPr/>
                    <a:lstStyle/>
                    <a:p>
                      <a:pPr lvl="0" algn="ctr">
                        <a:buNone/>
                      </a:pPr>
                      <a:endParaRPr lang="en-US" sz="1050"/>
                    </a:p>
                  </a:txBody>
                  <a:tcPr anchor="ctr"/>
                </a:tc>
                <a:tc>
                  <a:txBody>
                    <a:bodyPr/>
                    <a:lstStyle/>
                    <a:p>
                      <a:pPr lvl="0" algn="ctr">
                        <a:buNone/>
                      </a:pPr>
                      <a:endParaRPr lang="en-US" sz="1050"/>
                    </a:p>
                  </a:txBody>
                  <a:tcPr anchor="ctr"/>
                </a:tc>
                <a:extLst>
                  <a:ext uri="{0D108BD9-81ED-4DB2-BD59-A6C34878D82A}">
                    <a16:rowId xmlns:a16="http://schemas.microsoft.com/office/drawing/2014/main" val="2045713161"/>
                  </a:ext>
                </a:extLst>
              </a:tr>
              <a:tr h="244230">
                <a:tc>
                  <a:txBody>
                    <a:bodyPr/>
                    <a:lstStyle/>
                    <a:p>
                      <a:pPr lvl="0">
                        <a:buNone/>
                      </a:pPr>
                      <a:r>
                        <a:rPr lang="en-US" sz="1050"/>
                        <a:t>Tax Identification</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r>
                        <a:rPr lang="en-US" sz="1050"/>
                        <a:t>X</a:t>
                      </a:r>
                    </a:p>
                  </a:txBody>
                  <a:tcPr anchor="ctr"/>
                </a:tc>
                <a:tc>
                  <a:txBody>
                    <a:bodyPr/>
                    <a:lstStyle/>
                    <a:p>
                      <a:pPr lvl="0">
                        <a:buNone/>
                      </a:pPr>
                      <a:r>
                        <a:rPr lang="en-US" sz="1050"/>
                        <a:t>Country</a:t>
                      </a:r>
                    </a:p>
                  </a:txBody>
                  <a:tcPr/>
                </a:tc>
                <a:tc>
                  <a:txBody>
                    <a:bodyPr/>
                    <a:lstStyle/>
                    <a:p>
                      <a:pPr lvl="0" algn="ctr">
                        <a:buNone/>
                      </a:pPr>
                      <a:r>
                        <a:rPr lang="en-US" sz="1050"/>
                        <a:t>X</a:t>
                      </a:r>
                    </a:p>
                  </a:txBody>
                  <a:tcPr anchor="ctr"/>
                </a:tc>
                <a:tc>
                  <a:txBody>
                    <a:bodyPr/>
                    <a:lstStyle/>
                    <a:p>
                      <a:pPr lvl="0" algn="ctr">
                        <a:buNone/>
                      </a:pPr>
                      <a:endParaRPr lang="en-US" sz="1050"/>
                    </a:p>
                  </a:txBody>
                  <a:tcPr anchor="ctr"/>
                </a:tc>
                <a:tc>
                  <a:txBody>
                    <a:bodyPr/>
                    <a:lstStyle/>
                    <a:p>
                      <a:pPr lvl="0" algn="ctr">
                        <a:buNone/>
                      </a:pPr>
                      <a:endParaRPr lang="en-US" sz="1050"/>
                    </a:p>
                  </a:txBody>
                  <a:tcPr anchor="ctr"/>
                </a:tc>
                <a:extLst>
                  <a:ext uri="{0D108BD9-81ED-4DB2-BD59-A6C34878D82A}">
                    <a16:rowId xmlns:a16="http://schemas.microsoft.com/office/drawing/2014/main" val="3815704308"/>
                  </a:ext>
                </a:extLst>
              </a:tr>
              <a:tr h="222269">
                <a:tc>
                  <a:txBody>
                    <a:bodyPr/>
                    <a:lstStyle/>
                    <a:p>
                      <a:r>
                        <a:rPr lang="en-US" sz="1050"/>
                        <a:t>Classification</a:t>
                      </a:r>
                    </a:p>
                  </a:txBody>
                  <a:tcPr/>
                </a:tc>
                <a:tc>
                  <a:txBody>
                    <a:bodyPr/>
                    <a:lstStyle/>
                    <a:p>
                      <a:pPr algn="ctr"/>
                      <a:r>
                        <a:rPr lang="en-US" sz="1050"/>
                        <a:t>X</a:t>
                      </a:r>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pPr lvl="0">
                        <a:buNone/>
                      </a:pPr>
                      <a:r>
                        <a:rPr lang="en-US" sz="1050"/>
                        <a:t>PMB</a:t>
                      </a:r>
                    </a:p>
                  </a:txBody>
                  <a:tcPr/>
                </a:tc>
                <a:tc>
                  <a:txBody>
                    <a:bodyPr/>
                    <a:lstStyle/>
                    <a:p>
                      <a:pPr lvl="0" algn="ctr">
                        <a:buNone/>
                      </a:pPr>
                      <a:r>
                        <a:rPr lang="en-US" sz="1050"/>
                        <a:t>X</a:t>
                      </a:r>
                    </a:p>
                  </a:txBody>
                  <a:tcPr anchor="ctr"/>
                </a:tc>
                <a:tc>
                  <a:txBody>
                    <a:bodyPr/>
                    <a:lstStyle/>
                    <a:p>
                      <a:pPr lvl="0" algn="ctr">
                        <a:buNone/>
                      </a:pPr>
                      <a:endParaRPr lang="en-US" sz="1050"/>
                    </a:p>
                  </a:txBody>
                  <a:tcPr anchor="ctr"/>
                </a:tc>
                <a:tc>
                  <a:txBody>
                    <a:bodyPr/>
                    <a:lstStyle/>
                    <a:p>
                      <a:pPr lvl="0" algn="ctr">
                        <a:buNone/>
                      </a:pPr>
                      <a:endParaRPr lang="en-US"/>
                    </a:p>
                  </a:txBody>
                  <a:tcPr anchor="ctr"/>
                </a:tc>
                <a:extLst>
                  <a:ext uri="{0D108BD9-81ED-4DB2-BD59-A6C34878D82A}">
                    <a16:rowId xmlns:a16="http://schemas.microsoft.com/office/drawing/2014/main" val="2729228727"/>
                  </a:ext>
                </a:extLst>
              </a:tr>
              <a:tr h="222269">
                <a:tc>
                  <a:txBody>
                    <a:bodyPr/>
                    <a:lstStyle/>
                    <a:p>
                      <a:r>
                        <a:rPr lang="en-US" sz="1050"/>
                        <a:t>CAM Zone</a:t>
                      </a:r>
                    </a:p>
                  </a:txBody>
                  <a:tcPr/>
                </a:tc>
                <a:tc>
                  <a:txBody>
                    <a:bodyPr/>
                    <a:lstStyle/>
                    <a:p>
                      <a:pPr algn="ctr"/>
                      <a:r>
                        <a:rPr lang="en-US" sz="1050"/>
                        <a:t>X</a:t>
                      </a:r>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pPr lvl="0">
                        <a:buNone/>
                      </a:pPr>
                      <a:r>
                        <a:rPr lang="en-US" sz="1050"/>
                        <a:t>C/O</a:t>
                      </a:r>
                    </a:p>
                  </a:txBody>
                  <a:tcPr/>
                </a:tc>
                <a:tc>
                  <a:txBody>
                    <a:bodyPr/>
                    <a:lstStyle/>
                    <a:p>
                      <a:pPr lvl="0" algn="ctr">
                        <a:buNone/>
                      </a:pPr>
                      <a:r>
                        <a:rPr lang="en-US" sz="1050"/>
                        <a:t>X</a:t>
                      </a:r>
                    </a:p>
                  </a:txBody>
                  <a:tcPr anchor="ctr"/>
                </a:tc>
                <a:tc>
                  <a:txBody>
                    <a:bodyPr/>
                    <a:lstStyle/>
                    <a:p>
                      <a:pPr lvl="0" algn="ctr">
                        <a:buNone/>
                      </a:pPr>
                      <a:endParaRPr lang="en-US" sz="1050"/>
                    </a:p>
                  </a:txBody>
                  <a:tcPr anchor="ctr"/>
                </a:tc>
                <a:tc>
                  <a:txBody>
                    <a:bodyPr/>
                    <a:lstStyle/>
                    <a:p>
                      <a:pPr lvl="0" algn="ctr">
                        <a:buNone/>
                      </a:pPr>
                      <a:endParaRPr lang="en-US"/>
                    </a:p>
                  </a:txBody>
                  <a:tcPr anchor="ctr"/>
                </a:tc>
                <a:extLst>
                  <a:ext uri="{0D108BD9-81ED-4DB2-BD59-A6C34878D82A}">
                    <a16:rowId xmlns:a16="http://schemas.microsoft.com/office/drawing/2014/main" val="2316147996"/>
                  </a:ext>
                </a:extLst>
              </a:tr>
              <a:tr h="222269">
                <a:tc>
                  <a:txBody>
                    <a:bodyPr/>
                    <a:lstStyle/>
                    <a:p>
                      <a:r>
                        <a:rPr lang="en-US" sz="1050"/>
                        <a:t>No auto credit transfer </a:t>
                      </a:r>
                    </a:p>
                  </a:txBody>
                  <a:tcPr/>
                </a:tc>
                <a:tc>
                  <a:txBody>
                    <a:bodyPr/>
                    <a:lstStyle/>
                    <a:p>
                      <a:pPr algn="ctr"/>
                      <a:r>
                        <a:rPr lang="en-US" sz="1050"/>
                        <a:t>X</a:t>
                      </a:r>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pPr lvl="0">
                        <a:buNone/>
                      </a:pPr>
                      <a:r>
                        <a:rPr lang="en-US" sz="1050"/>
                        <a:t>Tax Jurisdiction Code</a:t>
                      </a:r>
                    </a:p>
                  </a:txBody>
                  <a:tcPr/>
                </a:tc>
                <a:tc>
                  <a:txBody>
                    <a:bodyPr/>
                    <a:lstStyle/>
                    <a:p>
                      <a:pPr lvl="0" algn="ctr">
                        <a:buNone/>
                      </a:pPr>
                      <a:r>
                        <a:rPr lang="en-US" sz="1050"/>
                        <a:t>X</a:t>
                      </a:r>
                    </a:p>
                  </a:txBody>
                  <a:tcPr anchor="ctr"/>
                </a:tc>
                <a:tc>
                  <a:txBody>
                    <a:bodyPr/>
                    <a:lstStyle/>
                    <a:p>
                      <a:pPr lvl="0" algn="ctr">
                        <a:buNone/>
                      </a:pPr>
                      <a:r>
                        <a:rPr lang="en-US" sz="1050"/>
                        <a:t>X</a:t>
                      </a:r>
                      <a:endParaRPr lang="en-US"/>
                    </a:p>
                  </a:txBody>
                  <a:tcPr anchor="ctr"/>
                </a:tc>
                <a:tc>
                  <a:txBody>
                    <a:bodyPr/>
                    <a:lstStyle/>
                    <a:p>
                      <a:pPr lvl="0" algn="ctr">
                        <a:buNone/>
                      </a:pPr>
                      <a:endParaRPr lang="en-US" sz="1050"/>
                    </a:p>
                  </a:txBody>
                  <a:tcPr anchor="ctr"/>
                </a:tc>
                <a:extLst>
                  <a:ext uri="{0D108BD9-81ED-4DB2-BD59-A6C34878D82A}">
                    <a16:rowId xmlns:a16="http://schemas.microsoft.com/office/drawing/2014/main" val="3573349906"/>
                  </a:ext>
                </a:extLst>
              </a:tr>
              <a:tr h="222269">
                <a:tc>
                  <a:txBody>
                    <a:bodyPr/>
                    <a:lstStyle/>
                    <a:p>
                      <a:r>
                        <a:rPr lang="en-US" sz="1050"/>
                        <a:t>BCC Dunning Hold</a:t>
                      </a:r>
                    </a:p>
                  </a:txBody>
                  <a:tcPr/>
                </a:tc>
                <a:tc>
                  <a:txBody>
                    <a:bodyPr/>
                    <a:lstStyle/>
                    <a:p>
                      <a:pPr algn="ctr"/>
                      <a:endParaRPr lang="en-US" sz="1050"/>
                    </a:p>
                  </a:txBody>
                  <a:tcPr anchor="ctr"/>
                </a:tc>
                <a:tc>
                  <a:txBody>
                    <a:bodyPr/>
                    <a:lstStyle/>
                    <a:p>
                      <a:pPr algn="ctr"/>
                      <a:endParaRPr lang="en-US" sz="1050"/>
                    </a:p>
                  </a:txBody>
                  <a:tcPr anchor="ctr"/>
                </a:tc>
                <a:tc>
                  <a:txBody>
                    <a:bodyPr/>
                    <a:lstStyle/>
                    <a:p>
                      <a:pPr algn="ctr"/>
                      <a:endParaRPr lang="en-US" sz="1050"/>
                    </a:p>
                  </a:txBody>
                  <a:tcPr anchor="ctr"/>
                </a:tc>
                <a:tc>
                  <a:txBody>
                    <a:bodyPr/>
                    <a:lstStyle/>
                    <a:p>
                      <a:pPr lvl="0">
                        <a:buNone/>
                      </a:pPr>
                      <a:r>
                        <a:rPr lang="en-US" sz="1050"/>
                        <a:t>Home Phone / Ext</a:t>
                      </a:r>
                    </a:p>
                  </a:txBody>
                  <a:tcPr/>
                </a:tc>
                <a:tc>
                  <a:txBody>
                    <a:bodyPr/>
                    <a:lstStyle/>
                    <a:p>
                      <a:pPr lvl="0" algn="ctr">
                        <a:buNone/>
                      </a:pPr>
                      <a:r>
                        <a:rPr lang="en-US" sz="1050"/>
                        <a:t>X</a:t>
                      </a:r>
                    </a:p>
                  </a:txBody>
                  <a:tcPr anchor="ctr"/>
                </a:tc>
                <a:tc>
                  <a:txBody>
                    <a:bodyPr/>
                    <a:lstStyle/>
                    <a:p>
                      <a:pPr lvl="0" algn="ctr">
                        <a:buNone/>
                      </a:pPr>
                      <a:r>
                        <a:rPr lang="en-US" sz="1050"/>
                        <a:t>X</a:t>
                      </a:r>
                    </a:p>
                  </a:txBody>
                  <a:tcPr anchor="ctr"/>
                </a:tc>
                <a:tc>
                  <a:txBody>
                    <a:bodyPr/>
                    <a:lstStyle/>
                    <a:p>
                      <a:pPr lvl="0" algn="ctr">
                        <a:buNone/>
                      </a:pPr>
                      <a:endParaRPr lang="en-US" sz="1050"/>
                    </a:p>
                  </a:txBody>
                  <a:tcPr anchor="ctr"/>
                </a:tc>
                <a:extLst>
                  <a:ext uri="{0D108BD9-81ED-4DB2-BD59-A6C34878D82A}">
                    <a16:rowId xmlns:a16="http://schemas.microsoft.com/office/drawing/2014/main" val="2970660839"/>
                  </a:ext>
                </a:extLst>
              </a:tr>
              <a:tr h="222269">
                <a:tc>
                  <a:txBody>
                    <a:bodyPr/>
                    <a:lstStyle/>
                    <a:p>
                      <a:r>
                        <a:rPr lang="en-US" sz="1050"/>
                        <a:t>BCC Shut-Off Notice Suppression</a:t>
                      </a:r>
                    </a:p>
                  </a:txBody>
                  <a:tcPr/>
                </a:tc>
                <a:tc>
                  <a:txBody>
                    <a:bodyPr/>
                    <a:lstStyle/>
                    <a:p>
                      <a:pPr algn="ctr"/>
                      <a:endParaRPr lang="en-US" sz="1050"/>
                    </a:p>
                  </a:txBody>
                  <a:tcPr anchor="ctr"/>
                </a:tc>
                <a:tc>
                  <a:txBody>
                    <a:bodyPr/>
                    <a:lstStyle/>
                    <a:p>
                      <a:pPr algn="ctr"/>
                      <a:endParaRPr lang="en-US" sz="1050"/>
                    </a:p>
                  </a:txBody>
                  <a:tcPr anchor="ctr"/>
                </a:tc>
                <a:tc>
                  <a:txBody>
                    <a:bodyPr/>
                    <a:lstStyle/>
                    <a:p>
                      <a:pPr algn="ctr"/>
                      <a:endParaRPr lang="en-US" sz="1050"/>
                    </a:p>
                  </a:txBody>
                  <a:tcPr anchor="ctr"/>
                </a:tc>
                <a:tc>
                  <a:txBody>
                    <a:bodyPr/>
                    <a:lstStyle/>
                    <a:p>
                      <a:pPr lvl="0">
                        <a:buNone/>
                      </a:pPr>
                      <a:r>
                        <a:rPr lang="en-US" sz="1050"/>
                        <a:t>Mobile Phone / Ext</a:t>
                      </a:r>
                    </a:p>
                  </a:txBody>
                  <a:tcPr/>
                </a:tc>
                <a:tc>
                  <a:txBody>
                    <a:bodyPr/>
                    <a:lstStyle/>
                    <a:p>
                      <a:pPr lvl="0" algn="ctr">
                        <a:buNone/>
                      </a:pPr>
                      <a:r>
                        <a:rPr lang="en-US" sz="1050"/>
                        <a:t>X</a:t>
                      </a:r>
                    </a:p>
                  </a:txBody>
                  <a:tcPr anchor="ctr"/>
                </a:tc>
                <a:tc>
                  <a:txBody>
                    <a:bodyPr/>
                    <a:lstStyle/>
                    <a:p>
                      <a:pPr lvl="0" algn="ctr">
                        <a:buNone/>
                      </a:pPr>
                      <a:r>
                        <a:rPr lang="en-US" sz="1050"/>
                        <a:t>X</a:t>
                      </a:r>
                    </a:p>
                  </a:txBody>
                  <a:tcPr anchor="ctr"/>
                </a:tc>
                <a:tc>
                  <a:txBody>
                    <a:bodyPr/>
                    <a:lstStyle/>
                    <a:p>
                      <a:pPr lvl="0" algn="ctr">
                        <a:buNone/>
                      </a:pPr>
                      <a:endParaRPr lang="en-US" sz="1050"/>
                    </a:p>
                  </a:txBody>
                  <a:tcPr anchor="ctr"/>
                </a:tc>
                <a:extLst>
                  <a:ext uri="{0D108BD9-81ED-4DB2-BD59-A6C34878D82A}">
                    <a16:rowId xmlns:a16="http://schemas.microsoft.com/office/drawing/2014/main" val="385980212"/>
                  </a:ext>
                </a:extLst>
              </a:tr>
              <a:tr h="222269">
                <a:tc>
                  <a:txBody>
                    <a:bodyPr/>
                    <a:lstStyle/>
                    <a:p>
                      <a:pPr lvl="0">
                        <a:buNone/>
                      </a:pPr>
                      <a:r>
                        <a:rPr lang="en-US" sz="1050"/>
                        <a:t>House</a:t>
                      </a:r>
                    </a:p>
                  </a:txBody>
                  <a:tcPr/>
                </a:tc>
                <a:tc>
                  <a:txBody>
                    <a:bodyPr/>
                    <a:lstStyle/>
                    <a:p>
                      <a:pPr algn="ctr"/>
                      <a:endParaRPr lang="en-US" sz="1050"/>
                    </a:p>
                  </a:txBody>
                  <a:tcPr anchor="ctr"/>
                </a:tc>
                <a:tc>
                  <a:txBody>
                    <a:bodyPr/>
                    <a:lstStyle/>
                    <a:p>
                      <a:pPr algn="ctr"/>
                      <a:endParaRPr lang="en-US" sz="1050"/>
                    </a:p>
                  </a:txBody>
                  <a:tcPr anchor="ctr"/>
                </a:tc>
                <a:tc>
                  <a:txBody>
                    <a:bodyPr/>
                    <a:lstStyle/>
                    <a:p>
                      <a:pPr algn="ctr"/>
                      <a:endParaRPr lang="en-US" sz="1050"/>
                    </a:p>
                  </a:txBody>
                  <a:tcPr anchor="ctr"/>
                </a:tc>
                <a:tc>
                  <a:txBody>
                    <a:bodyPr/>
                    <a:lstStyle/>
                    <a:p>
                      <a:pPr lvl="0">
                        <a:buNone/>
                      </a:pPr>
                      <a:r>
                        <a:rPr lang="en-US" sz="1050"/>
                        <a:t>Address Independent E-Mail</a:t>
                      </a:r>
                    </a:p>
                  </a:txBody>
                  <a:tcPr/>
                </a:tc>
                <a:tc>
                  <a:txBody>
                    <a:bodyPr/>
                    <a:lstStyle/>
                    <a:p>
                      <a:pPr lvl="0" algn="ctr">
                        <a:buNone/>
                      </a:pPr>
                      <a:r>
                        <a:rPr lang="en-US" sz="1050"/>
                        <a:t>X</a:t>
                      </a:r>
                    </a:p>
                  </a:txBody>
                  <a:tcPr anchor="ctr"/>
                </a:tc>
                <a:tc>
                  <a:txBody>
                    <a:bodyPr/>
                    <a:lstStyle/>
                    <a:p>
                      <a:pPr lvl="0" algn="ctr">
                        <a:buNone/>
                      </a:pPr>
                      <a:r>
                        <a:rPr lang="en-US" sz="1050"/>
                        <a:t>X</a:t>
                      </a:r>
                    </a:p>
                  </a:txBody>
                  <a:tcPr anchor="ctr"/>
                </a:tc>
                <a:tc>
                  <a:txBody>
                    <a:bodyPr/>
                    <a:lstStyle/>
                    <a:p>
                      <a:pPr lvl="0" algn="ctr">
                        <a:buNone/>
                      </a:pPr>
                      <a:endParaRPr lang="en-US" sz="1050"/>
                    </a:p>
                  </a:txBody>
                  <a:tcPr anchor="ctr"/>
                </a:tc>
                <a:extLst>
                  <a:ext uri="{0D108BD9-81ED-4DB2-BD59-A6C34878D82A}">
                    <a16:rowId xmlns:a16="http://schemas.microsoft.com/office/drawing/2014/main" val="3242324598"/>
                  </a:ext>
                </a:extLst>
              </a:tr>
              <a:tr h="238835">
                <a:tc>
                  <a:txBody>
                    <a:bodyPr/>
                    <a:lstStyle/>
                    <a:p>
                      <a:pPr lvl="0">
                        <a:buNone/>
                      </a:pPr>
                      <a:r>
                        <a:rPr lang="en-US" sz="1050"/>
                        <a:t>Street</a:t>
                      </a:r>
                    </a:p>
                  </a:txBody>
                  <a:tcP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buNone/>
                      </a:pPr>
                      <a:r>
                        <a:rPr lang="en-US" sz="1050"/>
                        <a:t>Website</a:t>
                      </a:r>
                    </a:p>
                  </a:txBody>
                  <a:tcPr/>
                </a:tc>
                <a:tc>
                  <a:txBody>
                    <a:bodyPr/>
                    <a:lstStyle/>
                    <a:p>
                      <a:pPr lvl="0" algn="ctr">
                        <a:buNone/>
                      </a:pPr>
                      <a:r>
                        <a:rPr lang="en-US" sz="1050"/>
                        <a:t>X</a:t>
                      </a:r>
                    </a:p>
                  </a:txBody>
                  <a:tcPr anchor="ctr"/>
                </a:tc>
                <a:tc>
                  <a:txBody>
                    <a:bodyPr/>
                    <a:lstStyle/>
                    <a:p>
                      <a:pPr lvl="0" algn="ctr">
                        <a:buNone/>
                      </a:pPr>
                      <a:r>
                        <a:rPr lang="en-US" sz="1050"/>
                        <a:t>X</a:t>
                      </a:r>
                    </a:p>
                  </a:txBody>
                  <a:tcPr anchor="ctr"/>
                </a:tc>
                <a:tc>
                  <a:txBody>
                    <a:bodyPr/>
                    <a:lstStyle/>
                    <a:p>
                      <a:pPr lvl="0" algn="ctr">
                        <a:buNone/>
                      </a:pPr>
                      <a:endParaRPr lang="en-US" sz="1050"/>
                    </a:p>
                  </a:txBody>
                  <a:tcPr anchor="ctr"/>
                </a:tc>
                <a:extLst>
                  <a:ext uri="{0D108BD9-81ED-4DB2-BD59-A6C34878D82A}">
                    <a16:rowId xmlns:a16="http://schemas.microsoft.com/office/drawing/2014/main" val="1505038496"/>
                  </a:ext>
                </a:extLst>
              </a:tr>
              <a:tr h="222269">
                <a:tc>
                  <a:txBody>
                    <a:bodyPr/>
                    <a:lstStyle/>
                    <a:p>
                      <a:pPr lvl="0">
                        <a:buNone/>
                      </a:pPr>
                      <a:r>
                        <a:rPr lang="en-US" sz="1050"/>
                        <a:t>Apt</a:t>
                      </a:r>
                    </a:p>
                  </a:txBody>
                  <a:tcP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buNone/>
                      </a:pPr>
                      <a:r>
                        <a:rPr lang="en-US" sz="1050"/>
                        <a:t>VAPS Consent – Status</a:t>
                      </a:r>
                    </a:p>
                  </a:txBody>
                  <a:tcP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lgn="ctr">
                        <a:buNone/>
                      </a:pPr>
                      <a:endParaRPr lang="en-US" sz="1050"/>
                    </a:p>
                  </a:txBody>
                  <a:tcPr anchor="ctr"/>
                </a:tc>
                <a:extLst>
                  <a:ext uri="{0D108BD9-81ED-4DB2-BD59-A6C34878D82A}">
                    <a16:rowId xmlns:a16="http://schemas.microsoft.com/office/drawing/2014/main" val="1404798835"/>
                  </a:ext>
                </a:extLst>
              </a:tr>
              <a:tr h="222269">
                <a:tc>
                  <a:txBody>
                    <a:bodyPr/>
                    <a:lstStyle/>
                    <a:p>
                      <a:pPr lvl="0">
                        <a:buNone/>
                      </a:pPr>
                      <a:r>
                        <a:rPr lang="en-US" sz="1050"/>
                        <a:t>Building</a:t>
                      </a:r>
                    </a:p>
                  </a:txBody>
                  <a:tcP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buNone/>
                      </a:pPr>
                      <a:r>
                        <a:rPr lang="en-US" sz="1050"/>
                        <a:t>VAPS Consent – Date / Time</a:t>
                      </a:r>
                    </a:p>
                  </a:txBody>
                  <a:tcP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lgn="ctr">
                        <a:buNone/>
                      </a:pPr>
                      <a:endParaRPr lang="en-US" sz="1050"/>
                    </a:p>
                  </a:txBody>
                  <a:tcPr anchor="ctr"/>
                </a:tc>
                <a:extLst>
                  <a:ext uri="{0D108BD9-81ED-4DB2-BD59-A6C34878D82A}">
                    <a16:rowId xmlns:a16="http://schemas.microsoft.com/office/drawing/2014/main" val="438671675"/>
                  </a:ext>
                </a:extLst>
              </a:tr>
              <a:tr h="238144">
                <a:tc>
                  <a:txBody>
                    <a:bodyPr/>
                    <a:lstStyle/>
                    <a:p>
                      <a:pPr lvl="0">
                        <a:buNone/>
                      </a:pPr>
                      <a:r>
                        <a:rPr lang="en-US" sz="1050"/>
                        <a:t>Room</a:t>
                      </a:r>
                    </a:p>
                  </a:txBody>
                  <a:tcP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buNone/>
                      </a:pPr>
                      <a:r>
                        <a:rPr lang="en-US" sz="1100" b="0" i="0" u="none" strike="noStrike" noProof="0">
                          <a:solidFill>
                            <a:srgbClr val="000000"/>
                          </a:solidFill>
                          <a:latin typeface="Aptos"/>
                        </a:rPr>
                        <a:t>VAPS Consent – CC Updated By</a:t>
                      </a:r>
                      <a:endParaRPr lang="en-US"/>
                    </a:p>
                  </a:txBody>
                  <a:tcP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lgn="ctr">
                        <a:buNone/>
                      </a:pPr>
                      <a:endParaRPr lang="en-US" sz="1050"/>
                    </a:p>
                  </a:txBody>
                  <a:tcPr anchor="ctr"/>
                </a:tc>
                <a:extLst>
                  <a:ext uri="{0D108BD9-81ED-4DB2-BD59-A6C34878D82A}">
                    <a16:rowId xmlns:a16="http://schemas.microsoft.com/office/drawing/2014/main" val="2634731640"/>
                  </a:ext>
                </a:extLst>
              </a:tr>
              <a:tr h="238143">
                <a:tc>
                  <a:txBody>
                    <a:bodyPr/>
                    <a:lstStyle/>
                    <a:p>
                      <a:pPr lvl="0">
                        <a:buNone/>
                      </a:pPr>
                      <a:r>
                        <a:rPr lang="en-US" sz="1050"/>
                        <a:t>Data Privacy - Status</a:t>
                      </a:r>
                    </a:p>
                  </a:txBody>
                  <a:tcP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buNone/>
                      </a:pPr>
                      <a:r>
                        <a:rPr lang="en-US" sz="1100" b="0" i="0" u="none" strike="noStrike" noProof="0">
                          <a:solidFill>
                            <a:srgbClr val="000000"/>
                          </a:solidFill>
                          <a:latin typeface="Aptos"/>
                        </a:rPr>
                        <a:t>VAPS Consent – CC Source</a:t>
                      </a:r>
                      <a:endParaRPr lang="en-US"/>
                    </a:p>
                  </a:txBody>
                  <a:tcP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lgn="ctr">
                        <a:buNone/>
                      </a:pPr>
                      <a:endParaRPr lang="en-US" sz="1050"/>
                    </a:p>
                  </a:txBody>
                  <a:tcPr anchor="ctr"/>
                </a:tc>
                <a:extLst>
                  <a:ext uri="{0D108BD9-81ED-4DB2-BD59-A6C34878D82A}">
                    <a16:rowId xmlns:a16="http://schemas.microsoft.com/office/drawing/2014/main" val="132371486"/>
                  </a:ext>
                </a:extLst>
              </a:tr>
              <a:tr h="238142">
                <a:tc>
                  <a:txBody>
                    <a:bodyPr/>
                    <a:lstStyle/>
                    <a:p>
                      <a:pPr lvl="0">
                        <a:buNone/>
                      </a:pPr>
                      <a:r>
                        <a:rPr lang="en-US" sz="1100" b="0" i="0" u="none" strike="noStrike" noProof="0">
                          <a:solidFill>
                            <a:srgbClr val="000000"/>
                          </a:solidFill>
                          <a:latin typeface="Aptos"/>
                        </a:rPr>
                        <a:t>Data Privacy – Date/Time</a:t>
                      </a:r>
                      <a:endParaRPr lang="en-US"/>
                    </a:p>
                  </a:txBody>
                  <a:tcP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buNone/>
                      </a:pPr>
                      <a:r>
                        <a:rPr lang="en-US" sz="1100" b="0" i="0" u="none" strike="noStrike" noProof="0">
                          <a:solidFill>
                            <a:srgbClr val="000000"/>
                          </a:solidFill>
                          <a:latin typeface="Aptos"/>
                        </a:rPr>
                        <a:t>Data Privacy – DP Updated By</a:t>
                      </a:r>
                      <a:endParaRPr lang="en-US"/>
                    </a:p>
                  </a:txBody>
                  <a:tcP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lgn="ctr">
                        <a:buNone/>
                      </a:pPr>
                      <a:endParaRPr lang="en-US" sz="1050"/>
                    </a:p>
                  </a:txBody>
                  <a:tcPr anchor="ctr"/>
                </a:tc>
                <a:extLst>
                  <a:ext uri="{0D108BD9-81ED-4DB2-BD59-A6C34878D82A}">
                    <a16:rowId xmlns:a16="http://schemas.microsoft.com/office/drawing/2014/main" val="4254770380"/>
                  </a:ext>
                </a:extLst>
              </a:tr>
              <a:tr h="238142">
                <a:tc>
                  <a:txBody>
                    <a:bodyPr/>
                    <a:lstStyle/>
                    <a:p>
                      <a:pPr lvl="0">
                        <a:buNone/>
                      </a:pPr>
                      <a:r>
                        <a:rPr lang="en-US" sz="1100" b="0" i="0" u="none" strike="noStrike" noProof="0">
                          <a:solidFill>
                            <a:srgbClr val="000000"/>
                          </a:solidFill>
                          <a:latin typeface="Aptos"/>
                        </a:rPr>
                        <a:t>Data Privacy – DP Source</a:t>
                      </a:r>
                      <a:endParaRPr lang="en-US"/>
                    </a:p>
                  </a:txBody>
                  <a:tcP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buNone/>
                      </a:pPr>
                      <a:endParaRPr lang="en-US" sz="1100" b="0" i="0" u="none" strike="noStrike" noProof="0">
                        <a:solidFill>
                          <a:srgbClr val="000000"/>
                        </a:solidFill>
                        <a:latin typeface="Aptos"/>
                      </a:endParaRPr>
                    </a:p>
                  </a:txBody>
                  <a:tcP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lgn="ctr">
                        <a:buNone/>
                      </a:pPr>
                      <a:endParaRPr lang="en-US" sz="1050"/>
                    </a:p>
                  </a:txBody>
                  <a:tcPr anchor="ctr"/>
                </a:tc>
                <a:extLst>
                  <a:ext uri="{0D108BD9-81ED-4DB2-BD59-A6C34878D82A}">
                    <a16:rowId xmlns:a16="http://schemas.microsoft.com/office/drawing/2014/main" val="144362750"/>
                  </a:ext>
                </a:extLst>
              </a:tr>
            </a:tbl>
          </a:graphicData>
        </a:graphic>
      </p:graphicFrame>
    </p:spTree>
    <p:extLst>
      <p:ext uri="{BB962C8B-B14F-4D97-AF65-F5344CB8AC3E}">
        <p14:creationId xmlns:p14="http://schemas.microsoft.com/office/powerpoint/2010/main" val="15939249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F4610-74A7-77C7-E8A5-642436675F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FFA30C3-5670-029E-FD9B-035164DB309A}"/>
              </a:ext>
            </a:extLst>
          </p:cNvPr>
          <p:cNvSpPr>
            <a:spLocks noGrp="1"/>
          </p:cNvSpPr>
          <p:nvPr>
            <p:ph type="title"/>
          </p:nvPr>
        </p:nvSpPr>
        <p:spPr>
          <a:xfrm>
            <a:off x="153761" y="-4265"/>
            <a:ext cx="11807907" cy="888817"/>
          </a:xfrm>
        </p:spPr>
        <p:txBody>
          <a:bodyPr>
            <a:normAutofit/>
          </a:bodyPr>
          <a:lstStyle/>
          <a:p>
            <a:r>
              <a:rPr lang="en-US" sz="4000">
                <a:latin typeface="Montserrat"/>
              </a:rPr>
              <a:t>Maintain Business Agreement</a:t>
            </a:r>
          </a:p>
        </p:txBody>
      </p:sp>
      <p:sp>
        <p:nvSpPr>
          <p:cNvPr id="6" name="TextBox 5">
            <a:extLst>
              <a:ext uri="{FF2B5EF4-FFF2-40B4-BE49-F238E27FC236}">
                <a16:creationId xmlns:a16="http://schemas.microsoft.com/office/drawing/2014/main" id="{9A41A327-C59F-3BF6-384A-FE6DDD49B504}"/>
              </a:ext>
            </a:extLst>
          </p:cNvPr>
          <p:cNvSpPr txBox="1"/>
          <p:nvPr/>
        </p:nvSpPr>
        <p:spPr>
          <a:xfrm>
            <a:off x="1993692" y="2308485"/>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7" name="TextBox 6">
            <a:extLst>
              <a:ext uri="{FF2B5EF4-FFF2-40B4-BE49-F238E27FC236}">
                <a16:creationId xmlns:a16="http://schemas.microsoft.com/office/drawing/2014/main" id="{61EA50F1-3C63-C03B-019D-698A65CA9B1B}"/>
              </a:ext>
            </a:extLst>
          </p:cNvPr>
          <p:cNvSpPr txBox="1"/>
          <p:nvPr/>
        </p:nvSpPr>
        <p:spPr>
          <a:xfrm>
            <a:off x="151527" y="878834"/>
            <a:ext cx="11336027"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u="sng"/>
              <a:t>Current State Use</a:t>
            </a:r>
            <a:r>
              <a:rPr lang="en-US" sz="1600"/>
              <a:t>: Users can edit certain attributes associated to the Business Agreement.</a:t>
            </a:r>
          </a:p>
          <a:p>
            <a:endParaRPr lang="en-US" sz="1600"/>
          </a:p>
          <a:p>
            <a:r>
              <a:rPr lang="en-US" sz="1600" b="1" u="sng"/>
              <a:t>Future State Use</a:t>
            </a:r>
            <a:r>
              <a:rPr lang="en-US" sz="1600"/>
              <a:t>: Apart from editing a fixed address on the contract account, editing other contract account attributes will be moved to Case Management PDD. Meaning agents will be trained to create a Case in Service Cloud v2 which will create a BPEM Case in S/4HANA. Any other fields that need to be editable from Service Cloud v2 will be covered in the FRICE-W</a:t>
            </a:r>
            <a:r>
              <a:rPr lang="en-US"/>
              <a:t> </a:t>
            </a:r>
            <a:r>
              <a:rPr lang="en-US" sz="1600"/>
              <a:t>"</a:t>
            </a:r>
            <a:r>
              <a:rPr lang="en-US" sz="1600" b="1"/>
              <a:t>Contract Account Field Enhancements.</a:t>
            </a:r>
            <a:r>
              <a:rPr lang="en-US" sz="1600"/>
              <a:t>"</a:t>
            </a:r>
          </a:p>
        </p:txBody>
      </p:sp>
      <p:pic>
        <p:nvPicPr>
          <p:cNvPr id="2" name="Picture 1" descr="A screenshot of a computer&#10;&#10;AI-generated content may be incorrect.">
            <a:extLst>
              <a:ext uri="{FF2B5EF4-FFF2-40B4-BE49-F238E27FC236}">
                <a16:creationId xmlns:a16="http://schemas.microsoft.com/office/drawing/2014/main" id="{F9D92252-77D7-1579-7CF0-BBEFB2B42C91}"/>
              </a:ext>
            </a:extLst>
          </p:cNvPr>
          <p:cNvPicPr>
            <a:picLocks noChangeAspect="1"/>
          </p:cNvPicPr>
          <p:nvPr/>
        </p:nvPicPr>
        <p:blipFill>
          <a:blip r:embed="rId2"/>
          <a:stretch>
            <a:fillRect/>
          </a:stretch>
        </p:blipFill>
        <p:spPr>
          <a:xfrm>
            <a:off x="1993343" y="2514708"/>
            <a:ext cx="8664249" cy="4163897"/>
          </a:xfrm>
          <a:prstGeom prst="rect">
            <a:avLst/>
          </a:prstGeom>
        </p:spPr>
      </p:pic>
    </p:spTree>
    <p:extLst>
      <p:ext uri="{BB962C8B-B14F-4D97-AF65-F5344CB8AC3E}">
        <p14:creationId xmlns:p14="http://schemas.microsoft.com/office/powerpoint/2010/main" val="242435484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9EE61-03EC-14D8-B770-0F201B789E5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B0CBADA-770D-EC20-0271-549DF1F77B90}"/>
              </a:ext>
            </a:extLst>
          </p:cNvPr>
          <p:cNvSpPr>
            <a:spLocks noGrp="1"/>
          </p:cNvSpPr>
          <p:nvPr>
            <p:ph type="title"/>
          </p:nvPr>
        </p:nvSpPr>
        <p:spPr>
          <a:xfrm>
            <a:off x="153761" y="-4265"/>
            <a:ext cx="11807907" cy="888817"/>
          </a:xfrm>
        </p:spPr>
        <p:txBody>
          <a:bodyPr>
            <a:normAutofit/>
          </a:bodyPr>
          <a:lstStyle/>
          <a:p>
            <a:r>
              <a:rPr lang="en-US">
                <a:latin typeface="Montserrat"/>
              </a:rPr>
              <a:t>Maintain Business Agreement in CRM</a:t>
            </a:r>
          </a:p>
        </p:txBody>
      </p:sp>
      <p:sp>
        <p:nvSpPr>
          <p:cNvPr id="6" name="TextBox 5">
            <a:extLst>
              <a:ext uri="{FF2B5EF4-FFF2-40B4-BE49-F238E27FC236}">
                <a16:creationId xmlns:a16="http://schemas.microsoft.com/office/drawing/2014/main" id="{0ACFE35A-CDD5-9670-24AF-ACD551C10004}"/>
              </a:ext>
            </a:extLst>
          </p:cNvPr>
          <p:cNvSpPr txBox="1"/>
          <p:nvPr/>
        </p:nvSpPr>
        <p:spPr>
          <a:xfrm>
            <a:off x="1993692" y="2308485"/>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ontserrat" pitchFamily="2" charset="77"/>
              <a:ea typeface="+mn-ea"/>
              <a:cs typeface="+mn-cs"/>
            </a:endParaRPr>
          </a:p>
        </p:txBody>
      </p:sp>
      <p:graphicFrame>
        <p:nvGraphicFramePr>
          <p:cNvPr id="13" name="Table 12">
            <a:extLst>
              <a:ext uri="{FF2B5EF4-FFF2-40B4-BE49-F238E27FC236}">
                <a16:creationId xmlns:a16="http://schemas.microsoft.com/office/drawing/2014/main" id="{B61EDA17-7699-90D7-E1B3-26463EB9025B}"/>
              </a:ext>
            </a:extLst>
          </p:cNvPr>
          <p:cNvGraphicFramePr>
            <a:graphicFrameLocks noGrp="1"/>
          </p:cNvGraphicFramePr>
          <p:nvPr>
            <p:extLst>
              <p:ext uri="{D42A27DB-BD31-4B8C-83A1-F6EECF244321}">
                <p14:modId xmlns:p14="http://schemas.microsoft.com/office/powerpoint/2010/main" val="2735486699"/>
              </p:ext>
            </p:extLst>
          </p:nvPr>
        </p:nvGraphicFramePr>
        <p:xfrm>
          <a:off x="152400" y="1103665"/>
          <a:ext cx="8489344" cy="4853940"/>
        </p:xfrm>
        <a:graphic>
          <a:graphicData uri="http://schemas.openxmlformats.org/drawingml/2006/table">
            <a:tbl>
              <a:tblPr firstRow="1" bandRow="1">
                <a:tableStyleId>{5C22544A-7EE6-4342-B048-85BDC9FD1C3A}</a:tableStyleId>
              </a:tblPr>
              <a:tblGrid>
                <a:gridCol w="2275840">
                  <a:extLst>
                    <a:ext uri="{9D8B030D-6E8A-4147-A177-3AD203B41FA5}">
                      <a16:colId xmlns:a16="http://schemas.microsoft.com/office/drawing/2014/main" val="4084044958"/>
                    </a:ext>
                  </a:extLst>
                </a:gridCol>
                <a:gridCol w="960637">
                  <a:extLst>
                    <a:ext uri="{9D8B030D-6E8A-4147-A177-3AD203B41FA5}">
                      <a16:colId xmlns:a16="http://schemas.microsoft.com/office/drawing/2014/main" val="3615934369"/>
                    </a:ext>
                  </a:extLst>
                </a:gridCol>
                <a:gridCol w="843431">
                  <a:extLst>
                    <a:ext uri="{9D8B030D-6E8A-4147-A177-3AD203B41FA5}">
                      <a16:colId xmlns:a16="http://schemas.microsoft.com/office/drawing/2014/main" val="73187036"/>
                    </a:ext>
                  </a:extLst>
                </a:gridCol>
                <a:gridCol w="2265679">
                  <a:extLst>
                    <a:ext uri="{9D8B030D-6E8A-4147-A177-3AD203B41FA5}">
                      <a16:colId xmlns:a16="http://schemas.microsoft.com/office/drawing/2014/main" val="2929055363"/>
                    </a:ext>
                  </a:extLst>
                </a:gridCol>
                <a:gridCol w="1036319">
                  <a:extLst>
                    <a:ext uri="{9D8B030D-6E8A-4147-A177-3AD203B41FA5}">
                      <a16:colId xmlns:a16="http://schemas.microsoft.com/office/drawing/2014/main" val="2386789796"/>
                    </a:ext>
                  </a:extLst>
                </a:gridCol>
                <a:gridCol w="1107438">
                  <a:extLst>
                    <a:ext uri="{9D8B030D-6E8A-4147-A177-3AD203B41FA5}">
                      <a16:colId xmlns:a16="http://schemas.microsoft.com/office/drawing/2014/main" val="2536028979"/>
                    </a:ext>
                  </a:extLst>
                </a:gridCol>
              </a:tblGrid>
              <a:tr h="222269">
                <a:tc>
                  <a:txBody>
                    <a:bodyPr/>
                    <a:lstStyle/>
                    <a:p>
                      <a:pPr algn="ctr"/>
                      <a:r>
                        <a:rPr lang="en-US" sz="1050"/>
                        <a:t>Field</a:t>
                      </a:r>
                    </a:p>
                  </a:txBody>
                  <a:tcPr anchor="ctr"/>
                </a:tc>
                <a:tc>
                  <a:txBody>
                    <a:bodyPr/>
                    <a:lstStyle/>
                    <a:p>
                      <a:pPr algn="ctr"/>
                      <a:r>
                        <a:rPr lang="en-US" sz="1050"/>
                        <a:t>Editable</a:t>
                      </a:r>
                    </a:p>
                  </a:txBody>
                  <a:tcPr anchor="ctr"/>
                </a:tc>
                <a:tc>
                  <a:txBody>
                    <a:bodyPr/>
                    <a:lstStyle/>
                    <a:p>
                      <a:pPr algn="ctr"/>
                      <a:r>
                        <a:rPr lang="en-US" sz="1050"/>
                        <a:t>Optional</a:t>
                      </a:r>
                    </a:p>
                  </a:txBody>
                  <a:tcPr anchor="ctr"/>
                </a:tc>
                <a:tc>
                  <a:txBody>
                    <a:bodyPr/>
                    <a:lstStyle/>
                    <a:p>
                      <a:pPr algn="ctr"/>
                      <a:r>
                        <a:rPr lang="en-US" sz="1050"/>
                        <a:t>Field</a:t>
                      </a:r>
                    </a:p>
                  </a:txBody>
                  <a:tcPr anchor="ctr"/>
                </a:tc>
                <a:tc>
                  <a:txBody>
                    <a:bodyPr/>
                    <a:lstStyle/>
                    <a:p>
                      <a:pPr algn="ctr"/>
                      <a:r>
                        <a:rPr lang="en-US" sz="1050"/>
                        <a:t>Editable</a:t>
                      </a:r>
                    </a:p>
                  </a:txBody>
                  <a:tcPr anchor="ctr"/>
                </a:tc>
                <a:tc>
                  <a:txBody>
                    <a:bodyPr/>
                    <a:lstStyle/>
                    <a:p>
                      <a:pPr algn="ctr"/>
                      <a:r>
                        <a:rPr lang="en-US" sz="1050"/>
                        <a:t>Optional</a:t>
                      </a:r>
                    </a:p>
                  </a:txBody>
                  <a:tcPr anchor="ctr"/>
                </a:tc>
                <a:extLst>
                  <a:ext uri="{0D108BD9-81ED-4DB2-BD59-A6C34878D82A}">
                    <a16:rowId xmlns:a16="http://schemas.microsoft.com/office/drawing/2014/main" val="4282288673"/>
                  </a:ext>
                </a:extLst>
              </a:tr>
              <a:tr h="222269">
                <a:tc>
                  <a:txBody>
                    <a:bodyPr/>
                    <a:lstStyle/>
                    <a:p>
                      <a:r>
                        <a:rPr lang="en-US" sz="1050"/>
                        <a:t>Business Agreement</a:t>
                      </a:r>
                    </a:p>
                  </a:txBody>
                  <a:tcPr/>
                </a:tc>
                <a:tc>
                  <a:txBody>
                    <a:bodyPr/>
                    <a:lstStyle/>
                    <a:p>
                      <a:pPr algn="ctr"/>
                      <a:endParaRPr lang="en-US" sz="1050"/>
                    </a:p>
                  </a:txBody>
                  <a:tcPr anchor="ctr"/>
                </a:tc>
                <a:tc>
                  <a:txBody>
                    <a:bodyPr/>
                    <a:lstStyle/>
                    <a:p>
                      <a:pPr algn="ctr"/>
                      <a:endParaRPr lang="en-US" sz="1050"/>
                    </a:p>
                  </a:txBody>
                  <a:tcPr anchor="ctr"/>
                </a:tc>
                <a:tc>
                  <a:txBody>
                    <a:bodyPr/>
                    <a:lstStyle/>
                    <a:p>
                      <a:pPr lvl="0">
                        <a:buNone/>
                      </a:pPr>
                      <a:r>
                        <a:rPr lang="en-US" sz="1050"/>
                        <a:t>No. Outsortings</a:t>
                      </a:r>
                    </a:p>
                  </a:txBody>
                  <a:tcPr/>
                </a:tc>
                <a:tc>
                  <a:txBody>
                    <a:bodyPr/>
                    <a:lstStyle/>
                    <a:p>
                      <a:pPr lvl="0" algn="ctr">
                        <a:buNone/>
                      </a:pPr>
                      <a:r>
                        <a:rPr lang="en-US" sz="1100" b="0" i="0" u="none" strike="noStrike" noProof="0">
                          <a:solidFill>
                            <a:srgbClr val="000000"/>
                          </a:solidFill>
                          <a:latin typeface="Aptos"/>
                        </a:rPr>
                        <a:t>X</a:t>
                      </a:r>
                      <a:endParaRPr lang="en-US"/>
                    </a:p>
                  </a:txBody>
                  <a:tcPr anchor="ctr"/>
                </a:tc>
                <a:tc>
                  <a:txBody>
                    <a:bodyPr/>
                    <a:lstStyle/>
                    <a:p>
                      <a:pPr lvl="0" algn="ctr">
                        <a:buNone/>
                      </a:pPr>
                      <a:r>
                        <a:rPr lang="en-US" sz="1050"/>
                        <a:t>X</a:t>
                      </a:r>
                    </a:p>
                  </a:txBody>
                  <a:tcPr anchor="ctr"/>
                </a:tc>
                <a:extLst>
                  <a:ext uri="{0D108BD9-81ED-4DB2-BD59-A6C34878D82A}">
                    <a16:rowId xmlns:a16="http://schemas.microsoft.com/office/drawing/2014/main" val="3849373528"/>
                  </a:ext>
                </a:extLst>
              </a:tr>
              <a:tr h="222269">
                <a:tc>
                  <a:txBody>
                    <a:bodyPr/>
                    <a:lstStyle/>
                    <a:p>
                      <a:pPr lvl="0">
                        <a:buNone/>
                      </a:pPr>
                      <a:r>
                        <a:rPr lang="en-US" sz="1050"/>
                        <a:t>Name</a:t>
                      </a:r>
                    </a:p>
                  </a:txBody>
                  <a:tcPr/>
                </a:tc>
                <a:tc>
                  <a:txBody>
                    <a:bodyPr/>
                    <a:lstStyle/>
                    <a:p>
                      <a:pPr lvl="0" algn="ctr">
                        <a:buNone/>
                      </a:pPr>
                      <a:r>
                        <a:rPr lang="en-US" sz="1100" b="0" i="0" u="none" strike="noStrike" noProof="0">
                          <a:solidFill>
                            <a:srgbClr val="000000"/>
                          </a:solidFill>
                          <a:latin typeface="Aptos"/>
                        </a:rPr>
                        <a:t>X</a:t>
                      </a:r>
                      <a:endParaRPr lang="en-US" sz="1050"/>
                    </a:p>
                  </a:txBody>
                  <a:tcPr anchor="ctr"/>
                </a:tc>
                <a:tc>
                  <a:txBody>
                    <a:bodyPr/>
                    <a:lstStyle/>
                    <a:p>
                      <a:pPr lvl="0" algn="ctr">
                        <a:buNone/>
                      </a:pPr>
                      <a:r>
                        <a:rPr lang="en-US" sz="1100" b="0" i="0" u="none" strike="noStrike" noProof="0">
                          <a:solidFill>
                            <a:srgbClr val="000000"/>
                          </a:solidFill>
                          <a:latin typeface="Aptos"/>
                        </a:rPr>
                        <a:t>X</a:t>
                      </a:r>
                      <a:endParaRPr lang="en-US"/>
                    </a:p>
                  </a:txBody>
                  <a:tcPr anchor="ctr"/>
                </a:tc>
                <a:tc>
                  <a:txBody>
                    <a:bodyPr/>
                    <a:lstStyle/>
                    <a:p>
                      <a:pPr lvl="0">
                        <a:buNone/>
                      </a:pPr>
                      <a:r>
                        <a:rPr lang="en-US" sz="1050"/>
                        <a:t>Correspondence Variant</a:t>
                      </a:r>
                    </a:p>
                  </a:txBody>
                  <a:tcPr/>
                </a:tc>
                <a:tc>
                  <a:txBody>
                    <a:bodyPr/>
                    <a:lstStyle/>
                    <a:p>
                      <a:pPr lvl="0" algn="ctr">
                        <a:buNone/>
                      </a:pPr>
                      <a:r>
                        <a:rPr lang="en-US" sz="1100" b="0" i="0" u="none" strike="noStrike" noProof="0">
                          <a:solidFill>
                            <a:srgbClr val="000000"/>
                          </a:solidFill>
                          <a:latin typeface="Aptos"/>
                        </a:rPr>
                        <a:t>X</a:t>
                      </a:r>
                      <a:endParaRPr lang="en-US"/>
                    </a:p>
                  </a:txBody>
                  <a:tcPr anchor="ctr"/>
                </a:tc>
                <a:tc>
                  <a:txBody>
                    <a:bodyPr/>
                    <a:lstStyle/>
                    <a:p>
                      <a:pPr lvl="0" algn="ctr">
                        <a:buNone/>
                      </a:pPr>
                      <a:r>
                        <a:rPr lang="en-US" sz="1050"/>
                        <a:t>X</a:t>
                      </a:r>
                    </a:p>
                  </a:txBody>
                  <a:tcPr anchor="ctr"/>
                </a:tc>
                <a:extLst>
                  <a:ext uri="{0D108BD9-81ED-4DB2-BD59-A6C34878D82A}">
                    <a16:rowId xmlns:a16="http://schemas.microsoft.com/office/drawing/2014/main" val="100861940"/>
                  </a:ext>
                </a:extLst>
              </a:tr>
              <a:tr h="222269">
                <a:tc>
                  <a:txBody>
                    <a:bodyPr/>
                    <a:lstStyle/>
                    <a:p>
                      <a:pPr lvl="0">
                        <a:buNone/>
                      </a:pPr>
                      <a:r>
                        <a:rPr lang="en-US" sz="1050" err="1"/>
                        <a:t>Descripti</a:t>
                      </a:r>
                      <a:r>
                        <a:rPr lang="en-US" sz="1050"/>
                        <a:t>on</a:t>
                      </a:r>
                    </a:p>
                  </a:txBody>
                  <a:tcPr/>
                </a:tc>
                <a:tc>
                  <a:txBody>
                    <a:bodyPr/>
                    <a:lstStyle/>
                    <a:p>
                      <a:pPr algn="ctr"/>
                      <a:r>
                        <a:rPr lang="en-US" sz="1050"/>
                        <a:t>X</a:t>
                      </a:r>
                    </a:p>
                  </a:txBody>
                  <a:tcPr anchor="ctr"/>
                </a:tc>
                <a:tc>
                  <a:txBody>
                    <a:bodyPr/>
                    <a:lstStyle/>
                    <a:p>
                      <a:pPr algn="ctr"/>
                      <a:r>
                        <a:rPr lang="en-US" sz="1050"/>
                        <a:t>X</a:t>
                      </a:r>
                    </a:p>
                  </a:txBody>
                  <a:tcPr anchor="ctr"/>
                </a:tc>
                <a:tc>
                  <a:txBody>
                    <a:bodyPr/>
                    <a:lstStyle/>
                    <a:p>
                      <a:pPr lvl="0">
                        <a:buNone/>
                      </a:pPr>
                      <a:r>
                        <a:rPr lang="en-US" sz="1050"/>
                        <a:t>Coll. Bill Account</a:t>
                      </a:r>
                      <a:endParaRPr lang="en-US"/>
                    </a:p>
                  </a:txBody>
                  <a:tcPr/>
                </a:tc>
                <a:tc>
                  <a:txBody>
                    <a:bodyPr/>
                    <a:lstStyle/>
                    <a:p>
                      <a:pPr lvl="0" algn="ctr">
                        <a:buNone/>
                      </a:pPr>
                      <a:endParaRPr lang="en-US" sz="1050"/>
                    </a:p>
                  </a:txBody>
                  <a:tcPr anchor="ctr"/>
                </a:tc>
                <a:tc>
                  <a:txBody>
                    <a:bodyPr/>
                    <a:lstStyle/>
                    <a:p>
                      <a:pPr lvl="0" algn="ctr">
                        <a:buNone/>
                      </a:pPr>
                      <a:endParaRPr lang="en-US" sz="1050"/>
                    </a:p>
                  </a:txBody>
                  <a:tcPr anchor="ctr"/>
                </a:tc>
                <a:extLst>
                  <a:ext uri="{0D108BD9-81ED-4DB2-BD59-A6C34878D82A}">
                    <a16:rowId xmlns:a16="http://schemas.microsoft.com/office/drawing/2014/main" val="3011119898"/>
                  </a:ext>
                </a:extLst>
              </a:tr>
              <a:tr h="222269">
                <a:tc>
                  <a:txBody>
                    <a:bodyPr/>
                    <a:lstStyle/>
                    <a:p>
                      <a:pPr lvl="0">
                        <a:buNone/>
                      </a:pPr>
                      <a:r>
                        <a:rPr lang="en-US" sz="1050"/>
                        <a:t>Business Agreement Class</a:t>
                      </a:r>
                    </a:p>
                  </a:txBody>
                  <a:tcPr/>
                </a:tc>
                <a:tc>
                  <a:txBody>
                    <a:bodyPr/>
                    <a:lstStyle/>
                    <a:p>
                      <a:pPr algn="ctr"/>
                      <a:endParaRPr lang="en-US" sz="1050"/>
                    </a:p>
                  </a:txBody>
                  <a:tcPr anchor="ctr"/>
                </a:tc>
                <a:tc>
                  <a:txBody>
                    <a:bodyPr/>
                    <a:lstStyle/>
                    <a:p>
                      <a:pPr algn="ctr"/>
                      <a:endParaRPr lang="en-US" sz="1050"/>
                    </a:p>
                  </a:txBody>
                  <a:tcPr anchor="ctr"/>
                </a:tc>
                <a:tc>
                  <a:txBody>
                    <a:bodyPr/>
                    <a:lstStyle/>
                    <a:p>
                      <a:pPr lvl="0">
                        <a:buNone/>
                      </a:pPr>
                      <a:r>
                        <a:rPr lang="en-US" sz="1050"/>
                        <a:t>Interest Key</a:t>
                      </a:r>
                      <a:endParaRPr lang="en-US"/>
                    </a:p>
                  </a:txBody>
                  <a:tcPr/>
                </a:tc>
                <a:tc>
                  <a:txBody>
                    <a:bodyPr/>
                    <a:lstStyle/>
                    <a:p>
                      <a:pPr lvl="0" algn="ctr">
                        <a:buNone/>
                      </a:pPr>
                      <a:endParaRPr lang="en-US" sz="1050"/>
                    </a:p>
                  </a:txBody>
                  <a:tcPr anchor="ctr"/>
                </a:tc>
                <a:tc>
                  <a:txBody>
                    <a:bodyPr/>
                    <a:lstStyle/>
                    <a:p>
                      <a:pPr lvl="0" algn="ctr">
                        <a:buNone/>
                      </a:pPr>
                      <a:endParaRPr lang="en-US" sz="1050"/>
                    </a:p>
                  </a:txBody>
                  <a:tcPr anchor="ctr"/>
                </a:tc>
                <a:extLst>
                  <a:ext uri="{0D108BD9-81ED-4DB2-BD59-A6C34878D82A}">
                    <a16:rowId xmlns:a16="http://schemas.microsoft.com/office/drawing/2014/main" val="2045713161"/>
                  </a:ext>
                </a:extLst>
              </a:tr>
              <a:tr h="244230">
                <a:tc>
                  <a:txBody>
                    <a:bodyPr/>
                    <a:lstStyle/>
                    <a:p>
                      <a:pPr lvl="0">
                        <a:buNone/>
                      </a:pPr>
                      <a:r>
                        <a:rPr lang="en-US" sz="1050"/>
                        <a:t>Account Class</a:t>
                      </a:r>
                    </a:p>
                  </a:txBody>
                  <a:tcPr/>
                </a:tc>
                <a:tc>
                  <a:txBody>
                    <a:bodyPr/>
                    <a:lstStyle/>
                    <a:p>
                      <a:pPr algn="ctr"/>
                      <a:endParaRPr lang="en-US" sz="1050"/>
                    </a:p>
                  </a:txBody>
                  <a:tcPr anchor="ctr"/>
                </a:tc>
                <a:tc>
                  <a:txBody>
                    <a:bodyPr/>
                    <a:lstStyle/>
                    <a:p>
                      <a:pPr algn="ctr"/>
                      <a:endParaRPr lang="en-US" sz="1050"/>
                    </a:p>
                  </a:txBody>
                  <a:tcPr anchor="ctr"/>
                </a:tc>
                <a:tc>
                  <a:txBody>
                    <a:bodyPr/>
                    <a:lstStyle/>
                    <a:p>
                      <a:pPr lvl="0">
                        <a:buNone/>
                      </a:pPr>
                      <a:r>
                        <a:rPr lang="en-US" sz="1050"/>
                        <a:t>Bill Consolidator</a:t>
                      </a:r>
                    </a:p>
                  </a:txBody>
                  <a:tcPr/>
                </a:tc>
                <a:tc>
                  <a:txBody>
                    <a:bodyPr/>
                    <a:lstStyle/>
                    <a:p>
                      <a:pPr lvl="0" algn="ctr">
                        <a:buNone/>
                      </a:pPr>
                      <a:r>
                        <a:rPr lang="en-US" sz="1050"/>
                        <a:t>X</a:t>
                      </a:r>
                    </a:p>
                  </a:txBody>
                  <a:tcPr anchor="ctr"/>
                </a:tc>
                <a:tc>
                  <a:txBody>
                    <a:bodyPr/>
                    <a:lstStyle/>
                    <a:p>
                      <a:pPr lvl="0" algn="ctr">
                        <a:buNone/>
                      </a:pPr>
                      <a:r>
                        <a:rPr lang="en-US" sz="1100" b="0" i="0" u="none" strike="noStrike" noProof="0">
                          <a:solidFill>
                            <a:srgbClr val="000000"/>
                          </a:solidFill>
                          <a:latin typeface="Aptos"/>
                        </a:rPr>
                        <a:t>X</a:t>
                      </a:r>
                      <a:endParaRPr lang="en-US"/>
                    </a:p>
                  </a:txBody>
                  <a:tcPr anchor="ctr"/>
                </a:tc>
                <a:extLst>
                  <a:ext uri="{0D108BD9-81ED-4DB2-BD59-A6C34878D82A}">
                    <a16:rowId xmlns:a16="http://schemas.microsoft.com/office/drawing/2014/main" val="3815704308"/>
                  </a:ext>
                </a:extLst>
              </a:tr>
              <a:tr h="222269">
                <a:tc>
                  <a:txBody>
                    <a:bodyPr/>
                    <a:lstStyle/>
                    <a:p>
                      <a:r>
                        <a:rPr lang="en-US" sz="1050"/>
                        <a:t>Payment Terms</a:t>
                      </a:r>
                    </a:p>
                  </a:txBody>
                  <a:tcPr/>
                </a:tc>
                <a:tc>
                  <a:txBody>
                    <a:bodyPr/>
                    <a:lstStyle/>
                    <a:p>
                      <a:pPr algn="ctr"/>
                      <a:r>
                        <a:rPr lang="en-US" sz="1050"/>
                        <a:t>X</a:t>
                      </a:r>
                    </a:p>
                  </a:txBody>
                  <a:tcPr anchor="ctr"/>
                </a:tc>
                <a:tc>
                  <a:txBody>
                    <a:bodyPr/>
                    <a:lstStyle/>
                    <a:p>
                      <a:pPr algn="ctr"/>
                      <a:r>
                        <a:rPr lang="en-US" sz="1050"/>
                        <a:t>X</a:t>
                      </a:r>
                    </a:p>
                  </a:txBody>
                  <a:tcPr anchor="ctr"/>
                </a:tc>
                <a:tc>
                  <a:txBody>
                    <a:bodyPr/>
                    <a:lstStyle/>
                    <a:p>
                      <a:pPr lvl="0">
                        <a:buNone/>
                      </a:pPr>
                      <a:r>
                        <a:rPr lang="en-US" sz="1050"/>
                        <a:t>Returned Bill</a:t>
                      </a:r>
                    </a:p>
                  </a:txBody>
                  <a:tcPr/>
                </a:tc>
                <a:tc>
                  <a:txBody>
                    <a:bodyPr/>
                    <a:lstStyle/>
                    <a:p>
                      <a:pPr lvl="0" algn="ctr">
                        <a:buNone/>
                      </a:pPr>
                      <a:r>
                        <a:rPr lang="en-US" sz="1050"/>
                        <a:t>X</a:t>
                      </a:r>
                    </a:p>
                  </a:txBody>
                  <a:tcPr anchor="ctr"/>
                </a:tc>
                <a:tc>
                  <a:txBody>
                    <a:bodyPr/>
                    <a:lstStyle/>
                    <a:p>
                      <a:pPr lvl="0" algn="ctr">
                        <a:buNone/>
                      </a:pPr>
                      <a:r>
                        <a:rPr lang="en-US" sz="1100" b="0" i="0" u="none" strike="noStrike" noProof="0">
                          <a:solidFill>
                            <a:srgbClr val="000000"/>
                          </a:solidFill>
                          <a:latin typeface="Aptos"/>
                        </a:rPr>
                        <a:t>X</a:t>
                      </a:r>
                      <a:endParaRPr lang="en-US"/>
                    </a:p>
                  </a:txBody>
                  <a:tcPr anchor="ctr"/>
                </a:tc>
                <a:extLst>
                  <a:ext uri="{0D108BD9-81ED-4DB2-BD59-A6C34878D82A}">
                    <a16:rowId xmlns:a16="http://schemas.microsoft.com/office/drawing/2014/main" val="2729228727"/>
                  </a:ext>
                </a:extLst>
              </a:tr>
              <a:tr h="222269">
                <a:tc>
                  <a:txBody>
                    <a:bodyPr/>
                    <a:lstStyle/>
                    <a:p>
                      <a:r>
                        <a:rPr lang="en-US" sz="1050"/>
                        <a:t>Account Determination ID</a:t>
                      </a:r>
                    </a:p>
                  </a:txBody>
                  <a:tcPr/>
                </a:tc>
                <a:tc>
                  <a:txBody>
                    <a:bodyPr/>
                    <a:lstStyle/>
                    <a:p>
                      <a:pPr algn="ctr"/>
                      <a:endParaRPr lang="en-US" sz="1050"/>
                    </a:p>
                  </a:txBody>
                  <a:tcPr anchor="ctr"/>
                </a:tc>
                <a:tc>
                  <a:txBody>
                    <a:bodyPr/>
                    <a:lstStyle/>
                    <a:p>
                      <a:pPr algn="ctr"/>
                      <a:endParaRPr lang="en-US" sz="1050"/>
                    </a:p>
                  </a:txBody>
                  <a:tcPr anchor="ctr"/>
                </a:tc>
                <a:tc>
                  <a:txBody>
                    <a:bodyPr/>
                    <a:lstStyle/>
                    <a:p>
                      <a:pPr lvl="0">
                        <a:buNone/>
                      </a:pPr>
                      <a:r>
                        <a:rPr lang="en-US" sz="1050"/>
                        <a:t>Returned Notice</a:t>
                      </a:r>
                    </a:p>
                  </a:txBody>
                  <a:tcPr/>
                </a:tc>
                <a:tc>
                  <a:txBody>
                    <a:bodyPr/>
                    <a:lstStyle/>
                    <a:p>
                      <a:pPr lvl="0" algn="ctr">
                        <a:buNone/>
                      </a:pPr>
                      <a:r>
                        <a:rPr lang="en-US" sz="1050"/>
                        <a:t>X</a:t>
                      </a:r>
                    </a:p>
                  </a:txBody>
                  <a:tcPr anchor="ctr"/>
                </a:tc>
                <a:tc>
                  <a:txBody>
                    <a:bodyPr/>
                    <a:lstStyle/>
                    <a:p>
                      <a:pPr lvl="0" algn="ctr">
                        <a:buNone/>
                      </a:pPr>
                      <a:r>
                        <a:rPr lang="en-US" sz="1100" b="0" i="0" u="none" strike="noStrike" noProof="0">
                          <a:solidFill>
                            <a:srgbClr val="000000"/>
                          </a:solidFill>
                          <a:latin typeface="Aptos"/>
                        </a:rPr>
                        <a:t>X</a:t>
                      </a:r>
                      <a:endParaRPr lang="en-US"/>
                    </a:p>
                  </a:txBody>
                  <a:tcPr anchor="ctr"/>
                </a:tc>
                <a:extLst>
                  <a:ext uri="{0D108BD9-81ED-4DB2-BD59-A6C34878D82A}">
                    <a16:rowId xmlns:a16="http://schemas.microsoft.com/office/drawing/2014/main" val="2316147996"/>
                  </a:ext>
                </a:extLst>
              </a:tr>
              <a:tr h="222269">
                <a:tc>
                  <a:txBody>
                    <a:bodyPr/>
                    <a:lstStyle/>
                    <a:p>
                      <a:r>
                        <a:rPr lang="en-US" sz="1050"/>
                        <a:t>Dunning Procedure</a:t>
                      </a:r>
                    </a:p>
                  </a:txBody>
                  <a:tcPr/>
                </a:tc>
                <a:tc>
                  <a:txBody>
                    <a:bodyPr/>
                    <a:lstStyle/>
                    <a:p>
                      <a:pPr algn="ctr"/>
                      <a:r>
                        <a:rPr lang="en-US" sz="1050"/>
                        <a:t>X</a:t>
                      </a:r>
                    </a:p>
                  </a:txBody>
                  <a:tcPr anchor="ctr"/>
                </a:tc>
                <a:tc>
                  <a:txBody>
                    <a:bodyPr/>
                    <a:lstStyle/>
                    <a:p>
                      <a:pPr algn="ctr"/>
                      <a:r>
                        <a:rPr lang="en-US" sz="1050"/>
                        <a:t>X</a:t>
                      </a:r>
                    </a:p>
                  </a:txBody>
                  <a:tcPr anchor="ctr"/>
                </a:tc>
                <a:tc>
                  <a:txBody>
                    <a:bodyPr/>
                    <a:lstStyle/>
                    <a:p>
                      <a:pPr lvl="0">
                        <a:buNone/>
                      </a:pPr>
                      <a:r>
                        <a:rPr lang="en-US" sz="1050"/>
                        <a:t>Returned Alt. Bill</a:t>
                      </a:r>
                    </a:p>
                  </a:txBody>
                  <a:tcPr/>
                </a:tc>
                <a:tc>
                  <a:txBody>
                    <a:bodyPr/>
                    <a:lstStyle/>
                    <a:p>
                      <a:pPr lvl="0" algn="ctr">
                        <a:buNone/>
                      </a:pPr>
                      <a:r>
                        <a:rPr lang="en-US" sz="1050"/>
                        <a:t>X</a:t>
                      </a:r>
                    </a:p>
                  </a:txBody>
                  <a:tcPr anchor="ctr"/>
                </a:tc>
                <a:tc>
                  <a:txBody>
                    <a:bodyPr/>
                    <a:lstStyle/>
                    <a:p>
                      <a:pPr lvl="0" algn="ctr">
                        <a:buNone/>
                      </a:pPr>
                      <a:r>
                        <a:rPr lang="en-US" sz="1050"/>
                        <a:t>X</a:t>
                      </a:r>
                      <a:endParaRPr lang="en-US"/>
                    </a:p>
                  </a:txBody>
                  <a:tcPr anchor="ctr"/>
                </a:tc>
                <a:extLst>
                  <a:ext uri="{0D108BD9-81ED-4DB2-BD59-A6C34878D82A}">
                    <a16:rowId xmlns:a16="http://schemas.microsoft.com/office/drawing/2014/main" val="3573349906"/>
                  </a:ext>
                </a:extLst>
              </a:tr>
              <a:tr h="222269">
                <a:tc>
                  <a:txBody>
                    <a:bodyPr/>
                    <a:lstStyle/>
                    <a:p>
                      <a:r>
                        <a:rPr lang="en-US" sz="1050"/>
                        <a:t>Incoming Payment Method</a:t>
                      </a:r>
                    </a:p>
                  </a:txBody>
                  <a:tcPr/>
                </a:tc>
                <a:tc>
                  <a:txBody>
                    <a:bodyPr/>
                    <a:lstStyle/>
                    <a:p>
                      <a:pPr lvl="0" algn="ctr">
                        <a:buNone/>
                      </a:pPr>
                      <a:r>
                        <a:rPr lang="en-US" sz="1100" b="0" i="0" u="none" strike="noStrike" noProof="0">
                          <a:solidFill>
                            <a:srgbClr val="000000"/>
                          </a:solidFill>
                          <a:latin typeface="Aptos"/>
                        </a:rPr>
                        <a:t>X</a:t>
                      </a:r>
                      <a:endParaRPr lang="en-US"/>
                    </a:p>
                  </a:txBody>
                  <a:tcPr anchor="ctr"/>
                </a:tc>
                <a:tc>
                  <a:txBody>
                    <a:bodyPr/>
                    <a:lstStyle/>
                    <a:p>
                      <a:pPr lvl="0" algn="ctr">
                        <a:buNone/>
                      </a:pPr>
                      <a:r>
                        <a:rPr lang="en-US" sz="1100" b="0" i="0" u="none" strike="noStrike" noProof="0">
                          <a:solidFill>
                            <a:srgbClr val="000000"/>
                          </a:solidFill>
                          <a:latin typeface="Aptos"/>
                        </a:rPr>
                        <a:t>X</a:t>
                      </a:r>
                      <a:endParaRPr lang="en-US"/>
                    </a:p>
                  </a:txBody>
                  <a:tcPr anchor="ctr"/>
                </a:tc>
                <a:tc>
                  <a:txBody>
                    <a:bodyPr/>
                    <a:lstStyle/>
                    <a:p>
                      <a:pPr lvl="0">
                        <a:buNone/>
                      </a:pPr>
                      <a:r>
                        <a:rPr lang="en-US" sz="1050"/>
                        <a:t>Returned Alt. Notice</a:t>
                      </a:r>
                    </a:p>
                  </a:txBody>
                  <a:tcPr/>
                </a:tc>
                <a:tc>
                  <a:txBody>
                    <a:bodyPr/>
                    <a:lstStyle/>
                    <a:p>
                      <a:pPr lvl="0" algn="ctr">
                        <a:buNone/>
                      </a:pPr>
                      <a:r>
                        <a:rPr lang="en-US" sz="1050"/>
                        <a:t>X</a:t>
                      </a:r>
                    </a:p>
                  </a:txBody>
                  <a:tcPr anchor="ctr"/>
                </a:tc>
                <a:tc>
                  <a:txBody>
                    <a:bodyPr/>
                    <a:lstStyle/>
                    <a:p>
                      <a:pPr lvl="0" algn="ctr">
                        <a:buNone/>
                      </a:pPr>
                      <a:r>
                        <a:rPr lang="en-US" sz="1050"/>
                        <a:t>X</a:t>
                      </a:r>
                    </a:p>
                  </a:txBody>
                  <a:tcPr anchor="ctr"/>
                </a:tc>
                <a:extLst>
                  <a:ext uri="{0D108BD9-81ED-4DB2-BD59-A6C34878D82A}">
                    <a16:rowId xmlns:a16="http://schemas.microsoft.com/office/drawing/2014/main" val="2970660839"/>
                  </a:ext>
                </a:extLst>
              </a:tr>
              <a:tr h="222269">
                <a:tc>
                  <a:txBody>
                    <a:bodyPr/>
                    <a:lstStyle/>
                    <a:p>
                      <a:r>
                        <a:rPr lang="en-US" sz="1050"/>
                        <a:t>Alternate Bill Recipient</a:t>
                      </a:r>
                    </a:p>
                  </a:txBody>
                  <a:tcPr/>
                </a:tc>
                <a:tc>
                  <a:txBody>
                    <a:bodyPr/>
                    <a:lstStyle/>
                    <a:p>
                      <a:pPr algn="ctr"/>
                      <a:r>
                        <a:rPr lang="en-US" sz="1050"/>
                        <a:t>X</a:t>
                      </a:r>
                    </a:p>
                  </a:txBody>
                  <a:tcPr anchor="ctr"/>
                </a:tc>
                <a:tc>
                  <a:txBody>
                    <a:bodyPr/>
                    <a:lstStyle/>
                    <a:p>
                      <a:pPr algn="ctr"/>
                      <a:r>
                        <a:rPr lang="en-US" sz="1050"/>
                        <a:t>X</a:t>
                      </a:r>
                    </a:p>
                  </a:txBody>
                  <a:tcPr anchor="ctr"/>
                </a:tc>
                <a:tc>
                  <a:txBody>
                    <a:bodyPr/>
                    <a:lstStyle/>
                    <a:p>
                      <a:pPr lvl="0">
                        <a:buNone/>
                      </a:pPr>
                      <a:r>
                        <a:rPr lang="en-US" sz="1050" b="1"/>
                        <a:t>Biller Direct Event Control</a:t>
                      </a:r>
                      <a:endParaRPr lang="en-US" b="1"/>
                    </a:p>
                  </a:txBody>
                  <a:tcPr/>
                </a:tc>
                <a:tc>
                  <a:txBody>
                    <a:bodyPr/>
                    <a:lstStyle/>
                    <a:p>
                      <a:pPr lvl="0" algn="ctr">
                        <a:buNone/>
                      </a:pPr>
                      <a:endParaRPr lang="en-US" sz="1050"/>
                    </a:p>
                  </a:txBody>
                  <a:tcPr anchor="ctr"/>
                </a:tc>
                <a:tc>
                  <a:txBody>
                    <a:bodyPr/>
                    <a:lstStyle/>
                    <a:p>
                      <a:pPr lvl="0" algn="ctr">
                        <a:buNone/>
                      </a:pPr>
                      <a:endParaRPr lang="en-US" sz="1050"/>
                    </a:p>
                  </a:txBody>
                  <a:tcPr anchor="ctr"/>
                </a:tc>
                <a:extLst>
                  <a:ext uri="{0D108BD9-81ED-4DB2-BD59-A6C34878D82A}">
                    <a16:rowId xmlns:a16="http://schemas.microsoft.com/office/drawing/2014/main" val="385980212"/>
                  </a:ext>
                </a:extLst>
              </a:tr>
              <a:tr h="222269">
                <a:tc>
                  <a:txBody>
                    <a:bodyPr/>
                    <a:lstStyle/>
                    <a:p>
                      <a:pPr lvl="0">
                        <a:buNone/>
                      </a:pPr>
                      <a:r>
                        <a:rPr lang="en-US" sz="1050"/>
                        <a:t>Alternate Recipient Address</a:t>
                      </a:r>
                    </a:p>
                  </a:txBody>
                  <a:tcPr/>
                </a:tc>
                <a:tc>
                  <a:txBody>
                    <a:bodyPr/>
                    <a:lstStyle/>
                    <a:p>
                      <a:pPr algn="ctr"/>
                      <a:endParaRPr lang="en-US" sz="1050"/>
                    </a:p>
                  </a:txBody>
                  <a:tcPr anchor="ctr"/>
                </a:tc>
                <a:tc>
                  <a:txBody>
                    <a:bodyPr/>
                    <a:lstStyle/>
                    <a:p>
                      <a:pPr algn="ctr"/>
                      <a:endParaRPr lang="en-US" sz="1050"/>
                    </a:p>
                  </a:txBody>
                  <a:tcPr anchor="ctr"/>
                </a:tc>
                <a:tc>
                  <a:txBody>
                    <a:bodyPr/>
                    <a:lstStyle/>
                    <a:p>
                      <a:pPr lvl="0">
                        <a:buNone/>
                      </a:pPr>
                      <a:r>
                        <a:rPr lang="en-US" sz="1050"/>
                        <a:t>     Bill</a:t>
                      </a:r>
                    </a:p>
                  </a:txBody>
                  <a:tcPr/>
                </a:tc>
                <a:tc>
                  <a:txBody>
                    <a:bodyPr/>
                    <a:lstStyle/>
                    <a:p>
                      <a:pPr lvl="0" algn="ctr">
                        <a:buNone/>
                      </a:pPr>
                      <a:endParaRPr lang="en-US" sz="1050"/>
                    </a:p>
                  </a:txBody>
                  <a:tcPr anchor="ctr"/>
                </a:tc>
                <a:tc>
                  <a:txBody>
                    <a:bodyPr/>
                    <a:lstStyle/>
                    <a:p>
                      <a:pPr lvl="0" algn="ctr">
                        <a:buNone/>
                      </a:pPr>
                      <a:endParaRPr lang="en-US" sz="1050"/>
                    </a:p>
                  </a:txBody>
                  <a:tcPr anchor="ctr"/>
                </a:tc>
                <a:extLst>
                  <a:ext uri="{0D108BD9-81ED-4DB2-BD59-A6C34878D82A}">
                    <a16:rowId xmlns:a16="http://schemas.microsoft.com/office/drawing/2014/main" val="3242324598"/>
                  </a:ext>
                </a:extLst>
              </a:tr>
              <a:tr h="238835">
                <a:tc>
                  <a:txBody>
                    <a:bodyPr/>
                    <a:lstStyle/>
                    <a:p>
                      <a:pPr lvl="0">
                        <a:buNone/>
                      </a:pPr>
                      <a:r>
                        <a:rPr lang="en-US" sz="1050"/>
                        <a:t>Additional Bill</a:t>
                      </a:r>
                    </a:p>
                  </a:txBody>
                  <a:tcP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buNone/>
                      </a:pPr>
                      <a:r>
                        <a:rPr lang="en-US" sz="1050"/>
                        <a:t>     Credit Memo</a:t>
                      </a:r>
                    </a:p>
                  </a:txBody>
                  <a:tcPr/>
                </a:tc>
                <a:tc>
                  <a:txBody>
                    <a:bodyPr/>
                    <a:lstStyle/>
                    <a:p>
                      <a:pPr lvl="0" algn="ctr">
                        <a:buNone/>
                      </a:pPr>
                      <a:endParaRPr lang="en-US" sz="1050"/>
                    </a:p>
                  </a:txBody>
                  <a:tcPr anchor="ctr"/>
                </a:tc>
                <a:tc>
                  <a:txBody>
                    <a:bodyPr/>
                    <a:lstStyle/>
                    <a:p>
                      <a:pPr lvl="0" algn="ctr">
                        <a:buNone/>
                      </a:pPr>
                      <a:endParaRPr lang="en-US" sz="1050"/>
                    </a:p>
                  </a:txBody>
                  <a:tcPr anchor="ctr"/>
                </a:tc>
                <a:extLst>
                  <a:ext uri="{0D108BD9-81ED-4DB2-BD59-A6C34878D82A}">
                    <a16:rowId xmlns:a16="http://schemas.microsoft.com/office/drawing/2014/main" val="1505038496"/>
                  </a:ext>
                </a:extLst>
              </a:tr>
              <a:tr h="222269">
                <a:tc>
                  <a:txBody>
                    <a:bodyPr/>
                    <a:lstStyle/>
                    <a:p>
                      <a:pPr lvl="0">
                        <a:buNone/>
                      </a:pPr>
                      <a:r>
                        <a:rPr lang="en-US" sz="1050"/>
                        <a:t>Alternative Payer</a:t>
                      </a:r>
                    </a:p>
                  </a:txBody>
                  <a:tcP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buNone/>
                      </a:pPr>
                      <a:r>
                        <a:rPr lang="en-US" sz="1050" b="1"/>
                        <a:t>Returned Mail Controls</a:t>
                      </a:r>
                    </a:p>
                  </a:txBody>
                  <a:tcPr/>
                </a:tc>
                <a:tc>
                  <a:txBody>
                    <a:bodyPr/>
                    <a:lstStyle/>
                    <a:p>
                      <a:pPr lvl="0" algn="ctr">
                        <a:buNone/>
                      </a:pPr>
                      <a:endParaRPr lang="en-US" sz="1050"/>
                    </a:p>
                  </a:txBody>
                  <a:tcPr anchor="ctr"/>
                </a:tc>
                <a:tc>
                  <a:txBody>
                    <a:bodyPr/>
                    <a:lstStyle/>
                    <a:p>
                      <a:pPr lvl="0" algn="ctr">
                        <a:buNone/>
                      </a:pPr>
                      <a:endParaRPr lang="en-US" sz="1050"/>
                    </a:p>
                  </a:txBody>
                  <a:tcPr anchor="ctr"/>
                </a:tc>
                <a:extLst>
                  <a:ext uri="{0D108BD9-81ED-4DB2-BD59-A6C34878D82A}">
                    <a16:rowId xmlns:a16="http://schemas.microsoft.com/office/drawing/2014/main" val="1404798835"/>
                  </a:ext>
                </a:extLst>
              </a:tr>
              <a:tr h="222269">
                <a:tc>
                  <a:txBody>
                    <a:bodyPr/>
                    <a:lstStyle/>
                    <a:p>
                      <a:pPr lvl="0">
                        <a:buNone/>
                      </a:pPr>
                      <a:r>
                        <a:rPr lang="en-US" sz="1050"/>
                        <a:t>Alternate Dunning Recipient</a:t>
                      </a:r>
                    </a:p>
                  </a:txBody>
                  <a:tcP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buNone/>
                      </a:pPr>
                      <a:r>
                        <a:rPr lang="en-US" sz="1050"/>
                        <a:t>     SMS</a:t>
                      </a:r>
                    </a:p>
                  </a:txBody>
                  <a:tcPr/>
                </a:tc>
                <a:tc>
                  <a:txBody>
                    <a:bodyPr/>
                    <a:lstStyle/>
                    <a:p>
                      <a:pPr lvl="0" algn="ctr">
                        <a:buNone/>
                      </a:pPr>
                      <a:endParaRPr lang="en-US" sz="1050"/>
                    </a:p>
                  </a:txBody>
                  <a:tcPr anchor="ctr"/>
                </a:tc>
                <a:tc>
                  <a:txBody>
                    <a:bodyPr/>
                    <a:lstStyle/>
                    <a:p>
                      <a:pPr lvl="0" algn="ctr">
                        <a:buNone/>
                      </a:pPr>
                      <a:endParaRPr lang="en-US" sz="1050"/>
                    </a:p>
                  </a:txBody>
                  <a:tcPr anchor="ctr"/>
                </a:tc>
                <a:extLst>
                  <a:ext uri="{0D108BD9-81ED-4DB2-BD59-A6C34878D82A}">
                    <a16:rowId xmlns:a16="http://schemas.microsoft.com/office/drawing/2014/main" val="438671675"/>
                  </a:ext>
                </a:extLst>
              </a:tr>
              <a:tr h="238144">
                <a:tc>
                  <a:txBody>
                    <a:bodyPr/>
                    <a:lstStyle/>
                    <a:p>
                      <a:pPr lvl="0">
                        <a:buNone/>
                      </a:pPr>
                      <a:r>
                        <a:rPr lang="en-US" sz="1050"/>
                        <a:t>Address</a:t>
                      </a:r>
                    </a:p>
                  </a:txBody>
                  <a:tcPr/>
                </a:tc>
                <a:tc>
                  <a:txBody>
                    <a:bodyPr/>
                    <a:lstStyle/>
                    <a:p>
                      <a:pPr lvl="0" algn="ctr">
                        <a:buNone/>
                      </a:pPr>
                      <a:r>
                        <a:rPr lang="en-US" sz="1050"/>
                        <a:t>X</a:t>
                      </a:r>
                    </a:p>
                  </a:txBody>
                  <a:tcPr anchor="ctr"/>
                </a:tc>
                <a:tc>
                  <a:txBody>
                    <a:bodyPr/>
                    <a:lstStyle/>
                    <a:p>
                      <a:pPr lvl="0" algn="ctr">
                        <a:buNone/>
                      </a:pPr>
                      <a:r>
                        <a:rPr lang="en-US" sz="1050"/>
                        <a:t>X</a:t>
                      </a:r>
                    </a:p>
                  </a:txBody>
                  <a:tcPr anchor="ctr"/>
                </a:tc>
                <a:tc>
                  <a:txBody>
                    <a:bodyPr/>
                    <a:lstStyle/>
                    <a:p>
                      <a:pPr lvl="0">
                        <a:buNone/>
                      </a:pPr>
                      <a:r>
                        <a:rPr lang="en-US" sz="1100" b="0" i="0" u="none" strike="noStrike" noProof="0">
                          <a:solidFill>
                            <a:srgbClr val="000000"/>
                          </a:solidFill>
                          <a:latin typeface="Aptos"/>
                        </a:rPr>
                        <a:t>     </a:t>
                      </a:r>
                      <a:r>
                        <a:rPr lang="en-US" sz="1100" b="0" i="0" u="none" strike="noStrike" noProof="0" err="1">
                          <a:solidFill>
                            <a:srgbClr val="000000"/>
                          </a:solidFill>
                          <a:latin typeface="Aptos"/>
                        </a:rPr>
                        <a:t>EMail</a:t>
                      </a:r>
                    </a:p>
                  </a:txBody>
                  <a:tcPr/>
                </a:tc>
                <a:tc>
                  <a:txBody>
                    <a:bodyPr/>
                    <a:lstStyle/>
                    <a:p>
                      <a:pPr lvl="0" algn="ctr">
                        <a:buNone/>
                      </a:pPr>
                      <a:endParaRPr lang="en-US" sz="1050"/>
                    </a:p>
                  </a:txBody>
                  <a:tcPr anchor="ctr"/>
                </a:tc>
                <a:tc>
                  <a:txBody>
                    <a:bodyPr/>
                    <a:lstStyle/>
                    <a:p>
                      <a:pPr lvl="0" algn="ctr">
                        <a:buNone/>
                      </a:pPr>
                      <a:endParaRPr lang="en-US" sz="1050"/>
                    </a:p>
                  </a:txBody>
                  <a:tcPr anchor="ctr"/>
                </a:tc>
                <a:extLst>
                  <a:ext uri="{0D108BD9-81ED-4DB2-BD59-A6C34878D82A}">
                    <a16:rowId xmlns:a16="http://schemas.microsoft.com/office/drawing/2014/main" val="2634731640"/>
                  </a:ext>
                </a:extLst>
              </a:tr>
              <a:tr h="238143">
                <a:tc>
                  <a:txBody>
                    <a:bodyPr/>
                    <a:lstStyle/>
                    <a:p>
                      <a:pPr lvl="0">
                        <a:buNone/>
                      </a:pPr>
                      <a:r>
                        <a:rPr lang="en-US" sz="1050"/>
                        <a:t>Legacy Account</a:t>
                      </a:r>
                    </a:p>
                  </a:txBody>
                  <a:tcP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buNone/>
                      </a:pPr>
                      <a:r>
                        <a:rPr lang="en-US" sz="1100" b="0" i="0" u="none" strike="noStrike" noProof="0">
                          <a:solidFill>
                            <a:srgbClr val="000000"/>
                          </a:solidFill>
                          <a:latin typeface="Aptos"/>
                        </a:rPr>
                        <a:t>     Paper Bill</a:t>
                      </a:r>
                    </a:p>
                  </a:txBody>
                  <a:tcPr/>
                </a:tc>
                <a:tc>
                  <a:txBody>
                    <a:bodyPr/>
                    <a:lstStyle/>
                    <a:p>
                      <a:pPr lvl="0" algn="ctr">
                        <a:buNone/>
                      </a:pPr>
                      <a:endParaRPr lang="en-US" sz="1050"/>
                    </a:p>
                  </a:txBody>
                  <a:tcPr anchor="ctr"/>
                </a:tc>
                <a:tc>
                  <a:txBody>
                    <a:bodyPr/>
                    <a:lstStyle/>
                    <a:p>
                      <a:pPr lvl="0" algn="ctr">
                        <a:buNone/>
                      </a:pPr>
                      <a:endParaRPr lang="en-US" sz="1050"/>
                    </a:p>
                  </a:txBody>
                  <a:tcPr anchor="ctr"/>
                </a:tc>
                <a:extLst>
                  <a:ext uri="{0D108BD9-81ED-4DB2-BD59-A6C34878D82A}">
                    <a16:rowId xmlns:a16="http://schemas.microsoft.com/office/drawing/2014/main" val="132371486"/>
                  </a:ext>
                </a:extLst>
              </a:tr>
              <a:tr h="238142">
                <a:tc>
                  <a:txBody>
                    <a:bodyPr/>
                    <a:lstStyle/>
                    <a:p>
                      <a:pPr lvl="0">
                        <a:buNone/>
                      </a:pPr>
                      <a:r>
                        <a:rPr lang="en-US" sz="1100" b="0" i="0" u="none" strike="noStrike" noProof="0" err="1">
                          <a:solidFill>
                            <a:srgbClr val="000000"/>
                          </a:solidFill>
                          <a:latin typeface="Aptos"/>
                        </a:rPr>
                        <a:t>Outsort</a:t>
                      </a:r>
                      <a:r>
                        <a:rPr lang="en-US" sz="1100" b="0" i="0" u="none" strike="noStrike" noProof="0">
                          <a:solidFill>
                            <a:srgbClr val="000000"/>
                          </a:solidFill>
                          <a:latin typeface="Aptos"/>
                        </a:rPr>
                        <a:t> Check Group</a:t>
                      </a:r>
                      <a:endParaRPr lang="en-US"/>
                    </a:p>
                  </a:txBody>
                  <a:tcPr/>
                </a:tc>
                <a:tc>
                  <a:txBody>
                    <a:bodyPr/>
                    <a:lstStyle/>
                    <a:p>
                      <a:pPr lvl="0" algn="ctr">
                        <a:buNone/>
                      </a:pPr>
                      <a:r>
                        <a:rPr lang="en-US" sz="1050"/>
                        <a:t>X</a:t>
                      </a:r>
                    </a:p>
                  </a:txBody>
                  <a:tcPr anchor="ctr"/>
                </a:tc>
                <a:tc>
                  <a:txBody>
                    <a:bodyPr/>
                    <a:lstStyle/>
                    <a:p>
                      <a:pPr lvl="0" algn="ctr">
                        <a:buNone/>
                      </a:pPr>
                      <a:r>
                        <a:rPr lang="en-US" sz="1050"/>
                        <a:t>X</a:t>
                      </a:r>
                    </a:p>
                  </a:txBody>
                  <a:tcPr anchor="ctr"/>
                </a:tc>
                <a:tc>
                  <a:txBody>
                    <a:bodyPr/>
                    <a:lstStyle/>
                    <a:p>
                      <a:pPr lvl="0">
                        <a:buNone/>
                      </a:pPr>
                      <a:endParaRPr lang="en-US" sz="1100" b="0" i="0" u="none" strike="noStrike" noProof="0">
                        <a:solidFill>
                          <a:srgbClr val="000000"/>
                        </a:solidFill>
                        <a:latin typeface="Aptos"/>
                      </a:endParaRPr>
                    </a:p>
                  </a:txBody>
                  <a:tcPr/>
                </a:tc>
                <a:tc>
                  <a:txBody>
                    <a:bodyPr/>
                    <a:lstStyle/>
                    <a:p>
                      <a:pPr lvl="0" algn="ctr">
                        <a:buNone/>
                      </a:pPr>
                      <a:endParaRPr lang="en-US" sz="1050"/>
                    </a:p>
                  </a:txBody>
                  <a:tcPr anchor="ctr"/>
                </a:tc>
                <a:tc>
                  <a:txBody>
                    <a:bodyPr/>
                    <a:lstStyle/>
                    <a:p>
                      <a:pPr lvl="0" algn="ctr">
                        <a:buNone/>
                      </a:pPr>
                      <a:endParaRPr lang="en-US" sz="1050"/>
                    </a:p>
                  </a:txBody>
                  <a:tcPr anchor="ctr"/>
                </a:tc>
                <a:extLst>
                  <a:ext uri="{0D108BD9-81ED-4DB2-BD59-A6C34878D82A}">
                    <a16:rowId xmlns:a16="http://schemas.microsoft.com/office/drawing/2014/main" val="4254770380"/>
                  </a:ext>
                </a:extLst>
              </a:tr>
              <a:tr h="238142">
                <a:tc>
                  <a:txBody>
                    <a:bodyPr/>
                    <a:lstStyle/>
                    <a:p>
                      <a:pPr lvl="0">
                        <a:buNone/>
                      </a:pPr>
                      <a:r>
                        <a:rPr lang="en-US" sz="1100" b="0" i="0" u="none" strike="noStrike" noProof="0">
                          <a:solidFill>
                            <a:srgbClr val="000000"/>
                          </a:solidFill>
                          <a:latin typeface="Aptos"/>
                        </a:rPr>
                        <a:t>Manual OS Invoice</a:t>
                      </a:r>
                    </a:p>
                  </a:txBody>
                  <a:tcPr/>
                </a:tc>
                <a:tc>
                  <a:txBody>
                    <a:bodyPr/>
                    <a:lstStyle/>
                    <a:p>
                      <a:pPr lvl="0" algn="ctr">
                        <a:buNone/>
                      </a:pPr>
                      <a:r>
                        <a:rPr lang="en-US" sz="1050"/>
                        <a:t>X</a:t>
                      </a:r>
                    </a:p>
                  </a:txBody>
                  <a:tcPr anchor="ctr"/>
                </a:tc>
                <a:tc>
                  <a:txBody>
                    <a:bodyPr/>
                    <a:lstStyle/>
                    <a:p>
                      <a:pPr lvl="0" algn="ctr">
                        <a:buNone/>
                      </a:pPr>
                      <a:r>
                        <a:rPr lang="en-US" sz="1050"/>
                        <a:t>X</a:t>
                      </a:r>
                    </a:p>
                  </a:txBody>
                  <a:tcPr anchor="ctr"/>
                </a:tc>
                <a:tc>
                  <a:txBody>
                    <a:bodyPr/>
                    <a:lstStyle/>
                    <a:p>
                      <a:pPr lvl="0">
                        <a:buNone/>
                      </a:pPr>
                      <a:endParaRPr lang="en-US" sz="1100" b="0" i="0" u="none" strike="noStrike" noProof="0">
                        <a:solidFill>
                          <a:srgbClr val="000000"/>
                        </a:solidFill>
                        <a:latin typeface="Aptos"/>
                      </a:endParaRPr>
                    </a:p>
                  </a:txBody>
                  <a:tcPr/>
                </a:tc>
                <a:tc>
                  <a:txBody>
                    <a:bodyPr/>
                    <a:lstStyle/>
                    <a:p>
                      <a:pPr lvl="0" algn="ctr">
                        <a:buNone/>
                      </a:pPr>
                      <a:endParaRPr lang="en-US" sz="1050"/>
                    </a:p>
                  </a:txBody>
                  <a:tcPr anchor="ctr"/>
                </a:tc>
                <a:tc>
                  <a:txBody>
                    <a:bodyPr/>
                    <a:lstStyle/>
                    <a:p>
                      <a:pPr lvl="0" algn="ctr">
                        <a:buNone/>
                      </a:pPr>
                      <a:endParaRPr lang="en-US" sz="1050"/>
                    </a:p>
                  </a:txBody>
                  <a:tcPr anchor="ctr"/>
                </a:tc>
                <a:extLst>
                  <a:ext uri="{0D108BD9-81ED-4DB2-BD59-A6C34878D82A}">
                    <a16:rowId xmlns:a16="http://schemas.microsoft.com/office/drawing/2014/main" val="144362750"/>
                  </a:ext>
                </a:extLst>
              </a:tr>
            </a:tbl>
          </a:graphicData>
        </a:graphic>
      </p:graphicFrame>
      <p:sp>
        <p:nvSpPr>
          <p:cNvPr id="5" name="TextBox 4">
            <a:extLst>
              <a:ext uri="{FF2B5EF4-FFF2-40B4-BE49-F238E27FC236}">
                <a16:creationId xmlns:a16="http://schemas.microsoft.com/office/drawing/2014/main" id="{3B1AAC2F-5387-FA89-C7B0-7AF7B842C0EC}"/>
              </a:ext>
            </a:extLst>
          </p:cNvPr>
          <p:cNvSpPr txBox="1"/>
          <p:nvPr/>
        </p:nvSpPr>
        <p:spPr>
          <a:xfrm>
            <a:off x="8751409" y="1375095"/>
            <a:ext cx="2180235"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FRICE-W "</a:t>
            </a:r>
            <a:r>
              <a:rPr lang="en-US" b="1"/>
              <a:t>Contract Account Field  Enhancements</a:t>
            </a:r>
            <a:r>
              <a:rPr lang="en-US"/>
              <a:t>" will cover any custom fields that are needed to be extended.</a:t>
            </a:r>
          </a:p>
        </p:txBody>
      </p:sp>
    </p:spTree>
    <p:extLst>
      <p:ext uri="{BB962C8B-B14F-4D97-AF65-F5344CB8AC3E}">
        <p14:creationId xmlns:p14="http://schemas.microsoft.com/office/powerpoint/2010/main" val="38936909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A47F9-211F-8A63-F00E-8E2896E01BF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5EB5502-CEF9-3F67-17B9-8851A151D96B}"/>
              </a:ext>
            </a:extLst>
          </p:cNvPr>
          <p:cNvSpPr>
            <a:spLocks noGrp="1"/>
          </p:cNvSpPr>
          <p:nvPr>
            <p:ph type="title"/>
          </p:nvPr>
        </p:nvSpPr>
        <p:spPr>
          <a:xfrm>
            <a:off x="-698" y="150194"/>
            <a:ext cx="11807907" cy="888817"/>
          </a:xfrm>
        </p:spPr>
        <p:txBody>
          <a:bodyPr>
            <a:normAutofit fontScale="90000"/>
          </a:bodyPr>
          <a:lstStyle/>
          <a:p>
            <a:r>
              <a:rPr lang="en-US">
                <a:latin typeface="Montserrat"/>
              </a:rPr>
              <a:t>Maintain Individual Customer in Service Cloud v2</a:t>
            </a:r>
          </a:p>
        </p:txBody>
      </p:sp>
      <p:sp>
        <p:nvSpPr>
          <p:cNvPr id="8" name="TextBox 7">
            <a:extLst>
              <a:ext uri="{FF2B5EF4-FFF2-40B4-BE49-F238E27FC236}">
                <a16:creationId xmlns:a16="http://schemas.microsoft.com/office/drawing/2014/main" id="{FC8D6EB3-FC92-B5DF-538B-B0FB04E58EA3}"/>
              </a:ext>
            </a:extLst>
          </p:cNvPr>
          <p:cNvSpPr txBox="1"/>
          <p:nvPr/>
        </p:nvSpPr>
        <p:spPr>
          <a:xfrm>
            <a:off x="9575275" y="1871382"/>
            <a:ext cx="2619631"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Users can maintain individual customer details like: </a:t>
            </a:r>
          </a:p>
          <a:p>
            <a:pPr marL="285750" indent="-285750">
              <a:buFont typeface="Calibri"/>
              <a:buChar char="-"/>
            </a:pPr>
            <a:r>
              <a:rPr lang="en-US"/>
              <a:t>General Information</a:t>
            </a:r>
          </a:p>
          <a:p>
            <a:pPr marL="285750" indent="-285750">
              <a:buFont typeface="Calibri"/>
              <a:buChar char="-"/>
            </a:pPr>
            <a:r>
              <a:rPr lang="en-US"/>
              <a:t>Communication Details</a:t>
            </a:r>
          </a:p>
          <a:p>
            <a:pPr marL="285750" indent="-285750">
              <a:buFont typeface="Calibri"/>
              <a:buChar char="-"/>
            </a:pPr>
            <a:r>
              <a:rPr lang="en-US"/>
              <a:t>Account Team</a:t>
            </a:r>
          </a:p>
          <a:p>
            <a:pPr marL="285750" indent="-285750">
              <a:buFont typeface="Calibri"/>
              <a:buChar char="-"/>
            </a:pPr>
            <a:r>
              <a:rPr lang="en-US"/>
              <a:t>Relationships</a:t>
            </a:r>
          </a:p>
          <a:p>
            <a:pPr marL="285750" indent="-285750">
              <a:buFont typeface="Calibri"/>
              <a:buChar char="-"/>
            </a:pPr>
            <a:r>
              <a:rPr lang="en-US"/>
              <a:t>Id Types</a:t>
            </a:r>
          </a:p>
          <a:p>
            <a:pPr marL="285750" indent="-285750">
              <a:buFont typeface="Calibri"/>
              <a:buChar char="-"/>
            </a:pPr>
            <a:r>
              <a:rPr lang="en-US"/>
              <a:t>Addresses</a:t>
            </a:r>
          </a:p>
          <a:p>
            <a:pPr marL="285750" indent="-285750">
              <a:buFont typeface="Calibri"/>
              <a:buChar char="-"/>
            </a:pPr>
            <a:r>
              <a:rPr lang="en-US"/>
              <a:t>Notes</a:t>
            </a:r>
          </a:p>
          <a:p>
            <a:pPr marL="285750" indent="-285750">
              <a:buFont typeface="Calibri"/>
              <a:buChar char="-"/>
            </a:pPr>
            <a:r>
              <a:rPr lang="en-US"/>
              <a:t>Attachments</a:t>
            </a:r>
          </a:p>
          <a:p>
            <a:pPr marL="285750" indent="-285750">
              <a:buFont typeface="Calibri"/>
              <a:buChar char="-"/>
            </a:pPr>
            <a:endParaRPr lang="en-US"/>
          </a:p>
        </p:txBody>
      </p:sp>
      <p:pic>
        <p:nvPicPr>
          <p:cNvPr id="7" name="Picture 6" descr="A screenshot of a computer&#10;&#10;AI-generated content may be incorrect.">
            <a:extLst>
              <a:ext uri="{FF2B5EF4-FFF2-40B4-BE49-F238E27FC236}">
                <a16:creationId xmlns:a16="http://schemas.microsoft.com/office/drawing/2014/main" id="{287F28F1-1811-E245-FE40-D538ACAEE482}"/>
              </a:ext>
            </a:extLst>
          </p:cNvPr>
          <p:cNvPicPr>
            <a:picLocks noChangeAspect="1"/>
          </p:cNvPicPr>
          <p:nvPr/>
        </p:nvPicPr>
        <p:blipFill>
          <a:blip r:embed="rId2"/>
          <a:stretch>
            <a:fillRect/>
          </a:stretch>
        </p:blipFill>
        <p:spPr>
          <a:xfrm>
            <a:off x="0" y="1239398"/>
            <a:ext cx="9576487" cy="4379204"/>
          </a:xfrm>
          <a:prstGeom prst="rect">
            <a:avLst/>
          </a:prstGeom>
        </p:spPr>
      </p:pic>
    </p:spTree>
    <p:extLst>
      <p:ext uri="{BB962C8B-B14F-4D97-AF65-F5344CB8AC3E}">
        <p14:creationId xmlns:p14="http://schemas.microsoft.com/office/powerpoint/2010/main" val="15329532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B2B61-1619-CF6F-93D0-A4BBD0BD31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EAAD1D6-0398-CDB8-26EB-450F5D3DFA87}"/>
              </a:ext>
            </a:extLst>
          </p:cNvPr>
          <p:cNvSpPr>
            <a:spLocks noGrp="1"/>
          </p:cNvSpPr>
          <p:nvPr>
            <p:ph type="title"/>
          </p:nvPr>
        </p:nvSpPr>
        <p:spPr>
          <a:xfrm>
            <a:off x="153761" y="-4265"/>
            <a:ext cx="11807907" cy="888817"/>
          </a:xfrm>
        </p:spPr>
        <p:txBody>
          <a:bodyPr>
            <a:normAutofit/>
          </a:bodyPr>
          <a:lstStyle/>
          <a:p>
            <a:r>
              <a:rPr lang="en-US" sz="4000">
                <a:latin typeface="Montserrat"/>
              </a:rPr>
              <a:t>Maintain Account in Service Cloud v2</a:t>
            </a:r>
          </a:p>
        </p:txBody>
      </p:sp>
      <p:pic>
        <p:nvPicPr>
          <p:cNvPr id="4" name="Picture 3" descr="A screenshot of a computer&#10;&#10;AI-generated content may be incorrect.">
            <a:extLst>
              <a:ext uri="{FF2B5EF4-FFF2-40B4-BE49-F238E27FC236}">
                <a16:creationId xmlns:a16="http://schemas.microsoft.com/office/drawing/2014/main" id="{DDFFB54B-93A9-C446-10EC-89CF9B045B24}"/>
              </a:ext>
            </a:extLst>
          </p:cNvPr>
          <p:cNvPicPr>
            <a:picLocks noChangeAspect="1"/>
          </p:cNvPicPr>
          <p:nvPr/>
        </p:nvPicPr>
        <p:blipFill>
          <a:blip r:embed="rId2"/>
          <a:stretch>
            <a:fillRect/>
          </a:stretch>
        </p:blipFill>
        <p:spPr>
          <a:xfrm>
            <a:off x="-1" y="1203188"/>
            <a:ext cx="9566189" cy="4461921"/>
          </a:xfrm>
          <a:prstGeom prst="rect">
            <a:avLst/>
          </a:prstGeom>
        </p:spPr>
      </p:pic>
      <p:sp>
        <p:nvSpPr>
          <p:cNvPr id="8" name="TextBox 7">
            <a:extLst>
              <a:ext uri="{FF2B5EF4-FFF2-40B4-BE49-F238E27FC236}">
                <a16:creationId xmlns:a16="http://schemas.microsoft.com/office/drawing/2014/main" id="{CAC16169-92AF-F3EA-B800-2E877F883A0B}"/>
              </a:ext>
            </a:extLst>
          </p:cNvPr>
          <p:cNvSpPr txBox="1"/>
          <p:nvPr/>
        </p:nvSpPr>
        <p:spPr>
          <a:xfrm>
            <a:off x="9575275" y="1871382"/>
            <a:ext cx="2619631"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Users can maintain account details like: </a:t>
            </a:r>
          </a:p>
          <a:p>
            <a:pPr marL="285750" indent="-285750">
              <a:buFont typeface="Calibri"/>
              <a:buChar char="-"/>
            </a:pPr>
            <a:r>
              <a:rPr lang="en-US"/>
              <a:t>General Information</a:t>
            </a:r>
          </a:p>
          <a:p>
            <a:pPr marL="285750" indent="-285750">
              <a:buFont typeface="Calibri"/>
              <a:buChar char="-"/>
            </a:pPr>
            <a:r>
              <a:rPr lang="en-US"/>
              <a:t>Communication Details</a:t>
            </a:r>
          </a:p>
          <a:p>
            <a:pPr marL="285750" indent="-285750">
              <a:buFont typeface="Calibri"/>
              <a:buChar char="-"/>
            </a:pPr>
            <a:r>
              <a:rPr lang="en-US"/>
              <a:t>Contact Persons</a:t>
            </a:r>
          </a:p>
          <a:p>
            <a:pPr marL="285750" indent="-285750">
              <a:buFont typeface="Calibri"/>
              <a:buChar char="-"/>
            </a:pPr>
            <a:r>
              <a:rPr lang="en-US"/>
              <a:t>Account Team</a:t>
            </a:r>
          </a:p>
          <a:p>
            <a:pPr marL="285750" indent="-285750">
              <a:buFont typeface="Calibri"/>
              <a:buChar char="-"/>
            </a:pPr>
            <a:r>
              <a:rPr lang="en-US"/>
              <a:t>Relationships</a:t>
            </a:r>
          </a:p>
          <a:p>
            <a:pPr marL="285750" indent="-285750">
              <a:buFont typeface="Calibri"/>
              <a:buChar char="-"/>
            </a:pPr>
            <a:r>
              <a:rPr lang="en-US"/>
              <a:t>ID Types</a:t>
            </a:r>
          </a:p>
          <a:p>
            <a:pPr marL="285750" indent="-285750">
              <a:buFont typeface="Calibri"/>
              <a:buChar char="-"/>
            </a:pPr>
            <a:r>
              <a:rPr lang="en-US"/>
              <a:t>Addresses</a:t>
            </a:r>
          </a:p>
          <a:p>
            <a:pPr marL="285750" indent="-285750">
              <a:buFont typeface="Calibri"/>
              <a:buChar char="-"/>
            </a:pPr>
            <a:r>
              <a:rPr lang="en-US"/>
              <a:t>Notes</a:t>
            </a:r>
          </a:p>
          <a:p>
            <a:pPr marL="285750" indent="-285750">
              <a:buFont typeface="Calibri"/>
              <a:buChar char="-"/>
            </a:pPr>
            <a:r>
              <a:rPr lang="en-US"/>
              <a:t>Attachments</a:t>
            </a:r>
          </a:p>
          <a:p>
            <a:pPr marL="285750" indent="-285750">
              <a:buFont typeface="Calibri"/>
              <a:buChar char="-"/>
            </a:pPr>
            <a:endParaRPr lang="en-US"/>
          </a:p>
        </p:txBody>
      </p:sp>
    </p:spTree>
    <p:extLst>
      <p:ext uri="{BB962C8B-B14F-4D97-AF65-F5344CB8AC3E}">
        <p14:creationId xmlns:p14="http://schemas.microsoft.com/office/powerpoint/2010/main" val="29122214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D4737-860D-D0EF-018F-0497AF7783B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BCEC98B-F291-798C-525D-F3F0F76749B1}"/>
              </a:ext>
            </a:extLst>
          </p:cNvPr>
          <p:cNvSpPr>
            <a:spLocks noGrp="1"/>
          </p:cNvSpPr>
          <p:nvPr>
            <p:ph type="title"/>
          </p:nvPr>
        </p:nvSpPr>
        <p:spPr>
          <a:xfrm>
            <a:off x="153761" y="-4265"/>
            <a:ext cx="11807907" cy="888817"/>
          </a:xfrm>
        </p:spPr>
        <p:txBody>
          <a:bodyPr>
            <a:normAutofit/>
          </a:bodyPr>
          <a:lstStyle/>
          <a:p>
            <a:r>
              <a:rPr lang="en-US" sz="4000">
                <a:latin typeface="Montserrat"/>
              </a:rPr>
              <a:t>Maintain Contact in Service Cloud v2</a:t>
            </a:r>
          </a:p>
        </p:txBody>
      </p:sp>
      <p:sp>
        <p:nvSpPr>
          <p:cNvPr id="8" name="TextBox 7">
            <a:extLst>
              <a:ext uri="{FF2B5EF4-FFF2-40B4-BE49-F238E27FC236}">
                <a16:creationId xmlns:a16="http://schemas.microsoft.com/office/drawing/2014/main" id="{B97A341F-9449-10CF-7C71-479FD096E184}"/>
              </a:ext>
            </a:extLst>
          </p:cNvPr>
          <p:cNvSpPr txBox="1"/>
          <p:nvPr/>
        </p:nvSpPr>
        <p:spPr>
          <a:xfrm>
            <a:off x="9575275" y="1871382"/>
            <a:ext cx="2619631"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Users can maintain account details like: </a:t>
            </a:r>
          </a:p>
          <a:p>
            <a:pPr marL="285750" indent="-285750">
              <a:buFont typeface="Calibri"/>
              <a:buChar char="-"/>
            </a:pPr>
            <a:r>
              <a:rPr lang="en-US"/>
              <a:t>General Information</a:t>
            </a:r>
          </a:p>
          <a:p>
            <a:pPr marL="285750" indent="-285750">
              <a:buFont typeface="Calibri"/>
              <a:buChar char="-"/>
            </a:pPr>
            <a:r>
              <a:rPr lang="en-US"/>
              <a:t>Communication Details</a:t>
            </a:r>
          </a:p>
          <a:p>
            <a:pPr marL="285750" indent="-285750">
              <a:buFont typeface="Calibri"/>
              <a:buChar char="-"/>
            </a:pPr>
            <a:r>
              <a:rPr lang="en-US"/>
              <a:t>Notes</a:t>
            </a:r>
          </a:p>
          <a:p>
            <a:pPr marL="285750" indent="-285750">
              <a:buFont typeface="Calibri"/>
              <a:buChar char="-"/>
            </a:pPr>
            <a:r>
              <a:rPr lang="en-US"/>
              <a:t>Attachments</a:t>
            </a:r>
          </a:p>
          <a:p>
            <a:pPr marL="285750" indent="-285750">
              <a:buFont typeface="Calibri"/>
              <a:buChar char="-"/>
            </a:pPr>
            <a:endParaRPr lang="en-US"/>
          </a:p>
        </p:txBody>
      </p:sp>
      <p:pic>
        <p:nvPicPr>
          <p:cNvPr id="2" name="Picture 1" descr="A screenshot of a computer&#10;&#10;AI-generated content may be incorrect.">
            <a:extLst>
              <a:ext uri="{FF2B5EF4-FFF2-40B4-BE49-F238E27FC236}">
                <a16:creationId xmlns:a16="http://schemas.microsoft.com/office/drawing/2014/main" id="{D2C80D2A-59C8-5642-1E67-C158E87277C6}"/>
              </a:ext>
            </a:extLst>
          </p:cNvPr>
          <p:cNvPicPr>
            <a:picLocks noChangeAspect="1"/>
          </p:cNvPicPr>
          <p:nvPr/>
        </p:nvPicPr>
        <p:blipFill>
          <a:blip r:embed="rId2"/>
          <a:stretch>
            <a:fillRect/>
          </a:stretch>
        </p:blipFill>
        <p:spPr>
          <a:xfrm>
            <a:off x="0" y="1256982"/>
            <a:ext cx="9576487" cy="4333739"/>
          </a:xfrm>
          <a:prstGeom prst="rect">
            <a:avLst/>
          </a:prstGeom>
        </p:spPr>
      </p:pic>
    </p:spTree>
    <p:extLst>
      <p:ext uri="{BB962C8B-B14F-4D97-AF65-F5344CB8AC3E}">
        <p14:creationId xmlns:p14="http://schemas.microsoft.com/office/powerpoint/2010/main" val="7189139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464DB-6BCE-600F-DFC7-D0862600C1B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AD1F050-5AB8-5CAC-CBBB-4BA7E18D5658}"/>
              </a:ext>
            </a:extLst>
          </p:cNvPr>
          <p:cNvSpPr>
            <a:spLocks noGrp="1"/>
          </p:cNvSpPr>
          <p:nvPr>
            <p:ph type="title"/>
          </p:nvPr>
        </p:nvSpPr>
        <p:spPr>
          <a:xfrm>
            <a:off x="268904" y="4970926"/>
            <a:ext cx="10831690" cy="1887074"/>
          </a:xfrm>
        </p:spPr>
        <p:txBody>
          <a:bodyPr/>
          <a:lstStyle/>
          <a:p>
            <a:r>
              <a:rPr lang="en-US" sz="4250" b="1">
                <a:latin typeface="Montserrat"/>
              </a:rPr>
              <a:t>04</a:t>
            </a:r>
            <a:r>
              <a:rPr lang="en-US" sz="4250">
                <a:latin typeface="Montserrat"/>
              </a:rPr>
              <a:t> </a:t>
            </a:r>
            <a:r>
              <a:rPr lang="en-US" sz="4400">
                <a:latin typeface="Montserrat"/>
              </a:rPr>
              <a:t>Current &amp; Future State Assumptions</a:t>
            </a:r>
            <a:endParaRPr lang="en-US"/>
          </a:p>
        </p:txBody>
      </p:sp>
    </p:spTree>
    <p:extLst>
      <p:ext uri="{BB962C8B-B14F-4D97-AF65-F5344CB8AC3E}">
        <p14:creationId xmlns:p14="http://schemas.microsoft.com/office/powerpoint/2010/main" val="25423675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736A9F5-6FA5-6E90-4540-7E81EB75C05C}"/>
              </a:ext>
            </a:extLst>
          </p:cNvPr>
          <p:cNvSpPr>
            <a:spLocks noGrp="1"/>
          </p:cNvSpPr>
          <p:nvPr>
            <p:ph idx="1"/>
          </p:nvPr>
        </p:nvSpPr>
        <p:spPr/>
        <p:txBody>
          <a:bodyPr vert="horz" lIns="0" tIns="45720" rIns="91440" bIns="45720" rtlCol="0" anchor="t">
            <a:normAutofit/>
          </a:bodyPr>
          <a:lstStyle/>
          <a:p>
            <a:pPr marL="285750" indent="-285750">
              <a:spcBef>
                <a:spcPts val="0"/>
              </a:spcBef>
              <a:spcAft>
                <a:spcPts val="300"/>
              </a:spcAft>
              <a:buFont typeface="Arial" charset="2"/>
              <a:buChar char="•"/>
            </a:pPr>
            <a:endParaRPr lang="en-US" sz="1800">
              <a:latin typeface="Montserrat"/>
            </a:endParaRPr>
          </a:p>
          <a:p>
            <a:pPr marL="285750" indent="-285750">
              <a:spcBef>
                <a:spcPts val="0"/>
              </a:spcBef>
              <a:spcAft>
                <a:spcPts val="300"/>
              </a:spcAft>
              <a:buFont typeface="Arial" charset="2"/>
              <a:buChar char="•"/>
            </a:pPr>
            <a:r>
              <a:rPr lang="en-US" sz="1800">
                <a:latin typeface="Montserrat"/>
              </a:rPr>
              <a:t>Contact Accounts or Contracts will not be created in Service Cloud v2 individually. They will only be created during a move in process. </a:t>
            </a:r>
          </a:p>
          <a:p>
            <a:pPr marL="285750" indent="-285750">
              <a:spcBef>
                <a:spcPts val="0"/>
              </a:spcBef>
              <a:spcAft>
                <a:spcPts val="300"/>
              </a:spcAft>
              <a:buFont typeface="Arial" charset="2"/>
              <a:buChar char="•"/>
            </a:pPr>
            <a:endParaRPr lang="en-US" sz="1800">
              <a:latin typeface="Montserrat"/>
            </a:endParaRPr>
          </a:p>
          <a:p>
            <a:pPr marL="285750" indent="-285750">
              <a:spcBef>
                <a:spcPts val="0"/>
              </a:spcBef>
              <a:spcAft>
                <a:spcPts val="300"/>
              </a:spcAft>
              <a:buFont typeface="Arial" charset="2"/>
              <a:buChar char="•"/>
            </a:pPr>
            <a:r>
              <a:rPr lang="en-US" sz="1800">
                <a:latin typeface="Montserrat"/>
              </a:rPr>
              <a:t>Service Cloud will not expose PO box address fields as DQM does not validate those fields.</a:t>
            </a:r>
          </a:p>
          <a:p>
            <a:pPr>
              <a:spcBef>
                <a:spcPts val="0"/>
              </a:spcBef>
              <a:spcAft>
                <a:spcPts val="300"/>
              </a:spcAft>
            </a:pPr>
            <a:endParaRPr lang="en-US" sz="1800">
              <a:latin typeface="Montserrat"/>
            </a:endParaRPr>
          </a:p>
          <a:p>
            <a:pPr marL="285750" indent="-285750">
              <a:spcBef>
                <a:spcPts val="0"/>
              </a:spcBef>
              <a:spcAft>
                <a:spcPts val="300"/>
              </a:spcAft>
              <a:buFont typeface="Arial" charset="2"/>
              <a:buChar char="•"/>
            </a:pPr>
            <a:r>
              <a:rPr lang="en-US" sz="1800">
                <a:latin typeface="Montserrat"/>
              </a:rPr>
              <a:t>Street 3 is used as the PMB (Private Mail Box) details. This field also does not get validated by DQM</a:t>
            </a:r>
          </a:p>
          <a:p>
            <a:pPr marL="285750" indent="-285750">
              <a:spcBef>
                <a:spcPts val="0"/>
              </a:spcBef>
              <a:spcAft>
                <a:spcPts val="300"/>
              </a:spcAft>
              <a:buFont typeface="Arial" charset="2"/>
              <a:buChar char="•"/>
            </a:pPr>
            <a:endParaRPr lang="en-US" sz="1800">
              <a:latin typeface="Montserrat"/>
            </a:endParaRPr>
          </a:p>
          <a:p>
            <a:pPr marL="285750" indent="-285750">
              <a:spcBef>
                <a:spcPts val="0"/>
              </a:spcBef>
              <a:spcAft>
                <a:spcPts val="300"/>
              </a:spcAft>
              <a:buFont typeface="Arial" charset="2"/>
              <a:buChar char="•"/>
            </a:pPr>
            <a:r>
              <a:rPr lang="en-US" sz="1800">
                <a:latin typeface="Montserrat"/>
              </a:rPr>
              <a:t>PO Box details get added onto the Street field for DQM validation </a:t>
            </a:r>
            <a:endParaRPr lang="en-US"/>
          </a:p>
          <a:p>
            <a:pPr marL="742950" lvl="1" indent="-285750">
              <a:spcBef>
                <a:spcPts val="0"/>
              </a:spcBef>
              <a:spcAft>
                <a:spcPts val="300"/>
              </a:spcAft>
              <a:buFont typeface="Arial"/>
              <a:buChar char="-"/>
            </a:pPr>
            <a:endParaRPr lang="en-US" sz="1800">
              <a:latin typeface="Montserrat"/>
            </a:endParaRPr>
          </a:p>
          <a:p>
            <a:pPr marL="742950" lvl="1" indent="-285750">
              <a:spcBef>
                <a:spcPts val="0"/>
              </a:spcBef>
              <a:spcAft>
                <a:spcPts val="300"/>
              </a:spcAft>
              <a:buFont typeface="Arial"/>
              <a:buChar char="-"/>
            </a:pPr>
            <a:endParaRPr lang="en-US" sz="1800">
              <a:latin typeface="Montserrat"/>
            </a:endParaRPr>
          </a:p>
          <a:p>
            <a:pPr marL="742950" lvl="1" indent="-285750">
              <a:spcBef>
                <a:spcPts val="0"/>
              </a:spcBef>
              <a:spcAft>
                <a:spcPts val="300"/>
              </a:spcAft>
              <a:buFont typeface="Arial"/>
              <a:buChar char="-"/>
            </a:pPr>
            <a:endParaRPr lang="en-US" sz="1800">
              <a:latin typeface="Montserrat"/>
            </a:endParaRPr>
          </a:p>
        </p:txBody>
      </p:sp>
      <p:sp>
        <p:nvSpPr>
          <p:cNvPr id="2" name="Title 1">
            <a:extLst>
              <a:ext uri="{FF2B5EF4-FFF2-40B4-BE49-F238E27FC236}">
                <a16:creationId xmlns:a16="http://schemas.microsoft.com/office/drawing/2014/main" id="{78C12FBF-5B23-4CEF-91CF-208E41B8A0A1}"/>
              </a:ext>
            </a:extLst>
          </p:cNvPr>
          <p:cNvSpPr>
            <a:spLocks noGrp="1"/>
          </p:cNvSpPr>
          <p:nvPr>
            <p:ph type="title"/>
          </p:nvPr>
        </p:nvSpPr>
        <p:spPr/>
        <p:txBody>
          <a:bodyPr>
            <a:normAutofit/>
          </a:bodyPr>
          <a:lstStyle/>
          <a:p>
            <a:r>
              <a:rPr lang="en-US">
                <a:latin typeface="Montserrat"/>
              </a:rPr>
              <a:t>Assumptions for Future State</a:t>
            </a:r>
          </a:p>
        </p:txBody>
      </p:sp>
    </p:spTree>
    <p:extLst>
      <p:ext uri="{BB962C8B-B14F-4D97-AF65-F5344CB8AC3E}">
        <p14:creationId xmlns:p14="http://schemas.microsoft.com/office/powerpoint/2010/main" val="192905889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F9F76-B084-C67C-7DD7-0A38F576FD3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FA007BE-A154-54BB-139B-68EEE949B120}"/>
              </a:ext>
            </a:extLst>
          </p:cNvPr>
          <p:cNvSpPr>
            <a:spLocks noGrp="1"/>
          </p:cNvSpPr>
          <p:nvPr>
            <p:ph type="title"/>
          </p:nvPr>
        </p:nvSpPr>
        <p:spPr>
          <a:xfrm>
            <a:off x="268904" y="4970926"/>
            <a:ext cx="7796828" cy="1887074"/>
          </a:xfrm>
        </p:spPr>
        <p:txBody>
          <a:bodyPr/>
          <a:lstStyle/>
          <a:p>
            <a:r>
              <a:rPr lang="en-US" sz="4250" b="1">
                <a:latin typeface="Montserrat"/>
              </a:rPr>
              <a:t>05</a:t>
            </a:r>
            <a:r>
              <a:rPr lang="en-US" sz="4250">
                <a:latin typeface="Montserrat"/>
              </a:rPr>
              <a:t> (L3) Manage Financial Details</a:t>
            </a:r>
            <a:endParaRPr lang="en-US" sz="4400"/>
          </a:p>
        </p:txBody>
      </p:sp>
    </p:spTree>
    <p:extLst>
      <p:ext uri="{BB962C8B-B14F-4D97-AF65-F5344CB8AC3E}">
        <p14:creationId xmlns:p14="http://schemas.microsoft.com/office/powerpoint/2010/main" val="12850564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1700F60B-8F77-4DD2-FDEC-8BB77A1C8D27}"/>
              </a:ext>
            </a:extLst>
          </p:cNvPr>
          <p:cNvPicPr>
            <a:picLocks noGrp="1" noChangeAspect="1"/>
          </p:cNvPicPr>
          <p:nvPr>
            <p:ph idx="1"/>
          </p:nvPr>
        </p:nvPicPr>
        <p:blipFill>
          <a:blip r:embed="rId3"/>
          <a:srcRect t="12758"/>
          <a:stretch>
            <a:fillRect/>
          </a:stretch>
        </p:blipFill>
        <p:spPr>
          <a:xfrm>
            <a:off x="869270" y="1523507"/>
            <a:ext cx="10284177" cy="3822662"/>
          </a:xfrm>
          <a:prstGeom prst="rect">
            <a:avLst/>
          </a:prstGeom>
        </p:spPr>
      </p:pic>
      <p:sp>
        <p:nvSpPr>
          <p:cNvPr id="3" name="Title 2">
            <a:extLst>
              <a:ext uri="{FF2B5EF4-FFF2-40B4-BE49-F238E27FC236}">
                <a16:creationId xmlns:a16="http://schemas.microsoft.com/office/drawing/2014/main" id="{077B2837-F98D-6C53-609E-B8803FE35D13}"/>
              </a:ext>
            </a:extLst>
          </p:cNvPr>
          <p:cNvSpPr>
            <a:spLocks noGrp="1"/>
          </p:cNvSpPr>
          <p:nvPr>
            <p:ph type="title"/>
          </p:nvPr>
        </p:nvSpPr>
        <p:spPr/>
        <p:txBody>
          <a:bodyPr/>
          <a:lstStyle/>
          <a:p>
            <a:r>
              <a:rPr lang="en-US">
                <a:latin typeface="Montserrat"/>
              </a:rPr>
              <a:t>Data Environments</a:t>
            </a:r>
            <a:endParaRPr lang="en-US"/>
          </a:p>
        </p:txBody>
      </p:sp>
    </p:spTree>
    <p:extLst>
      <p:ext uri="{BB962C8B-B14F-4D97-AF65-F5344CB8AC3E}">
        <p14:creationId xmlns:p14="http://schemas.microsoft.com/office/powerpoint/2010/main" val="160505129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6950BFC3-D8DA-4A85-94F7-54DA5524770B}">
      <p188:commentRel xmlns:p188="http://schemas.microsoft.com/office/powerpoint/2018/8/main" r:id="rId2"/>
    </p:ext>
  </p:extLs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971004-3913-1C9C-B604-13123B40E411}"/>
              </a:ext>
            </a:extLst>
          </p:cNvPr>
          <p:cNvSpPr>
            <a:spLocks noGrp="1"/>
          </p:cNvSpPr>
          <p:nvPr>
            <p:ph type="title"/>
          </p:nvPr>
        </p:nvSpPr>
        <p:spPr/>
        <p:txBody>
          <a:bodyPr/>
          <a:lstStyle/>
          <a:p>
            <a:r>
              <a:rPr lang="en-US">
                <a:latin typeface="Montserrat"/>
              </a:rPr>
              <a:t>Account History</a:t>
            </a:r>
            <a:endParaRPr lang="en-US"/>
          </a:p>
        </p:txBody>
      </p:sp>
      <p:pic>
        <p:nvPicPr>
          <p:cNvPr id="4" name="Picture 3" descr="A screenshot of a phone number&#10;&#10;AI-generated content may be incorrect.">
            <a:extLst>
              <a:ext uri="{FF2B5EF4-FFF2-40B4-BE49-F238E27FC236}">
                <a16:creationId xmlns:a16="http://schemas.microsoft.com/office/drawing/2014/main" id="{4B5450D9-95B2-2AEB-3BC7-7D2DF148BA0E}"/>
              </a:ext>
            </a:extLst>
          </p:cNvPr>
          <p:cNvPicPr>
            <a:picLocks noChangeAspect="1"/>
          </p:cNvPicPr>
          <p:nvPr/>
        </p:nvPicPr>
        <p:blipFill>
          <a:blip r:embed="rId3"/>
          <a:srcRect t="36154" b="-192"/>
          <a:stretch>
            <a:fillRect/>
          </a:stretch>
        </p:blipFill>
        <p:spPr>
          <a:xfrm>
            <a:off x="-3114" y="1129280"/>
            <a:ext cx="11158483" cy="1725064"/>
          </a:xfrm>
          <a:prstGeom prst="rect">
            <a:avLst/>
          </a:prstGeom>
        </p:spPr>
      </p:pic>
      <p:sp>
        <p:nvSpPr>
          <p:cNvPr id="2" name="TextBox 1">
            <a:extLst>
              <a:ext uri="{FF2B5EF4-FFF2-40B4-BE49-F238E27FC236}">
                <a16:creationId xmlns:a16="http://schemas.microsoft.com/office/drawing/2014/main" id="{868A1537-B78E-A47B-C729-932578EFEE1A}"/>
              </a:ext>
            </a:extLst>
          </p:cNvPr>
          <p:cNvSpPr txBox="1"/>
          <p:nvPr/>
        </p:nvSpPr>
        <p:spPr>
          <a:xfrm>
            <a:off x="417567" y="3322802"/>
            <a:ext cx="10958784" cy="892552"/>
          </a:xfrm>
          <a:prstGeom prst="rect">
            <a:avLst/>
          </a:prstGeom>
          <a:noFill/>
          <a:ln>
            <a:solidFill>
              <a:schemeClr val="bg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spcBef>
                <a:spcPct val="20000"/>
              </a:spcBef>
              <a:buFont typeface="Arial"/>
              <a:buChar char="•"/>
            </a:pPr>
            <a:r>
              <a:rPr lang="en-US" sz="1000" b="1">
                <a:latin typeface="Montserrat"/>
              </a:rPr>
              <a:t>Currently in CRM7 - Accounts are merged</a:t>
            </a:r>
            <a:r>
              <a:rPr lang="en-US" sz="1000">
                <a:latin typeface="Montserrat"/>
              </a:rPr>
              <a:t> (CE employees that are also CE Customers have an employee flag.</a:t>
            </a:r>
            <a:endParaRPr lang="en-US">
              <a:latin typeface="Montserrat"/>
            </a:endParaRPr>
          </a:p>
          <a:p>
            <a:pPr marL="628650" lvl="1" indent="-171450">
              <a:spcBef>
                <a:spcPct val="20000"/>
              </a:spcBef>
              <a:buFont typeface="Courier New"/>
              <a:buChar char="o"/>
            </a:pPr>
            <a:r>
              <a:rPr lang="en-US" sz="1000">
                <a:latin typeface="Montserrat"/>
              </a:rPr>
              <a:t> An external form is filled out outside of CRM (to ensure the Employee is keeping standard)</a:t>
            </a:r>
            <a:endParaRPr lang="en-US">
              <a:latin typeface="Montserrat"/>
            </a:endParaRPr>
          </a:p>
          <a:p>
            <a:pPr marL="171450" indent="-171450">
              <a:buFont typeface="Arial"/>
              <a:buChar char="•"/>
            </a:pPr>
            <a:r>
              <a:rPr lang="en-US" sz="1000">
                <a:ea typeface="+mn-lt"/>
                <a:cs typeface="+mn-lt"/>
              </a:rPr>
              <a:t>3,000 SD accounts need to be in Future State SCV2 (New Construction, Damage Claim) (Theft and Fraud Billed on Separate accounts) (3,000 Account) </a:t>
            </a:r>
            <a:endParaRPr lang="en-US"/>
          </a:p>
          <a:p>
            <a:pPr marL="171450" indent="-171450">
              <a:buFont typeface="Arial"/>
              <a:buChar char="•"/>
            </a:pPr>
            <a:r>
              <a:rPr lang="en-US" sz="1000">
                <a:ea typeface="+mn-lt"/>
                <a:cs typeface="+mn-lt"/>
              </a:rPr>
              <a:t>Need to ensure that when all the data is migrated, the number ranges need to have the full range so they can match front to back </a:t>
            </a:r>
            <a:endParaRPr lang="en-US"/>
          </a:p>
          <a:p>
            <a:endParaRPr lang="en-US" sz="1000">
              <a:latin typeface="Montserrat" pitchFamily="2" charset="77"/>
            </a:endParaRPr>
          </a:p>
        </p:txBody>
      </p:sp>
    </p:spTree>
    <p:extLst>
      <p:ext uri="{BB962C8B-B14F-4D97-AF65-F5344CB8AC3E}">
        <p14:creationId xmlns:p14="http://schemas.microsoft.com/office/powerpoint/2010/main" val="26639695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6950BFC3-D8DA-4A85-94F7-54DA5524770B}">
      <p188:commentRel xmlns:p188="http://schemas.microsoft.com/office/powerpoint/2018/8/main" r:id="rId2"/>
    </p:ext>
  </p:extLs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B4DAFF56-70AE-25AE-802E-9BF000E0F78C}"/>
              </a:ext>
            </a:extLst>
          </p:cNvPr>
          <p:cNvPicPr>
            <a:picLocks noGrp="1" noChangeAspect="1"/>
          </p:cNvPicPr>
          <p:nvPr>
            <p:ph idx="1"/>
          </p:nvPr>
        </p:nvPicPr>
        <p:blipFill>
          <a:blip r:embed="rId2"/>
          <a:stretch>
            <a:fillRect/>
          </a:stretch>
        </p:blipFill>
        <p:spPr>
          <a:xfrm>
            <a:off x="412496" y="1049843"/>
            <a:ext cx="9753600" cy="3512606"/>
          </a:xfrm>
          <a:prstGeom prst="rect">
            <a:avLst/>
          </a:prstGeom>
        </p:spPr>
      </p:pic>
      <p:sp>
        <p:nvSpPr>
          <p:cNvPr id="3" name="Title 2">
            <a:extLst>
              <a:ext uri="{FF2B5EF4-FFF2-40B4-BE49-F238E27FC236}">
                <a16:creationId xmlns:a16="http://schemas.microsoft.com/office/drawing/2014/main" id="{048A998A-B877-8678-D17D-857037C66E23}"/>
              </a:ext>
            </a:extLst>
          </p:cNvPr>
          <p:cNvSpPr>
            <a:spLocks noGrp="1"/>
          </p:cNvSpPr>
          <p:nvPr>
            <p:ph type="title"/>
          </p:nvPr>
        </p:nvSpPr>
        <p:spPr/>
        <p:txBody>
          <a:bodyPr/>
          <a:lstStyle/>
          <a:p>
            <a:r>
              <a:rPr lang="en-US">
                <a:latin typeface="Montserrat"/>
              </a:rPr>
              <a:t>Open Item List</a:t>
            </a:r>
            <a:endParaRPr lang="en-US"/>
          </a:p>
        </p:txBody>
      </p:sp>
    </p:spTree>
    <p:extLst>
      <p:ext uri="{BB962C8B-B14F-4D97-AF65-F5344CB8AC3E}">
        <p14:creationId xmlns:p14="http://schemas.microsoft.com/office/powerpoint/2010/main" val="42275117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C494BB4-A4A5-EDDA-3BE3-B1C4C1F9F126}"/>
              </a:ext>
            </a:extLst>
          </p:cNvPr>
          <p:cNvSpPr>
            <a:spLocks noGrp="1"/>
          </p:cNvSpPr>
          <p:nvPr>
            <p:ph type="title"/>
          </p:nvPr>
        </p:nvSpPr>
        <p:spPr/>
        <p:txBody>
          <a:bodyPr/>
          <a:lstStyle/>
          <a:p>
            <a:r>
              <a:rPr lang="en-US">
                <a:latin typeface="Montserrat"/>
              </a:rPr>
              <a:t>Payments List</a:t>
            </a:r>
            <a:endParaRPr lang="en-US"/>
          </a:p>
        </p:txBody>
      </p:sp>
      <p:pic>
        <p:nvPicPr>
          <p:cNvPr id="4" name="Picture 3" descr="A screen shot of a computer screen&#10;&#10;AI-generated content may be incorrect.">
            <a:extLst>
              <a:ext uri="{FF2B5EF4-FFF2-40B4-BE49-F238E27FC236}">
                <a16:creationId xmlns:a16="http://schemas.microsoft.com/office/drawing/2014/main" id="{7A586F72-DC87-B425-D993-84C41C238D13}"/>
              </a:ext>
            </a:extLst>
          </p:cNvPr>
          <p:cNvPicPr>
            <a:picLocks noChangeAspect="1"/>
          </p:cNvPicPr>
          <p:nvPr/>
        </p:nvPicPr>
        <p:blipFill>
          <a:blip r:embed="rId2"/>
          <a:stretch>
            <a:fillRect/>
          </a:stretch>
        </p:blipFill>
        <p:spPr>
          <a:xfrm>
            <a:off x="412044" y="1049597"/>
            <a:ext cx="11181645" cy="1643073"/>
          </a:xfrm>
          <a:prstGeom prst="rect">
            <a:avLst/>
          </a:prstGeom>
        </p:spPr>
      </p:pic>
    </p:spTree>
    <p:extLst>
      <p:ext uri="{BB962C8B-B14F-4D97-AF65-F5344CB8AC3E}">
        <p14:creationId xmlns:p14="http://schemas.microsoft.com/office/powerpoint/2010/main" val="12495988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053F3E9-B366-A679-2C23-B6C85174A184}"/>
              </a:ext>
            </a:extLst>
          </p:cNvPr>
          <p:cNvSpPr>
            <a:spLocks noGrp="1"/>
          </p:cNvSpPr>
          <p:nvPr>
            <p:ph type="title"/>
          </p:nvPr>
        </p:nvSpPr>
        <p:spPr/>
        <p:txBody>
          <a:bodyPr/>
          <a:lstStyle/>
          <a:p>
            <a:r>
              <a:rPr lang="en-US">
                <a:latin typeface="Montserrat"/>
              </a:rPr>
              <a:t>Display Itemized Statement</a:t>
            </a:r>
            <a:endParaRPr lang="en-US"/>
          </a:p>
        </p:txBody>
      </p:sp>
      <p:pic>
        <p:nvPicPr>
          <p:cNvPr id="4" name="Picture 3" descr="A screenshot of a computer&#10;&#10;AI-generated content may be incorrect.">
            <a:extLst>
              <a:ext uri="{FF2B5EF4-FFF2-40B4-BE49-F238E27FC236}">
                <a16:creationId xmlns:a16="http://schemas.microsoft.com/office/drawing/2014/main" id="{BADF1919-248A-009C-8CE8-DB259DCEDEBD}"/>
              </a:ext>
            </a:extLst>
          </p:cNvPr>
          <p:cNvPicPr>
            <a:picLocks noChangeAspect="1"/>
          </p:cNvPicPr>
          <p:nvPr/>
        </p:nvPicPr>
        <p:blipFill>
          <a:blip r:embed="rId2"/>
          <a:stretch>
            <a:fillRect/>
          </a:stretch>
        </p:blipFill>
        <p:spPr>
          <a:xfrm>
            <a:off x="349956" y="1190363"/>
            <a:ext cx="11441289" cy="4482917"/>
          </a:xfrm>
          <a:prstGeom prst="rect">
            <a:avLst/>
          </a:prstGeom>
        </p:spPr>
      </p:pic>
    </p:spTree>
    <p:extLst>
      <p:ext uri="{BB962C8B-B14F-4D97-AF65-F5344CB8AC3E}">
        <p14:creationId xmlns:p14="http://schemas.microsoft.com/office/powerpoint/2010/main" val="30038373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764C72B-8E9B-8BB8-053E-7D309A8F4785}"/>
              </a:ext>
            </a:extLst>
          </p:cNvPr>
          <p:cNvSpPr>
            <a:spLocks noGrp="1"/>
          </p:cNvSpPr>
          <p:nvPr>
            <p:ph type="title"/>
          </p:nvPr>
        </p:nvSpPr>
        <p:spPr/>
        <p:txBody>
          <a:bodyPr/>
          <a:lstStyle/>
          <a:p>
            <a:r>
              <a:rPr lang="en-US">
                <a:latin typeface="Montserrat"/>
              </a:rPr>
              <a:t>Outage Credit Report</a:t>
            </a:r>
            <a:endParaRPr lang="en-US"/>
          </a:p>
        </p:txBody>
      </p:sp>
      <p:pic>
        <p:nvPicPr>
          <p:cNvPr id="4" name="Picture 3" descr="A screenshot of a report&#10;&#10;AI-generated content may be incorrect.">
            <a:extLst>
              <a:ext uri="{FF2B5EF4-FFF2-40B4-BE49-F238E27FC236}">
                <a16:creationId xmlns:a16="http://schemas.microsoft.com/office/drawing/2014/main" id="{D1E19B6A-44E0-DA24-CA43-350D2DC5DFD3}"/>
              </a:ext>
            </a:extLst>
          </p:cNvPr>
          <p:cNvPicPr>
            <a:picLocks noChangeAspect="1"/>
          </p:cNvPicPr>
          <p:nvPr/>
        </p:nvPicPr>
        <p:blipFill>
          <a:blip r:embed="rId2"/>
          <a:stretch>
            <a:fillRect/>
          </a:stretch>
        </p:blipFill>
        <p:spPr>
          <a:xfrm>
            <a:off x="768096" y="1233376"/>
            <a:ext cx="11021568" cy="3891377"/>
          </a:xfrm>
          <a:prstGeom prst="rect">
            <a:avLst/>
          </a:prstGeom>
        </p:spPr>
      </p:pic>
      <p:sp>
        <p:nvSpPr>
          <p:cNvPr id="2" name="TextBox 1">
            <a:extLst>
              <a:ext uri="{FF2B5EF4-FFF2-40B4-BE49-F238E27FC236}">
                <a16:creationId xmlns:a16="http://schemas.microsoft.com/office/drawing/2014/main" id="{52B76C84-378B-6611-9224-980A2EB27BEC}"/>
              </a:ext>
            </a:extLst>
          </p:cNvPr>
          <p:cNvSpPr txBox="1"/>
          <p:nvPr/>
        </p:nvSpPr>
        <p:spPr>
          <a:xfrm>
            <a:off x="770759" y="5198241"/>
            <a:ext cx="6096000" cy="553998"/>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b="1" i="0" u="none" strike="noStrike" baseline="0">
                <a:solidFill>
                  <a:srgbClr val="000000"/>
                </a:solidFill>
                <a:latin typeface="Montserrat"/>
                <a:ea typeface="Segoe UI"/>
                <a:cs typeface="Segoe UI"/>
              </a:rPr>
              <a:t>Outage Credit Report</a:t>
            </a:r>
            <a:r>
              <a:rPr lang="en-US" sz="1000" b="0" i="0" u="none" strike="noStrike" baseline="0">
                <a:solidFill>
                  <a:srgbClr val="000000"/>
                </a:solidFill>
                <a:latin typeface="Montserrat"/>
                <a:ea typeface="Segoe UI"/>
                <a:cs typeface="Segoe UI"/>
              </a:rPr>
              <a:t> </a:t>
            </a:r>
            <a:r>
              <a:rPr lang="en-US" sz="1000">
                <a:solidFill>
                  <a:srgbClr val="000000"/>
                </a:solidFill>
                <a:latin typeface="Montserrat"/>
                <a:ea typeface="Segoe UI"/>
                <a:cs typeface="Segoe UI"/>
              </a:rPr>
              <a:t>launches</a:t>
            </a:r>
            <a:r>
              <a:rPr lang="en-US" sz="1000" b="0" i="0" u="none" strike="noStrike" baseline="0">
                <a:solidFill>
                  <a:srgbClr val="000000"/>
                </a:solidFill>
                <a:latin typeface="Montserrat"/>
                <a:ea typeface="Segoe UI"/>
                <a:cs typeface="Segoe UI"/>
              </a:rPr>
              <a:t> to ECC</a:t>
            </a:r>
            <a:r>
              <a:rPr lang="en-US" sz="1000" b="0" i="0">
                <a:solidFill>
                  <a:srgbClr val="000000"/>
                </a:solidFill>
                <a:latin typeface="Montserrat"/>
                <a:ea typeface="Segoe UI"/>
                <a:cs typeface="Segoe UI"/>
              </a:rPr>
              <a:t>​</a:t>
            </a:r>
            <a:r>
              <a:rPr lang="en-US" sz="1000">
                <a:solidFill>
                  <a:srgbClr val="000000"/>
                </a:solidFill>
                <a:latin typeface="Montserrat"/>
                <a:ea typeface="Segoe UI"/>
                <a:cs typeface="Segoe UI"/>
              </a:rPr>
              <a:t> in current state CRM7</a:t>
            </a:r>
            <a:endParaRPr lang="en-US" sz="1000" b="0" i="0">
              <a:solidFill>
                <a:srgbClr val="000000"/>
              </a:solidFill>
              <a:latin typeface="Montserrat"/>
              <a:ea typeface="Segoe UI"/>
              <a:cs typeface="Segoe UI"/>
            </a:endParaRPr>
          </a:p>
          <a:p>
            <a:pPr algn="l" rtl="0"/>
            <a:endParaRPr lang="en-US" sz="1000" b="0" i="0">
              <a:solidFill>
                <a:srgbClr val="000000"/>
              </a:solidFill>
              <a:latin typeface="Montserrat"/>
              <a:ea typeface="Segoe UI"/>
              <a:cs typeface="Segoe UI"/>
            </a:endParaRPr>
          </a:p>
          <a:p>
            <a:pPr algn="l"/>
            <a:endParaRPr lang="en-US" sz="1000">
              <a:latin typeface="Montserrat" pitchFamily="2" charset="77"/>
            </a:endParaRPr>
          </a:p>
        </p:txBody>
      </p:sp>
    </p:spTree>
    <p:extLst>
      <p:ext uri="{BB962C8B-B14F-4D97-AF65-F5344CB8AC3E}">
        <p14:creationId xmlns:p14="http://schemas.microsoft.com/office/powerpoint/2010/main" val="39637049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81D28-E381-D82D-4CE8-2AD86600F3C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363667B-981C-A7C5-B405-AF1006A4BA19}"/>
              </a:ext>
            </a:extLst>
          </p:cNvPr>
          <p:cNvSpPr>
            <a:spLocks noGrp="1"/>
          </p:cNvSpPr>
          <p:nvPr>
            <p:ph type="title"/>
          </p:nvPr>
        </p:nvSpPr>
        <p:spPr>
          <a:xfrm>
            <a:off x="268904" y="4970926"/>
            <a:ext cx="7731139" cy="1887074"/>
          </a:xfrm>
        </p:spPr>
        <p:txBody>
          <a:bodyPr/>
          <a:lstStyle/>
          <a:p>
            <a:r>
              <a:rPr lang="en-US" sz="4250" b="1">
                <a:latin typeface="Montserrat"/>
              </a:rPr>
              <a:t>05</a:t>
            </a:r>
            <a:r>
              <a:rPr lang="en-US" sz="4250">
                <a:latin typeface="Montserrat"/>
              </a:rPr>
              <a:t> Key Decisions </a:t>
            </a:r>
            <a:endParaRPr lang="en-US" sz="4250"/>
          </a:p>
        </p:txBody>
      </p:sp>
    </p:spTree>
    <p:extLst>
      <p:ext uri="{BB962C8B-B14F-4D97-AF65-F5344CB8AC3E}">
        <p14:creationId xmlns:p14="http://schemas.microsoft.com/office/powerpoint/2010/main" val="11846506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475B2-63A2-7BB7-EF0D-741DD642E779}"/>
              </a:ext>
            </a:extLst>
          </p:cNvPr>
          <p:cNvSpPr>
            <a:spLocks noGrp="1"/>
          </p:cNvSpPr>
          <p:nvPr>
            <p:ph type="title"/>
          </p:nvPr>
        </p:nvSpPr>
        <p:spPr/>
        <p:txBody>
          <a:bodyPr>
            <a:normAutofit fontScale="90000"/>
          </a:bodyPr>
          <a:lstStyle/>
          <a:p>
            <a:r>
              <a:rPr lang="en-US"/>
              <a:t>Key Open Question</a:t>
            </a:r>
          </a:p>
        </p:txBody>
      </p:sp>
      <p:sp>
        <p:nvSpPr>
          <p:cNvPr id="3" name="TextBox 2">
            <a:extLst>
              <a:ext uri="{FF2B5EF4-FFF2-40B4-BE49-F238E27FC236}">
                <a16:creationId xmlns:a16="http://schemas.microsoft.com/office/drawing/2014/main" id="{45FFA685-70DD-011B-0D95-7E93B038B65A}"/>
              </a:ext>
            </a:extLst>
          </p:cNvPr>
          <p:cNvSpPr txBox="1"/>
          <p:nvPr/>
        </p:nvSpPr>
        <p:spPr>
          <a:xfrm>
            <a:off x="420623" y="1783080"/>
            <a:ext cx="6949441" cy="3139321"/>
          </a:xfrm>
          <a:prstGeom prst="rect">
            <a:avLst/>
          </a:prstGeom>
          <a:noFill/>
        </p:spPr>
        <p:txBody>
          <a:bodyPr wrap="square" lIns="91440" tIns="45720" rIns="91440" bIns="45720" rtlCol="0" anchor="t">
            <a:spAutoFit/>
          </a:bodyPr>
          <a:lstStyle/>
          <a:p>
            <a:pPr marL="342900" indent="-342900">
              <a:buAutoNum type="arabicPeriod"/>
            </a:pPr>
            <a:r>
              <a:rPr lang="en-US">
                <a:latin typeface="Montserrat"/>
              </a:rPr>
              <a:t>Moving forward will Consumers continue to utilize Street 3 instead of PO Box fields?</a:t>
            </a:r>
          </a:p>
          <a:p>
            <a:pPr marL="342900" indent="-342900">
              <a:buAutoNum type="arabicPeriod"/>
            </a:pPr>
            <a:r>
              <a:rPr lang="en-US">
                <a:latin typeface="Montserrat"/>
              </a:rPr>
              <a:t>How is the BP Type getting determined ? What is this value being used for? </a:t>
            </a:r>
          </a:p>
          <a:p>
            <a:pPr marL="342900" indent="-342900">
              <a:buAutoNum type="arabicPeriod"/>
            </a:pPr>
            <a:r>
              <a:rPr lang="en-US">
                <a:latin typeface="Montserrat"/>
              </a:rPr>
              <a:t>Custom SSN and Driver's license field. What was the intention of this and not using standard ? </a:t>
            </a:r>
          </a:p>
          <a:p>
            <a:pPr marL="342900" indent="-342900">
              <a:buAutoNum type="arabicPeriod"/>
            </a:pPr>
            <a:endParaRPr lang="en-US">
              <a:latin typeface="Montserrat"/>
            </a:endParaRPr>
          </a:p>
          <a:p>
            <a:pPr marL="342900" indent="-342900">
              <a:buAutoNum type="arabicPeriod"/>
            </a:pPr>
            <a:endParaRPr lang="en-US">
              <a:latin typeface="Montserrat"/>
            </a:endParaRPr>
          </a:p>
          <a:p>
            <a:pPr marL="342900" indent="-342900">
              <a:buAutoNum type="arabicPeriod"/>
            </a:pPr>
            <a:endParaRPr lang="en-US">
              <a:latin typeface="Montserrat"/>
            </a:endParaRPr>
          </a:p>
          <a:p>
            <a:pPr marL="342900" indent="-342900">
              <a:buAutoNum type="arabicPeriod"/>
            </a:pPr>
            <a:endParaRPr lang="en-US">
              <a:latin typeface="Montserrat"/>
            </a:endParaRPr>
          </a:p>
          <a:p>
            <a:pPr marL="342900" indent="-342900">
              <a:buAutoNum type="arabicPeriod"/>
            </a:pPr>
            <a:endParaRPr lang="en-US">
              <a:latin typeface="Montserrat"/>
            </a:endParaRPr>
          </a:p>
        </p:txBody>
      </p:sp>
      <p:pic>
        <p:nvPicPr>
          <p:cNvPr id="7" name="Picture 6">
            <a:extLst>
              <a:ext uri="{FF2B5EF4-FFF2-40B4-BE49-F238E27FC236}">
                <a16:creationId xmlns:a16="http://schemas.microsoft.com/office/drawing/2014/main" id="{C805D91E-CE38-9BA1-FFAB-6E788846A171}"/>
              </a:ext>
            </a:extLst>
          </p:cNvPr>
          <p:cNvPicPr>
            <a:picLocks noChangeAspect="1"/>
          </p:cNvPicPr>
          <p:nvPr/>
        </p:nvPicPr>
        <p:blipFill>
          <a:blip r:embed="rId2"/>
          <a:stretch>
            <a:fillRect/>
          </a:stretch>
        </p:blipFill>
        <p:spPr>
          <a:xfrm>
            <a:off x="8195072" y="437960"/>
            <a:ext cx="3453484" cy="3177012"/>
          </a:xfrm>
          <a:prstGeom prst="rect">
            <a:avLst/>
          </a:prstGeom>
        </p:spPr>
      </p:pic>
      <p:cxnSp>
        <p:nvCxnSpPr>
          <p:cNvPr id="9" name="Connector: Curved 8">
            <a:extLst>
              <a:ext uri="{FF2B5EF4-FFF2-40B4-BE49-F238E27FC236}">
                <a16:creationId xmlns:a16="http://schemas.microsoft.com/office/drawing/2014/main" id="{091CA09B-4521-D61F-9432-FF7D0C8D35CD}"/>
              </a:ext>
            </a:extLst>
          </p:cNvPr>
          <p:cNvCxnSpPr>
            <a:cxnSpLocks/>
            <a:endCxn id="7" idx="1"/>
          </p:cNvCxnSpPr>
          <p:nvPr/>
        </p:nvCxnSpPr>
        <p:spPr>
          <a:xfrm flipV="1">
            <a:off x="7205472" y="2026466"/>
            <a:ext cx="989600" cy="497278"/>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420228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F6546-0917-2223-2132-83F51DBFF8C7}"/>
              </a:ext>
            </a:extLst>
          </p:cNvPr>
          <p:cNvSpPr>
            <a:spLocks noGrp="1"/>
          </p:cNvSpPr>
          <p:nvPr>
            <p:ph type="title"/>
          </p:nvPr>
        </p:nvSpPr>
        <p:spPr/>
        <p:txBody>
          <a:bodyPr>
            <a:normAutofit fontScale="90000"/>
          </a:bodyPr>
          <a:lstStyle/>
          <a:p>
            <a:r>
              <a:rPr lang="en-US">
                <a:latin typeface="Montserrat"/>
              </a:rPr>
              <a:t>Potential Decisions captured in BMD Workshop A-1</a:t>
            </a:r>
            <a:endParaRPr lang="en-US"/>
          </a:p>
        </p:txBody>
      </p:sp>
      <p:graphicFrame>
        <p:nvGraphicFramePr>
          <p:cNvPr id="3" name="Table 2">
            <a:extLst>
              <a:ext uri="{FF2B5EF4-FFF2-40B4-BE49-F238E27FC236}">
                <a16:creationId xmlns:a16="http://schemas.microsoft.com/office/drawing/2014/main" id="{8740627D-C5BA-801D-DFB3-C01B63327E67}"/>
              </a:ext>
            </a:extLst>
          </p:cNvPr>
          <p:cNvGraphicFramePr>
            <a:graphicFrameLocks noGrp="1"/>
          </p:cNvGraphicFramePr>
          <p:nvPr>
            <p:extLst>
              <p:ext uri="{D42A27DB-BD31-4B8C-83A1-F6EECF244321}">
                <p14:modId xmlns:p14="http://schemas.microsoft.com/office/powerpoint/2010/main" val="507899850"/>
              </p:ext>
            </p:extLst>
          </p:nvPr>
        </p:nvGraphicFramePr>
        <p:xfrm>
          <a:off x="589350" y="1518780"/>
          <a:ext cx="10655805" cy="3579981"/>
        </p:xfrm>
        <a:graphic>
          <a:graphicData uri="http://schemas.openxmlformats.org/drawingml/2006/table">
            <a:tbl>
              <a:tblPr firstRow="1" bandRow="1">
                <a:tableStyleId>{5C22544A-7EE6-4342-B048-85BDC9FD1C3A}</a:tableStyleId>
              </a:tblPr>
              <a:tblGrid>
                <a:gridCol w="3535679">
                  <a:extLst>
                    <a:ext uri="{9D8B030D-6E8A-4147-A177-3AD203B41FA5}">
                      <a16:colId xmlns:a16="http://schemas.microsoft.com/office/drawing/2014/main" val="1902017279"/>
                    </a:ext>
                  </a:extLst>
                </a:gridCol>
                <a:gridCol w="7120126">
                  <a:extLst>
                    <a:ext uri="{9D8B030D-6E8A-4147-A177-3AD203B41FA5}">
                      <a16:colId xmlns:a16="http://schemas.microsoft.com/office/drawing/2014/main" val="2080141570"/>
                    </a:ext>
                  </a:extLst>
                </a:gridCol>
              </a:tblGrid>
              <a:tr h="520392">
                <a:tc>
                  <a:txBody>
                    <a:bodyPr/>
                    <a:lstStyle/>
                    <a:p>
                      <a:r>
                        <a:rPr lang="en-US" sz="1200"/>
                        <a:t>Decision</a:t>
                      </a:r>
                    </a:p>
                  </a:txBody>
                  <a:tcPr/>
                </a:tc>
                <a:tc>
                  <a:txBody>
                    <a:bodyPr/>
                    <a:lstStyle/>
                    <a:p>
                      <a:pPr lvl="0">
                        <a:buNone/>
                      </a:pPr>
                      <a:r>
                        <a:rPr lang="en-US" sz="1200"/>
                        <a:t>Notes / Action Required</a:t>
                      </a:r>
                    </a:p>
                  </a:txBody>
                  <a:tcPr/>
                </a:tc>
                <a:extLst>
                  <a:ext uri="{0D108BD9-81ED-4DB2-BD59-A6C34878D82A}">
                    <a16:rowId xmlns:a16="http://schemas.microsoft.com/office/drawing/2014/main" val="708663119"/>
                  </a:ext>
                </a:extLst>
              </a:tr>
              <a:tr h="753198">
                <a:tc>
                  <a:txBody>
                    <a:bodyPr/>
                    <a:lstStyle/>
                    <a:p>
                      <a:pPr lvl="0">
                        <a:buNone/>
                      </a:pPr>
                      <a:r>
                        <a:rPr lang="en-US" sz="1400">
                          <a:latin typeface="Aptos"/>
                        </a:rPr>
                        <a:t>Titles should not auto populate gender in V2</a:t>
                      </a:r>
                    </a:p>
                  </a:txBody>
                  <a:tcPr/>
                </a:tc>
                <a:tc>
                  <a:txBody>
                    <a:bodyPr/>
                    <a:lstStyle/>
                    <a:p>
                      <a:pPr lvl="0">
                        <a:buNone/>
                      </a:pPr>
                      <a:r>
                        <a:rPr lang="en-US" sz="1400" b="0" i="0" u="none" strike="noStrike" noProof="0">
                          <a:latin typeface="Aptos"/>
                        </a:rPr>
                        <a:t>In Service Cloud V2, gender should not be defaulted based on other fields. There have been many issues in current state with customers not being identified with the correct title.</a:t>
                      </a:r>
                      <a:endParaRPr lang="en-US" sz="1400">
                        <a:latin typeface="Aptos"/>
                      </a:endParaRPr>
                    </a:p>
                  </a:txBody>
                  <a:tcPr/>
                </a:tc>
                <a:extLst>
                  <a:ext uri="{0D108BD9-81ED-4DB2-BD59-A6C34878D82A}">
                    <a16:rowId xmlns:a16="http://schemas.microsoft.com/office/drawing/2014/main" val="2020594675"/>
                  </a:ext>
                </a:extLst>
              </a:tr>
              <a:tr h="972312">
                <a:tc>
                  <a:txBody>
                    <a:bodyPr/>
                    <a:lstStyle/>
                    <a:p>
                      <a:r>
                        <a:rPr lang="en-US" sz="1400">
                          <a:latin typeface="Aptos"/>
                        </a:rPr>
                        <a:t>Will PO Box Fields be needed for future state? </a:t>
                      </a:r>
                    </a:p>
                  </a:txBody>
                  <a:tcPr/>
                </a:tc>
                <a:tc>
                  <a:txBody>
                    <a:bodyPr/>
                    <a:lstStyle/>
                    <a:p>
                      <a:pPr lvl="0" algn="l">
                        <a:lnSpc>
                          <a:spcPct val="100000"/>
                        </a:lnSpc>
                        <a:spcBef>
                          <a:spcPts val="0"/>
                        </a:spcBef>
                        <a:spcAft>
                          <a:spcPts val="0"/>
                        </a:spcAft>
                        <a:buNone/>
                      </a:pPr>
                      <a:r>
                        <a:rPr lang="en-US" sz="1400" b="0" i="0" u="none" strike="noStrike" noProof="0">
                          <a:solidFill>
                            <a:srgbClr val="000000"/>
                          </a:solidFill>
                          <a:latin typeface="Aptos"/>
                          <a:ea typeface="Calibri"/>
                          <a:cs typeface="Calibri"/>
                        </a:rPr>
                        <a:t>Need to check if there are PO Boxes that are utilizing fields in CRM7, need to determine if we need this for future state. (DQM is not validating these fields)</a:t>
                      </a:r>
                    </a:p>
                    <a:p>
                      <a:pPr lvl="0" algn="l">
                        <a:lnSpc>
                          <a:spcPct val="100000"/>
                        </a:lnSpc>
                        <a:spcBef>
                          <a:spcPts val="0"/>
                        </a:spcBef>
                        <a:spcAft>
                          <a:spcPts val="0"/>
                        </a:spcAft>
                        <a:buNone/>
                      </a:pPr>
                      <a:r>
                        <a:rPr lang="en-US" sz="1400" b="0" i="0" u="none" strike="noStrike" noProof="0">
                          <a:solidFill>
                            <a:srgbClr val="000000"/>
                          </a:solidFill>
                          <a:latin typeface="Aptos"/>
                        </a:rPr>
                        <a:t>Confirmed: Private PO Box Field is currently being used so will need that for the future state</a:t>
                      </a:r>
                      <a:endParaRPr lang="en-US" sz="1400">
                        <a:latin typeface="Aptos"/>
                      </a:endParaRPr>
                    </a:p>
                  </a:txBody>
                  <a:tcPr/>
                </a:tc>
                <a:extLst>
                  <a:ext uri="{0D108BD9-81ED-4DB2-BD59-A6C34878D82A}">
                    <a16:rowId xmlns:a16="http://schemas.microsoft.com/office/drawing/2014/main" val="1105393934"/>
                  </a:ext>
                </a:extLst>
              </a:tr>
              <a:tr h="602559">
                <a:tc>
                  <a:txBody>
                    <a:bodyPr/>
                    <a:lstStyle/>
                    <a:p>
                      <a:pPr lvl="0">
                        <a:buNone/>
                      </a:pPr>
                      <a:r>
                        <a:rPr lang="en-US" sz="1400" b="0" i="0" u="none" strike="noStrike" noProof="0">
                          <a:latin typeface="Aptos"/>
                        </a:rPr>
                        <a:t>Will we need to show VAPS DNS or Info Release in SC V2 for Org BPs?</a:t>
                      </a:r>
                      <a:endParaRPr lang="en-US" sz="1400"/>
                    </a:p>
                  </a:txBody>
                  <a:tcPr/>
                </a:tc>
                <a:tc>
                  <a:txBody>
                    <a:bodyPr/>
                    <a:lstStyle/>
                    <a:p>
                      <a:pPr lvl="0" algn="l">
                        <a:lnSpc>
                          <a:spcPct val="100000"/>
                        </a:lnSpc>
                        <a:spcBef>
                          <a:spcPts val="0"/>
                        </a:spcBef>
                        <a:spcAft>
                          <a:spcPts val="0"/>
                        </a:spcAft>
                        <a:buNone/>
                      </a:pPr>
                      <a:r>
                        <a:rPr lang="en-US" sz="1400" b="0" i="0" u="none" strike="noStrike" noProof="0"/>
                        <a:t>Business Center wants the DNS flags (INFO RELEASE) - they do not need the Do Not Solicit-VAPS they will use INFO RELEASE in BP so they can add this flag vs. having to send it to Digital Ops to add.</a:t>
                      </a:r>
                      <a:endParaRPr lang="en-US" sz="1400"/>
                    </a:p>
                  </a:txBody>
                  <a:tcPr/>
                </a:tc>
                <a:extLst>
                  <a:ext uri="{0D108BD9-81ED-4DB2-BD59-A6C34878D82A}">
                    <a16:rowId xmlns:a16="http://schemas.microsoft.com/office/drawing/2014/main" val="3483130447"/>
                  </a:ext>
                </a:extLst>
              </a:tr>
              <a:tr h="602559">
                <a:tc>
                  <a:txBody>
                    <a:bodyPr/>
                    <a:lstStyle/>
                    <a:p>
                      <a:pPr lvl="0">
                        <a:buNone/>
                      </a:pPr>
                      <a:r>
                        <a:rPr lang="en-US" sz="1400" b="0" i="0" u="none" strike="noStrike" noProof="0">
                          <a:latin typeface="Aptos"/>
                        </a:rPr>
                        <a:t>Coding for Notes Interaction in Service Cloud V2</a:t>
                      </a:r>
                      <a:endParaRPr lang="en-US" sz="1400">
                        <a:latin typeface="Aptos"/>
                      </a:endParaRPr>
                    </a:p>
                  </a:txBody>
                  <a:tcPr/>
                </a:tc>
                <a:tc>
                  <a:txBody>
                    <a:bodyPr/>
                    <a:lstStyle/>
                    <a:p>
                      <a:pPr lvl="0" algn="l">
                        <a:lnSpc>
                          <a:spcPct val="100000"/>
                        </a:lnSpc>
                        <a:spcBef>
                          <a:spcPts val="0"/>
                        </a:spcBef>
                        <a:spcAft>
                          <a:spcPts val="0"/>
                        </a:spcAft>
                        <a:buNone/>
                      </a:pPr>
                      <a:r>
                        <a:rPr lang="en-US" sz="1400" b="0" i="0" u="none" strike="noStrike" noProof="0">
                          <a:solidFill>
                            <a:srgbClr val="000000"/>
                          </a:solidFill>
                          <a:latin typeface="Aptos"/>
                        </a:rPr>
                        <a:t>Currently in CRM7 the Notes Interaction is coded through ECC. Need to decide how we will be doing this for Service Cloud.</a:t>
                      </a:r>
                      <a:endParaRPr lang="en-US" sz="1400">
                        <a:latin typeface="Aptos"/>
                      </a:endParaRPr>
                    </a:p>
                  </a:txBody>
                  <a:tcPr/>
                </a:tc>
                <a:extLst>
                  <a:ext uri="{0D108BD9-81ED-4DB2-BD59-A6C34878D82A}">
                    <a16:rowId xmlns:a16="http://schemas.microsoft.com/office/drawing/2014/main" val="3778411054"/>
                  </a:ext>
                </a:extLst>
              </a:tr>
            </a:tbl>
          </a:graphicData>
        </a:graphic>
      </p:graphicFrame>
    </p:spTree>
    <p:extLst>
      <p:ext uri="{BB962C8B-B14F-4D97-AF65-F5344CB8AC3E}">
        <p14:creationId xmlns:p14="http://schemas.microsoft.com/office/powerpoint/2010/main" val="3918612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2EDE2-C629-0ECC-E66B-8A4A13EDFA2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597FD0F-3E1D-D644-5432-29FF22D04E82}"/>
              </a:ext>
            </a:extLst>
          </p:cNvPr>
          <p:cNvSpPr>
            <a:spLocks noGrp="1"/>
          </p:cNvSpPr>
          <p:nvPr>
            <p:ph type="title"/>
          </p:nvPr>
        </p:nvSpPr>
        <p:spPr>
          <a:xfrm>
            <a:off x="268904" y="4970926"/>
            <a:ext cx="10831690" cy="1887074"/>
          </a:xfrm>
        </p:spPr>
        <p:txBody>
          <a:bodyPr/>
          <a:lstStyle/>
          <a:p>
            <a:r>
              <a:rPr lang="en-US" sz="4250" b="1">
                <a:latin typeface="Montserrat"/>
              </a:rPr>
              <a:t>06</a:t>
            </a:r>
            <a:r>
              <a:rPr lang="en-US" sz="4250">
                <a:latin typeface="Montserrat"/>
              </a:rPr>
              <a:t> </a:t>
            </a:r>
            <a:r>
              <a:rPr lang="en-US" sz="4400">
                <a:latin typeface="Montserrat"/>
              </a:rPr>
              <a:t>FRICE-W</a:t>
            </a:r>
            <a:endParaRPr lang="en-US"/>
          </a:p>
        </p:txBody>
      </p:sp>
    </p:spTree>
    <p:extLst>
      <p:ext uri="{BB962C8B-B14F-4D97-AF65-F5344CB8AC3E}">
        <p14:creationId xmlns:p14="http://schemas.microsoft.com/office/powerpoint/2010/main" val="30937264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B50B024-5B2C-73D1-0F65-38C1CBB14B5B}"/>
              </a:ext>
            </a:extLst>
          </p:cNvPr>
          <p:cNvSpPr>
            <a:spLocks noGrp="1"/>
          </p:cNvSpPr>
          <p:nvPr>
            <p:ph idx="1"/>
          </p:nvPr>
        </p:nvSpPr>
        <p:spPr/>
        <p:txBody>
          <a:bodyPr vert="horz" lIns="0" tIns="45720" rIns="91440" bIns="45720" rtlCol="0" anchor="t">
            <a:normAutofit/>
          </a:bodyPr>
          <a:lstStyle/>
          <a:p>
            <a:pPr marL="342900" indent="-342900">
              <a:spcBef>
                <a:spcPts val="0"/>
              </a:spcBef>
              <a:spcAft>
                <a:spcPts val="300"/>
              </a:spcAft>
              <a:buAutoNum type="arabicPeriod"/>
            </a:pPr>
            <a:r>
              <a:rPr lang="en-US" sz="1800">
                <a:latin typeface="Montserrat"/>
              </a:rPr>
              <a:t>Telephone number format and length validation</a:t>
            </a:r>
            <a:endParaRPr lang="en-US"/>
          </a:p>
          <a:p>
            <a:pPr marL="342900" indent="-342900">
              <a:spcBef>
                <a:spcPts val="0"/>
              </a:spcBef>
              <a:spcAft>
                <a:spcPts val="300"/>
              </a:spcAft>
              <a:buAutoNum type="arabicPeriod"/>
            </a:pPr>
            <a:r>
              <a:rPr lang="en-US" sz="1800">
                <a:latin typeface="Montserrat"/>
              </a:rPr>
              <a:t>ID Masking</a:t>
            </a:r>
          </a:p>
          <a:p>
            <a:pPr marL="342900" indent="-342900">
              <a:spcBef>
                <a:spcPts val="0"/>
              </a:spcBef>
              <a:spcAft>
                <a:spcPts val="300"/>
              </a:spcAft>
              <a:buAutoNum type="arabicPeriod"/>
            </a:pPr>
            <a:r>
              <a:rPr lang="en-US" sz="1800">
                <a:latin typeface="Montserrat"/>
              </a:rPr>
              <a:t>ID types format and length validation</a:t>
            </a:r>
          </a:p>
          <a:p>
            <a:pPr marL="800100" lvl="1" indent="-342900">
              <a:spcBef>
                <a:spcPts val="0"/>
              </a:spcBef>
              <a:spcAft>
                <a:spcPts val="300"/>
              </a:spcAft>
              <a:buAutoNum type="alphaLcPeriod"/>
            </a:pPr>
            <a:r>
              <a:rPr lang="en-US" sz="1800">
                <a:latin typeface="Montserrat"/>
              </a:rPr>
              <a:t>Driver's License format and length</a:t>
            </a:r>
          </a:p>
          <a:p>
            <a:pPr marL="800100" lvl="1" indent="-342900">
              <a:spcBef>
                <a:spcPts val="0"/>
              </a:spcBef>
              <a:spcAft>
                <a:spcPts val="300"/>
              </a:spcAft>
              <a:buAutoNum type="alphaLcPeriod"/>
            </a:pPr>
            <a:r>
              <a:rPr lang="en-US" sz="1800">
                <a:latin typeface="Montserrat"/>
              </a:rPr>
              <a:t>Social Security format and length </a:t>
            </a:r>
          </a:p>
          <a:p>
            <a:pPr marL="342900" indent="-342900">
              <a:spcBef>
                <a:spcPts val="0"/>
              </a:spcBef>
              <a:spcAft>
                <a:spcPts val="300"/>
              </a:spcAft>
              <a:buAutoNum type="arabicPeriod"/>
            </a:pPr>
            <a:r>
              <a:rPr lang="en-US" sz="1800">
                <a:latin typeface="Montserrat"/>
              </a:rPr>
              <a:t>DQM address validation </a:t>
            </a:r>
          </a:p>
          <a:p>
            <a:pPr marL="342900" indent="-342900">
              <a:spcBef>
                <a:spcPts val="0"/>
              </a:spcBef>
              <a:spcAft>
                <a:spcPts val="300"/>
              </a:spcAft>
              <a:buAutoNum type="arabicPeriod"/>
            </a:pPr>
            <a:r>
              <a:rPr lang="en-US" sz="1800">
                <a:latin typeface="Montserrat"/>
              </a:rPr>
              <a:t>Business Partner Field Enhancements (Custom fields and extension)</a:t>
            </a:r>
          </a:p>
          <a:p>
            <a:pPr marL="342900" indent="-342900">
              <a:spcBef>
                <a:spcPts val="0"/>
              </a:spcBef>
              <a:spcAft>
                <a:spcPts val="300"/>
              </a:spcAft>
              <a:buAutoNum type="arabicPeriod"/>
            </a:pPr>
            <a:r>
              <a:rPr lang="en-US" sz="1800">
                <a:latin typeface="Montserrat"/>
              </a:rPr>
              <a:t>Contract Account Field Enhancements (Custom fields and extension)</a:t>
            </a:r>
          </a:p>
        </p:txBody>
      </p:sp>
      <p:sp>
        <p:nvSpPr>
          <p:cNvPr id="2" name="Title 1">
            <a:extLst>
              <a:ext uri="{FF2B5EF4-FFF2-40B4-BE49-F238E27FC236}">
                <a16:creationId xmlns:a16="http://schemas.microsoft.com/office/drawing/2014/main" id="{27854201-7694-B80E-BB57-4FB9BB6516B4}"/>
              </a:ext>
            </a:extLst>
          </p:cNvPr>
          <p:cNvSpPr>
            <a:spLocks noGrp="1"/>
          </p:cNvSpPr>
          <p:nvPr>
            <p:ph type="title"/>
          </p:nvPr>
        </p:nvSpPr>
        <p:spPr/>
        <p:txBody>
          <a:bodyPr>
            <a:normAutofit/>
          </a:bodyPr>
          <a:lstStyle/>
          <a:p>
            <a:r>
              <a:rPr lang="en-US">
                <a:latin typeface="Montserrat"/>
              </a:rPr>
              <a:t>FRICE-W Identified</a:t>
            </a:r>
          </a:p>
        </p:txBody>
      </p:sp>
    </p:spTree>
    <p:extLst>
      <p:ext uri="{BB962C8B-B14F-4D97-AF65-F5344CB8AC3E}">
        <p14:creationId xmlns:p14="http://schemas.microsoft.com/office/powerpoint/2010/main" val="25453895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AE8D7-1EFB-05D1-51F6-7FE02C066DD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C66E776-CABB-A883-38E3-FB62E6868850}"/>
              </a:ext>
            </a:extLst>
          </p:cNvPr>
          <p:cNvSpPr>
            <a:spLocks noGrp="1"/>
          </p:cNvSpPr>
          <p:nvPr>
            <p:ph type="title"/>
          </p:nvPr>
        </p:nvSpPr>
        <p:spPr>
          <a:xfrm>
            <a:off x="268904" y="4970926"/>
            <a:ext cx="10831690" cy="1887074"/>
          </a:xfrm>
        </p:spPr>
        <p:txBody>
          <a:bodyPr/>
          <a:lstStyle/>
          <a:p>
            <a:r>
              <a:rPr lang="en-US" sz="4250" b="1">
                <a:latin typeface="Montserrat"/>
              </a:rPr>
              <a:t>07</a:t>
            </a:r>
            <a:r>
              <a:rPr lang="en-US" sz="4250">
                <a:latin typeface="Montserrat"/>
              </a:rPr>
              <a:t> Drafted </a:t>
            </a:r>
            <a:r>
              <a:rPr lang="en-US" sz="4400">
                <a:latin typeface="Montserrat"/>
              </a:rPr>
              <a:t>User Stories</a:t>
            </a:r>
            <a:endParaRPr lang="en-US"/>
          </a:p>
        </p:txBody>
      </p:sp>
    </p:spTree>
    <p:extLst>
      <p:ext uri="{BB962C8B-B14F-4D97-AF65-F5344CB8AC3E}">
        <p14:creationId xmlns:p14="http://schemas.microsoft.com/office/powerpoint/2010/main" val="11804158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69E81-EF5E-7959-2041-1D04A53FCC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DA383F-4927-0444-587E-4284181D7C5E}"/>
              </a:ext>
            </a:extLst>
          </p:cNvPr>
          <p:cNvSpPr>
            <a:spLocks noGrp="1"/>
          </p:cNvSpPr>
          <p:nvPr>
            <p:ph type="title"/>
          </p:nvPr>
        </p:nvSpPr>
        <p:spPr/>
        <p:txBody>
          <a:bodyPr>
            <a:normAutofit fontScale="90000"/>
          </a:bodyPr>
          <a:lstStyle/>
          <a:p>
            <a:r>
              <a:rPr lang="en-US">
                <a:latin typeface="Montserrat"/>
              </a:rPr>
              <a:t>User Stories for Create and Maintain Business Master Data</a:t>
            </a:r>
            <a:endParaRPr lang="en-US"/>
          </a:p>
        </p:txBody>
      </p:sp>
      <p:graphicFrame>
        <p:nvGraphicFramePr>
          <p:cNvPr id="8" name="Table 7">
            <a:extLst>
              <a:ext uri="{FF2B5EF4-FFF2-40B4-BE49-F238E27FC236}">
                <a16:creationId xmlns:a16="http://schemas.microsoft.com/office/drawing/2014/main" id="{EBD8FAA2-4B6C-BC4B-328F-08ECDE8FD127}"/>
              </a:ext>
            </a:extLst>
          </p:cNvPr>
          <p:cNvGraphicFramePr>
            <a:graphicFrameLocks noGrp="1"/>
          </p:cNvGraphicFramePr>
          <p:nvPr>
            <p:extLst>
              <p:ext uri="{D42A27DB-BD31-4B8C-83A1-F6EECF244321}">
                <p14:modId xmlns:p14="http://schemas.microsoft.com/office/powerpoint/2010/main" val="2115890668"/>
              </p:ext>
            </p:extLst>
          </p:nvPr>
        </p:nvGraphicFramePr>
        <p:xfrm>
          <a:off x="152190" y="1427725"/>
          <a:ext cx="12037059" cy="5029200"/>
        </p:xfrm>
        <a:graphic>
          <a:graphicData uri="http://schemas.openxmlformats.org/drawingml/2006/table">
            <a:tbl>
              <a:tblPr firstRow="1" bandRow="1">
                <a:tableStyleId>{5C22544A-7EE6-4342-B048-85BDC9FD1C3A}</a:tableStyleId>
              </a:tblPr>
              <a:tblGrid>
                <a:gridCol w="780288">
                  <a:extLst>
                    <a:ext uri="{9D8B030D-6E8A-4147-A177-3AD203B41FA5}">
                      <a16:colId xmlns:a16="http://schemas.microsoft.com/office/drawing/2014/main" val="808626716"/>
                    </a:ext>
                  </a:extLst>
                </a:gridCol>
                <a:gridCol w="655677">
                  <a:extLst>
                    <a:ext uri="{9D8B030D-6E8A-4147-A177-3AD203B41FA5}">
                      <a16:colId xmlns:a16="http://schemas.microsoft.com/office/drawing/2014/main" val="2583136349"/>
                    </a:ext>
                  </a:extLst>
                </a:gridCol>
                <a:gridCol w="774546">
                  <a:extLst>
                    <a:ext uri="{9D8B030D-6E8A-4147-A177-3AD203B41FA5}">
                      <a16:colId xmlns:a16="http://schemas.microsoft.com/office/drawing/2014/main" val="986637745"/>
                    </a:ext>
                  </a:extLst>
                </a:gridCol>
                <a:gridCol w="820264">
                  <a:extLst>
                    <a:ext uri="{9D8B030D-6E8A-4147-A177-3AD203B41FA5}">
                      <a16:colId xmlns:a16="http://schemas.microsoft.com/office/drawing/2014/main" val="1256446933"/>
                    </a:ext>
                  </a:extLst>
                </a:gridCol>
                <a:gridCol w="3456786">
                  <a:extLst>
                    <a:ext uri="{9D8B030D-6E8A-4147-A177-3AD203B41FA5}">
                      <a16:colId xmlns:a16="http://schemas.microsoft.com/office/drawing/2014/main" val="1397567261"/>
                    </a:ext>
                  </a:extLst>
                </a:gridCol>
                <a:gridCol w="5549498">
                  <a:extLst>
                    <a:ext uri="{9D8B030D-6E8A-4147-A177-3AD203B41FA5}">
                      <a16:colId xmlns:a16="http://schemas.microsoft.com/office/drawing/2014/main" val="1493299998"/>
                    </a:ext>
                  </a:extLst>
                </a:gridCol>
              </a:tblGrid>
              <a:tr h="116048">
                <a:tc>
                  <a:txBody>
                    <a:bodyPr/>
                    <a:lstStyle/>
                    <a:p>
                      <a:pPr lvl="0">
                        <a:buNone/>
                      </a:pPr>
                      <a:r>
                        <a:rPr lang="en-US" sz="1000">
                          <a:effectLst/>
                        </a:rPr>
                        <a:t>L1</a:t>
                      </a:r>
                    </a:p>
                  </a:txBody>
                  <a:tcPr marL="0" marR="0" marT="0" marB="0" anchor="ctr"/>
                </a:tc>
                <a:tc>
                  <a:txBody>
                    <a:bodyPr/>
                    <a:lstStyle/>
                    <a:p>
                      <a:pPr lvl="0">
                        <a:buNone/>
                      </a:pPr>
                      <a:r>
                        <a:rPr lang="en-US" sz="1000">
                          <a:effectLst/>
                        </a:rPr>
                        <a:t>L2</a:t>
                      </a:r>
                    </a:p>
                  </a:txBody>
                  <a:tcPr marL="0" marR="0" marT="0" marB="0" anchor="ctr"/>
                </a:tc>
                <a:tc>
                  <a:txBody>
                    <a:bodyPr/>
                    <a:lstStyle/>
                    <a:p>
                      <a:pPr lvl="0">
                        <a:buNone/>
                      </a:pPr>
                      <a:r>
                        <a:rPr lang="en-US" sz="1000">
                          <a:effectLst/>
                        </a:rPr>
                        <a:t>L3</a:t>
                      </a:r>
                    </a:p>
                  </a:txBody>
                  <a:tcPr marL="0" marR="0" marT="0" marB="0" anchor="ctr"/>
                </a:tc>
                <a:tc>
                  <a:txBody>
                    <a:bodyPr/>
                    <a:lstStyle/>
                    <a:p>
                      <a:pPr lvl="0">
                        <a:buNone/>
                      </a:pPr>
                      <a:r>
                        <a:rPr lang="en-US" sz="1000">
                          <a:effectLst/>
                        </a:rPr>
                        <a:t>L4</a:t>
                      </a:r>
                    </a:p>
                  </a:txBody>
                  <a:tcPr marL="0" marR="0" marT="0" marB="0" anchor="ctr"/>
                </a:tc>
                <a:tc>
                  <a:txBody>
                    <a:bodyPr/>
                    <a:lstStyle/>
                    <a:p>
                      <a:pPr lvl="0">
                        <a:buNone/>
                      </a:pPr>
                      <a:r>
                        <a:rPr lang="en-US" sz="1000">
                          <a:effectLst/>
                        </a:rPr>
                        <a:t>User Story</a:t>
                      </a:r>
                    </a:p>
                  </a:txBody>
                  <a:tcPr marL="0" marR="0" marT="0" marB="0" anchor="ctr"/>
                </a:tc>
                <a:tc>
                  <a:txBody>
                    <a:bodyPr/>
                    <a:lstStyle/>
                    <a:p>
                      <a:pPr lvl="0">
                        <a:buNone/>
                      </a:pPr>
                      <a:r>
                        <a:rPr lang="en-US" sz="1000">
                          <a:effectLst/>
                        </a:rPr>
                        <a:t>Acceptance Criteria</a:t>
                      </a:r>
                    </a:p>
                  </a:txBody>
                  <a:tcPr marL="0" marR="0" marT="0" marB="0" anchor="ctr"/>
                </a:tc>
                <a:extLst>
                  <a:ext uri="{0D108BD9-81ED-4DB2-BD59-A6C34878D82A}">
                    <a16:rowId xmlns:a16="http://schemas.microsoft.com/office/drawing/2014/main" val="848898239"/>
                  </a:ext>
                </a:extLst>
              </a:tr>
              <a:tr h="584246">
                <a:tc>
                  <a:txBody>
                    <a:bodyPr/>
                    <a:lstStyle/>
                    <a:p>
                      <a:pPr>
                        <a:buNone/>
                      </a:pPr>
                      <a:r>
                        <a:rPr lang="en-US" sz="800">
                          <a:effectLst/>
                        </a:rPr>
                        <a:t>Manage Customer Service</a:t>
                      </a:r>
                    </a:p>
                  </a:txBody>
                  <a:tcPr marL="0" marR="0" marT="0" marB="0" anchor="ctr"/>
                </a:tc>
                <a:tc>
                  <a:txBody>
                    <a:bodyPr/>
                    <a:lstStyle/>
                    <a:p>
                      <a:pPr>
                        <a:buNone/>
                      </a:pPr>
                      <a:r>
                        <a:rPr lang="en-US" sz="800">
                          <a:effectLst/>
                        </a:rPr>
                        <a:t>Create &amp; Maintain Business Master Data (BMD)</a:t>
                      </a:r>
                    </a:p>
                  </a:txBody>
                  <a:tcPr marL="0" marR="0" marT="0" marB="0" anchor="ctr"/>
                </a:tc>
                <a:tc>
                  <a:txBody>
                    <a:bodyPr/>
                    <a:lstStyle/>
                    <a:p>
                      <a:pPr>
                        <a:buNone/>
                      </a:pPr>
                      <a:r>
                        <a:rPr lang="en-US" sz="800">
                          <a:effectLst/>
                        </a:rPr>
                        <a:t>Create Business Master Data</a:t>
                      </a:r>
                    </a:p>
                  </a:txBody>
                  <a:tcPr marL="0" marR="0" marT="0" marB="0" anchor="ctr"/>
                </a:tc>
                <a:tc>
                  <a:txBody>
                    <a:bodyPr/>
                    <a:lstStyle/>
                    <a:p>
                      <a:pPr>
                        <a:buNone/>
                      </a:pPr>
                      <a:r>
                        <a:rPr lang="en-US" sz="800">
                          <a:effectLst/>
                        </a:rPr>
                        <a:t>Create and Maintain Business Partner</a:t>
                      </a:r>
                      <a:br>
                        <a:rPr lang="en-US" sz="800">
                          <a:effectLst/>
                        </a:rPr>
                      </a:br>
                      <a:endParaRPr lang="en-US" sz="800">
                        <a:effectLst/>
                      </a:endParaRPr>
                    </a:p>
                  </a:txBody>
                  <a:tcPr marL="0" marR="0" marT="0" marB="0" anchor="ctr"/>
                </a:tc>
                <a:tc>
                  <a:txBody>
                    <a:bodyPr/>
                    <a:lstStyle/>
                    <a:p>
                      <a:pPr>
                        <a:buNone/>
                      </a:pPr>
                      <a:r>
                        <a:rPr lang="en-US" sz="800">
                          <a:effectLst/>
                        </a:rPr>
                        <a:t>As an SAP Customer Service Master Data Specialist, I want to Create Business Master Data by creating and maintaining business partners within the Create &amp; Maintain Business Master Data area of Manage Customer Service to ensure reliable and current operational records.</a:t>
                      </a:r>
                    </a:p>
                  </a:txBody>
                  <a:tcPr marL="0" marR="0" marT="0" marB="0" anchor="ctr"/>
                </a:tc>
                <a:tc>
                  <a:txBody>
                    <a:bodyPr/>
                    <a:lstStyle/>
                    <a:p>
                      <a:pPr marL="228600" indent="-228600">
                        <a:buAutoNum type="arabicPeriod"/>
                      </a:pPr>
                      <a:r>
                        <a:rPr lang="en-US" sz="800" dirty="0">
                          <a:effectLst/>
                        </a:rPr>
                        <a:t>Able to enter business partner data for creation.</a:t>
                      </a:r>
                      <a:br>
                        <a:rPr lang="en-US" sz="800" dirty="0">
                          <a:effectLst/>
                        </a:rPr>
                      </a:br>
                      <a:r>
                        <a:rPr lang="en-US" sz="800" dirty="0">
                          <a:effectLst/>
                        </a:rPr>
                        <a:t>3.Able to save a newly created business partner record.</a:t>
                      </a:r>
                      <a:br>
                        <a:rPr lang="en-US" sz="800" dirty="0">
                          <a:effectLst/>
                        </a:rPr>
                      </a:br>
                      <a:r>
                        <a:rPr lang="en-US" sz="800" dirty="0">
                          <a:effectLst/>
                        </a:rPr>
                        <a:t>4.Able to open an existing business partner for maintenance.</a:t>
                      </a:r>
                      <a:br>
                        <a:rPr lang="en-US" sz="800" dirty="0">
                          <a:effectLst/>
                        </a:rPr>
                      </a:br>
                      <a:r>
                        <a:rPr lang="en-US" sz="800" dirty="0">
                          <a:effectLst/>
                        </a:rPr>
                        <a:t>5.Able to edit business partner data during maintenance.</a:t>
                      </a:r>
                      <a:br>
                        <a:rPr lang="en-US" sz="800" dirty="0">
                          <a:effectLst/>
                        </a:rPr>
                      </a:br>
                      <a:r>
                        <a:rPr lang="en-US" sz="800" dirty="0">
                          <a:effectLst/>
                        </a:rPr>
                        <a:t>6.Able to save maintained changes to a business partner record.</a:t>
                      </a:r>
                      <a:br>
                        <a:rPr lang="en-US" sz="800" dirty="0">
                          <a:effectLst/>
                        </a:rPr>
                      </a:br>
                      <a:r>
                        <a:rPr lang="en-US" sz="800" dirty="0">
                          <a:effectLst/>
                        </a:rPr>
                        <a:t>7.Able to view a business partner record after creation or maintenance.</a:t>
                      </a:r>
                      <a:br>
                        <a:rPr lang="en-US" sz="800" dirty="0">
                          <a:effectLst/>
                        </a:rPr>
                      </a:br>
                      <a:r>
                        <a:rPr lang="en-US" sz="800" dirty="0">
                          <a:effectLst/>
                        </a:rPr>
                        <a:t>8.Able to select a business partner record for maintenance from available records.</a:t>
                      </a:r>
                      <a:br>
                        <a:rPr lang="en-US" sz="800" dirty="0">
                          <a:effectLst/>
                        </a:rPr>
                      </a:br>
                      <a:r>
                        <a:rPr lang="en-US" sz="800" dirty="0">
                          <a:effectLst/>
                        </a:rPr>
                        <a:t>9.Able to build Security roles and perform testing.</a:t>
                      </a:r>
                      <a:br>
                        <a:rPr lang="en-US" sz="800" dirty="0">
                          <a:effectLst/>
                        </a:rPr>
                      </a:br>
                      <a:r>
                        <a:rPr lang="en-US" sz="800" dirty="0">
                          <a:effectLst/>
                        </a:rPr>
                        <a:t>10.Able to identify Risk and Controls</a:t>
                      </a:r>
                    </a:p>
                    <a:p>
                      <a:pPr marL="0" indent="0">
                        <a:buNone/>
                      </a:pPr>
                      <a:r>
                        <a:rPr lang="en-US" sz="800" dirty="0">
                          <a:effectLst/>
                        </a:rPr>
                        <a:t>11. Able to add both Dependent and Independent telephone, mobile and landline</a:t>
                      </a:r>
                    </a:p>
                  </a:txBody>
                  <a:tcPr marL="0" marR="0" marT="0" marB="0" anchor="ctr"/>
                </a:tc>
                <a:extLst>
                  <a:ext uri="{0D108BD9-81ED-4DB2-BD59-A6C34878D82A}">
                    <a16:rowId xmlns:a16="http://schemas.microsoft.com/office/drawing/2014/main" val="2577219088"/>
                  </a:ext>
                </a:extLst>
              </a:tr>
              <a:tr h="584246">
                <a:tc>
                  <a:txBody>
                    <a:bodyPr/>
                    <a:lstStyle/>
                    <a:p>
                      <a:pPr>
                        <a:buNone/>
                      </a:pPr>
                      <a:r>
                        <a:rPr lang="en-US" sz="800" dirty="0">
                          <a:effectLst/>
                        </a:rPr>
                        <a:t>11</a:t>
                      </a:r>
                    </a:p>
                  </a:txBody>
                  <a:tcPr marL="0" marR="0" marT="0" marB="0" anchor="ctr"/>
                </a:tc>
                <a:tc>
                  <a:txBody>
                    <a:bodyPr/>
                    <a:lstStyle/>
                    <a:p>
                      <a:pPr>
                        <a:buNone/>
                      </a:pPr>
                      <a:r>
                        <a:rPr lang="en-US" sz="800">
                          <a:effectLst/>
                        </a:rPr>
                        <a:t>Create &amp; Maintain Business Master Data (BMD)</a:t>
                      </a:r>
                    </a:p>
                  </a:txBody>
                  <a:tcPr marL="0" marR="0" marT="0" marB="0" anchor="ctr"/>
                </a:tc>
                <a:tc>
                  <a:txBody>
                    <a:bodyPr/>
                    <a:lstStyle/>
                    <a:p>
                      <a:pPr>
                        <a:buNone/>
                      </a:pPr>
                      <a:r>
                        <a:rPr lang="en-US" sz="800">
                          <a:effectLst/>
                        </a:rPr>
                        <a:t>Modify Business Master Data</a:t>
                      </a:r>
                    </a:p>
                  </a:txBody>
                  <a:tcPr marL="0" marR="0" marT="0" marB="0" anchor="ctr"/>
                </a:tc>
                <a:tc>
                  <a:txBody>
                    <a:bodyPr/>
                    <a:lstStyle/>
                    <a:p>
                      <a:pPr>
                        <a:buNone/>
                      </a:pPr>
                      <a:r>
                        <a:rPr lang="en-US" sz="800">
                          <a:effectLst/>
                        </a:rPr>
                        <a:t>Display Business Partner</a:t>
                      </a:r>
                      <a:br>
                        <a:rPr lang="en-US" sz="800">
                          <a:effectLst/>
                        </a:rPr>
                      </a:br>
                      <a:endParaRPr lang="en-US" sz="800">
                        <a:effectLst/>
                      </a:endParaRPr>
                    </a:p>
                  </a:txBody>
                  <a:tcPr marL="0" marR="0" marT="0" marB="0" anchor="ctr"/>
                </a:tc>
                <a:tc>
                  <a:txBody>
                    <a:bodyPr/>
                    <a:lstStyle/>
                    <a:p>
                      <a:pPr>
                        <a:buNone/>
                      </a:pPr>
                      <a:r>
                        <a:rPr lang="en-US" sz="800">
                          <a:effectLst/>
                        </a:rPr>
                        <a:t>As an SAP Business Partner Specialist, I want to modify Business Master Data within Manage Customer Service so that I can maintain accurate and up-to-date business partner records across related processes.</a:t>
                      </a:r>
                    </a:p>
                  </a:txBody>
                  <a:tcPr marL="0" marR="0" marT="0" marB="0" anchor="ctr"/>
                </a:tc>
                <a:tc>
                  <a:txBody>
                    <a:bodyPr/>
                    <a:lstStyle/>
                    <a:p>
                      <a:pPr marL="228600" indent="-228600">
                        <a:buAutoNum type="arabicPeriod"/>
                      </a:pPr>
                      <a:r>
                        <a:rPr lang="en-US" sz="800" dirty="0">
                          <a:effectLst/>
                        </a:rPr>
                        <a:t>Able to search a business partner by Business Partner ID.</a:t>
                      </a:r>
                      <a:br>
                        <a:rPr lang="en-US" sz="800" dirty="0">
                          <a:effectLst/>
                        </a:rPr>
                      </a:br>
                      <a:r>
                        <a:rPr lang="en-US" sz="800" dirty="0">
                          <a:effectLst/>
                        </a:rPr>
                        <a:t>3.Able to search a business partner by name.</a:t>
                      </a:r>
                      <a:br>
                        <a:rPr lang="en-US" sz="800" dirty="0">
                          <a:effectLst/>
                        </a:rPr>
                      </a:br>
                      <a:r>
                        <a:rPr lang="en-US" sz="800" dirty="0">
                          <a:effectLst/>
                        </a:rPr>
                        <a:t>4.Able to view displayed business partner general information.</a:t>
                      </a:r>
                      <a:br>
                        <a:rPr lang="en-US" sz="800" dirty="0">
                          <a:effectLst/>
                        </a:rPr>
                      </a:br>
                      <a:r>
                        <a:rPr lang="en-US" sz="800" dirty="0">
                          <a:effectLst/>
                        </a:rPr>
                        <a:t>5.Able to view displayed business partner address information.</a:t>
                      </a:r>
                      <a:br>
                        <a:rPr lang="en-US" sz="800" dirty="0">
                          <a:effectLst/>
                        </a:rPr>
                      </a:br>
                      <a:r>
                        <a:rPr lang="en-US" sz="800" dirty="0">
                          <a:effectLst/>
                        </a:rPr>
                        <a:t>6.Able to view displayed business partner contact information.</a:t>
                      </a:r>
                      <a:br>
                        <a:rPr lang="en-US" sz="800" dirty="0">
                          <a:effectLst/>
                        </a:rPr>
                      </a:br>
                      <a:r>
                        <a:rPr lang="en-US" sz="800" dirty="0">
                          <a:effectLst/>
                        </a:rPr>
                        <a:t>7.Able to view displayed business partner role assignments.</a:t>
                      </a:r>
                      <a:br>
                        <a:rPr lang="en-US" sz="800" dirty="0">
                          <a:effectLst/>
                        </a:rPr>
                      </a:br>
                      <a:r>
                        <a:rPr lang="en-US" sz="800" dirty="0">
                          <a:effectLst/>
                        </a:rPr>
                        <a:t>8.Able to navigate back from the display without saving changes.</a:t>
                      </a:r>
                      <a:br>
                        <a:rPr lang="en-US" sz="800" dirty="0">
                          <a:effectLst/>
                        </a:rPr>
                      </a:br>
                      <a:r>
                        <a:rPr lang="en-US" sz="800" dirty="0">
                          <a:effectLst/>
                        </a:rPr>
                        <a:t>9.Able to build Security roles and perform testing.</a:t>
                      </a:r>
                      <a:br>
                        <a:rPr lang="en-US" sz="800" dirty="0">
                          <a:effectLst/>
                        </a:rPr>
                      </a:br>
                      <a:r>
                        <a:rPr lang="en-US" sz="800" dirty="0">
                          <a:effectLst/>
                        </a:rPr>
                        <a:t>10.Able to identify Risk and Controls</a:t>
                      </a:r>
                    </a:p>
                    <a:p>
                      <a:pPr marL="0" marR="0" lvl="0" indent="0" algn="l" defTabSz="609585" rtl="0" eaLnBrk="1" fontAlgn="auto" latinLnBrk="0" hangingPunct="1">
                        <a:lnSpc>
                          <a:spcPct val="100000"/>
                        </a:lnSpc>
                        <a:spcBef>
                          <a:spcPts val="0"/>
                        </a:spcBef>
                        <a:spcAft>
                          <a:spcPts val="0"/>
                        </a:spcAft>
                        <a:buClrTx/>
                        <a:buSzTx/>
                        <a:buFontTx/>
                        <a:buNone/>
                        <a:tabLst/>
                        <a:defRPr/>
                      </a:pPr>
                      <a:r>
                        <a:rPr lang="en-US" sz="800" dirty="0">
                          <a:effectLst/>
                        </a:rPr>
                        <a:t>11. Able to edit both Dependent and Independent telephone, mobile and landline</a:t>
                      </a:r>
                    </a:p>
                    <a:p>
                      <a:pPr marL="228600" indent="-228600">
                        <a:buAutoNum type="arabicPeriod"/>
                      </a:pPr>
                      <a:endParaRPr lang="en-US" sz="800" dirty="0">
                        <a:effectLst/>
                      </a:endParaRPr>
                    </a:p>
                  </a:txBody>
                  <a:tcPr marL="0" marR="0" marT="0" marB="0" anchor="ctr"/>
                </a:tc>
                <a:extLst>
                  <a:ext uri="{0D108BD9-81ED-4DB2-BD59-A6C34878D82A}">
                    <a16:rowId xmlns:a16="http://schemas.microsoft.com/office/drawing/2014/main" val="2195492008"/>
                  </a:ext>
                </a:extLst>
              </a:tr>
              <a:tr h="584246">
                <a:tc>
                  <a:txBody>
                    <a:bodyPr/>
                    <a:lstStyle/>
                    <a:p>
                      <a:pPr>
                        <a:buNone/>
                      </a:pPr>
                      <a:r>
                        <a:rPr lang="en-US" sz="800">
                          <a:effectLst/>
                        </a:rPr>
                        <a:t>Manage Customer Service</a:t>
                      </a:r>
                    </a:p>
                  </a:txBody>
                  <a:tcPr marL="0" marR="0" marT="0" marB="0" anchor="ctr"/>
                </a:tc>
                <a:tc>
                  <a:txBody>
                    <a:bodyPr/>
                    <a:lstStyle/>
                    <a:p>
                      <a:pPr>
                        <a:buNone/>
                      </a:pPr>
                      <a:r>
                        <a:rPr lang="en-US" sz="800">
                          <a:effectLst/>
                        </a:rPr>
                        <a:t>Create &amp; Maintain Business Master Data (BMD)</a:t>
                      </a:r>
                    </a:p>
                  </a:txBody>
                  <a:tcPr marL="0" marR="0" marT="0" marB="0" anchor="ctr"/>
                </a:tc>
                <a:tc>
                  <a:txBody>
                    <a:bodyPr/>
                    <a:lstStyle/>
                    <a:p>
                      <a:pPr>
                        <a:buNone/>
                      </a:pPr>
                      <a:r>
                        <a:rPr lang="en-US" sz="800">
                          <a:effectLst/>
                        </a:rPr>
                        <a:t>Manage Financial Details</a:t>
                      </a:r>
                    </a:p>
                  </a:txBody>
                  <a:tcPr marL="0" marR="0" marT="0" marB="0" anchor="ctr"/>
                </a:tc>
                <a:tc>
                  <a:txBody>
                    <a:bodyPr/>
                    <a:lstStyle/>
                    <a:p>
                      <a:pPr>
                        <a:buNone/>
                      </a:pPr>
                      <a:r>
                        <a:rPr lang="en-US" sz="800">
                          <a:effectLst/>
                        </a:rPr>
                        <a:t>Manage Financial Details</a:t>
                      </a:r>
                    </a:p>
                  </a:txBody>
                  <a:tcPr marL="0" marR="0" marT="0" marB="0" anchor="ctr"/>
                </a:tc>
                <a:tc>
                  <a:txBody>
                    <a:bodyPr/>
                    <a:lstStyle/>
                    <a:p>
                      <a:pPr>
                        <a:buNone/>
                      </a:pPr>
                      <a:r>
                        <a:rPr lang="en-US" sz="800">
                          <a:effectLst/>
                        </a:rPr>
                        <a:t>As an SAP Master Data Specialist, I want to manage financial details within customer service business master data to maintain accurate, consistent information supporting service operations and decision making.</a:t>
                      </a:r>
                    </a:p>
                  </a:txBody>
                  <a:tcPr marL="0" marR="0" marT="0" marB="0" anchor="ctr"/>
                </a:tc>
                <a:tc>
                  <a:txBody>
                    <a:bodyPr/>
                    <a:lstStyle/>
                    <a:p>
                      <a:pPr>
                        <a:buNone/>
                      </a:pPr>
                      <a:r>
                        <a:rPr lang="en-US" sz="800" dirty="0">
                          <a:effectLst/>
                        </a:rPr>
                        <a:t>1. Able to view financial details for a business master record.</a:t>
                      </a:r>
                      <a:br>
                        <a:rPr lang="en-US" sz="800" dirty="0">
                          <a:effectLst/>
                        </a:rPr>
                      </a:br>
                      <a:r>
                        <a:rPr lang="en-US" sz="800" dirty="0">
                          <a:effectLst/>
                        </a:rPr>
                        <a:t>3.Able to update financial details for a business master record.</a:t>
                      </a:r>
                      <a:br>
                        <a:rPr lang="en-US" sz="800" dirty="0">
                          <a:effectLst/>
                        </a:rPr>
                      </a:br>
                      <a:r>
                        <a:rPr lang="en-US" sz="800" dirty="0">
                          <a:effectLst/>
                        </a:rPr>
                        <a:t>4.Able to delete financial details for a business master record.</a:t>
                      </a:r>
                      <a:br>
                        <a:rPr lang="en-US" sz="800" dirty="0">
                          <a:effectLst/>
                        </a:rPr>
                      </a:br>
                      <a:r>
                        <a:rPr lang="en-US" sz="800" dirty="0">
                          <a:effectLst/>
                        </a:rPr>
                        <a:t>5.Able to save financial details changes.</a:t>
                      </a:r>
                      <a:br>
                        <a:rPr lang="en-US" sz="800" dirty="0">
                          <a:effectLst/>
                        </a:rPr>
                      </a:br>
                      <a:r>
                        <a:rPr lang="en-US" sz="800" dirty="0">
                          <a:effectLst/>
                        </a:rPr>
                        <a:t>6.Able to cancel unsaved financial details changes.</a:t>
                      </a:r>
                      <a:br>
                        <a:rPr lang="en-US" sz="800" dirty="0">
                          <a:effectLst/>
                        </a:rPr>
                      </a:br>
                      <a:r>
                        <a:rPr lang="en-US" sz="800" dirty="0">
                          <a:effectLst/>
                        </a:rPr>
                        <a:t>7.Able to verify completeness of financial details before saving.</a:t>
                      </a:r>
                      <a:br>
                        <a:rPr lang="en-US" sz="800" dirty="0">
                          <a:effectLst/>
                        </a:rPr>
                      </a:br>
                      <a:r>
                        <a:rPr lang="en-US" sz="800" dirty="0">
                          <a:effectLst/>
                        </a:rPr>
                        <a:t>8.Able to retrieve financial details using the business master identifier.</a:t>
                      </a:r>
                      <a:br>
                        <a:rPr lang="en-US" sz="800" dirty="0">
                          <a:effectLst/>
                        </a:rPr>
                      </a:br>
                      <a:r>
                        <a:rPr lang="en-US" sz="800">
                          <a:effectLst/>
                        </a:rPr>
                        <a:t>9.Able to build Security roles and perform testing.</a:t>
                      </a:r>
                      <a:br>
                        <a:rPr lang="en-US" sz="800">
                          <a:effectLst/>
                        </a:rPr>
                      </a:br>
                      <a:r>
                        <a:rPr lang="en-US" sz="800" dirty="0">
                          <a:effectLst/>
                        </a:rPr>
                        <a:t>10.Able to identify Risk and Controls</a:t>
                      </a:r>
                    </a:p>
                  </a:txBody>
                  <a:tcPr marL="0" marR="0" marT="0" marB="0" anchor="ctr"/>
                </a:tc>
                <a:extLst>
                  <a:ext uri="{0D108BD9-81ED-4DB2-BD59-A6C34878D82A}">
                    <a16:rowId xmlns:a16="http://schemas.microsoft.com/office/drawing/2014/main" val="121390121"/>
                  </a:ext>
                </a:extLst>
              </a:tr>
              <a:tr h="648273">
                <a:tc>
                  <a:txBody>
                    <a:bodyPr/>
                    <a:lstStyle/>
                    <a:p>
                      <a:pPr>
                        <a:buNone/>
                      </a:pPr>
                      <a:r>
                        <a:rPr lang="en-US" sz="800">
                          <a:effectLst/>
                        </a:rPr>
                        <a:t>Manage Customer Service</a:t>
                      </a:r>
                    </a:p>
                  </a:txBody>
                  <a:tcPr marL="0" marR="0" marT="0" marB="0" anchor="ctr"/>
                </a:tc>
                <a:tc>
                  <a:txBody>
                    <a:bodyPr/>
                    <a:lstStyle/>
                    <a:p>
                      <a:pPr>
                        <a:buNone/>
                      </a:pPr>
                      <a:r>
                        <a:rPr lang="en-US" sz="800">
                          <a:effectLst/>
                        </a:rPr>
                        <a:t>Create &amp; Maintain Business Master Data (BMD)</a:t>
                      </a:r>
                    </a:p>
                  </a:txBody>
                  <a:tcPr marL="0" marR="0" marT="0" marB="0" anchor="ctr"/>
                </a:tc>
                <a:tc>
                  <a:txBody>
                    <a:bodyPr/>
                    <a:lstStyle/>
                    <a:p>
                      <a:pPr>
                        <a:buNone/>
                      </a:pPr>
                      <a:r>
                        <a:rPr lang="en-US" sz="800">
                          <a:effectLst/>
                        </a:rPr>
                        <a:t>Manage Financial Details</a:t>
                      </a:r>
                    </a:p>
                  </a:txBody>
                  <a:tcPr marL="0" marR="0" marT="0" marB="0" anchor="ctr"/>
                </a:tc>
                <a:tc>
                  <a:txBody>
                    <a:bodyPr/>
                    <a:lstStyle/>
                    <a:p>
                      <a:pPr>
                        <a:buNone/>
                      </a:pPr>
                      <a:r>
                        <a:rPr lang="en-US" sz="800">
                          <a:effectLst/>
                        </a:rPr>
                        <a:t>Manage Financial Details</a:t>
                      </a:r>
                    </a:p>
                  </a:txBody>
                  <a:tcPr marL="0" marR="0" marT="0" marB="0" anchor="ctr"/>
                </a:tc>
                <a:tc>
                  <a:txBody>
                    <a:bodyPr/>
                    <a:lstStyle/>
                    <a:p>
                      <a:pPr>
                        <a:buNone/>
                      </a:pPr>
                      <a:r>
                        <a:rPr lang="en-US" sz="800">
                          <a:effectLst/>
                        </a:rPr>
                        <a:t>As an SAP Customer Service Master Data Specialist, I want to manage financial details within business master data so that accurate and consistent financial information supports customer service operations and reporting across the application.</a:t>
                      </a:r>
                    </a:p>
                  </a:txBody>
                  <a:tcPr marL="0" marR="0" marT="0" marB="0" anchor="ctr"/>
                </a:tc>
                <a:tc>
                  <a:txBody>
                    <a:bodyPr/>
                    <a:lstStyle/>
                    <a:p>
                      <a:pPr>
                        <a:buNone/>
                      </a:pPr>
                      <a:r>
                        <a:rPr lang="en-US" sz="800" dirty="0">
                          <a:effectLst/>
                        </a:rPr>
                        <a:t>1. Able to edit existing financial details.</a:t>
                      </a:r>
                      <a:br>
                        <a:rPr lang="en-US" sz="800" dirty="0">
                          <a:effectLst/>
                        </a:rPr>
                      </a:br>
                      <a:r>
                        <a:rPr lang="en-US" sz="800" dirty="0">
                          <a:effectLst/>
                        </a:rPr>
                        <a:t>3.Able to view financial details for a selected record.</a:t>
                      </a:r>
                      <a:br>
                        <a:rPr lang="en-US" sz="800" dirty="0">
                          <a:effectLst/>
                        </a:rPr>
                      </a:br>
                      <a:r>
                        <a:rPr lang="en-US" sz="800" dirty="0">
                          <a:effectLst/>
                        </a:rPr>
                        <a:t>4.Able to validate required financial fields before save.</a:t>
                      </a:r>
                      <a:br>
                        <a:rPr lang="en-US" sz="800" dirty="0">
                          <a:effectLst/>
                        </a:rPr>
                      </a:br>
                      <a:r>
                        <a:rPr lang="en-US" sz="800" dirty="0">
                          <a:effectLst/>
                        </a:rPr>
                        <a:t>5.Able to save financial details successfully.</a:t>
                      </a:r>
                      <a:br>
                        <a:rPr lang="en-US" sz="800" dirty="0">
                          <a:effectLst/>
                        </a:rPr>
                      </a:br>
                      <a:r>
                        <a:rPr lang="en-US" sz="800" dirty="0">
                          <a:effectLst/>
                        </a:rPr>
                        <a:t>6.Able to delete financial details.</a:t>
                      </a:r>
                      <a:br>
                        <a:rPr lang="en-US" sz="800" dirty="0">
                          <a:effectLst/>
                        </a:rPr>
                      </a:br>
                      <a:r>
                        <a:rPr lang="en-US" sz="800" dirty="0">
                          <a:effectLst/>
                        </a:rPr>
                        <a:t>7.Able to search financial details by master data identifier.</a:t>
                      </a:r>
                      <a:br>
                        <a:rPr lang="en-US" sz="800" dirty="0">
                          <a:effectLst/>
                        </a:rPr>
                      </a:br>
                      <a:r>
                        <a:rPr lang="en-US" sz="800" dirty="0">
                          <a:effectLst/>
                        </a:rPr>
                        <a:t>8.Able to list all financial details for a business master.</a:t>
                      </a:r>
                      <a:br>
                        <a:rPr lang="en-US" sz="800" dirty="0">
                          <a:effectLst/>
                        </a:rPr>
                      </a:br>
                      <a:r>
                        <a:rPr lang="en-US" sz="800" dirty="0">
                          <a:effectLst/>
                        </a:rPr>
                        <a:t>9.Able to cancel unsaved changes to financial details.</a:t>
                      </a:r>
                      <a:br>
                        <a:rPr lang="en-US" sz="800" dirty="0">
                          <a:effectLst/>
                        </a:rPr>
                      </a:br>
                      <a:r>
                        <a:rPr lang="en-US" sz="800" dirty="0">
                          <a:effectLst/>
                        </a:rPr>
                        <a:t>10.Able to build Security roles and perform testing.</a:t>
                      </a:r>
                      <a:br>
                        <a:rPr lang="en-US" sz="800" dirty="0">
                          <a:effectLst/>
                        </a:rPr>
                      </a:br>
                      <a:r>
                        <a:rPr lang="en-US" sz="800" dirty="0">
                          <a:effectLst/>
                        </a:rPr>
                        <a:t>11.Able to identify Risk and Controls</a:t>
                      </a:r>
                    </a:p>
                  </a:txBody>
                  <a:tcPr marL="0" marR="0" marT="0" marB="0" anchor="ctr"/>
                </a:tc>
                <a:extLst>
                  <a:ext uri="{0D108BD9-81ED-4DB2-BD59-A6C34878D82A}">
                    <a16:rowId xmlns:a16="http://schemas.microsoft.com/office/drawing/2014/main" val="2969389668"/>
                  </a:ext>
                </a:extLst>
              </a:tr>
            </a:tbl>
          </a:graphicData>
        </a:graphic>
      </p:graphicFrame>
      <p:sp>
        <p:nvSpPr>
          <p:cNvPr id="3" name="TextBox 2">
            <a:extLst>
              <a:ext uri="{FF2B5EF4-FFF2-40B4-BE49-F238E27FC236}">
                <a16:creationId xmlns:a16="http://schemas.microsoft.com/office/drawing/2014/main" id="{A3D3953F-B72A-0C5E-28EA-472BAADEA2FB}"/>
              </a:ext>
            </a:extLst>
          </p:cNvPr>
          <p:cNvSpPr txBox="1"/>
          <p:nvPr/>
        </p:nvSpPr>
        <p:spPr>
          <a:xfrm>
            <a:off x="413060" y="1047045"/>
            <a:ext cx="9418320" cy="253916"/>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b="1">
                <a:latin typeface="Montserrat"/>
              </a:rPr>
              <a:t>Please note, this is just a drafted starting point we will leverage to formulate our actual user stories and acceptance criteria</a:t>
            </a:r>
            <a:endParaRPr lang="en-US" sz="1050" b="1" err="1">
              <a:latin typeface="Montserrat" pitchFamily="2" charset="77"/>
            </a:endParaRPr>
          </a:p>
        </p:txBody>
      </p:sp>
      <p:sp>
        <p:nvSpPr>
          <p:cNvPr id="4" name="Rectangle 3">
            <a:extLst>
              <a:ext uri="{FF2B5EF4-FFF2-40B4-BE49-F238E27FC236}">
                <a16:creationId xmlns:a16="http://schemas.microsoft.com/office/drawing/2014/main" id="{1CE286F6-D818-E183-48C3-9C5404626B24}"/>
              </a:ext>
            </a:extLst>
          </p:cNvPr>
          <p:cNvSpPr/>
          <p:nvPr/>
        </p:nvSpPr>
        <p:spPr>
          <a:xfrm>
            <a:off x="8371490" y="-174734"/>
            <a:ext cx="1972002" cy="914399"/>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latin typeface="Montserrat"/>
              </a:rPr>
              <a:t>User story generator</a:t>
            </a:r>
            <a:endParaRPr lang="en-US" sz="1000">
              <a:latin typeface="Montserrat" pitchFamily="2" charset="77"/>
            </a:endParaRPr>
          </a:p>
        </p:txBody>
      </p:sp>
    </p:spTree>
    <p:extLst>
      <p:ext uri="{BB962C8B-B14F-4D97-AF65-F5344CB8AC3E}">
        <p14:creationId xmlns:p14="http://schemas.microsoft.com/office/powerpoint/2010/main" val="22182068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18839-C2B4-DE01-C0BC-B9EA86BA288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5130418-35EB-D35C-512F-CF63AE52F10A}"/>
              </a:ext>
            </a:extLst>
          </p:cNvPr>
          <p:cNvSpPr>
            <a:spLocks noGrp="1"/>
          </p:cNvSpPr>
          <p:nvPr>
            <p:ph type="title"/>
          </p:nvPr>
        </p:nvSpPr>
        <p:spPr>
          <a:xfrm>
            <a:off x="520544" y="5127738"/>
            <a:ext cx="6613591" cy="612967"/>
          </a:xfrm>
        </p:spPr>
        <p:txBody>
          <a:bodyPr/>
          <a:lstStyle/>
          <a:p>
            <a:r>
              <a:rPr lang="en-US" sz="4250" b="1">
                <a:latin typeface="Montserrat"/>
              </a:rPr>
              <a:t>08</a:t>
            </a:r>
            <a:r>
              <a:rPr lang="en-US" sz="4250">
                <a:latin typeface="Montserrat"/>
              </a:rPr>
              <a:t> 3</a:t>
            </a:r>
            <a:r>
              <a:rPr lang="en-US" sz="4250" baseline="30000">
                <a:latin typeface="Montserrat"/>
              </a:rPr>
              <a:t>rd</a:t>
            </a:r>
            <a:r>
              <a:rPr lang="en-US" sz="4250">
                <a:latin typeface="Montserrat"/>
              </a:rPr>
              <a:t> Party Integration </a:t>
            </a:r>
            <a:br>
              <a:rPr lang="en-US" sz="4250"/>
            </a:br>
            <a:endParaRPr lang="en-US" sz="4250"/>
          </a:p>
        </p:txBody>
      </p:sp>
    </p:spTree>
    <p:extLst>
      <p:ext uri="{BB962C8B-B14F-4D97-AF65-F5344CB8AC3E}">
        <p14:creationId xmlns:p14="http://schemas.microsoft.com/office/powerpoint/2010/main" val="33516407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1C7EB-2025-3482-3E62-316CCB06BE0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A68CE16-1C83-C975-FBC9-524241A4E5C9}"/>
              </a:ext>
            </a:extLst>
          </p:cNvPr>
          <p:cNvSpPr>
            <a:spLocks noGrp="1"/>
          </p:cNvSpPr>
          <p:nvPr>
            <p:ph type="title"/>
          </p:nvPr>
        </p:nvSpPr>
        <p:spPr/>
        <p:txBody>
          <a:bodyPr/>
          <a:lstStyle/>
          <a:p>
            <a:r>
              <a:rPr lang="en-US"/>
              <a:t> </a:t>
            </a:r>
          </a:p>
        </p:txBody>
      </p:sp>
      <p:sp>
        <p:nvSpPr>
          <p:cNvPr id="35" name="Title 2">
            <a:extLst>
              <a:ext uri="{FF2B5EF4-FFF2-40B4-BE49-F238E27FC236}">
                <a16:creationId xmlns:a16="http://schemas.microsoft.com/office/drawing/2014/main" id="{031383CB-42DB-C494-B363-D700D596A1CF}"/>
              </a:ext>
            </a:extLst>
          </p:cNvPr>
          <p:cNvSpPr txBox="1">
            <a:spLocks/>
          </p:cNvSpPr>
          <p:nvPr/>
        </p:nvSpPr>
        <p:spPr>
          <a:xfrm>
            <a:off x="414528" y="223923"/>
            <a:ext cx="11375136" cy="609600"/>
          </a:xfrm>
          <a:prstGeom prst="rect">
            <a:avLst/>
          </a:prstGeom>
        </p:spPr>
        <p:txBody>
          <a:bodyPr vert="horz" lIns="0" tIns="45720" rIns="91440" bIns="0" rtlCol="0" anchor="b">
            <a:noAutofit/>
          </a:bodyPr>
          <a:lstStyle>
            <a:lvl1pPr algn="l" defTabSz="609585" rtl="0" eaLnBrk="1" latinLnBrk="0" hangingPunct="1">
              <a:lnSpc>
                <a:spcPct val="90000"/>
              </a:lnSpc>
              <a:spcBef>
                <a:spcPct val="0"/>
              </a:spcBef>
              <a:buNone/>
              <a:defRPr sz="3200" b="0" i="0" kern="1200" baseline="0">
                <a:solidFill>
                  <a:srgbClr val="1866AE"/>
                </a:solidFill>
                <a:latin typeface="Montserrat" pitchFamily="2" charset="77"/>
                <a:ea typeface="+mj-ea"/>
                <a:cs typeface="+mj-cs"/>
              </a:defRPr>
            </a:lvl1pPr>
          </a:lstStyle>
          <a:p>
            <a:r>
              <a:rPr lang="en-US" b="1">
                <a:latin typeface="Montserrat"/>
              </a:rPr>
              <a:t>Direct and Indirect Integrations with CRM &amp; ECC</a:t>
            </a:r>
          </a:p>
        </p:txBody>
      </p:sp>
      <p:sp>
        <p:nvSpPr>
          <p:cNvPr id="10" name="Rectangle 9">
            <a:extLst>
              <a:ext uri="{FF2B5EF4-FFF2-40B4-BE49-F238E27FC236}">
                <a16:creationId xmlns:a16="http://schemas.microsoft.com/office/drawing/2014/main" id="{AE96CABD-60C0-ECA3-92CB-9890F6711421}"/>
              </a:ext>
            </a:extLst>
          </p:cNvPr>
          <p:cNvSpPr/>
          <p:nvPr/>
        </p:nvSpPr>
        <p:spPr>
          <a:xfrm>
            <a:off x="474697" y="2188798"/>
            <a:ext cx="1712344" cy="495156"/>
          </a:xfrm>
          <a:prstGeom prst="rect">
            <a:avLst/>
          </a:prstGeom>
          <a:solidFill>
            <a:schemeClr val="accent4"/>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a:latin typeface="Montserrat" pitchFamily="2" charset="77"/>
              </a:rPr>
              <a:t>Power App</a:t>
            </a:r>
          </a:p>
        </p:txBody>
      </p:sp>
      <p:sp>
        <p:nvSpPr>
          <p:cNvPr id="23" name="Rectangle 22">
            <a:extLst>
              <a:ext uri="{FF2B5EF4-FFF2-40B4-BE49-F238E27FC236}">
                <a16:creationId xmlns:a16="http://schemas.microsoft.com/office/drawing/2014/main" id="{D96DE3AB-C914-8F22-58AA-D4175309853B}"/>
              </a:ext>
            </a:extLst>
          </p:cNvPr>
          <p:cNvSpPr/>
          <p:nvPr/>
        </p:nvSpPr>
        <p:spPr>
          <a:xfrm>
            <a:off x="474697" y="2936420"/>
            <a:ext cx="1712343" cy="495156"/>
          </a:xfrm>
          <a:prstGeom prst="rect">
            <a:avLst/>
          </a:prstGeom>
          <a:solidFill>
            <a:schemeClr val="accent4"/>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a:latin typeface="Montserrat" pitchFamily="2" charset="77"/>
              </a:rPr>
              <a:t>DQM</a:t>
            </a:r>
          </a:p>
        </p:txBody>
      </p:sp>
      <p:sp>
        <p:nvSpPr>
          <p:cNvPr id="11" name="Rounded Rectangle 10">
            <a:extLst>
              <a:ext uri="{FF2B5EF4-FFF2-40B4-BE49-F238E27FC236}">
                <a16:creationId xmlns:a16="http://schemas.microsoft.com/office/drawing/2014/main" id="{04119078-CDFE-5685-FDCF-E84DD9C09A51}"/>
              </a:ext>
            </a:extLst>
          </p:cNvPr>
          <p:cNvSpPr/>
          <p:nvPr/>
        </p:nvSpPr>
        <p:spPr>
          <a:xfrm>
            <a:off x="7225083" y="2206641"/>
            <a:ext cx="3573243" cy="2731384"/>
          </a:xfrm>
          <a:prstGeom prst="roundRect">
            <a:avLst>
              <a:gd name="adj" fmla="val 9339"/>
            </a:avLst>
          </a:prstGeom>
          <a:solidFill>
            <a:schemeClr val="accent1">
              <a:lumMod val="20000"/>
              <a:lumOff val="80000"/>
              <a:alpha val="66350"/>
            </a:schemeClr>
          </a:solidFill>
          <a:ln w="38100">
            <a:solidFill>
              <a:schemeClr val="accent1"/>
            </a:solidFill>
            <a:prstDash val="dash"/>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t"/>
          <a:lstStyle/>
          <a:p>
            <a:pPr algn="ctr"/>
            <a:endParaRPr lang="en-US" sz="2800" b="1">
              <a:solidFill>
                <a:schemeClr val="tx1"/>
              </a:solidFill>
              <a:latin typeface="Montserrat"/>
            </a:endParaRPr>
          </a:p>
        </p:txBody>
      </p:sp>
      <p:sp>
        <p:nvSpPr>
          <p:cNvPr id="7" name="Rectangle 6">
            <a:extLst>
              <a:ext uri="{FF2B5EF4-FFF2-40B4-BE49-F238E27FC236}">
                <a16:creationId xmlns:a16="http://schemas.microsoft.com/office/drawing/2014/main" id="{FC8D4B5D-E395-D201-AE89-BCD5B36590C4}"/>
              </a:ext>
            </a:extLst>
          </p:cNvPr>
          <p:cNvSpPr/>
          <p:nvPr/>
        </p:nvSpPr>
        <p:spPr>
          <a:xfrm>
            <a:off x="9120498" y="3575678"/>
            <a:ext cx="1260455" cy="458365"/>
          </a:xfrm>
          <a:prstGeom prst="rect">
            <a:avLst/>
          </a:prstGeom>
          <a:solidFill>
            <a:schemeClr val="accent5"/>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latin typeface="Montserrat" pitchFamily="2" charset="77"/>
              </a:rPr>
              <a:t>Kubra</a:t>
            </a:r>
          </a:p>
        </p:txBody>
      </p:sp>
      <p:sp>
        <p:nvSpPr>
          <p:cNvPr id="36" name="Rectangle 35">
            <a:extLst>
              <a:ext uri="{FF2B5EF4-FFF2-40B4-BE49-F238E27FC236}">
                <a16:creationId xmlns:a16="http://schemas.microsoft.com/office/drawing/2014/main" id="{039984AC-7F8D-B538-A4C4-0736792B8FC8}"/>
              </a:ext>
            </a:extLst>
          </p:cNvPr>
          <p:cNvSpPr/>
          <p:nvPr/>
        </p:nvSpPr>
        <p:spPr>
          <a:xfrm>
            <a:off x="578011" y="9352031"/>
            <a:ext cx="1097280" cy="377851"/>
          </a:xfrm>
          <a:prstGeom prst="rect">
            <a:avLst/>
          </a:prstGeom>
          <a:solidFill>
            <a:srgbClr val="7030A0"/>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00" err="1">
                <a:latin typeface="Montserrat" pitchFamily="2" charset="77"/>
              </a:rPr>
              <a:t>GridX</a:t>
            </a:r>
            <a:r>
              <a:rPr lang="en-US" sz="800">
                <a:latin typeface="Montserrat" pitchFamily="2" charset="77"/>
              </a:rPr>
              <a:t> (Was </a:t>
            </a:r>
            <a:r>
              <a:rPr lang="en-US" sz="800" err="1">
                <a:latin typeface="Montserrat" pitchFamily="2" charset="77"/>
              </a:rPr>
              <a:t>Uplight</a:t>
            </a:r>
            <a:r>
              <a:rPr lang="en-US" sz="800">
                <a:latin typeface="Montserrat" pitchFamily="2" charset="77"/>
              </a:rPr>
              <a:t>)</a:t>
            </a:r>
          </a:p>
        </p:txBody>
      </p:sp>
      <p:sp>
        <p:nvSpPr>
          <p:cNvPr id="44" name="Rectangle 43">
            <a:extLst>
              <a:ext uri="{FF2B5EF4-FFF2-40B4-BE49-F238E27FC236}">
                <a16:creationId xmlns:a16="http://schemas.microsoft.com/office/drawing/2014/main" id="{22295313-FEC6-3D12-B894-4B6C064B9965}"/>
              </a:ext>
            </a:extLst>
          </p:cNvPr>
          <p:cNvSpPr/>
          <p:nvPr/>
        </p:nvSpPr>
        <p:spPr>
          <a:xfrm>
            <a:off x="1793292" y="8918072"/>
            <a:ext cx="1097280" cy="377851"/>
          </a:xfrm>
          <a:prstGeom prst="rect">
            <a:avLst/>
          </a:prstGeom>
          <a:solidFill>
            <a:schemeClr val="accent1">
              <a:lumMod val="50000"/>
            </a:schemeClr>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00">
                <a:latin typeface="Montserrat" pitchFamily="2" charset="77"/>
              </a:rPr>
              <a:t>Customer Portal Admin (CE)</a:t>
            </a:r>
          </a:p>
        </p:txBody>
      </p:sp>
      <p:sp>
        <p:nvSpPr>
          <p:cNvPr id="52" name="Rectangle 51">
            <a:extLst>
              <a:ext uri="{FF2B5EF4-FFF2-40B4-BE49-F238E27FC236}">
                <a16:creationId xmlns:a16="http://schemas.microsoft.com/office/drawing/2014/main" id="{0A9A3B7B-3F7F-EFB2-E44A-6ECF93E7B47D}"/>
              </a:ext>
            </a:extLst>
          </p:cNvPr>
          <p:cNvSpPr/>
          <p:nvPr/>
        </p:nvSpPr>
        <p:spPr>
          <a:xfrm>
            <a:off x="2979578" y="8918072"/>
            <a:ext cx="1097280" cy="377851"/>
          </a:xfrm>
          <a:prstGeom prst="rect">
            <a:avLst/>
          </a:prstGeom>
          <a:solidFill>
            <a:schemeClr val="accent1">
              <a:lumMod val="50000"/>
            </a:schemeClr>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00">
                <a:latin typeface="Montserrat" pitchFamily="2" charset="77"/>
              </a:rPr>
              <a:t>Mobile Phone Application (Apollo) (CE)</a:t>
            </a:r>
          </a:p>
        </p:txBody>
      </p:sp>
      <p:sp>
        <p:nvSpPr>
          <p:cNvPr id="29" name="Rectangle 28">
            <a:extLst>
              <a:ext uri="{FF2B5EF4-FFF2-40B4-BE49-F238E27FC236}">
                <a16:creationId xmlns:a16="http://schemas.microsoft.com/office/drawing/2014/main" id="{DD5C26CB-EA45-BB8C-CCF7-2387D7D7B9E7}"/>
              </a:ext>
            </a:extLst>
          </p:cNvPr>
          <p:cNvSpPr/>
          <p:nvPr/>
        </p:nvSpPr>
        <p:spPr>
          <a:xfrm>
            <a:off x="4187618" y="9354351"/>
            <a:ext cx="1097280" cy="377851"/>
          </a:xfrm>
          <a:prstGeom prst="rect">
            <a:avLst/>
          </a:prstGeom>
          <a:solidFill>
            <a:schemeClr val="accent2">
              <a:lumMod val="75000"/>
            </a:schemeClr>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00" err="1">
                <a:latin typeface="Montserrat" pitchFamily="2" charset="77"/>
              </a:rPr>
              <a:t>OnCourse</a:t>
            </a:r>
            <a:r>
              <a:rPr lang="en-US" sz="800">
                <a:latin typeface="Montserrat" pitchFamily="2" charset="77"/>
              </a:rPr>
              <a:t> Home Solutions (OHS)</a:t>
            </a:r>
          </a:p>
        </p:txBody>
      </p:sp>
      <p:sp>
        <p:nvSpPr>
          <p:cNvPr id="21" name="Rectangle 20">
            <a:extLst>
              <a:ext uri="{FF2B5EF4-FFF2-40B4-BE49-F238E27FC236}">
                <a16:creationId xmlns:a16="http://schemas.microsoft.com/office/drawing/2014/main" id="{67286139-B1ED-0E08-6FED-6C5E9F9F6F1B}"/>
              </a:ext>
            </a:extLst>
          </p:cNvPr>
          <p:cNvSpPr/>
          <p:nvPr/>
        </p:nvSpPr>
        <p:spPr>
          <a:xfrm>
            <a:off x="7659255" y="3591626"/>
            <a:ext cx="1260455" cy="458365"/>
          </a:xfrm>
          <a:prstGeom prst="rect">
            <a:avLst/>
          </a:prstGeom>
          <a:solidFill>
            <a:schemeClr val="accent4">
              <a:lumMod val="60000"/>
              <a:lumOff val="40000"/>
            </a:schemeClr>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err="1">
                <a:latin typeface="Montserrat" pitchFamily="2" charset="77"/>
              </a:rPr>
              <a:t>FiServ</a:t>
            </a:r>
            <a:endParaRPr lang="en-US" sz="1000">
              <a:latin typeface="Montserrat" pitchFamily="2" charset="77"/>
            </a:endParaRPr>
          </a:p>
        </p:txBody>
      </p:sp>
      <p:sp>
        <p:nvSpPr>
          <p:cNvPr id="16" name="Rectangle 15">
            <a:extLst>
              <a:ext uri="{FF2B5EF4-FFF2-40B4-BE49-F238E27FC236}">
                <a16:creationId xmlns:a16="http://schemas.microsoft.com/office/drawing/2014/main" id="{53E34024-068E-F020-1F20-F32ED0A3B298}"/>
              </a:ext>
            </a:extLst>
          </p:cNvPr>
          <p:cNvSpPr/>
          <p:nvPr/>
        </p:nvSpPr>
        <p:spPr>
          <a:xfrm>
            <a:off x="1793292" y="9784059"/>
            <a:ext cx="1097280" cy="377851"/>
          </a:xfrm>
          <a:prstGeom prst="rect">
            <a:avLst/>
          </a:prstGeom>
          <a:solidFill>
            <a:schemeClr val="accent4">
              <a:lumMod val="60000"/>
              <a:lumOff val="40000"/>
            </a:schemeClr>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00">
                <a:latin typeface="Montserrat" pitchFamily="2" charset="77"/>
              </a:rPr>
              <a:t>Helvey</a:t>
            </a:r>
          </a:p>
        </p:txBody>
      </p:sp>
      <p:sp>
        <p:nvSpPr>
          <p:cNvPr id="8" name="Rectangle 7">
            <a:extLst>
              <a:ext uri="{FF2B5EF4-FFF2-40B4-BE49-F238E27FC236}">
                <a16:creationId xmlns:a16="http://schemas.microsoft.com/office/drawing/2014/main" id="{67B924FC-BC63-0139-DADD-DE892BF80E53}"/>
              </a:ext>
            </a:extLst>
          </p:cNvPr>
          <p:cNvSpPr/>
          <p:nvPr/>
        </p:nvSpPr>
        <p:spPr>
          <a:xfrm>
            <a:off x="586365" y="9784059"/>
            <a:ext cx="1097280" cy="377851"/>
          </a:xfrm>
          <a:prstGeom prst="rect">
            <a:avLst/>
          </a:prstGeom>
          <a:solidFill>
            <a:schemeClr val="accent4">
              <a:lumMod val="60000"/>
              <a:lumOff val="40000"/>
            </a:schemeClr>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00" err="1">
                <a:latin typeface="Montserrat" pitchFamily="2" charset="77"/>
              </a:rPr>
              <a:t>Paymentus</a:t>
            </a:r>
            <a:endParaRPr lang="en-US" sz="800">
              <a:latin typeface="Montserrat" pitchFamily="2" charset="77"/>
            </a:endParaRPr>
          </a:p>
        </p:txBody>
      </p:sp>
      <p:sp>
        <p:nvSpPr>
          <p:cNvPr id="67" name="Rectangle 66">
            <a:extLst>
              <a:ext uri="{FF2B5EF4-FFF2-40B4-BE49-F238E27FC236}">
                <a16:creationId xmlns:a16="http://schemas.microsoft.com/office/drawing/2014/main" id="{9C4249A7-2CDC-5DF9-6EE4-5BB42EBE24C9}"/>
              </a:ext>
            </a:extLst>
          </p:cNvPr>
          <p:cNvSpPr/>
          <p:nvPr/>
        </p:nvSpPr>
        <p:spPr>
          <a:xfrm>
            <a:off x="4190575" y="9784059"/>
            <a:ext cx="1097280" cy="377851"/>
          </a:xfrm>
          <a:prstGeom prst="rect">
            <a:avLst/>
          </a:prstGeom>
          <a:solidFill>
            <a:schemeClr val="accent4">
              <a:lumMod val="60000"/>
              <a:lumOff val="40000"/>
            </a:schemeClr>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00">
                <a:latin typeface="Montserrat" pitchFamily="2" charset="77"/>
              </a:rPr>
              <a:t>State of Michigan</a:t>
            </a:r>
          </a:p>
        </p:txBody>
      </p:sp>
      <p:sp>
        <p:nvSpPr>
          <p:cNvPr id="70" name="Rectangle 69">
            <a:extLst>
              <a:ext uri="{FF2B5EF4-FFF2-40B4-BE49-F238E27FC236}">
                <a16:creationId xmlns:a16="http://schemas.microsoft.com/office/drawing/2014/main" id="{E0B93E64-C3F2-B089-69A8-5A9FF13B84A6}"/>
              </a:ext>
            </a:extLst>
          </p:cNvPr>
          <p:cNvSpPr/>
          <p:nvPr/>
        </p:nvSpPr>
        <p:spPr>
          <a:xfrm>
            <a:off x="2971224" y="10253482"/>
            <a:ext cx="1097280" cy="377851"/>
          </a:xfrm>
          <a:prstGeom prst="rect">
            <a:avLst/>
          </a:prstGeom>
          <a:solidFill>
            <a:schemeClr val="accent4">
              <a:lumMod val="60000"/>
              <a:lumOff val="40000"/>
            </a:schemeClr>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00" err="1">
                <a:latin typeface="Montserrat" pitchFamily="2" charset="77"/>
              </a:rPr>
              <a:t>DebtNext</a:t>
            </a:r>
            <a:endParaRPr lang="en-US" sz="800">
              <a:latin typeface="Montserrat" pitchFamily="2" charset="77"/>
            </a:endParaRPr>
          </a:p>
        </p:txBody>
      </p:sp>
      <p:sp>
        <p:nvSpPr>
          <p:cNvPr id="37" name="Rectangle 36">
            <a:extLst>
              <a:ext uri="{FF2B5EF4-FFF2-40B4-BE49-F238E27FC236}">
                <a16:creationId xmlns:a16="http://schemas.microsoft.com/office/drawing/2014/main" id="{9C481D93-C281-FC71-2FAC-59BBDE90F79D}"/>
              </a:ext>
            </a:extLst>
          </p:cNvPr>
          <p:cNvSpPr/>
          <p:nvPr/>
        </p:nvSpPr>
        <p:spPr>
          <a:xfrm>
            <a:off x="2971224" y="9352031"/>
            <a:ext cx="1097280" cy="377851"/>
          </a:xfrm>
          <a:prstGeom prst="rect">
            <a:avLst/>
          </a:prstGeom>
          <a:solidFill>
            <a:srgbClr val="7030A0"/>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00" err="1">
                <a:latin typeface="Montserrat" pitchFamily="2" charset="77"/>
              </a:rPr>
              <a:t>Powerely</a:t>
            </a:r>
            <a:endParaRPr lang="en-US" sz="800">
              <a:latin typeface="Montserrat" pitchFamily="2" charset="77"/>
            </a:endParaRPr>
          </a:p>
        </p:txBody>
      </p:sp>
      <p:sp>
        <p:nvSpPr>
          <p:cNvPr id="14" name="Rectangle 13">
            <a:extLst>
              <a:ext uri="{FF2B5EF4-FFF2-40B4-BE49-F238E27FC236}">
                <a16:creationId xmlns:a16="http://schemas.microsoft.com/office/drawing/2014/main" id="{ECE34F5C-B45B-B10E-A97C-41085F8DECF9}"/>
              </a:ext>
            </a:extLst>
          </p:cNvPr>
          <p:cNvSpPr/>
          <p:nvPr/>
        </p:nvSpPr>
        <p:spPr>
          <a:xfrm>
            <a:off x="5382240" y="8918072"/>
            <a:ext cx="1097280" cy="377851"/>
          </a:xfrm>
          <a:prstGeom prst="rect">
            <a:avLst/>
          </a:prstGeom>
          <a:solidFill>
            <a:schemeClr val="accent1">
              <a:lumMod val="50000"/>
            </a:schemeClr>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00">
                <a:latin typeface="Montserrat" pitchFamily="2" charset="77"/>
              </a:rPr>
              <a:t>Lorton</a:t>
            </a:r>
          </a:p>
        </p:txBody>
      </p:sp>
      <p:sp>
        <p:nvSpPr>
          <p:cNvPr id="62" name="Rectangle 61">
            <a:extLst>
              <a:ext uri="{FF2B5EF4-FFF2-40B4-BE49-F238E27FC236}">
                <a16:creationId xmlns:a16="http://schemas.microsoft.com/office/drawing/2014/main" id="{00D6BCD0-6617-74AE-5AFF-A2D864814232}"/>
              </a:ext>
            </a:extLst>
          </p:cNvPr>
          <p:cNvSpPr/>
          <p:nvPr/>
        </p:nvSpPr>
        <p:spPr>
          <a:xfrm>
            <a:off x="1784938" y="9352031"/>
            <a:ext cx="1097280" cy="377851"/>
          </a:xfrm>
          <a:prstGeom prst="rect">
            <a:avLst/>
          </a:prstGeom>
          <a:solidFill>
            <a:srgbClr val="7030A0"/>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00" err="1">
                <a:latin typeface="Montserrat" pitchFamily="2" charset="77"/>
              </a:rPr>
              <a:t>Sagewell</a:t>
            </a:r>
            <a:endParaRPr lang="en-US" sz="800">
              <a:latin typeface="Montserrat" pitchFamily="2" charset="77"/>
            </a:endParaRPr>
          </a:p>
        </p:txBody>
      </p:sp>
      <p:sp>
        <p:nvSpPr>
          <p:cNvPr id="86" name="Rectangle 85">
            <a:extLst>
              <a:ext uri="{FF2B5EF4-FFF2-40B4-BE49-F238E27FC236}">
                <a16:creationId xmlns:a16="http://schemas.microsoft.com/office/drawing/2014/main" id="{DD1D7EA8-6974-A136-F680-78EDACCA8839}"/>
              </a:ext>
            </a:extLst>
          </p:cNvPr>
          <p:cNvSpPr/>
          <p:nvPr/>
        </p:nvSpPr>
        <p:spPr>
          <a:xfrm>
            <a:off x="586365" y="10242106"/>
            <a:ext cx="1097280" cy="377851"/>
          </a:xfrm>
          <a:prstGeom prst="rect">
            <a:avLst/>
          </a:prstGeom>
          <a:solidFill>
            <a:schemeClr val="accent4">
              <a:lumMod val="60000"/>
              <a:lumOff val="40000"/>
            </a:schemeClr>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00">
                <a:latin typeface="Montserrat" pitchFamily="2" charset="77"/>
              </a:rPr>
              <a:t>THAW</a:t>
            </a:r>
          </a:p>
        </p:txBody>
      </p:sp>
      <p:sp>
        <p:nvSpPr>
          <p:cNvPr id="19" name="Rectangle 18">
            <a:extLst>
              <a:ext uri="{FF2B5EF4-FFF2-40B4-BE49-F238E27FC236}">
                <a16:creationId xmlns:a16="http://schemas.microsoft.com/office/drawing/2014/main" id="{AD024CB5-FA58-306F-1989-47330FB1A9BB}"/>
              </a:ext>
            </a:extLst>
          </p:cNvPr>
          <p:cNvSpPr/>
          <p:nvPr/>
        </p:nvSpPr>
        <p:spPr>
          <a:xfrm>
            <a:off x="1793292" y="10242106"/>
            <a:ext cx="1097280" cy="377851"/>
          </a:xfrm>
          <a:prstGeom prst="rect">
            <a:avLst/>
          </a:prstGeom>
          <a:solidFill>
            <a:schemeClr val="accent4">
              <a:lumMod val="60000"/>
              <a:lumOff val="40000"/>
            </a:schemeClr>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00">
                <a:latin typeface="Montserrat" pitchFamily="2" charset="77"/>
              </a:rPr>
              <a:t>DHHS</a:t>
            </a:r>
          </a:p>
        </p:txBody>
      </p:sp>
      <p:sp>
        <p:nvSpPr>
          <p:cNvPr id="34" name="Rectangle 33">
            <a:extLst>
              <a:ext uri="{FF2B5EF4-FFF2-40B4-BE49-F238E27FC236}">
                <a16:creationId xmlns:a16="http://schemas.microsoft.com/office/drawing/2014/main" id="{F4003E20-6B4B-8E7B-09E8-160C75D8D8EC}"/>
              </a:ext>
            </a:extLst>
          </p:cNvPr>
          <p:cNvSpPr/>
          <p:nvPr/>
        </p:nvSpPr>
        <p:spPr>
          <a:xfrm>
            <a:off x="7663028" y="4172802"/>
            <a:ext cx="1254935" cy="447919"/>
          </a:xfrm>
          <a:prstGeom prst="rect">
            <a:avLst/>
          </a:prstGeom>
          <a:solidFill>
            <a:schemeClr val="accent2">
              <a:lumMod val="75000"/>
            </a:schemeClr>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00">
                <a:latin typeface="Montserrat" pitchFamily="2" charset="77"/>
              </a:rPr>
              <a:t>MS (COMET)</a:t>
            </a:r>
          </a:p>
        </p:txBody>
      </p:sp>
      <p:sp>
        <p:nvSpPr>
          <p:cNvPr id="40" name="Rectangle 39">
            <a:extLst>
              <a:ext uri="{FF2B5EF4-FFF2-40B4-BE49-F238E27FC236}">
                <a16:creationId xmlns:a16="http://schemas.microsoft.com/office/drawing/2014/main" id="{18A9686D-F459-8956-70A3-21AF0DBCD9E8}"/>
              </a:ext>
            </a:extLst>
          </p:cNvPr>
          <p:cNvSpPr/>
          <p:nvPr/>
        </p:nvSpPr>
        <p:spPr>
          <a:xfrm>
            <a:off x="586365" y="8918072"/>
            <a:ext cx="1097280" cy="377851"/>
          </a:xfrm>
          <a:prstGeom prst="rect">
            <a:avLst/>
          </a:prstGeom>
          <a:solidFill>
            <a:schemeClr val="accent1">
              <a:lumMod val="50000"/>
            </a:schemeClr>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00" err="1">
                <a:latin typeface="Montserrat" pitchFamily="2" charset="77"/>
              </a:rPr>
              <a:t>CleanPower</a:t>
            </a:r>
            <a:endParaRPr lang="en-US" sz="800">
              <a:latin typeface="Montserrat" pitchFamily="2" charset="77"/>
            </a:endParaRPr>
          </a:p>
        </p:txBody>
      </p:sp>
      <p:sp>
        <p:nvSpPr>
          <p:cNvPr id="75" name="Rectangle 74">
            <a:extLst>
              <a:ext uri="{FF2B5EF4-FFF2-40B4-BE49-F238E27FC236}">
                <a16:creationId xmlns:a16="http://schemas.microsoft.com/office/drawing/2014/main" id="{46DCACCE-5CC7-BB3E-3A0F-EF00632F24C6}"/>
              </a:ext>
            </a:extLst>
          </p:cNvPr>
          <p:cNvSpPr/>
          <p:nvPr/>
        </p:nvSpPr>
        <p:spPr>
          <a:xfrm>
            <a:off x="4187618" y="8918072"/>
            <a:ext cx="1097280" cy="377851"/>
          </a:xfrm>
          <a:prstGeom prst="rect">
            <a:avLst/>
          </a:prstGeom>
          <a:solidFill>
            <a:schemeClr val="accent1">
              <a:lumMod val="50000"/>
            </a:schemeClr>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00">
                <a:latin typeface="Montserrat" pitchFamily="2" charset="77"/>
              </a:rPr>
              <a:t>DRMS </a:t>
            </a:r>
          </a:p>
        </p:txBody>
      </p:sp>
      <p:sp>
        <p:nvSpPr>
          <p:cNvPr id="27" name="Rectangle 26">
            <a:extLst>
              <a:ext uri="{FF2B5EF4-FFF2-40B4-BE49-F238E27FC236}">
                <a16:creationId xmlns:a16="http://schemas.microsoft.com/office/drawing/2014/main" id="{17C08ED0-71EF-221F-69D9-4944183279D1}"/>
              </a:ext>
            </a:extLst>
          </p:cNvPr>
          <p:cNvSpPr/>
          <p:nvPr/>
        </p:nvSpPr>
        <p:spPr>
          <a:xfrm>
            <a:off x="3801252" y="1481552"/>
            <a:ext cx="2130799" cy="3538849"/>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a:latin typeface="Montserrat" pitchFamily="2" charset="77"/>
              </a:rPr>
              <a:t>CRM 7</a:t>
            </a:r>
          </a:p>
        </p:txBody>
      </p:sp>
      <p:sp>
        <p:nvSpPr>
          <p:cNvPr id="54" name="TextBox 53">
            <a:extLst>
              <a:ext uri="{FF2B5EF4-FFF2-40B4-BE49-F238E27FC236}">
                <a16:creationId xmlns:a16="http://schemas.microsoft.com/office/drawing/2014/main" id="{BE20C2DC-7C25-6C64-01D4-745BC9BDB06E}"/>
              </a:ext>
            </a:extLst>
          </p:cNvPr>
          <p:cNvSpPr txBox="1"/>
          <p:nvPr/>
        </p:nvSpPr>
        <p:spPr>
          <a:xfrm>
            <a:off x="456090" y="1303505"/>
            <a:ext cx="2332080" cy="584775"/>
          </a:xfrm>
          <a:prstGeom prst="rect">
            <a:avLst/>
          </a:prstGeom>
          <a:noFill/>
          <a:ln>
            <a:noFill/>
          </a:ln>
        </p:spPr>
        <p:txBody>
          <a:bodyPr wrap="square" rtlCol="0">
            <a:spAutoFit/>
          </a:bodyPr>
          <a:lstStyle/>
          <a:p>
            <a:r>
              <a:rPr lang="en-US" sz="1600" b="1">
                <a:latin typeface="Montserrat" pitchFamily="2" charset="77"/>
              </a:rPr>
              <a:t>Direct Integrations With CRM 7</a:t>
            </a:r>
          </a:p>
        </p:txBody>
      </p:sp>
      <p:cxnSp>
        <p:nvCxnSpPr>
          <p:cNvPr id="68" name="Straight Arrow Connector 67">
            <a:extLst>
              <a:ext uri="{FF2B5EF4-FFF2-40B4-BE49-F238E27FC236}">
                <a16:creationId xmlns:a16="http://schemas.microsoft.com/office/drawing/2014/main" id="{BD4BFA3B-5E29-49F6-61BF-D1451E5A46B6}"/>
              </a:ext>
            </a:extLst>
          </p:cNvPr>
          <p:cNvCxnSpPr>
            <a:cxnSpLocks/>
          </p:cNvCxnSpPr>
          <p:nvPr/>
        </p:nvCxnSpPr>
        <p:spPr>
          <a:xfrm>
            <a:off x="2302490" y="3225461"/>
            <a:ext cx="1206862" cy="0"/>
          </a:xfrm>
          <a:prstGeom prst="straightConnector1">
            <a:avLst/>
          </a:prstGeom>
          <a:ln w="57150">
            <a:solidFill>
              <a:schemeClr val="accent4">
                <a:lumMod val="50000"/>
              </a:schemeClr>
            </a:solidFill>
            <a:prstDash val="solid"/>
            <a:headEnd type="arrow"/>
            <a:tailEnd type="arrow"/>
          </a:ln>
        </p:spPr>
        <p:style>
          <a:lnRef idx="2">
            <a:schemeClr val="accent1"/>
          </a:lnRef>
          <a:fillRef idx="0">
            <a:schemeClr val="accent1"/>
          </a:fillRef>
          <a:effectRef idx="1">
            <a:schemeClr val="accent1"/>
          </a:effectRef>
          <a:fontRef idx="minor">
            <a:schemeClr val="tx1"/>
          </a:fontRef>
        </p:style>
      </p:cxnSp>
      <p:cxnSp>
        <p:nvCxnSpPr>
          <p:cNvPr id="85" name="Straight Arrow Connector 84">
            <a:extLst>
              <a:ext uri="{FF2B5EF4-FFF2-40B4-BE49-F238E27FC236}">
                <a16:creationId xmlns:a16="http://schemas.microsoft.com/office/drawing/2014/main" id="{20E8E444-159E-2170-CB17-348FCC7B2D0F}"/>
              </a:ext>
            </a:extLst>
          </p:cNvPr>
          <p:cNvCxnSpPr>
            <a:cxnSpLocks/>
          </p:cNvCxnSpPr>
          <p:nvPr/>
        </p:nvCxnSpPr>
        <p:spPr>
          <a:xfrm>
            <a:off x="2316867" y="2510394"/>
            <a:ext cx="1206862" cy="0"/>
          </a:xfrm>
          <a:prstGeom prst="straightConnector1">
            <a:avLst/>
          </a:prstGeom>
          <a:ln w="57150">
            <a:solidFill>
              <a:schemeClr val="accent4">
                <a:lumMod val="50000"/>
              </a:schemeClr>
            </a:solidFill>
            <a:prstDash val="solid"/>
            <a:headEnd type="arrow"/>
            <a:tailEnd type="arrow"/>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B29B2F08-7CFE-CEB0-DDD6-E8813DAE54B2}"/>
              </a:ext>
            </a:extLst>
          </p:cNvPr>
          <p:cNvSpPr txBox="1"/>
          <p:nvPr/>
        </p:nvSpPr>
        <p:spPr>
          <a:xfrm>
            <a:off x="7062051" y="1306153"/>
            <a:ext cx="3699416" cy="584775"/>
          </a:xfrm>
          <a:prstGeom prst="rect">
            <a:avLst/>
          </a:prstGeom>
          <a:noFill/>
          <a:ln>
            <a:noFill/>
          </a:ln>
        </p:spPr>
        <p:txBody>
          <a:bodyPr wrap="square" lIns="91440" tIns="45720" rIns="91440" bIns="45720" rtlCol="0" anchor="t">
            <a:spAutoFit/>
          </a:bodyPr>
          <a:lstStyle/>
          <a:p>
            <a:r>
              <a:rPr lang="en-US" sz="1600" b="1">
                <a:latin typeface="Montserrat"/>
              </a:rPr>
              <a:t>3rd Party Integrations with ECC</a:t>
            </a:r>
            <a:endParaRPr lang="en-US">
              <a:latin typeface="Montserrat"/>
            </a:endParaRPr>
          </a:p>
          <a:p>
            <a:r>
              <a:rPr lang="en-US" sz="1600" b="1">
                <a:latin typeface="Montserrat"/>
              </a:rPr>
              <a:t>(Not an exhaustive List)</a:t>
            </a:r>
            <a:endParaRPr lang="en-US"/>
          </a:p>
        </p:txBody>
      </p:sp>
      <p:sp>
        <p:nvSpPr>
          <p:cNvPr id="32" name="Rectangle 31">
            <a:extLst>
              <a:ext uri="{FF2B5EF4-FFF2-40B4-BE49-F238E27FC236}">
                <a16:creationId xmlns:a16="http://schemas.microsoft.com/office/drawing/2014/main" id="{5956ABBF-5CD1-EEE4-0EB1-CBA90985DF9C}"/>
              </a:ext>
            </a:extLst>
          </p:cNvPr>
          <p:cNvSpPr/>
          <p:nvPr/>
        </p:nvSpPr>
        <p:spPr>
          <a:xfrm>
            <a:off x="8797145" y="9375640"/>
            <a:ext cx="1014456" cy="353054"/>
          </a:xfrm>
          <a:prstGeom prst="rect">
            <a:avLst/>
          </a:prstGeom>
          <a:solidFill>
            <a:schemeClr val="accent2">
              <a:lumMod val="75000"/>
            </a:schemeClr>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a:latin typeface="Montserrat" pitchFamily="2" charset="77"/>
              </a:rPr>
              <a:t>GCI</a:t>
            </a:r>
          </a:p>
        </p:txBody>
      </p:sp>
      <p:sp>
        <p:nvSpPr>
          <p:cNvPr id="26" name="Rectangle 25">
            <a:extLst>
              <a:ext uri="{FF2B5EF4-FFF2-40B4-BE49-F238E27FC236}">
                <a16:creationId xmlns:a16="http://schemas.microsoft.com/office/drawing/2014/main" id="{873AEED1-933C-98B8-89A6-7C434C3A819A}"/>
              </a:ext>
            </a:extLst>
          </p:cNvPr>
          <p:cNvSpPr/>
          <p:nvPr/>
        </p:nvSpPr>
        <p:spPr>
          <a:xfrm>
            <a:off x="9111739" y="4172236"/>
            <a:ext cx="1263895" cy="462320"/>
          </a:xfrm>
          <a:prstGeom prst="rect">
            <a:avLst/>
          </a:prstGeom>
          <a:solidFill>
            <a:schemeClr val="accent2">
              <a:lumMod val="75000"/>
            </a:schemeClr>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50" err="1">
                <a:latin typeface="Montserrat" pitchFamily="2" charset="77"/>
              </a:rPr>
              <a:t>BillTrust</a:t>
            </a:r>
            <a:endParaRPr lang="en-US" sz="1050">
              <a:latin typeface="Montserrat" pitchFamily="2" charset="77"/>
            </a:endParaRPr>
          </a:p>
        </p:txBody>
      </p:sp>
      <p:sp>
        <p:nvSpPr>
          <p:cNvPr id="57" name="Rectangle 56">
            <a:extLst>
              <a:ext uri="{FF2B5EF4-FFF2-40B4-BE49-F238E27FC236}">
                <a16:creationId xmlns:a16="http://schemas.microsoft.com/office/drawing/2014/main" id="{90CEB06C-1D32-33D2-64A6-CCBE2EC8318C}"/>
              </a:ext>
            </a:extLst>
          </p:cNvPr>
          <p:cNvSpPr/>
          <p:nvPr/>
        </p:nvSpPr>
        <p:spPr>
          <a:xfrm>
            <a:off x="8797145" y="9818728"/>
            <a:ext cx="1014456" cy="353054"/>
          </a:xfrm>
          <a:prstGeom prst="rect">
            <a:avLst/>
          </a:prstGeom>
          <a:solidFill>
            <a:schemeClr val="accent2">
              <a:lumMod val="75000"/>
            </a:schemeClr>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a:latin typeface="Montserrat" pitchFamily="2" charset="77"/>
              </a:rPr>
              <a:t>MISO</a:t>
            </a:r>
          </a:p>
        </p:txBody>
      </p:sp>
      <p:sp>
        <p:nvSpPr>
          <p:cNvPr id="59" name="Rectangle 58">
            <a:extLst>
              <a:ext uri="{FF2B5EF4-FFF2-40B4-BE49-F238E27FC236}">
                <a16:creationId xmlns:a16="http://schemas.microsoft.com/office/drawing/2014/main" id="{B25F7F49-6595-5AB0-1809-105FAD7702F4}"/>
              </a:ext>
            </a:extLst>
          </p:cNvPr>
          <p:cNvSpPr/>
          <p:nvPr/>
        </p:nvSpPr>
        <p:spPr>
          <a:xfrm>
            <a:off x="6561579" y="9818728"/>
            <a:ext cx="1014456" cy="353054"/>
          </a:xfrm>
          <a:prstGeom prst="rect">
            <a:avLst/>
          </a:prstGeom>
          <a:solidFill>
            <a:schemeClr val="accent2">
              <a:lumMod val="75000"/>
            </a:schemeClr>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err="1">
                <a:latin typeface="Montserrat" pitchFamily="2" charset="77"/>
              </a:rPr>
              <a:t>DegreeDays.Net</a:t>
            </a:r>
            <a:endParaRPr lang="en-US" sz="900">
              <a:latin typeface="Montserrat" pitchFamily="2" charset="77"/>
            </a:endParaRPr>
          </a:p>
        </p:txBody>
      </p:sp>
      <p:sp>
        <p:nvSpPr>
          <p:cNvPr id="61" name="Rectangle 60">
            <a:extLst>
              <a:ext uri="{FF2B5EF4-FFF2-40B4-BE49-F238E27FC236}">
                <a16:creationId xmlns:a16="http://schemas.microsoft.com/office/drawing/2014/main" id="{79CC4301-56E9-5319-7635-158E55531EEC}"/>
              </a:ext>
            </a:extLst>
          </p:cNvPr>
          <p:cNvSpPr/>
          <p:nvPr/>
        </p:nvSpPr>
        <p:spPr>
          <a:xfrm>
            <a:off x="9854831" y="9375639"/>
            <a:ext cx="1014456" cy="353054"/>
          </a:xfrm>
          <a:prstGeom prst="rect">
            <a:avLst/>
          </a:prstGeom>
          <a:solidFill>
            <a:schemeClr val="accent2">
              <a:lumMod val="75000"/>
            </a:schemeClr>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a:latin typeface="Montserrat" pitchFamily="2" charset="77"/>
              </a:rPr>
              <a:t>My Meter is gone</a:t>
            </a:r>
          </a:p>
        </p:txBody>
      </p:sp>
      <p:sp>
        <p:nvSpPr>
          <p:cNvPr id="66" name="Rectangle 65">
            <a:extLst>
              <a:ext uri="{FF2B5EF4-FFF2-40B4-BE49-F238E27FC236}">
                <a16:creationId xmlns:a16="http://schemas.microsoft.com/office/drawing/2014/main" id="{848D3D58-0075-4D72-BA80-7098321BC7F2}"/>
              </a:ext>
            </a:extLst>
          </p:cNvPr>
          <p:cNvSpPr/>
          <p:nvPr/>
        </p:nvSpPr>
        <p:spPr>
          <a:xfrm>
            <a:off x="7688381" y="8932552"/>
            <a:ext cx="1014456" cy="353054"/>
          </a:xfrm>
          <a:prstGeom prst="rect">
            <a:avLst/>
          </a:prstGeom>
          <a:solidFill>
            <a:schemeClr val="accent4">
              <a:lumMod val="60000"/>
              <a:lumOff val="40000"/>
            </a:schemeClr>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a:latin typeface="Montserrat" pitchFamily="2" charset="77"/>
              </a:rPr>
              <a:t>5</a:t>
            </a:r>
            <a:r>
              <a:rPr lang="en-US" sz="900" baseline="30000">
                <a:latin typeface="Montserrat" pitchFamily="2" charset="77"/>
              </a:rPr>
              <a:t>th</a:t>
            </a:r>
            <a:r>
              <a:rPr lang="en-US" sz="900">
                <a:latin typeface="Montserrat" pitchFamily="2" charset="77"/>
              </a:rPr>
              <a:t> and Third</a:t>
            </a:r>
          </a:p>
        </p:txBody>
      </p:sp>
      <p:sp>
        <p:nvSpPr>
          <p:cNvPr id="71" name="Rectangle 70">
            <a:extLst>
              <a:ext uri="{FF2B5EF4-FFF2-40B4-BE49-F238E27FC236}">
                <a16:creationId xmlns:a16="http://schemas.microsoft.com/office/drawing/2014/main" id="{C31D3832-C75F-CD2C-6BB0-C960B530DFF7}"/>
              </a:ext>
            </a:extLst>
          </p:cNvPr>
          <p:cNvSpPr/>
          <p:nvPr/>
        </p:nvSpPr>
        <p:spPr>
          <a:xfrm>
            <a:off x="6561579" y="8932552"/>
            <a:ext cx="1014456" cy="353054"/>
          </a:xfrm>
          <a:prstGeom prst="rect">
            <a:avLst/>
          </a:prstGeom>
          <a:solidFill>
            <a:schemeClr val="accent4">
              <a:lumMod val="60000"/>
              <a:lumOff val="40000"/>
            </a:schemeClr>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a:latin typeface="Montserrat" pitchFamily="2" charset="77"/>
              </a:rPr>
              <a:t>JP Morgan</a:t>
            </a:r>
          </a:p>
        </p:txBody>
      </p:sp>
      <p:sp>
        <p:nvSpPr>
          <p:cNvPr id="72" name="Rectangle 71">
            <a:extLst>
              <a:ext uri="{FF2B5EF4-FFF2-40B4-BE49-F238E27FC236}">
                <a16:creationId xmlns:a16="http://schemas.microsoft.com/office/drawing/2014/main" id="{40F1E827-E0D2-99F1-3ABE-832418F0A02F}"/>
              </a:ext>
            </a:extLst>
          </p:cNvPr>
          <p:cNvSpPr/>
          <p:nvPr/>
        </p:nvSpPr>
        <p:spPr>
          <a:xfrm>
            <a:off x="7688381" y="9375639"/>
            <a:ext cx="1014456" cy="353054"/>
          </a:xfrm>
          <a:prstGeom prst="rect">
            <a:avLst/>
          </a:prstGeom>
          <a:solidFill>
            <a:schemeClr val="accent2">
              <a:lumMod val="75000"/>
            </a:schemeClr>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a:latin typeface="Montserrat" pitchFamily="2" charset="77"/>
              </a:rPr>
              <a:t>ESG</a:t>
            </a:r>
          </a:p>
        </p:txBody>
      </p:sp>
      <p:sp>
        <p:nvSpPr>
          <p:cNvPr id="22" name="Rectangle 21">
            <a:extLst>
              <a:ext uri="{FF2B5EF4-FFF2-40B4-BE49-F238E27FC236}">
                <a16:creationId xmlns:a16="http://schemas.microsoft.com/office/drawing/2014/main" id="{853DD6D1-280C-2FE0-6518-A704A6D4039D}"/>
              </a:ext>
            </a:extLst>
          </p:cNvPr>
          <p:cNvSpPr/>
          <p:nvPr/>
        </p:nvSpPr>
        <p:spPr>
          <a:xfrm>
            <a:off x="7659255" y="2395207"/>
            <a:ext cx="1263895" cy="462322"/>
          </a:xfrm>
          <a:prstGeom prst="rect">
            <a:avLst/>
          </a:prstGeom>
          <a:solidFill>
            <a:schemeClr val="accent1">
              <a:lumMod val="50000"/>
            </a:schemeClr>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50">
                <a:latin typeface="Montserrat" pitchFamily="2" charset="77"/>
              </a:rPr>
              <a:t>Equifax</a:t>
            </a:r>
          </a:p>
        </p:txBody>
      </p:sp>
      <p:sp>
        <p:nvSpPr>
          <p:cNvPr id="24" name="Rectangle 23">
            <a:extLst>
              <a:ext uri="{FF2B5EF4-FFF2-40B4-BE49-F238E27FC236}">
                <a16:creationId xmlns:a16="http://schemas.microsoft.com/office/drawing/2014/main" id="{16C5B2E1-C763-5BF4-C44F-C10EA42F1615}"/>
              </a:ext>
            </a:extLst>
          </p:cNvPr>
          <p:cNvSpPr/>
          <p:nvPr/>
        </p:nvSpPr>
        <p:spPr>
          <a:xfrm>
            <a:off x="7659255" y="2997010"/>
            <a:ext cx="1263894" cy="447944"/>
          </a:xfrm>
          <a:prstGeom prst="rect">
            <a:avLst/>
          </a:prstGeom>
          <a:solidFill>
            <a:srgbClr val="7030A0"/>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50">
                <a:latin typeface="Montserrat" pitchFamily="2" charset="77"/>
              </a:rPr>
              <a:t>Honeywell</a:t>
            </a:r>
          </a:p>
        </p:txBody>
      </p:sp>
      <p:sp>
        <p:nvSpPr>
          <p:cNvPr id="31" name="Rectangle 30">
            <a:extLst>
              <a:ext uri="{FF2B5EF4-FFF2-40B4-BE49-F238E27FC236}">
                <a16:creationId xmlns:a16="http://schemas.microsoft.com/office/drawing/2014/main" id="{DC5E3FDA-33F7-EE35-01B8-43273C952ADB}"/>
              </a:ext>
            </a:extLst>
          </p:cNvPr>
          <p:cNvSpPr/>
          <p:nvPr/>
        </p:nvSpPr>
        <p:spPr>
          <a:xfrm>
            <a:off x="9111739" y="2396178"/>
            <a:ext cx="1263894" cy="462322"/>
          </a:xfrm>
          <a:prstGeom prst="rect">
            <a:avLst/>
          </a:prstGeom>
          <a:solidFill>
            <a:schemeClr val="accent1">
              <a:lumMod val="50000"/>
            </a:schemeClr>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50" err="1">
                <a:latin typeface="Montserrat" pitchFamily="2" charset="77"/>
              </a:rPr>
              <a:t>Riverstar</a:t>
            </a:r>
            <a:endParaRPr lang="en-US" sz="1050">
              <a:latin typeface="Montserrat" pitchFamily="2" charset="77"/>
            </a:endParaRPr>
          </a:p>
        </p:txBody>
      </p:sp>
      <p:sp>
        <p:nvSpPr>
          <p:cNvPr id="45" name="Rectangle 44">
            <a:extLst>
              <a:ext uri="{FF2B5EF4-FFF2-40B4-BE49-F238E27FC236}">
                <a16:creationId xmlns:a16="http://schemas.microsoft.com/office/drawing/2014/main" id="{6710CA1D-3288-EFA2-2B95-7118E4970C1A}"/>
              </a:ext>
            </a:extLst>
          </p:cNvPr>
          <p:cNvSpPr/>
          <p:nvPr/>
        </p:nvSpPr>
        <p:spPr>
          <a:xfrm>
            <a:off x="9111739" y="2990793"/>
            <a:ext cx="1263894" cy="462322"/>
          </a:xfrm>
          <a:prstGeom prst="rect">
            <a:avLst/>
          </a:prstGeom>
          <a:solidFill>
            <a:schemeClr val="accent1">
              <a:lumMod val="50000"/>
            </a:schemeClr>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50">
                <a:latin typeface="Montserrat" pitchFamily="2" charset="77"/>
              </a:rPr>
              <a:t>ISIS</a:t>
            </a:r>
          </a:p>
        </p:txBody>
      </p:sp>
      <p:sp>
        <p:nvSpPr>
          <p:cNvPr id="103" name="Rectangle 102">
            <a:extLst>
              <a:ext uri="{FF2B5EF4-FFF2-40B4-BE49-F238E27FC236}">
                <a16:creationId xmlns:a16="http://schemas.microsoft.com/office/drawing/2014/main" id="{784F114C-AB78-07EE-CB62-3C6AE2423850}"/>
              </a:ext>
            </a:extLst>
          </p:cNvPr>
          <p:cNvSpPr/>
          <p:nvPr/>
        </p:nvSpPr>
        <p:spPr>
          <a:xfrm>
            <a:off x="7688381" y="9818728"/>
            <a:ext cx="1014456" cy="353054"/>
          </a:xfrm>
          <a:prstGeom prst="rect">
            <a:avLst/>
          </a:prstGeom>
          <a:solidFill>
            <a:schemeClr val="accent2">
              <a:lumMod val="75000"/>
            </a:schemeClr>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a:latin typeface="Montserrat" pitchFamily="2" charset="77"/>
              </a:rPr>
              <a:t>Itron (In Review)</a:t>
            </a:r>
          </a:p>
        </p:txBody>
      </p:sp>
      <p:sp>
        <p:nvSpPr>
          <p:cNvPr id="30" name="Rectangle 29">
            <a:extLst>
              <a:ext uri="{FF2B5EF4-FFF2-40B4-BE49-F238E27FC236}">
                <a16:creationId xmlns:a16="http://schemas.microsoft.com/office/drawing/2014/main" id="{FA1E794F-4631-CE82-27DF-96FFF32DC587}"/>
              </a:ext>
            </a:extLst>
          </p:cNvPr>
          <p:cNvSpPr/>
          <p:nvPr/>
        </p:nvSpPr>
        <p:spPr>
          <a:xfrm>
            <a:off x="8797145" y="8932553"/>
            <a:ext cx="1014456" cy="353054"/>
          </a:xfrm>
          <a:prstGeom prst="rect">
            <a:avLst/>
          </a:prstGeom>
          <a:solidFill>
            <a:schemeClr val="accent4">
              <a:lumMod val="60000"/>
              <a:lumOff val="40000"/>
            </a:schemeClr>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a:latin typeface="Montserrat" pitchFamily="2" charset="77"/>
              </a:rPr>
              <a:t>Harris and Harris</a:t>
            </a:r>
          </a:p>
        </p:txBody>
      </p:sp>
      <p:sp>
        <p:nvSpPr>
          <p:cNvPr id="28" name="Rectangle 27">
            <a:extLst>
              <a:ext uri="{FF2B5EF4-FFF2-40B4-BE49-F238E27FC236}">
                <a16:creationId xmlns:a16="http://schemas.microsoft.com/office/drawing/2014/main" id="{CDAC9B75-77ED-B424-5E41-189F49BCADCA}"/>
              </a:ext>
            </a:extLst>
          </p:cNvPr>
          <p:cNvSpPr/>
          <p:nvPr/>
        </p:nvSpPr>
        <p:spPr>
          <a:xfrm>
            <a:off x="474696" y="3684044"/>
            <a:ext cx="1712343" cy="495156"/>
          </a:xfrm>
          <a:prstGeom prst="rect">
            <a:avLst/>
          </a:prstGeom>
          <a:solidFill>
            <a:schemeClr val="accent4"/>
          </a:solidFill>
          <a:ln w="57150">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sz="1400" b="1" err="1">
                <a:latin typeface="Montserrat"/>
              </a:rPr>
              <a:t>Paymentus</a:t>
            </a:r>
            <a:endParaRPr lang="en-US" sz="1400" b="1" err="1"/>
          </a:p>
        </p:txBody>
      </p:sp>
      <p:cxnSp>
        <p:nvCxnSpPr>
          <p:cNvPr id="17" name="Straight Arrow Connector 16">
            <a:extLst>
              <a:ext uri="{FF2B5EF4-FFF2-40B4-BE49-F238E27FC236}">
                <a16:creationId xmlns:a16="http://schemas.microsoft.com/office/drawing/2014/main" id="{2A3969CE-061E-8745-E85D-563702A60865}"/>
              </a:ext>
            </a:extLst>
          </p:cNvPr>
          <p:cNvCxnSpPr>
            <a:cxnSpLocks/>
          </p:cNvCxnSpPr>
          <p:nvPr/>
        </p:nvCxnSpPr>
        <p:spPr>
          <a:xfrm>
            <a:off x="2359999" y="3933753"/>
            <a:ext cx="1206862" cy="0"/>
          </a:xfrm>
          <a:prstGeom prst="straightConnector1">
            <a:avLst/>
          </a:prstGeom>
          <a:ln w="57150">
            <a:solidFill>
              <a:schemeClr val="accent4">
                <a:lumMod val="50000"/>
              </a:schemeClr>
            </a:solidFill>
            <a:prstDash val="solid"/>
            <a:headEnd type="arrow"/>
            <a:tailEnd type="arrow"/>
          </a:ln>
        </p:spPr>
        <p:style>
          <a:lnRef idx="2">
            <a:schemeClr val="accent1"/>
          </a:lnRef>
          <a:fillRef idx="0">
            <a:schemeClr val="accent1"/>
          </a:fillRef>
          <a:effectRef idx="1">
            <a:schemeClr val="accent1"/>
          </a:effectRef>
          <a:fontRef idx="minor">
            <a:schemeClr val="tx1"/>
          </a:fontRef>
        </p:style>
      </p:cxnSp>
      <p:grpSp>
        <p:nvGrpSpPr>
          <p:cNvPr id="69" name="Group 68">
            <a:extLst>
              <a:ext uri="{FF2B5EF4-FFF2-40B4-BE49-F238E27FC236}">
                <a16:creationId xmlns:a16="http://schemas.microsoft.com/office/drawing/2014/main" id="{6A9C35A3-621A-1025-2955-36D78E2079B0}"/>
              </a:ext>
            </a:extLst>
          </p:cNvPr>
          <p:cNvGrpSpPr/>
          <p:nvPr/>
        </p:nvGrpSpPr>
        <p:grpSpPr>
          <a:xfrm>
            <a:off x="6106369" y="5466270"/>
            <a:ext cx="4880143" cy="641841"/>
            <a:chOff x="6593264" y="5388745"/>
            <a:chExt cx="4436497" cy="776625"/>
          </a:xfrm>
        </p:grpSpPr>
        <p:sp>
          <p:nvSpPr>
            <p:cNvPr id="41" name="Rectangle 40">
              <a:extLst>
                <a:ext uri="{FF2B5EF4-FFF2-40B4-BE49-F238E27FC236}">
                  <a16:creationId xmlns:a16="http://schemas.microsoft.com/office/drawing/2014/main" id="{DFDC6A2C-0E1E-A61F-0880-1604C22FE9E9}"/>
                </a:ext>
              </a:extLst>
            </p:cNvPr>
            <p:cNvSpPr/>
            <p:nvPr/>
          </p:nvSpPr>
          <p:spPr>
            <a:xfrm>
              <a:off x="6690270" y="5721657"/>
              <a:ext cx="755703" cy="343501"/>
            </a:xfrm>
            <a:prstGeom prst="rect">
              <a:avLst/>
            </a:prstGeom>
            <a:solidFill>
              <a:schemeClr val="accent1">
                <a:lumMod val="50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700">
                  <a:latin typeface="Montserrat" pitchFamily="2" charset="77"/>
                </a:rPr>
                <a:t>Cust Svc</a:t>
              </a:r>
            </a:p>
          </p:txBody>
        </p:sp>
        <p:sp>
          <p:nvSpPr>
            <p:cNvPr id="48" name="Rectangle 47">
              <a:extLst>
                <a:ext uri="{FF2B5EF4-FFF2-40B4-BE49-F238E27FC236}">
                  <a16:creationId xmlns:a16="http://schemas.microsoft.com/office/drawing/2014/main" id="{0B395266-8816-20FE-9C48-53627AA52047}"/>
                </a:ext>
              </a:extLst>
            </p:cNvPr>
            <p:cNvSpPr/>
            <p:nvPr/>
          </p:nvSpPr>
          <p:spPr>
            <a:xfrm>
              <a:off x="7540088" y="5721656"/>
              <a:ext cx="755703" cy="343501"/>
            </a:xfrm>
            <a:prstGeom prst="rect">
              <a:avLst/>
            </a:prstGeom>
            <a:solidFill>
              <a:schemeClr val="accent2">
                <a:lumMod val="75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700">
                  <a:latin typeface="Montserrat" pitchFamily="2" charset="77"/>
                </a:rPr>
                <a:t>Billing</a:t>
              </a:r>
            </a:p>
          </p:txBody>
        </p:sp>
        <p:sp>
          <p:nvSpPr>
            <p:cNvPr id="49" name="Rectangle 48">
              <a:extLst>
                <a:ext uri="{FF2B5EF4-FFF2-40B4-BE49-F238E27FC236}">
                  <a16:creationId xmlns:a16="http://schemas.microsoft.com/office/drawing/2014/main" id="{F8DDFA14-E664-F229-BA5D-92851E480E0E}"/>
                </a:ext>
              </a:extLst>
            </p:cNvPr>
            <p:cNvSpPr/>
            <p:nvPr/>
          </p:nvSpPr>
          <p:spPr>
            <a:xfrm>
              <a:off x="9239724" y="5717159"/>
              <a:ext cx="755703" cy="343501"/>
            </a:xfrm>
            <a:prstGeom prst="rect">
              <a:avLst/>
            </a:prstGeom>
            <a:solidFill>
              <a:schemeClr val="accent4">
                <a:lumMod val="60000"/>
                <a:lumOff val="40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700">
                  <a:latin typeface="Montserrat" pitchFamily="2" charset="77"/>
                </a:rPr>
                <a:t>Payment and Collections</a:t>
              </a:r>
            </a:p>
          </p:txBody>
        </p:sp>
        <p:sp>
          <p:nvSpPr>
            <p:cNvPr id="51" name="Rectangle 50">
              <a:extLst>
                <a:ext uri="{FF2B5EF4-FFF2-40B4-BE49-F238E27FC236}">
                  <a16:creationId xmlns:a16="http://schemas.microsoft.com/office/drawing/2014/main" id="{0FCE5828-31F0-0A60-13E2-83951F69EDAB}"/>
                </a:ext>
              </a:extLst>
            </p:cNvPr>
            <p:cNvSpPr/>
            <p:nvPr/>
          </p:nvSpPr>
          <p:spPr>
            <a:xfrm>
              <a:off x="8389906" y="5717159"/>
              <a:ext cx="755703" cy="343501"/>
            </a:xfrm>
            <a:prstGeom prst="rect">
              <a:avLst/>
            </a:prstGeom>
            <a:solidFill>
              <a:srgbClr val="7030A0"/>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700">
                  <a:latin typeface="Montserrat" pitchFamily="2" charset="77"/>
                </a:rPr>
                <a:t>Programs</a:t>
              </a:r>
            </a:p>
          </p:txBody>
        </p:sp>
        <p:sp>
          <p:nvSpPr>
            <p:cNvPr id="55" name="Rectangle 54">
              <a:extLst>
                <a:ext uri="{FF2B5EF4-FFF2-40B4-BE49-F238E27FC236}">
                  <a16:creationId xmlns:a16="http://schemas.microsoft.com/office/drawing/2014/main" id="{FD07CD3E-BF65-FDF6-306B-1FC996D6A6B2}"/>
                </a:ext>
              </a:extLst>
            </p:cNvPr>
            <p:cNvSpPr/>
            <p:nvPr/>
          </p:nvSpPr>
          <p:spPr>
            <a:xfrm>
              <a:off x="10082145" y="5717158"/>
              <a:ext cx="755703" cy="343501"/>
            </a:xfrm>
            <a:prstGeom prst="rect">
              <a:avLst/>
            </a:prstGeom>
            <a:solidFill>
              <a:schemeClr val="accent5"/>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700">
                  <a:latin typeface="Montserrat" pitchFamily="2" charset="77"/>
                </a:rPr>
                <a:t>Digital</a:t>
              </a:r>
            </a:p>
          </p:txBody>
        </p:sp>
        <p:sp>
          <p:nvSpPr>
            <p:cNvPr id="56" name="TextBox 55">
              <a:extLst>
                <a:ext uri="{FF2B5EF4-FFF2-40B4-BE49-F238E27FC236}">
                  <a16:creationId xmlns:a16="http://schemas.microsoft.com/office/drawing/2014/main" id="{D11D2612-4730-73C2-01D3-9B5350D90235}"/>
                </a:ext>
              </a:extLst>
            </p:cNvPr>
            <p:cNvSpPr txBox="1"/>
            <p:nvPr/>
          </p:nvSpPr>
          <p:spPr>
            <a:xfrm>
              <a:off x="6651409" y="5405848"/>
              <a:ext cx="792205" cy="276999"/>
            </a:xfrm>
            <a:prstGeom prst="rect">
              <a:avLst/>
            </a:prstGeom>
            <a:noFill/>
            <a:ln>
              <a:noFill/>
            </a:ln>
          </p:spPr>
          <p:txBody>
            <a:bodyPr wrap="none" rtlCol="0">
              <a:spAutoFit/>
            </a:bodyPr>
            <a:lstStyle/>
            <a:p>
              <a:pPr algn="l"/>
              <a:r>
                <a:rPr lang="en-US" sz="1200" b="1">
                  <a:latin typeface="Montserrat" pitchFamily="2" charset="77"/>
                </a:rPr>
                <a:t>Legend</a:t>
              </a:r>
            </a:p>
          </p:txBody>
        </p:sp>
        <p:sp>
          <p:nvSpPr>
            <p:cNvPr id="58" name="Rectangle 57">
              <a:extLst>
                <a:ext uri="{FF2B5EF4-FFF2-40B4-BE49-F238E27FC236}">
                  <a16:creationId xmlns:a16="http://schemas.microsoft.com/office/drawing/2014/main" id="{6C911BD5-DF01-B7AF-106B-7ECB6C11A6C7}"/>
                </a:ext>
              </a:extLst>
            </p:cNvPr>
            <p:cNvSpPr/>
            <p:nvPr/>
          </p:nvSpPr>
          <p:spPr>
            <a:xfrm>
              <a:off x="6593264" y="5388745"/>
              <a:ext cx="4436497" cy="776625"/>
            </a:xfrm>
            <a:prstGeom prst="rect">
              <a:avLst/>
            </a:prstGeom>
            <a:no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grpSp>
      <p:cxnSp>
        <p:nvCxnSpPr>
          <p:cNvPr id="73" name="Straight Arrow Connector 72">
            <a:extLst>
              <a:ext uri="{FF2B5EF4-FFF2-40B4-BE49-F238E27FC236}">
                <a16:creationId xmlns:a16="http://schemas.microsoft.com/office/drawing/2014/main" id="{70984020-3362-B4E0-3994-3D16412A8B23}"/>
              </a:ext>
            </a:extLst>
          </p:cNvPr>
          <p:cNvCxnSpPr>
            <a:cxnSpLocks/>
          </p:cNvCxnSpPr>
          <p:nvPr/>
        </p:nvCxnSpPr>
        <p:spPr>
          <a:xfrm>
            <a:off x="6026223" y="2697299"/>
            <a:ext cx="904939" cy="0"/>
          </a:xfrm>
          <a:prstGeom prst="straightConnector1">
            <a:avLst/>
          </a:prstGeom>
          <a:ln w="28575">
            <a:solidFill>
              <a:srgbClr val="4472C4"/>
            </a:solidFill>
            <a:prstDash val="dash"/>
            <a:headEnd type="arrow"/>
            <a:tailEnd type="arrow"/>
          </a:ln>
        </p:spPr>
        <p:style>
          <a:lnRef idx="2">
            <a:schemeClr val="accent1"/>
          </a:lnRef>
          <a:fillRef idx="0">
            <a:schemeClr val="accent1"/>
          </a:fillRef>
          <a:effectRef idx="1">
            <a:schemeClr val="accent1"/>
          </a:effectRef>
          <a:fontRef idx="minor">
            <a:schemeClr val="tx1"/>
          </a:fontRef>
        </p:style>
      </p:cxnSp>
      <p:cxnSp>
        <p:nvCxnSpPr>
          <p:cNvPr id="76" name="Straight Arrow Connector 75">
            <a:extLst>
              <a:ext uri="{FF2B5EF4-FFF2-40B4-BE49-F238E27FC236}">
                <a16:creationId xmlns:a16="http://schemas.microsoft.com/office/drawing/2014/main" id="{A17AB080-F6DD-0F5B-772A-6B9130C04AAA}"/>
              </a:ext>
            </a:extLst>
          </p:cNvPr>
          <p:cNvCxnSpPr>
            <a:cxnSpLocks/>
          </p:cNvCxnSpPr>
          <p:nvPr/>
        </p:nvCxnSpPr>
        <p:spPr>
          <a:xfrm>
            <a:off x="6054977" y="3186129"/>
            <a:ext cx="904939" cy="0"/>
          </a:xfrm>
          <a:prstGeom prst="straightConnector1">
            <a:avLst/>
          </a:prstGeom>
          <a:ln w="28575">
            <a:solidFill>
              <a:srgbClr val="4472C4"/>
            </a:solidFill>
            <a:prstDash val="dash"/>
            <a:headEnd type="arrow"/>
            <a:tailEnd type="arrow"/>
          </a:ln>
        </p:spPr>
        <p:style>
          <a:lnRef idx="2">
            <a:schemeClr val="accent1"/>
          </a:lnRef>
          <a:fillRef idx="0">
            <a:schemeClr val="accent1"/>
          </a:fillRef>
          <a:effectRef idx="1">
            <a:schemeClr val="accent1"/>
          </a:effectRef>
          <a:fontRef idx="minor">
            <a:schemeClr val="tx1"/>
          </a:fontRef>
        </p:style>
      </p:cxnSp>
      <p:cxnSp>
        <p:nvCxnSpPr>
          <p:cNvPr id="77" name="Straight Arrow Connector 76">
            <a:extLst>
              <a:ext uri="{FF2B5EF4-FFF2-40B4-BE49-F238E27FC236}">
                <a16:creationId xmlns:a16="http://schemas.microsoft.com/office/drawing/2014/main" id="{64343FD4-2ADD-FF53-6FCF-2554C8BC0441}"/>
              </a:ext>
            </a:extLst>
          </p:cNvPr>
          <p:cNvCxnSpPr>
            <a:cxnSpLocks/>
          </p:cNvCxnSpPr>
          <p:nvPr/>
        </p:nvCxnSpPr>
        <p:spPr>
          <a:xfrm>
            <a:off x="6054977" y="3775601"/>
            <a:ext cx="904939" cy="0"/>
          </a:xfrm>
          <a:prstGeom prst="straightConnector1">
            <a:avLst/>
          </a:prstGeom>
          <a:ln w="28575">
            <a:solidFill>
              <a:srgbClr val="4472C4"/>
            </a:solidFill>
            <a:prstDash val="dash"/>
            <a:headEnd type="arrow"/>
            <a:tailEnd type="arrow"/>
          </a:ln>
        </p:spPr>
        <p:style>
          <a:lnRef idx="2">
            <a:schemeClr val="accent1"/>
          </a:lnRef>
          <a:fillRef idx="0">
            <a:schemeClr val="accent1"/>
          </a:fillRef>
          <a:effectRef idx="1">
            <a:schemeClr val="accent1"/>
          </a:effectRef>
          <a:fontRef idx="minor">
            <a:schemeClr val="tx1"/>
          </a:fontRef>
        </p:style>
      </p:cxnSp>
      <p:cxnSp>
        <p:nvCxnSpPr>
          <p:cNvPr id="83" name="Straight Arrow Connector 82">
            <a:extLst>
              <a:ext uri="{FF2B5EF4-FFF2-40B4-BE49-F238E27FC236}">
                <a16:creationId xmlns:a16="http://schemas.microsoft.com/office/drawing/2014/main" id="{2B6D499E-8EBB-D939-6EE7-D1BF0D6215CF}"/>
              </a:ext>
            </a:extLst>
          </p:cNvPr>
          <p:cNvCxnSpPr>
            <a:cxnSpLocks/>
          </p:cNvCxnSpPr>
          <p:nvPr/>
        </p:nvCxnSpPr>
        <p:spPr>
          <a:xfrm>
            <a:off x="6083731" y="4264430"/>
            <a:ext cx="904939" cy="0"/>
          </a:xfrm>
          <a:prstGeom prst="straightConnector1">
            <a:avLst/>
          </a:prstGeom>
          <a:ln w="28575">
            <a:solidFill>
              <a:srgbClr val="4472C4"/>
            </a:solidFill>
            <a:prstDash val="dash"/>
            <a:headEnd type="arrow"/>
            <a:tailEnd type="arrow"/>
          </a:ln>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C265D6FE-F8D5-C072-932C-8B9EFC1A3369}"/>
              </a:ext>
            </a:extLst>
          </p:cNvPr>
          <p:cNvSpPr/>
          <p:nvPr/>
        </p:nvSpPr>
        <p:spPr>
          <a:xfrm>
            <a:off x="474695" y="4402250"/>
            <a:ext cx="1712343" cy="495156"/>
          </a:xfrm>
          <a:prstGeom prst="rect">
            <a:avLst/>
          </a:prstGeom>
          <a:solidFill>
            <a:schemeClr val="accent4"/>
          </a:solidFill>
          <a:ln w="57150">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sz="1400" b="1">
                <a:latin typeface="Montserrat"/>
              </a:rPr>
              <a:t>Energy Use Dashboard</a:t>
            </a:r>
            <a:endParaRPr lang="en-US"/>
          </a:p>
        </p:txBody>
      </p:sp>
      <p:cxnSp>
        <p:nvCxnSpPr>
          <p:cNvPr id="6" name="Straight Arrow Connector 5">
            <a:extLst>
              <a:ext uri="{FF2B5EF4-FFF2-40B4-BE49-F238E27FC236}">
                <a16:creationId xmlns:a16="http://schemas.microsoft.com/office/drawing/2014/main" id="{DF20645E-7523-643D-52D7-3A0A2AC7BC28}"/>
              </a:ext>
            </a:extLst>
          </p:cNvPr>
          <p:cNvCxnSpPr>
            <a:cxnSpLocks/>
          </p:cNvCxnSpPr>
          <p:nvPr/>
        </p:nvCxnSpPr>
        <p:spPr>
          <a:xfrm>
            <a:off x="2359998" y="4599407"/>
            <a:ext cx="1206862" cy="0"/>
          </a:xfrm>
          <a:prstGeom prst="straightConnector1">
            <a:avLst/>
          </a:prstGeom>
          <a:ln w="57150">
            <a:solidFill>
              <a:schemeClr val="accent4">
                <a:lumMod val="50000"/>
              </a:schemeClr>
            </a:solidFill>
            <a:prstDash val="solid"/>
            <a:headEnd type="arrow"/>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6048707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8B1C4-66C6-E4C5-33CB-E873CE8B0A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B8750B-80A9-3759-00E2-7796EC77173C}"/>
              </a:ext>
            </a:extLst>
          </p:cNvPr>
          <p:cNvSpPr>
            <a:spLocks noGrp="1"/>
          </p:cNvSpPr>
          <p:nvPr>
            <p:ph type="title"/>
          </p:nvPr>
        </p:nvSpPr>
        <p:spPr>
          <a:xfrm>
            <a:off x="616122" y="5046940"/>
            <a:ext cx="6270458" cy="1072100"/>
          </a:xfrm>
        </p:spPr>
        <p:txBody>
          <a:bodyPr/>
          <a:lstStyle/>
          <a:p>
            <a:r>
              <a:rPr lang="en-US" sz="4250" b="1">
                <a:latin typeface="Montserrat"/>
              </a:rPr>
              <a:t>09 </a:t>
            </a:r>
            <a:r>
              <a:rPr lang="en-US" sz="4250">
                <a:latin typeface="Montserrat"/>
              </a:rPr>
              <a:t>Data Migration</a:t>
            </a:r>
            <a:endParaRPr lang="en-US" sz="4250"/>
          </a:p>
        </p:txBody>
      </p:sp>
    </p:spTree>
    <p:extLst>
      <p:ext uri="{BB962C8B-B14F-4D97-AF65-F5344CB8AC3E}">
        <p14:creationId xmlns:p14="http://schemas.microsoft.com/office/powerpoint/2010/main" val="20525073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8E552-A664-270D-D320-04C752E55B52}"/>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E60EE52-89F9-8837-0A7E-2CEF9D6BFD8B}"/>
              </a:ext>
            </a:extLst>
          </p:cNvPr>
          <p:cNvSpPr>
            <a:spLocks noGrp="1"/>
          </p:cNvSpPr>
          <p:nvPr>
            <p:ph idx="1"/>
          </p:nvPr>
        </p:nvSpPr>
        <p:spPr/>
        <p:txBody>
          <a:bodyPr vert="horz" lIns="0" tIns="45720" rIns="91440" bIns="45720" rtlCol="0" anchor="t">
            <a:normAutofit/>
          </a:bodyPr>
          <a:lstStyle/>
          <a:p>
            <a:pPr>
              <a:spcBef>
                <a:spcPts val="0"/>
              </a:spcBef>
            </a:pPr>
            <a:r>
              <a:rPr lang="en-US" sz="1800" b="1">
                <a:latin typeface="Montserrat"/>
              </a:rPr>
              <a:t>CRMD_ACTIVITY_H</a:t>
            </a:r>
            <a:endParaRPr lang="en-US" sz="1800" b="1"/>
          </a:p>
          <a:p>
            <a:pPr>
              <a:spcBef>
                <a:spcPts val="0"/>
              </a:spcBef>
            </a:pPr>
            <a:r>
              <a:rPr lang="en-US" sz="1800" b="1">
                <a:latin typeface="Montserrat"/>
              </a:rPr>
              <a:t>CRMD_ORDERADM_H</a:t>
            </a:r>
            <a:endParaRPr lang="en-US" sz="1800" b="1"/>
          </a:p>
          <a:p>
            <a:pPr>
              <a:spcBef>
                <a:spcPts val="0"/>
              </a:spcBef>
            </a:pPr>
            <a:r>
              <a:rPr lang="en-US" sz="1800" b="1">
                <a:latin typeface="Montserrat"/>
              </a:rPr>
              <a:t>CRMD_ORDERADM_I</a:t>
            </a:r>
          </a:p>
          <a:p>
            <a:pPr>
              <a:spcBef>
                <a:spcPts val="0"/>
              </a:spcBef>
            </a:pPr>
            <a:r>
              <a:rPr lang="en-US" sz="1800" b="1">
                <a:latin typeface="Montserrat"/>
              </a:rPr>
              <a:t>CRMV_LINKPARTNER</a:t>
            </a:r>
            <a:endParaRPr lang="en-US" sz="1800" b="1"/>
          </a:p>
          <a:p>
            <a:pPr>
              <a:spcBef>
                <a:spcPts val="0"/>
              </a:spcBef>
            </a:pPr>
            <a:endParaRPr lang="en-US" sz="1800" b="1"/>
          </a:p>
          <a:p>
            <a:pPr>
              <a:spcBef>
                <a:spcPts val="0"/>
              </a:spcBef>
            </a:pPr>
            <a:endParaRPr lang="en-US" sz="1800" b="1"/>
          </a:p>
          <a:p>
            <a:pPr>
              <a:spcBef>
                <a:spcPts val="0"/>
              </a:spcBef>
            </a:pPr>
            <a:endParaRPr lang="en-US" sz="1800" b="1"/>
          </a:p>
          <a:p>
            <a:pPr>
              <a:spcBef>
                <a:spcPts val="0"/>
              </a:spcBef>
            </a:pPr>
            <a:endParaRPr lang="en-US" sz="1800" b="1"/>
          </a:p>
          <a:p>
            <a:pPr>
              <a:spcBef>
                <a:spcPts val="0"/>
              </a:spcBef>
            </a:pPr>
            <a:endParaRPr lang="en-US" sz="1800" b="1"/>
          </a:p>
        </p:txBody>
      </p:sp>
      <p:sp>
        <p:nvSpPr>
          <p:cNvPr id="2" name="Title 1">
            <a:extLst>
              <a:ext uri="{FF2B5EF4-FFF2-40B4-BE49-F238E27FC236}">
                <a16:creationId xmlns:a16="http://schemas.microsoft.com/office/drawing/2014/main" id="{64D5DCA3-1176-A063-C84B-C1B74490AC0B}"/>
              </a:ext>
            </a:extLst>
          </p:cNvPr>
          <p:cNvSpPr>
            <a:spLocks noGrp="1"/>
          </p:cNvSpPr>
          <p:nvPr>
            <p:ph type="title"/>
          </p:nvPr>
        </p:nvSpPr>
        <p:spPr/>
        <p:txBody>
          <a:bodyPr>
            <a:normAutofit/>
          </a:bodyPr>
          <a:lstStyle/>
          <a:p>
            <a:r>
              <a:rPr lang="en-US">
                <a:latin typeface="Montserrat"/>
              </a:rPr>
              <a:t>Potential Tables</a:t>
            </a:r>
            <a:endParaRPr lang="en-US"/>
          </a:p>
        </p:txBody>
      </p:sp>
    </p:spTree>
    <p:extLst>
      <p:ext uri="{BB962C8B-B14F-4D97-AF65-F5344CB8AC3E}">
        <p14:creationId xmlns:p14="http://schemas.microsoft.com/office/powerpoint/2010/main" val="32582739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B602E-2C3B-4F08-5E75-F752CAE78886}"/>
              </a:ext>
            </a:extLst>
          </p:cNvPr>
          <p:cNvSpPr>
            <a:spLocks noGrp="1"/>
          </p:cNvSpPr>
          <p:nvPr>
            <p:ph type="title"/>
          </p:nvPr>
        </p:nvSpPr>
        <p:spPr>
          <a:xfrm>
            <a:off x="747502" y="3148509"/>
            <a:ext cx="6270458" cy="2490996"/>
          </a:xfrm>
        </p:spPr>
        <p:txBody>
          <a:bodyPr/>
          <a:lstStyle/>
          <a:p>
            <a:r>
              <a:rPr lang="en-US" sz="4250" b="1">
                <a:latin typeface="Montserrat"/>
              </a:rPr>
              <a:t>10 </a:t>
            </a:r>
            <a:r>
              <a:rPr lang="en-US" sz="4250">
                <a:latin typeface="Montserrat"/>
              </a:rPr>
              <a:t>Key Decisions, </a:t>
            </a:r>
            <a:br>
              <a:rPr lang="en-US" sz="4250">
                <a:latin typeface="Montserrat"/>
              </a:rPr>
            </a:br>
            <a:r>
              <a:rPr lang="en-US" sz="4250">
                <a:latin typeface="Montserrat"/>
              </a:rPr>
              <a:t>Action Items, </a:t>
            </a:r>
            <a:br>
              <a:rPr lang="en-US" sz="4250">
                <a:latin typeface="Montserrat"/>
              </a:rPr>
            </a:br>
            <a:r>
              <a:rPr lang="en-US" sz="4250">
                <a:latin typeface="Montserrat"/>
              </a:rPr>
              <a:t>Change Impacts, Wrap-Up &amp; Next Steps</a:t>
            </a:r>
            <a:endParaRPr lang="en-US"/>
          </a:p>
        </p:txBody>
      </p:sp>
    </p:spTree>
    <p:extLst>
      <p:ext uri="{BB962C8B-B14F-4D97-AF65-F5344CB8AC3E}">
        <p14:creationId xmlns:p14="http://schemas.microsoft.com/office/powerpoint/2010/main" val="2749544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5619D-0B81-725C-05C0-A444FD63FF7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0AD21A1-7636-1E92-BA74-97C118A0BF07}"/>
              </a:ext>
            </a:extLst>
          </p:cNvPr>
          <p:cNvSpPr>
            <a:spLocks noGrp="1"/>
          </p:cNvSpPr>
          <p:nvPr>
            <p:ph type="sldNum" sz="quarter" idx="12"/>
          </p:nvPr>
        </p:nvSpPr>
        <p:spPr>
          <a:xfrm>
            <a:off x="11381562" y="6316519"/>
            <a:ext cx="609601" cy="365760"/>
          </a:xfrm>
          <a:prstGeom prst="rect">
            <a:avLst/>
          </a:prstGeom>
        </p:spPr>
        <p:txBody>
          <a:bodyPr vert="horz" lIns="91440" tIns="45720" rIns="91440" bIns="45720" rtlCol="0" anchor="b"/>
          <a:lstStyle>
            <a:defPPr>
              <a:defRPr lang="en-US"/>
            </a:defPPr>
            <a:lvl1pPr marL="0" algn="r" defTabSz="914400" rtl="0" eaLnBrk="1" latinLnBrk="0" hangingPunct="1">
              <a:defRPr sz="1067" b="0" i="0" kern="1200" baseline="0">
                <a:solidFill>
                  <a:schemeClr val="bg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609585" rtl="0" eaLnBrk="1" fontAlgn="auto" latinLnBrk="0" hangingPunct="1">
              <a:lnSpc>
                <a:spcPct val="100000"/>
              </a:lnSpc>
              <a:spcBef>
                <a:spcPts val="0"/>
              </a:spcBef>
              <a:spcAft>
                <a:spcPts val="0"/>
              </a:spcAft>
              <a:buClrTx/>
              <a:buSzTx/>
              <a:buFontTx/>
              <a:buNone/>
              <a:tabLst/>
              <a:defRPr/>
            </a:pPr>
            <a:fld id="{EA69B7C6-3FEA-7848-A062-37F8F6368D00}" type="slidenum">
              <a:rPr kumimoji="0" lang="en-US" sz="1067" b="0" i="0" u="none" strike="noStrike" kern="1200" cap="none" spc="0" normalizeH="0" baseline="0" noProof="0" smtClean="0">
                <a:ln>
                  <a:noFill/>
                </a:ln>
                <a:solidFill>
                  <a:srgbClr val="FFFEFE"/>
                </a:solidFill>
                <a:effectLst/>
                <a:uLnTx/>
                <a:uFillTx/>
                <a:latin typeface="Montserrat" pitchFamily="2" charset="77"/>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57</a:t>
            </a:fld>
            <a:endParaRPr kumimoji="0" lang="en-US" sz="1067" b="0" i="0" u="none" strike="noStrike" kern="1200" cap="none" spc="0" normalizeH="0" baseline="0" noProof="0">
              <a:ln>
                <a:noFill/>
              </a:ln>
              <a:solidFill>
                <a:srgbClr val="FFFEFE"/>
              </a:solidFill>
              <a:effectLst/>
              <a:uLnTx/>
              <a:uFillTx/>
              <a:latin typeface="Montserrat" pitchFamily="2" charset="77"/>
              <a:ea typeface="+mn-ea"/>
              <a:cs typeface="+mn-cs"/>
            </a:endParaRPr>
          </a:p>
        </p:txBody>
      </p:sp>
      <p:sp>
        <p:nvSpPr>
          <p:cNvPr id="4" name="Title 3">
            <a:extLst>
              <a:ext uri="{FF2B5EF4-FFF2-40B4-BE49-F238E27FC236}">
                <a16:creationId xmlns:a16="http://schemas.microsoft.com/office/drawing/2014/main" id="{5F241765-29E7-B65E-EF47-99994A77E9E2}"/>
              </a:ext>
            </a:extLst>
          </p:cNvPr>
          <p:cNvSpPr>
            <a:spLocks noGrp="1"/>
          </p:cNvSpPr>
          <p:nvPr>
            <p:ph type="title"/>
          </p:nvPr>
        </p:nvSpPr>
        <p:spPr>
          <a:xfrm>
            <a:off x="211328" y="-140006"/>
            <a:ext cx="11375136" cy="609600"/>
          </a:xfrm>
        </p:spPr>
        <p:txBody>
          <a:bodyPr/>
          <a:lstStyle/>
          <a:p>
            <a:r>
              <a:rPr lang="en-US" sz="2000" b="1">
                <a:latin typeface="Montserrat"/>
              </a:rPr>
              <a:t>Program Charging	(CE Internal Only)			</a:t>
            </a:r>
            <a:endParaRPr lang="en-US" sz="1600" b="1">
              <a:latin typeface="Montserrat"/>
            </a:endParaRPr>
          </a:p>
        </p:txBody>
      </p:sp>
      <p:sp>
        <p:nvSpPr>
          <p:cNvPr id="3" name="Rectangle 5">
            <a:extLst>
              <a:ext uri="{FF2B5EF4-FFF2-40B4-BE49-F238E27FC236}">
                <a16:creationId xmlns:a16="http://schemas.microsoft.com/office/drawing/2014/main" id="{0E3C419A-8C28-8621-94F2-6BC57951C181}"/>
              </a:ext>
            </a:extLst>
          </p:cNvPr>
          <p:cNvSpPr>
            <a:spLocks noChangeArrowheads="1"/>
          </p:cNvSpPr>
          <p:nvPr/>
        </p:nvSpPr>
        <p:spPr bwMode="auto">
          <a:xfrm>
            <a:off x="211328" y="552364"/>
            <a:ext cx="11769344" cy="5447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1" i="0" u="sng" strike="noStrike" kern="1200" cap="none" spc="0" normalizeH="0" baseline="0" noProof="0">
                <a:ln>
                  <a:noFill/>
                </a:ln>
                <a:solidFill>
                  <a:srgbClr val="000000"/>
                </a:solidFill>
                <a:effectLst/>
                <a:uLnTx/>
                <a:uFillTx/>
                <a:latin typeface="Arial"/>
                <a:ea typeface="Aptos" panose="020B0004020202020204" pitchFamily="34" charset="0"/>
                <a:cs typeface="Arial"/>
              </a:rPr>
              <a:t>The Change &amp; Why:</a:t>
            </a:r>
            <a:endParaRPr lang="en-US" altLang="en-US" sz="1100" b="1" i="0" u="none" strike="noStrike" kern="1200" cap="none" spc="0" normalizeH="0" baseline="0" noProof="0">
              <a:ln>
                <a:noFill/>
              </a:ln>
              <a:solidFill>
                <a:srgbClr val="000000"/>
              </a:solidFill>
              <a:effectLst/>
              <a:uLnTx/>
              <a:uFillTx/>
              <a:latin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a:cs typeface="Arial"/>
              </a:rPr>
              <a:t>We need to track O&amp;M costs more precisely. OCM and Data Conversion must be charged separately from End User Training and from Design/Build/Deployment work. This change is retroactive from February for Accounting, Rate case discovery, and audit. </a:t>
            </a:r>
            <a:endParaRPr lang="en-US" sz="11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1" i="0" u="sng" strike="noStrike" kern="1200" cap="none" spc="0" normalizeH="0" baseline="0" noProof="0">
                <a:ln>
                  <a:noFill/>
                </a:ln>
                <a:solidFill>
                  <a:srgbClr val="000000"/>
                </a:solidFill>
                <a:effectLst/>
                <a:uLnTx/>
                <a:uFillTx/>
                <a:latin typeface="Arial"/>
                <a:cs typeface="Arial"/>
              </a:rPr>
              <a:t>Ask: </a:t>
            </a:r>
            <a:endParaRPr lang="en-US" altLang="en-US" sz="1100" b="1" i="0" u="sng" strike="noStrike" kern="1200" cap="none" spc="0" normalizeH="0" baseline="0" noProof="0">
              <a:ln>
                <a:noFill/>
              </a:ln>
              <a:solidFill>
                <a:srgbClr val="000000"/>
              </a:solidFill>
              <a:effectLst/>
              <a:uLnTx/>
              <a:uFillTx/>
              <a:latin typeface="Arial"/>
              <a:cs typeface="Arial"/>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rPr>
              <a:t>Pls follow the instructions below that apply to you based on your staffing category on the </a:t>
            </a:r>
            <a:r>
              <a:rPr kumimoji="0" lang="en-US" altLang="en-US" sz="1100" b="0" i="0" u="none" strike="noStrike" kern="1200" cap="none" spc="0" normalizeH="0" baseline="0" noProof="0" err="1">
                <a:ln>
                  <a:noFill/>
                </a:ln>
                <a:solidFill>
                  <a:srgbClr val="000000"/>
                </a:solidFill>
                <a:effectLst/>
                <a:uLnTx/>
                <a:uFillTx/>
                <a:latin typeface="Arial"/>
                <a:ea typeface="Aptos" panose="020B0004020202020204" pitchFamily="34" charset="0"/>
                <a:cs typeface="Arial"/>
              </a:rPr>
              <a:t>LaunchPad</a:t>
            </a:r>
            <a:r>
              <a:rPr kumimoji="0"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rPr>
              <a:t> program. It is critical to track costs in the correct cost buckets.</a:t>
            </a:r>
            <a:endParaRPr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lang="en-US" altLang="en-US" sz="1100" b="0" i="0" u="none" strike="noStrike" kern="1200" cap="none" spc="0" normalizeH="0" baseline="0" noProof="0">
              <a:ln>
                <a:noFill/>
              </a:ln>
              <a:solidFill>
                <a:srgbClr val="000000"/>
              </a:solidFill>
              <a:effectLst/>
              <a:uLnTx/>
              <a:uFillTx/>
              <a:latin typeface="Arial"/>
              <a:cs typeface="Arial"/>
            </a:endParaRPr>
          </a:p>
          <a:p>
            <a:pPr marL="457200" marR="0" lvl="1" indent="0" algn="l" defTabSz="914400" rtl="0" eaLnBrk="0" fontAlgn="base" latinLnBrk="0" hangingPunct="0">
              <a:lnSpc>
                <a:spcPct val="100000"/>
              </a:lnSpc>
              <a:spcBef>
                <a:spcPct val="0"/>
              </a:spcBef>
              <a:spcAft>
                <a:spcPct val="0"/>
              </a:spcAft>
              <a:buClrTx/>
              <a:buSzTx/>
              <a:buFontTx/>
              <a:buNone/>
              <a:tabLst/>
              <a:defRPr/>
            </a:pPr>
            <a:r>
              <a:rPr kumimoji="0" lang="en-US" altLang="en-US" sz="1100" b="1" i="0" u="sng" strike="noStrike" kern="1200" cap="none" spc="0" normalizeH="0" baseline="0" noProof="0">
                <a:ln>
                  <a:noFill/>
                </a:ln>
                <a:solidFill>
                  <a:srgbClr val="000000"/>
                </a:solidFill>
                <a:effectLst/>
                <a:uLnTx/>
                <a:uFillTx/>
                <a:latin typeface="Arial"/>
                <a:ea typeface="Aptos" panose="020B0004020202020204" pitchFamily="34" charset="0"/>
                <a:cs typeface="Arial"/>
              </a:rPr>
              <a:t>Business Partner (BP) Core Team (Use SAP*):</a:t>
            </a:r>
            <a:endParaRPr lang="en-US" altLang="en-US" sz="1100" b="1" i="0" u="none" strike="noStrike" kern="1200" cap="none" spc="0" normalizeH="0" baseline="0" noProof="0">
              <a:ln>
                <a:noFill/>
              </a:ln>
              <a:solidFill>
                <a:srgbClr val="000000"/>
              </a:solidFill>
              <a:effectLs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rPr>
              <a:t>Continue 100% allocation as before. (BP&amp;A handles this automatically behind the scenes and no time entry is needed except for the two scenarios below) </a:t>
            </a:r>
            <a:endParaRPr lang="en-US" altLang="en-US" sz="1100" b="0" i="0" u="none" strike="noStrike" kern="1200" cap="none" spc="0" normalizeH="0" baseline="0" noProof="0">
              <a:ln>
                <a:noFill/>
              </a:ln>
              <a:solidFill>
                <a:srgbClr val="000000"/>
              </a:solidFill>
              <a:effectLs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rPr>
              <a:t>Submit time </a:t>
            </a:r>
            <a:r>
              <a:rPr kumimoji="0" lang="en-US" altLang="en-US" sz="1100" b="0" i="0" u="sng" strike="noStrike" kern="1200" cap="none" spc="0" normalizeH="0" baseline="0" noProof="0">
                <a:ln>
                  <a:noFill/>
                </a:ln>
                <a:solidFill>
                  <a:srgbClr val="000000"/>
                </a:solidFill>
                <a:effectLst/>
                <a:uLnTx/>
                <a:uFillTx/>
                <a:latin typeface="Arial"/>
                <a:ea typeface="Aptos" panose="020B0004020202020204" pitchFamily="34" charset="0"/>
                <a:cs typeface="Arial"/>
              </a:rPr>
              <a:t>only</a:t>
            </a:r>
            <a:r>
              <a:rPr kumimoji="0"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rPr>
              <a:t> for OCM and Data Conversion activities; Use SAP to bill IO 6520973.</a:t>
            </a:r>
            <a:endParaRPr lang="en-US" altLang="en-US" sz="1100" b="0" i="0" u="none" strike="noStrike" kern="1200" cap="none" spc="0" normalizeH="0" baseline="0" noProof="0">
              <a:ln>
                <a:noFill/>
              </a:ln>
              <a:solidFill>
                <a:srgbClr val="000000"/>
              </a:solidFill>
              <a:effectLs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rPr>
              <a:t>Submit time </a:t>
            </a:r>
            <a:r>
              <a:rPr kumimoji="0" lang="en-US" altLang="en-US" sz="1100" b="0" i="0" u="sng" strike="noStrike" kern="1200" cap="none" spc="0" normalizeH="0" baseline="0" noProof="0">
                <a:ln>
                  <a:noFill/>
                </a:ln>
                <a:solidFill>
                  <a:srgbClr val="000000"/>
                </a:solidFill>
                <a:effectLst/>
                <a:uLnTx/>
                <a:uFillTx/>
                <a:latin typeface="Arial"/>
                <a:ea typeface="Aptos" panose="020B0004020202020204" pitchFamily="34" charset="0"/>
                <a:cs typeface="Arial"/>
              </a:rPr>
              <a:t>only</a:t>
            </a:r>
            <a:r>
              <a:rPr kumimoji="0"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rPr>
              <a:t> for End User Training; Use SAP to bill IO 6519532.</a:t>
            </a:r>
            <a:endParaRPr lang="en-US" altLang="en-US" sz="1100" b="0" i="0" u="none" strike="noStrike" kern="1200" cap="none" spc="0" normalizeH="0" baseline="0" noProof="0">
              <a:ln>
                <a:noFill/>
              </a:ln>
              <a:solidFill>
                <a:srgbClr val="000000"/>
              </a:solidFill>
              <a:effectLst/>
              <a:uLnTx/>
              <a:uFillTx/>
              <a:latin typeface="Arial"/>
              <a:cs typeface="Arial"/>
            </a:endParaRPr>
          </a:p>
          <a:p>
            <a:pPr marL="457200" marR="0" lvl="1" indent="0" algn="l" defTabSz="914400" rtl="0" eaLnBrk="0" fontAlgn="base" latinLnBrk="0" hangingPunct="0">
              <a:lnSpc>
                <a:spcPct val="100000"/>
              </a:lnSpc>
              <a:spcBef>
                <a:spcPct val="0"/>
              </a:spcBef>
              <a:spcAft>
                <a:spcPct val="0"/>
              </a:spcAft>
              <a:buClrTx/>
              <a:buSzTx/>
              <a:buFontTx/>
              <a:buNone/>
              <a:tabLst/>
              <a:defRPr/>
            </a:pPr>
            <a:endParaRPr lang="en-US" altLang="en-US" sz="1100" b="0" i="0" u="sng" strike="noStrike" kern="1200" cap="none" spc="0" normalizeH="0" baseline="0" noProof="0">
              <a:ln>
                <a:noFill/>
              </a:ln>
              <a:solidFill>
                <a:srgbClr val="000000"/>
              </a:solidFill>
              <a:effectLst/>
              <a:uLnTx/>
              <a:uFillTx/>
              <a:latin typeface="Arial" panose="020B0604020202020204" pitchFamily="34" charset="0"/>
              <a:ea typeface="Aptos" panose="020B0004020202020204" pitchFamily="34" charset="0"/>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None/>
              <a:tabLst/>
              <a:defRPr/>
            </a:pPr>
            <a:r>
              <a:rPr kumimoji="0" lang="en-US" altLang="en-US" sz="1100" b="1" i="0" u="sng" strike="noStrike" kern="1200" cap="none" spc="0" normalizeH="0" baseline="0" noProof="0">
                <a:ln>
                  <a:noFill/>
                </a:ln>
                <a:solidFill>
                  <a:srgbClr val="000000"/>
                </a:solidFill>
                <a:effectLst/>
                <a:highlight>
                  <a:srgbClr val="FFFF00"/>
                </a:highlight>
                <a:uLnTx/>
                <a:uFillTx/>
                <a:latin typeface="Arial"/>
                <a:cs typeface="Arial"/>
              </a:rPr>
              <a:t>IT Core Team (Use Clarity):</a:t>
            </a:r>
            <a:endParaRPr lang="en-US" altLang="en-US" sz="1100" b="1" i="0" u="sng" strike="noStrike" kern="1200" cap="none" spc="0" normalizeH="0" baseline="0" noProof="0">
              <a:ln>
                <a:noFill/>
              </a:ln>
              <a:solidFill>
                <a:srgbClr val="000000"/>
              </a:solidFill>
              <a:effectLst/>
              <a:highlight>
                <a:srgbClr val="FFFF00"/>
              </a:highlight>
              <a:uLnTx/>
              <a:uFillTx/>
              <a:latin typeface="Arial"/>
              <a:cs typeface="Arial"/>
            </a:endParaRPr>
          </a:p>
          <a:p>
            <a:pPr marL="1085850" lvl="2" indent="-171450" eaLnBrk="0" fontAlgn="base" hangingPunct="0">
              <a:spcBef>
                <a:spcPct val="0"/>
              </a:spcBef>
              <a:spcAft>
                <a:spcPct val="0"/>
              </a:spcAft>
              <a:buFont typeface="Arial" panose="020B0604020202020204" pitchFamily="34" charset="0"/>
              <a:buChar char="•"/>
            </a:pPr>
            <a:r>
              <a:rPr lang="en-US" sz="1100">
                <a:solidFill>
                  <a:srgbClr val="000000"/>
                </a:solidFill>
                <a:highlight>
                  <a:srgbClr val="FFFF00"/>
                </a:highlight>
                <a:latin typeface="Arial"/>
                <a:cs typeface="Arial"/>
              </a:rPr>
              <a:t>S4- Customer – Design/Development/Testing/Deploy Clarity Task</a:t>
            </a:r>
            <a:endParaRPr lang="en-US" altLang="en-US" sz="1100">
              <a:solidFill>
                <a:srgbClr val="000000"/>
              </a:solidFill>
              <a:highlight>
                <a:srgbClr val="FFFF00"/>
              </a:highlight>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a:rPr>
              <a:t>Clarity Timesheets will now be used for time charging, and the allocation mechanism is discontinued. Submit timesheets from February 2nd for a one-time catchup.  </a:t>
            </a: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uLnTx/>
                <a:uFillTx/>
                <a:latin typeface="Arial"/>
                <a:cs typeface="Arial"/>
              </a:rPr>
              <a:t>Separate tasks for OCM, End User Training, and Data Conversion are available; Find them using keywords OCM, End User Training, and Data Conversion and charge them as applicable.</a:t>
            </a:r>
            <a:endParaRPr lang="en-US" altLang="en-US" sz="1100" b="0" i="0" u="none" strike="noStrike" kern="1200" cap="none" spc="0" normalizeH="0" baseline="0" noProof="0">
              <a:ln>
                <a:noFill/>
              </a:ln>
              <a:solidFill>
                <a:srgbClr val="000000"/>
              </a:solidFill>
              <a:effectLs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lang="en-US" altLang="en-US" sz="11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None/>
              <a:tabLst/>
              <a:defRPr/>
            </a:pPr>
            <a:r>
              <a:rPr kumimoji="0" lang="en-US" altLang="en-US" sz="1100" b="1" i="0" u="sng" strike="noStrike" kern="1200" cap="none" spc="0" normalizeH="0" baseline="0" noProof="0">
                <a:ln>
                  <a:noFill/>
                </a:ln>
                <a:solidFill>
                  <a:srgbClr val="000000"/>
                </a:solidFill>
                <a:effectLst/>
                <a:highlight>
                  <a:srgbClr val="FFFF00"/>
                </a:highlight>
                <a:uLnTx/>
                <a:uFillTx/>
                <a:latin typeface="Arial"/>
                <a:cs typeface="Arial"/>
              </a:rPr>
              <a:t>Extended BP Team (use SAP*):</a:t>
            </a:r>
            <a:endParaRPr lang="en-US" altLang="en-US" sz="1100" b="1" i="0" u="sng" strike="noStrike" kern="1200" cap="none" spc="0" normalizeH="0" baseline="0" noProof="0">
              <a:ln>
                <a:noFill/>
              </a:ln>
              <a:solidFill>
                <a:srgbClr val="000000"/>
              </a:solidFill>
              <a:effectLst/>
              <a:highlight>
                <a:srgbClr val="FFFF00"/>
              </a:highligh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uLnTx/>
                <a:uFillTx/>
                <a:latin typeface="Arial"/>
                <a:cs typeface="Arial"/>
              </a:rPr>
              <a:t>Bill SAP IO 6520973 for OCM and Data Conversion.</a:t>
            </a:r>
            <a:endParaRPr lang="en-US" altLang="en-US" sz="1100" b="0" i="0" u="none" strike="noStrike" kern="1200" cap="none" spc="0" normalizeH="0" baseline="0" noProof="0">
              <a:ln>
                <a:noFill/>
              </a:ln>
              <a:solidFill>
                <a:srgbClr val="000000"/>
              </a:solidFill>
              <a:effectLs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uLnTx/>
                <a:uFillTx/>
                <a:latin typeface="Arial"/>
                <a:cs typeface="Arial"/>
              </a:rPr>
              <a:t>Bill SAP IO 6519532 for End User Training.</a:t>
            </a:r>
            <a:endParaRPr lang="en-US" altLang="en-US" sz="1100" b="0" i="0" u="none" strike="noStrike" kern="1200" cap="none" spc="0" normalizeH="0" baseline="0" noProof="0">
              <a:ln>
                <a:noFill/>
              </a:ln>
              <a:solidFill>
                <a:srgbClr val="000000"/>
              </a:solidFill>
              <a:effectLs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highlight>
                  <a:srgbClr val="FFFF00"/>
                </a:highlight>
                <a:uLnTx/>
                <a:uFillTx/>
                <a:latin typeface="Arial"/>
                <a:cs typeface="Arial"/>
              </a:rPr>
              <a:t>Use new IO </a:t>
            </a:r>
            <a:r>
              <a:rPr kumimoji="0" lang="en-US" sz="1100" b="0" i="0" u="none" strike="noStrike" kern="1200" cap="none" spc="0" normalizeH="0" baseline="0" noProof="0">
                <a:ln>
                  <a:noFill/>
                </a:ln>
                <a:solidFill>
                  <a:srgbClr val="000000"/>
                </a:solidFill>
                <a:effectLst/>
                <a:highlight>
                  <a:srgbClr val="FFFF00"/>
                </a:highlight>
                <a:uLnTx/>
                <a:uFillTx/>
                <a:latin typeface="Arial"/>
                <a:cs typeface="Arial"/>
              </a:rPr>
              <a:t>6521411 </a:t>
            </a:r>
            <a:r>
              <a:rPr kumimoji="0" lang="en-US" altLang="en-US" sz="1100" b="0" i="0" u="none" strike="noStrike" kern="1200" cap="none" spc="0" normalizeH="0" baseline="0" noProof="0">
                <a:ln>
                  <a:noFill/>
                </a:ln>
                <a:solidFill>
                  <a:srgbClr val="000000"/>
                </a:solidFill>
                <a:effectLst/>
                <a:highlight>
                  <a:srgbClr val="FFFF00"/>
                </a:highlight>
                <a:uLnTx/>
                <a:uFillTx/>
                <a:latin typeface="Arial"/>
                <a:cs typeface="Arial"/>
              </a:rPr>
              <a:t>for all other tasks.</a:t>
            </a:r>
            <a:endParaRPr lang="en-US" altLang="en-US" sz="1100" b="0" i="0" u="none" strike="noStrike" kern="1200" cap="none" spc="0" normalizeH="0" baseline="0" noProof="0">
              <a:ln>
                <a:noFill/>
              </a:ln>
              <a:solidFill>
                <a:srgbClr val="000000"/>
              </a:solidFill>
              <a:effectLst/>
              <a:highlight>
                <a:srgbClr val="FFFF00"/>
              </a:highligh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lang="en-US" altLang="en-US" sz="11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None/>
              <a:tabLst/>
              <a:defRPr/>
            </a:pPr>
            <a:r>
              <a:rPr kumimoji="0" lang="en-US" altLang="en-US" sz="1100" b="1" i="0" u="sng" strike="noStrike" kern="1200" cap="none" spc="0" normalizeH="0" baseline="0" noProof="0">
                <a:ln>
                  <a:noFill/>
                </a:ln>
                <a:solidFill>
                  <a:srgbClr val="000000"/>
                </a:solidFill>
                <a:effectLst/>
                <a:uLnTx/>
                <a:uFillTx/>
                <a:latin typeface="Arial"/>
                <a:cs typeface="Arial"/>
              </a:rPr>
              <a:t>Extended IT Team (Use Clarity):</a:t>
            </a:r>
            <a:endParaRPr lang="en-US" altLang="en-US" sz="1100" b="1" i="0" u="sng" strike="noStrike" kern="1200" cap="none" spc="0" normalizeH="0" baseline="0" noProof="0">
              <a:ln>
                <a:noFill/>
              </a:ln>
              <a:solidFill>
                <a:srgbClr val="000000"/>
              </a:solidFill>
              <a:effectLs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a:rPr>
              <a:t>S4- Customer – Design/Development/Testing/Deploy Clarity Task</a:t>
            </a:r>
            <a:endParaRPr kumimoji="0" lang="en-US" altLang="en-US" sz="1100" b="0" i="0" u="none" strike="noStrike" kern="1200" cap="none" spc="0" normalizeH="0" baseline="0" noProof="0">
              <a:ln>
                <a:noFill/>
              </a:ln>
              <a:solidFill>
                <a:srgbClr val="000000"/>
              </a:solidFill>
              <a:effectLst/>
              <a:uLnTx/>
              <a:uFillTx/>
              <a:latin typeface="Arial"/>
              <a:ea typeface="+mn-ea"/>
              <a:cs typeface="Arial"/>
            </a:endParaRPr>
          </a:p>
          <a:p>
            <a:pPr marL="1085850" marR="0" lvl="2" indent="-171450" algn="l" defTabSz="914400" rtl="0" eaLnBrk="1" fontAlgn="auto" latinLnBrk="0" hangingPunct="1">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uLnTx/>
                <a:uFillTx/>
                <a:latin typeface="Arial"/>
                <a:ea typeface="+mn-ea"/>
                <a:cs typeface="Arial"/>
              </a:rPr>
              <a:t>Bill specific tasks for OCM, End User Training, and Data Conversion; ID the tasks using the keywords OCM, End User Training, and Data Conversion.</a:t>
            </a:r>
            <a:endParaRPr lang="en-US" sz="1100" b="0" i="0" u="none" strike="noStrike" kern="1200" cap="none" spc="0" normalizeH="0" baseline="0" noProof="0">
              <a:ln>
                <a:noFill/>
              </a:ln>
              <a:solidFill>
                <a:srgbClr val="000000"/>
              </a:solidFill>
              <a:effectLs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uLnTx/>
                <a:uFillTx/>
                <a:latin typeface="Arial"/>
                <a:ea typeface="+mn-ea"/>
                <a:cs typeface="Arial"/>
              </a:rPr>
              <a:t>Bill other tasks as appropriate.</a:t>
            </a: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lang="en-US" altLang="en-US" sz="11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sng" strike="noStrike" kern="1200" cap="none" spc="0" normalizeH="0" baseline="0" noProof="0">
                <a:ln>
                  <a:noFill/>
                </a:ln>
                <a:solidFill>
                  <a:srgbClr val="000000"/>
                </a:solidFill>
                <a:effectLst/>
                <a:uLnTx/>
                <a:uFillTx/>
                <a:latin typeface="Arial"/>
                <a:ea typeface="Aptos" panose="020B0004020202020204" pitchFamily="34" charset="0"/>
                <a:cs typeface="Arial"/>
              </a:rPr>
              <a:t>*SAP Timesheet Submission Instructions (for BPs)</a:t>
            </a:r>
            <a:endParaRPr lang="en-US" altLang="en-US" sz="1100" b="0" i="0" u="none" strike="noStrike" kern="1200" cap="none" spc="0" normalizeH="0" baseline="0" noProof="0">
              <a:ln>
                <a:noFill/>
              </a:ln>
              <a:solidFill>
                <a:srgbClr val="000000"/>
              </a:solidFill>
              <a:effectLst/>
              <a:uLnTx/>
              <a:uFillTx/>
              <a:latin typeface="Arial"/>
              <a:cs typeface="Arial"/>
            </a:endParaRPr>
          </a:p>
          <a:p>
            <a:pPr marL="457200" marR="0" lvl="1"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rPr>
              <a:t>Follow ESS steps (screen shot below): 1. Open ESS timesheet. 2. Enter IO number in work order field. 3. Select WORK code under ATT-ABS. 4. Add OCM, End User Training, or Data Conversion in comments. 5. Enter hours worked.</a:t>
            </a:r>
            <a:endParaRPr lang="en-US" altLang="en-US" sz="1100" b="0" i="0" u="none" strike="noStrike" kern="1200" cap="none" spc="0" normalizeH="0" baseline="0" noProof="0">
              <a:ln>
                <a:noFill/>
              </a:ln>
              <a:solidFill>
                <a:srgbClr val="000000"/>
              </a:solidFill>
              <a:effectLst/>
              <a:uLnTx/>
              <a:uFillTx/>
              <a:latin typeface="Arial"/>
              <a:cs typeface="Arial"/>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lang="en-US" altLang="en-US" sz="1800" b="0" i="0" u="none" strike="noStrike" kern="1200" cap="none" spc="0" normalizeH="0" baseline="0" noProof="0">
              <a:ln>
                <a:noFill/>
              </a:ln>
              <a:solidFill>
                <a:srgbClr val="000000"/>
              </a:solidFill>
              <a:effectLst/>
              <a:uLnTx/>
              <a:uFillTx/>
              <a:latin typeface="Arial" panose="020B0604020202020204" pitchFamily="34" charset="0"/>
              <a:cs typeface="Arial"/>
            </a:endParaRPr>
          </a:p>
        </p:txBody>
      </p:sp>
      <p:pic>
        <p:nvPicPr>
          <p:cNvPr id="7" name="Picture 6">
            <a:extLst>
              <a:ext uri="{FF2B5EF4-FFF2-40B4-BE49-F238E27FC236}">
                <a16:creationId xmlns:a16="http://schemas.microsoft.com/office/drawing/2014/main" id="{70E62B9E-43CB-BEB2-4EBC-D41DFC90D1F5}"/>
              </a:ext>
            </a:extLst>
          </p:cNvPr>
          <p:cNvPicPr>
            <a:picLocks noChangeAspect="1"/>
          </p:cNvPicPr>
          <p:nvPr/>
        </p:nvPicPr>
        <p:blipFill>
          <a:blip r:embed="rId2"/>
          <a:stretch>
            <a:fillRect/>
          </a:stretch>
        </p:blipFill>
        <p:spPr>
          <a:xfrm>
            <a:off x="769840" y="5670487"/>
            <a:ext cx="9777075" cy="552478"/>
          </a:xfrm>
          <a:prstGeom prst="rect">
            <a:avLst/>
          </a:prstGeom>
        </p:spPr>
      </p:pic>
    </p:spTree>
    <p:extLst>
      <p:ext uri="{BB962C8B-B14F-4D97-AF65-F5344CB8AC3E}">
        <p14:creationId xmlns:p14="http://schemas.microsoft.com/office/powerpoint/2010/main" val="4340595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51D53-481A-185E-D984-FA9598BE3B88}"/>
              </a:ext>
            </a:extLst>
          </p:cNvPr>
          <p:cNvSpPr>
            <a:spLocks noGrp="1"/>
          </p:cNvSpPr>
          <p:nvPr>
            <p:ph type="title"/>
          </p:nvPr>
        </p:nvSpPr>
        <p:spPr/>
        <p:txBody>
          <a:bodyPr>
            <a:normAutofit/>
          </a:bodyPr>
          <a:lstStyle/>
          <a:p>
            <a:endParaRPr lang="en-US"/>
          </a:p>
        </p:txBody>
      </p:sp>
      <p:pic>
        <p:nvPicPr>
          <p:cNvPr id="3" name="Picture 2" descr="A screenshot of a computer screen&#10;&#10;AI-generated content may be incorrect.">
            <a:extLst>
              <a:ext uri="{FF2B5EF4-FFF2-40B4-BE49-F238E27FC236}">
                <a16:creationId xmlns:a16="http://schemas.microsoft.com/office/drawing/2014/main" id="{1CD099DD-E19B-BA46-F868-C8F1E22025FE}"/>
              </a:ext>
            </a:extLst>
          </p:cNvPr>
          <p:cNvPicPr>
            <a:picLocks noChangeAspect="1"/>
          </p:cNvPicPr>
          <p:nvPr/>
        </p:nvPicPr>
        <p:blipFill>
          <a:blip r:embed="rId2"/>
          <a:stretch>
            <a:fillRect/>
          </a:stretch>
        </p:blipFill>
        <p:spPr>
          <a:xfrm>
            <a:off x="1290182" y="1710567"/>
            <a:ext cx="8387765" cy="3015093"/>
          </a:xfrm>
          <a:prstGeom prst="rect">
            <a:avLst/>
          </a:prstGeom>
        </p:spPr>
      </p:pic>
    </p:spTree>
    <p:extLst>
      <p:ext uri="{BB962C8B-B14F-4D97-AF65-F5344CB8AC3E}">
        <p14:creationId xmlns:p14="http://schemas.microsoft.com/office/powerpoint/2010/main" val="38261726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3E2D3-E4CF-50D9-7FC0-8EF79A46C28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AD76E23-F28F-AF89-0C9A-6AEC655520F6}"/>
              </a:ext>
            </a:extLst>
          </p:cNvPr>
          <p:cNvSpPr>
            <a:spLocks noGrp="1"/>
          </p:cNvSpPr>
          <p:nvPr>
            <p:ph type="title"/>
          </p:nvPr>
        </p:nvSpPr>
        <p:spPr/>
        <p:txBody>
          <a:bodyPr/>
          <a:lstStyle/>
          <a:p>
            <a:r>
              <a:rPr lang="en-US" b="1"/>
              <a:t>WORKSHOP OBJECTIVES AND OUTCOMES</a:t>
            </a:r>
          </a:p>
        </p:txBody>
      </p:sp>
      <p:sp>
        <p:nvSpPr>
          <p:cNvPr id="4" name="TextBox 3">
            <a:extLst>
              <a:ext uri="{FF2B5EF4-FFF2-40B4-BE49-F238E27FC236}">
                <a16:creationId xmlns:a16="http://schemas.microsoft.com/office/drawing/2014/main" id="{628DC531-38D8-1B1C-8CCA-BA605CFFCF43}"/>
              </a:ext>
            </a:extLst>
          </p:cNvPr>
          <p:cNvSpPr txBox="1"/>
          <p:nvPr/>
        </p:nvSpPr>
        <p:spPr>
          <a:xfrm>
            <a:off x="342714" y="1333093"/>
            <a:ext cx="5404310" cy="1631216"/>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00" b="1" i="0" u="none" strike="noStrike" kern="1200" cap="none" spc="0" normalizeH="0" baseline="0" noProof="0">
                <a:ln>
                  <a:noFill/>
                </a:ln>
                <a:solidFill>
                  <a:srgbClr val="0067A4"/>
                </a:solidFill>
                <a:effectLst/>
                <a:uLnTx/>
                <a:uFillTx/>
                <a:latin typeface="Montserrat" pitchFamily="2" charset="77"/>
                <a:ea typeface="+mn-ea"/>
                <a:cs typeface="+mn-cs"/>
              </a:rPr>
              <a:t>OBJECTIVES</a:t>
            </a:r>
          </a:p>
          <a:p>
            <a:pPr marL="285750" indent="-285750">
              <a:spcAft>
                <a:spcPts val="600"/>
              </a:spcAft>
              <a:buFont typeface="Arial" panose="020B0604020202020204" pitchFamily="34" charset="0"/>
              <a:buChar char="•"/>
              <a:defRPr/>
            </a:pPr>
            <a:r>
              <a:rPr lang="en-US" sz="1600">
                <a:solidFill>
                  <a:srgbClr val="000000"/>
                </a:solidFill>
                <a:latin typeface="Montserrat"/>
              </a:rPr>
              <a:t>Confirm</a:t>
            </a:r>
            <a:r>
              <a:rPr kumimoji="0" lang="en-US" sz="1600" b="0" i="0" u="none" strike="noStrike" kern="1200" cap="none" spc="0" normalizeH="0" baseline="0" noProof="0">
                <a:ln>
                  <a:noFill/>
                </a:ln>
                <a:solidFill>
                  <a:srgbClr val="000000"/>
                </a:solidFill>
                <a:effectLst/>
                <a:uLnTx/>
                <a:uFillTx/>
                <a:latin typeface="Montserrat"/>
              </a:rPr>
              <a:t> As-Is Process</a:t>
            </a:r>
            <a:r>
              <a:rPr lang="en-US" sz="1600">
                <a:solidFill>
                  <a:srgbClr val="000000"/>
                </a:solidFill>
                <a:latin typeface="Montserrat"/>
              </a:rPr>
              <a:t> maps to future state</a:t>
            </a:r>
            <a:endParaRPr lang="en-US" sz="1600" b="0" i="0" u="none" strike="noStrike" kern="1200" cap="none" spc="0" normalizeH="0" baseline="0" noProof="0">
              <a:ln>
                <a:noFill/>
              </a:ln>
              <a:solidFill>
                <a:srgbClr val="000000"/>
              </a:solidFill>
              <a:effectLst/>
              <a:uLnTx/>
              <a:uFillTx/>
              <a:latin typeface="Montserrat"/>
            </a:endParaRPr>
          </a:p>
          <a:p>
            <a:pPr marL="285750" indent="-285750">
              <a:spcAft>
                <a:spcPts val="600"/>
              </a:spcAft>
              <a:buFont typeface="Arial" panose="020B0604020202020204" pitchFamily="34" charset="0"/>
              <a:buChar char="•"/>
              <a:defRPr/>
            </a:pPr>
            <a:r>
              <a:rPr kumimoji="0" lang="en-US" sz="1600" b="0" i="0" u="none" strike="noStrike" kern="1200" cap="none" spc="0" normalizeH="0" baseline="0" noProof="0">
                <a:ln>
                  <a:noFill/>
                </a:ln>
                <a:solidFill>
                  <a:srgbClr val="000000"/>
                </a:solidFill>
                <a:effectLst/>
                <a:uLnTx/>
                <a:uFillTx/>
                <a:latin typeface="Montserrat"/>
              </a:rPr>
              <a:t>Define </a:t>
            </a:r>
            <a:r>
              <a:rPr lang="en-US" sz="1600">
                <a:solidFill>
                  <a:srgbClr val="000000"/>
                </a:solidFill>
                <a:latin typeface="Montserrat"/>
              </a:rPr>
              <a:t>BMD Process Procedures</a:t>
            </a:r>
            <a:endParaRPr lang="en-US" sz="1600" b="0" i="0" u="none" strike="noStrike" kern="1200" cap="none" spc="0" normalizeH="0" baseline="0" noProof="0">
              <a:ln>
                <a:noFill/>
              </a:ln>
              <a:solidFill>
                <a:srgbClr val="000000"/>
              </a:solidFill>
              <a:effectLst/>
              <a:uLnTx/>
              <a:uFillTx/>
              <a:latin typeface="Montserrat" pitchFamily="2" charset="77"/>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Montserrat"/>
              </a:rPr>
              <a:t>Identify key data, reporting and cross-functional requirements</a:t>
            </a:r>
            <a:endParaRPr lang="en-US" sz="1600" b="0" i="0" u="none" strike="noStrike" kern="1200" cap="none" spc="0" normalizeH="0" baseline="0" noProof="0">
              <a:ln>
                <a:noFill/>
              </a:ln>
              <a:solidFill>
                <a:srgbClr val="000000"/>
              </a:solidFill>
              <a:effectLst/>
              <a:uLnTx/>
              <a:uFillTx/>
              <a:latin typeface="Montserrat"/>
            </a:endParaRPr>
          </a:p>
        </p:txBody>
      </p:sp>
      <p:sp>
        <p:nvSpPr>
          <p:cNvPr id="5" name="TextBox 4">
            <a:extLst>
              <a:ext uri="{FF2B5EF4-FFF2-40B4-BE49-F238E27FC236}">
                <a16:creationId xmlns:a16="http://schemas.microsoft.com/office/drawing/2014/main" id="{571B263F-2D7E-6E61-53F6-31FA9638A4B5}"/>
              </a:ext>
            </a:extLst>
          </p:cNvPr>
          <p:cNvSpPr txBox="1"/>
          <p:nvPr/>
        </p:nvSpPr>
        <p:spPr>
          <a:xfrm>
            <a:off x="6250006" y="1328093"/>
            <a:ext cx="5592590" cy="1708160"/>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00" b="1" i="0" u="none" strike="noStrike" kern="1200" cap="none" spc="0" normalizeH="0" baseline="0" noProof="0">
                <a:ln>
                  <a:noFill/>
                </a:ln>
                <a:solidFill>
                  <a:srgbClr val="0067A4"/>
                </a:solidFill>
                <a:effectLst/>
                <a:uLnTx/>
                <a:uFillTx/>
                <a:latin typeface="Montserrat" pitchFamily="2" charset="77"/>
                <a:ea typeface="+mn-ea"/>
                <a:cs typeface="+mn-cs"/>
              </a:rPr>
              <a:t>OUTCOMES / INPUTS TO DELIVERABLES</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Montserrat" pitchFamily="2" charset="77"/>
                <a:ea typeface="+mn-ea"/>
                <a:cs typeface="+mn-cs"/>
              </a:rPr>
              <a:t>Updated User Story / Task in Azure DevOps</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Montserrat" pitchFamily="2" charset="77"/>
                <a:ea typeface="+mn-ea"/>
                <a:cs typeface="+mn-cs"/>
              </a:rPr>
              <a:t>Documented Change Impacts</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Montserrat" pitchFamily="2" charset="77"/>
                <a:ea typeface="+mn-ea"/>
                <a:cs typeface="+mn-cs"/>
              </a:rPr>
              <a:t>Identified gaps / WRICEFs</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Montserrat" pitchFamily="2" charset="77"/>
                <a:ea typeface="+mn-ea"/>
                <a:cs typeface="+mn-cs"/>
              </a:rPr>
              <a:t>Understand Remediation Scope </a:t>
            </a:r>
          </a:p>
        </p:txBody>
      </p:sp>
      <p:pic>
        <p:nvPicPr>
          <p:cNvPr id="17" name="Picture 2" descr="http://silhouettesfree.com/professions-and-occupations/students/wall-clock-silhouette-image.png">
            <a:extLst>
              <a:ext uri="{FF2B5EF4-FFF2-40B4-BE49-F238E27FC236}">
                <a16:creationId xmlns:a16="http://schemas.microsoft.com/office/drawing/2014/main" id="{CEF9D2AC-AF70-BA65-31F2-7E8654DAC51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4572" y="4271297"/>
            <a:ext cx="365760" cy="36576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https://cdn1.iconfinder.com/data/icons/computer-and-internet/512/prohibited_no_laptop_forbidden-512.png">
            <a:extLst>
              <a:ext uri="{FF2B5EF4-FFF2-40B4-BE49-F238E27FC236}">
                <a16:creationId xmlns:a16="http://schemas.microsoft.com/office/drawing/2014/main" id="{7042D374-8C11-057C-7F7B-3ECDEA85832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546866" y="4271297"/>
            <a:ext cx="365760" cy="36576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descr="https://d30y9cdsu7xlg0.cloudfront.net/png/143730-200.png">
            <a:extLst>
              <a:ext uri="{FF2B5EF4-FFF2-40B4-BE49-F238E27FC236}">
                <a16:creationId xmlns:a16="http://schemas.microsoft.com/office/drawing/2014/main" id="{D263ABC9-815A-ACBE-CAC6-5C263D5E1A6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787236" y="4271297"/>
            <a:ext cx="365760" cy="36576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0" descr="https://image.freepik.com/free-icon/boy-raising-hand-for-question_318-43988.png">
            <a:extLst>
              <a:ext uri="{FF2B5EF4-FFF2-40B4-BE49-F238E27FC236}">
                <a16:creationId xmlns:a16="http://schemas.microsoft.com/office/drawing/2014/main" id="{F525F44D-72F7-54EB-3549-0DCB6259C552}"/>
              </a:ext>
            </a:extLst>
          </p:cNvPr>
          <p:cNvPicPr>
            <a:picLocks noChangeAspect="1" noChangeArrowheads="1"/>
          </p:cNvPicPr>
          <p:nvPr/>
        </p:nvPicPr>
        <p:blipFill>
          <a:blip r:embed="rId6" cstate="print">
            <a:clrChange>
              <a:clrFrom>
                <a:srgbClr val="FFFFFF"/>
              </a:clrFrom>
              <a:clrTo>
                <a:srgbClr val="FFFFFF">
                  <a:alpha val="0"/>
                </a:srgbClr>
              </a:clrTo>
            </a:clrChange>
            <a:duotone>
              <a:prstClr val="black"/>
              <a:srgbClr val="FFCFE1">
                <a:tint val="45000"/>
                <a:satMod val="400000"/>
              </a:srgbClr>
            </a:duotone>
            <a:extLst>
              <a:ext uri="{28A0092B-C50C-407E-A947-70E740481C1C}">
                <a14:useLocalDpi xmlns:a14="http://schemas.microsoft.com/office/drawing/2010/main" val="0"/>
              </a:ext>
            </a:extLst>
          </a:blip>
          <a:srcRect/>
          <a:stretch>
            <a:fillRect/>
          </a:stretch>
        </p:blipFill>
        <p:spPr bwMode="auto">
          <a:xfrm>
            <a:off x="4167051" y="4271297"/>
            <a:ext cx="365760" cy="365760"/>
          </a:xfrm>
          <a:prstGeom prst="rect">
            <a:avLst/>
          </a:prstGeom>
          <a:noFill/>
          <a:extLst>
            <a:ext uri="{909E8E84-426E-40DD-AFC4-6F175D3DCCD1}">
              <a14:hiddenFill xmlns:a14="http://schemas.microsoft.com/office/drawing/2010/main">
                <a:solidFill>
                  <a:srgbClr val="FFFFFF"/>
                </a:solidFill>
              </a14:hiddenFill>
            </a:ext>
          </a:extLst>
        </p:spPr>
      </p:pic>
      <p:pic>
        <p:nvPicPr>
          <p:cNvPr id="21" name="Graphic 20" descr="Web cam">
            <a:extLst>
              <a:ext uri="{FF2B5EF4-FFF2-40B4-BE49-F238E27FC236}">
                <a16:creationId xmlns:a16="http://schemas.microsoft.com/office/drawing/2014/main" id="{D08B6782-7F7E-0644-4B22-51E80A262EB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647790" y="4271297"/>
            <a:ext cx="365760" cy="365760"/>
          </a:xfrm>
          <a:prstGeom prst="rect">
            <a:avLst/>
          </a:prstGeom>
        </p:spPr>
      </p:pic>
      <p:pic>
        <p:nvPicPr>
          <p:cNvPr id="22" name="Graphic 21" descr="Radio microphone">
            <a:extLst>
              <a:ext uri="{FF2B5EF4-FFF2-40B4-BE49-F238E27FC236}">
                <a16:creationId xmlns:a16="http://schemas.microsoft.com/office/drawing/2014/main" id="{582F9016-8306-568A-689C-9A626CBCE24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407421" y="4271297"/>
            <a:ext cx="365760" cy="365760"/>
          </a:xfrm>
          <a:prstGeom prst="rect">
            <a:avLst/>
          </a:prstGeom>
        </p:spPr>
      </p:pic>
      <p:pic>
        <p:nvPicPr>
          <p:cNvPr id="23" name="Graphic 22" descr="Questions">
            <a:extLst>
              <a:ext uri="{FF2B5EF4-FFF2-40B4-BE49-F238E27FC236}">
                <a16:creationId xmlns:a16="http://schemas.microsoft.com/office/drawing/2014/main" id="{30ECF821-B183-9789-83D9-2E0BC47F45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027606" y="4271297"/>
            <a:ext cx="365760" cy="365760"/>
          </a:xfrm>
          <a:prstGeom prst="rect">
            <a:avLst/>
          </a:prstGeom>
        </p:spPr>
      </p:pic>
      <p:sp>
        <p:nvSpPr>
          <p:cNvPr id="24" name="TextBox 23">
            <a:extLst>
              <a:ext uri="{FF2B5EF4-FFF2-40B4-BE49-F238E27FC236}">
                <a16:creationId xmlns:a16="http://schemas.microsoft.com/office/drawing/2014/main" id="{FA0BE638-6195-BE91-7641-934925D8596E}"/>
              </a:ext>
            </a:extLst>
          </p:cNvPr>
          <p:cNvSpPr txBox="1"/>
          <p:nvPr/>
        </p:nvSpPr>
        <p:spPr>
          <a:xfrm>
            <a:off x="345045" y="4027764"/>
            <a:ext cx="771045" cy="1846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spAutoFit/>
          </a:bodyPr>
          <a:lstStyle/>
          <a:p>
            <a:pPr marL="0" marR="0" lvl="0" indent="0" algn="l" defTabSz="1828891"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272725"/>
                </a:solidFill>
                <a:effectLst/>
                <a:uLnTx/>
                <a:uFillTx/>
                <a:latin typeface="Montserrat" pitchFamily="2" charset="77"/>
                <a:ea typeface="+mn-ea"/>
                <a:cs typeface="+mn-cs"/>
              </a:rPr>
              <a:t>In Person </a:t>
            </a:r>
          </a:p>
        </p:txBody>
      </p:sp>
      <p:sp>
        <p:nvSpPr>
          <p:cNvPr id="25" name="TextBox 24">
            <a:extLst>
              <a:ext uri="{FF2B5EF4-FFF2-40B4-BE49-F238E27FC236}">
                <a16:creationId xmlns:a16="http://schemas.microsoft.com/office/drawing/2014/main" id="{E48132CB-7FCC-A69F-BB25-6CCC3B98F051}"/>
              </a:ext>
            </a:extLst>
          </p:cNvPr>
          <p:cNvSpPr txBox="1"/>
          <p:nvPr/>
        </p:nvSpPr>
        <p:spPr>
          <a:xfrm>
            <a:off x="10658034" y="4027764"/>
            <a:ext cx="914400" cy="1846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spAutoFit/>
          </a:bodyPr>
          <a:lstStyle/>
          <a:p>
            <a:pPr marL="0" marR="0" lvl="0" indent="0" algn="r" defTabSz="1828891"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272725"/>
                </a:solidFill>
                <a:effectLst/>
                <a:uLnTx/>
                <a:uFillTx/>
                <a:latin typeface="Montserrat" pitchFamily="2" charset="77"/>
                <a:ea typeface="+mn-ea"/>
                <a:cs typeface="+mn-cs"/>
              </a:rPr>
              <a:t>Virtual</a:t>
            </a:r>
          </a:p>
        </p:txBody>
      </p:sp>
      <p:cxnSp>
        <p:nvCxnSpPr>
          <p:cNvPr id="26" name="Straight Arrow Connector 25">
            <a:extLst>
              <a:ext uri="{FF2B5EF4-FFF2-40B4-BE49-F238E27FC236}">
                <a16:creationId xmlns:a16="http://schemas.microsoft.com/office/drawing/2014/main" id="{A1C21047-94FC-3732-876A-62CA5D5EA418}"/>
              </a:ext>
            </a:extLst>
          </p:cNvPr>
          <p:cNvCxnSpPr>
            <a:cxnSpLocks/>
          </p:cNvCxnSpPr>
          <p:nvPr/>
        </p:nvCxnSpPr>
        <p:spPr bwMode="auto">
          <a:xfrm>
            <a:off x="1116331" y="4120097"/>
            <a:ext cx="9875520" cy="0"/>
          </a:xfrm>
          <a:prstGeom prst="straightConnector1">
            <a:avLst/>
          </a:prstGeom>
          <a:ln>
            <a:prstDash val="dash"/>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A6AC6777-6D58-61AC-0627-C2F3F639E422}"/>
              </a:ext>
            </a:extLst>
          </p:cNvPr>
          <p:cNvGrpSpPr/>
          <p:nvPr/>
        </p:nvGrpSpPr>
        <p:grpSpPr>
          <a:xfrm>
            <a:off x="342714" y="4654694"/>
            <a:ext cx="1559028" cy="512594"/>
            <a:chOff x="109722" y="1185524"/>
            <a:chExt cx="832655" cy="816522"/>
          </a:xfrm>
        </p:grpSpPr>
        <p:sp>
          <p:nvSpPr>
            <p:cNvPr id="68" name="Rounded Rectangle 67">
              <a:extLst>
                <a:ext uri="{FF2B5EF4-FFF2-40B4-BE49-F238E27FC236}">
                  <a16:creationId xmlns:a16="http://schemas.microsoft.com/office/drawing/2014/main" id="{F532B5CD-114B-4931-9927-049AEA0BEDEB}"/>
                </a:ext>
              </a:extLst>
            </p:cNvPr>
            <p:cNvSpPr/>
            <p:nvPr/>
          </p:nvSpPr>
          <p:spPr>
            <a:xfrm>
              <a:off x="109722" y="1185524"/>
              <a:ext cx="832655" cy="816522"/>
            </a:xfrm>
            <a:prstGeom prst="roundRect">
              <a:avLst>
                <a:gd name="adj" fmla="val 10000"/>
              </a:avLst>
            </a:prstGeom>
          </p:spPr>
          <p:style>
            <a:lnRef idx="2">
              <a:schemeClr val="lt1">
                <a:hueOff val="0"/>
                <a:satOff val="0"/>
                <a:lumOff val="0"/>
                <a:alphaOff val="0"/>
              </a:schemeClr>
            </a:lnRef>
            <a:fillRef idx="1">
              <a:schemeClr val="accent5">
                <a:alpha val="90000"/>
                <a:hueOff val="0"/>
                <a:satOff val="0"/>
                <a:lumOff val="0"/>
                <a:alphaOff val="0"/>
              </a:schemeClr>
            </a:fillRef>
            <a:effectRef idx="0">
              <a:schemeClr val="accent5">
                <a:alpha val="90000"/>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69" name="Rounded Rectangle 4">
              <a:extLst>
                <a:ext uri="{FF2B5EF4-FFF2-40B4-BE49-F238E27FC236}">
                  <a16:creationId xmlns:a16="http://schemas.microsoft.com/office/drawing/2014/main" id="{24DA735C-5090-E8FD-96D0-BB3018286348}"/>
                </a:ext>
              </a:extLst>
            </p:cNvPr>
            <p:cNvSpPr txBox="1"/>
            <p:nvPr/>
          </p:nvSpPr>
          <p:spPr>
            <a:xfrm>
              <a:off x="134110" y="1185524"/>
              <a:ext cx="783879" cy="792134"/>
            </a:xfrm>
            <a:prstGeom prst="rect">
              <a:avLst/>
            </a:prstGeom>
            <a:ln w="6350">
              <a:solidFill>
                <a:schemeClr val="accent3"/>
              </a:solidFill>
            </a:ln>
          </p:spPr>
          <p:style>
            <a:lnRef idx="2">
              <a:schemeClr val="accent2"/>
            </a:lnRef>
            <a:fillRef idx="1">
              <a:schemeClr val="lt1"/>
            </a:fillRef>
            <a:effectRef idx="0">
              <a:schemeClr val="accent2"/>
            </a:effectRef>
            <a:fontRef idx="minor">
              <a:schemeClr val="dk1"/>
            </a:fontRef>
          </p:style>
          <p:txBody>
            <a:bodyPr spcFirstLastPara="0" vert="horz" wrap="square" lIns="20320" tIns="15240" rIns="20320" bIns="15240" numCol="1" spcCol="1270" anchor="ctr" anchorCtr="0">
              <a:noAutofit/>
            </a:bodyPr>
            <a:lstStyle/>
            <a:p>
              <a:pPr marL="0" marR="0" lvl="0" indent="0" algn="ctr" defTabSz="355600" rtl="0" eaLnBrk="1" fontAlgn="auto" latinLnBrk="0" hangingPunct="1">
                <a:lnSpc>
                  <a:spcPct val="90000"/>
                </a:lnSpc>
                <a:spcBef>
                  <a:spcPct val="0"/>
                </a:spcBef>
                <a:spcAft>
                  <a:spcPct val="350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00000"/>
                  </a:solidFill>
                  <a:effectLst/>
                  <a:uLnTx/>
                  <a:uFillTx/>
                  <a:latin typeface="Montserrat" pitchFamily="2" charset="77"/>
                  <a:ea typeface="+mn-ea"/>
                  <a:cs typeface="Arial" panose="020B0604020202020204" pitchFamily="34" charset="0"/>
                </a:rPr>
                <a:t>Start and End the workshop on time</a:t>
              </a:r>
              <a:endParaRPr kumimoji="0" lang="en-US" sz="900" b="0" i="0" u="none" strike="noStrike" kern="1200" cap="none" spc="0" normalizeH="0" baseline="0" noProof="0">
                <a:ln>
                  <a:noFill/>
                </a:ln>
                <a:solidFill>
                  <a:srgbClr val="000000"/>
                </a:solidFill>
                <a:effectLst/>
                <a:uLnTx/>
                <a:uFillTx/>
                <a:latin typeface="Montserrat" pitchFamily="2" charset="77"/>
                <a:ea typeface="+mn-ea"/>
                <a:cs typeface="+mn-cs"/>
              </a:endParaRPr>
            </a:p>
          </p:txBody>
        </p:sp>
      </p:grpSp>
      <p:grpSp>
        <p:nvGrpSpPr>
          <p:cNvPr id="29" name="Group 28">
            <a:extLst>
              <a:ext uri="{FF2B5EF4-FFF2-40B4-BE49-F238E27FC236}">
                <a16:creationId xmlns:a16="http://schemas.microsoft.com/office/drawing/2014/main" id="{AD82B528-082F-B8D6-3BEC-75CD0F998FE0}"/>
              </a:ext>
            </a:extLst>
          </p:cNvPr>
          <p:cNvGrpSpPr/>
          <p:nvPr/>
        </p:nvGrpSpPr>
        <p:grpSpPr>
          <a:xfrm>
            <a:off x="348418" y="5207475"/>
            <a:ext cx="1559028" cy="512594"/>
            <a:chOff x="109722" y="2342893"/>
            <a:chExt cx="832655" cy="816522"/>
          </a:xfrm>
        </p:grpSpPr>
        <p:sp>
          <p:nvSpPr>
            <p:cNvPr id="66" name="Rounded Rectangle 65">
              <a:extLst>
                <a:ext uri="{FF2B5EF4-FFF2-40B4-BE49-F238E27FC236}">
                  <a16:creationId xmlns:a16="http://schemas.microsoft.com/office/drawing/2014/main" id="{1C6FF50D-FBD4-E25B-08C5-711A9524CEB7}"/>
                </a:ext>
              </a:extLst>
            </p:cNvPr>
            <p:cNvSpPr/>
            <p:nvPr/>
          </p:nvSpPr>
          <p:spPr>
            <a:xfrm>
              <a:off x="109722" y="2342893"/>
              <a:ext cx="832655" cy="816522"/>
            </a:xfrm>
            <a:prstGeom prst="roundRect">
              <a:avLst>
                <a:gd name="adj" fmla="val 10000"/>
              </a:avLst>
            </a:prstGeom>
          </p:spPr>
          <p:style>
            <a:lnRef idx="2">
              <a:schemeClr val="lt1">
                <a:hueOff val="0"/>
                <a:satOff val="0"/>
                <a:lumOff val="0"/>
                <a:alphaOff val="0"/>
              </a:schemeClr>
            </a:lnRef>
            <a:fillRef idx="1">
              <a:schemeClr val="accent5">
                <a:alpha val="90000"/>
                <a:hueOff val="0"/>
                <a:satOff val="0"/>
                <a:lumOff val="0"/>
                <a:alphaOff val="-3077"/>
              </a:schemeClr>
            </a:fillRef>
            <a:effectRef idx="0">
              <a:schemeClr val="accent5">
                <a:alpha val="90000"/>
                <a:hueOff val="0"/>
                <a:satOff val="0"/>
                <a:lumOff val="0"/>
                <a:alphaOff val="-3077"/>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67" name="Rounded Rectangle 6">
              <a:extLst>
                <a:ext uri="{FF2B5EF4-FFF2-40B4-BE49-F238E27FC236}">
                  <a16:creationId xmlns:a16="http://schemas.microsoft.com/office/drawing/2014/main" id="{D3AAF436-B481-9D02-4995-DF6E5B38BE1C}"/>
                </a:ext>
              </a:extLst>
            </p:cNvPr>
            <p:cNvSpPr txBox="1"/>
            <p:nvPr/>
          </p:nvSpPr>
          <p:spPr>
            <a:xfrm>
              <a:off x="134110" y="2342893"/>
              <a:ext cx="783879" cy="792134"/>
            </a:xfrm>
            <a:prstGeom prst="rect">
              <a:avLst/>
            </a:prstGeom>
            <a:ln w="6350">
              <a:solidFill>
                <a:schemeClr val="accent3"/>
              </a:solidFill>
            </a:ln>
          </p:spPr>
          <p:style>
            <a:lnRef idx="2">
              <a:schemeClr val="accent2"/>
            </a:lnRef>
            <a:fillRef idx="1">
              <a:schemeClr val="lt1"/>
            </a:fillRef>
            <a:effectRef idx="0">
              <a:schemeClr val="accent2"/>
            </a:effectRef>
            <a:fontRef idx="minor">
              <a:schemeClr val="dk1"/>
            </a:fontRef>
          </p:style>
          <p:txBody>
            <a:bodyPr spcFirstLastPara="0" vert="horz" wrap="square" lIns="20320" tIns="15240" rIns="20320" bIns="15240" numCol="1" spcCol="1270" anchor="ctr" anchorCtr="0">
              <a:noAutofit/>
            </a:bodyPr>
            <a:lstStyle/>
            <a:p>
              <a:pPr marL="0" marR="0" lvl="0" indent="0" algn="ctr" defTabSz="355600" rtl="0" eaLnBrk="1" fontAlgn="auto" latinLnBrk="0" hangingPunct="1">
                <a:lnSpc>
                  <a:spcPct val="90000"/>
                </a:lnSpc>
                <a:spcBef>
                  <a:spcPct val="0"/>
                </a:spcBef>
                <a:spcAft>
                  <a:spcPct val="35000"/>
                </a:spcAft>
                <a:buClrTx/>
                <a:buSzTx/>
                <a:buFontTx/>
                <a:buNone/>
                <a:tabLst/>
                <a:defRPr/>
              </a:pPr>
              <a:r>
                <a:rPr kumimoji="0" lang="en-US" sz="900" b="0" i="0" u="none" strike="noStrike" kern="1200" cap="none" spc="0" normalizeH="0" baseline="0" noProof="0">
                  <a:ln>
                    <a:noFill/>
                  </a:ln>
                  <a:solidFill>
                    <a:srgbClr val="000000"/>
                  </a:solidFill>
                  <a:effectLst/>
                  <a:uLnTx/>
                  <a:uFillTx/>
                  <a:latin typeface="Montserrat" pitchFamily="2" charset="77"/>
                  <a:ea typeface="+mn-ea"/>
                  <a:cs typeface="Arial" panose="020B0604020202020204" pitchFamily="34" charset="0"/>
                </a:rPr>
                <a:t>Please allow time for breaks</a:t>
              </a:r>
            </a:p>
          </p:txBody>
        </p:sp>
      </p:grpSp>
      <p:grpSp>
        <p:nvGrpSpPr>
          <p:cNvPr id="30" name="Group 29">
            <a:extLst>
              <a:ext uri="{FF2B5EF4-FFF2-40B4-BE49-F238E27FC236}">
                <a16:creationId xmlns:a16="http://schemas.microsoft.com/office/drawing/2014/main" id="{816235F8-9765-4604-589C-963A7198DF9C}"/>
              </a:ext>
            </a:extLst>
          </p:cNvPr>
          <p:cNvGrpSpPr/>
          <p:nvPr/>
        </p:nvGrpSpPr>
        <p:grpSpPr>
          <a:xfrm>
            <a:off x="1962107" y="4654694"/>
            <a:ext cx="1559028" cy="512594"/>
            <a:chOff x="1228602" y="1185524"/>
            <a:chExt cx="832655" cy="816522"/>
          </a:xfrm>
        </p:grpSpPr>
        <p:sp>
          <p:nvSpPr>
            <p:cNvPr id="64" name="Rounded Rectangle 63">
              <a:extLst>
                <a:ext uri="{FF2B5EF4-FFF2-40B4-BE49-F238E27FC236}">
                  <a16:creationId xmlns:a16="http://schemas.microsoft.com/office/drawing/2014/main" id="{140404EE-D379-848E-FF0D-19718C2D22E3}"/>
                </a:ext>
              </a:extLst>
            </p:cNvPr>
            <p:cNvSpPr/>
            <p:nvPr/>
          </p:nvSpPr>
          <p:spPr>
            <a:xfrm>
              <a:off x="1228602" y="1185524"/>
              <a:ext cx="832655" cy="816522"/>
            </a:xfrm>
            <a:prstGeom prst="roundRect">
              <a:avLst>
                <a:gd name="adj" fmla="val 10000"/>
              </a:avLst>
            </a:prstGeom>
          </p:spPr>
          <p:style>
            <a:lnRef idx="2">
              <a:schemeClr val="lt1">
                <a:hueOff val="0"/>
                <a:satOff val="0"/>
                <a:lumOff val="0"/>
                <a:alphaOff val="0"/>
              </a:schemeClr>
            </a:lnRef>
            <a:fillRef idx="1">
              <a:schemeClr val="accent5">
                <a:alpha val="90000"/>
                <a:hueOff val="0"/>
                <a:satOff val="0"/>
                <a:lumOff val="0"/>
                <a:alphaOff val="-6154"/>
              </a:schemeClr>
            </a:fillRef>
            <a:effectRef idx="0">
              <a:schemeClr val="accent5">
                <a:alpha val="90000"/>
                <a:hueOff val="0"/>
                <a:satOff val="0"/>
                <a:lumOff val="0"/>
                <a:alphaOff val="-6154"/>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65" name="Rounded Rectangle 8">
              <a:extLst>
                <a:ext uri="{FF2B5EF4-FFF2-40B4-BE49-F238E27FC236}">
                  <a16:creationId xmlns:a16="http://schemas.microsoft.com/office/drawing/2014/main" id="{7963A6DD-923E-781E-FAB0-462F2CFE1B4C}"/>
                </a:ext>
              </a:extLst>
            </p:cNvPr>
            <p:cNvSpPr txBox="1"/>
            <p:nvPr/>
          </p:nvSpPr>
          <p:spPr>
            <a:xfrm>
              <a:off x="1252990" y="1185524"/>
              <a:ext cx="783879" cy="792134"/>
            </a:xfrm>
            <a:prstGeom prst="rect">
              <a:avLst/>
            </a:prstGeom>
            <a:ln w="6350">
              <a:solidFill>
                <a:schemeClr val="accent3"/>
              </a:solidFill>
            </a:ln>
          </p:spPr>
          <p:style>
            <a:lnRef idx="2">
              <a:schemeClr val="accent2"/>
            </a:lnRef>
            <a:fillRef idx="1">
              <a:schemeClr val="lt1"/>
            </a:fillRef>
            <a:effectRef idx="0">
              <a:schemeClr val="accent2"/>
            </a:effectRef>
            <a:fontRef idx="minor">
              <a:schemeClr val="dk1"/>
            </a:fontRef>
          </p:style>
          <p:txBody>
            <a:bodyPr spcFirstLastPara="0" vert="horz" wrap="square" lIns="20320" tIns="15240" rIns="20320" bIns="15240" numCol="1" spcCol="1270" anchor="ctr" anchorCtr="0">
              <a:noAutofit/>
            </a:bodyPr>
            <a:lstStyle/>
            <a:p>
              <a:pPr marL="0" marR="0" lvl="0" indent="0" algn="ctr" defTabSz="355600" rtl="0" eaLnBrk="1" fontAlgn="auto" latinLnBrk="0" hangingPunct="1">
                <a:lnSpc>
                  <a:spcPct val="90000"/>
                </a:lnSpc>
                <a:spcBef>
                  <a:spcPct val="0"/>
                </a:spcBef>
                <a:spcAft>
                  <a:spcPct val="35000"/>
                </a:spcAft>
                <a:buClrTx/>
                <a:buSzTx/>
                <a:buFontTx/>
                <a:buNone/>
                <a:tabLst/>
                <a:defRPr/>
              </a:pPr>
              <a:r>
                <a:rPr kumimoji="0" lang="en-US" sz="900" b="0" i="0" u="none" strike="noStrike" kern="1200" cap="none" spc="0" normalizeH="0" baseline="0" noProof="0">
                  <a:ln>
                    <a:noFill/>
                  </a:ln>
                  <a:solidFill>
                    <a:srgbClr val="000000"/>
                  </a:solidFill>
                  <a:effectLst/>
                  <a:uLnTx/>
                  <a:uFillTx/>
                  <a:latin typeface="Montserrat" pitchFamily="2" charset="77"/>
                  <a:ea typeface="+mn-ea"/>
                  <a:cs typeface="Arial" panose="020B0604020202020204" pitchFamily="34" charset="0"/>
                </a:rPr>
                <a:t>Please keep side conversations to a minimum </a:t>
              </a:r>
            </a:p>
          </p:txBody>
        </p:sp>
      </p:grpSp>
      <p:grpSp>
        <p:nvGrpSpPr>
          <p:cNvPr id="31" name="Group 30">
            <a:extLst>
              <a:ext uri="{FF2B5EF4-FFF2-40B4-BE49-F238E27FC236}">
                <a16:creationId xmlns:a16="http://schemas.microsoft.com/office/drawing/2014/main" id="{47191676-84D9-A898-88B1-9B5BDE743516}"/>
              </a:ext>
            </a:extLst>
          </p:cNvPr>
          <p:cNvGrpSpPr/>
          <p:nvPr/>
        </p:nvGrpSpPr>
        <p:grpSpPr>
          <a:xfrm>
            <a:off x="1966860" y="5207475"/>
            <a:ext cx="1559028" cy="512594"/>
            <a:chOff x="1228602" y="2342893"/>
            <a:chExt cx="832655" cy="816522"/>
          </a:xfrm>
        </p:grpSpPr>
        <p:sp>
          <p:nvSpPr>
            <p:cNvPr id="62" name="Rounded Rectangle 61">
              <a:extLst>
                <a:ext uri="{FF2B5EF4-FFF2-40B4-BE49-F238E27FC236}">
                  <a16:creationId xmlns:a16="http://schemas.microsoft.com/office/drawing/2014/main" id="{C891F521-73D0-44B1-FA9D-D14B2771119C}"/>
                </a:ext>
              </a:extLst>
            </p:cNvPr>
            <p:cNvSpPr/>
            <p:nvPr/>
          </p:nvSpPr>
          <p:spPr>
            <a:xfrm>
              <a:off x="1228602" y="2342893"/>
              <a:ext cx="832655" cy="816522"/>
            </a:xfrm>
            <a:prstGeom prst="roundRect">
              <a:avLst>
                <a:gd name="adj" fmla="val 10000"/>
              </a:avLst>
            </a:prstGeom>
          </p:spPr>
          <p:style>
            <a:lnRef idx="2">
              <a:schemeClr val="lt1">
                <a:hueOff val="0"/>
                <a:satOff val="0"/>
                <a:lumOff val="0"/>
                <a:alphaOff val="0"/>
              </a:schemeClr>
            </a:lnRef>
            <a:fillRef idx="1">
              <a:schemeClr val="accent5">
                <a:alpha val="90000"/>
                <a:hueOff val="0"/>
                <a:satOff val="0"/>
                <a:lumOff val="0"/>
                <a:alphaOff val="-9231"/>
              </a:schemeClr>
            </a:fillRef>
            <a:effectRef idx="0">
              <a:schemeClr val="accent5">
                <a:alpha val="90000"/>
                <a:hueOff val="0"/>
                <a:satOff val="0"/>
                <a:lumOff val="0"/>
                <a:alphaOff val="-9231"/>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63" name="Rounded Rectangle 10">
              <a:extLst>
                <a:ext uri="{FF2B5EF4-FFF2-40B4-BE49-F238E27FC236}">
                  <a16:creationId xmlns:a16="http://schemas.microsoft.com/office/drawing/2014/main" id="{31E86CF0-80DB-E998-7664-C7E4C04ADBE9}"/>
                </a:ext>
              </a:extLst>
            </p:cNvPr>
            <p:cNvSpPr txBox="1"/>
            <p:nvPr/>
          </p:nvSpPr>
          <p:spPr>
            <a:xfrm>
              <a:off x="1252990" y="2342893"/>
              <a:ext cx="783879" cy="792134"/>
            </a:xfrm>
            <a:prstGeom prst="rect">
              <a:avLst/>
            </a:prstGeom>
            <a:ln w="6350">
              <a:solidFill>
                <a:schemeClr val="accent3"/>
              </a:solidFill>
            </a:ln>
          </p:spPr>
          <p:style>
            <a:lnRef idx="2">
              <a:schemeClr val="accent2"/>
            </a:lnRef>
            <a:fillRef idx="1">
              <a:schemeClr val="lt1"/>
            </a:fillRef>
            <a:effectRef idx="0">
              <a:schemeClr val="accent2"/>
            </a:effectRef>
            <a:fontRef idx="minor">
              <a:schemeClr val="dk1"/>
            </a:fontRef>
          </p:style>
          <p:txBody>
            <a:bodyPr spcFirstLastPara="0" vert="horz" wrap="square" lIns="20320" tIns="15240" rIns="20320" bIns="15240" numCol="1" spcCol="1270" anchor="ctr" anchorCtr="0">
              <a:noAutofit/>
            </a:bodyPr>
            <a:lstStyle/>
            <a:p>
              <a:pPr marL="0" marR="0" lvl="0" indent="0" algn="ctr" defTabSz="355600" rtl="0" eaLnBrk="1" fontAlgn="auto" latinLnBrk="0" hangingPunct="1">
                <a:lnSpc>
                  <a:spcPct val="90000"/>
                </a:lnSpc>
                <a:spcBef>
                  <a:spcPct val="0"/>
                </a:spcBef>
                <a:spcAft>
                  <a:spcPct val="35000"/>
                </a:spcAft>
                <a:buClrTx/>
                <a:buSzTx/>
                <a:buFontTx/>
                <a:buNone/>
                <a:tabLst/>
                <a:defRPr/>
              </a:pPr>
              <a:r>
                <a:rPr kumimoji="0" lang="en-US" altLang="en-US" sz="900" b="0" i="0" u="none" strike="noStrike" kern="1200" cap="none" spc="0" normalizeH="0" baseline="0" noProof="0">
                  <a:ln>
                    <a:noFill/>
                  </a:ln>
                  <a:solidFill>
                    <a:srgbClr val="000000"/>
                  </a:solidFill>
                  <a:effectLst/>
                  <a:uLnTx/>
                  <a:uFillTx/>
                  <a:latin typeface="Montserrat" pitchFamily="2" charset="77"/>
                  <a:ea typeface="+mn-ea"/>
                  <a:cs typeface="Arial" panose="020B0604020202020204" pitchFamily="34" charset="0"/>
                </a:rPr>
                <a:t>Cell phones, laptops, and tablets switched off</a:t>
              </a:r>
              <a:endParaRPr kumimoji="0" lang="en-US" sz="900" b="0" i="0" u="none" strike="noStrike" kern="1200" cap="none" spc="0" normalizeH="0" baseline="0" noProof="0">
                <a:ln>
                  <a:noFill/>
                </a:ln>
                <a:solidFill>
                  <a:srgbClr val="000000"/>
                </a:solidFill>
                <a:effectLst/>
                <a:uLnTx/>
                <a:uFillTx/>
                <a:latin typeface="Montserrat" pitchFamily="2" charset="77"/>
                <a:ea typeface="+mn-ea"/>
                <a:cs typeface="Arial" panose="020B0604020202020204" pitchFamily="34" charset="0"/>
              </a:endParaRPr>
            </a:p>
          </p:txBody>
        </p:sp>
      </p:grpSp>
      <p:grpSp>
        <p:nvGrpSpPr>
          <p:cNvPr id="32" name="Group 31">
            <a:extLst>
              <a:ext uri="{FF2B5EF4-FFF2-40B4-BE49-F238E27FC236}">
                <a16:creationId xmlns:a16="http://schemas.microsoft.com/office/drawing/2014/main" id="{77C0F2EB-C992-C767-376A-A96DF4B9B09F}"/>
              </a:ext>
            </a:extLst>
          </p:cNvPr>
          <p:cNvGrpSpPr/>
          <p:nvPr/>
        </p:nvGrpSpPr>
        <p:grpSpPr>
          <a:xfrm>
            <a:off x="3581500" y="4654694"/>
            <a:ext cx="1559028" cy="512594"/>
            <a:chOff x="2347482" y="1185524"/>
            <a:chExt cx="832655" cy="816522"/>
          </a:xfrm>
        </p:grpSpPr>
        <p:sp>
          <p:nvSpPr>
            <p:cNvPr id="60" name="Rounded Rectangle 59">
              <a:extLst>
                <a:ext uri="{FF2B5EF4-FFF2-40B4-BE49-F238E27FC236}">
                  <a16:creationId xmlns:a16="http://schemas.microsoft.com/office/drawing/2014/main" id="{37AACF82-E0AB-D8BE-FF7E-89B91F1960B8}"/>
                </a:ext>
              </a:extLst>
            </p:cNvPr>
            <p:cNvSpPr/>
            <p:nvPr/>
          </p:nvSpPr>
          <p:spPr>
            <a:xfrm>
              <a:off x="2347482" y="1185524"/>
              <a:ext cx="832655" cy="816522"/>
            </a:xfrm>
            <a:prstGeom prst="roundRect">
              <a:avLst>
                <a:gd name="adj" fmla="val 10000"/>
              </a:avLst>
            </a:prstGeom>
          </p:spPr>
          <p:style>
            <a:lnRef idx="2">
              <a:schemeClr val="lt1">
                <a:hueOff val="0"/>
                <a:satOff val="0"/>
                <a:lumOff val="0"/>
                <a:alphaOff val="0"/>
              </a:schemeClr>
            </a:lnRef>
            <a:fillRef idx="1">
              <a:schemeClr val="accent5">
                <a:alpha val="90000"/>
                <a:hueOff val="0"/>
                <a:satOff val="0"/>
                <a:lumOff val="0"/>
                <a:alphaOff val="-12308"/>
              </a:schemeClr>
            </a:fillRef>
            <a:effectRef idx="0">
              <a:schemeClr val="accent5">
                <a:alpha val="90000"/>
                <a:hueOff val="0"/>
                <a:satOff val="0"/>
                <a:lumOff val="0"/>
                <a:alphaOff val="-12308"/>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61" name="Rounded Rectangle 12">
              <a:extLst>
                <a:ext uri="{FF2B5EF4-FFF2-40B4-BE49-F238E27FC236}">
                  <a16:creationId xmlns:a16="http://schemas.microsoft.com/office/drawing/2014/main" id="{E0DC1E64-1E46-06B5-C3C9-407437AFA306}"/>
                </a:ext>
              </a:extLst>
            </p:cNvPr>
            <p:cNvSpPr txBox="1"/>
            <p:nvPr/>
          </p:nvSpPr>
          <p:spPr>
            <a:xfrm>
              <a:off x="2371870" y="1185524"/>
              <a:ext cx="783879" cy="792134"/>
            </a:xfrm>
            <a:prstGeom prst="rect">
              <a:avLst/>
            </a:prstGeom>
            <a:ln w="6350">
              <a:solidFill>
                <a:schemeClr val="accent3"/>
              </a:solidFill>
            </a:ln>
          </p:spPr>
          <p:style>
            <a:lnRef idx="2">
              <a:schemeClr val="accent2"/>
            </a:lnRef>
            <a:fillRef idx="1">
              <a:schemeClr val="lt1"/>
            </a:fillRef>
            <a:effectRef idx="0">
              <a:schemeClr val="accent2"/>
            </a:effectRef>
            <a:fontRef idx="minor">
              <a:schemeClr val="dk1"/>
            </a:fontRef>
          </p:style>
          <p:txBody>
            <a:bodyPr spcFirstLastPara="0" vert="horz" wrap="square" lIns="20320" tIns="15240" rIns="20320" bIns="15240" numCol="1" spcCol="1270" anchor="ctr" anchorCtr="0">
              <a:noAutofit/>
            </a:bodyPr>
            <a:lstStyle/>
            <a:p>
              <a:pPr marL="0" marR="0" lvl="0" indent="0" algn="ctr" defTabSz="355600" rtl="0" eaLnBrk="1" fontAlgn="auto" latinLnBrk="0" hangingPunct="1">
                <a:lnSpc>
                  <a:spcPct val="90000"/>
                </a:lnSpc>
                <a:spcBef>
                  <a:spcPct val="0"/>
                </a:spcBef>
                <a:spcAft>
                  <a:spcPct val="35000"/>
                </a:spcAft>
                <a:buClrTx/>
                <a:buSzTx/>
                <a:buFontTx/>
                <a:buNone/>
                <a:tabLst/>
                <a:defRPr/>
              </a:pPr>
              <a:r>
                <a:rPr kumimoji="0" lang="en-US" sz="900" b="0" i="0" u="none" strike="noStrike" kern="1200" cap="none" spc="0" normalizeH="0" baseline="0" noProof="0">
                  <a:ln>
                    <a:noFill/>
                  </a:ln>
                  <a:solidFill>
                    <a:srgbClr val="000000"/>
                  </a:solidFill>
                  <a:effectLst/>
                  <a:uLnTx/>
                  <a:uFillTx/>
                  <a:latin typeface="Montserrat" pitchFamily="2" charset="77"/>
                  <a:ea typeface="+mn-ea"/>
                  <a:cs typeface="Arial" panose="020B0604020202020204" pitchFamily="34" charset="0"/>
                </a:rPr>
                <a:t>Questions are encouraged</a:t>
              </a:r>
            </a:p>
          </p:txBody>
        </p:sp>
      </p:grpSp>
      <p:grpSp>
        <p:nvGrpSpPr>
          <p:cNvPr id="33" name="Group 32">
            <a:extLst>
              <a:ext uri="{FF2B5EF4-FFF2-40B4-BE49-F238E27FC236}">
                <a16:creationId xmlns:a16="http://schemas.microsoft.com/office/drawing/2014/main" id="{ADF274AD-5D61-CC62-7E0C-8E05EAB9453C}"/>
              </a:ext>
            </a:extLst>
          </p:cNvPr>
          <p:cNvGrpSpPr/>
          <p:nvPr/>
        </p:nvGrpSpPr>
        <p:grpSpPr>
          <a:xfrm>
            <a:off x="3585302" y="5207475"/>
            <a:ext cx="1559028" cy="512594"/>
            <a:chOff x="2347482" y="2342893"/>
            <a:chExt cx="832655" cy="816522"/>
          </a:xfrm>
        </p:grpSpPr>
        <p:sp>
          <p:nvSpPr>
            <p:cNvPr id="58" name="Rounded Rectangle 57">
              <a:extLst>
                <a:ext uri="{FF2B5EF4-FFF2-40B4-BE49-F238E27FC236}">
                  <a16:creationId xmlns:a16="http://schemas.microsoft.com/office/drawing/2014/main" id="{D6D3C0BA-3B73-8CA2-F807-8507067C0DB0}"/>
                </a:ext>
              </a:extLst>
            </p:cNvPr>
            <p:cNvSpPr/>
            <p:nvPr/>
          </p:nvSpPr>
          <p:spPr>
            <a:xfrm>
              <a:off x="2347482" y="2342893"/>
              <a:ext cx="832655" cy="816522"/>
            </a:xfrm>
            <a:prstGeom prst="roundRect">
              <a:avLst>
                <a:gd name="adj" fmla="val 10000"/>
              </a:avLst>
            </a:prstGeom>
          </p:spPr>
          <p:style>
            <a:lnRef idx="2">
              <a:schemeClr val="lt1">
                <a:hueOff val="0"/>
                <a:satOff val="0"/>
                <a:lumOff val="0"/>
                <a:alphaOff val="0"/>
              </a:schemeClr>
            </a:lnRef>
            <a:fillRef idx="1">
              <a:schemeClr val="accent5">
                <a:alpha val="90000"/>
                <a:hueOff val="0"/>
                <a:satOff val="0"/>
                <a:lumOff val="0"/>
                <a:alphaOff val="-15385"/>
              </a:schemeClr>
            </a:fillRef>
            <a:effectRef idx="0">
              <a:schemeClr val="accent5">
                <a:alpha val="90000"/>
                <a:hueOff val="0"/>
                <a:satOff val="0"/>
                <a:lumOff val="0"/>
                <a:alphaOff val="-15385"/>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59" name="Rounded Rectangle 14">
              <a:extLst>
                <a:ext uri="{FF2B5EF4-FFF2-40B4-BE49-F238E27FC236}">
                  <a16:creationId xmlns:a16="http://schemas.microsoft.com/office/drawing/2014/main" id="{B028EFB8-3397-5062-CE34-372454D95BC9}"/>
                </a:ext>
              </a:extLst>
            </p:cNvPr>
            <p:cNvSpPr txBox="1"/>
            <p:nvPr/>
          </p:nvSpPr>
          <p:spPr>
            <a:xfrm>
              <a:off x="2371870" y="2342893"/>
              <a:ext cx="783879" cy="792134"/>
            </a:xfrm>
            <a:prstGeom prst="rect">
              <a:avLst/>
            </a:prstGeom>
            <a:ln w="6350">
              <a:solidFill>
                <a:schemeClr val="accent3"/>
              </a:solidFill>
            </a:ln>
          </p:spPr>
          <p:style>
            <a:lnRef idx="2">
              <a:schemeClr val="accent2"/>
            </a:lnRef>
            <a:fillRef idx="1">
              <a:schemeClr val="lt1"/>
            </a:fillRef>
            <a:effectRef idx="0">
              <a:schemeClr val="accent2"/>
            </a:effectRef>
            <a:fontRef idx="minor">
              <a:schemeClr val="dk1"/>
            </a:fontRef>
          </p:style>
          <p:txBody>
            <a:bodyPr spcFirstLastPara="0" vert="horz" wrap="square" lIns="20320" tIns="15240" rIns="20320" bIns="15240" numCol="1" spcCol="1270" anchor="ctr" anchorCtr="0">
              <a:noAutofit/>
            </a:bodyPr>
            <a:lstStyle/>
            <a:p>
              <a:pPr marL="0" marR="0" lvl="0" indent="0" algn="ctr" defTabSz="355600" rtl="0" eaLnBrk="1" fontAlgn="auto" latinLnBrk="0" hangingPunct="1">
                <a:lnSpc>
                  <a:spcPct val="90000"/>
                </a:lnSpc>
                <a:spcBef>
                  <a:spcPct val="0"/>
                </a:spcBef>
                <a:spcAft>
                  <a:spcPct val="35000"/>
                </a:spcAft>
                <a:buClrTx/>
                <a:buSzTx/>
                <a:buFontTx/>
                <a:buNone/>
                <a:tabLst/>
                <a:defRPr/>
              </a:pPr>
              <a:r>
                <a:rPr kumimoji="0" lang="en-US" sz="900" b="0" i="0" u="none" strike="noStrike" kern="1200" cap="none" spc="0" normalizeH="0" baseline="0" noProof="0">
                  <a:ln>
                    <a:noFill/>
                  </a:ln>
                  <a:solidFill>
                    <a:srgbClr val="000000"/>
                  </a:solidFill>
                  <a:effectLst/>
                  <a:uLnTx/>
                  <a:uFillTx/>
                  <a:latin typeface="Montserrat" pitchFamily="2" charset="77"/>
                  <a:ea typeface="+mn-ea"/>
                  <a:cs typeface="Arial" panose="020B0604020202020204" pitchFamily="34" charset="0"/>
                </a:rPr>
                <a:t>Please ensure your understanding </a:t>
              </a:r>
            </a:p>
          </p:txBody>
        </p:sp>
      </p:grpSp>
      <p:grpSp>
        <p:nvGrpSpPr>
          <p:cNvPr id="34" name="Group 33">
            <a:extLst>
              <a:ext uri="{FF2B5EF4-FFF2-40B4-BE49-F238E27FC236}">
                <a16:creationId xmlns:a16="http://schemas.microsoft.com/office/drawing/2014/main" id="{F131B986-839C-9CAD-AA14-C57E27AD63D1}"/>
              </a:ext>
            </a:extLst>
          </p:cNvPr>
          <p:cNvGrpSpPr/>
          <p:nvPr/>
        </p:nvGrpSpPr>
        <p:grpSpPr>
          <a:xfrm>
            <a:off x="5200893" y="4654694"/>
            <a:ext cx="1559028" cy="512594"/>
            <a:chOff x="3466362" y="1185524"/>
            <a:chExt cx="832655" cy="816522"/>
          </a:xfrm>
        </p:grpSpPr>
        <p:sp>
          <p:nvSpPr>
            <p:cNvPr id="56" name="Rounded Rectangle 55">
              <a:extLst>
                <a:ext uri="{FF2B5EF4-FFF2-40B4-BE49-F238E27FC236}">
                  <a16:creationId xmlns:a16="http://schemas.microsoft.com/office/drawing/2014/main" id="{D5DBA21C-0F34-D22A-D00B-1460E3A18477}"/>
                </a:ext>
              </a:extLst>
            </p:cNvPr>
            <p:cNvSpPr/>
            <p:nvPr/>
          </p:nvSpPr>
          <p:spPr>
            <a:xfrm>
              <a:off x="3466362" y="1185524"/>
              <a:ext cx="832655" cy="816522"/>
            </a:xfrm>
            <a:prstGeom prst="roundRect">
              <a:avLst>
                <a:gd name="adj" fmla="val 10000"/>
              </a:avLst>
            </a:prstGeom>
          </p:spPr>
          <p:style>
            <a:lnRef idx="2">
              <a:schemeClr val="lt1">
                <a:hueOff val="0"/>
                <a:satOff val="0"/>
                <a:lumOff val="0"/>
                <a:alphaOff val="0"/>
              </a:schemeClr>
            </a:lnRef>
            <a:fillRef idx="1">
              <a:schemeClr val="accent5">
                <a:alpha val="90000"/>
                <a:hueOff val="0"/>
                <a:satOff val="0"/>
                <a:lumOff val="0"/>
                <a:alphaOff val="-18462"/>
              </a:schemeClr>
            </a:fillRef>
            <a:effectRef idx="0">
              <a:schemeClr val="accent5">
                <a:alpha val="90000"/>
                <a:hueOff val="0"/>
                <a:satOff val="0"/>
                <a:lumOff val="0"/>
                <a:alphaOff val="-18462"/>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57" name="Rounded Rectangle 16">
              <a:extLst>
                <a:ext uri="{FF2B5EF4-FFF2-40B4-BE49-F238E27FC236}">
                  <a16:creationId xmlns:a16="http://schemas.microsoft.com/office/drawing/2014/main" id="{26211487-27B8-DBBA-B9AD-622E556A7DF3}"/>
                </a:ext>
              </a:extLst>
            </p:cNvPr>
            <p:cNvSpPr txBox="1"/>
            <p:nvPr/>
          </p:nvSpPr>
          <p:spPr>
            <a:xfrm>
              <a:off x="3490750" y="1185524"/>
              <a:ext cx="783879" cy="792134"/>
            </a:xfrm>
            <a:prstGeom prst="rect">
              <a:avLst/>
            </a:prstGeom>
            <a:ln w="6350">
              <a:solidFill>
                <a:schemeClr val="accent3"/>
              </a:solidFill>
            </a:ln>
          </p:spPr>
          <p:style>
            <a:lnRef idx="2">
              <a:schemeClr val="accent2"/>
            </a:lnRef>
            <a:fillRef idx="1">
              <a:schemeClr val="lt1"/>
            </a:fillRef>
            <a:effectRef idx="0">
              <a:schemeClr val="accent2"/>
            </a:effectRef>
            <a:fontRef idx="minor">
              <a:schemeClr val="dk1"/>
            </a:fontRef>
          </p:style>
          <p:txBody>
            <a:bodyPr spcFirstLastPara="0" vert="horz" wrap="square" lIns="20320" tIns="15240" rIns="20320" bIns="15240" numCol="1" spcCol="1270" anchor="ctr" anchorCtr="0">
              <a:noAutofit/>
            </a:bodyPr>
            <a:lstStyle/>
            <a:p>
              <a:pPr marL="0" marR="0" lvl="0" indent="0" algn="ctr" defTabSz="355600" rtl="0" eaLnBrk="1" fontAlgn="auto" latinLnBrk="0" hangingPunct="1">
                <a:lnSpc>
                  <a:spcPct val="90000"/>
                </a:lnSpc>
                <a:spcBef>
                  <a:spcPct val="0"/>
                </a:spcBef>
                <a:spcAft>
                  <a:spcPct val="35000"/>
                </a:spcAft>
                <a:buClrTx/>
                <a:buSzTx/>
                <a:buFont typeface="Arial" panose="020B0604020202020204" pitchFamily="34" charset="0"/>
                <a:buNone/>
                <a:tabLst/>
                <a:defRPr/>
              </a:pPr>
              <a:r>
                <a:rPr kumimoji="0" lang="en-US" altLang="en-US" sz="900" b="0" i="0" u="none" strike="noStrike" kern="1200" cap="none" spc="0" normalizeH="0" baseline="0" noProof="0">
                  <a:ln>
                    <a:noFill/>
                  </a:ln>
                  <a:solidFill>
                    <a:srgbClr val="000000"/>
                  </a:solidFill>
                  <a:effectLst/>
                  <a:uLnTx/>
                  <a:uFillTx/>
                  <a:latin typeface="Montserrat" pitchFamily="2" charset="77"/>
                  <a:ea typeface="Open Sans" panose="020B0606030504020204" pitchFamily="34" charset="0"/>
                  <a:cs typeface="Open Sans" panose="020B0606030504020204" pitchFamily="34" charset="0"/>
                </a:rPr>
                <a:t>Try not to use acronyms (when possible)</a:t>
              </a:r>
              <a:endParaRPr kumimoji="0" lang="en-US" sz="900" b="0" i="0" u="none" strike="noStrike" kern="1200" cap="none" spc="0" normalizeH="0" baseline="0" noProof="0">
                <a:ln>
                  <a:noFill/>
                </a:ln>
                <a:solidFill>
                  <a:srgbClr val="000000"/>
                </a:solidFill>
                <a:effectLst/>
                <a:uLnTx/>
                <a:uFillTx/>
                <a:latin typeface="Montserrat" pitchFamily="2" charset="77"/>
                <a:ea typeface="+mn-ea"/>
                <a:cs typeface="+mn-cs"/>
              </a:endParaRPr>
            </a:p>
          </p:txBody>
        </p:sp>
      </p:grpSp>
      <p:grpSp>
        <p:nvGrpSpPr>
          <p:cNvPr id="35" name="Group 34">
            <a:extLst>
              <a:ext uri="{FF2B5EF4-FFF2-40B4-BE49-F238E27FC236}">
                <a16:creationId xmlns:a16="http://schemas.microsoft.com/office/drawing/2014/main" id="{ECA732C5-BB97-1DB5-DCAA-E73764EFC52B}"/>
              </a:ext>
            </a:extLst>
          </p:cNvPr>
          <p:cNvGrpSpPr/>
          <p:nvPr/>
        </p:nvGrpSpPr>
        <p:grpSpPr>
          <a:xfrm>
            <a:off x="5203744" y="5207475"/>
            <a:ext cx="1559028" cy="512594"/>
            <a:chOff x="3466362" y="2342893"/>
            <a:chExt cx="832655" cy="816522"/>
          </a:xfrm>
        </p:grpSpPr>
        <p:sp>
          <p:nvSpPr>
            <p:cNvPr id="54" name="Rounded Rectangle 53">
              <a:extLst>
                <a:ext uri="{FF2B5EF4-FFF2-40B4-BE49-F238E27FC236}">
                  <a16:creationId xmlns:a16="http://schemas.microsoft.com/office/drawing/2014/main" id="{D243EBB7-73FE-FB67-631E-0164DD808921}"/>
                </a:ext>
              </a:extLst>
            </p:cNvPr>
            <p:cNvSpPr/>
            <p:nvPr/>
          </p:nvSpPr>
          <p:spPr>
            <a:xfrm>
              <a:off x="3466362" y="2342893"/>
              <a:ext cx="832655" cy="816522"/>
            </a:xfrm>
            <a:prstGeom prst="roundRect">
              <a:avLst>
                <a:gd name="adj" fmla="val 10000"/>
              </a:avLst>
            </a:prstGeom>
          </p:spPr>
          <p:style>
            <a:lnRef idx="2">
              <a:schemeClr val="lt1">
                <a:hueOff val="0"/>
                <a:satOff val="0"/>
                <a:lumOff val="0"/>
                <a:alphaOff val="0"/>
              </a:schemeClr>
            </a:lnRef>
            <a:fillRef idx="1">
              <a:schemeClr val="accent5">
                <a:alpha val="90000"/>
                <a:hueOff val="0"/>
                <a:satOff val="0"/>
                <a:lumOff val="0"/>
                <a:alphaOff val="-21538"/>
              </a:schemeClr>
            </a:fillRef>
            <a:effectRef idx="0">
              <a:schemeClr val="accent5">
                <a:alpha val="90000"/>
                <a:hueOff val="0"/>
                <a:satOff val="0"/>
                <a:lumOff val="0"/>
                <a:alphaOff val="-21538"/>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55" name="Rounded Rectangle 18">
              <a:extLst>
                <a:ext uri="{FF2B5EF4-FFF2-40B4-BE49-F238E27FC236}">
                  <a16:creationId xmlns:a16="http://schemas.microsoft.com/office/drawing/2014/main" id="{5EC9452F-4CC2-AAFF-2F16-AF65F2B3F93D}"/>
                </a:ext>
              </a:extLst>
            </p:cNvPr>
            <p:cNvSpPr txBox="1"/>
            <p:nvPr/>
          </p:nvSpPr>
          <p:spPr>
            <a:xfrm>
              <a:off x="3490750" y="2342893"/>
              <a:ext cx="783879" cy="792134"/>
            </a:xfrm>
            <a:prstGeom prst="rect">
              <a:avLst/>
            </a:prstGeom>
            <a:ln w="6350">
              <a:solidFill>
                <a:schemeClr val="accent3"/>
              </a:solidFill>
            </a:ln>
          </p:spPr>
          <p:style>
            <a:lnRef idx="2">
              <a:schemeClr val="accent2"/>
            </a:lnRef>
            <a:fillRef idx="1">
              <a:schemeClr val="lt1"/>
            </a:fillRef>
            <a:effectRef idx="0">
              <a:schemeClr val="accent2"/>
            </a:effectRef>
            <a:fontRef idx="minor">
              <a:schemeClr val="dk1"/>
            </a:fontRef>
          </p:style>
          <p:txBody>
            <a:bodyPr spcFirstLastPara="0" vert="horz" wrap="square" lIns="20320" tIns="15240" rIns="20320" bIns="15240" numCol="1" spcCol="1270" anchor="ctr" anchorCtr="0">
              <a:noAutofit/>
            </a:bodyPr>
            <a:lstStyle/>
            <a:p>
              <a:pPr marL="0" marR="0" lvl="0" indent="0" algn="ctr" defTabSz="355600" rtl="0" eaLnBrk="1" fontAlgn="auto" latinLnBrk="0" hangingPunct="1">
                <a:lnSpc>
                  <a:spcPct val="90000"/>
                </a:lnSpc>
                <a:spcBef>
                  <a:spcPct val="0"/>
                </a:spcBef>
                <a:spcAft>
                  <a:spcPct val="35000"/>
                </a:spcAft>
                <a:buClrTx/>
                <a:buSzTx/>
                <a:buFontTx/>
                <a:buNone/>
                <a:tabLst/>
                <a:defRPr/>
              </a:pPr>
              <a:r>
                <a:rPr kumimoji="0" lang="en-US" sz="900" b="0" i="0" u="none" strike="noStrike" kern="1200" cap="none" spc="0" normalizeH="0" baseline="0" noProof="0">
                  <a:ln>
                    <a:noFill/>
                  </a:ln>
                  <a:solidFill>
                    <a:srgbClr val="000000"/>
                  </a:solidFill>
                  <a:effectLst/>
                  <a:uLnTx/>
                  <a:uFillTx/>
                  <a:latin typeface="Montserrat" pitchFamily="2" charset="77"/>
                  <a:ea typeface="+mn-ea"/>
                  <a:cs typeface="Arial" panose="020B0604020202020204" pitchFamily="34" charset="0"/>
                </a:rPr>
                <a:t>Resist the temptation to multitask</a:t>
              </a:r>
              <a:endParaRPr kumimoji="0" lang="en-US" sz="900" b="0" i="0" u="none" strike="noStrike" kern="1200" cap="none" spc="0" normalizeH="0" baseline="0" noProof="0">
                <a:ln>
                  <a:noFill/>
                </a:ln>
                <a:solidFill>
                  <a:srgbClr val="000000"/>
                </a:solidFill>
                <a:effectLst/>
                <a:uLnTx/>
                <a:uFillTx/>
                <a:latin typeface="Montserrat" pitchFamily="2" charset="77"/>
                <a:ea typeface="+mn-ea"/>
                <a:cs typeface="+mn-cs"/>
              </a:endParaRPr>
            </a:p>
          </p:txBody>
        </p:sp>
      </p:grpSp>
      <p:grpSp>
        <p:nvGrpSpPr>
          <p:cNvPr id="36" name="Group 35">
            <a:extLst>
              <a:ext uri="{FF2B5EF4-FFF2-40B4-BE49-F238E27FC236}">
                <a16:creationId xmlns:a16="http://schemas.microsoft.com/office/drawing/2014/main" id="{812E246B-A25B-B075-819D-19345086D873}"/>
              </a:ext>
            </a:extLst>
          </p:cNvPr>
          <p:cNvGrpSpPr/>
          <p:nvPr/>
        </p:nvGrpSpPr>
        <p:grpSpPr>
          <a:xfrm>
            <a:off x="6820286" y="4654694"/>
            <a:ext cx="1559028" cy="512594"/>
            <a:chOff x="4585242" y="1185524"/>
            <a:chExt cx="832655" cy="816522"/>
          </a:xfrm>
        </p:grpSpPr>
        <p:sp>
          <p:nvSpPr>
            <p:cNvPr id="52" name="Rounded Rectangle 51">
              <a:extLst>
                <a:ext uri="{FF2B5EF4-FFF2-40B4-BE49-F238E27FC236}">
                  <a16:creationId xmlns:a16="http://schemas.microsoft.com/office/drawing/2014/main" id="{2AE64420-989C-AB74-8CF3-63457249758E}"/>
                </a:ext>
              </a:extLst>
            </p:cNvPr>
            <p:cNvSpPr/>
            <p:nvPr/>
          </p:nvSpPr>
          <p:spPr>
            <a:xfrm>
              <a:off x="4585242" y="1185524"/>
              <a:ext cx="832655" cy="816522"/>
            </a:xfrm>
            <a:prstGeom prst="roundRect">
              <a:avLst>
                <a:gd name="adj" fmla="val 10000"/>
              </a:avLst>
            </a:prstGeom>
          </p:spPr>
          <p:style>
            <a:lnRef idx="2">
              <a:schemeClr val="lt1">
                <a:hueOff val="0"/>
                <a:satOff val="0"/>
                <a:lumOff val="0"/>
                <a:alphaOff val="0"/>
              </a:schemeClr>
            </a:lnRef>
            <a:fillRef idx="1">
              <a:schemeClr val="accent5">
                <a:alpha val="90000"/>
                <a:hueOff val="0"/>
                <a:satOff val="0"/>
                <a:lumOff val="0"/>
                <a:alphaOff val="-24615"/>
              </a:schemeClr>
            </a:fillRef>
            <a:effectRef idx="0">
              <a:schemeClr val="accent5">
                <a:alpha val="90000"/>
                <a:hueOff val="0"/>
                <a:satOff val="0"/>
                <a:lumOff val="0"/>
                <a:alphaOff val="-24615"/>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53" name="Rounded Rectangle 20">
              <a:extLst>
                <a:ext uri="{FF2B5EF4-FFF2-40B4-BE49-F238E27FC236}">
                  <a16:creationId xmlns:a16="http://schemas.microsoft.com/office/drawing/2014/main" id="{0B18D7D4-EBA3-A1B6-D8C1-FF75A7277A5C}"/>
                </a:ext>
              </a:extLst>
            </p:cNvPr>
            <p:cNvSpPr txBox="1"/>
            <p:nvPr/>
          </p:nvSpPr>
          <p:spPr>
            <a:xfrm>
              <a:off x="4609630" y="1185524"/>
              <a:ext cx="783879" cy="792134"/>
            </a:xfrm>
            <a:prstGeom prst="rect">
              <a:avLst/>
            </a:prstGeom>
            <a:ln w="6350">
              <a:solidFill>
                <a:schemeClr val="accent3"/>
              </a:solidFill>
            </a:ln>
          </p:spPr>
          <p:style>
            <a:lnRef idx="2">
              <a:schemeClr val="accent2"/>
            </a:lnRef>
            <a:fillRef idx="1">
              <a:schemeClr val="lt1"/>
            </a:fillRef>
            <a:effectRef idx="0">
              <a:schemeClr val="accent2"/>
            </a:effectRef>
            <a:fontRef idx="minor">
              <a:schemeClr val="dk1"/>
            </a:fontRef>
          </p:style>
          <p:txBody>
            <a:bodyPr spcFirstLastPara="0" vert="horz" wrap="square" lIns="20320" tIns="15240" rIns="20320" bIns="15240" numCol="1" spcCol="1270" anchor="ctr" anchorCtr="0">
              <a:noAutofit/>
            </a:bodyPr>
            <a:lstStyle/>
            <a:p>
              <a:pPr marL="0" marR="0" lvl="0" indent="0" algn="ctr" defTabSz="355600" rtl="0" eaLnBrk="1" fontAlgn="auto" latinLnBrk="0" hangingPunct="1">
                <a:lnSpc>
                  <a:spcPct val="90000"/>
                </a:lnSpc>
                <a:spcBef>
                  <a:spcPct val="0"/>
                </a:spcBef>
                <a:spcAft>
                  <a:spcPct val="350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00000"/>
                  </a:solidFill>
                  <a:effectLst/>
                  <a:uLnTx/>
                  <a:uFillTx/>
                  <a:latin typeface="Montserrat" pitchFamily="2" charset="77"/>
                  <a:ea typeface="+mn-ea"/>
                  <a:cs typeface="Arial" panose="020B0604020202020204" pitchFamily="34" charset="0"/>
                </a:rPr>
                <a:t>Unmute yourself to speak, and then mute immediately after</a:t>
              </a:r>
            </a:p>
          </p:txBody>
        </p:sp>
      </p:grpSp>
      <p:grpSp>
        <p:nvGrpSpPr>
          <p:cNvPr id="37" name="Group 36">
            <a:extLst>
              <a:ext uri="{FF2B5EF4-FFF2-40B4-BE49-F238E27FC236}">
                <a16:creationId xmlns:a16="http://schemas.microsoft.com/office/drawing/2014/main" id="{AE3ABBDF-03B8-B9C9-2776-5BC95E8BF507}"/>
              </a:ext>
            </a:extLst>
          </p:cNvPr>
          <p:cNvGrpSpPr/>
          <p:nvPr/>
        </p:nvGrpSpPr>
        <p:grpSpPr>
          <a:xfrm>
            <a:off x="6822186" y="5207475"/>
            <a:ext cx="1559028" cy="512594"/>
            <a:chOff x="4585242" y="2342893"/>
            <a:chExt cx="832655" cy="816522"/>
          </a:xfrm>
        </p:grpSpPr>
        <p:sp>
          <p:nvSpPr>
            <p:cNvPr id="50" name="Rounded Rectangle 49">
              <a:extLst>
                <a:ext uri="{FF2B5EF4-FFF2-40B4-BE49-F238E27FC236}">
                  <a16:creationId xmlns:a16="http://schemas.microsoft.com/office/drawing/2014/main" id="{37EC8D1C-41FB-7C62-0301-DCFD9A7500B7}"/>
                </a:ext>
              </a:extLst>
            </p:cNvPr>
            <p:cNvSpPr/>
            <p:nvPr/>
          </p:nvSpPr>
          <p:spPr>
            <a:xfrm>
              <a:off x="4585242" y="2342893"/>
              <a:ext cx="832655" cy="816522"/>
            </a:xfrm>
            <a:prstGeom prst="roundRect">
              <a:avLst>
                <a:gd name="adj" fmla="val 10000"/>
              </a:avLst>
            </a:prstGeom>
          </p:spPr>
          <p:style>
            <a:lnRef idx="2">
              <a:schemeClr val="lt1">
                <a:hueOff val="0"/>
                <a:satOff val="0"/>
                <a:lumOff val="0"/>
                <a:alphaOff val="0"/>
              </a:schemeClr>
            </a:lnRef>
            <a:fillRef idx="1">
              <a:schemeClr val="accent5">
                <a:alpha val="90000"/>
                <a:hueOff val="0"/>
                <a:satOff val="0"/>
                <a:lumOff val="0"/>
                <a:alphaOff val="-27692"/>
              </a:schemeClr>
            </a:fillRef>
            <a:effectRef idx="0">
              <a:schemeClr val="accent5">
                <a:alpha val="90000"/>
                <a:hueOff val="0"/>
                <a:satOff val="0"/>
                <a:lumOff val="0"/>
                <a:alphaOff val="-27692"/>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51" name="Rounded Rectangle 22">
              <a:extLst>
                <a:ext uri="{FF2B5EF4-FFF2-40B4-BE49-F238E27FC236}">
                  <a16:creationId xmlns:a16="http://schemas.microsoft.com/office/drawing/2014/main" id="{7F073BEF-C19C-67C1-C58E-699904529A59}"/>
                </a:ext>
              </a:extLst>
            </p:cNvPr>
            <p:cNvSpPr txBox="1"/>
            <p:nvPr/>
          </p:nvSpPr>
          <p:spPr>
            <a:xfrm>
              <a:off x="4609630" y="2342893"/>
              <a:ext cx="783879" cy="792134"/>
            </a:xfrm>
            <a:prstGeom prst="rect">
              <a:avLst/>
            </a:prstGeom>
            <a:ln w="6350">
              <a:solidFill>
                <a:schemeClr val="accent3"/>
              </a:solidFill>
            </a:ln>
          </p:spPr>
          <p:style>
            <a:lnRef idx="2">
              <a:schemeClr val="accent2"/>
            </a:lnRef>
            <a:fillRef idx="1">
              <a:schemeClr val="lt1"/>
            </a:fillRef>
            <a:effectRef idx="0">
              <a:schemeClr val="accent2"/>
            </a:effectRef>
            <a:fontRef idx="minor">
              <a:schemeClr val="dk1"/>
            </a:fontRef>
          </p:style>
          <p:txBody>
            <a:bodyPr spcFirstLastPara="0" vert="horz" wrap="square" lIns="20320" tIns="15240" rIns="20320" bIns="15240" numCol="1" spcCol="1270" anchor="ctr" anchorCtr="0">
              <a:noAutofit/>
            </a:bodyPr>
            <a:lstStyle/>
            <a:p>
              <a:pPr marL="0" marR="0" lvl="0" indent="0" algn="ctr" defTabSz="355600" rtl="0" eaLnBrk="1" fontAlgn="auto" latinLnBrk="0" hangingPunct="1">
                <a:lnSpc>
                  <a:spcPct val="90000"/>
                </a:lnSpc>
                <a:spcBef>
                  <a:spcPct val="0"/>
                </a:spcBef>
                <a:spcAft>
                  <a:spcPct val="350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00000"/>
                  </a:solidFill>
                  <a:effectLst/>
                  <a:uLnTx/>
                  <a:uFillTx/>
                  <a:latin typeface="Montserrat" pitchFamily="2" charset="77"/>
                  <a:ea typeface="+mn-ea"/>
                  <a:cs typeface="Arial" panose="020B0604020202020204" pitchFamily="34" charset="0"/>
                </a:rPr>
                <a:t>If background noise hand off to a colleague and mute to reestablish your environment</a:t>
              </a:r>
            </a:p>
          </p:txBody>
        </p:sp>
      </p:grpSp>
      <p:grpSp>
        <p:nvGrpSpPr>
          <p:cNvPr id="38" name="Group 37">
            <a:extLst>
              <a:ext uri="{FF2B5EF4-FFF2-40B4-BE49-F238E27FC236}">
                <a16:creationId xmlns:a16="http://schemas.microsoft.com/office/drawing/2014/main" id="{8A8CD917-B877-CE57-632D-3F83062D3B38}"/>
              </a:ext>
            </a:extLst>
          </p:cNvPr>
          <p:cNvGrpSpPr/>
          <p:nvPr/>
        </p:nvGrpSpPr>
        <p:grpSpPr>
          <a:xfrm>
            <a:off x="8439679" y="4654694"/>
            <a:ext cx="1559028" cy="512594"/>
            <a:chOff x="5704122" y="1185524"/>
            <a:chExt cx="832655" cy="816522"/>
          </a:xfrm>
        </p:grpSpPr>
        <p:sp>
          <p:nvSpPr>
            <p:cNvPr id="48" name="Rounded Rectangle 47">
              <a:extLst>
                <a:ext uri="{FF2B5EF4-FFF2-40B4-BE49-F238E27FC236}">
                  <a16:creationId xmlns:a16="http://schemas.microsoft.com/office/drawing/2014/main" id="{776C4F89-95E0-6312-42EC-22E7A60D0B66}"/>
                </a:ext>
              </a:extLst>
            </p:cNvPr>
            <p:cNvSpPr/>
            <p:nvPr/>
          </p:nvSpPr>
          <p:spPr>
            <a:xfrm>
              <a:off x="5704122" y="1185524"/>
              <a:ext cx="832655" cy="816522"/>
            </a:xfrm>
            <a:prstGeom prst="roundRect">
              <a:avLst>
                <a:gd name="adj" fmla="val 10000"/>
              </a:avLst>
            </a:prstGeom>
          </p:spPr>
          <p:style>
            <a:lnRef idx="2">
              <a:schemeClr val="lt1">
                <a:hueOff val="0"/>
                <a:satOff val="0"/>
                <a:lumOff val="0"/>
                <a:alphaOff val="0"/>
              </a:schemeClr>
            </a:lnRef>
            <a:fillRef idx="1">
              <a:schemeClr val="accent5">
                <a:alpha val="90000"/>
                <a:hueOff val="0"/>
                <a:satOff val="0"/>
                <a:lumOff val="0"/>
                <a:alphaOff val="-30769"/>
              </a:schemeClr>
            </a:fillRef>
            <a:effectRef idx="0">
              <a:schemeClr val="accent5">
                <a:alpha val="90000"/>
                <a:hueOff val="0"/>
                <a:satOff val="0"/>
                <a:lumOff val="0"/>
                <a:alphaOff val="-30769"/>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49" name="Rounded Rectangle 24">
              <a:extLst>
                <a:ext uri="{FF2B5EF4-FFF2-40B4-BE49-F238E27FC236}">
                  <a16:creationId xmlns:a16="http://schemas.microsoft.com/office/drawing/2014/main" id="{E2F7ED90-B078-8E48-8B4E-9D5655257945}"/>
                </a:ext>
              </a:extLst>
            </p:cNvPr>
            <p:cNvSpPr txBox="1"/>
            <p:nvPr/>
          </p:nvSpPr>
          <p:spPr>
            <a:xfrm>
              <a:off x="5728510" y="1185524"/>
              <a:ext cx="783879" cy="792134"/>
            </a:xfrm>
            <a:prstGeom prst="rect">
              <a:avLst/>
            </a:prstGeom>
            <a:ln w="6350">
              <a:solidFill>
                <a:schemeClr val="accent3"/>
              </a:solidFill>
            </a:ln>
          </p:spPr>
          <p:style>
            <a:lnRef idx="2">
              <a:schemeClr val="accent2"/>
            </a:lnRef>
            <a:fillRef idx="1">
              <a:schemeClr val="lt1"/>
            </a:fillRef>
            <a:effectRef idx="0">
              <a:schemeClr val="accent2"/>
            </a:effectRef>
            <a:fontRef idx="minor">
              <a:schemeClr val="dk1"/>
            </a:fontRef>
          </p:style>
          <p:txBody>
            <a:bodyPr spcFirstLastPara="0" vert="horz" wrap="square" lIns="20320" tIns="15240" rIns="20320" bIns="15240" numCol="1" spcCol="1270" anchor="ctr" anchorCtr="0">
              <a:noAutofit/>
            </a:bodyPr>
            <a:lstStyle/>
            <a:p>
              <a:pPr marL="0" marR="0" lvl="0" indent="0" algn="ctr" defTabSz="355600" rtl="0" eaLnBrk="1" fontAlgn="auto" latinLnBrk="0" hangingPunct="1">
                <a:lnSpc>
                  <a:spcPct val="90000"/>
                </a:lnSpc>
                <a:spcBef>
                  <a:spcPct val="0"/>
                </a:spcBef>
                <a:spcAft>
                  <a:spcPct val="35000"/>
                </a:spcAft>
                <a:buClrTx/>
                <a:buSzTx/>
                <a:buFontTx/>
                <a:buNone/>
                <a:tabLst/>
                <a:defRPr/>
              </a:pPr>
              <a:r>
                <a:rPr kumimoji="0" lang="en-US" sz="900" b="0" i="0" u="none" strike="noStrike" kern="1200" cap="none" spc="0" normalizeH="0" baseline="0" noProof="0">
                  <a:ln>
                    <a:noFill/>
                  </a:ln>
                  <a:solidFill>
                    <a:srgbClr val="000000"/>
                  </a:solidFill>
                  <a:effectLst/>
                  <a:uLnTx/>
                  <a:uFillTx/>
                  <a:latin typeface="Montserrat" pitchFamily="2" charset="77"/>
                  <a:ea typeface="+mn-ea"/>
                  <a:cs typeface="Arial" panose="020B0604020202020204" pitchFamily="34" charset="0"/>
                </a:rPr>
                <a:t>All questions to be posted in the meeting chat</a:t>
              </a:r>
            </a:p>
          </p:txBody>
        </p:sp>
      </p:grpSp>
      <p:grpSp>
        <p:nvGrpSpPr>
          <p:cNvPr id="39" name="Group 38">
            <a:extLst>
              <a:ext uri="{FF2B5EF4-FFF2-40B4-BE49-F238E27FC236}">
                <a16:creationId xmlns:a16="http://schemas.microsoft.com/office/drawing/2014/main" id="{1A177820-F90A-7DBC-D9DB-3920553D170E}"/>
              </a:ext>
            </a:extLst>
          </p:cNvPr>
          <p:cNvGrpSpPr/>
          <p:nvPr/>
        </p:nvGrpSpPr>
        <p:grpSpPr>
          <a:xfrm>
            <a:off x="8440628" y="5207475"/>
            <a:ext cx="1559028" cy="512594"/>
            <a:chOff x="5704122" y="2342893"/>
            <a:chExt cx="832655" cy="816522"/>
          </a:xfrm>
        </p:grpSpPr>
        <p:sp>
          <p:nvSpPr>
            <p:cNvPr id="46" name="Rounded Rectangle 45">
              <a:extLst>
                <a:ext uri="{FF2B5EF4-FFF2-40B4-BE49-F238E27FC236}">
                  <a16:creationId xmlns:a16="http://schemas.microsoft.com/office/drawing/2014/main" id="{3BC9E641-1340-E934-87D3-C78D370C35A9}"/>
                </a:ext>
              </a:extLst>
            </p:cNvPr>
            <p:cNvSpPr/>
            <p:nvPr/>
          </p:nvSpPr>
          <p:spPr>
            <a:xfrm>
              <a:off x="5704122" y="2342893"/>
              <a:ext cx="832655" cy="816522"/>
            </a:xfrm>
            <a:prstGeom prst="roundRect">
              <a:avLst>
                <a:gd name="adj" fmla="val 10000"/>
              </a:avLst>
            </a:prstGeom>
          </p:spPr>
          <p:style>
            <a:lnRef idx="2">
              <a:schemeClr val="lt1">
                <a:hueOff val="0"/>
                <a:satOff val="0"/>
                <a:lumOff val="0"/>
                <a:alphaOff val="0"/>
              </a:schemeClr>
            </a:lnRef>
            <a:fillRef idx="1">
              <a:schemeClr val="accent5">
                <a:alpha val="90000"/>
                <a:hueOff val="0"/>
                <a:satOff val="0"/>
                <a:lumOff val="0"/>
                <a:alphaOff val="-33846"/>
              </a:schemeClr>
            </a:fillRef>
            <a:effectRef idx="0">
              <a:schemeClr val="accent5">
                <a:alpha val="90000"/>
                <a:hueOff val="0"/>
                <a:satOff val="0"/>
                <a:lumOff val="0"/>
                <a:alphaOff val="-33846"/>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47" name="Rounded Rectangle 26">
              <a:extLst>
                <a:ext uri="{FF2B5EF4-FFF2-40B4-BE49-F238E27FC236}">
                  <a16:creationId xmlns:a16="http://schemas.microsoft.com/office/drawing/2014/main" id="{330372A5-555D-44FA-DB2A-332944DF0550}"/>
                </a:ext>
              </a:extLst>
            </p:cNvPr>
            <p:cNvSpPr txBox="1"/>
            <p:nvPr/>
          </p:nvSpPr>
          <p:spPr>
            <a:xfrm>
              <a:off x="5728510" y="2342893"/>
              <a:ext cx="783879" cy="792134"/>
            </a:xfrm>
            <a:prstGeom prst="rect">
              <a:avLst/>
            </a:prstGeom>
            <a:ln w="6350">
              <a:solidFill>
                <a:schemeClr val="accent3"/>
              </a:solidFill>
            </a:ln>
          </p:spPr>
          <p:style>
            <a:lnRef idx="2">
              <a:schemeClr val="accent2"/>
            </a:lnRef>
            <a:fillRef idx="1">
              <a:schemeClr val="lt1"/>
            </a:fillRef>
            <a:effectRef idx="0">
              <a:schemeClr val="accent2"/>
            </a:effectRef>
            <a:fontRef idx="minor">
              <a:schemeClr val="dk1"/>
            </a:fontRef>
          </p:style>
          <p:txBody>
            <a:bodyPr spcFirstLastPara="0" vert="horz" wrap="square" lIns="20320" tIns="15240" rIns="20320" bIns="15240" numCol="1" spcCol="1270" anchor="ctr" anchorCtr="0">
              <a:noAutofit/>
            </a:bodyPr>
            <a:lstStyle/>
            <a:p>
              <a:pPr marL="0" marR="0" lvl="0" indent="0" algn="ctr" defTabSz="355600" rtl="0" eaLnBrk="1" fontAlgn="auto" latinLnBrk="0" hangingPunct="1">
                <a:lnSpc>
                  <a:spcPct val="90000"/>
                </a:lnSpc>
                <a:spcBef>
                  <a:spcPct val="0"/>
                </a:spcBef>
                <a:spcAft>
                  <a:spcPct val="35000"/>
                </a:spcAft>
                <a:buClrTx/>
                <a:buSzTx/>
                <a:buFontTx/>
                <a:buNone/>
                <a:tabLst/>
                <a:defRPr/>
              </a:pPr>
              <a:r>
                <a:rPr kumimoji="0" lang="en-US" sz="900" b="0" i="0" u="none" strike="noStrike" kern="1200" cap="none" spc="0" normalizeH="0" baseline="0" noProof="0">
                  <a:ln>
                    <a:noFill/>
                  </a:ln>
                  <a:solidFill>
                    <a:srgbClr val="000000"/>
                  </a:solidFill>
                  <a:effectLst/>
                  <a:uLnTx/>
                  <a:uFillTx/>
                  <a:latin typeface="Montserrat" pitchFamily="2" charset="77"/>
                  <a:ea typeface="+mn-ea"/>
                  <a:cs typeface="Arial" panose="020B0604020202020204" pitchFamily="34" charset="0"/>
                </a:rPr>
                <a:t>Use the “raise hand” feature to ask questions</a:t>
              </a:r>
            </a:p>
          </p:txBody>
        </p:sp>
      </p:grpSp>
      <p:grpSp>
        <p:nvGrpSpPr>
          <p:cNvPr id="40" name="Group 39">
            <a:extLst>
              <a:ext uri="{FF2B5EF4-FFF2-40B4-BE49-F238E27FC236}">
                <a16:creationId xmlns:a16="http://schemas.microsoft.com/office/drawing/2014/main" id="{C61F1E71-17B1-1976-50A0-33A534A02632}"/>
              </a:ext>
            </a:extLst>
          </p:cNvPr>
          <p:cNvGrpSpPr/>
          <p:nvPr/>
        </p:nvGrpSpPr>
        <p:grpSpPr>
          <a:xfrm>
            <a:off x="10059069" y="4654694"/>
            <a:ext cx="1559028" cy="512594"/>
            <a:chOff x="6823002" y="1185524"/>
            <a:chExt cx="832655" cy="816522"/>
          </a:xfrm>
        </p:grpSpPr>
        <p:sp>
          <p:nvSpPr>
            <p:cNvPr id="44" name="Rounded Rectangle 43">
              <a:extLst>
                <a:ext uri="{FF2B5EF4-FFF2-40B4-BE49-F238E27FC236}">
                  <a16:creationId xmlns:a16="http://schemas.microsoft.com/office/drawing/2014/main" id="{11557442-4481-0759-17EE-A69BACFD45A7}"/>
                </a:ext>
              </a:extLst>
            </p:cNvPr>
            <p:cNvSpPr/>
            <p:nvPr/>
          </p:nvSpPr>
          <p:spPr>
            <a:xfrm>
              <a:off x="6823002" y="1185524"/>
              <a:ext cx="832655" cy="816522"/>
            </a:xfrm>
            <a:prstGeom prst="roundRect">
              <a:avLst>
                <a:gd name="adj" fmla="val 10000"/>
              </a:avLst>
            </a:prstGeom>
          </p:spPr>
          <p:style>
            <a:lnRef idx="2">
              <a:schemeClr val="lt1">
                <a:hueOff val="0"/>
                <a:satOff val="0"/>
                <a:lumOff val="0"/>
                <a:alphaOff val="0"/>
              </a:schemeClr>
            </a:lnRef>
            <a:fillRef idx="1">
              <a:schemeClr val="accent5">
                <a:alpha val="90000"/>
                <a:hueOff val="0"/>
                <a:satOff val="0"/>
                <a:lumOff val="0"/>
                <a:alphaOff val="-36923"/>
              </a:schemeClr>
            </a:fillRef>
            <a:effectRef idx="0">
              <a:schemeClr val="accent5">
                <a:alpha val="90000"/>
                <a:hueOff val="0"/>
                <a:satOff val="0"/>
                <a:lumOff val="0"/>
                <a:alphaOff val="-36923"/>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45" name="Rounded Rectangle 28">
              <a:extLst>
                <a:ext uri="{FF2B5EF4-FFF2-40B4-BE49-F238E27FC236}">
                  <a16:creationId xmlns:a16="http://schemas.microsoft.com/office/drawing/2014/main" id="{872E7D29-3F83-3E6E-EE73-F12E70863006}"/>
                </a:ext>
              </a:extLst>
            </p:cNvPr>
            <p:cNvSpPr txBox="1"/>
            <p:nvPr/>
          </p:nvSpPr>
          <p:spPr>
            <a:xfrm>
              <a:off x="6847390" y="1185524"/>
              <a:ext cx="783879" cy="792134"/>
            </a:xfrm>
            <a:prstGeom prst="rect">
              <a:avLst/>
            </a:prstGeom>
            <a:ln w="6350">
              <a:solidFill>
                <a:schemeClr val="accent3"/>
              </a:solidFill>
            </a:ln>
          </p:spPr>
          <p:style>
            <a:lnRef idx="2">
              <a:schemeClr val="accent2"/>
            </a:lnRef>
            <a:fillRef idx="1">
              <a:schemeClr val="lt1"/>
            </a:fillRef>
            <a:effectRef idx="0">
              <a:schemeClr val="accent2"/>
            </a:effectRef>
            <a:fontRef idx="minor">
              <a:schemeClr val="dk1"/>
            </a:fontRef>
          </p:style>
          <p:txBody>
            <a:bodyPr spcFirstLastPara="0" vert="horz" wrap="square" lIns="20320" tIns="15240" rIns="20320" bIns="15240" numCol="1" spcCol="1270" anchor="ctr" anchorCtr="0">
              <a:noAutofit/>
            </a:bodyPr>
            <a:lstStyle/>
            <a:p>
              <a:pPr marL="0" marR="0" lvl="0" indent="0" algn="ctr" defTabSz="355600" rtl="0" eaLnBrk="1" fontAlgn="auto" latinLnBrk="0" hangingPunct="1">
                <a:lnSpc>
                  <a:spcPct val="90000"/>
                </a:lnSpc>
                <a:spcBef>
                  <a:spcPct val="0"/>
                </a:spcBef>
                <a:spcAft>
                  <a:spcPct val="35000"/>
                </a:spcAft>
                <a:buClrTx/>
                <a:buSzTx/>
                <a:buFontTx/>
                <a:buNone/>
                <a:tabLst/>
                <a:defRPr/>
              </a:pPr>
              <a:r>
                <a:rPr kumimoji="0" lang="en-US" sz="900" b="0" i="0" u="none" strike="noStrike" kern="1200" cap="none" spc="0" normalizeH="0" baseline="0" noProof="0">
                  <a:ln>
                    <a:noFill/>
                  </a:ln>
                  <a:solidFill>
                    <a:srgbClr val="000000"/>
                  </a:solidFill>
                  <a:effectLst/>
                  <a:uLnTx/>
                  <a:uFillTx/>
                  <a:latin typeface="Montserrat" pitchFamily="2" charset="77"/>
                  <a:ea typeface="+mn-ea"/>
                  <a:cs typeface="Arial" panose="020B0604020202020204" pitchFamily="34" charset="0"/>
                </a:rPr>
                <a:t>Ensure that everyone has their cameras on when possible</a:t>
              </a:r>
              <a:endParaRPr kumimoji="0" lang="en-US" altLang="en-US" sz="900" b="0" i="0" u="none" strike="noStrike" kern="1200" cap="none" spc="0" normalizeH="0" baseline="0" noProof="0">
                <a:ln>
                  <a:noFill/>
                </a:ln>
                <a:solidFill>
                  <a:srgbClr val="000000"/>
                </a:solidFill>
                <a:effectLst/>
                <a:uLnTx/>
                <a:uFillTx/>
                <a:latin typeface="Montserrat" pitchFamily="2" charset="77"/>
                <a:ea typeface="+mn-ea"/>
                <a:cs typeface="Arial" panose="020B0604020202020204" pitchFamily="34" charset="0"/>
              </a:endParaRPr>
            </a:p>
          </p:txBody>
        </p:sp>
      </p:grpSp>
      <p:grpSp>
        <p:nvGrpSpPr>
          <p:cNvPr id="41" name="Group 40">
            <a:extLst>
              <a:ext uri="{FF2B5EF4-FFF2-40B4-BE49-F238E27FC236}">
                <a16:creationId xmlns:a16="http://schemas.microsoft.com/office/drawing/2014/main" id="{7535A541-9C01-9759-13B2-FAE9AB6C1F24}"/>
              </a:ext>
            </a:extLst>
          </p:cNvPr>
          <p:cNvGrpSpPr/>
          <p:nvPr/>
        </p:nvGrpSpPr>
        <p:grpSpPr>
          <a:xfrm>
            <a:off x="10059069" y="5207475"/>
            <a:ext cx="1559028" cy="512594"/>
            <a:chOff x="6823002" y="2342893"/>
            <a:chExt cx="832655" cy="816522"/>
          </a:xfrm>
        </p:grpSpPr>
        <p:sp>
          <p:nvSpPr>
            <p:cNvPr id="42" name="Rounded Rectangle 41">
              <a:extLst>
                <a:ext uri="{FF2B5EF4-FFF2-40B4-BE49-F238E27FC236}">
                  <a16:creationId xmlns:a16="http://schemas.microsoft.com/office/drawing/2014/main" id="{6276BDC2-CB8E-D950-817F-022948BDDC5C}"/>
                </a:ext>
              </a:extLst>
            </p:cNvPr>
            <p:cNvSpPr/>
            <p:nvPr/>
          </p:nvSpPr>
          <p:spPr>
            <a:xfrm>
              <a:off x="6823002" y="2342893"/>
              <a:ext cx="832655" cy="816522"/>
            </a:xfrm>
            <a:prstGeom prst="roundRect">
              <a:avLst>
                <a:gd name="adj" fmla="val 10000"/>
              </a:avLst>
            </a:prstGeom>
          </p:spPr>
          <p:style>
            <a:lnRef idx="2">
              <a:schemeClr val="lt1">
                <a:hueOff val="0"/>
                <a:satOff val="0"/>
                <a:lumOff val="0"/>
                <a:alphaOff val="0"/>
              </a:schemeClr>
            </a:lnRef>
            <a:fillRef idx="1">
              <a:schemeClr val="accent5">
                <a:alpha val="90000"/>
                <a:hueOff val="0"/>
                <a:satOff val="0"/>
                <a:lumOff val="0"/>
                <a:alphaOff val="-40000"/>
              </a:schemeClr>
            </a:fillRef>
            <a:effectRef idx="0">
              <a:schemeClr val="accent5">
                <a:alpha val="90000"/>
                <a:hueOff val="0"/>
                <a:satOff val="0"/>
                <a:lumOff val="0"/>
                <a:alphaOff val="-4000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43" name="Rounded Rectangle 30">
              <a:extLst>
                <a:ext uri="{FF2B5EF4-FFF2-40B4-BE49-F238E27FC236}">
                  <a16:creationId xmlns:a16="http://schemas.microsoft.com/office/drawing/2014/main" id="{B209A6BE-2FE7-642B-3E99-D3BBA631DFD9}"/>
                </a:ext>
              </a:extLst>
            </p:cNvPr>
            <p:cNvSpPr txBox="1"/>
            <p:nvPr/>
          </p:nvSpPr>
          <p:spPr>
            <a:xfrm>
              <a:off x="6847390" y="2342893"/>
              <a:ext cx="783879" cy="792134"/>
            </a:xfrm>
            <a:prstGeom prst="rect">
              <a:avLst/>
            </a:prstGeom>
            <a:ln w="6350">
              <a:solidFill>
                <a:schemeClr val="accent3"/>
              </a:solidFill>
            </a:ln>
          </p:spPr>
          <p:style>
            <a:lnRef idx="2">
              <a:schemeClr val="accent2"/>
            </a:lnRef>
            <a:fillRef idx="1">
              <a:schemeClr val="lt1"/>
            </a:fillRef>
            <a:effectRef idx="0">
              <a:schemeClr val="accent2"/>
            </a:effectRef>
            <a:fontRef idx="minor">
              <a:schemeClr val="dk1"/>
            </a:fontRef>
          </p:style>
          <p:txBody>
            <a:bodyPr spcFirstLastPara="0" vert="horz" wrap="square" lIns="20320" tIns="15240" rIns="20320" bIns="15240" numCol="1" spcCol="1270" anchor="ctr" anchorCtr="0">
              <a:noAutofit/>
            </a:bodyPr>
            <a:lstStyle/>
            <a:p>
              <a:pPr marL="0" marR="0" lvl="0" indent="0" algn="ctr" defTabSz="355600" rtl="0" eaLnBrk="1" fontAlgn="auto" latinLnBrk="0" hangingPunct="1">
                <a:lnSpc>
                  <a:spcPct val="90000"/>
                </a:lnSpc>
                <a:spcBef>
                  <a:spcPct val="0"/>
                </a:spcBef>
                <a:spcAft>
                  <a:spcPct val="35000"/>
                </a:spcAft>
                <a:buClrTx/>
                <a:buSzTx/>
                <a:buFontTx/>
                <a:buNone/>
                <a:tabLst/>
                <a:defRPr/>
              </a:pPr>
              <a:r>
                <a:rPr kumimoji="0" lang="en-US" sz="900" b="0" i="0" u="none" strike="noStrike" kern="1200" cap="none" spc="0" normalizeH="0" baseline="0" noProof="0">
                  <a:ln>
                    <a:noFill/>
                  </a:ln>
                  <a:solidFill>
                    <a:srgbClr val="000000"/>
                  </a:solidFill>
                  <a:effectLst/>
                  <a:uLnTx/>
                  <a:uFillTx/>
                  <a:latin typeface="Montserrat" pitchFamily="2" charset="77"/>
                  <a:ea typeface="+mn-ea"/>
                  <a:cs typeface="Arial" panose="020B0604020202020204" pitchFamily="34" charset="0"/>
                </a:rPr>
                <a:t>For troubleshooting, individually contact the host (Scrum Master)</a:t>
              </a:r>
              <a:endParaRPr kumimoji="0" lang="en-US" altLang="en-US" sz="900" b="0" i="0" u="none" strike="noStrike" kern="1200" cap="none" spc="0" normalizeH="0" baseline="0" noProof="0">
                <a:ln>
                  <a:noFill/>
                </a:ln>
                <a:solidFill>
                  <a:srgbClr val="000000"/>
                </a:solidFill>
                <a:effectLst/>
                <a:uLnTx/>
                <a:uFillTx/>
                <a:latin typeface="Montserrat" pitchFamily="2" charset="77"/>
                <a:ea typeface="+mn-ea"/>
                <a:cs typeface="Arial" panose="020B0604020202020204" pitchFamily="34" charset="0"/>
              </a:endParaRPr>
            </a:p>
          </p:txBody>
        </p:sp>
      </p:grpSp>
      <p:sp>
        <p:nvSpPr>
          <p:cNvPr id="71" name="TextBox 70">
            <a:extLst>
              <a:ext uri="{FF2B5EF4-FFF2-40B4-BE49-F238E27FC236}">
                <a16:creationId xmlns:a16="http://schemas.microsoft.com/office/drawing/2014/main" id="{D7ED1848-D680-5453-745E-3FD8DEB22A0F}"/>
              </a:ext>
            </a:extLst>
          </p:cNvPr>
          <p:cNvSpPr txBox="1"/>
          <p:nvPr/>
        </p:nvSpPr>
        <p:spPr>
          <a:xfrm>
            <a:off x="3278250" y="3821748"/>
            <a:ext cx="5404310"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1200"/>
              </a:spcAft>
              <a:buClrTx/>
              <a:buSzTx/>
              <a:buFontTx/>
              <a:buNone/>
              <a:tabLst/>
              <a:defRPr/>
            </a:pPr>
            <a:r>
              <a:rPr kumimoji="0" lang="en-US" sz="1800" b="1" i="0" u="none" strike="noStrike" kern="1200" cap="none" spc="0" normalizeH="0" baseline="0" noProof="0">
                <a:ln>
                  <a:noFill/>
                </a:ln>
                <a:solidFill>
                  <a:srgbClr val="0067A4"/>
                </a:solidFill>
                <a:effectLst/>
                <a:uLnTx/>
                <a:uFillTx/>
                <a:latin typeface="Montserrat" pitchFamily="2" charset="77"/>
                <a:ea typeface="+mn-ea"/>
                <a:cs typeface="+mn-cs"/>
              </a:rPr>
              <a:t>GROUND</a:t>
            </a:r>
            <a:r>
              <a:rPr kumimoji="0" lang="en-US" sz="1800" b="0" i="0" u="none" strike="noStrike" kern="1200" cap="none" spc="0" normalizeH="0" baseline="0" noProof="0">
                <a:ln>
                  <a:noFill/>
                </a:ln>
                <a:solidFill>
                  <a:srgbClr val="0067A4"/>
                </a:solidFill>
                <a:effectLst/>
                <a:uLnTx/>
                <a:uFillTx/>
                <a:latin typeface="Montserrat" pitchFamily="2" charset="77"/>
                <a:ea typeface="+mn-ea"/>
                <a:cs typeface="+mn-cs"/>
              </a:rPr>
              <a:t> </a:t>
            </a:r>
            <a:r>
              <a:rPr kumimoji="0" lang="en-US" sz="1800" b="1" i="0" u="none" strike="noStrike" kern="1200" cap="none" spc="0" normalizeH="0" baseline="0" noProof="0">
                <a:ln>
                  <a:noFill/>
                </a:ln>
                <a:solidFill>
                  <a:srgbClr val="0067A4"/>
                </a:solidFill>
                <a:effectLst/>
                <a:uLnTx/>
                <a:uFillTx/>
                <a:latin typeface="Montserrat" pitchFamily="2" charset="77"/>
                <a:ea typeface="+mn-ea"/>
                <a:cs typeface="+mn-cs"/>
              </a:rPr>
              <a:t>RULES</a:t>
            </a:r>
            <a:endParaRPr kumimoji="0" lang="en-US" sz="1800" b="1" i="0" u="none" strike="noStrike" kern="1200" cap="none" spc="0" normalizeH="0" baseline="0" noProof="0">
              <a:ln>
                <a:noFill/>
              </a:ln>
              <a:solidFill>
                <a:srgbClr val="000000"/>
              </a:solidFill>
              <a:effectLst/>
              <a:uLnTx/>
              <a:uFillTx/>
              <a:latin typeface="Montserrat" pitchFamily="2" charset="77"/>
              <a:ea typeface="+mn-ea"/>
              <a:cs typeface="+mn-cs"/>
            </a:endParaRPr>
          </a:p>
        </p:txBody>
      </p:sp>
    </p:spTree>
    <p:extLst>
      <p:ext uri="{BB962C8B-B14F-4D97-AF65-F5344CB8AC3E}">
        <p14:creationId xmlns:p14="http://schemas.microsoft.com/office/powerpoint/2010/main" val="11654858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9D662-8D48-81D6-84A2-C8709A15EA62}"/>
            </a:ext>
          </a:extLst>
        </p:cNvPr>
        <p:cNvGrpSpPr/>
        <p:nvPr/>
      </p:nvGrpSpPr>
      <p:grpSpPr>
        <a:xfrm>
          <a:off x="0" y="0"/>
          <a:ext cx="0" cy="0"/>
          <a:chOff x="0" y="0"/>
          <a:chExt cx="0" cy="0"/>
        </a:xfrm>
      </p:grpSpPr>
      <p:sp>
        <p:nvSpPr>
          <p:cNvPr id="23" name="Content Placeholder 22">
            <a:extLst>
              <a:ext uri="{FF2B5EF4-FFF2-40B4-BE49-F238E27FC236}">
                <a16:creationId xmlns:a16="http://schemas.microsoft.com/office/drawing/2014/main" id="{578B0FB8-54F3-D2E7-66F5-9C89BDE8C115}"/>
              </a:ext>
            </a:extLst>
          </p:cNvPr>
          <p:cNvSpPr>
            <a:spLocks noGrp="1"/>
          </p:cNvSpPr>
          <p:nvPr>
            <p:ph idx="1"/>
          </p:nvPr>
        </p:nvSpPr>
        <p:spPr>
          <a:xfrm>
            <a:off x="414528" y="885827"/>
            <a:ext cx="11375136" cy="5228821"/>
          </a:xfrm>
        </p:spPr>
        <p:txBody>
          <a:bodyPr vert="horz" lIns="0" tIns="45720" rIns="91440" bIns="45720" rtlCol="0" anchor="t">
            <a:normAutofit/>
          </a:bodyPr>
          <a:lstStyle/>
          <a:p>
            <a:r>
              <a:rPr lang="en-US" sz="1800">
                <a:latin typeface="Montserrat"/>
              </a:rPr>
              <a:t>Offer a holistic view of all the key elements of the to-be process including organization/roles, configuration or customization if needed, data, reporting, security, and controls requirements. Define the target-state ownership and L3 processes. Document key assumptions/decisions and outline any FRICE-W's and reports. </a:t>
            </a:r>
          </a:p>
          <a:p>
            <a:endParaRPr lang="en-US" sz="2100"/>
          </a:p>
        </p:txBody>
      </p:sp>
      <p:sp>
        <p:nvSpPr>
          <p:cNvPr id="2" name="Title 1">
            <a:extLst>
              <a:ext uri="{FF2B5EF4-FFF2-40B4-BE49-F238E27FC236}">
                <a16:creationId xmlns:a16="http://schemas.microsoft.com/office/drawing/2014/main" id="{E4186259-2493-2CC7-3EB5-E2EBF814D359}"/>
              </a:ext>
            </a:extLst>
          </p:cNvPr>
          <p:cNvSpPr>
            <a:spLocks noGrp="1"/>
          </p:cNvSpPr>
          <p:nvPr>
            <p:ph type="title"/>
          </p:nvPr>
        </p:nvSpPr>
        <p:spPr>
          <a:xfrm>
            <a:off x="247840" y="272224"/>
            <a:ext cx="11375136" cy="609600"/>
          </a:xfrm>
        </p:spPr>
        <p:txBody>
          <a:bodyPr>
            <a:normAutofit/>
          </a:bodyPr>
          <a:lstStyle/>
          <a:p>
            <a:r>
              <a:rPr lang="en-US">
                <a:latin typeface="Montserrat"/>
              </a:rPr>
              <a:t>Objective</a:t>
            </a:r>
            <a:endParaRPr lang="en-US"/>
          </a:p>
        </p:txBody>
      </p:sp>
      <p:graphicFrame>
        <p:nvGraphicFramePr>
          <p:cNvPr id="5" name="Diagram 4">
            <a:extLst>
              <a:ext uri="{FF2B5EF4-FFF2-40B4-BE49-F238E27FC236}">
                <a16:creationId xmlns:a16="http://schemas.microsoft.com/office/drawing/2014/main" id="{112F556A-3369-C152-1FCE-12AB9A0D9E14}"/>
              </a:ext>
            </a:extLst>
          </p:cNvPr>
          <p:cNvGraphicFramePr/>
          <p:nvPr>
            <p:extLst>
              <p:ext uri="{D42A27DB-BD31-4B8C-83A1-F6EECF244321}">
                <p14:modId xmlns:p14="http://schemas.microsoft.com/office/powerpoint/2010/main" val="1284552801"/>
              </p:ext>
            </p:extLst>
          </p:nvPr>
        </p:nvGraphicFramePr>
        <p:xfrm>
          <a:off x="2222500" y="2084545"/>
          <a:ext cx="7770813" cy="38751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143759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96FEC-D8F9-D4C2-CA18-D5EC593E563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19D9EF7-2836-8111-C917-EFC987C961BA}"/>
              </a:ext>
            </a:extLst>
          </p:cNvPr>
          <p:cNvSpPr>
            <a:spLocks noGrp="1"/>
          </p:cNvSpPr>
          <p:nvPr>
            <p:ph type="title"/>
          </p:nvPr>
        </p:nvSpPr>
        <p:spPr>
          <a:xfrm>
            <a:off x="153761" y="291436"/>
            <a:ext cx="3057526" cy="2207924"/>
          </a:xfrm>
        </p:spPr>
        <p:txBody>
          <a:bodyPr>
            <a:normAutofit fontScale="90000"/>
          </a:bodyPr>
          <a:lstStyle/>
          <a:p>
            <a:r>
              <a:rPr lang="en-US">
                <a:latin typeface="Montserrat"/>
              </a:rPr>
              <a:t>Maintain Person BP in CRM</a:t>
            </a:r>
          </a:p>
        </p:txBody>
      </p:sp>
      <p:sp>
        <p:nvSpPr>
          <p:cNvPr id="6" name="TextBox 5">
            <a:extLst>
              <a:ext uri="{FF2B5EF4-FFF2-40B4-BE49-F238E27FC236}">
                <a16:creationId xmlns:a16="http://schemas.microsoft.com/office/drawing/2014/main" id="{D6A8859C-1BFA-1603-9727-E25E7D0A9CDB}"/>
              </a:ext>
            </a:extLst>
          </p:cNvPr>
          <p:cNvSpPr txBox="1"/>
          <p:nvPr/>
        </p:nvSpPr>
        <p:spPr>
          <a:xfrm>
            <a:off x="1993692" y="2308485"/>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ontserrat" pitchFamily="2" charset="77"/>
              <a:ea typeface="+mn-ea"/>
              <a:cs typeface="+mn-cs"/>
            </a:endParaRPr>
          </a:p>
        </p:txBody>
      </p:sp>
      <p:pic>
        <p:nvPicPr>
          <p:cNvPr id="5" name="Picture 4">
            <a:extLst>
              <a:ext uri="{FF2B5EF4-FFF2-40B4-BE49-F238E27FC236}">
                <a16:creationId xmlns:a16="http://schemas.microsoft.com/office/drawing/2014/main" id="{8C44E7E0-67DA-C33C-A9C6-3BA68E9D8901}"/>
              </a:ext>
            </a:extLst>
          </p:cNvPr>
          <p:cNvPicPr>
            <a:picLocks noChangeAspect="1"/>
          </p:cNvPicPr>
          <p:nvPr/>
        </p:nvPicPr>
        <p:blipFill>
          <a:blip r:embed="rId2"/>
          <a:stretch>
            <a:fillRect/>
          </a:stretch>
        </p:blipFill>
        <p:spPr>
          <a:xfrm>
            <a:off x="3211286" y="248996"/>
            <a:ext cx="8826954" cy="2609984"/>
          </a:xfrm>
          <a:prstGeom prst="rect">
            <a:avLst/>
          </a:prstGeom>
          <a:effectLst>
            <a:innerShdw blurRad="114300">
              <a:prstClr val="black"/>
            </a:innerShdw>
          </a:effectLst>
        </p:spPr>
      </p:pic>
      <p:graphicFrame>
        <p:nvGraphicFramePr>
          <p:cNvPr id="13" name="Table 12">
            <a:extLst>
              <a:ext uri="{FF2B5EF4-FFF2-40B4-BE49-F238E27FC236}">
                <a16:creationId xmlns:a16="http://schemas.microsoft.com/office/drawing/2014/main" id="{66F81D9D-D0BD-3809-D4C3-CEBB28A00FE3}"/>
              </a:ext>
            </a:extLst>
          </p:cNvPr>
          <p:cNvGraphicFramePr>
            <a:graphicFrameLocks noGrp="1"/>
          </p:cNvGraphicFramePr>
          <p:nvPr/>
        </p:nvGraphicFramePr>
        <p:xfrm>
          <a:off x="1485900" y="3182106"/>
          <a:ext cx="9220200" cy="3294516"/>
        </p:xfrm>
        <a:graphic>
          <a:graphicData uri="http://schemas.openxmlformats.org/drawingml/2006/table">
            <a:tbl>
              <a:tblPr firstRow="1" bandRow="1">
                <a:tableStyleId>{5C22544A-7EE6-4342-B048-85BDC9FD1C3A}</a:tableStyleId>
              </a:tblPr>
              <a:tblGrid>
                <a:gridCol w="1583743">
                  <a:extLst>
                    <a:ext uri="{9D8B030D-6E8A-4147-A177-3AD203B41FA5}">
                      <a16:colId xmlns:a16="http://schemas.microsoft.com/office/drawing/2014/main" val="4084044958"/>
                    </a:ext>
                  </a:extLst>
                </a:gridCol>
                <a:gridCol w="948053">
                  <a:extLst>
                    <a:ext uri="{9D8B030D-6E8A-4147-A177-3AD203B41FA5}">
                      <a16:colId xmlns:a16="http://schemas.microsoft.com/office/drawing/2014/main" val="3615934369"/>
                    </a:ext>
                  </a:extLst>
                </a:gridCol>
                <a:gridCol w="806870">
                  <a:extLst>
                    <a:ext uri="{9D8B030D-6E8A-4147-A177-3AD203B41FA5}">
                      <a16:colId xmlns:a16="http://schemas.microsoft.com/office/drawing/2014/main" val="73187036"/>
                    </a:ext>
                  </a:extLst>
                </a:gridCol>
                <a:gridCol w="858926">
                  <a:extLst>
                    <a:ext uri="{9D8B030D-6E8A-4147-A177-3AD203B41FA5}">
                      <a16:colId xmlns:a16="http://schemas.microsoft.com/office/drawing/2014/main" val="3147726669"/>
                    </a:ext>
                  </a:extLst>
                </a:gridCol>
                <a:gridCol w="2142977">
                  <a:extLst>
                    <a:ext uri="{9D8B030D-6E8A-4147-A177-3AD203B41FA5}">
                      <a16:colId xmlns:a16="http://schemas.microsoft.com/office/drawing/2014/main" val="2929055363"/>
                    </a:ext>
                  </a:extLst>
                </a:gridCol>
                <a:gridCol w="913671">
                  <a:extLst>
                    <a:ext uri="{9D8B030D-6E8A-4147-A177-3AD203B41FA5}">
                      <a16:colId xmlns:a16="http://schemas.microsoft.com/office/drawing/2014/main" val="2386789796"/>
                    </a:ext>
                  </a:extLst>
                </a:gridCol>
                <a:gridCol w="890941">
                  <a:extLst>
                    <a:ext uri="{9D8B030D-6E8A-4147-A177-3AD203B41FA5}">
                      <a16:colId xmlns:a16="http://schemas.microsoft.com/office/drawing/2014/main" val="2536028979"/>
                    </a:ext>
                  </a:extLst>
                </a:gridCol>
                <a:gridCol w="1075019">
                  <a:extLst>
                    <a:ext uri="{9D8B030D-6E8A-4147-A177-3AD203B41FA5}">
                      <a16:colId xmlns:a16="http://schemas.microsoft.com/office/drawing/2014/main" val="1126145318"/>
                    </a:ext>
                  </a:extLst>
                </a:gridCol>
              </a:tblGrid>
              <a:tr h="253588">
                <a:tc>
                  <a:txBody>
                    <a:bodyPr/>
                    <a:lstStyle/>
                    <a:p>
                      <a:pPr algn="ctr"/>
                      <a:r>
                        <a:rPr lang="en-US" sz="1050"/>
                        <a:t>Field</a:t>
                      </a:r>
                    </a:p>
                  </a:txBody>
                  <a:tcPr anchor="ctr"/>
                </a:tc>
                <a:tc>
                  <a:txBody>
                    <a:bodyPr/>
                    <a:lstStyle/>
                    <a:p>
                      <a:pPr algn="ctr"/>
                      <a:r>
                        <a:rPr lang="en-US" sz="1050"/>
                        <a:t>Mandatory</a:t>
                      </a:r>
                    </a:p>
                  </a:txBody>
                  <a:tcPr anchor="ctr"/>
                </a:tc>
                <a:tc>
                  <a:txBody>
                    <a:bodyPr/>
                    <a:lstStyle/>
                    <a:p>
                      <a:pPr algn="ctr"/>
                      <a:r>
                        <a:rPr lang="en-US" sz="1050"/>
                        <a:t>Optional</a:t>
                      </a:r>
                    </a:p>
                  </a:txBody>
                  <a:tcPr anchor="ctr"/>
                </a:tc>
                <a:tc>
                  <a:txBody>
                    <a:bodyPr/>
                    <a:lstStyle/>
                    <a:p>
                      <a:pPr algn="ctr"/>
                      <a:r>
                        <a:rPr lang="en-US" sz="1050"/>
                        <a:t>Defaulted</a:t>
                      </a:r>
                    </a:p>
                  </a:txBody>
                  <a:tcPr anchor="ctr"/>
                </a:tc>
                <a:tc>
                  <a:txBody>
                    <a:bodyPr/>
                    <a:lstStyle/>
                    <a:p>
                      <a:pPr algn="ctr"/>
                      <a:r>
                        <a:rPr lang="en-US" sz="1050"/>
                        <a:t>Field</a:t>
                      </a:r>
                    </a:p>
                  </a:txBody>
                  <a:tcPr anchor="ctr"/>
                </a:tc>
                <a:tc>
                  <a:txBody>
                    <a:bodyPr/>
                    <a:lstStyle/>
                    <a:p>
                      <a:pPr algn="ctr"/>
                      <a:r>
                        <a:rPr lang="en-US" sz="1050"/>
                        <a:t>Mandatory</a:t>
                      </a:r>
                    </a:p>
                  </a:txBody>
                  <a:tcPr anchor="ctr"/>
                </a:tc>
                <a:tc>
                  <a:txBody>
                    <a:bodyPr/>
                    <a:lstStyle/>
                    <a:p>
                      <a:pPr algn="ctr"/>
                      <a:r>
                        <a:rPr lang="en-US" sz="1050"/>
                        <a:t>Optional</a:t>
                      </a:r>
                    </a:p>
                  </a:txBody>
                  <a:tcPr anchor="ctr"/>
                </a:tc>
                <a:tc>
                  <a:txBody>
                    <a:bodyPr/>
                    <a:lstStyle/>
                    <a:p>
                      <a:pPr algn="ctr"/>
                      <a:r>
                        <a:rPr lang="en-US" sz="1050"/>
                        <a:t>Defaulted</a:t>
                      </a:r>
                    </a:p>
                  </a:txBody>
                  <a:tcPr anchor="ctr"/>
                </a:tc>
                <a:extLst>
                  <a:ext uri="{0D108BD9-81ED-4DB2-BD59-A6C34878D82A}">
                    <a16:rowId xmlns:a16="http://schemas.microsoft.com/office/drawing/2014/main" val="4282288673"/>
                  </a:ext>
                </a:extLst>
              </a:tr>
              <a:tr h="253588">
                <a:tc>
                  <a:txBody>
                    <a:bodyPr/>
                    <a:lstStyle/>
                    <a:p>
                      <a:r>
                        <a:rPr lang="en-US" sz="1050"/>
                        <a:t>First Name</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endParaRPr lang="en-US" sz="1050"/>
                    </a:p>
                  </a:txBody>
                  <a:tcPr anchor="ctr"/>
                </a:tc>
                <a:tc>
                  <a:txBody>
                    <a:bodyPr/>
                    <a:lstStyle/>
                    <a:p>
                      <a:r>
                        <a:rPr lang="en-US" sz="1050"/>
                        <a:t>Apartment</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3849373528"/>
                  </a:ext>
                </a:extLst>
              </a:tr>
              <a:tr h="253588">
                <a:tc>
                  <a:txBody>
                    <a:bodyPr/>
                    <a:lstStyle/>
                    <a:p>
                      <a:r>
                        <a:rPr lang="en-US" sz="1050"/>
                        <a:t>Last Name</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endParaRPr lang="en-US" sz="1050"/>
                    </a:p>
                  </a:txBody>
                  <a:tcPr anchor="ctr"/>
                </a:tc>
                <a:tc>
                  <a:txBody>
                    <a:bodyPr/>
                    <a:lstStyle/>
                    <a:p>
                      <a:r>
                        <a:rPr lang="en-US" sz="1050"/>
                        <a:t>Building</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100861940"/>
                  </a:ext>
                </a:extLst>
              </a:tr>
              <a:tr h="253588">
                <a:tc>
                  <a:txBody>
                    <a:bodyPr/>
                    <a:lstStyle/>
                    <a:p>
                      <a:r>
                        <a:rPr lang="en-US" sz="1050"/>
                        <a:t>Middle Name</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r>
                        <a:rPr lang="en-US" sz="1050"/>
                        <a:t>Room</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3011119898"/>
                  </a:ext>
                </a:extLst>
              </a:tr>
              <a:tr h="253588">
                <a:tc>
                  <a:txBody>
                    <a:bodyPr/>
                    <a:lstStyle/>
                    <a:p>
                      <a:r>
                        <a:rPr lang="en-US" sz="1050"/>
                        <a:t>Title</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r>
                        <a:rPr lang="en-US" sz="1050"/>
                        <a:t>Floor</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2045713161"/>
                  </a:ext>
                </a:extLst>
              </a:tr>
              <a:tr h="253588">
                <a:tc>
                  <a:txBody>
                    <a:bodyPr/>
                    <a:lstStyle/>
                    <a:p>
                      <a:r>
                        <a:rPr lang="en-US" sz="1050"/>
                        <a:t>Suffix</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r>
                        <a:rPr lang="en-US" sz="1050"/>
                        <a:t>City</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endParaRPr lang="en-US" sz="1050"/>
                    </a:p>
                  </a:txBody>
                  <a:tcPr anchor="ctr"/>
                </a:tc>
                <a:extLst>
                  <a:ext uri="{0D108BD9-81ED-4DB2-BD59-A6C34878D82A}">
                    <a16:rowId xmlns:a16="http://schemas.microsoft.com/office/drawing/2014/main" val="3815704308"/>
                  </a:ext>
                </a:extLst>
              </a:tr>
              <a:tr h="253588">
                <a:tc>
                  <a:txBody>
                    <a:bodyPr/>
                    <a:lstStyle/>
                    <a:p>
                      <a:r>
                        <a:rPr lang="en-US" sz="1050"/>
                        <a:t>Drivers License #</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r>
                        <a:rPr lang="en-US" sz="1050"/>
                        <a:t>State</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endParaRPr lang="en-US" sz="1050"/>
                    </a:p>
                  </a:txBody>
                  <a:tcPr anchor="ctr"/>
                </a:tc>
                <a:extLst>
                  <a:ext uri="{0D108BD9-81ED-4DB2-BD59-A6C34878D82A}">
                    <a16:rowId xmlns:a16="http://schemas.microsoft.com/office/drawing/2014/main" val="2729228727"/>
                  </a:ext>
                </a:extLst>
              </a:tr>
              <a:tr h="253588">
                <a:tc>
                  <a:txBody>
                    <a:bodyPr/>
                    <a:lstStyle/>
                    <a:p>
                      <a:r>
                        <a:rPr lang="en-US" sz="1050"/>
                        <a:t>Drivers License State</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r>
                        <a:rPr lang="en-US" sz="1050"/>
                        <a:t>Zip Code</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endParaRPr lang="en-US" sz="1050"/>
                    </a:p>
                  </a:txBody>
                  <a:tcPr anchor="ctr"/>
                </a:tc>
                <a:extLst>
                  <a:ext uri="{0D108BD9-81ED-4DB2-BD59-A6C34878D82A}">
                    <a16:rowId xmlns:a16="http://schemas.microsoft.com/office/drawing/2014/main" val="2316147996"/>
                  </a:ext>
                </a:extLst>
              </a:tr>
              <a:tr h="253588">
                <a:tc>
                  <a:txBody>
                    <a:bodyPr/>
                    <a:lstStyle/>
                    <a:p>
                      <a:r>
                        <a:rPr lang="en-US" sz="1050"/>
                        <a:t>Drivers License Country </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r>
                        <a:rPr lang="en-US" sz="1050"/>
                        <a:t>Country</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r>
                        <a:rPr lang="en-US" sz="1050"/>
                        <a:t>X</a:t>
                      </a:r>
                    </a:p>
                  </a:txBody>
                  <a:tcPr anchor="ctr"/>
                </a:tc>
                <a:extLst>
                  <a:ext uri="{0D108BD9-81ED-4DB2-BD59-A6C34878D82A}">
                    <a16:rowId xmlns:a16="http://schemas.microsoft.com/office/drawing/2014/main" val="3573349906"/>
                  </a:ext>
                </a:extLst>
              </a:tr>
              <a:tr h="253588">
                <a:tc>
                  <a:txBody>
                    <a:bodyPr/>
                    <a:lstStyle/>
                    <a:p>
                      <a:r>
                        <a:rPr lang="en-US" sz="1050"/>
                        <a:t>Social Security #</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r>
                        <a:rPr lang="en-US" sz="1050"/>
                        <a:t>PMB</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2970660839"/>
                  </a:ext>
                </a:extLst>
              </a:tr>
              <a:tr h="253588">
                <a:tc>
                  <a:txBody>
                    <a:bodyPr/>
                    <a:lstStyle/>
                    <a:p>
                      <a:r>
                        <a:rPr lang="en-US" sz="1050"/>
                        <a:t>Tax Jurisdiction</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r>
                        <a:rPr lang="en-US" sz="1050"/>
                        <a:t>X</a:t>
                      </a:r>
                    </a:p>
                  </a:txBody>
                  <a:tcPr anchor="ctr"/>
                </a:tc>
                <a:tc>
                  <a:txBody>
                    <a:bodyPr/>
                    <a:lstStyle/>
                    <a:p>
                      <a:r>
                        <a:rPr lang="en-US" sz="1050"/>
                        <a:t>Address Dependent Landline #</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385980212"/>
                  </a:ext>
                </a:extLst>
              </a:tr>
              <a:tr h="253588">
                <a:tc>
                  <a:txBody>
                    <a:bodyPr/>
                    <a:lstStyle/>
                    <a:p>
                      <a:r>
                        <a:rPr lang="en-US" sz="1050"/>
                        <a:t>House</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r>
                        <a:rPr lang="en-US" sz="1050"/>
                        <a:t>Address Dependent Mobile #</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1003096985"/>
                  </a:ext>
                </a:extLst>
              </a:tr>
              <a:tr h="171298">
                <a:tc>
                  <a:txBody>
                    <a:bodyPr/>
                    <a:lstStyle/>
                    <a:p>
                      <a:r>
                        <a:rPr lang="en-US" sz="1050"/>
                        <a:t>Street</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endParaRPr lang="en-US" sz="1050"/>
                    </a:p>
                  </a:txBody>
                  <a:tcPr anchor="ctr"/>
                </a:tc>
                <a:tc>
                  <a:txBody>
                    <a:bodyPr/>
                    <a:lstStyle/>
                    <a:p>
                      <a:r>
                        <a:rPr lang="en-US" sz="1050"/>
                        <a:t>Address Dependent Email</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3242324598"/>
                  </a:ext>
                </a:extLst>
              </a:tr>
            </a:tbl>
          </a:graphicData>
        </a:graphic>
      </p:graphicFrame>
    </p:spTree>
    <p:extLst>
      <p:ext uri="{BB962C8B-B14F-4D97-AF65-F5344CB8AC3E}">
        <p14:creationId xmlns:p14="http://schemas.microsoft.com/office/powerpoint/2010/main" val="23917442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6x9 PowertPoint Template-CE-Jan.2019-AFC">
  <a:themeElements>
    <a:clrScheme name="2024 Color Pallette">
      <a:dk1>
        <a:srgbClr val="000000"/>
      </a:dk1>
      <a:lt1>
        <a:srgbClr val="FFFEFE"/>
      </a:lt1>
      <a:dk2>
        <a:srgbClr val="454947"/>
      </a:dk2>
      <a:lt2>
        <a:srgbClr val="E3E4E3"/>
      </a:lt2>
      <a:accent1>
        <a:srgbClr val="0067A4"/>
      </a:accent1>
      <a:accent2>
        <a:srgbClr val="84BE41"/>
      </a:accent2>
      <a:accent3>
        <a:srgbClr val="E3E4E3"/>
      </a:accent3>
      <a:accent4>
        <a:srgbClr val="23425F"/>
      </a:accent4>
      <a:accent5>
        <a:srgbClr val="F5BB25"/>
      </a:accent5>
      <a:accent6>
        <a:srgbClr val="B4B4B3"/>
      </a:accent6>
      <a:hlink>
        <a:srgbClr val="0067A4"/>
      </a:hlink>
      <a:folHlink>
        <a:srgbClr val="B4B4B3"/>
      </a:folHlink>
    </a:clrScheme>
    <a:fontScheme name="2024 Montserrat">
      <a:majorFont>
        <a:latin typeface="Montserrat"/>
        <a:ea typeface=""/>
        <a:cs typeface=""/>
      </a:majorFont>
      <a:minorFont>
        <a:latin typeface="Montserra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3175">
          <a:solidFill>
            <a:schemeClr val="tx2"/>
          </a:solidFill>
        </a:ln>
        <a:effectLst/>
      </a:spPr>
      <a:bodyPr rtlCol="0" anchor="ctr"/>
      <a:lstStyle>
        <a:defPPr algn="ctr">
          <a:defRPr sz="1000" dirty="0">
            <a:latin typeface="Montserrat" pitchFamily="2" charset="77"/>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ln>
          <a:solidFill>
            <a:schemeClr val="bg2"/>
          </a:solidFill>
        </a:ln>
      </a:spPr>
      <a:bodyPr wrap="square" rtlCol="0">
        <a:spAutoFit/>
      </a:bodyPr>
      <a:lstStyle>
        <a:defPPr algn="l">
          <a:defRPr sz="1000" dirty="0">
            <a:latin typeface="Montserrat" pitchFamily="2" charset="77"/>
          </a:defRPr>
        </a:defPPr>
      </a:lstStyle>
    </a:txDef>
  </a:objectDefaults>
  <a:extraClrSchemeLst/>
  <a:extLst>
    <a:ext uri="{05A4C25C-085E-4340-85A3-A5531E510DB2}">
      <thm15:themeFamily xmlns:thm15="http://schemas.microsoft.com/office/thememl/2012/main" name="2024 All Purpose PowerPoint Template.potx" id="{84CB3BC2-CE68-044F-9772-13EBC42BCB48}" vid="{4FEEE54B-C9A9-9B47-9C99-2B91212D142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301e0a56-4899-4cce-a214-5e425f318dcb">
      <Terms xmlns="http://schemas.microsoft.com/office/infopath/2007/PartnerControls"/>
    </lcf76f155ced4ddcb4097134ff3c332f>
    <TaxCatchAll xmlns="2c7fe448-207e-4aca-804d-051f84c484d7">
      <Value>4</Value>
    </TaxCatchAll>
    <i0f84bba906045b4af568ee102a52dcb xmlns="2c7fe448-207e-4aca-804d-051f84c484d7">
      <Terms xmlns="http://schemas.microsoft.com/office/infopath/2007/PartnerControls">
        <TermInfo xmlns="http://schemas.microsoft.com/office/infopath/2007/PartnerControls">
          <TermName xmlns="http://schemas.microsoft.com/office/infopath/2007/PartnerControls">COR-104 Policies and Procedures</TermName>
          <TermId xmlns="http://schemas.microsoft.com/office/infopath/2007/PartnerControls">23fe8a5f-9220-44d9-ae32-6aebd451fecc</TermId>
        </TermInfo>
      </Terms>
    </i0f84bba906045b4af568ee102a52dcb>
    <RSC_x0020_Event_x0020_Date xmlns="a433be04-1063-452b-9ab8-ba06373cb7cb"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85E4EB0480BDD4BA0725FDA835A98E9" ma:contentTypeVersion="12" ma:contentTypeDescription="Create a new document." ma:contentTypeScope="" ma:versionID="a7e85cd843c542c305e66a5ac0a6561c">
  <xsd:schema xmlns:xsd="http://www.w3.org/2001/XMLSchema" xmlns:xs="http://www.w3.org/2001/XMLSchema" xmlns:p="http://schemas.microsoft.com/office/2006/metadata/properties" xmlns:ns2="a433be04-1063-452b-9ab8-ba06373cb7cb" xmlns:ns3="2c7fe448-207e-4aca-804d-051f84c484d7" xmlns:ns4="301e0a56-4899-4cce-a214-5e425f318dcb" targetNamespace="http://schemas.microsoft.com/office/2006/metadata/properties" ma:root="true" ma:fieldsID="30d58687421f0a6c39a35b55d9f36047" ns2:_="" ns3:_="" ns4:_="">
    <xsd:import namespace="a433be04-1063-452b-9ab8-ba06373cb7cb"/>
    <xsd:import namespace="2c7fe448-207e-4aca-804d-051f84c484d7"/>
    <xsd:import namespace="301e0a56-4899-4cce-a214-5e425f318dcb"/>
    <xsd:element name="properties">
      <xsd:complexType>
        <xsd:sequence>
          <xsd:element name="documentManagement">
            <xsd:complexType>
              <xsd:all>
                <xsd:element ref="ns2:RSC_x0020_Event_x0020_Date" minOccurs="0"/>
                <xsd:element ref="ns3:i0f84bba906045b4af568ee102a52dcb" minOccurs="0"/>
                <xsd:element ref="ns3:TaxCatchAll" minOccurs="0"/>
                <xsd:element ref="ns4:MediaServiceMetadata" minOccurs="0"/>
                <xsd:element ref="ns4:MediaServiceFastMetadata" minOccurs="0"/>
                <xsd:element ref="ns4:MediaServiceSearchProperties" minOccurs="0"/>
                <xsd:element ref="ns4:MediaServiceDateTaken" minOccurs="0"/>
                <xsd:element ref="ns4:lcf76f155ced4ddcb4097134ff3c332f" minOccurs="0"/>
                <xsd:element ref="ns4:MediaServiceOCR" minOccurs="0"/>
                <xsd:element ref="ns4:MediaServiceGenerationTime" minOccurs="0"/>
                <xsd:element ref="ns4: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33be04-1063-452b-9ab8-ba06373cb7cb" elementFormDefault="qualified">
    <xsd:import namespace="http://schemas.microsoft.com/office/2006/documentManagement/types"/>
    <xsd:import namespace="http://schemas.microsoft.com/office/infopath/2007/PartnerControls"/>
    <xsd:element name="RSC_x0020_Event_x0020_Date" ma:index="2" nillable="true" ma:displayName="RSC Event Date" ma:default="" ma:description="This is used for retention purpose" ma:format="DateOnly" ma:internalName="RSC_x0020_Event_x0020_Dat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2c7fe448-207e-4aca-804d-051f84c484d7" elementFormDefault="qualified">
    <xsd:import namespace="http://schemas.microsoft.com/office/2006/documentManagement/types"/>
    <xsd:import namespace="http://schemas.microsoft.com/office/infopath/2007/PartnerControls"/>
    <xsd:element name="i0f84bba906045b4af568ee102a52dcb" ma:index="10" nillable="true" ma:taxonomy="true" ma:internalName="i0f84bba906045b4af568ee102a52dcb" ma:taxonomyFieldName="RevIMBCS" ma:displayName="Record Series Code" ma:indexed="true" ma:default="1;#Default RSC|9a6b99e8-c984-4e1f-adbd-d33c0db777c9" ma:fieldId="{20f84bba-9060-45b4-af56-8ee102a52dcb}" ma:sspId="eeb413d7-29a7-49c8-b3b9-887ddee13f64" ma:termSetId="7f59b463-bd21-44ec-893d-1d24de4ba12e" ma:anchorId="00000000-0000-0000-0000-000000000000" ma:open="false" ma:isKeyword="false">
      <xsd:complexType>
        <xsd:sequence>
          <xsd:element ref="pc:Terms" minOccurs="0" maxOccurs="1"/>
        </xsd:sequence>
      </xsd:complexType>
    </xsd:element>
    <xsd:element name="TaxCatchAll" ma:index="11" nillable="true" ma:displayName="Taxonomy Catch All Column" ma:hidden="true" ma:list="{0ec71dd2-9a89-4594-bd42-1ef39577ba0a}" ma:internalName="TaxCatchAll" ma:showField="CatchAllData" ma:web="2c7fe448-207e-4aca-804d-051f84c484d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301e0a56-4899-4cce-a214-5e425f318dcb" elementFormDefault="qualified">
    <xsd:import namespace="http://schemas.microsoft.com/office/2006/documentManagement/types"/>
    <xsd:import namespace="http://schemas.microsoft.com/office/infopath/2007/PartnerControls"/>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eeb413d7-29a7-49c8-b3b9-887ddee13f64"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mso-contentType ?>
<SharedContentType xmlns="Microsoft.SharePoint.Taxonomy.ContentTypeSync" SourceId="eeb413d7-29a7-49c8-b3b9-887ddee13f64" ContentTypeId="0x01" PreviousValue="false"/>
</file>

<file path=customXml/itemProps1.xml><?xml version="1.0" encoding="utf-8"?>
<ds:datastoreItem xmlns:ds="http://schemas.openxmlformats.org/officeDocument/2006/customXml" ds:itemID="{6934203E-F84F-42A1-BE7F-2ED863C99AA5}">
  <ds:schemaRefs>
    <ds:schemaRef ds:uri="a433be04-1063-452b-9ab8-ba06373cb7cb"/>
    <ds:schemaRef ds:uri="http://purl.org/dc/dcmitype/"/>
    <ds:schemaRef ds:uri="http://purl.org/dc/elements/1.1/"/>
    <ds:schemaRef ds:uri="http://www.w3.org/XML/1998/namespace"/>
    <ds:schemaRef ds:uri="http://purl.org/dc/terms/"/>
    <ds:schemaRef ds:uri="http://schemas.microsoft.com/office/2006/documentManagement/types"/>
    <ds:schemaRef ds:uri="http://schemas.microsoft.com/office/infopath/2007/PartnerControls"/>
    <ds:schemaRef ds:uri="http://schemas.openxmlformats.org/package/2006/metadata/core-properties"/>
    <ds:schemaRef ds:uri="301e0a56-4899-4cce-a214-5e425f318dcb"/>
    <ds:schemaRef ds:uri="2c7fe448-207e-4aca-804d-051f84c484d7"/>
    <ds:schemaRef ds:uri="http://schemas.microsoft.com/office/2006/metadata/properties"/>
  </ds:schemaRefs>
</ds:datastoreItem>
</file>

<file path=customXml/itemProps2.xml><?xml version="1.0" encoding="utf-8"?>
<ds:datastoreItem xmlns:ds="http://schemas.openxmlformats.org/officeDocument/2006/customXml" ds:itemID="{8E5C41F0-1A8C-4F27-98CC-41CB6F8C0276}">
  <ds:schemaRefs>
    <ds:schemaRef ds:uri="2c7fe448-207e-4aca-804d-051f84c484d7"/>
    <ds:schemaRef ds:uri="301e0a56-4899-4cce-a214-5e425f318dcb"/>
    <ds:schemaRef ds:uri="a433be04-1063-452b-9ab8-ba06373cb7c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ADCFE08-E000-4E3C-9310-2C6D30497FD7}">
  <ds:schemaRefs>
    <ds:schemaRef ds:uri="http://schemas.microsoft.com/sharepoint/v3/contenttype/forms"/>
  </ds:schemaRefs>
</ds:datastoreItem>
</file>

<file path=customXml/itemProps4.xml><?xml version="1.0" encoding="utf-8"?>
<ds:datastoreItem xmlns:ds="http://schemas.openxmlformats.org/officeDocument/2006/customXml" ds:itemID="{0F335610-4AA4-4FE7-AF91-F45CC40938C5}">
  <ds:schemaRefs>
    <ds:schemaRef ds:uri="Microsoft.SharePoint.Taxonomy.ContentTypeSync"/>
  </ds:schemaRefs>
</ds:datastoreItem>
</file>

<file path=docProps/app.xml><?xml version="1.0" encoding="utf-8"?>
<Properties xmlns="http://schemas.openxmlformats.org/officeDocument/2006/extended-properties" xmlns:vt="http://schemas.openxmlformats.org/officeDocument/2006/docPropsVTypes">
  <TotalTime>0</TotalTime>
  <Words>6016</Words>
  <Application>Microsoft Office PowerPoint</Application>
  <PresentationFormat>Widescreen</PresentationFormat>
  <Paragraphs>1420</Paragraphs>
  <Slides>61</Slides>
  <Notes>4</Notes>
  <HiddenSlides>1</HiddenSlides>
  <MMClips>0</MMClips>
  <ScaleCrop>false</ScaleCrop>
  <HeadingPairs>
    <vt:vector size="4" baseType="variant">
      <vt:variant>
        <vt:lpstr>Theme</vt:lpstr>
      </vt:variant>
      <vt:variant>
        <vt:i4>2</vt:i4>
      </vt:variant>
      <vt:variant>
        <vt:lpstr>Slide Titles</vt:lpstr>
      </vt:variant>
      <vt:variant>
        <vt:i4>61</vt:i4>
      </vt:variant>
    </vt:vector>
  </HeadingPairs>
  <TitlesOfParts>
    <vt:vector size="63" baseType="lpstr">
      <vt:lpstr>Office Theme</vt:lpstr>
      <vt:lpstr>16x9 PowertPoint Template-CE-Jan.2019-AFC</vt:lpstr>
      <vt:lpstr>Create and Maintain Business Master Data  Workshop A-1  Jose Diaz and Mohanta Das 5/19/26</vt:lpstr>
      <vt:lpstr>Overarching Design Principles</vt:lpstr>
      <vt:lpstr>PowerPoint Presentation</vt:lpstr>
      <vt:lpstr>01 Scope, Purpose, Objective  </vt:lpstr>
      <vt:lpstr>Scope, Purpose, Objectives</vt:lpstr>
      <vt:lpstr>Ownership</vt:lpstr>
      <vt:lpstr>02 (L3) Create Business Master Data</vt:lpstr>
      <vt:lpstr>Business Partner Number Ranges and Replication</vt:lpstr>
      <vt:lpstr>BP Roles </vt:lpstr>
      <vt:lpstr>Custom Business Partner Role Mapping  </vt:lpstr>
      <vt:lpstr>Create Person BP in CRM</vt:lpstr>
      <vt:lpstr>Create Organization BP in CRM</vt:lpstr>
      <vt:lpstr>Titles</vt:lpstr>
      <vt:lpstr>Create Contact Person</vt:lpstr>
      <vt:lpstr>Contract Account Number Ranges and Replication</vt:lpstr>
      <vt:lpstr>Create Contract Account in CRM</vt:lpstr>
      <vt:lpstr>Identification Types </vt:lpstr>
      <vt:lpstr>BP ID Types - 78 </vt:lpstr>
      <vt:lpstr>BP Relationship Categories </vt:lpstr>
      <vt:lpstr>BP Relationships Categories in S4HANA </vt:lpstr>
      <vt:lpstr>Create an Individual Customer in Service Cloud v2</vt:lpstr>
      <vt:lpstr>Create an Account in Service Cloud v2</vt:lpstr>
      <vt:lpstr>Create an Individual Customer, Contact, or Account in Service Cloud v2</vt:lpstr>
      <vt:lpstr>Create an Individual Customer, Contact, or Account in Service Cloud v2</vt:lpstr>
      <vt:lpstr>Create an Individual Contact in Service Cloud v2</vt:lpstr>
      <vt:lpstr>BREAK!  - 10 mins</vt:lpstr>
      <vt:lpstr>03 (L3) Maintain Business Master Data</vt:lpstr>
      <vt:lpstr>Maintain Person BP in CRM</vt:lpstr>
      <vt:lpstr>Maintain Org BP in CRM</vt:lpstr>
      <vt:lpstr>Maintain Org BP in CRM</vt:lpstr>
      <vt:lpstr>Maintain Business Agreement</vt:lpstr>
      <vt:lpstr>Maintain Business Agreement in CRM</vt:lpstr>
      <vt:lpstr>Maintain Individual Customer in Service Cloud v2</vt:lpstr>
      <vt:lpstr>Maintain Account in Service Cloud v2</vt:lpstr>
      <vt:lpstr>Maintain Contact in Service Cloud v2</vt:lpstr>
      <vt:lpstr>04 Current &amp; Future State Assumptions</vt:lpstr>
      <vt:lpstr>Assumptions for Future State</vt:lpstr>
      <vt:lpstr>05 (L3) Manage Financial Details</vt:lpstr>
      <vt:lpstr>Data Environments</vt:lpstr>
      <vt:lpstr>Account History</vt:lpstr>
      <vt:lpstr>Open Item List</vt:lpstr>
      <vt:lpstr>Payments List</vt:lpstr>
      <vt:lpstr>Display Itemized Statement</vt:lpstr>
      <vt:lpstr>Outage Credit Report</vt:lpstr>
      <vt:lpstr>05 Key Decisions </vt:lpstr>
      <vt:lpstr>Key Open Question</vt:lpstr>
      <vt:lpstr>Potential Decisions captured in BMD Workshop A-1</vt:lpstr>
      <vt:lpstr>06 FRICE-W</vt:lpstr>
      <vt:lpstr>FRICE-W Identified</vt:lpstr>
      <vt:lpstr>07 Drafted User Stories</vt:lpstr>
      <vt:lpstr>User Stories for Create and Maintain Business Master Data</vt:lpstr>
      <vt:lpstr>08 3rd Party Integration  </vt:lpstr>
      <vt:lpstr> </vt:lpstr>
      <vt:lpstr>09 Data Migration</vt:lpstr>
      <vt:lpstr>Potential Tables</vt:lpstr>
      <vt:lpstr>10 Key Decisions,  Action Items,  Change Impacts, Wrap-Up &amp; Next Steps</vt:lpstr>
      <vt:lpstr>Program Charging (CE Internal Only)   </vt:lpstr>
      <vt:lpstr>PowerPoint Presentation</vt:lpstr>
      <vt:lpstr>WORKSHOP OBJECTIVES AND OUTCOMES</vt:lpstr>
      <vt:lpstr>Objective</vt:lpstr>
      <vt:lpstr>Maintain Person BP in CRM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Jose Diaz</dc:creator>
  <cp:lastModifiedBy>DAWN M PETTENGILL</cp:lastModifiedBy>
  <cp:revision>8</cp:revision>
  <dcterms:created xsi:type="dcterms:W3CDTF">2026-04-30T14:24:24Z</dcterms:created>
  <dcterms:modified xsi:type="dcterms:W3CDTF">2026-06-11T03:25:20Z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0x010100E85E4EB0480BDD4BA0725FDA835A98E9</vt:lpwstr>
  </property>
  <property fmtid="{D5CDD505-2E9C-101B-9397-08002B2CF9AE}" pid="3" name="MediaServiceImageTags">
    <vt:lpwstr/>
  </property>
  <property fmtid="{D5CDD505-2E9C-101B-9397-08002B2CF9AE}" pid="4" name="RevIMBCS">
    <vt:lpwstr>4;#COR-104 Policies and Procedures|23fe8a5f-9220-44d9-ae32-6aebd451fecc</vt:lpwstr>
  </property>
</Properties>
</file>