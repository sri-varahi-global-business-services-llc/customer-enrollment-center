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ADCFC"/>
                </a:solidFill>
                <a:latin typeface="Arial"/>
              </a:rPr>
              <a:t>SAP  Service Cloud V2   ·   SAP BTP   ·   SAP S/4HANA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Customer Enrollment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Arial"/>
              </a:rPr>
              <a:t>One front door for every customer program — inside the agent desktop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F0E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6C32A9"/>
                </a:solidFill>
                <a:latin typeface="Arial"/>
              </a:rPr>
              <a:t>Enrollment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72384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0057D2"/>
                </a:solidFill>
                <a:latin typeface="Arial"/>
              </a:rPr>
              <a:t>Enrollment 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1808" y="3749039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188918"/>
                </a:solidFill>
                <a:latin typeface="Arial"/>
              </a:rPr>
              <a:t>Enrolled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2" y="3749039"/>
            <a:ext cx="1348740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3B2A00"/>
                </a:solidFill>
                <a:latin typeface="Arial"/>
              </a:rPr>
              <a:t>28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Solution Proposal  ·  July 2026  ·  Draft for client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The challenge: programs without a front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The legacy CRM Enrollment Center is retiring with the move to Service Cloud V2 — and SC V2 has no standard replacement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984248"/>
            <a:ext cx="640080" cy="64008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2D3E"/>
                </a:solidFill>
                <a:latin typeface="Arial"/>
              </a:rPr>
              <a:t>No Enrollment Center in SC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67128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Agents would swivel-chair into S/4HANA transactions for every enrollment — more clicks, longer calls, more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27832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11880"/>
            <a:ext cx="640080" cy="64008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4107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2D3E"/>
                </a:solidFill>
                <a:latin typeface="Arial"/>
              </a:rPr>
              <a:t>Dozens of programs, none visible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79476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Rate, payment, assistance and DER programs live on different SAP objects. No agent today sees participation and eligibility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55464"/>
            <a:ext cx="6949440" cy="141732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5239512"/>
            <a:ext cx="640080" cy="64008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0383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2D3E"/>
                </a:solidFill>
                <a:latin typeface="Arial"/>
              </a:rPr>
              <a:t>Eligibility knowledge walks out the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422392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Program rules live in agents' heads and tribal knowledge — inconsistent offers, compliance risk, and no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0200"/>
            <a:ext cx="3794760" cy="4681728"/>
          </a:xfrm>
          <a:prstGeom prst="roundRect">
            <a:avLst>
              <a:gd name="adj" fmla="val 5000"/>
            </a:avLst>
          </a:prstGeom>
          <a:solidFill>
            <a:srgbClr val="12233F"/>
          </a:solidFill>
          <a:ln w="9525">
            <a:solidFill>
              <a:srgbClr val="12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Arial"/>
              </a:rPr>
              <a:t>What the legacy option study showed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51460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B300"/>
                </a:solidFill>
                <a:latin typeface="Arial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08152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ADCFC"/>
                </a:solidFill>
                <a:latin typeface="Arial"/>
              </a:rPr>
              <a:t>scalability &amp; training impact with no Enrollment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1304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B300"/>
                </a:solidFill>
                <a:latin typeface="Arial"/>
              </a:rPr>
              <a:t>4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379976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ADCFC"/>
                </a:solidFill>
                <a:latin typeface="Arial"/>
              </a:rPr>
              <a:t>per new program in the legacy build — UI change every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111496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B300"/>
                </a:solidFill>
                <a:latin typeface="Arial"/>
              </a:rPr>
              <a:t>360°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5678424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ADCFC"/>
                </a:solidFill>
                <a:latin typeface="Arial"/>
              </a:rPr>
              <a:t>program view agents lose at CRM retirement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The solution: Enrollment Center, rebuilt for the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A BTP-hosted application embedded in the Service Cloud V2 agent desktop — S/4HANA Utilities stays the single system of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874519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188918"/>
                </a:solidFill>
                <a:latin typeface="Arial"/>
              </a:rPr>
              <a:t>Participating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Current enrollments, one-click de-enroll, request vs. actual 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0057D2"/>
                </a:solidFill>
                <a:latin typeface="Arial"/>
              </a:rPr>
              <a:t>Available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677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Eligible programs with one-click enroll and guided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32918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D20A0A"/>
                </a:solidFill>
                <a:latin typeface="Arial"/>
              </a:rPr>
              <a:t>Eligibility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850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Hard stops, warnings and reasons — evaluated in one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0632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32918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556B82"/>
                </a:solidFill>
                <a:latin typeface="Arial"/>
              </a:rPr>
              <a:t>Program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850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Past participation feeding waiting-period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2628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2D3E"/>
                </a:solidFill>
                <a:latin typeface="Arial"/>
              </a:rPr>
              <a:t>Two access points — one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Work center (standalone)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Full enroll / de-enroll / status for identified customers with active contracts.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1206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Inside Customer Move-In (embedded step)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Offers captured during the move-in; fulfilled automatically when the contract activates.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See it working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Interactive demo — fictitious data, real behavior. Open on any device, no login.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675120" cy="1234440"/>
          </a:xfrm>
          <a:prstGeom prst="roundRect">
            <a:avLst>
              <a:gd name="adj" fmla="val 8000"/>
            </a:avLst>
          </a:prstGeom>
          <a:solidFill>
            <a:srgbClr val="1D3358"/>
          </a:solidFill>
          <a:ln w="9525">
            <a:solidFill>
              <a:srgbClr val="5B7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Combined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Work Center ⇄ Move-In toggle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78608"/>
            <a:ext cx="6035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300"/>
                </a:solidFill>
                <a:latin typeface="Arial"/>
              </a:rPr>
              <a:t>demo.svgbs.com  (pending DNS; live: sri-varahi-global-business-services-llc.github.io/enrollment-center-demo)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6675120" cy="1234440"/>
          </a:xfrm>
          <a:prstGeom prst="roundRect">
            <a:avLst>
              <a:gd name="adj" fmla="val 8000"/>
            </a:avLst>
          </a:prstGeom>
          <a:solidFill>
            <a:srgbClr val="1D3358"/>
          </a:solidFill>
          <a:ln w="9525">
            <a:solidFill>
              <a:srgbClr val="5B7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649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Work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7 eligibility personas · 28 programs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6035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300"/>
                </a:solidFill>
                <a:latin typeface="Arial"/>
              </a:rPr>
              <a:t>demo.svgbs.com/workcenter.html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6675120" cy="1234440"/>
          </a:xfrm>
          <a:prstGeom prst="roundRect">
            <a:avLst>
              <a:gd name="adj" fmla="val 8000"/>
            </a:avLst>
          </a:prstGeom>
          <a:solidFill>
            <a:srgbClr val="1D3358"/>
          </a:solidFill>
          <a:ln w="9525">
            <a:solidFill>
              <a:srgbClr val="5B7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28031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Move-In embedded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93792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Pre-active capture &amp; deferred fulfillment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04688"/>
            <a:ext cx="60350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B300"/>
                </a:solidFill>
                <a:latin typeface="Arial"/>
              </a:rPr>
              <a:t>demo.svgbs.com/movein.html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37360"/>
            <a:ext cx="4069080" cy="416052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 w="9525">
            <a:solidFill>
              <a:srgbClr val="5B7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Try in the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4414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3B2A00"/>
                </a:solidFill>
                <a:latin typeface="Arial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231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Switch among 7 personas — non-AMI,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medical, prepay, commercial — rules change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2826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3B2A00"/>
                </a:solidFill>
                <a:latin typeface="Arial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6440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Enroll in Dynamic Peak Pricing,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watch the event flow in the 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23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3B2A00"/>
                </a:solidFill>
                <a:latin typeface="Arial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05656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Trigger a supervisor override on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a warning-level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9651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000" b="1">
                <a:solidFill>
                  <a:srgbClr val="3B2A00"/>
                </a:solidFill>
                <a:latin typeface="Arial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94690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Simulate Move-In Completed and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CADCFC"/>
                </a:solidFill>
                <a:latin typeface="Arial"/>
              </a:rPr>
              <a:t>see parked requests fulfill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Enrollment at the perfect moment: during Move-In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Programs are offered while the customer is on the phone starting service — fulfilled safely once the contract is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0E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6C32A9"/>
                </a:solidFill>
                <a:latin typeface="Arial"/>
              </a:rPr>
              <a:t>1 ·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Agent offers eligible programs inside the Move-In guided flow; selections stored as Enrollment Request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1256" y="2926080"/>
            <a:ext cx="256032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5032" y="21488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556B82"/>
                </a:solidFill>
                <a:latin typeface="Arial"/>
              </a:rPr>
              <a:t>2 · Parked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Requests wait, linked to the move-in document — nothing touches S/4HANA yet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99048" y="2926080"/>
            <a:ext cx="256032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92024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92824" y="21488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0057D2"/>
                </a:solidFill>
                <a:latin typeface="Arial"/>
              </a:rPr>
              <a:t>3 · Contract activates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2824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S/4HANA event releases the parked requests; eligibility re-checked on the live contract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06840" y="2926080"/>
            <a:ext cx="256032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72016" y="192024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0616" y="21488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188918"/>
                </a:solidFill>
                <a:latin typeface="Arial"/>
              </a:rPr>
              <a:t>4 · Enrolled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265176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Fulfillment executes; agent and case timeline updated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2D3E"/>
                </a:solidFill>
                <a:latin typeface="Arial"/>
              </a:rPr>
              <a:t>And if the move-in is cancelled?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Linked enrollment requests cancel automatically — full audit trail, no orphaned enrollments, no manual cleanup. The same guarantees apply in the standalone flow: every submission is idempotent and every status change is event-confirmed by S/4HANA.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28 programs on day one — new ones without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Catalog-driven: a new program is a configuration row plus business rules, not a UI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4708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0057D2"/>
                </a:solidFill>
                <a:latin typeface="Arial"/>
              </a:rPr>
              <a:t>Rate /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DPP · CPP · TOU · PTR · Green Power · Community Solar · Interruptible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459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4708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0E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6C32A9"/>
                </a:solidFill>
                <a:latin typeface="Arial"/>
              </a:rPr>
              <a:t>Demand Response / 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Thermostat · AC Cycling · EV Charging · OpenADR · C&amp;I 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84708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188918"/>
                </a:solidFill>
                <a:latin typeface="Arial"/>
              </a:rPr>
              <a:t>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402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Payment Plan (DPA) · AutoPay · Extension · PrePay · Budget 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556B82"/>
                </a:solidFill>
                <a:latin typeface="Arial"/>
              </a:rPr>
              <a:t>Billing Preference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Due Date (CSDD) · eBill · Summary Billing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D20A0A"/>
                </a:solidFill>
                <a:latin typeface="Arial"/>
              </a:rPr>
              <a:t>Assistance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947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CARE/FERA · LIHEAP · PIPP · Arrearage Mgmt · Medical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79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3B2A00"/>
                </a:solidFill>
                <a:latin typeface="Arial"/>
              </a:rPr>
              <a:t>Account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7947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B82"/>
                </a:solidFill>
                <a:latin typeface="Arial"/>
              </a:rPr>
              <a:t>Usage &amp; High-Bill Alerts · Third-Party Notification · EE Rebates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12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6949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ADCFC"/>
                </a:solidFill>
                <a:latin typeface="Arial"/>
              </a:rPr>
              <a:t>The catalog decides which SAP object each program touches — rate model, contract account, correspondence, assistance marks — or hands DER programs to their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02920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B300"/>
                </a:solidFill>
                <a:latin typeface="Arial"/>
              </a:rPr>
              <a:t>6 groups · 15 recipes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53212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Arial"/>
              </a:rPr>
              <a:t>one enrollment experience for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Architecture: extend, don't modify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Side-by-side extension on SAP BTP — the S/4HANA core stays clean and upgrade-safe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932688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D2D3E"/>
                </a:solidFill>
                <a:latin typeface="Arial"/>
              </a:rPr>
              <a:t>SAP Service Cloud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764792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D2D3E"/>
                </a:solidFill>
                <a:latin typeface="Arial"/>
              </a:rPr>
              <a:t>Agent desktop · case management · Enrollment Center embedded (work center + Move-In step)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24912"/>
            <a:ext cx="11064240" cy="932688"/>
          </a:xfrm>
          <a:prstGeom prst="roundRect">
            <a:avLst>
              <a:gd name="adj" fmla="val 12000"/>
            </a:avLst>
          </a:prstGeom>
          <a:solidFill>
            <a:srgbClr val="0070F2"/>
          </a:solidFill>
          <a:ln w="9525">
            <a:solidFill>
              <a:srgbClr val="007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SAP BTP — the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843784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Enrollment app &amp; APIs · program catalog · workflow &amp; overrides · audit · event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03904"/>
            <a:ext cx="11064240" cy="932688"/>
          </a:xfrm>
          <a:prstGeom prst="roundRect">
            <a:avLst>
              <a:gd name="adj" fmla="val 12000"/>
            </a:avLst>
          </a:prstGeom>
          <a:solidFill>
            <a:srgbClr val="1D3358"/>
          </a:solidFill>
          <a:ln w="9525">
            <a:solidFill>
              <a:srgbClr val="1D3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22776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SAP Integration Suite  +  Event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922776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Managed interfaces to S/4HANA · asynchronous confirmations · retry &amp; error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82896"/>
            <a:ext cx="11064240" cy="932688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 w="9525">
            <a:solidFill>
              <a:srgbClr val="12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01768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SAP S/4HANA Utilities — system of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001768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Business partner · contract account · premise · device · rates · billing · BRFplus eligibility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56B82"/>
                </a:solidFill>
                <a:latin typeface="Arial"/>
              </a:rPr>
              <a:t>Everything the agent does flows through governed APIs — no custom UI code inside S/4HANA, no direct table access, upgrades unaffected.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Eligibility your business team maintains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One BRFplus rules application in S/4HANA answers every channel — evaluated in a single call before the screen even renders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70F2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B82"/>
                </a:solidFill>
                <a:latin typeface="Arial"/>
              </a:rPr>
              <a:t>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1828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70F2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4136" y="25786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B82"/>
                </a:solidFill>
                <a:latin typeface="Arial"/>
              </a:rPr>
              <a:t>decision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1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828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70F2"/>
                </a:solidFill>
                <a:latin typeface="Arial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5786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B82"/>
                </a:solidFill>
                <a:latin typeface="Arial"/>
              </a:rPr>
              <a:t>rule 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82880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70F2"/>
                </a:solidFill>
                <a:latin typeface="Arial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5786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B82"/>
                </a:solidFill>
                <a:latin typeface="Arial"/>
              </a:rPr>
              <a:t>message texts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D20A0A"/>
                </a:solidFill>
                <a:latin typeface="Arial"/>
              </a:rPr>
              <a:t>HARD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01568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D2D3E"/>
                </a:solidFill>
                <a:latin typeface="Arial"/>
              </a:rPr>
              <a:t>blocks enrollment — e.g. PrePay excluded for life-support premises; AMI meter required for peak pricing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50208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3B2A00"/>
                </a:solidFill>
                <a:latin typeface="Arial"/>
              </a:rPr>
              <a:t>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684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D2D3E"/>
                </a:solidFill>
                <a:latin typeface="Arial"/>
              </a:rPr>
              <a:t>may proceed with supervisor approval — e.g. returned payments; every override is recorded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17136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00" b="1">
                <a:solidFill>
                  <a:srgbClr val="0057D2"/>
                </a:solidFill>
                <a:latin typeface="Arial"/>
              </a:rPr>
              <a:t>NOT YET ELIGIBLE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35424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D2D3E"/>
                </a:solidFill>
                <a:latin typeface="Arial"/>
              </a:rPr>
              <a:t>shown during Move-In for rules needing billing history — becomes eligible automatically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EBF5EB"/>
          </a:solidFill>
          <a:ln w="9525">
            <a:solidFill>
              <a:srgbClr val="BFE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F5C0F"/>
                </a:solidFill>
                <a:latin typeface="Arial"/>
              </a:rPr>
              <a:t>Rule content lives in maintainable decision tables — waiting periods, thresholds and program criteria change by business governance, not by a development project. Delivered pre-filled for all 28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Every enrollment, tracked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Agents see live status; supervisors see exceptions; auditors see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0E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6C32A9"/>
                </a:solidFill>
                <a:latin typeface="Arial"/>
              </a:rPr>
              <a:t>Enrollment Request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79" y="1920240"/>
            <a:ext cx="320040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0057D2"/>
                </a:solidFill>
                <a:latin typeface="Arial"/>
              </a:rPr>
              <a:t>Enrollment Pending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79" y="1920240"/>
            <a:ext cx="320040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188918"/>
                </a:solidFill>
                <a:latin typeface="Arial"/>
              </a:rPr>
              <a:t>Enrolled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41080" y="1920240"/>
            <a:ext cx="320040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78308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confirmed by S/4HANA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3B2A00"/>
                </a:solidFill>
                <a:latin typeface="Arial"/>
              </a:rPr>
              <a:t>Warning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Routed to the supervisor inbox with justification; decision and approver recorded forever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7432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6" y="29718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D20A0A"/>
                </a:solidFill>
                <a:latin typeface="Arial"/>
              </a:rPr>
              <a:t>Failure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Automatic retries, then a supervisor work item — the agent is never blocked, the customer never lost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7432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9912" y="29718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150" b="1">
                <a:solidFill>
                  <a:srgbClr val="556B82"/>
                </a:solidFill>
                <a:latin typeface="Arial"/>
              </a:rPr>
              <a:t>Reconciliation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42900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A daily safety net compares platform and S/4HANA state — nothing ages silently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Every action — eligibility result, submission, override, status change — is written to an immutable audit trail with actor, timestamp and channel. Program compliance reporting becomes a query, not an investigation.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Why SAP BTP — and why it is still a Fiori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Three platforms evaluated against nine weighted criteria — full evaluation in the appendix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2D3E"/>
                </a:solidFill>
                <a:latin typeface="Arial"/>
              </a:rPr>
              <a:t>SAP BTP side-by-side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737360"/>
            <a:ext cx="4915814" cy="45720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574" y="17922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70F2"/>
                </a:solidFill>
                <a:latin typeface="Arial"/>
              </a:rPr>
              <a:t>4.80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56B82"/>
                </a:solidFill>
                <a:latin typeface="Arial"/>
              </a:rPr>
              <a:t>RECOMMENDED — native SC V2 embedding, clean core, reusable APIs for self-service and IVR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79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2D3E"/>
                </a:solidFill>
                <a:latin typeface="Arial"/>
              </a:rPr>
              <a:t>Fiori app on S/4HANA (RAP)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880360"/>
            <a:ext cx="2509113" cy="457200"/>
          </a:xfrm>
          <a:prstGeom prst="roundRect">
            <a:avLst>
              <a:gd name="adj" fmla="val 50000"/>
            </a:avLst>
          </a:prstGeom>
          <a:solidFill>
            <a:srgbClr val="8A9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3873" y="29352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A9BB0"/>
                </a:solidFill>
                <a:latin typeface="Arial"/>
              </a:rPr>
              <a:t>2.45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56B82"/>
                </a:solidFill>
                <a:latin typeface="Arial"/>
              </a:rPr>
              <a:t>Fallback only — couples UI to S/4 upgrades, exposes the core to agent browsers, no channel 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2D3E"/>
                </a:solidFill>
                <a:latin typeface="Arial"/>
              </a:rPr>
              <a:t>ABAP Web Dynpro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023360"/>
            <a:ext cx="1331366" cy="457200"/>
          </a:xfrm>
          <a:prstGeom prst="roundRect">
            <a:avLst>
              <a:gd name="adj" fmla="val 50000"/>
            </a:avLst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6126" y="40782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8B8B8"/>
                </a:solidFill>
                <a:latin typeface="Arial"/>
              </a:rPr>
              <a:t>1.30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56B82"/>
                </a:solidFill>
                <a:latin typeface="Arial"/>
              </a:rPr>
              <a:t>Rejected — maintenance-mode technology, no SC V2 embedding, contrary to SAP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E3F0FF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57D2"/>
                </a:solidFill>
                <a:latin typeface="Arial"/>
              </a:rPr>
              <a:t>“It IS a Fiori application — Fiori design, Horizon theme — hosted on BTP where it belongs, so S/4HANA stays clean-core and every UI release ships independently of your upgrade calendar.”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What the business 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Measured against the KPIs your call center already tracks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9280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70F2"/>
                </a:solidFill>
                <a:latin typeface="Arial"/>
              </a:rPr>
              <a:t>&lt; 3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947672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56B82"/>
                </a:solidFill>
                <a:latin typeface="Arial"/>
              </a:rPr>
              <a:t>from opening the Enrollment Center to a complete, eligibility-checked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9280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70F2"/>
                </a:solidFill>
                <a:latin typeface="Arial"/>
              </a:rPr>
              <a:t>1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47672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56B82"/>
                </a:solidFill>
                <a:latin typeface="Arial"/>
              </a:rPr>
              <a:t>evaluates all 28 programs across every contract account — no per-program 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70F2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64991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56B82"/>
                </a:solidFill>
                <a:latin typeface="Arial"/>
              </a:rPr>
              <a:t>modifications to the S/4HANA core — clean, upgrade-safe extension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31012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70F2"/>
                </a:solidFill>
                <a:latin typeface="Arial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64991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56B82"/>
                </a:solidFill>
                <a:latin typeface="Arial"/>
              </a:rPr>
              <a:t>of enrollments audited with eligibility basis, consent and actor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9525">
            <a:solidFill>
              <a:srgbClr val="12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300"/>
                </a:solidFill>
                <a:latin typeface="Arial"/>
              </a:rPr>
              <a:t>And the strategic payoff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Arial"/>
              </a:rPr>
              <a:t>The same eligibility and enrollment services power your next channels — customer self-service, IVR, and the DER platform — without rebuilding. Agents launch it first; the architecture already serves all of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D2D3E"/>
                </a:solidFill>
                <a:latin typeface="Arial"/>
              </a:rPr>
              <a:t>Delivery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B82"/>
                </a:solidFill>
                <a:latin typeface="Arial"/>
              </a:rPr>
              <a:t>Design is complete and reviewed — build starts with a two-week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556B82"/>
                </a:solidFill>
                <a:latin typeface="Arial"/>
              </a:rPr>
              <a:t>Spike —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Prove SC V2 embedding (both access points) and principal propagation to S/4HANA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2D3E"/>
                </a:solidFill>
                <a:latin typeface="Arial"/>
              </a:rPr>
              <a:t>Now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78808" y="2788920"/>
            <a:ext cx="237744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9976" y="17830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2011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0057D2"/>
                </a:solidFill>
                <a:latin typeface="Arial"/>
              </a:rPr>
              <a:t>Increment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1460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Enrollment Center shell · context &amp; eligibility · first program end-to-end (CSDD) · SC V2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2D3E"/>
                </a:solidFill>
                <a:latin typeface="Arial"/>
              </a:rPr>
              <a:t>Wks 3–10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10144" y="2788920"/>
            <a:ext cx="237744" cy="201168"/>
          </a:xfrm>
          <a:prstGeom prst="rightArrow">
            <a:avLst/>
          </a:prstGeom>
          <a:solidFill>
            <a:srgbClr val="55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17830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9912" y="2011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B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200" b="1">
                <a:solidFill>
                  <a:srgbClr val="188918"/>
                </a:solidFill>
                <a:latin typeface="Arial"/>
              </a:rPr>
              <a:t>Increment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51460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B82"/>
                </a:solidFill>
                <a:latin typeface="Arial"/>
              </a:rPr>
              <a:t>Full catalog · Move-In embedded mode · de-enrollment · overrides &amp; exceptions · supervisor cockpit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3657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2D3E"/>
                </a:solidFill>
                <a:latin typeface="Arial"/>
              </a:rPr>
              <a:t>Wks 11–20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902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2D3E"/>
                </a:solidFill>
                <a:latin typeface="Arial"/>
              </a:rPr>
              <a:t>Already on the table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56B82"/>
                </a:solidFill>
                <a:latin typeface="Arial"/>
              </a:rPr>
              <a:t>8 design documents (solution, technical, deployment, rules, runtime, evaluation)  ·  BRFplus configuration workbook pre-filled for 28 programs  ·  3 live interactive demos  ·  CAP application scaffold with the program catalog seeded — the build does not start from zero.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Let's put every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B300"/>
                </a:solidFill>
                <a:latin typeface="Arial"/>
              </a:rPr>
              <a:t>one click from your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794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3B2A0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8130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Arial"/>
              </a:rPr>
              <a:t>Approve the solution design and technology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616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3B2A0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3799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Arial"/>
              </a:rPr>
              <a:t>Nominate the pilot program set and business rule owners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286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1300" b="1">
                <a:solidFill>
                  <a:srgbClr val="3B2A0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94690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Arial"/>
              </a:rPr>
              <a:t>Start the two-week embedding spike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Demo: demo.svgbs.com   ·   Full design set available for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