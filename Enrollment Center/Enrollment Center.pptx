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9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AA38C9-6AEE-4D69-8D32-C62D00654B02}" type="doc">
      <dgm:prSet loTypeId="urn:microsoft.com/office/officeart/2005/8/layout/vProcess5" loCatId="process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B755A0F7-7227-443D-9AF6-92A1A93BFABE}">
      <dgm:prSet/>
      <dgm:spPr/>
      <dgm:t>
        <a:bodyPr/>
        <a:lstStyle/>
        <a:p>
          <a:r>
            <a:rPr lang="en-US" dirty="0"/>
            <a:t>Customer Programs Enrollment Center (EC) Framework</a:t>
          </a:r>
        </a:p>
      </dgm:t>
    </dgm:pt>
    <dgm:pt modelId="{387806D7-7436-4157-AF2C-0E58533E4701}" type="parTrans" cxnId="{08002465-CC94-4052-9B79-AFAC499125F6}">
      <dgm:prSet/>
      <dgm:spPr/>
      <dgm:t>
        <a:bodyPr/>
        <a:lstStyle/>
        <a:p>
          <a:endParaRPr lang="en-US"/>
        </a:p>
      </dgm:t>
    </dgm:pt>
    <dgm:pt modelId="{7E803952-DC91-417C-8D76-38ABB618FBF0}" type="sibTrans" cxnId="{08002465-CC94-4052-9B79-AFAC499125F6}">
      <dgm:prSet/>
      <dgm:spPr/>
      <dgm:t>
        <a:bodyPr/>
        <a:lstStyle/>
        <a:p>
          <a:endParaRPr lang="en-US"/>
        </a:p>
      </dgm:t>
    </dgm:pt>
    <dgm:pt modelId="{71A1E0DE-6241-41F8-91C6-1FB64C1907F0}">
      <dgm:prSet/>
      <dgm:spPr/>
      <dgm:t>
        <a:bodyPr/>
        <a:lstStyle/>
        <a:p>
          <a:r>
            <a:rPr lang="en-US" dirty="0"/>
            <a:t>Standalone Enrollment Center for the existing customers.</a:t>
          </a:r>
        </a:p>
      </dgm:t>
    </dgm:pt>
    <dgm:pt modelId="{F5852D66-B448-4CAE-B910-375324A50158}" type="parTrans" cxnId="{E2F2FAA4-67DC-44C1-8977-A5539944B93F}">
      <dgm:prSet/>
      <dgm:spPr/>
      <dgm:t>
        <a:bodyPr/>
        <a:lstStyle/>
        <a:p>
          <a:endParaRPr lang="en-US"/>
        </a:p>
      </dgm:t>
    </dgm:pt>
    <dgm:pt modelId="{2B5D1455-7015-4438-B6F3-33CF128757B1}" type="sibTrans" cxnId="{E2F2FAA4-67DC-44C1-8977-A5539944B93F}">
      <dgm:prSet/>
      <dgm:spPr/>
      <dgm:t>
        <a:bodyPr/>
        <a:lstStyle/>
        <a:p>
          <a:endParaRPr lang="en-US"/>
        </a:p>
      </dgm:t>
    </dgm:pt>
    <dgm:pt modelId="{58373DA0-6728-4CC9-8ABF-3A96EB9B2919}">
      <dgm:prSet/>
      <dgm:spPr/>
      <dgm:t>
        <a:bodyPr/>
        <a:lstStyle/>
        <a:p>
          <a:r>
            <a:rPr lang="en-US" dirty="0"/>
            <a:t>EC Integration with Contract Management ( Move-in Process, Change Contracts)</a:t>
          </a:r>
        </a:p>
      </dgm:t>
    </dgm:pt>
    <dgm:pt modelId="{CCF76A0E-26A5-4B2D-B90C-C3630183A141}" type="parTrans" cxnId="{ACBA6C35-E277-49EB-92D7-76E87C648853}">
      <dgm:prSet/>
      <dgm:spPr/>
      <dgm:t>
        <a:bodyPr/>
        <a:lstStyle/>
        <a:p>
          <a:endParaRPr lang="en-US"/>
        </a:p>
      </dgm:t>
    </dgm:pt>
    <dgm:pt modelId="{F59A0464-FD25-4677-B2CB-CDAAA0FAC295}" type="sibTrans" cxnId="{ACBA6C35-E277-49EB-92D7-76E87C648853}">
      <dgm:prSet/>
      <dgm:spPr/>
      <dgm:t>
        <a:bodyPr/>
        <a:lstStyle/>
        <a:p>
          <a:endParaRPr lang="en-US"/>
        </a:p>
      </dgm:t>
    </dgm:pt>
    <dgm:pt modelId="{D5480878-815F-4C17-A8D4-C84F9352BA67}" type="pres">
      <dgm:prSet presAssocID="{33AA38C9-6AEE-4D69-8D32-C62D00654B02}" presName="outerComposite" presStyleCnt="0">
        <dgm:presLayoutVars>
          <dgm:chMax val="5"/>
          <dgm:dir/>
          <dgm:resizeHandles val="exact"/>
        </dgm:presLayoutVars>
      </dgm:prSet>
      <dgm:spPr/>
    </dgm:pt>
    <dgm:pt modelId="{57059C1F-7E2E-4833-B19F-AF69F6D85434}" type="pres">
      <dgm:prSet presAssocID="{33AA38C9-6AEE-4D69-8D32-C62D00654B02}" presName="dummyMaxCanvas" presStyleCnt="0">
        <dgm:presLayoutVars/>
      </dgm:prSet>
      <dgm:spPr/>
    </dgm:pt>
    <dgm:pt modelId="{93D8B151-BCE5-4F67-BB16-F6C6106956B5}" type="pres">
      <dgm:prSet presAssocID="{33AA38C9-6AEE-4D69-8D32-C62D00654B02}" presName="OneNode_1" presStyleLbl="node1" presStyleIdx="0" presStyleCnt="1" custScaleY="147692">
        <dgm:presLayoutVars>
          <dgm:bulletEnabled val="1"/>
        </dgm:presLayoutVars>
      </dgm:prSet>
      <dgm:spPr/>
    </dgm:pt>
  </dgm:ptLst>
  <dgm:cxnLst>
    <dgm:cxn modelId="{8CD08404-B583-4010-B1DF-8B878F2D83E6}" type="presOf" srcId="{33AA38C9-6AEE-4D69-8D32-C62D00654B02}" destId="{D5480878-815F-4C17-A8D4-C84F9352BA67}" srcOrd="0" destOrd="0" presId="urn:microsoft.com/office/officeart/2005/8/layout/vProcess5"/>
    <dgm:cxn modelId="{A124071E-9D08-4588-81CB-06198209FE28}" type="presOf" srcId="{71A1E0DE-6241-41F8-91C6-1FB64C1907F0}" destId="{93D8B151-BCE5-4F67-BB16-F6C6106956B5}" srcOrd="0" destOrd="1" presId="urn:microsoft.com/office/officeart/2005/8/layout/vProcess5"/>
    <dgm:cxn modelId="{ACBA6C35-E277-49EB-92D7-76E87C648853}" srcId="{B755A0F7-7227-443D-9AF6-92A1A93BFABE}" destId="{58373DA0-6728-4CC9-8ABF-3A96EB9B2919}" srcOrd="1" destOrd="0" parTransId="{CCF76A0E-26A5-4B2D-B90C-C3630183A141}" sibTransId="{F59A0464-FD25-4677-B2CB-CDAAA0FAC295}"/>
    <dgm:cxn modelId="{08002465-CC94-4052-9B79-AFAC499125F6}" srcId="{33AA38C9-6AEE-4D69-8D32-C62D00654B02}" destId="{B755A0F7-7227-443D-9AF6-92A1A93BFABE}" srcOrd="0" destOrd="0" parTransId="{387806D7-7436-4157-AF2C-0E58533E4701}" sibTransId="{7E803952-DC91-417C-8D76-38ABB618FBF0}"/>
    <dgm:cxn modelId="{EFE20058-968D-47C0-BBBB-F85BB7E9B47E}" type="presOf" srcId="{B755A0F7-7227-443D-9AF6-92A1A93BFABE}" destId="{93D8B151-BCE5-4F67-BB16-F6C6106956B5}" srcOrd="0" destOrd="0" presId="urn:microsoft.com/office/officeart/2005/8/layout/vProcess5"/>
    <dgm:cxn modelId="{E2F2FAA4-67DC-44C1-8977-A5539944B93F}" srcId="{B755A0F7-7227-443D-9AF6-92A1A93BFABE}" destId="{71A1E0DE-6241-41F8-91C6-1FB64C1907F0}" srcOrd="0" destOrd="0" parTransId="{F5852D66-B448-4CAE-B910-375324A50158}" sibTransId="{2B5D1455-7015-4438-B6F3-33CF128757B1}"/>
    <dgm:cxn modelId="{A043F9D3-631B-4808-8643-9942E688B225}" type="presOf" srcId="{58373DA0-6728-4CC9-8ABF-3A96EB9B2919}" destId="{93D8B151-BCE5-4F67-BB16-F6C6106956B5}" srcOrd="0" destOrd="2" presId="urn:microsoft.com/office/officeart/2005/8/layout/vProcess5"/>
    <dgm:cxn modelId="{BBF4A7C6-CD51-4772-BC48-3D2FA6130B83}" type="presParOf" srcId="{D5480878-815F-4C17-A8D4-C84F9352BA67}" destId="{57059C1F-7E2E-4833-B19F-AF69F6D85434}" srcOrd="0" destOrd="0" presId="urn:microsoft.com/office/officeart/2005/8/layout/vProcess5"/>
    <dgm:cxn modelId="{DAF417F5-BAEC-4535-B1CA-6A97E3115F2E}" type="presParOf" srcId="{D5480878-815F-4C17-A8D4-C84F9352BA67}" destId="{93D8B151-BCE5-4F67-BB16-F6C6106956B5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8B151-BCE5-4F67-BB16-F6C6106956B5}">
      <dsp:nvSpPr>
        <dsp:cNvPr id="0" name=""/>
        <dsp:cNvSpPr/>
      </dsp:nvSpPr>
      <dsp:spPr>
        <a:xfrm>
          <a:off x="0" y="728666"/>
          <a:ext cx="6660184" cy="41147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Customer Programs Enrollment Center (EC) Framework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Standalone Enrollment Center for the existing customers.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EC Integration with Contract Management ( Move-in Process, Change Contracts)</a:t>
          </a:r>
        </a:p>
      </dsp:txBody>
      <dsp:txXfrm>
        <a:off x="120518" y="849184"/>
        <a:ext cx="6419148" cy="3873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3F4C-FB36-44B6-8C8D-1B8D8E023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85973-3C42-4BEB-A3BF-108191E86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72DE0-21C7-4CC0-A784-E38A113E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A29D0-F3CB-4D1C-A6F2-6A998877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BD011-2FF2-4928-9AC1-BCB9A4CB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0A21-204E-4A2C-BA50-159AE9B5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00EC8-6DDB-4ECD-B6EC-06B6608F0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36EF9-D616-495E-9973-43B0DF0E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A4D1B-AF7E-46C8-AF22-8D259C34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710BA-1A67-4749-97B1-A415131B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89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2DBB-7417-49B4-83A1-E59E5C78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E3289-F770-4A4C-8A8D-4A5A8B56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B0E3B-EF3B-4534-960B-5CF4BF3A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57CF8-6C2F-4702-99E9-6AD624D7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7DD81-B6D7-489B-A7B5-D9BA2761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4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A164C-E330-49F0-A8B3-9E069F73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31AB0-A1D5-4497-8F5F-5B0BF0E1F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DCD05-3599-41CF-B9E3-996CF1B23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D25E6-EA07-4E97-ACCF-F5B5F2E9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8A656-07B4-4D9D-869C-EDEDEB1B5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2A51A-9466-4EF0-972F-3AEA7194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95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C861-FDC7-4132-8325-05DCBCB8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2DF8D-28F8-451F-9AF0-18D808C64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7C936-41AA-4327-90EA-1AD8B944C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E4C1B-881D-493C-AF06-FFE00D3A4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9AE46D-535E-4AA6-A4D4-7C9CB8F97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1318F-37E4-4564-9A83-78C933B4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528DD2-B775-455C-9FE3-EE87F22A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379E1-717C-4D74-8DB6-F8FF7C94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80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5FA7-DE41-40D1-BB3D-09D2FE55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F3EFA-2354-4D9D-AB86-51546E71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583E2-E4C7-44C3-984F-76C54966D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C31F7-4506-4238-965E-B3602B61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0F852-03C2-4358-9A1E-F1190EAF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5BD9F-F357-4D21-9B46-EC064337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90467-849A-4363-928E-655F9BEE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07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8BE7-C019-4E47-B4CA-03EF2741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8C4D7-9757-4A12-9102-416B2D332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0F315-D64D-4C60-82F0-DFC7ECE93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ACBB8-3279-4B42-9E90-26159F1D4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6CE18-F9B7-4AC9-9C66-35959A300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30FBB-C043-4E15-8032-DBF751B2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17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1D6B-71AD-47BC-8AAE-E5AD78A2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6D891B-78B5-40EA-BB66-DA31DC2D9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440CA-73D6-4C71-AE4F-1FF8BE560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786E4-F5EC-4B03-A8BA-A61B8357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9D0FA-35B5-4740-81A5-3A3D0C9C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D9FB7-6822-4B51-8A3A-AE52E169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6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CD65-10D6-4056-9790-964040A0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91115-C419-48A8-9C5A-7681A50B4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FDAE0-1721-49A8-A218-93D0036D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7DD3E-57C8-49C7-AAB3-577D5817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2EF63-013B-4142-85B5-D1529F15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37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008AC-5879-4B91-9434-EFBD320D8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16ADC-0DAB-447B-B42B-8B67A8ED6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1C817-8F2D-49CB-99D1-87AB0561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AD742-DC96-4EE3-AFA9-BDFA2BFA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C11F0-39B0-4834-A076-C66CD1049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12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E7AF4-BF37-4658-8908-B90189B0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57631-69A2-4115-8A96-A9821A5BD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037B4-67AF-4C29-98B5-A2D0A9435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A275C-96D5-412D-B5A0-190D8DA59B45}" type="datetimeFigureOut">
              <a:rPr lang="en-US" smtClean="0"/>
              <a:t>12/18/2017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E4C8B-D0D7-4419-A9F7-E8E4726BC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B9C0D-1CF7-4448-B498-90A1C28DD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39862-30EB-48EB-ACB2-7ACEBDA957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4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FEF4E260-B79D-41D8-90EB-C84807CD77E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135" y="476778"/>
            <a:ext cx="7212450" cy="59206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9">
            <a:extLst>
              <a:ext uri="{FF2B5EF4-FFF2-40B4-BE49-F238E27FC236}">
                <a16:creationId xmlns:a16="http://schemas.microsoft.com/office/drawing/2014/main" id="{0686AD50-C6DC-4D98-A467-9AC1F3C2D8D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30880" y="4424906"/>
            <a:ext cx="3657600" cy="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1208F6-8B1C-4098-9388-150BC8E447B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452" y="476778"/>
            <a:ext cx="3864383" cy="59206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DB799-C399-4472-80B6-EC81FCCDF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861" y="4578114"/>
            <a:ext cx="7014724" cy="1247274"/>
          </a:xfrm>
        </p:spPr>
        <p:txBody>
          <a:bodyPr>
            <a:noAutofit/>
          </a:bodyPr>
          <a:lstStyle/>
          <a:p>
            <a:pPr algn="l"/>
            <a:r>
              <a:rPr lang="en-US" sz="3800" b="1" dirty="0">
                <a:solidFill>
                  <a:srgbClr val="FFFFFF"/>
                </a:solidFill>
                <a:latin typeface="Franklin Gothic Book" panose="020B0503020102020204" pitchFamily="34" charset="0"/>
              </a:rPr>
              <a:t>Customer Programs Enrollment Center</a:t>
            </a:r>
          </a:p>
          <a:p>
            <a:pPr lvl="0" algn="l"/>
            <a:r>
              <a:rPr lang="en-US" sz="4200" b="1" dirty="0">
                <a:solidFill>
                  <a:srgbClr val="FFFFFF"/>
                </a:solidFill>
                <a:latin typeface="Franklin Gothic Book" panose="020B0503020102020204" pitchFamily="34" charset="0"/>
              </a:rPr>
              <a:t>-</a:t>
            </a:r>
            <a:r>
              <a:rPr lang="en-US" sz="3200" b="1" dirty="0">
                <a:solidFill>
                  <a:srgbClr val="FFFFFF"/>
                </a:solidFill>
                <a:latin typeface="Franklin Gothic Book" panose="020B0503020102020204" pitchFamily="34" charset="0"/>
              </a:rPr>
              <a:t>Solution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588636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1F1C9E-6D95-4510-BA06-C8C24D9B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Franklin Gothic Book" panose="020B0503020102020204" pitchFamily="34" charset="0"/>
                <a:ea typeface="+mn-ea"/>
                <a:cs typeface="+mn-cs"/>
              </a:rPr>
              <a:t>Agenda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624367"/>
              </p:ext>
            </p:extLst>
          </p:nvPr>
        </p:nvGraphicFramePr>
        <p:xfrm>
          <a:off x="5280025" y="642938"/>
          <a:ext cx="6660184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997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3">
            <a:extLst>
              <a:ext uri="{FF2B5EF4-FFF2-40B4-BE49-F238E27FC236}">
                <a16:creationId xmlns:a16="http://schemas.microsoft.com/office/drawing/2014/main" id="{5E39A796-BE83-48B1-B33F-35C4A32AAB5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7D1223A9-BCAF-40D3-BF9F-5E7D160A1D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08319" y="2397868"/>
            <a:ext cx="5614835" cy="1909044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4EF4C-49A9-4871-921C-74C80E348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78" y="1921565"/>
            <a:ext cx="4293704" cy="3785419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003964"/>
                </a:solidFill>
                <a:latin typeface="Franklin Gothic Book" panose="020B0503020102020204" pitchFamily="34" charset="0"/>
              </a:rPr>
              <a:t>Enrollment Center screen has four main component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Franklin Gothic Book" panose="020B0503020102020204" pitchFamily="34" charset="0"/>
              </a:rPr>
              <a:t>Participating Program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Franklin Gothic Book" panose="020B0503020102020204" pitchFamily="34" charset="0"/>
              </a:rPr>
              <a:t>Available Program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Franklin Gothic Book" panose="020B0503020102020204" pitchFamily="34" charset="0"/>
              </a:rPr>
              <a:t>Eligibility Messages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Franklin Gothic Book" panose="020B0503020102020204" pitchFamily="34" charset="0"/>
              </a:rPr>
              <a:t>Program History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928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FC1A-096D-4B71-B555-47D99A46D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31" y="1"/>
            <a:ext cx="10515600" cy="742122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ts val="1000"/>
              </a:spcBef>
            </a:pPr>
            <a:r>
              <a:rPr lang="en-US" sz="3200" b="1" kern="1200" dirty="0">
                <a:solidFill>
                  <a:srgbClr val="003964"/>
                </a:solidFill>
                <a:latin typeface="Franklin Gothic Book" panose="020B0503020102020204" pitchFamily="34" charset="0"/>
                <a:ea typeface="+mn-ea"/>
                <a:cs typeface="+mn-cs"/>
              </a:rPr>
              <a:t>Enrollment Center Components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616CB-877C-46B6-8770-E2B7B833533B}"/>
              </a:ext>
            </a:extLst>
          </p:cNvPr>
          <p:cNvSpPr/>
          <p:nvPr/>
        </p:nvSpPr>
        <p:spPr>
          <a:xfrm>
            <a:off x="106019" y="617884"/>
            <a:ext cx="11410122" cy="5380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spcBef>
                <a:spcPts val="1000"/>
              </a:spcBef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Participating Program:-</a:t>
            </a:r>
          </a:p>
          <a:p>
            <a:pPr marL="1200150" lvl="3" indent="-28575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All enrolled programs listed, with a one-click button to de- enroll, following de-enrollment step or prompts.</a:t>
            </a:r>
          </a:p>
          <a:p>
            <a:pPr marL="1200150" lvl="3" indent="-28575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“Program Status”  Not a CSR drop-down, Just demonstrates possible statuses ex:- Enrollment Request , Enrollment Pending, Enrollment rejected.</a:t>
            </a:r>
          </a:p>
          <a:p>
            <a:pPr marL="1200150" lvl="3" indent="-28575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Enrollment request date and Actual Program enroll  date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Available Program</a:t>
            </a:r>
          </a:p>
          <a:p>
            <a:pPr marL="1200150" lvl="3" indent="-28575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Hyperlinks provide one-click access  the program information.</a:t>
            </a:r>
          </a:p>
          <a:p>
            <a:pPr marL="1200150" lvl="3" indent="-28575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Hyperlinks provide one-click access to enroll, following enrollment step.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Eligibility Messages</a:t>
            </a:r>
          </a:p>
          <a:p>
            <a:pPr marL="1200150" lvl="3" indent="-28575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More customer- specific eligibility details (ex:-de- enrollment from another program).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Program History</a:t>
            </a:r>
          </a:p>
          <a:p>
            <a:pPr marL="1200150" lvl="3" indent="-28575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3964"/>
                </a:solidFill>
                <a:latin typeface="Franklin Gothic Book" panose="020B0503020102020204" pitchFamily="34" charset="0"/>
              </a:rPr>
              <a:t>Enrollment History can be maintained, to build process/ system eligibility rules.</a:t>
            </a:r>
          </a:p>
          <a:p>
            <a:pPr marL="800100" lvl="2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US" dirty="0">
              <a:solidFill>
                <a:srgbClr val="003964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44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D296-1770-4582-B92C-67CAFEB29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lnSpc>
                <a:spcPct val="90000"/>
              </a:lnSpc>
              <a:spcBef>
                <a:spcPts val="1000"/>
              </a:spcBef>
            </a:pPr>
            <a:r>
              <a:rPr lang="en-US" sz="3200" b="1" kern="1200" dirty="0">
                <a:solidFill>
                  <a:srgbClr val="003964"/>
                </a:solidFill>
                <a:latin typeface="Franklin Gothic Book" panose="020B0503020102020204" pitchFamily="34" charset="0"/>
                <a:ea typeface="+mn-ea"/>
                <a:cs typeface="+mn-cs"/>
              </a:rPr>
              <a:t>Standalone Enrollment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79A9D-2A24-4445-9F1A-88231F713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3964"/>
                </a:solidFill>
                <a:latin typeface="Franklin Gothic Book" panose="020B0503020102020204" pitchFamily="34" charset="0"/>
              </a:rPr>
              <a:t>All Customer Programs  Enrolled  via Enrollment  work center for active customers</a:t>
            </a:r>
          </a:p>
          <a:p>
            <a:endParaRPr lang="en-US" sz="1800" dirty="0">
              <a:solidFill>
                <a:srgbClr val="003964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79EE13-877D-403A-983D-3401083F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3638"/>
            <a:ext cx="93535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1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CC0C016-3F72-4EEF-97BC-FA2B5A0B5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852" y="1786597"/>
            <a:ext cx="10925681" cy="432777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A3C4D91-1EF4-40C0-9472-E7A206A1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852" y="365125"/>
            <a:ext cx="10730948" cy="1325563"/>
          </a:xfrm>
        </p:spPr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ts val="1000"/>
              </a:spcBef>
            </a:pPr>
            <a:r>
              <a:rPr lang="en-US" sz="3200" b="1" kern="1200" dirty="0">
                <a:solidFill>
                  <a:srgbClr val="003964"/>
                </a:solidFill>
                <a:latin typeface="Franklin Gothic Book" panose="020B0503020102020204" pitchFamily="34" charset="0"/>
                <a:ea typeface="+mn-ea"/>
                <a:cs typeface="+mn-cs"/>
              </a:rPr>
              <a:t>Enrollment Center </a:t>
            </a:r>
          </a:p>
        </p:txBody>
      </p:sp>
    </p:spTree>
    <p:extLst>
      <p:ext uri="{BB962C8B-B14F-4D97-AF65-F5344CB8AC3E}">
        <p14:creationId xmlns:p14="http://schemas.microsoft.com/office/powerpoint/2010/main" val="63545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6EEA-7F0F-49C9-AFEC-78A92EE5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ts val="1000"/>
              </a:spcBef>
            </a:pPr>
            <a:r>
              <a:rPr lang="en-US" sz="3200" b="1" kern="1200" dirty="0">
                <a:solidFill>
                  <a:srgbClr val="003964"/>
                </a:solidFill>
                <a:latin typeface="Franklin Gothic Book" panose="020B0503020102020204" pitchFamily="34" charset="0"/>
                <a:ea typeface="+mn-ea"/>
                <a:cs typeface="+mn-cs"/>
              </a:rPr>
              <a:t>CM integration (New Contract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F8BDB-6956-4EF5-A7F2-6CFB0609E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555"/>
            <a:ext cx="10515600" cy="4351338"/>
          </a:xfrm>
        </p:spPr>
        <p:txBody>
          <a:bodyPr/>
          <a:lstStyle/>
          <a:p>
            <a:r>
              <a:rPr lang="en-US" sz="1800" dirty="0">
                <a:solidFill>
                  <a:srgbClr val="003964"/>
                </a:solidFill>
                <a:latin typeface="Franklin Gothic Book" panose="020B0503020102020204" pitchFamily="34" charset="0"/>
              </a:rPr>
              <a:t>New step in the Guided process during New Contracts (Move-In) only. </a:t>
            </a:r>
          </a:p>
          <a:p>
            <a:endParaRPr lang="en-US" sz="1800" dirty="0">
              <a:solidFill>
                <a:srgbClr val="003964"/>
              </a:solidFill>
              <a:latin typeface="Franklin Gothic Book" panose="020B0503020102020204" pitchFamily="34" charset="0"/>
            </a:endParaRPr>
          </a:p>
          <a:p>
            <a:endParaRPr lang="en-US" sz="1800" dirty="0">
              <a:solidFill>
                <a:srgbClr val="003964"/>
              </a:solidFill>
              <a:latin typeface="Franklin Gothic Book" panose="020B0503020102020204" pitchFamily="34" charset="0"/>
            </a:endParaRPr>
          </a:p>
          <a:p>
            <a:endParaRPr lang="en-US" sz="1800" dirty="0">
              <a:solidFill>
                <a:srgbClr val="003964"/>
              </a:solidFill>
              <a:latin typeface="Franklin Gothic Book" panose="020B0503020102020204" pitchFamily="34" charset="0"/>
            </a:endParaRPr>
          </a:p>
          <a:p>
            <a:endParaRPr lang="en-US" sz="1800" dirty="0">
              <a:solidFill>
                <a:srgbClr val="003964"/>
              </a:solidFill>
              <a:latin typeface="Franklin Gothic Book" panose="020B0503020102020204" pitchFamily="34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C2E345CD-2F80-4F0B-AC97-2DF3BCB4BC4B}"/>
              </a:ext>
            </a:extLst>
          </p:cNvPr>
          <p:cNvGrpSpPr>
            <a:grpSpLocks/>
          </p:cNvGrpSpPr>
          <p:nvPr/>
        </p:nvGrpSpPr>
        <p:grpSpPr bwMode="auto">
          <a:xfrm>
            <a:off x="988598" y="2079418"/>
            <a:ext cx="8985251" cy="3673475"/>
            <a:chOff x="30" y="441"/>
            <a:chExt cx="14151" cy="5785"/>
          </a:xfrm>
        </p:grpSpPr>
        <p:pic>
          <p:nvPicPr>
            <p:cNvPr id="4104" name="Picture 8">
              <a:extLst>
                <a:ext uri="{FF2B5EF4-FFF2-40B4-BE49-F238E27FC236}">
                  <a16:creationId xmlns:a16="http://schemas.microsoft.com/office/drawing/2014/main" id="{6D7F79C3-4192-49D7-B9E2-FC68B66530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" y="5727"/>
              <a:ext cx="13908" cy="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9">
              <a:extLst>
                <a:ext uri="{FF2B5EF4-FFF2-40B4-BE49-F238E27FC236}">
                  <a16:creationId xmlns:a16="http://schemas.microsoft.com/office/drawing/2014/main" id="{82A0DFA4-7503-458E-AF37-BB866EE03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08" y="5817"/>
              <a:ext cx="1973" cy="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0">
              <a:extLst>
                <a:ext uri="{FF2B5EF4-FFF2-40B4-BE49-F238E27FC236}">
                  <a16:creationId xmlns:a16="http://schemas.microsoft.com/office/drawing/2014/main" id="{BACF1112-1125-4CFC-9C78-A7C07EFCC4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" y="440"/>
              <a:ext cx="12690" cy="52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2C7596BF-B6C8-45DC-915C-B2CE6966D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0" y="1737"/>
              <a:ext cx="1800" cy="360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3CB0CC3-D32D-4559-ACA7-EE69C4A47B76}"/>
              </a:ext>
            </a:extLst>
          </p:cNvPr>
          <p:cNvSpPr/>
          <p:nvPr/>
        </p:nvSpPr>
        <p:spPr>
          <a:xfrm>
            <a:off x="1590261" y="2078783"/>
            <a:ext cx="2941982" cy="240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F82052-8952-4692-97AE-D4A5284BE7BE}"/>
              </a:ext>
            </a:extLst>
          </p:cNvPr>
          <p:cNvSpPr/>
          <p:nvPr/>
        </p:nvSpPr>
        <p:spPr>
          <a:xfrm>
            <a:off x="8600661" y="5413803"/>
            <a:ext cx="1634704" cy="388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50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CC0C016-3F72-4EEF-97BC-FA2B5A0B5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852" y="1786597"/>
            <a:ext cx="10925681" cy="432777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A3C4D91-1EF4-40C0-9472-E7A206A1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852" y="365125"/>
            <a:ext cx="10730948" cy="1325563"/>
          </a:xfrm>
        </p:spPr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ts val="1000"/>
              </a:spcBef>
            </a:pPr>
            <a:r>
              <a:rPr lang="en-US" sz="3200" b="1" kern="1200" dirty="0">
                <a:solidFill>
                  <a:srgbClr val="003964"/>
                </a:solidFill>
                <a:latin typeface="Franklin Gothic Book" panose="020B0503020102020204" pitchFamily="34" charset="0"/>
                <a:ea typeface="+mn-ea"/>
                <a:cs typeface="+mn-cs"/>
              </a:rPr>
              <a:t>Enrollment Center </a:t>
            </a:r>
          </a:p>
        </p:txBody>
      </p:sp>
    </p:spTree>
    <p:extLst>
      <p:ext uri="{BB962C8B-B14F-4D97-AF65-F5344CB8AC3E}">
        <p14:creationId xmlns:p14="http://schemas.microsoft.com/office/powerpoint/2010/main" val="333706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7">
            <a:extLst>
              <a:ext uri="{FF2B5EF4-FFF2-40B4-BE49-F238E27FC236}">
                <a16:creationId xmlns:a16="http://schemas.microsoft.com/office/drawing/2014/main" id="{823AC064-BC96-4F32-8AE1-B2FD3875482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Connector 29">
            <a:extLst>
              <a:ext uri="{FF2B5EF4-FFF2-40B4-BE49-F238E27FC236}">
                <a16:creationId xmlns:a16="http://schemas.microsoft.com/office/drawing/2014/main" id="{7E7C77BC-7138-40B1-A15B-20F57A4946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1">
            <a:extLst>
              <a:ext uri="{FF2B5EF4-FFF2-40B4-BE49-F238E27FC236}">
                <a16:creationId xmlns:a16="http://schemas.microsoft.com/office/drawing/2014/main" id="{DB146403-F3D6-484B-B2ED-97F9565D037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9298FBE2-28DD-44AC-B877-0119BE920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1365404"/>
            <a:ext cx="5455917" cy="1882290"/>
          </a:xfrm>
          <a:prstGeom prst="rect">
            <a:avLst/>
          </a:prstGeom>
        </p:spPr>
      </p:pic>
      <p:pic>
        <p:nvPicPr>
          <p:cNvPr id="10" name="Content Placeholder 3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7F29ABF6-7A95-47CD-B6A5-5EFA7A6D3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3" y="1399503"/>
            <a:ext cx="5455917" cy="18140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E8B165-883A-4802-AC30-11F35559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Program Enrollment</a:t>
            </a:r>
          </a:p>
        </p:txBody>
      </p:sp>
    </p:spTree>
    <p:extLst>
      <p:ext uri="{BB962C8B-B14F-4D97-AF65-F5344CB8AC3E}">
        <p14:creationId xmlns:p14="http://schemas.microsoft.com/office/powerpoint/2010/main" val="3224640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BB8A-FC01-4E58-82FA-58EDD5C5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8275"/>
            <a:ext cx="10515600" cy="1325563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ts val="1000"/>
              </a:spcBef>
            </a:pPr>
            <a:r>
              <a:rPr lang="en-US" sz="3200" b="1" kern="1200" dirty="0">
                <a:solidFill>
                  <a:srgbClr val="003964"/>
                </a:solidFill>
                <a:latin typeface="Franklin Gothic Book" panose="020B0503020102020204" pitchFamily="34" charset="0"/>
                <a:ea typeface="+mn-ea"/>
                <a:cs typeface="+mn-cs"/>
              </a:rPr>
              <a:t>Program Enrollment…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E5B19-AC39-40D1-B51F-0EF50377E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13CCE7-2873-4E76-80B4-92B5E6A32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19175"/>
            <a:ext cx="11239500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8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57885-288F-45C6-85EF-587C218F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823D-2D74-4C43-97F8-FF9A9C265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B3BAB-30E1-49F4-99D2-7C42F00EE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0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282F0-CED7-4F38-AA57-18F5574E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ts val="1000"/>
              </a:spcBef>
            </a:pPr>
            <a:r>
              <a:rPr lang="en-US" sz="3200" b="1" kern="1200" dirty="0">
                <a:solidFill>
                  <a:srgbClr val="003964"/>
                </a:solidFill>
                <a:latin typeface="Franklin Gothic Book" panose="020B0503020102020204" pitchFamily="34" charset="0"/>
                <a:ea typeface="+mn-ea"/>
                <a:cs typeface="+mn-cs"/>
              </a:rPr>
              <a:t>Enrollment Center Framework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868A3-803F-459E-A65A-7DE9FA3EC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556"/>
            <a:ext cx="10515600" cy="1855305"/>
          </a:xfrm>
        </p:spPr>
        <p:txBody>
          <a:bodyPr/>
          <a:lstStyle/>
          <a:p>
            <a:r>
              <a:rPr lang="en-US" sz="1800" dirty="0">
                <a:solidFill>
                  <a:srgbClr val="003964"/>
                </a:solidFill>
                <a:latin typeface="Franklin Gothic Book" panose="020B0503020102020204" pitchFamily="34" charset="0"/>
              </a:rPr>
              <a:t>Before displaying the enrollment center, Eligibility check is performed on the programs to check whether the programs are eligible or not</a:t>
            </a:r>
          </a:p>
          <a:p>
            <a:r>
              <a:rPr lang="en-US" sz="1800" dirty="0">
                <a:solidFill>
                  <a:srgbClr val="003964"/>
                </a:solidFill>
                <a:latin typeface="Franklin Gothic Book" panose="020B0503020102020204" pitchFamily="34" charset="0"/>
              </a:rPr>
              <a:t>By implementing this solution the CSRs will require minimal effort in enrolling/de-enrolling a customer into  Energy efficiency programs</a:t>
            </a:r>
          </a:p>
          <a:p>
            <a:r>
              <a:rPr lang="en-US" sz="1800" dirty="0">
                <a:solidFill>
                  <a:srgbClr val="003964"/>
                </a:solidFill>
                <a:latin typeface="Franklin Gothic Book" panose="020B0503020102020204" pitchFamily="34" charset="0"/>
              </a:rPr>
              <a:t>CSR  will also achieve greater visibility into the customer’s program participation.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1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EF4E260-B79D-41D8-90EB-C84807CD77E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135" y="476778"/>
            <a:ext cx="7212450" cy="59206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86AD50-C6DC-4D98-A467-9AC1F3C2D8D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30880" y="4424906"/>
            <a:ext cx="3657600" cy="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41208F6-8B1C-4098-9388-150BC8E447B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452" y="476778"/>
            <a:ext cx="3864383" cy="59206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DB7EC-D8D4-4259-9F4D-3C0F68F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215" y="1269255"/>
            <a:ext cx="5956353" cy="30389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49056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264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Wingdings</vt:lpstr>
      <vt:lpstr>Office Theme</vt:lpstr>
      <vt:lpstr>PowerPoint Presentation</vt:lpstr>
      <vt:lpstr>Agenda</vt:lpstr>
      <vt:lpstr>PowerPoint Presentation</vt:lpstr>
      <vt:lpstr>Enrollment Center Components  </vt:lpstr>
      <vt:lpstr>Standalone Enrollment Center</vt:lpstr>
      <vt:lpstr>Enrollment Center </vt:lpstr>
      <vt:lpstr>CM integration (New Contract only)</vt:lpstr>
      <vt:lpstr>Enrollment Center </vt:lpstr>
      <vt:lpstr>Program Enrollment</vt:lpstr>
      <vt:lpstr>Program Enrollment…</vt:lpstr>
      <vt:lpstr>PowerPoint Presentation</vt:lpstr>
      <vt:lpstr>Enrollment Center Framework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Jamparaju Nammi</dc:creator>
  <cp:lastModifiedBy>Jamparaju Nammi</cp:lastModifiedBy>
  <cp:revision>15</cp:revision>
  <dcterms:created xsi:type="dcterms:W3CDTF">2017-12-18T15:15:11Z</dcterms:created>
  <dcterms:modified xsi:type="dcterms:W3CDTF">2017-12-19T02:56:41Z</dcterms:modified>
</cp:coreProperties>
</file>