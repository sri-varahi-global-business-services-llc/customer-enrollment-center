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7FFFFFF0_1996B2E2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85" r:id="rId6"/>
  </p:sldMasterIdLst>
  <p:notesMasterIdLst>
    <p:notesMasterId r:id="rId38"/>
  </p:notesMasterIdLst>
  <p:sldIdLst>
    <p:sldId id="268" r:id="rId7"/>
    <p:sldId id="280" r:id="rId8"/>
    <p:sldId id="287" r:id="rId9"/>
    <p:sldId id="2147483632" r:id="rId10"/>
    <p:sldId id="295" r:id="rId11"/>
    <p:sldId id="2147483637" r:id="rId12"/>
    <p:sldId id="2147483638" r:id="rId13"/>
    <p:sldId id="258" r:id="rId14"/>
    <p:sldId id="2147483639" r:id="rId15"/>
    <p:sldId id="260" r:id="rId16"/>
    <p:sldId id="2147483635" r:id="rId17"/>
    <p:sldId id="2147483642" r:id="rId18"/>
    <p:sldId id="267" r:id="rId19"/>
    <p:sldId id="269" r:id="rId20"/>
    <p:sldId id="264" r:id="rId21"/>
    <p:sldId id="2147483636" r:id="rId22"/>
    <p:sldId id="2147483645" r:id="rId23"/>
    <p:sldId id="2147483646" r:id="rId24"/>
    <p:sldId id="2147483647" r:id="rId25"/>
    <p:sldId id="263" r:id="rId26"/>
    <p:sldId id="270" r:id="rId27"/>
    <p:sldId id="259" r:id="rId28"/>
    <p:sldId id="2147483640" r:id="rId29"/>
    <p:sldId id="261" r:id="rId30"/>
    <p:sldId id="2147483641" r:id="rId31"/>
    <p:sldId id="256" r:id="rId32"/>
    <p:sldId id="262" r:id="rId33"/>
    <p:sldId id="265" r:id="rId34"/>
    <p:sldId id="266" r:id="rId35"/>
    <p:sldId id="257" r:id="rId36"/>
    <p:sldId id="214748286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71F5868-14A0-AE0D-85D4-64A03FE904D8}" name="Taylor Ilov" initials="" userId="S::Taylor.Ilov@ibm.com::43dc5e75-7824-4f8d-a1aa-508c4d2ae3d7" providerId="AD"/>
  <p188:author id="{213F0180-4E89-B86B-F6E1-E03B7518BAE5}" name="Taylor Ilov" initials="TI" userId="S::taylor.ilov@ibm.com::43dc5e75-7824-4f8d-a1aa-508c4d2ae3d7" providerId="AD"/>
  <p188:author id="{501AB7E2-9689-D00B-6C95-3A5D410786DE}" name="Jose Diaz" initials="JD" userId="S::jose.diaz2@ibm.com::9b29bd53-f7fb-41c2-aeba-4f48f8f2c2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0ADC79-43B4-363A-412A-01052374439A}" v="2849" dt="2026-05-06T17:00:52.382"/>
    <p1510:client id="{A08628DA-445D-62DA-BE8D-799CA1FF3CF7}" v="60" dt="2026-05-08T15:26:27.768"/>
    <p1510:client id="{B4573714-A845-B884-3ED6-BA5E36E72764}" v="52" dt="2026-05-06T16:54:31.549"/>
    <p1510:client id="{CE7C58AE-4A3F-4230-4E2F-E29E684B5635}" v="4" dt="2026-05-06T17:52:13.5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presProps" Target="pres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microsoft.com/office/2016/11/relationships/changesInfo" Target="changesInfos/changesInfo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4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Diaz" userId="S::jose.diaz@cmsenergy.com::517cb5ef-6fb8-49bc-8303-535c95eee28f" providerId="AD" clId="Web-{A08628DA-445D-62DA-BE8D-799CA1FF3CF7}"/>
    <pc:docChg chg="addSld modSld">
      <pc:chgData name="Jose Diaz" userId="S::jose.diaz@cmsenergy.com::517cb5ef-6fb8-49bc-8303-535c95eee28f" providerId="AD" clId="Web-{A08628DA-445D-62DA-BE8D-799CA1FF3CF7}" dt="2026-05-08T15:26:27.768" v="58" actId="20577"/>
      <pc:docMkLst>
        <pc:docMk/>
      </pc:docMkLst>
      <pc:sldChg chg="modSp add replId">
        <pc:chgData name="Jose Diaz" userId="S::jose.diaz@cmsenergy.com::517cb5ef-6fb8-49bc-8303-535c95eee28f" providerId="AD" clId="Web-{A08628DA-445D-62DA-BE8D-799CA1FF3CF7}" dt="2026-05-08T15:26:27.768" v="58" actId="20577"/>
        <pc:sldMkLst>
          <pc:docMk/>
          <pc:sldMk cId="1369515842" sldId="270"/>
        </pc:sldMkLst>
        <pc:spChg chg="mod">
          <ac:chgData name="Jose Diaz" userId="S::jose.diaz@cmsenergy.com::517cb5ef-6fb8-49bc-8303-535c95eee28f" providerId="AD" clId="Web-{A08628DA-445D-62DA-BE8D-799CA1FF3CF7}" dt="2026-05-08T15:26:27.768" v="58" actId="20577"/>
          <ac:spMkLst>
            <pc:docMk/>
            <pc:sldMk cId="1369515842" sldId="270"/>
            <ac:spMk id="2" creationId="{36F024BB-9C86-2879-0BE5-DDA17E38F640}"/>
          </ac:spMkLst>
        </pc:spChg>
      </pc:sldChg>
      <pc:sldChg chg="modSp">
        <pc:chgData name="Jose Diaz" userId="S::jose.diaz@cmsenergy.com::517cb5ef-6fb8-49bc-8303-535c95eee28f" providerId="AD" clId="Web-{A08628DA-445D-62DA-BE8D-799CA1FF3CF7}" dt="2026-05-08T15:11:42.679" v="52"/>
        <pc:sldMkLst>
          <pc:docMk/>
          <pc:sldMk cId="1417878951" sldId="2147483638"/>
        </pc:sldMkLst>
        <pc:graphicFrameChg chg="mod modGraphic">
          <ac:chgData name="Jose Diaz" userId="S::jose.diaz@cmsenergy.com::517cb5ef-6fb8-49bc-8303-535c95eee28f" providerId="AD" clId="Web-{A08628DA-445D-62DA-BE8D-799CA1FF3CF7}" dt="2026-05-08T15:11:42.679" v="52"/>
          <ac:graphicFrameMkLst>
            <pc:docMk/>
            <pc:sldMk cId="1417878951" sldId="2147483638"/>
            <ac:graphicFrameMk id="3" creationId="{E73EA292-10A9-8DEE-D658-3C59414824E6}"/>
          </ac:graphicFrameMkLst>
        </pc:graphicFrameChg>
      </pc:sldChg>
    </pc:docChg>
  </pc:docChgLst>
</pc:chgInfo>
</file>

<file path=ppt/comments/modernComment_7FFFFFF0_1996B2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A2F45D-EB6C-423D-B5E7-9CEE03B8EE39}" authorId="{501AB7E2-9689-D00B-6C95-3A5D410786DE}" status="resolved" created="2026-05-06T15:36:35.441" startDate="2026-05-06T15:36:35.441" dueDate="2026-05-06T15:36:35.441" assignedTo="{F71F5868-14A0-AE0D-85D4-64A03FE904D8}" complete="100000" title="@Taylor Ilov need to add Security Roles and resequence">
    <pc:sldMkLst xmlns:pc="http://schemas.microsoft.com/office/powerpoint/2013/main/command">
      <pc:docMk/>
      <pc:sldMk cId="429306594" sldId="2147483632"/>
    </pc:sldMkLst>
    <p188:txBody>
      <a:bodyPr/>
      <a:lstStyle/>
      <a:p>
        <a:r>
          <a:rPr lang="en-US"/>
          <a:t>[@Taylor Ilov]  need to add Security Roles and resequence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5-06T15:36:35.441" id="{2738707F-F3B7-4525-98FE-2AB7872AD763}">
              <p228:atrbtn authorId="{501AB7E2-9689-D00B-6C95-3A5D410786DE}"/>
              <p228:anchr>
                <p228:comment id="{B5A2F45D-EB6C-423D-B5E7-9CEE03B8EE39}"/>
              </p228:anchr>
              <p228:add/>
            </p228:event>
            <p228:event time="2026-05-06T15:36:35.441" id="{3CBD1114-378D-4403-8C6F-EACE974627D5}">
              <p228:atrbtn authorId="{501AB7E2-9689-D00B-6C95-3A5D410786DE}"/>
              <p228:anchr>
                <p228:comment id="{B5A2F45D-EB6C-423D-B5E7-9CEE03B8EE39}"/>
              </p228:anchr>
              <p228:asgn authorId="{F71F5868-14A0-AE0D-85D4-64A03FE904D8}"/>
            </p228:event>
            <p228:event time="2026-05-06T15:36:35.441" id="{28FA7514-6070-4F53-817E-ABD76485CC0C}">
              <p228:atrbtn authorId="{501AB7E2-9689-D00B-6C95-3A5D410786DE}"/>
              <p228:anchr>
                <p228:comment id="{B5A2F45D-EB6C-423D-B5E7-9CEE03B8EE39}"/>
              </p228:anchr>
              <p228:title val="@Taylor Ilov need to add Security Roles and resequence"/>
            </p228:event>
            <p228:event time="2026-05-06T15:36:35.441" id="{8E0E0564-EFC1-4255-A4AC-010F1517F95E}">
              <p228:atrbtn authorId="{501AB7E2-9689-D00B-6C95-3A5D410786DE}"/>
              <p228:anchr>
                <p228:comment id="{B5A2F45D-EB6C-423D-B5E7-9CEE03B8EE39}"/>
              </p228:anchr>
              <p228:date stDt="2026-05-06T15:36:35.441" endDt="2026-05-06T15:36:35.441"/>
            </p228:event>
            <p228:event time="2026-05-06T16:54:31.534" id="{6350ABF6-92A8-44E1-B4A9-4CD7686E1AF9}">
              <p228:atrbtn authorId="{213F0180-4E89-B86B-F6E1-E03B7518BAE5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F1536C-72B3-4727-AA96-4654A4ECC10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35005E-186E-448C-92F7-7A353F53C058}">
      <dgm:prSet phldrT="[Text]" phldr="0"/>
      <dgm:spPr/>
      <dgm:t>
        <a:bodyPr/>
        <a:lstStyle/>
        <a:p>
          <a:r>
            <a:rPr lang="en-US"/>
            <a:t>Ownership</a:t>
          </a:r>
        </a:p>
      </dgm:t>
    </dgm:pt>
    <dgm:pt modelId="{CF0CE319-4541-4F7A-9BF3-389A79BD3EFA}" type="parTrans" cxnId="{E1230770-B2CB-42BE-B101-C22528F8734F}">
      <dgm:prSet/>
      <dgm:spPr/>
      <dgm:t>
        <a:bodyPr/>
        <a:lstStyle/>
        <a:p>
          <a:endParaRPr lang="en-US"/>
        </a:p>
      </dgm:t>
    </dgm:pt>
    <dgm:pt modelId="{661A60E0-F463-47E7-A4EB-F4EC758D261B}" type="sibTrans" cxnId="{E1230770-B2CB-42BE-B101-C22528F8734F}">
      <dgm:prSet/>
      <dgm:spPr/>
      <dgm:t>
        <a:bodyPr/>
        <a:lstStyle/>
        <a:p>
          <a:endParaRPr lang="en-US"/>
        </a:p>
      </dgm:t>
    </dgm:pt>
    <dgm:pt modelId="{A386FDFA-AB45-4A85-B36A-1C68B1269C8B}">
      <dgm:prSet phldrT="[Text]" phldr="0"/>
      <dgm:spPr/>
      <dgm:t>
        <a:bodyPr/>
        <a:lstStyle/>
        <a:p>
          <a:r>
            <a:rPr lang="en-US"/>
            <a:t>Data Design</a:t>
          </a:r>
        </a:p>
      </dgm:t>
    </dgm:pt>
    <dgm:pt modelId="{C5C46725-2607-4BE0-8E5E-A95CCB51BBD4}" type="parTrans" cxnId="{001673A9-AA17-4529-B4CF-5674A6454B71}">
      <dgm:prSet/>
      <dgm:spPr/>
      <dgm:t>
        <a:bodyPr/>
        <a:lstStyle/>
        <a:p>
          <a:endParaRPr lang="en-US"/>
        </a:p>
      </dgm:t>
    </dgm:pt>
    <dgm:pt modelId="{0C3B4101-C2C8-469C-8405-773E0809C5F1}" type="sibTrans" cxnId="{001673A9-AA17-4529-B4CF-5674A6454B71}">
      <dgm:prSet/>
      <dgm:spPr/>
      <dgm:t>
        <a:bodyPr/>
        <a:lstStyle/>
        <a:p>
          <a:endParaRPr lang="en-US"/>
        </a:p>
      </dgm:t>
    </dgm:pt>
    <dgm:pt modelId="{6E64E3AC-7CF5-4F1E-B6AB-454B56C79D8A}">
      <dgm:prSet phldrT="[Text]" phldr="0"/>
      <dgm:spPr/>
      <dgm:t>
        <a:bodyPr/>
        <a:lstStyle/>
        <a:p>
          <a:r>
            <a:rPr lang="en-US"/>
            <a:t>Required Fields</a:t>
          </a:r>
        </a:p>
      </dgm:t>
    </dgm:pt>
    <dgm:pt modelId="{63F2FF52-7063-4B47-90C4-1871B8F8D58F}" type="parTrans" cxnId="{3A22FE49-5768-4E73-8F21-30E9D7795088}">
      <dgm:prSet/>
      <dgm:spPr/>
      <dgm:t>
        <a:bodyPr/>
        <a:lstStyle/>
        <a:p>
          <a:endParaRPr lang="en-US"/>
        </a:p>
      </dgm:t>
    </dgm:pt>
    <dgm:pt modelId="{7BFE9899-3405-4418-818B-35F39D3114C7}" type="sibTrans" cxnId="{3A22FE49-5768-4E73-8F21-30E9D7795088}">
      <dgm:prSet/>
      <dgm:spPr/>
      <dgm:t>
        <a:bodyPr/>
        <a:lstStyle/>
        <a:p>
          <a:endParaRPr lang="en-US"/>
        </a:p>
      </dgm:t>
    </dgm:pt>
    <dgm:pt modelId="{2D6BC8EA-0C3C-48D1-9E39-98C24E330ECF}">
      <dgm:prSet phldrT="[Text]" phldr="0"/>
      <dgm:spPr/>
      <dgm:t>
        <a:bodyPr/>
        <a:lstStyle/>
        <a:p>
          <a:r>
            <a:rPr lang="en-US"/>
            <a:t>Key Processes</a:t>
          </a:r>
        </a:p>
      </dgm:t>
    </dgm:pt>
    <dgm:pt modelId="{2AA7330E-1054-4B89-80A3-3E94A83B8FAE}" type="parTrans" cxnId="{F8CF10FC-709A-433F-BA12-F504E95CDFC4}">
      <dgm:prSet/>
      <dgm:spPr/>
      <dgm:t>
        <a:bodyPr/>
        <a:lstStyle/>
        <a:p>
          <a:endParaRPr lang="en-US"/>
        </a:p>
      </dgm:t>
    </dgm:pt>
    <dgm:pt modelId="{0B07016A-30F3-460D-B185-1BB845EF023E}" type="sibTrans" cxnId="{F8CF10FC-709A-433F-BA12-F504E95CDFC4}">
      <dgm:prSet/>
      <dgm:spPr/>
      <dgm:t>
        <a:bodyPr/>
        <a:lstStyle/>
        <a:p>
          <a:endParaRPr lang="en-US"/>
        </a:p>
      </dgm:t>
    </dgm:pt>
    <dgm:pt modelId="{6CA559E8-6AF2-447C-8DD9-C0A4A3173B8D}" type="pres">
      <dgm:prSet presAssocID="{A5F1536C-72B3-4727-AA96-4654A4ECC10D}" presName="diagram" presStyleCnt="0">
        <dgm:presLayoutVars>
          <dgm:dir/>
          <dgm:resizeHandles val="exact"/>
        </dgm:presLayoutVars>
      </dgm:prSet>
      <dgm:spPr/>
    </dgm:pt>
    <dgm:pt modelId="{C5456D16-9E26-4641-8561-7AB2DC2892A1}" type="pres">
      <dgm:prSet presAssocID="{0835005E-186E-448C-92F7-7A353F53C058}" presName="node" presStyleLbl="node1" presStyleIdx="0" presStyleCnt="4">
        <dgm:presLayoutVars>
          <dgm:bulletEnabled val="1"/>
        </dgm:presLayoutVars>
      </dgm:prSet>
      <dgm:spPr/>
    </dgm:pt>
    <dgm:pt modelId="{EB465503-EE64-413F-8546-F39418DA48BD}" type="pres">
      <dgm:prSet presAssocID="{661A60E0-F463-47E7-A4EB-F4EC758D261B}" presName="sibTrans" presStyleCnt="0"/>
      <dgm:spPr/>
    </dgm:pt>
    <dgm:pt modelId="{0681D486-1913-499F-8A19-864F5A182084}" type="pres">
      <dgm:prSet presAssocID="{A386FDFA-AB45-4A85-B36A-1C68B1269C8B}" presName="node" presStyleLbl="node1" presStyleIdx="1" presStyleCnt="4">
        <dgm:presLayoutVars>
          <dgm:bulletEnabled val="1"/>
        </dgm:presLayoutVars>
      </dgm:prSet>
      <dgm:spPr>
        <a:solidFill>
          <a:schemeClr val="accent5"/>
        </a:solidFill>
      </dgm:spPr>
    </dgm:pt>
    <dgm:pt modelId="{017697F8-4123-4DAC-82AE-625CA7807C87}" type="pres">
      <dgm:prSet presAssocID="{0C3B4101-C2C8-469C-8405-773E0809C5F1}" presName="sibTrans" presStyleCnt="0"/>
      <dgm:spPr/>
    </dgm:pt>
    <dgm:pt modelId="{A9CCABBC-7E35-4CE9-85CC-84896E892DBC}" type="pres">
      <dgm:prSet presAssocID="{6E64E3AC-7CF5-4F1E-B6AB-454B56C79D8A}" presName="node" presStyleLbl="node1" presStyleIdx="2" presStyleCnt="4">
        <dgm:presLayoutVars>
          <dgm:bulletEnabled val="1"/>
        </dgm:presLayoutVars>
      </dgm:prSet>
      <dgm:spPr>
        <a:solidFill>
          <a:schemeClr val="accent2"/>
        </a:solidFill>
      </dgm:spPr>
    </dgm:pt>
    <dgm:pt modelId="{5E32E625-5B7B-4B35-9939-52EB74474934}" type="pres">
      <dgm:prSet presAssocID="{7BFE9899-3405-4418-818B-35F39D3114C7}" presName="sibTrans" presStyleCnt="0"/>
      <dgm:spPr/>
    </dgm:pt>
    <dgm:pt modelId="{E01A8240-A642-42B5-91EE-62F4F6994E61}" type="pres">
      <dgm:prSet presAssocID="{2D6BC8EA-0C3C-48D1-9E39-98C24E330ECF}" presName="node" presStyleLbl="node1" presStyleIdx="3" presStyleCnt="4">
        <dgm:presLayoutVars>
          <dgm:bulletEnabled val="1"/>
        </dgm:presLayoutVars>
      </dgm:prSet>
      <dgm:spPr>
        <a:solidFill>
          <a:schemeClr val="accent1">
            <a:lumMod val="60000"/>
            <a:lumOff val="40000"/>
          </a:schemeClr>
        </a:solidFill>
      </dgm:spPr>
    </dgm:pt>
  </dgm:ptLst>
  <dgm:cxnLst>
    <dgm:cxn modelId="{BD93E006-131C-400F-B06A-FFB763E76DBF}" type="presOf" srcId="{2D6BC8EA-0C3C-48D1-9E39-98C24E330ECF}" destId="{E01A8240-A642-42B5-91EE-62F4F6994E61}" srcOrd="0" destOrd="0" presId="urn:microsoft.com/office/officeart/2005/8/layout/default"/>
    <dgm:cxn modelId="{3A22FE49-5768-4E73-8F21-30E9D7795088}" srcId="{A5F1536C-72B3-4727-AA96-4654A4ECC10D}" destId="{6E64E3AC-7CF5-4F1E-B6AB-454B56C79D8A}" srcOrd="2" destOrd="0" parTransId="{63F2FF52-7063-4B47-90C4-1871B8F8D58F}" sibTransId="{7BFE9899-3405-4418-818B-35F39D3114C7}"/>
    <dgm:cxn modelId="{9CC0CF4B-0F66-4750-B808-9BE3933F6BCD}" type="presOf" srcId="{6E64E3AC-7CF5-4F1E-B6AB-454B56C79D8A}" destId="{A9CCABBC-7E35-4CE9-85CC-84896E892DBC}" srcOrd="0" destOrd="0" presId="urn:microsoft.com/office/officeart/2005/8/layout/default"/>
    <dgm:cxn modelId="{E1230770-B2CB-42BE-B101-C22528F8734F}" srcId="{A5F1536C-72B3-4727-AA96-4654A4ECC10D}" destId="{0835005E-186E-448C-92F7-7A353F53C058}" srcOrd="0" destOrd="0" parTransId="{CF0CE319-4541-4F7A-9BF3-389A79BD3EFA}" sibTransId="{661A60E0-F463-47E7-A4EB-F4EC758D261B}"/>
    <dgm:cxn modelId="{ED167870-0471-4D15-9CD6-25EF987A177B}" type="presOf" srcId="{A386FDFA-AB45-4A85-B36A-1C68B1269C8B}" destId="{0681D486-1913-499F-8A19-864F5A182084}" srcOrd="0" destOrd="0" presId="urn:microsoft.com/office/officeart/2005/8/layout/default"/>
    <dgm:cxn modelId="{001673A9-AA17-4529-B4CF-5674A6454B71}" srcId="{A5F1536C-72B3-4727-AA96-4654A4ECC10D}" destId="{A386FDFA-AB45-4A85-B36A-1C68B1269C8B}" srcOrd="1" destOrd="0" parTransId="{C5C46725-2607-4BE0-8E5E-A95CCB51BBD4}" sibTransId="{0C3B4101-C2C8-469C-8405-773E0809C5F1}"/>
    <dgm:cxn modelId="{AF7FF2AC-C055-4B1C-A15D-0705A130AFE0}" type="presOf" srcId="{0835005E-186E-448C-92F7-7A353F53C058}" destId="{C5456D16-9E26-4641-8561-7AB2DC2892A1}" srcOrd="0" destOrd="0" presId="urn:microsoft.com/office/officeart/2005/8/layout/default"/>
    <dgm:cxn modelId="{CDEB9BE8-68B2-44D8-B739-31E56D0A090F}" type="presOf" srcId="{A5F1536C-72B3-4727-AA96-4654A4ECC10D}" destId="{6CA559E8-6AF2-447C-8DD9-C0A4A3173B8D}" srcOrd="0" destOrd="0" presId="urn:microsoft.com/office/officeart/2005/8/layout/default"/>
    <dgm:cxn modelId="{F8CF10FC-709A-433F-BA12-F504E95CDFC4}" srcId="{A5F1536C-72B3-4727-AA96-4654A4ECC10D}" destId="{2D6BC8EA-0C3C-48D1-9E39-98C24E330ECF}" srcOrd="3" destOrd="0" parTransId="{2AA7330E-1054-4B89-80A3-3E94A83B8FAE}" sibTransId="{0B07016A-30F3-460D-B185-1BB845EF023E}"/>
    <dgm:cxn modelId="{8AC83ED6-D342-4ABF-A57B-B43BF3AC3D24}" type="presParOf" srcId="{6CA559E8-6AF2-447C-8DD9-C0A4A3173B8D}" destId="{C5456D16-9E26-4641-8561-7AB2DC2892A1}" srcOrd="0" destOrd="0" presId="urn:microsoft.com/office/officeart/2005/8/layout/default"/>
    <dgm:cxn modelId="{20134DF7-110B-4063-8A08-E1D54491AE90}" type="presParOf" srcId="{6CA559E8-6AF2-447C-8DD9-C0A4A3173B8D}" destId="{EB465503-EE64-413F-8546-F39418DA48BD}" srcOrd="1" destOrd="0" presId="urn:microsoft.com/office/officeart/2005/8/layout/default"/>
    <dgm:cxn modelId="{DACC2F27-1EE3-49E1-8DA7-613D7EC16B75}" type="presParOf" srcId="{6CA559E8-6AF2-447C-8DD9-C0A4A3173B8D}" destId="{0681D486-1913-499F-8A19-864F5A182084}" srcOrd="2" destOrd="0" presId="urn:microsoft.com/office/officeart/2005/8/layout/default"/>
    <dgm:cxn modelId="{41D485CA-049E-43F9-9705-E8D1224CB943}" type="presParOf" srcId="{6CA559E8-6AF2-447C-8DD9-C0A4A3173B8D}" destId="{017697F8-4123-4DAC-82AE-625CA7807C87}" srcOrd="3" destOrd="0" presId="urn:microsoft.com/office/officeart/2005/8/layout/default"/>
    <dgm:cxn modelId="{2097A3C0-0AA9-4CFD-95C6-E27310B69F4F}" type="presParOf" srcId="{6CA559E8-6AF2-447C-8DD9-C0A4A3173B8D}" destId="{A9CCABBC-7E35-4CE9-85CC-84896E892DBC}" srcOrd="4" destOrd="0" presId="urn:microsoft.com/office/officeart/2005/8/layout/default"/>
    <dgm:cxn modelId="{51A8D61E-8E76-4A44-AE25-E9866F71805E}" type="presParOf" srcId="{6CA559E8-6AF2-447C-8DD9-C0A4A3173B8D}" destId="{5E32E625-5B7B-4B35-9939-52EB74474934}" srcOrd="5" destOrd="0" presId="urn:microsoft.com/office/officeart/2005/8/layout/default"/>
    <dgm:cxn modelId="{ACB8C9DA-080D-4B24-8E93-182CCC4FCDE7}" type="presParOf" srcId="{6CA559E8-6AF2-447C-8DD9-C0A4A3173B8D}" destId="{E01A8240-A642-42B5-91EE-62F4F6994E61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456D16-9E26-4641-8561-7AB2DC2892A1}">
      <dsp:nvSpPr>
        <dsp:cNvPr id="0" name=""/>
        <dsp:cNvSpPr/>
      </dsp:nvSpPr>
      <dsp:spPr>
        <a:xfrm>
          <a:off x="780256" y="52"/>
          <a:ext cx="3127374" cy="18764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Ownership</a:t>
          </a:r>
        </a:p>
      </dsp:txBody>
      <dsp:txXfrm>
        <a:off x="780256" y="52"/>
        <a:ext cx="3127374" cy="1876425"/>
      </dsp:txXfrm>
    </dsp:sp>
    <dsp:sp modelId="{0681D486-1913-499F-8A19-864F5A182084}">
      <dsp:nvSpPr>
        <dsp:cNvPr id="0" name=""/>
        <dsp:cNvSpPr/>
      </dsp:nvSpPr>
      <dsp:spPr>
        <a:xfrm>
          <a:off x="4220368" y="52"/>
          <a:ext cx="3127374" cy="1876425"/>
        </a:xfrm>
        <a:prstGeom prst="rect">
          <a:avLst/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Data Design</a:t>
          </a:r>
        </a:p>
      </dsp:txBody>
      <dsp:txXfrm>
        <a:off x="4220368" y="52"/>
        <a:ext cx="3127374" cy="1876425"/>
      </dsp:txXfrm>
    </dsp:sp>
    <dsp:sp modelId="{A9CCABBC-7E35-4CE9-85CC-84896E892DBC}">
      <dsp:nvSpPr>
        <dsp:cNvPr id="0" name=""/>
        <dsp:cNvSpPr/>
      </dsp:nvSpPr>
      <dsp:spPr>
        <a:xfrm>
          <a:off x="780256" y="2189215"/>
          <a:ext cx="3127374" cy="1876425"/>
        </a:xfrm>
        <a:prstGeom prst="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Required Fields</a:t>
          </a:r>
        </a:p>
      </dsp:txBody>
      <dsp:txXfrm>
        <a:off x="780256" y="2189215"/>
        <a:ext cx="3127374" cy="1876425"/>
      </dsp:txXfrm>
    </dsp:sp>
    <dsp:sp modelId="{E01A8240-A642-42B5-91EE-62F4F6994E61}">
      <dsp:nvSpPr>
        <dsp:cNvPr id="0" name=""/>
        <dsp:cNvSpPr/>
      </dsp:nvSpPr>
      <dsp:spPr>
        <a:xfrm>
          <a:off x="4220368" y="2189215"/>
          <a:ext cx="3127374" cy="1876425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Key Processes</a:t>
          </a:r>
        </a:p>
      </dsp:txBody>
      <dsp:txXfrm>
        <a:off x="4220368" y="2189215"/>
        <a:ext cx="3127374" cy="18764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13F7A-D799-47D8-B0C0-7C909CCFF8FB}" type="datetimeFigureOut"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FCE71-FD4B-43E3-A8CE-38A62705FA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12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789fbb2d8_0_38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03" name="Google Shape;403;g32789fbb2d8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79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CC88A-216B-5C93-20CD-A002A2639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D4138-B3BA-588E-0096-E90D10AE2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68BADC-4ADF-5199-5C60-EEF331CFC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74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CCEC3-7244-3C46-9DB9-806F778100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55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E94A-C565-8AE0-FD4F-E494B3A3C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51FEE-E060-DB8B-FFA9-04EB4C96A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5BFA3-E0A2-DEF8-CBAA-57EE7FC72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CF5EC-9D83-0A1E-73D3-A7848C797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56D6-B181-778B-BB55-3EB484C12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04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BEAFE-3C4E-C6D0-17E5-A9049E55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B3ED5-0814-7EBD-BB55-4A7124270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70E5B-CDBA-494A-2A9B-80C1636A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5B121-F6F4-9636-2D8D-9C571ED6A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8485F-CD39-8F5C-EFAA-A10685660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69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7202F-10BB-FA34-5C5E-B33972ADE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8A72C-D82B-2017-DC04-DC40CFEDB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86180-65DE-D0BC-603C-F578B5B02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B8364-239C-B455-F4A1-B83AF4456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B24DA-7D5A-92A4-AEF5-1E6D99EA1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2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5E46-EDE6-85C2-3BB8-327470A6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B3DB8-9F05-6DDF-9AA3-EA08174E05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83EE2-F745-A325-6715-10F234716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565EC-F3EA-C9AE-2EA1-DC666B88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90148-8F76-A6B9-300C-AA7EA0BC4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63A55-872D-E5A3-068C-C5E3452F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80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66DE5-2045-A044-52F9-7A1E0EBF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29D1B-A453-0FB4-B6FE-8A118D633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F68CD-E617-8135-208C-1DC8A3B1E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741407-6763-6EE7-5558-441BDCB63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FFE11-059D-DC57-A666-8B29A2E6F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19EDFE-9C55-62CB-5BEF-DAC5B2B4A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72F597-D23C-0B9E-E871-2F166AA94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685201-8B5F-E152-0C58-430B63D7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86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1755-71A3-757B-C022-1C77925CA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401C2-3002-2C81-495F-7A48C4269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63AF-89E5-536B-A2B2-9D7DAE3F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BCEA8-7B2A-5AC5-59B7-7D8684F0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556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95AC4D-D76B-B682-9EE7-590D6A6CC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7805F7-FE58-E356-5918-049C902BA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F8B86-3CE0-E51C-3E12-14EB4EB4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45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0E6F-7058-DA5C-68C2-3D8C6FCDE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5074F-FDA3-ACF7-B15A-E1FD19E46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CFEE2-CC65-6CE0-6D89-F9F3EC79A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671D3-ABB4-70EB-F600-F04A40450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98883-609A-A053-7D2D-B185F15B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53799-8218-1123-40BB-D25A94FB5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43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BA61-CE62-4BF2-F854-39B66B288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E8F396-5489-E8BC-CD9B-CFEC1DC63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2BF8A-2397-249D-7AC5-7DC9B151A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CB50B-6F55-458C-BA03-2E612E28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C0A8D-D690-96BD-95D4-50A655114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76804-8623-7E02-4613-760D81FA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0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A54B9-7BC0-0657-D7C9-67AFA319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BC771-FBC8-533C-0798-DE22B77DD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903CE-3779-22AC-EB91-E2C35D3A6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E7B7A-3287-30F2-ADDE-957C0F4EB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27AD3-8C12-CFE1-169C-8176B869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08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A62C37-4DDD-ED86-CD18-1C4379A23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A55ED-6B23-6731-857E-0F1C0EB00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29536-AEF2-FE0C-06F3-C7BB1586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1C6DD-CB04-BB00-4E5E-036D3505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105EA-DD46-7CB1-C060-443E2E99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53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8073" y="437960"/>
            <a:ext cx="11375136" cy="609600"/>
          </a:xfrm>
        </p:spPr>
        <p:txBody>
          <a:bodyPr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4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7905447" y="934345"/>
            <a:ext cx="2934692" cy="484592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19FDF49E-F19D-7966-5841-E8FE9E5F2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173873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0CA405F-B3CD-76DC-CAA3-F740ED934F6D}"/>
              </a:ext>
            </a:extLst>
          </p:cNvPr>
          <p:cNvSpPr/>
          <p:nvPr userDrawn="1"/>
        </p:nvSpPr>
        <p:spPr>
          <a:xfrm>
            <a:off x="0" y="63260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6FA4A-C1E9-5357-C9A5-5FFC82FC26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00" t="918" r="-200" b="27132"/>
          <a:stretch/>
        </p:blipFill>
        <p:spPr>
          <a:xfrm>
            <a:off x="0" y="4448042"/>
            <a:ext cx="12228576" cy="245839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583" y="6070185"/>
            <a:ext cx="2084131" cy="656644"/>
          </a:xfrm>
          <a:prstGeom prst="rect">
            <a:avLst/>
          </a:prstGeom>
        </p:spPr>
      </p:pic>
      <p:sp>
        <p:nvSpPr>
          <p:cNvPr id="8" name="Green top line">
            <a:extLst>
              <a:ext uri="{FF2B5EF4-FFF2-40B4-BE49-F238E27FC236}">
                <a16:creationId xmlns:a16="http://schemas.microsoft.com/office/drawing/2014/main" id="{03CF2A64-7CD1-4C22-7B38-A723A28DFEF4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0E030D4-1768-E3AD-266E-7222A4E8C0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8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MS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29B655-E050-2CEF-2CE1-0A53AA4DC649}"/>
              </a:ext>
            </a:extLst>
          </p:cNvPr>
          <p:cNvSpPr/>
          <p:nvPr userDrawn="1"/>
        </p:nvSpPr>
        <p:spPr>
          <a:xfrm>
            <a:off x="0" y="36576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9AEF07-3191-3F4A-3F7A-19EC791E9D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4126" t="305" r="-34" b="-305"/>
          <a:stretch/>
        </p:blipFill>
        <p:spPr>
          <a:xfrm>
            <a:off x="0" y="4420754"/>
            <a:ext cx="12216384" cy="2455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000" t="-13025" b="-13798"/>
          <a:stretch/>
        </p:blipFill>
        <p:spPr>
          <a:xfrm>
            <a:off x="154612" y="5982816"/>
            <a:ext cx="2280355" cy="691685"/>
          </a:xfrm>
          <a:prstGeom prst="rect">
            <a:avLst/>
          </a:prstGeom>
        </p:spPr>
      </p:pic>
      <p:sp>
        <p:nvSpPr>
          <p:cNvPr id="4" name="Green top line">
            <a:extLst>
              <a:ext uri="{FF2B5EF4-FFF2-40B4-BE49-F238E27FC236}">
                <a16:creationId xmlns:a16="http://schemas.microsoft.com/office/drawing/2014/main" id="{265938C9-7DBB-F010-0315-57D2F87C9106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E3F8541-C6A9-5757-9A4E-81D643DAAA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88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3048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5E742-6DCA-666E-9947-B0EE936494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2" name="CE Logo">
            <a:extLst>
              <a:ext uri="{FF2B5EF4-FFF2-40B4-BE49-F238E27FC236}">
                <a16:creationId xmlns:a16="http://schemas.microsoft.com/office/drawing/2014/main" id="{91ECB4FD-021B-A84F-9C74-397F7A9456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9122" t="10605" r="9079" b="11083"/>
          <a:stretch/>
        </p:blipFill>
        <p:spPr>
          <a:xfrm>
            <a:off x="189070" y="5913969"/>
            <a:ext cx="2205157" cy="79168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1DC64331-E5B9-B4C2-135F-7D91D7FFA2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6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M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">
            <a:extLst>
              <a:ext uri="{FF2B5EF4-FFF2-40B4-BE49-F238E27FC236}">
                <a16:creationId xmlns:a16="http://schemas.microsoft.com/office/drawing/2014/main" id="{6E3FDA63-1642-2C7F-F7CA-C7BBCAEC20E0}"/>
              </a:ext>
            </a:extLst>
          </p:cNvPr>
          <p:cNvSpPr/>
          <p:nvPr userDrawn="1"/>
        </p:nvSpPr>
        <p:spPr>
          <a:xfrm>
            <a:off x="0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87A2A-DEBD-3AA2-CBF5-D11C589099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1" name="CMS Energy Logo"/>
          <p:cNvPicPr>
            <a:picLocks noChangeAspect="1"/>
          </p:cNvPicPr>
          <p:nvPr userDrawn="1"/>
        </p:nvPicPr>
        <p:blipFill>
          <a:blip r:embed="rId3"/>
          <a:srcRect l="12" r="12"/>
          <a:stretch/>
        </p:blipFill>
        <p:spPr>
          <a:xfrm>
            <a:off x="100995" y="5981919"/>
            <a:ext cx="2279792" cy="6096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2067152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rgbClr val="000000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8720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E3E4CB9-D420-3CAB-8B68-2F5CDB9EB78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8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441B6A3-22F6-3738-6E9B-7AFE278268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7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D62B44-7DFB-726F-5071-FA040D62A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782" y="5459865"/>
            <a:ext cx="1697999" cy="68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0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131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0"/>
            <a:ext cx="11375136" cy="609600"/>
          </a:xfrm>
        </p:spPr>
        <p:txBody>
          <a:bodyPr anchor="b" anchorCtr="0"/>
          <a:lstStyle>
            <a:lvl1pPr algn="l">
              <a:defRPr sz="3200" b="0" i="0" cap="none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"/>
          <p:cNvSpPr>
            <a:spLocks noGrp="1"/>
          </p:cNvSpPr>
          <p:nvPr>
            <p:ph type="body" idx="1"/>
          </p:nvPr>
        </p:nvSpPr>
        <p:spPr>
          <a:xfrm>
            <a:off x="414528" y="3535680"/>
            <a:ext cx="11375136" cy="8534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E6D58A-F04B-D2E8-EFD8-3D2275F628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73809" y="5075956"/>
            <a:ext cx="2680107" cy="103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4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6400800" y="1219201"/>
            <a:ext cx="5384800" cy="398660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lang="en-US" sz="2133" b="0" i="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414528" y="1219201"/>
            <a:ext cx="5384800" cy="4352993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2133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wrap="none" lIns="0" tIns="45720" rIns="91440" b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A46DFA08-46CD-F086-6119-EF05D7343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46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F98E-6AAF-3ACB-63F7-A2C28BFC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0E233A6-DBBA-2515-B63A-9166DCE9B7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73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16CDDDB-E2E6-96CF-7794-2CB281875C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2609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C2F74D7-F259-ED94-FAC1-892474DA4D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8599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C7D399D-8CB9-19E1-9EC0-25CC0E8D1A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173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D3E4421-7396-C90C-5119-84E1DA3263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2609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BB0FC328-3EDB-117F-B241-774C52C45C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599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8FD594C-5CE2-2E39-47A0-730C3B5520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4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quarter" idx="4"/>
          </p:nvPr>
        </p:nvSpPr>
        <p:spPr>
          <a:xfrm>
            <a:off x="6400801" y="1999488"/>
            <a:ext cx="5389033" cy="3309112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ub-title 2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1" y="1219200"/>
            <a:ext cx="5389033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2"/>
          </p:nvPr>
        </p:nvSpPr>
        <p:spPr>
          <a:xfrm>
            <a:off x="414528" y="1982049"/>
            <a:ext cx="5386917" cy="3583521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ub-title 1"/>
          <p:cNvSpPr>
            <a:spLocks noGrp="1"/>
          </p:cNvSpPr>
          <p:nvPr>
            <p:ph type="body" idx="1" hasCustomPrompt="1"/>
          </p:nvPr>
        </p:nvSpPr>
        <p:spPr>
          <a:xfrm>
            <a:off x="414528" y="1219200"/>
            <a:ext cx="5386917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anchor="b"/>
          <a:lstStyle>
            <a:lvl1pPr>
              <a:defRPr b="0" i="0">
                <a:solidFill>
                  <a:srgbClr val="1465C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E0979A95-488D-09C8-AE26-774FF0CB30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"/>
          <p:cNvSpPr>
            <a:spLocks noGrp="1"/>
          </p:cNvSpPr>
          <p:nvPr>
            <p:ph type="pic" sz="quarter" idx="13"/>
          </p:nvPr>
        </p:nvSpPr>
        <p:spPr>
          <a:xfrm>
            <a:off x="8077200" y="1202568"/>
            <a:ext cx="4114800" cy="322019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"/>
          <p:cNvSpPr>
            <a:spLocks noGrp="1"/>
          </p:cNvSpPr>
          <p:nvPr>
            <p:ph type="body" sz="half" idx="2"/>
          </p:nvPr>
        </p:nvSpPr>
        <p:spPr>
          <a:xfrm>
            <a:off x="414528" y="1202569"/>
            <a:ext cx="7489251" cy="4394668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4528" y="438912"/>
            <a:ext cx="7662672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C4F7D118-FEE1-1BB0-CD7C-74505B7976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2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-Full he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hite Background">
            <a:extLst>
              <a:ext uri="{FF2B5EF4-FFF2-40B4-BE49-F238E27FC236}">
                <a16:creationId xmlns:a16="http://schemas.microsoft.com/office/drawing/2014/main" id="{902DAFEE-672B-5531-AF4D-6EDB10B89A39}"/>
              </a:ext>
            </a:extLst>
          </p:cNvPr>
          <p:cNvSpPr/>
          <p:nvPr userDrawn="1"/>
        </p:nvSpPr>
        <p:spPr>
          <a:xfrm>
            <a:off x="0" y="122863"/>
            <a:ext cx="4064000" cy="67351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2" name="Picture Placeholder ">
            <a:extLst>
              <a:ext uri="{FF2B5EF4-FFF2-40B4-BE49-F238E27FC236}">
                <a16:creationId xmlns:a16="http://schemas.microsoft.com/office/drawing/2014/main" id="{FECA367A-4BF0-0C0F-3498-6E6DCA02C6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17" y="122862"/>
            <a:ext cx="4053483" cy="673513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">
            <a:extLst>
              <a:ext uri="{FF2B5EF4-FFF2-40B4-BE49-F238E27FC236}">
                <a16:creationId xmlns:a16="http://schemas.microsoft.com/office/drawing/2014/main" id="{46316DF1-26A9-2E6B-73C8-3D75A8FE6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30263" y="1202767"/>
            <a:ext cx="7463676" cy="4985627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4B4795F-48D0-3560-24E9-9EED8A3F9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8161" y="438912"/>
            <a:ext cx="7463676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1F91E5E3-C052-DFF7-0F22-4D1D49D5D0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5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8073" y="437960"/>
            <a:ext cx="11375136" cy="609600"/>
          </a:xfrm>
        </p:spPr>
        <p:txBody>
          <a:bodyPr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6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lue top line">
            <a:extLst>
              <a:ext uri="{FF2B5EF4-FFF2-40B4-BE49-F238E27FC236}">
                <a16:creationId xmlns:a16="http://schemas.microsoft.com/office/drawing/2014/main" id="{E698F46C-0450-0A42-69F4-4CA2C83E49C9}"/>
              </a:ext>
            </a:extLst>
          </p:cNvPr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7" name="Green top line">
            <a:extLst>
              <a:ext uri="{FF2B5EF4-FFF2-40B4-BE49-F238E27FC236}">
                <a16:creationId xmlns:a16="http://schemas.microsoft.com/office/drawing/2014/main" id="{12C9F3AD-9532-11E6-E672-6F10181290C1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EBB37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64C7FB6B-3110-4907-76D3-A00724A38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4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10430932" y="3565994"/>
            <a:ext cx="1465792" cy="241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9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7905447" y="934345"/>
            <a:ext cx="2934692" cy="484592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19FDF49E-F19D-7966-5841-E8FE9E5F2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58484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2473" y="5343937"/>
            <a:ext cx="7910000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66051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3AA51E4-54C5-C3EB-E63C-24DF6CD86D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40838" y="5542513"/>
            <a:ext cx="3331413" cy="1122135"/>
          </a:xfrm>
          <a:prstGeom prst="rect">
            <a:avLst/>
          </a:prstGeom>
        </p:spPr>
      </p:pic>
      <p:sp>
        <p:nvSpPr>
          <p:cNvPr id="8" name="Content Placeholder">
            <a:extLst>
              <a:ext uri="{FF2B5EF4-FFF2-40B4-BE49-F238E27FC236}">
                <a16:creationId xmlns:a16="http://schemas.microsoft.com/office/drawing/2014/main" id="{5F38107C-7728-4558-7E69-FAF1CE2A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F8B98C3A-005E-FCC5-F2BE-C72514D32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9031" t="-2797" b="-1"/>
          <a:stretch>
            <a:fillRect/>
          </a:stretch>
        </p:blipFill>
        <p:spPr>
          <a:xfrm>
            <a:off x="10876040" y="4876801"/>
            <a:ext cx="1076861" cy="1778172"/>
          </a:xfrm>
          <a:prstGeom prst="rect">
            <a:avLst/>
          </a:prstGeom>
        </p:spPr>
      </p:pic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56B42121-3791-88E3-3566-C1D5909E1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2F9A820-95BB-FDF9-48A2-DDD11B6C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381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8098971" y="924669"/>
            <a:ext cx="2934692" cy="48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0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D421C6B-9F5B-4DB8-A455-F9B42A1B54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00801"/>
            <a:ext cx="5486313" cy="22224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IBM Consulting / © IBM Corporation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57B4B170-B75A-4566-BD1C-C1A3AC9774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2" y="6400801"/>
            <a:ext cx="2438309" cy="22224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0E55ADD0-679D-766C-B0A5-B16098B26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256032"/>
            <a:ext cx="11606693" cy="860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F18601E-3127-8A99-E91E-5885361C43C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756834"/>
            <a:ext cx="11582400" cy="45444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10821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C3C3B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21" y="1660526"/>
            <a:ext cx="5384800" cy="4296068"/>
          </a:xfrm>
        </p:spPr>
        <p:txBody>
          <a:bodyPr>
            <a:normAutofit/>
          </a:bodyPr>
          <a:lstStyle>
            <a:lvl1pPr marL="0" indent="0">
              <a:buNone/>
              <a:defRPr sz="2667">
                <a:solidFill>
                  <a:srgbClr val="3C3C3B"/>
                </a:solidFill>
              </a:defRPr>
            </a:lvl1pPr>
            <a:lvl2pPr marL="365742" indent="-365742">
              <a:buFont typeface="Arial" panose="020B0604020202020204" pitchFamily="34" charset="0"/>
              <a:buChar char="•"/>
              <a:defRPr sz="2400">
                <a:solidFill>
                  <a:srgbClr val="3C3C3B"/>
                </a:solidFill>
              </a:defRPr>
            </a:lvl2pPr>
            <a:lvl3pPr marL="731484" indent="-365742">
              <a:buFont typeface="Arial" panose="020B0604020202020204" pitchFamily="34" charset="0"/>
              <a:buChar char="•"/>
              <a:defRPr sz="2133">
                <a:solidFill>
                  <a:srgbClr val="3C3C3B"/>
                </a:solidFill>
              </a:defRPr>
            </a:lvl3pPr>
            <a:lvl4pPr marL="109722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4pPr>
            <a:lvl5pPr marL="146296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60526"/>
            <a:ext cx="5384800" cy="4296068"/>
          </a:xfrm>
        </p:spPr>
        <p:txBody>
          <a:bodyPr>
            <a:normAutofit/>
          </a:bodyPr>
          <a:lstStyle>
            <a:lvl1pPr marL="0" indent="0">
              <a:buNone/>
              <a:defRPr sz="2667">
                <a:solidFill>
                  <a:srgbClr val="3C3C3B"/>
                </a:solidFill>
              </a:defRPr>
            </a:lvl1pPr>
            <a:lvl2pPr marL="365742" indent="-365742">
              <a:buFont typeface="Arial" panose="020B0604020202020204" pitchFamily="34" charset="0"/>
              <a:buChar char="•"/>
              <a:defRPr lang="en-US" sz="2400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2pPr>
            <a:lvl3pPr marL="731484" indent="-365742">
              <a:buFont typeface="Arial" panose="020B0604020202020204" pitchFamily="34" charset="0"/>
              <a:buChar char="•"/>
              <a:defRPr sz="2133">
                <a:solidFill>
                  <a:srgbClr val="3C3C3B"/>
                </a:solidFill>
              </a:defRPr>
            </a:lvl3pPr>
            <a:lvl4pPr marL="109722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4pPr>
            <a:lvl5pPr marL="146296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355F-22F0-684D-B046-094980D10CE1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9B7C6-3FEA-7848-A062-37F8F6368D0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0450287" y="-53219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14691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F262E-C592-3212-8CCB-AEDDA5F91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194FE-F685-D3DD-590A-8AF2F72CE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75257-0211-6B81-C931-9164A49704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88479-BA81-4009-A123-8DEC37C97121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724AC-A78E-8FA7-7A44-B7D3D58D1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A7047-926C-1AB6-C417-8D2D5E13A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74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8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A91A35-079A-C9FF-D72C-0EDC5BC8C68A}"/>
              </a:ext>
            </a:extLst>
          </p:cNvPr>
          <p:cNvSpPr/>
          <p:nvPr userDrawn="1"/>
        </p:nvSpPr>
        <p:spPr>
          <a:xfrm>
            <a:off x="0" y="6214429"/>
            <a:ext cx="12192000" cy="643572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527" y="441960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528" y="1219201"/>
            <a:ext cx="11375136" cy="422053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Blue top line"/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rgbClr val="146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7" name="Green top line"/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0278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96" r:id="rId24"/>
    <p:sldLayoutId id="2147483697" r:id="rId25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b="0" i="0" kern="1200" baseline="0">
          <a:solidFill>
            <a:srgbClr val="1866AE"/>
          </a:solidFill>
          <a:latin typeface="Montserrat" pitchFamily="2" charset="77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spcBef>
          <a:spcPct val="20000"/>
        </a:spcBef>
        <a:buClr>
          <a:schemeClr val="tx2"/>
        </a:buClr>
        <a:buFont typeface="Wingdings" charset="2"/>
        <a:buNone/>
        <a:defRPr sz="2133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1pPr>
      <a:lvl2pPr marL="365751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8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2pPr>
      <a:lvl3pPr marL="731502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600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3pPr>
      <a:lvl4pPr marL="109725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4pPr>
      <a:lvl5pPr marL="146300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5760">
          <p15:clr>
            <a:srgbClr val="F26B43"/>
          </p15:clr>
        </p15:guide>
        <p15:guide id="3" pos="190">
          <p15:clr>
            <a:srgbClr val="F26B43"/>
          </p15:clr>
        </p15:guide>
        <p15:guide id="4" pos="1983">
          <p15:clr>
            <a:srgbClr val="F26B43"/>
          </p15:clr>
        </p15:guide>
        <p15:guide id="5" pos="3776">
          <p15:clr>
            <a:srgbClr val="F26B43"/>
          </p15:clr>
        </p15:guide>
        <p15:guide id="6" pos="5569">
          <p15:clr>
            <a:srgbClr val="F26B43"/>
          </p15:clr>
        </p15:guide>
        <p15:guide id="7" orient="horz">
          <p15:clr>
            <a:srgbClr val="F26B43"/>
          </p15:clr>
        </p15:guide>
        <p15:guide id="8" orient="horz" pos="3240">
          <p15:clr>
            <a:srgbClr val="F26B43"/>
          </p15:clr>
        </p15:guide>
        <p15:guide id="9" orient="horz" pos="190">
          <p15:clr>
            <a:srgbClr val="F26B43"/>
          </p15:clr>
        </p15:guide>
        <p15:guide id="10" orient="horz" pos="1158">
          <p15:clr>
            <a:srgbClr val="F26B43"/>
          </p15:clr>
        </p15:guide>
        <p15:guide id="11" orient="horz" pos="2127">
          <p15:clr>
            <a:srgbClr val="F26B43"/>
          </p15:clr>
        </p15:guide>
        <p15:guide id="12" orient="horz" pos="3095">
          <p15:clr>
            <a:srgbClr val="F26B43"/>
          </p15:clr>
        </p15:guide>
        <p15:guide id="13" pos="5376">
          <p15:clr>
            <a:srgbClr val="F26B43"/>
          </p15:clr>
        </p15:guide>
        <p15:guide id="14" orient="horz" pos="5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FF0_1996B2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F2460-6DBE-619C-CA11-2645AAEBF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A08FD6-7E06-AEC4-FC0F-CD07B6991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008" y="1270659"/>
            <a:ext cx="11705493" cy="3272557"/>
          </a:xfrm>
        </p:spPr>
        <p:txBody>
          <a:bodyPr/>
          <a:lstStyle/>
          <a:p>
            <a:r>
              <a:rPr lang="en-US" sz="4250">
                <a:latin typeface="Montserrat"/>
              </a:rPr>
              <a:t>Create and Maintain Business Master Data </a:t>
            </a:r>
            <a:br>
              <a:rPr lang="en-US" sz="4250">
                <a:latin typeface="Montserrat"/>
              </a:rPr>
            </a:br>
            <a:r>
              <a:rPr lang="en-US" sz="4250">
                <a:latin typeface="Montserrat"/>
              </a:rPr>
              <a:t>Workshop A-1</a:t>
            </a:r>
            <a:br>
              <a:rPr lang="en-US" sz="4250"/>
            </a:br>
            <a:br>
              <a:rPr lang="en-US" sz="4250">
                <a:latin typeface="Montserrat"/>
              </a:rPr>
            </a:br>
            <a:r>
              <a:rPr lang="en-US" sz="2800" b="1">
                <a:latin typeface="Montserrat"/>
              </a:rPr>
              <a:t>Jose Diaz and Mohanta Das</a:t>
            </a:r>
            <a:br>
              <a:rPr lang="en-US" sz="2800"/>
            </a:br>
            <a:r>
              <a:rPr lang="en-US" sz="2800">
                <a:latin typeface="Montserrat"/>
              </a:rPr>
              <a:t>5/6/26</a:t>
            </a:r>
            <a:endParaRPr lang="en-US" sz="2800" b="1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852294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2789fbb2d8_0_38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1866AE"/>
              </a:buClr>
              <a:buSzPts val="3200"/>
            </a:pPr>
            <a:r>
              <a:rPr lang="en-US" sz="3733"/>
              <a:t>Overarching Design Principles</a:t>
            </a:r>
            <a:endParaRPr/>
          </a:p>
        </p:txBody>
      </p:sp>
      <p:sp>
        <p:nvSpPr>
          <p:cNvPr id="410" name="Google Shape;410;g32789fbb2d8_0_389"/>
          <p:cNvSpPr txBox="1">
            <a:spLocks noGrp="1"/>
          </p:cNvSpPr>
          <p:nvPr>
            <p:ph type="sldNum" idx="4294967295"/>
          </p:nvPr>
        </p:nvSpPr>
        <p:spPr>
          <a:xfrm>
            <a:off x="11582400" y="6316133"/>
            <a:ext cx="609600" cy="36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067" b="0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+mn-ea"/>
                <a:cs typeface="Arial"/>
                <a:sym typeface="Montserrat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2</a:t>
            </a:fld>
            <a:endParaRPr kumimoji="0" sz="1067" b="0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+mn-ea"/>
              <a:cs typeface="Arial"/>
              <a:sym typeface="Montserra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BB7B8B-CC49-D365-0378-CE28117D9C6F}"/>
              </a:ext>
            </a:extLst>
          </p:cNvPr>
          <p:cNvGrpSpPr/>
          <p:nvPr/>
        </p:nvGrpSpPr>
        <p:grpSpPr>
          <a:xfrm>
            <a:off x="190185" y="2929812"/>
            <a:ext cx="5765212" cy="1492901"/>
            <a:chOff x="142638" y="2224199"/>
            <a:chExt cx="4323909" cy="1119676"/>
          </a:xfrm>
        </p:grpSpPr>
        <p:sp>
          <p:nvSpPr>
            <p:cNvPr id="407" name="Google Shape;407;g32789fbb2d8_0_389"/>
            <p:cNvSpPr txBox="1"/>
            <p:nvPr/>
          </p:nvSpPr>
          <p:spPr>
            <a:xfrm>
              <a:off x="1166753" y="2719097"/>
              <a:ext cx="3267641" cy="5079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r>
                <a:rPr kumimoji="0" lang="en-US" sz="12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2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minimize customizations and keep the core clean</a:t>
              </a:r>
              <a:r>
                <a:rPr kumimoji="0" lang="en-US" sz="12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to ease future upgrades, improving agility and scalability.</a:t>
              </a:r>
              <a:endParaRPr kumimoji="0" lang="en-US" sz="1267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08" name="Google Shape;408;g32789fbb2d8_0_389"/>
            <p:cNvSpPr/>
            <p:nvPr/>
          </p:nvSpPr>
          <p:spPr>
            <a:xfrm>
              <a:off x="1198906" y="2224199"/>
              <a:ext cx="3267641" cy="1119623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1333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09" name="Google Shape;409;g32789fbb2d8_0_389"/>
            <p:cNvSpPr/>
            <p:nvPr/>
          </p:nvSpPr>
          <p:spPr>
            <a:xfrm>
              <a:off x="142638" y="2224199"/>
              <a:ext cx="1045800" cy="1119676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14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417;g32789fbb2d8_0_389">
              <a:extLst>
                <a:ext uri="{FF2B5EF4-FFF2-40B4-BE49-F238E27FC236}">
                  <a16:creationId xmlns:a16="http://schemas.microsoft.com/office/drawing/2014/main" id="{41D41366-DF01-1768-218C-4C7589718121}"/>
                </a:ext>
              </a:extLst>
            </p:cNvPr>
            <p:cNvSpPr/>
            <p:nvPr/>
          </p:nvSpPr>
          <p:spPr>
            <a:xfrm>
              <a:off x="1188438" y="2233595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r>
                <a:rPr kumimoji="0" lang="en-GB" sz="2133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Minimize customizations</a:t>
              </a:r>
              <a:endParaRPr kumimoji="0" sz="2133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Nunito"/>
              </a:endParaRPr>
            </a:p>
          </p:txBody>
        </p:sp>
        <p:pic>
          <p:nvPicPr>
            <p:cNvPr id="430" name="Google Shape;430;g32789fbb2d8_0_389" descr="Gears outlin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7931" y="2376197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B18C77-C996-6AF4-3C3E-7E4E1642FBB4}"/>
              </a:ext>
            </a:extLst>
          </p:cNvPr>
          <p:cNvGrpSpPr/>
          <p:nvPr/>
        </p:nvGrpSpPr>
        <p:grpSpPr>
          <a:xfrm>
            <a:off x="6245601" y="2929813"/>
            <a:ext cx="5764788" cy="1457101"/>
            <a:chOff x="4684200" y="2235351"/>
            <a:chExt cx="4323591" cy="1092826"/>
          </a:xfrm>
        </p:grpSpPr>
        <p:sp>
          <p:nvSpPr>
            <p:cNvPr id="9" name="Google Shape;407;g32789fbb2d8_0_389">
              <a:extLst>
                <a:ext uri="{FF2B5EF4-FFF2-40B4-BE49-F238E27FC236}">
                  <a16:creationId xmlns:a16="http://schemas.microsoft.com/office/drawing/2014/main" id="{9DC1BFDA-BBBE-D3AA-D906-721A4B227937}"/>
                </a:ext>
              </a:extLst>
            </p:cNvPr>
            <p:cNvSpPr txBox="1"/>
            <p:nvPr/>
          </p:nvSpPr>
          <p:spPr>
            <a:xfrm>
              <a:off x="5716044" y="2622413"/>
              <a:ext cx="3267641" cy="654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r>
                <a:rPr kumimoji="0" lang="en-US" sz="12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Non-SAP applications </a:t>
              </a:r>
              <a:r>
                <a:rPr kumimoji="0" lang="en-US" sz="12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will only be considered </a:t>
              </a:r>
              <a:r>
                <a:rPr kumimoji="0" lang="en-US" sz="12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if they are considered ‘best of breed’ and are necessary to </a:t>
              </a:r>
              <a:r>
                <a:rPr kumimoji="0" lang="en-US" sz="12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enable competitive advantage or meet complex regulatory requirements.</a:t>
              </a:r>
              <a:endParaRPr kumimoji="0" lang="en-US" sz="1267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10" name="Google Shape;408;g32789fbb2d8_0_389">
              <a:extLst>
                <a:ext uri="{FF2B5EF4-FFF2-40B4-BE49-F238E27FC236}">
                  <a16:creationId xmlns:a16="http://schemas.microsoft.com/office/drawing/2014/main" id="{8F90BB64-A06C-6838-C906-C7141DC97498}"/>
                </a:ext>
              </a:extLst>
            </p:cNvPr>
            <p:cNvSpPr/>
            <p:nvPr/>
          </p:nvSpPr>
          <p:spPr>
            <a:xfrm>
              <a:off x="5740151" y="2242927"/>
              <a:ext cx="3267640" cy="1085250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1333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4" name="Google Shape;414;g32789fbb2d8_0_389"/>
            <p:cNvSpPr/>
            <p:nvPr/>
          </p:nvSpPr>
          <p:spPr>
            <a:xfrm>
              <a:off x="4684200" y="2235351"/>
              <a:ext cx="1045800" cy="1092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14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417;g32789fbb2d8_0_389">
              <a:extLst>
                <a:ext uri="{FF2B5EF4-FFF2-40B4-BE49-F238E27FC236}">
                  <a16:creationId xmlns:a16="http://schemas.microsoft.com/office/drawing/2014/main" id="{4589EB17-6120-C3B2-A307-D429542D1035}"/>
                </a:ext>
              </a:extLst>
            </p:cNvPr>
            <p:cNvSpPr/>
            <p:nvPr/>
          </p:nvSpPr>
          <p:spPr>
            <a:xfrm>
              <a:off x="5740040" y="2235351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r>
                <a:rPr kumimoji="0" lang="en-GB" sz="2133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‘Best of Breed’ by exception</a:t>
              </a:r>
              <a:endParaRPr kumimoji="0" sz="2133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Nunito"/>
              </a:endParaRPr>
            </a:p>
          </p:txBody>
        </p:sp>
        <p:pic>
          <p:nvPicPr>
            <p:cNvPr id="431" name="Google Shape;431;g32789fbb2d8_0_389" descr="Clipboard Badge with solid fill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57222" y="2376150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B17FF38-FB3B-AE05-2E09-63D1AD5DCA28}"/>
              </a:ext>
            </a:extLst>
          </p:cNvPr>
          <p:cNvGrpSpPr/>
          <p:nvPr/>
        </p:nvGrpSpPr>
        <p:grpSpPr>
          <a:xfrm>
            <a:off x="198500" y="1303112"/>
            <a:ext cx="5760893" cy="1494064"/>
            <a:chOff x="148875" y="977333"/>
            <a:chExt cx="4320670" cy="1120548"/>
          </a:xfrm>
        </p:grpSpPr>
        <p:sp>
          <p:nvSpPr>
            <p:cNvPr id="417" name="Google Shape;417;g32789fbb2d8_0_389"/>
            <p:cNvSpPr/>
            <p:nvPr/>
          </p:nvSpPr>
          <p:spPr>
            <a:xfrm>
              <a:off x="1198235" y="1253012"/>
              <a:ext cx="3267750" cy="844638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1333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8" name="Google Shape;418;g32789fbb2d8_0_389"/>
            <p:cNvSpPr txBox="1"/>
            <p:nvPr/>
          </p:nvSpPr>
          <p:spPr>
            <a:xfrm>
              <a:off x="1177486" y="1452484"/>
              <a:ext cx="3267579" cy="5079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r>
                <a:rPr kumimoji="0" lang="en-US" sz="12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2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change and adapt our existing business processes to fit to standard</a:t>
              </a:r>
              <a:r>
                <a:rPr kumimoji="0" lang="en-US" sz="12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‘out of the box’ functionality.</a:t>
              </a:r>
              <a:endParaRPr kumimoji="0" lang="en-US" sz="1267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" name="Google Shape;417;g32789fbb2d8_0_389">
              <a:extLst>
                <a:ext uri="{FF2B5EF4-FFF2-40B4-BE49-F238E27FC236}">
                  <a16:creationId xmlns:a16="http://schemas.microsoft.com/office/drawing/2014/main" id="{8D41AEF2-1070-0073-A19C-3DEBFCB3F678}"/>
                </a:ext>
              </a:extLst>
            </p:cNvPr>
            <p:cNvSpPr/>
            <p:nvPr/>
          </p:nvSpPr>
          <p:spPr>
            <a:xfrm>
              <a:off x="1204774" y="977333"/>
              <a:ext cx="326477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r>
                <a:rPr kumimoji="0" lang="en-GB" sz="2133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Fit to Standard</a:t>
              </a:r>
              <a:endParaRPr kumimoji="0" sz="2133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9" name="Google Shape;419;g32789fbb2d8_0_389"/>
            <p:cNvSpPr/>
            <p:nvPr/>
          </p:nvSpPr>
          <p:spPr>
            <a:xfrm>
              <a:off x="148875" y="978056"/>
              <a:ext cx="1045800" cy="1119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14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2" name="Google Shape;432;g32789fbb2d8_0_389" descr="Continuous Improvement with solid fil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8404" y="1115429"/>
              <a:ext cx="844856" cy="8448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4C6719C-6455-40CF-7C36-72B0A0B5B873}"/>
              </a:ext>
            </a:extLst>
          </p:cNvPr>
          <p:cNvGrpSpPr/>
          <p:nvPr/>
        </p:nvGrpSpPr>
        <p:grpSpPr>
          <a:xfrm>
            <a:off x="198500" y="4555350"/>
            <a:ext cx="5748579" cy="1525554"/>
            <a:chOff x="148875" y="3416513"/>
            <a:chExt cx="4311434" cy="1144166"/>
          </a:xfrm>
        </p:grpSpPr>
        <p:sp>
          <p:nvSpPr>
            <p:cNvPr id="7" name="Google Shape;417;g32789fbb2d8_0_389">
              <a:extLst>
                <a:ext uri="{FF2B5EF4-FFF2-40B4-BE49-F238E27FC236}">
                  <a16:creationId xmlns:a16="http://schemas.microsoft.com/office/drawing/2014/main" id="{E908B7A6-2C7E-0E4F-24F6-146F9D47ABBB}"/>
                </a:ext>
              </a:extLst>
            </p:cNvPr>
            <p:cNvSpPr/>
            <p:nvPr/>
          </p:nvSpPr>
          <p:spPr>
            <a:xfrm>
              <a:off x="1198236" y="3426722"/>
              <a:ext cx="3246892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r>
                <a:rPr kumimoji="0" lang="en-GB" sz="2133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Rationalize Applications</a:t>
              </a:r>
              <a:endParaRPr kumimoji="0" sz="2133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Nunito"/>
              </a:endParaRPr>
            </a:p>
          </p:txBody>
        </p:sp>
        <p:grpSp>
          <p:nvGrpSpPr>
            <p:cNvPr id="421" name="Google Shape;421;g32789fbb2d8_0_389"/>
            <p:cNvGrpSpPr/>
            <p:nvPr/>
          </p:nvGrpSpPr>
          <p:grpSpPr>
            <a:xfrm>
              <a:off x="1187861" y="3416513"/>
              <a:ext cx="3272448" cy="1144166"/>
              <a:chOff x="347967" y="4648260"/>
              <a:chExt cx="5145358" cy="1773900"/>
            </a:xfrm>
          </p:grpSpPr>
          <p:sp>
            <p:nvSpPr>
              <p:cNvPr id="422" name="Google Shape;422;g32789fbb2d8_0_389"/>
              <p:cNvSpPr txBox="1"/>
              <p:nvPr/>
            </p:nvSpPr>
            <p:spPr>
              <a:xfrm>
                <a:off x="347967" y="5411928"/>
                <a:ext cx="5137800" cy="8228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33" tIns="45700" rIns="91433" bIns="45700" anchor="t" anchorCtr="0">
                <a:spAutoFit/>
              </a:bodyPr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Tx/>
                  <a:buNone/>
                  <a:tabLst/>
                  <a:defRPr/>
                </a:pPr>
                <a:r>
                  <a:rPr kumimoji="0" lang="en-US" sz="1333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Nunito"/>
                    <a:cs typeface="Nunito"/>
                    <a:sym typeface="Nunito"/>
                  </a:rPr>
                  <a:t>We will </a:t>
                </a:r>
                <a:r>
                  <a:rPr kumimoji="0" lang="en-US" sz="1333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Nunito"/>
                    <a:cs typeface="Nunito"/>
                    <a:sym typeface="Nunito"/>
                  </a:rPr>
                  <a:t>standardize and rationalize our applications</a:t>
                </a:r>
                <a:r>
                  <a:rPr kumimoji="0" lang="en-US" sz="1333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Nunito"/>
                    <a:cs typeface="Nunito"/>
                    <a:sym typeface="Nunito"/>
                  </a:rPr>
                  <a:t> to control costs and reduce the complexity of our IT estate.</a:t>
                </a:r>
                <a:endParaRPr kumimoji="0" lang="en-US" sz="133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Arial"/>
                </a:endParaRPr>
              </a:p>
            </p:txBody>
          </p:sp>
          <p:sp>
            <p:nvSpPr>
              <p:cNvPr id="423" name="Google Shape;423;g32789fbb2d8_0_389"/>
              <p:cNvSpPr/>
              <p:nvPr/>
            </p:nvSpPr>
            <p:spPr>
              <a:xfrm>
                <a:off x="355525" y="4648260"/>
                <a:ext cx="5137800" cy="1773900"/>
              </a:xfrm>
              <a:prstGeom prst="rect">
                <a:avLst/>
              </a:prstGeom>
              <a:noFill/>
              <a:ln w="19050" cap="flat" cmpd="sng">
                <a:solidFill>
                  <a:srgbClr val="0067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33" tIns="91433" rIns="91433" bIns="91433" anchor="t" anchorCtr="0">
                <a:noAutofit/>
              </a:bodyPr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Tx/>
                  <a:buNone/>
                  <a:tabLst/>
                  <a:defRPr/>
                </a:pPr>
                <a:endParaRPr kumimoji="0" sz="1333" b="0" i="0" u="none" strike="noStrike" kern="0" cap="none" spc="0" normalizeH="0" baseline="0" noProof="0">
                  <a:ln>
                    <a:noFill/>
                  </a:ln>
                  <a:solidFill>
                    <a:srgbClr val="454947"/>
                  </a:solidFill>
                  <a:effectLst/>
                  <a:uLnTx/>
                  <a:uFillTx/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sp>
          <p:nvSpPr>
            <p:cNvPr id="424" name="Google Shape;424;g32789fbb2d8_0_389"/>
            <p:cNvSpPr/>
            <p:nvPr/>
          </p:nvSpPr>
          <p:spPr>
            <a:xfrm>
              <a:off x="148875" y="3416554"/>
              <a:ext cx="1045800" cy="11441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14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3" name="Google Shape;433;g32789fbb2d8_0_389" descr="Money outlin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07939" y="3645694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69167DF-ADB3-8FF2-3AAB-69488302EF59}"/>
              </a:ext>
            </a:extLst>
          </p:cNvPr>
          <p:cNvGrpSpPr/>
          <p:nvPr/>
        </p:nvGrpSpPr>
        <p:grpSpPr>
          <a:xfrm>
            <a:off x="6245605" y="1303111"/>
            <a:ext cx="5767129" cy="1493460"/>
            <a:chOff x="4684203" y="977915"/>
            <a:chExt cx="4325347" cy="1120095"/>
          </a:xfrm>
        </p:grpSpPr>
        <p:sp>
          <p:nvSpPr>
            <p:cNvPr id="427" name="Google Shape;427;g32789fbb2d8_0_389"/>
            <p:cNvSpPr/>
            <p:nvPr/>
          </p:nvSpPr>
          <p:spPr>
            <a:xfrm>
              <a:off x="5729941" y="977972"/>
              <a:ext cx="3277850" cy="1120038"/>
            </a:xfrm>
            <a:prstGeom prst="rect">
              <a:avLst/>
            </a:prstGeom>
            <a:noFill/>
            <a:ln w="19050" cap="flat" cmpd="sng">
              <a:solidFill>
                <a:srgbClr val="007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1333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28" name="Google Shape;428;g32789fbb2d8_0_389"/>
            <p:cNvSpPr txBox="1"/>
            <p:nvPr/>
          </p:nvSpPr>
          <p:spPr>
            <a:xfrm>
              <a:off x="5741909" y="1517563"/>
              <a:ext cx="3267641" cy="3617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r>
                <a:rPr kumimoji="0" lang="en-US" sz="12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adopt an “</a:t>
              </a:r>
              <a:r>
                <a:rPr kumimoji="0" lang="en-US" sz="12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SAP first” strategy </a:t>
              </a:r>
              <a:r>
                <a:rPr kumimoji="0" lang="en-US" sz="12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with all financial and operational data housed within SAP. </a:t>
              </a:r>
              <a:endParaRPr kumimoji="0" lang="en-US" sz="1267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29" name="Google Shape;429;g32789fbb2d8_0_389"/>
            <p:cNvSpPr/>
            <p:nvPr/>
          </p:nvSpPr>
          <p:spPr>
            <a:xfrm>
              <a:off x="4684203" y="977915"/>
              <a:ext cx="1045800" cy="1120022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14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g32789fbb2d8_0_389"/>
            <p:cNvSpPr/>
            <p:nvPr/>
          </p:nvSpPr>
          <p:spPr>
            <a:xfrm>
              <a:off x="4749900" y="1046925"/>
              <a:ext cx="900600" cy="981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14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 Light"/>
                <a:ea typeface="Nunito Sans Light"/>
                <a:cs typeface="Nunito Sans Light"/>
                <a:sym typeface="Nunito Sans Light"/>
              </a:endParaRPr>
            </a:p>
          </p:txBody>
        </p:sp>
        <p:pic>
          <p:nvPicPr>
            <p:cNvPr id="435" name="Google Shape;435;g32789fbb2d8_0_38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841309" y="1360378"/>
              <a:ext cx="717640" cy="3549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417;g32789fbb2d8_0_389">
              <a:extLst>
                <a:ext uri="{FF2B5EF4-FFF2-40B4-BE49-F238E27FC236}">
                  <a16:creationId xmlns:a16="http://schemas.microsoft.com/office/drawing/2014/main" id="{7C3A552F-1141-4B0A-0498-135B5978438F}"/>
                </a:ext>
              </a:extLst>
            </p:cNvPr>
            <p:cNvSpPr/>
            <p:nvPr/>
          </p:nvSpPr>
          <p:spPr>
            <a:xfrm>
              <a:off x="5740040" y="988165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r>
                <a:rPr kumimoji="0" lang="en-GB" sz="2133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SAP First</a:t>
              </a:r>
              <a:endParaRPr kumimoji="0" sz="2133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Nuni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8020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3E2D3-E4CF-50D9-7FC0-8EF79A46C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D76E23-F28F-AF89-0C9A-6AEC6555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WORKSHOP OBJECTIVES AND 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DC531-38D8-1B1C-8CCA-BA605CFFCF43}"/>
              </a:ext>
            </a:extLst>
          </p:cNvPr>
          <p:cNvSpPr txBox="1"/>
          <p:nvPr/>
        </p:nvSpPr>
        <p:spPr>
          <a:xfrm>
            <a:off x="342714" y="1333093"/>
            <a:ext cx="5404310" cy="1631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OBJECTIVES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0000"/>
                </a:solidFill>
                <a:latin typeface="Montserrat"/>
              </a:rPr>
              <a:t>Confirm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 As-Is Process</a:t>
            </a:r>
            <a:r>
              <a:rPr lang="en-US" sz="1600">
                <a:solidFill>
                  <a:srgbClr val="000000"/>
                </a:solidFill>
                <a:latin typeface="Montserrat"/>
              </a:rPr>
              <a:t> maps to future state</a:t>
            </a:r>
            <a:endParaRPr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Define </a:t>
            </a:r>
            <a:r>
              <a:rPr lang="en-US" sz="1600">
                <a:solidFill>
                  <a:srgbClr val="000000"/>
                </a:solidFill>
                <a:latin typeface="Montserrat"/>
              </a:rPr>
              <a:t>BMD Process Procedures</a:t>
            </a:r>
            <a:endParaRPr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itchFamily="2" charset="77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Identify key data, reporting and cross-functional requirements</a:t>
            </a:r>
            <a:endParaRPr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B263F-2D7E-6E61-53F6-31FA9638A4B5}"/>
              </a:ext>
            </a:extLst>
          </p:cNvPr>
          <p:cNvSpPr txBox="1"/>
          <p:nvPr/>
        </p:nvSpPr>
        <p:spPr>
          <a:xfrm>
            <a:off x="6250006" y="1328093"/>
            <a:ext cx="5592590" cy="17081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OUTCOMES / INPUTS TO DELIVERABLES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Updated User Story / Task in Azure DevOps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Documented Change Impacts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Identified gaps / WRICEFs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Understand Remediation Scope </a:t>
            </a:r>
          </a:p>
        </p:txBody>
      </p:sp>
      <p:pic>
        <p:nvPicPr>
          <p:cNvPr id="17" name="Picture 2" descr="http://silhouettesfree.com/professions-and-occupations/students/wall-clock-silhouette-image.png">
            <a:extLst>
              <a:ext uri="{FF2B5EF4-FFF2-40B4-BE49-F238E27FC236}">
                <a16:creationId xmlns:a16="http://schemas.microsoft.com/office/drawing/2014/main" id="{CEF9D2AC-AF70-BA65-31F2-7E8654DAC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572" y="4271297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https://cdn1.iconfinder.com/data/icons/computer-and-internet/512/prohibited_no_laptop_forbidden-512.png">
            <a:extLst>
              <a:ext uri="{FF2B5EF4-FFF2-40B4-BE49-F238E27FC236}">
                <a16:creationId xmlns:a16="http://schemas.microsoft.com/office/drawing/2014/main" id="{7042D374-8C11-057C-7F7B-3ECDEA858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866" y="4271297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https://d30y9cdsu7xlg0.cloudfront.net/png/143730-200.png">
            <a:extLst>
              <a:ext uri="{FF2B5EF4-FFF2-40B4-BE49-F238E27FC236}">
                <a16:creationId xmlns:a16="http://schemas.microsoft.com/office/drawing/2014/main" id="{D263ABC9-815A-ACBE-CAC6-5C263D5E1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236" y="4271297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0" descr="https://image.freepik.com/free-icon/boy-raising-hand-for-question_318-43988.png">
            <a:extLst>
              <a:ext uri="{FF2B5EF4-FFF2-40B4-BE49-F238E27FC236}">
                <a16:creationId xmlns:a16="http://schemas.microsoft.com/office/drawing/2014/main" id="{F525F44D-72F7-54EB-3549-0DCB6259C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CFE1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051" y="4271297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Graphic 20" descr="Web cam">
            <a:extLst>
              <a:ext uri="{FF2B5EF4-FFF2-40B4-BE49-F238E27FC236}">
                <a16:creationId xmlns:a16="http://schemas.microsoft.com/office/drawing/2014/main" id="{D08B6782-7F7E-0644-4B22-51E80A262E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47790" y="4271297"/>
            <a:ext cx="365760" cy="365760"/>
          </a:xfrm>
          <a:prstGeom prst="rect">
            <a:avLst/>
          </a:prstGeom>
        </p:spPr>
      </p:pic>
      <p:pic>
        <p:nvPicPr>
          <p:cNvPr id="22" name="Graphic 21" descr="Radio microphone">
            <a:extLst>
              <a:ext uri="{FF2B5EF4-FFF2-40B4-BE49-F238E27FC236}">
                <a16:creationId xmlns:a16="http://schemas.microsoft.com/office/drawing/2014/main" id="{582F9016-8306-568A-689C-9A626CBCE2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7421" y="4271297"/>
            <a:ext cx="365760" cy="365760"/>
          </a:xfrm>
          <a:prstGeom prst="rect">
            <a:avLst/>
          </a:prstGeom>
        </p:spPr>
      </p:pic>
      <p:pic>
        <p:nvPicPr>
          <p:cNvPr id="23" name="Graphic 22" descr="Questions">
            <a:extLst>
              <a:ext uri="{FF2B5EF4-FFF2-40B4-BE49-F238E27FC236}">
                <a16:creationId xmlns:a16="http://schemas.microsoft.com/office/drawing/2014/main" id="{30ECF821-B183-9789-83D9-2E0BC47F45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27606" y="4271297"/>
            <a:ext cx="365760" cy="36576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A0BE638-6195-BE91-7641-934925D8596E}"/>
              </a:ext>
            </a:extLst>
          </p:cNvPr>
          <p:cNvSpPr txBox="1"/>
          <p:nvPr/>
        </p:nvSpPr>
        <p:spPr>
          <a:xfrm>
            <a:off x="345045" y="4027764"/>
            <a:ext cx="771045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8288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7272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In Person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8132CB-7FCC-A69F-BB25-6CCC3B98F051}"/>
              </a:ext>
            </a:extLst>
          </p:cNvPr>
          <p:cNvSpPr txBox="1"/>
          <p:nvPr/>
        </p:nvSpPr>
        <p:spPr>
          <a:xfrm>
            <a:off x="10658034" y="4027764"/>
            <a:ext cx="914400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8288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7272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Virtual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1C21047-94FC-3732-876A-62CA5D5EA418}"/>
              </a:ext>
            </a:extLst>
          </p:cNvPr>
          <p:cNvCxnSpPr>
            <a:cxnSpLocks/>
          </p:cNvCxnSpPr>
          <p:nvPr/>
        </p:nvCxnSpPr>
        <p:spPr bwMode="auto">
          <a:xfrm>
            <a:off x="1116331" y="4120097"/>
            <a:ext cx="9875520" cy="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6AC6777-6D58-61AC-0627-C2F3F639E422}"/>
              </a:ext>
            </a:extLst>
          </p:cNvPr>
          <p:cNvGrpSpPr/>
          <p:nvPr/>
        </p:nvGrpSpPr>
        <p:grpSpPr>
          <a:xfrm>
            <a:off x="342714" y="4654694"/>
            <a:ext cx="1559028" cy="512594"/>
            <a:chOff x="109722" y="1185524"/>
            <a:chExt cx="832655" cy="816522"/>
          </a:xfrm>
        </p:grpSpPr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F532B5CD-114B-4931-9927-049AEA0BEDEB}"/>
                </a:ext>
              </a:extLst>
            </p:cNvPr>
            <p:cNvSpPr/>
            <p:nvPr/>
          </p:nvSpPr>
          <p:spPr>
            <a:xfrm>
              <a:off x="109722" y="1185524"/>
              <a:ext cx="832655" cy="81652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sp>
          <p:nvSpPr>
            <p:cNvPr id="69" name="Rounded Rectangle 4">
              <a:extLst>
                <a:ext uri="{FF2B5EF4-FFF2-40B4-BE49-F238E27FC236}">
                  <a16:creationId xmlns:a16="http://schemas.microsoft.com/office/drawing/2014/main" id="{24DA735C-5090-E8FD-96D0-BB3018286348}"/>
                </a:ext>
              </a:extLst>
            </p:cNvPr>
            <p:cNvSpPr txBox="1"/>
            <p:nvPr/>
          </p:nvSpPr>
          <p:spPr>
            <a:xfrm>
              <a:off x="134110" y="1185524"/>
              <a:ext cx="783879" cy="792134"/>
            </a:xfrm>
            <a:prstGeom prst="rect">
              <a:avLst/>
            </a:prstGeom>
            <a:ln w="6350">
              <a:solidFill>
                <a:schemeClr val="accent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0320" tIns="15240" rIns="20320" bIns="15240" numCol="1" spcCol="1270" anchor="ctr" anchorCtr="0">
              <a:noAutofit/>
            </a:bodyPr>
            <a:lstStyle/>
            <a:p>
              <a:pPr marL="0" marR="0" lvl="0" indent="0" algn="ctr" defTabSz="355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Arial" panose="020B0604020202020204" pitchFamily="34" charset="0"/>
                </a:rPr>
                <a:t>Start and End the workshop on time</a:t>
              </a: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D82B528-082F-B8D6-3BEC-75CD0F998FE0}"/>
              </a:ext>
            </a:extLst>
          </p:cNvPr>
          <p:cNvGrpSpPr/>
          <p:nvPr/>
        </p:nvGrpSpPr>
        <p:grpSpPr>
          <a:xfrm>
            <a:off x="348418" y="5207475"/>
            <a:ext cx="1559028" cy="512594"/>
            <a:chOff x="109722" y="2342893"/>
            <a:chExt cx="832655" cy="816522"/>
          </a:xfrm>
        </p:grpSpPr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1C6FF50D-FBD4-E25B-08C5-711A9524CEB7}"/>
                </a:ext>
              </a:extLst>
            </p:cNvPr>
            <p:cNvSpPr/>
            <p:nvPr/>
          </p:nvSpPr>
          <p:spPr>
            <a:xfrm>
              <a:off x="109722" y="2342893"/>
              <a:ext cx="832655" cy="81652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hueOff val="0"/>
                <a:satOff val="0"/>
                <a:lumOff val="0"/>
                <a:alphaOff val="-3077"/>
              </a:schemeClr>
            </a:fillRef>
            <a:effectRef idx="0">
              <a:schemeClr val="accent5">
                <a:alpha val="90000"/>
                <a:hueOff val="0"/>
                <a:satOff val="0"/>
                <a:lumOff val="0"/>
                <a:alphaOff val="-3077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sp>
          <p:nvSpPr>
            <p:cNvPr id="67" name="Rounded Rectangle 6">
              <a:extLst>
                <a:ext uri="{FF2B5EF4-FFF2-40B4-BE49-F238E27FC236}">
                  <a16:creationId xmlns:a16="http://schemas.microsoft.com/office/drawing/2014/main" id="{D3AAF436-B481-9D02-4995-DF6E5B38BE1C}"/>
                </a:ext>
              </a:extLst>
            </p:cNvPr>
            <p:cNvSpPr txBox="1"/>
            <p:nvPr/>
          </p:nvSpPr>
          <p:spPr>
            <a:xfrm>
              <a:off x="134110" y="2342893"/>
              <a:ext cx="783879" cy="792134"/>
            </a:xfrm>
            <a:prstGeom prst="rect">
              <a:avLst/>
            </a:prstGeom>
            <a:ln w="6350">
              <a:solidFill>
                <a:schemeClr val="accent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0320" tIns="15240" rIns="20320" bIns="15240" numCol="1" spcCol="1270" anchor="ctr" anchorCtr="0">
              <a:noAutofit/>
            </a:bodyPr>
            <a:lstStyle/>
            <a:p>
              <a:pPr marL="0" marR="0" lvl="0" indent="0" algn="ctr" defTabSz="355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Arial" panose="020B0604020202020204" pitchFamily="34" charset="0"/>
                </a:rPr>
                <a:t>Please allow time for breaks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16235F8-9765-4604-589C-963A7198DF9C}"/>
              </a:ext>
            </a:extLst>
          </p:cNvPr>
          <p:cNvGrpSpPr/>
          <p:nvPr/>
        </p:nvGrpSpPr>
        <p:grpSpPr>
          <a:xfrm>
            <a:off x="1962107" y="4654694"/>
            <a:ext cx="1559028" cy="512594"/>
            <a:chOff x="1228602" y="1185524"/>
            <a:chExt cx="832655" cy="816522"/>
          </a:xfrm>
        </p:grpSpPr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140404EE-D379-848E-FF0D-19718C2D22E3}"/>
                </a:ext>
              </a:extLst>
            </p:cNvPr>
            <p:cNvSpPr/>
            <p:nvPr/>
          </p:nvSpPr>
          <p:spPr>
            <a:xfrm>
              <a:off x="1228602" y="1185524"/>
              <a:ext cx="832655" cy="81652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hueOff val="0"/>
                <a:satOff val="0"/>
                <a:lumOff val="0"/>
                <a:alphaOff val="-6154"/>
              </a:schemeClr>
            </a:fillRef>
            <a:effectRef idx="0">
              <a:schemeClr val="accent5">
                <a:alpha val="90000"/>
                <a:hueOff val="0"/>
                <a:satOff val="0"/>
                <a:lumOff val="0"/>
                <a:alphaOff val="-6154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sp>
          <p:nvSpPr>
            <p:cNvPr id="65" name="Rounded Rectangle 8">
              <a:extLst>
                <a:ext uri="{FF2B5EF4-FFF2-40B4-BE49-F238E27FC236}">
                  <a16:creationId xmlns:a16="http://schemas.microsoft.com/office/drawing/2014/main" id="{7963A6DD-923E-781E-FAB0-462F2CFE1B4C}"/>
                </a:ext>
              </a:extLst>
            </p:cNvPr>
            <p:cNvSpPr txBox="1"/>
            <p:nvPr/>
          </p:nvSpPr>
          <p:spPr>
            <a:xfrm>
              <a:off x="1252990" y="1185524"/>
              <a:ext cx="783879" cy="792134"/>
            </a:xfrm>
            <a:prstGeom prst="rect">
              <a:avLst/>
            </a:prstGeom>
            <a:ln w="6350">
              <a:solidFill>
                <a:schemeClr val="accent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0320" tIns="15240" rIns="20320" bIns="15240" numCol="1" spcCol="1270" anchor="ctr" anchorCtr="0">
              <a:noAutofit/>
            </a:bodyPr>
            <a:lstStyle/>
            <a:p>
              <a:pPr marL="0" marR="0" lvl="0" indent="0" algn="ctr" defTabSz="355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Arial" panose="020B0604020202020204" pitchFamily="34" charset="0"/>
                </a:rPr>
                <a:t>Please keep side conversations to a minimum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7191676-84D9-A898-88B1-9B5BDE743516}"/>
              </a:ext>
            </a:extLst>
          </p:cNvPr>
          <p:cNvGrpSpPr/>
          <p:nvPr/>
        </p:nvGrpSpPr>
        <p:grpSpPr>
          <a:xfrm>
            <a:off x="1966860" y="5207475"/>
            <a:ext cx="1559028" cy="512594"/>
            <a:chOff x="1228602" y="2342893"/>
            <a:chExt cx="832655" cy="816522"/>
          </a:xfrm>
        </p:grpSpPr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C891F521-73D0-44B1-FA9D-D14B2771119C}"/>
                </a:ext>
              </a:extLst>
            </p:cNvPr>
            <p:cNvSpPr/>
            <p:nvPr/>
          </p:nvSpPr>
          <p:spPr>
            <a:xfrm>
              <a:off x="1228602" y="2342893"/>
              <a:ext cx="832655" cy="81652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hueOff val="0"/>
                <a:satOff val="0"/>
                <a:lumOff val="0"/>
                <a:alphaOff val="-9231"/>
              </a:schemeClr>
            </a:fillRef>
            <a:effectRef idx="0">
              <a:schemeClr val="accent5">
                <a:alpha val="90000"/>
                <a:hueOff val="0"/>
                <a:satOff val="0"/>
                <a:lumOff val="0"/>
                <a:alphaOff val="-9231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sp>
          <p:nvSpPr>
            <p:cNvPr id="63" name="Rounded Rectangle 10">
              <a:extLst>
                <a:ext uri="{FF2B5EF4-FFF2-40B4-BE49-F238E27FC236}">
                  <a16:creationId xmlns:a16="http://schemas.microsoft.com/office/drawing/2014/main" id="{31E86CF0-80DB-E998-7664-C7E4C04ADBE9}"/>
                </a:ext>
              </a:extLst>
            </p:cNvPr>
            <p:cNvSpPr txBox="1"/>
            <p:nvPr/>
          </p:nvSpPr>
          <p:spPr>
            <a:xfrm>
              <a:off x="1252990" y="2342893"/>
              <a:ext cx="783879" cy="792134"/>
            </a:xfrm>
            <a:prstGeom prst="rect">
              <a:avLst/>
            </a:prstGeom>
            <a:ln w="6350">
              <a:solidFill>
                <a:schemeClr val="accent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0320" tIns="15240" rIns="20320" bIns="15240" numCol="1" spcCol="1270" anchor="ctr" anchorCtr="0">
              <a:noAutofit/>
            </a:bodyPr>
            <a:lstStyle/>
            <a:p>
              <a:pPr marL="0" marR="0" lvl="0" indent="0" algn="ctr" defTabSz="355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Arial" panose="020B0604020202020204" pitchFamily="34" charset="0"/>
                </a:rPr>
                <a:t>Cell phones, laptops, and tablets switched off</a:t>
              </a: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7C0F2EB-C992-C767-376A-A96DF4B9B09F}"/>
              </a:ext>
            </a:extLst>
          </p:cNvPr>
          <p:cNvGrpSpPr/>
          <p:nvPr/>
        </p:nvGrpSpPr>
        <p:grpSpPr>
          <a:xfrm>
            <a:off x="3581500" y="4654694"/>
            <a:ext cx="1559028" cy="512594"/>
            <a:chOff x="2347482" y="1185524"/>
            <a:chExt cx="832655" cy="816522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37AACF82-E0AB-D8BE-FF7E-89B91F1960B8}"/>
                </a:ext>
              </a:extLst>
            </p:cNvPr>
            <p:cNvSpPr/>
            <p:nvPr/>
          </p:nvSpPr>
          <p:spPr>
            <a:xfrm>
              <a:off x="2347482" y="1185524"/>
              <a:ext cx="832655" cy="81652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hueOff val="0"/>
                <a:satOff val="0"/>
                <a:lumOff val="0"/>
                <a:alphaOff val="-12308"/>
              </a:schemeClr>
            </a:fillRef>
            <a:effectRef idx="0">
              <a:schemeClr val="accent5">
                <a:alpha val="90000"/>
                <a:hueOff val="0"/>
                <a:satOff val="0"/>
                <a:lumOff val="0"/>
                <a:alphaOff val="-12308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sp>
          <p:nvSpPr>
            <p:cNvPr id="61" name="Rounded Rectangle 12">
              <a:extLst>
                <a:ext uri="{FF2B5EF4-FFF2-40B4-BE49-F238E27FC236}">
                  <a16:creationId xmlns:a16="http://schemas.microsoft.com/office/drawing/2014/main" id="{E0DC1E64-1E46-06B5-C3C9-407437AFA306}"/>
                </a:ext>
              </a:extLst>
            </p:cNvPr>
            <p:cNvSpPr txBox="1"/>
            <p:nvPr/>
          </p:nvSpPr>
          <p:spPr>
            <a:xfrm>
              <a:off x="2371870" y="1185524"/>
              <a:ext cx="783879" cy="792134"/>
            </a:xfrm>
            <a:prstGeom prst="rect">
              <a:avLst/>
            </a:prstGeom>
            <a:ln w="6350">
              <a:solidFill>
                <a:schemeClr val="accent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0320" tIns="15240" rIns="20320" bIns="15240" numCol="1" spcCol="1270" anchor="ctr" anchorCtr="0">
              <a:noAutofit/>
            </a:bodyPr>
            <a:lstStyle/>
            <a:p>
              <a:pPr marL="0" marR="0" lvl="0" indent="0" algn="ctr" defTabSz="355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Arial" panose="020B0604020202020204" pitchFamily="34" charset="0"/>
                </a:rPr>
                <a:t>Questions are encouraged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DF274AD-5D61-CC62-7E0C-8E05EAB9453C}"/>
              </a:ext>
            </a:extLst>
          </p:cNvPr>
          <p:cNvGrpSpPr/>
          <p:nvPr/>
        </p:nvGrpSpPr>
        <p:grpSpPr>
          <a:xfrm>
            <a:off x="3585302" y="5207475"/>
            <a:ext cx="1559028" cy="512594"/>
            <a:chOff x="2347482" y="2342893"/>
            <a:chExt cx="832655" cy="816522"/>
          </a:xfrm>
        </p:grpSpPr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D6D3C0BA-3B73-8CA2-F807-8507067C0DB0}"/>
                </a:ext>
              </a:extLst>
            </p:cNvPr>
            <p:cNvSpPr/>
            <p:nvPr/>
          </p:nvSpPr>
          <p:spPr>
            <a:xfrm>
              <a:off x="2347482" y="2342893"/>
              <a:ext cx="832655" cy="81652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hueOff val="0"/>
                <a:satOff val="0"/>
                <a:lumOff val="0"/>
                <a:alphaOff val="-15385"/>
              </a:schemeClr>
            </a:fillRef>
            <a:effectRef idx="0">
              <a:schemeClr val="accent5">
                <a:alpha val="90000"/>
                <a:hueOff val="0"/>
                <a:satOff val="0"/>
                <a:lumOff val="0"/>
                <a:alphaOff val="-15385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sp>
          <p:nvSpPr>
            <p:cNvPr id="59" name="Rounded Rectangle 14">
              <a:extLst>
                <a:ext uri="{FF2B5EF4-FFF2-40B4-BE49-F238E27FC236}">
                  <a16:creationId xmlns:a16="http://schemas.microsoft.com/office/drawing/2014/main" id="{B028EFB8-3397-5062-CE34-372454D95BC9}"/>
                </a:ext>
              </a:extLst>
            </p:cNvPr>
            <p:cNvSpPr txBox="1"/>
            <p:nvPr/>
          </p:nvSpPr>
          <p:spPr>
            <a:xfrm>
              <a:off x="2371870" y="2342893"/>
              <a:ext cx="783879" cy="792134"/>
            </a:xfrm>
            <a:prstGeom prst="rect">
              <a:avLst/>
            </a:prstGeom>
            <a:ln w="6350">
              <a:solidFill>
                <a:schemeClr val="accent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0320" tIns="15240" rIns="20320" bIns="15240" numCol="1" spcCol="1270" anchor="ctr" anchorCtr="0">
              <a:noAutofit/>
            </a:bodyPr>
            <a:lstStyle/>
            <a:p>
              <a:pPr marL="0" marR="0" lvl="0" indent="0" algn="ctr" defTabSz="355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Arial" panose="020B0604020202020204" pitchFamily="34" charset="0"/>
                </a:rPr>
                <a:t>Please ensure your understanding 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131B986-839C-9CAD-AA14-C57E27AD63D1}"/>
              </a:ext>
            </a:extLst>
          </p:cNvPr>
          <p:cNvGrpSpPr/>
          <p:nvPr/>
        </p:nvGrpSpPr>
        <p:grpSpPr>
          <a:xfrm>
            <a:off x="5200893" y="4654694"/>
            <a:ext cx="1559028" cy="512594"/>
            <a:chOff x="3466362" y="1185524"/>
            <a:chExt cx="832655" cy="816522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D5DBA21C-0F34-D22A-D00B-1460E3A18477}"/>
                </a:ext>
              </a:extLst>
            </p:cNvPr>
            <p:cNvSpPr/>
            <p:nvPr/>
          </p:nvSpPr>
          <p:spPr>
            <a:xfrm>
              <a:off x="3466362" y="1185524"/>
              <a:ext cx="832655" cy="81652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hueOff val="0"/>
                <a:satOff val="0"/>
                <a:lumOff val="0"/>
                <a:alphaOff val="-18462"/>
              </a:schemeClr>
            </a:fillRef>
            <a:effectRef idx="0">
              <a:schemeClr val="accent5">
                <a:alpha val="90000"/>
                <a:hueOff val="0"/>
                <a:satOff val="0"/>
                <a:lumOff val="0"/>
                <a:alphaOff val="-18462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sp>
          <p:nvSpPr>
            <p:cNvPr id="57" name="Rounded Rectangle 16">
              <a:extLst>
                <a:ext uri="{FF2B5EF4-FFF2-40B4-BE49-F238E27FC236}">
                  <a16:creationId xmlns:a16="http://schemas.microsoft.com/office/drawing/2014/main" id="{26211487-27B8-DBBA-B9AD-622E556A7DF3}"/>
                </a:ext>
              </a:extLst>
            </p:cNvPr>
            <p:cNvSpPr txBox="1"/>
            <p:nvPr/>
          </p:nvSpPr>
          <p:spPr>
            <a:xfrm>
              <a:off x="3490750" y="1185524"/>
              <a:ext cx="783879" cy="792134"/>
            </a:xfrm>
            <a:prstGeom prst="rect">
              <a:avLst/>
            </a:prstGeom>
            <a:ln w="6350">
              <a:solidFill>
                <a:schemeClr val="accent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0320" tIns="15240" rIns="20320" bIns="15240" numCol="1" spcCol="1270" anchor="ctr" anchorCtr="0">
              <a:noAutofit/>
            </a:bodyPr>
            <a:lstStyle/>
            <a:p>
              <a:pPr marL="0" marR="0" lvl="0" indent="0" algn="ctr" defTabSz="355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2" charset="77"/>
                  <a:ea typeface="Open Sans" panose="020B0606030504020204" pitchFamily="34" charset="0"/>
                  <a:cs typeface="Open Sans" panose="020B0606030504020204" pitchFamily="34" charset="0"/>
                </a:rPr>
                <a:t>Try not to use acronyms (when possible)</a:t>
              </a: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CA732C5-BB97-1DB5-DCAA-E73764EFC52B}"/>
              </a:ext>
            </a:extLst>
          </p:cNvPr>
          <p:cNvGrpSpPr/>
          <p:nvPr/>
        </p:nvGrpSpPr>
        <p:grpSpPr>
          <a:xfrm>
            <a:off x="5203744" y="5207475"/>
            <a:ext cx="1559028" cy="512594"/>
            <a:chOff x="3466362" y="2342893"/>
            <a:chExt cx="832655" cy="816522"/>
          </a:xfrm>
        </p:grpSpPr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D243EBB7-73FE-FB67-631E-0164DD808921}"/>
                </a:ext>
              </a:extLst>
            </p:cNvPr>
            <p:cNvSpPr/>
            <p:nvPr/>
          </p:nvSpPr>
          <p:spPr>
            <a:xfrm>
              <a:off x="3466362" y="2342893"/>
              <a:ext cx="832655" cy="81652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hueOff val="0"/>
                <a:satOff val="0"/>
                <a:lumOff val="0"/>
                <a:alphaOff val="-21538"/>
              </a:schemeClr>
            </a:fillRef>
            <a:effectRef idx="0">
              <a:schemeClr val="accent5">
                <a:alpha val="90000"/>
                <a:hueOff val="0"/>
                <a:satOff val="0"/>
                <a:lumOff val="0"/>
                <a:alphaOff val="-21538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sp>
          <p:nvSpPr>
            <p:cNvPr id="55" name="Rounded Rectangle 18">
              <a:extLst>
                <a:ext uri="{FF2B5EF4-FFF2-40B4-BE49-F238E27FC236}">
                  <a16:creationId xmlns:a16="http://schemas.microsoft.com/office/drawing/2014/main" id="{5EC9452F-4CC2-AAFF-2F16-AF65F2B3F93D}"/>
                </a:ext>
              </a:extLst>
            </p:cNvPr>
            <p:cNvSpPr txBox="1"/>
            <p:nvPr/>
          </p:nvSpPr>
          <p:spPr>
            <a:xfrm>
              <a:off x="3490750" y="2342893"/>
              <a:ext cx="783879" cy="792134"/>
            </a:xfrm>
            <a:prstGeom prst="rect">
              <a:avLst/>
            </a:prstGeom>
            <a:ln w="6350">
              <a:solidFill>
                <a:schemeClr val="accent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0320" tIns="15240" rIns="20320" bIns="15240" numCol="1" spcCol="1270" anchor="ctr" anchorCtr="0">
              <a:noAutofit/>
            </a:bodyPr>
            <a:lstStyle/>
            <a:p>
              <a:pPr marL="0" marR="0" lvl="0" indent="0" algn="ctr" defTabSz="355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Arial" panose="020B0604020202020204" pitchFamily="34" charset="0"/>
                </a:rPr>
                <a:t>Resist the temptation to multitask</a:t>
              </a: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12E246B-A25B-B075-819D-19345086D873}"/>
              </a:ext>
            </a:extLst>
          </p:cNvPr>
          <p:cNvGrpSpPr/>
          <p:nvPr/>
        </p:nvGrpSpPr>
        <p:grpSpPr>
          <a:xfrm>
            <a:off x="6820286" y="4654694"/>
            <a:ext cx="1559028" cy="512594"/>
            <a:chOff x="4585242" y="1185524"/>
            <a:chExt cx="832655" cy="816522"/>
          </a:xfrm>
        </p:grpSpPr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2AE64420-989C-AB74-8CF3-63457249758E}"/>
                </a:ext>
              </a:extLst>
            </p:cNvPr>
            <p:cNvSpPr/>
            <p:nvPr/>
          </p:nvSpPr>
          <p:spPr>
            <a:xfrm>
              <a:off x="4585242" y="1185524"/>
              <a:ext cx="832655" cy="81652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hueOff val="0"/>
                <a:satOff val="0"/>
                <a:lumOff val="0"/>
                <a:alphaOff val="-24615"/>
              </a:schemeClr>
            </a:fillRef>
            <a:effectRef idx="0">
              <a:schemeClr val="accent5">
                <a:alpha val="90000"/>
                <a:hueOff val="0"/>
                <a:satOff val="0"/>
                <a:lumOff val="0"/>
                <a:alphaOff val="-24615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sp>
          <p:nvSpPr>
            <p:cNvPr id="53" name="Rounded Rectangle 20">
              <a:extLst>
                <a:ext uri="{FF2B5EF4-FFF2-40B4-BE49-F238E27FC236}">
                  <a16:creationId xmlns:a16="http://schemas.microsoft.com/office/drawing/2014/main" id="{0B18D7D4-EBA3-A1B6-D8C1-FF75A7277A5C}"/>
                </a:ext>
              </a:extLst>
            </p:cNvPr>
            <p:cNvSpPr txBox="1"/>
            <p:nvPr/>
          </p:nvSpPr>
          <p:spPr>
            <a:xfrm>
              <a:off x="4609630" y="1185524"/>
              <a:ext cx="783879" cy="792134"/>
            </a:xfrm>
            <a:prstGeom prst="rect">
              <a:avLst/>
            </a:prstGeom>
            <a:ln w="6350">
              <a:solidFill>
                <a:schemeClr val="accent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0320" tIns="15240" rIns="20320" bIns="15240" numCol="1" spcCol="1270" anchor="ctr" anchorCtr="0">
              <a:noAutofit/>
            </a:bodyPr>
            <a:lstStyle/>
            <a:p>
              <a:pPr marL="0" marR="0" lvl="0" indent="0" algn="ctr" defTabSz="355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Arial" panose="020B0604020202020204" pitchFamily="34" charset="0"/>
                </a:rPr>
                <a:t>Unmute yourself to speak, and then mute immediately after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E3ABBDF-03B8-B9C9-2776-5BC95E8BF507}"/>
              </a:ext>
            </a:extLst>
          </p:cNvPr>
          <p:cNvGrpSpPr/>
          <p:nvPr/>
        </p:nvGrpSpPr>
        <p:grpSpPr>
          <a:xfrm>
            <a:off x="6822186" y="5207475"/>
            <a:ext cx="1559028" cy="512594"/>
            <a:chOff x="4585242" y="2342893"/>
            <a:chExt cx="832655" cy="816522"/>
          </a:xfrm>
        </p:grpSpPr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37EC8D1C-41FB-7C62-0301-DCFD9A7500B7}"/>
                </a:ext>
              </a:extLst>
            </p:cNvPr>
            <p:cNvSpPr/>
            <p:nvPr/>
          </p:nvSpPr>
          <p:spPr>
            <a:xfrm>
              <a:off x="4585242" y="2342893"/>
              <a:ext cx="832655" cy="81652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hueOff val="0"/>
                <a:satOff val="0"/>
                <a:lumOff val="0"/>
                <a:alphaOff val="-27692"/>
              </a:schemeClr>
            </a:fillRef>
            <a:effectRef idx="0">
              <a:schemeClr val="accent5">
                <a:alpha val="90000"/>
                <a:hueOff val="0"/>
                <a:satOff val="0"/>
                <a:lumOff val="0"/>
                <a:alphaOff val="-27692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sp>
          <p:nvSpPr>
            <p:cNvPr id="51" name="Rounded Rectangle 22">
              <a:extLst>
                <a:ext uri="{FF2B5EF4-FFF2-40B4-BE49-F238E27FC236}">
                  <a16:creationId xmlns:a16="http://schemas.microsoft.com/office/drawing/2014/main" id="{7F073BEF-C19C-67C1-C58E-699904529A59}"/>
                </a:ext>
              </a:extLst>
            </p:cNvPr>
            <p:cNvSpPr txBox="1"/>
            <p:nvPr/>
          </p:nvSpPr>
          <p:spPr>
            <a:xfrm>
              <a:off x="4609630" y="2342893"/>
              <a:ext cx="783879" cy="792134"/>
            </a:xfrm>
            <a:prstGeom prst="rect">
              <a:avLst/>
            </a:prstGeom>
            <a:ln w="6350">
              <a:solidFill>
                <a:schemeClr val="accent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0320" tIns="15240" rIns="20320" bIns="15240" numCol="1" spcCol="1270" anchor="ctr" anchorCtr="0">
              <a:noAutofit/>
            </a:bodyPr>
            <a:lstStyle/>
            <a:p>
              <a:pPr marL="0" marR="0" lvl="0" indent="0" algn="ctr" defTabSz="355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Arial" panose="020B0604020202020204" pitchFamily="34" charset="0"/>
                </a:rPr>
                <a:t>If background noise hand off to a colleague and mute to reestablish your environment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A8CD917-B877-CE57-632D-3F83062D3B38}"/>
              </a:ext>
            </a:extLst>
          </p:cNvPr>
          <p:cNvGrpSpPr/>
          <p:nvPr/>
        </p:nvGrpSpPr>
        <p:grpSpPr>
          <a:xfrm>
            <a:off x="8439679" y="4654694"/>
            <a:ext cx="1559028" cy="512594"/>
            <a:chOff x="5704122" y="1185524"/>
            <a:chExt cx="832655" cy="816522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776C4F89-95E0-6312-42EC-22E7A60D0B66}"/>
                </a:ext>
              </a:extLst>
            </p:cNvPr>
            <p:cNvSpPr/>
            <p:nvPr/>
          </p:nvSpPr>
          <p:spPr>
            <a:xfrm>
              <a:off x="5704122" y="1185524"/>
              <a:ext cx="832655" cy="81652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hueOff val="0"/>
                <a:satOff val="0"/>
                <a:lumOff val="0"/>
                <a:alphaOff val="-30769"/>
              </a:schemeClr>
            </a:fillRef>
            <a:effectRef idx="0">
              <a:schemeClr val="accent5">
                <a:alpha val="90000"/>
                <a:hueOff val="0"/>
                <a:satOff val="0"/>
                <a:lumOff val="0"/>
                <a:alphaOff val="-30769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sp>
          <p:nvSpPr>
            <p:cNvPr id="49" name="Rounded Rectangle 24">
              <a:extLst>
                <a:ext uri="{FF2B5EF4-FFF2-40B4-BE49-F238E27FC236}">
                  <a16:creationId xmlns:a16="http://schemas.microsoft.com/office/drawing/2014/main" id="{E2F7ED90-B078-8E48-8B4E-9D5655257945}"/>
                </a:ext>
              </a:extLst>
            </p:cNvPr>
            <p:cNvSpPr txBox="1"/>
            <p:nvPr/>
          </p:nvSpPr>
          <p:spPr>
            <a:xfrm>
              <a:off x="5728510" y="1185524"/>
              <a:ext cx="783879" cy="792134"/>
            </a:xfrm>
            <a:prstGeom prst="rect">
              <a:avLst/>
            </a:prstGeom>
            <a:ln w="6350">
              <a:solidFill>
                <a:schemeClr val="accent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0320" tIns="15240" rIns="20320" bIns="15240" numCol="1" spcCol="1270" anchor="ctr" anchorCtr="0">
              <a:noAutofit/>
            </a:bodyPr>
            <a:lstStyle/>
            <a:p>
              <a:pPr marL="0" marR="0" lvl="0" indent="0" algn="ctr" defTabSz="355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Arial" panose="020B0604020202020204" pitchFamily="34" charset="0"/>
                </a:rPr>
                <a:t>All questions to be posted in the meeting chat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A177820-F90A-7DBC-D9DB-3920553D170E}"/>
              </a:ext>
            </a:extLst>
          </p:cNvPr>
          <p:cNvGrpSpPr/>
          <p:nvPr/>
        </p:nvGrpSpPr>
        <p:grpSpPr>
          <a:xfrm>
            <a:off x="8440628" y="5207475"/>
            <a:ext cx="1559028" cy="512594"/>
            <a:chOff x="5704122" y="2342893"/>
            <a:chExt cx="832655" cy="816522"/>
          </a:xfrm>
        </p:grpSpPr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3BC9E641-1340-E934-87D3-C78D370C35A9}"/>
                </a:ext>
              </a:extLst>
            </p:cNvPr>
            <p:cNvSpPr/>
            <p:nvPr/>
          </p:nvSpPr>
          <p:spPr>
            <a:xfrm>
              <a:off x="5704122" y="2342893"/>
              <a:ext cx="832655" cy="81652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hueOff val="0"/>
                <a:satOff val="0"/>
                <a:lumOff val="0"/>
                <a:alphaOff val="-33846"/>
              </a:schemeClr>
            </a:fillRef>
            <a:effectRef idx="0">
              <a:schemeClr val="accent5">
                <a:alpha val="90000"/>
                <a:hueOff val="0"/>
                <a:satOff val="0"/>
                <a:lumOff val="0"/>
                <a:alphaOff val="-33846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sp>
          <p:nvSpPr>
            <p:cNvPr id="47" name="Rounded Rectangle 26">
              <a:extLst>
                <a:ext uri="{FF2B5EF4-FFF2-40B4-BE49-F238E27FC236}">
                  <a16:creationId xmlns:a16="http://schemas.microsoft.com/office/drawing/2014/main" id="{330372A5-555D-44FA-DB2A-332944DF0550}"/>
                </a:ext>
              </a:extLst>
            </p:cNvPr>
            <p:cNvSpPr txBox="1"/>
            <p:nvPr/>
          </p:nvSpPr>
          <p:spPr>
            <a:xfrm>
              <a:off x="5728510" y="2342893"/>
              <a:ext cx="783879" cy="792134"/>
            </a:xfrm>
            <a:prstGeom prst="rect">
              <a:avLst/>
            </a:prstGeom>
            <a:ln w="6350">
              <a:solidFill>
                <a:schemeClr val="accent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0320" tIns="15240" rIns="20320" bIns="15240" numCol="1" spcCol="1270" anchor="ctr" anchorCtr="0">
              <a:noAutofit/>
            </a:bodyPr>
            <a:lstStyle/>
            <a:p>
              <a:pPr marL="0" marR="0" lvl="0" indent="0" algn="ctr" defTabSz="355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Arial" panose="020B0604020202020204" pitchFamily="34" charset="0"/>
                </a:rPr>
                <a:t>Use the “raise hand” feature to ask questions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61F1E71-17B1-1976-50A0-33A534A02632}"/>
              </a:ext>
            </a:extLst>
          </p:cNvPr>
          <p:cNvGrpSpPr/>
          <p:nvPr/>
        </p:nvGrpSpPr>
        <p:grpSpPr>
          <a:xfrm>
            <a:off x="10059069" y="4654694"/>
            <a:ext cx="1559028" cy="512594"/>
            <a:chOff x="6823002" y="1185524"/>
            <a:chExt cx="832655" cy="816522"/>
          </a:xfrm>
        </p:grpSpPr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11557442-4481-0759-17EE-A69BACFD45A7}"/>
                </a:ext>
              </a:extLst>
            </p:cNvPr>
            <p:cNvSpPr/>
            <p:nvPr/>
          </p:nvSpPr>
          <p:spPr>
            <a:xfrm>
              <a:off x="6823002" y="1185524"/>
              <a:ext cx="832655" cy="81652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hueOff val="0"/>
                <a:satOff val="0"/>
                <a:lumOff val="0"/>
                <a:alphaOff val="-36923"/>
              </a:schemeClr>
            </a:fillRef>
            <a:effectRef idx="0">
              <a:schemeClr val="accent5">
                <a:alpha val="90000"/>
                <a:hueOff val="0"/>
                <a:satOff val="0"/>
                <a:lumOff val="0"/>
                <a:alphaOff val="-36923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sp>
          <p:nvSpPr>
            <p:cNvPr id="45" name="Rounded Rectangle 28">
              <a:extLst>
                <a:ext uri="{FF2B5EF4-FFF2-40B4-BE49-F238E27FC236}">
                  <a16:creationId xmlns:a16="http://schemas.microsoft.com/office/drawing/2014/main" id="{872E7D29-3F83-3E6E-EE73-F12E70863006}"/>
                </a:ext>
              </a:extLst>
            </p:cNvPr>
            <p:cNvSpPr txBox="1"/>
            <p:nvPr/>
          </p:nvSpPr>
          <p:spPr>
            <a:xfrm>
              <a:off x="6847390" y="1185524"/>
              <a:ext cx="783879" cy="792134"/>
            </a:xfrm>
            <a:prstGeom prst="rect">
              <a:avLst/>
            </a:prstGeom>
            <a:ln w="6350">
              <a:solidFill>
                <a:schemeClr val="accent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0320" tIns="15240" rIns="20320" bIns="15240" numCol="1" spcCol="1270" anchor="ctr" anchorCtr="0">
              <a:noAutofit/>
            </a:bodyPr>
            <a:lstStyle/>
            <a:p>
              <a:pPr marL="0" marR="0" lvl="0" indent="0" algn="ctr" defTabSz="355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Arial" panose="020B0604020202020204" pitchFamily="34" charset="0"/>
                </a:rPr>
                <a:t>Ensure that everyone has their cameras on when possible</a:t>
              </a:r>
              <a:endPara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535A541-9C01-9759-13B2-FAE9AB6C1F24}"/>
              </a:ext>
            </a:extLst>
          </p:cNvPr>
          <p:cNvGrpSpPr/>
          <p:nvPr/>
        </p:nvGrpSpPr>
        <p:grpSpPr>
          <a:xfrm>
            <a:off x="10059069" y="5207475"/>
            <a:ext cx="1559028" cy="512594"/>
            <a:chOff x="6823002" y="2342893"/>
            <a:chExt cx="832655" cy="816522"/>
          </a:xfrm>
        </p:grpSpPr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6276BDC2-CB8E-D950-817F-022948BDDC5C}"/>
                </a:ext>
              </a:extLst>
            </p:cNvPr>
            <p:cNvSpPr/>
            <p:nvPr/>
          </p:nvSpPr>
          <p:spPr>
            <a:xfrm>
              <a:off x="6823002" y="2342893"/>
              <a:ext cx="832655" cy="81652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alpha val="90000"/>
                <a:hueOff val="0"/>
                <a:satOff val="0"/>
                <a:lumOff val="0"/>
                <a:alphaOff val="-40000"/>
              </a:schemeClr>
            </a:fillRef>
            <a:effectRef idx="0">
              <a:schemeClr val="accent5">
                <a:alpha val="90000"/>
                <a:hueOff val="0"/>
                <a:satOff val="0"/>
                <a:lumOff val="0"/>
                <a:alphaOff val="-4000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sp>
          <p:nvSpPr>
            <p:cNvPr id="43" name="Rounded Rectangle 30">
              <a:extLst>
                <a:ext uri="{FF2B5EF4-FFF2-40B4-BE49-F238E27FC236}">
                  <a16:creationId xmlns:a16="http://schemas.microsoft.com/office/drawing/2014/main" id="{B209A6BE-2FE7-642B-3E99-D3BBA631DFD9}"/>
                </a:ext>
              </a:extLst>
            </p:cNvPr>
            <p:cNvSpPr txBox="1"/>
            <p:nvPr/>
          </p:nvSpPr>
          <p:spPr>
            <a:xfrm>
              <a:off x="6847390" y="2342893"/>
              <a:ext cx="783879" cy="792134"/>
            </a:xfrm>
            <a:prstGeom prst="rect">
              <a:avLst/>
            </a:prstGeom>
            <a:ln w="6350">
              <a:solidFill>
                <a:schemeClr val="accent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0320" tIns="15240" rIns="20320" bIns="15240" numCol="1" spcCol="1270" anchor="ctr" anchorCtr="0">
              <a:noAutofit/>
            </a:bodyPr>
            <a:lstStyle/>
            <a:p>
              <a:pPr marL="0" marR="0" lvl="0" indent="0" algn="ctr" defTabSz="355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Arial" panose="020B0604020202020204" pitchFamily="34" charset="0"/>
                </a:rPr>
                <a:t>For troubleshooting, individually contact the host (Scrum Master)</a:t>
              </a:r>
              <a:endPara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7ED1848-D680-5453-745E-3FD8DEB22A0F}"/>
              </a:ext>
            </a:extLst>
          </p:cNvPr>
          <p:cNvSpPr txBox="1"/>
          <p:nvPr/>
        </p:nvSpPr>
        <p:spPr>
          <a:xfrm>
            <a:off x="3278250" y="3821748"/>
            <a:ext cx="5404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GROUND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RULES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48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E6A8-5C35-7351-DB79-97BFAAA22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C7DFAC-34D3-91D3-2C54-3811D96D4D0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5217" y="332997"/>
            <a:ext cx="7615238" cy="457200"/>
          </a:xfrm>
        </p:spPr>
        <p:txBody>
          <a:bodyPr vert="horz" lIns="0" tIns="45720" rIns="91440" bIns="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200" b="1">
                <a:solidFill>
                  <a:srgbClr val="94806E"/>
                </a:solidFill>
                <a:latin typeface="Montserrat"/>
                <a:ea typeface="+mj-ea"/>
                <a:cs typeface="+mj-cs"/>
              </a:rPr>
              <a:t>Workshop Agenda*</a:t>
            </a:r>
            <a:endParaRPr lang="en-US" sz="3200" b="1">
              <a:solidFill>
                <a:srgbClr val="94806E"/>
              </a:solidFill>
              <a:ea typeface="+mj-ea"/>
              <a:cs typeface="+mj-cs"/>
            </a:endParaRPr>
          </a:p>
        </p:txBody>
      </p:sp>
      <p:sp>
        <p:nvSpPr>
          <p:cNvPr id="125" name="Text Placeholder 5">
            <a:extLst>
              <a:ext uri="{FF2B5EF4-FFF2-40B4-BE49-F238E27FC236}">
                <a16:creationId xmlns:a16="http://schemas.microsoft.com/office/drawing/2014/main" id="{84DDF3AB-9E71-B162-93B6-96C48461F019}"/>
              </a:ext>
            </a:extLst>
          </p:cNvPr>
          <p:cNvSpPr txBox="1">
            <a:spLocks/>
          </p:cNvSpPr>
          <p:nvPr/>
        </p:nvSpPr>
        <p:spPr>
          <a:xfrm>
            <a:off x="878971" y="1293449"/>
            <a:ext cx="1105573" cy="194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1pPr>
            <a:lvl2pPr marL="38862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2pPr>
            <a:lvl3pPr marL="77724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3pPr>
            <a:lvl4pPr marL="116586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4pPr>
            <a:lvl5pPr marL="155448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4767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25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TOPIC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AF3347E-7396-B26D-772C-4D59FBA7AC07}"/>
              </a:ext>
            </a:extLst>
          </p:cNvPr>
          <p:cNvCxnSpPr>
            <a:cxnSpLocks/>
          </p:cNvCxnSpPr>
          <p:nvPr/>
        </p:nvCxnSpPr>
        <p:spPr>
          <a:xfrm>
            <a:off x="796190" y="1562624"/>
            <a:ext cx="10479474" cy="0"/>
          </a:xfrm>
          <a:prstGeom prst="line">
            <a:avLst/>
          </a:prstGeom>
          <a:noFill/>
          <a:ln w="381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3A62A1C-E4DA-E643-660B-BB82D7B9774C}"/>
              </a:ext>
            </a:extLst>
          </p:cNvPr>
          <p:cNvCxnSpPr>
            <a:cxnSpLocks/>
          </p:cNvCxnSpPr>
          <p:nvPr/>
        </p:nvCxnSpPr>
        <p:spPr>
          <a:xfrm>
            <a:off x="820627" y="1959683"/>
            <a:ext cx="1048992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3F14BB83-26F6-F81B-257F-AB1BDE8BC505}"/>
              </a:ext>
            </a:extLst>
          </p:cNvPr>
          <p:cNvCxnSpPr>
            <a:cxnSpLocks/>
          </p:cNvCxnSpPr>
          <p:nvPr/>
        </p:nvCxnSpPr>
        <p:spPr>
          <a:xfrm>
            <a:off x="781969" y="4093003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754A7B2-5729-37BA-4CC5-BFF820B38880}"/>
              </a:ext>
            </a:extLst>
          </p:cNvPr>
          <p:cNvSpPr txBox="1">
            <a:spLocks/>
          </p:cNvSpPr>
          <p:nvPr/>
        </p:nvSpPr>
        <p:spPr>
          <a:xfrm>
            <a:off x="878970" y="2037224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02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1E00338-5619-11A3-BAFF-7FB71EE17928}"/>
              </a:ext>
            </a:extLst>
          </p:cNvPr>
          <p:cNvSpPr txBox="1">
            <a:spLocks/>
          </p:cNvSpPr>
          <p:nvPr/>
        </p:nvSpPr>
        <p:spPr>
          <a:xfrm>
            <a:off x="878970" y="2832114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04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D7CD0002-0816-D81E-8E98-17B201F8556D}"/>
              </a:ext>
            </a:extLst>
          </p:cNvPr>
          <p:cNvSpPr txBox="1">
            <a:spLocks/>
          </p:cNvSpPr>
          <p:nvPr/>
        </p:nvSpPr>
        <p:spPr>
          <a:xfrm>
            <a:off x="864749" y="3274885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05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4ABBC89-EEC8-89D8-4B2B-F5F774610ECB}"/>
              </a:ext>
            </a:extLst>
          </p:cNvPr>
          <p:cNvSpPr txBox="1">
            <a:spLocks/>
          </p:cNvSpPr>
          <p:nvPr/>
        </p:nvSpPr>
        <p:spPr>
          <a:xfrm>
            <a:off x="878970" y="2401398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5E7236-32C8-A033-8F10-76C1A5930AEA}"/>
              </a:ext>
            </a:extLst>
          </p:cNvPr>
          <p:cNvSpPr txBox="1">
            <a:spLocks/>
          </p:cNvSpPr>
          <p:nvPr/>
        </p:nvSpPr>
        <p:spPr>
          <a:xfrm>
            <a:off x="864749" y="3707245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06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9207E7A-871B-C1C3-99AF-A6AB696537D6}"/>
              </a:ext>
            </a:extLst>
          </p:cNvPr>
          <p:cNvSpPr txBox="1">
            <a:spLocks/>
          </p:cNvSpPr>
          <p:nvPr/>
        </p:nvSpPr>
        <p:spPr>
          <a:xfrm>
            <a:off x="878970" y="1634170"/>
            <a:ext cx="720783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99B157-D785-0E02-B067-81348AF53B7D}"/>
              </a:ext>
            </a:extLst>
          </p:cNvPr>
          <p:cNvCxnSpPr>
            <a:cxnSpLocks/>
          </p:cNvCxnSpPr>
          <p:nvPr/>
        </p:nvCxnSpPr>
        <p:spPr>
          <a:xfrm flipV="1">
            <a:off x="825850" y="2379869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C43B979-0628-FFA5-3D81-2A6A3E21E52F}"/>
              </a:ext>
            </a:extLst>
          </p:cNvPr>
          <p:cNvCxnSpPr>
            <a:cxnSpLocks/>
          </p:cNvCxnSpPr>
          <p:nvPr/>
        </p:nvCxnSpPr>
        <p:spPr>
          <a:xfrm>
            <a:off x="820627" y="3190991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DD4D7D-C580-3745-9E64-E7C176966FB6}"/>
              </a:ext>
            </a:extLst>
          </p:cNvPr>
          <p:cNvCxnSpPr>
            <a:cxnSpLocks/>
          </p:cNvCxnSpPr>
          <p:nvPr/>
        </p:nvCxnSpPr>
        <p:spPr>
          <a:xfrm>
            <a:off x="781969" y="3660062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9CAA55-934B-FEA2-EA64-6A32CCB94014}"/>
              </a:ext>
            </a:extLst>
          </p:cNvPr>
          <p:cNvCxnSpPr>
            <a:cxnSpLocks/>
          </p:cNvCxnSpPr>
          <p:nvPr/>
        </p:nvCxnSpPr>
        <p:spPr>
          <a:xfrm flipV="1">
            <a:off x="838794" y="2780192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14" name="TextBox 2">
            <a:extLst>
              <a:ext uri="{FF2B5EF4-FFF2-40B4-BE49-F238E27FC236}">
                <a16:creationId xmlns:a16="http://schemas.microsoft.com/office/drawing/2014/main" id="{1A3158E1-7695-0C81-4A14-28927869505A}"/>
              </a:ext>
            </a:extLst>
          </p:cNvPr>
          <p:cNvSpPr txBox="1"/>
          <p:nvPr/>
        </p:nvSpPr>
        <p:spPr>
          <a:xfrm>
            <a:off x="1304596" y="1524814"/>
            <a:ext cx="9521952" cy="33695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/>
              <a:t>Purpose </a:t>
            </a:r>
          </a:p>
          <a:p>
            <a:pPr>
              <a:lnSpc>
                <a:spcPct val="150000"/>
              </a:lnSpc>
            </a:pPr>
            <a:r>
              <a:rPr lang="en-US"/>
              <a:t>Current State Assumptions </a:t>
            </a:r>
          </a:p>
          <a:p>
            <a:pPr>
              <a:lnSpc>
                <a:spcPct val="150000"/>
              </a:lnSpc>
            </a:pPr>
            <a:r>
              <a:rPr lang="en-US"/>
              <a:t>Master Data Design  </a:t>
            </a:r>
          </a:p>
          <a:p>
            <a:pPr>
              <a:lnSpc>
                <a:spcPct val="150000"/>
              </a:lnSpc>
            </a:pPr>
            <a:r>
              <a:rPr lang="en-US"/>
              <a:t>Open Questions</a:t>
            </a:r>
          </a:p>
          <a:p>
            <a:pPr>
              <a:lnSpc>
                <a:spcPct val="150000"/>
              </a:lnSpc>
            </a:pPr>
            <a:r>
              <a:rPr lang="en-US"/>
              <a:t>FRICEF-W List</a:t>
            </a:r>
          </a:p>
          <a:p>
            <a:pPr>
              <a:lnSpc>
                <a:spcPct val="150000"/>
              </a:lnSpc>
            </a:pPr>
            <a:r>
              <a:rPr lang="en-US"/>
              <a:t>Data Migration</a:t>
            </a:r>
          </a:p>
          <a:p>
            <a:pPr>
              <a:lnSpc>
                <a:spcPct val="150000"/>
              </a:lnSpc>
            </a:pPr>
            <a:r>
              <a:rPr lang="en-US"/>
              <a:t>Security Roles</a:t>
            </a:r>
          </a:p>
          <a:p>
            <a:pPr>
              <a:lnSpc>
                <a:spcPct val="150000"/>
              </a:lnSpc>
            </a:pPr>
            <a:r>
              <a:rPr lang="en-US"/>
              <a:t>Key Decisions, Action Items, Change Impacts, Wrap-Up, and Next Steps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CE3659-5291-DEDD-2F76-4488BBA28AFA}"/>
              </a:ext>
            </a:extLst>
          </p:cNvPr>
          <p:cNvCxnSpPr>
            <a:cxnSpLocks/>
          </p:cNvCxnSpPr>
          <p:nvPr/>
        </p:nvCxnSpPr>
        <p:spPr>
          <a:xfrm>
            <a:off x="762918" y="4521627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37498B5-50A6-1993-F4E6-D125CEC4558D}"/>
              </a:ext>
            </a:extLst>
          </p:cNvPr>
          <p:cNvSpPr txBox="1">
            <a:spLocks/>
          </p:cNvSpPr>
          <p:nvPr/>
        </p:nvSpPr>
        <p:spPr>
          <a:xfrm>
            <a:off x="845699" y="4135869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07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440C7EC6-DBBB-DA51-BFFF-8CA5BC63AD30}"/>
              </a:ext>
            </a:extLst>
          </p:cNvPr>
          <p:cNvSpPr txBox="1">
            <a:spLocks/>
          </p:cNvSpPr>
          <p:nvPr/>
        </p:nvSpPr>
        <p:spPr>
          <a:xfrm>
            <a:off x="836053" y="4521691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08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30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1D28-E381-D82D-4CE8-2AD86600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63667B-981C-A7C5-B405-AF1006A4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01</a:t>
            </a:r>
            <a:r>
              <a:rPr lang="en-US" sz="4250">
                <a:latin typeface="Montserrat"/>
              </a:rPr>
              <a:t> Purpose</a:t>
            </a:r>
            <a:br>
              <a:rPr lang="en-GB" sz="4400"/>
            </a:br>
            <a:br>
              <a:rPr lang="en-CA" sz="440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1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5085744-EEE0-EC23-F9B6-7424B5A6E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r>
              <a:rPr lang="en-US" sz="1800">
                <a:latin typeface="Montserrat"/>
              </a:rPr>
              <a:t>Define the target-state ownership, master data design,  required fields, and key process dependencies.</a:t>
            </a:r>
          </a:p>
          <a:p>
            <a:endParaRPr lang="en-US" sz="21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7626BE-82DC-C3E0-175A-3A300D93E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Purpose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223D33C-899F-8C4A-B888-B28176F94C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0798165"/>
              </p:ext>
            </p:extLst>
          </p:nvPr>
        </p:nvGraphicFramePr>
        <p:xfrm>
          <a:off x="2032000" y="1929765"/>
          <a:ext cx="8128000" cy="4065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854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9AD18-E547-A4B4-8118-17CE07575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Ownership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3EA292-10A9-8DEE-D658-3C5941482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263186"/>
              </p:ext>
            </p:extLst>
          </p:nvPr>
        </p:nvGraphicFramePr>
        <p:xfrm>
          <a:off x="1936130" y="1524000"/>
          <a:ext cx="83388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715">
                  <a:extLst>
                    <a:ext uri="{9D8B030D-6E8A-4147-A177-3AD203B41FA5}">
                      <a16:colId xmlns:a16="http://schemas.microsoft.com/office/drawing/2014/main" val="884605905"/>
                    </a:ext>
                  </a:extLst>
                </a:gridCol>
                <a:gridCol w="2084715">
                  <a:extLst>
                    <a:ext uri="{9D8B030D-6E8A-4147-A177-3AD203B41FA5}">
                      <a16:colId xmlns:a16="http://schemas.microsoft.com/office/drawing/2014/main" val="670828646"/>
                    </a:ext>
                  </a:extLst>
                </a:gridCol>
                <a:gridCol w="2084715">
                  <a:extLst>
                    <a:ext uri="{9D8B030D-6E8A-4147-A177-3AD203B41FA5}">
                      <a16:colId xmlns:a16="http://schemas.microsoft.com/office/drawing/2014/main" val="1828442634"/>
                    </a:ext>
                  </a:extLst>
                </a:gridCol>
                <a:gridCol w="2084715">
                  <a:extLst>
                    <a:ext uri="{9D8B030D-6E8A-4147-A177-3AD203B41FA5}">
                      <a16:colId xmlns:a16="http://schemas.microsoft.com/office/drawing/2014/main" val="38211728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Teams Impacted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Business Process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Reviewers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269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Business Partner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Dawn, Tarah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Shibu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748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Contract 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Customer, Finance, Supply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Dawn, Tarah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Shibu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424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993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787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1D28-E381-D82D-4CE8-2AD86600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63667B-981C-A7C5-B405-AF1006A4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02</a:t>
            </a:r>
            <a:r>
              <a:rPr lang="en-US" sz="4250">
                <a:latin typeface="Montserrat"/>
              </a:rPr>
              <a:t> </a:t>
            </a:r>
            <a:r>
              <a:rPr lang="en-US" sz="4400">
                <a:latin typeface="Montserrat"/>
              </a:rPr>
              <a:t>Current State Assumptions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65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6A9F5-6FA5-6E90-4540-7E81EB75C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800">
                <a:latin typeface="Montserrat"/>
              </a:rPr>
              <a:t>CRM only consumes 2 numbers ranges bidirectionally</a:t>
            </a:r>
            <a:endParaRPr lang="en-US"/>
          </a:p>
          <a:p>
            <a:pPr marL="650875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550">
              <a:latin typeface="Montserrat"/>
            </a:endParaRPr>
          </a:p>
          <a:p>
            <a:pPr marL="650875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550">
              <a:latin typeface="Montserrat"/>
            </a:endParaRPr>
          </a:p>
          <a:p>
            <a:pPr marL="650875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550">
              <a:latin typeface="Montserrat"/>
            </a:endParaRPr>
          </a:p>
          <a:p>
            <a:pPr marL="650875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550">
              <a:latin typeface="Montserrat"/>
            </a:endParaRPr>
          </a:p>
          <a:p>
            <a:pPr marL="650875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550">
              <a:latin typeface="Montserrat"/>
            </a:endParaRPr>
          </a:p>
          <a:p>
            <a:pPr marL="365125" lvl="1" indent="0">
              <a:spcBef>
                <a:spcPts val="0"/>
              </a:spcBef>
              <a:spcAft>
                <a:spcPts val="300"/>
              </a:spcAft>
              <a:buNone/>
            </a:pPr>
            <a:endParaRPr lang="en-US" sz="1550">
              <a:latin typeface="Montserrat"/>
            </a:endParaRP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800">
                <a:latin typeface="Montserrat"/>
              </a:rPr>
              <a:t>Vendors are not required in CRM</a:t>
            </a: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800">
                <a:latin typeface="Montserrat"/>
              </a:rPr>
              <a:t>BP Creation from CRM creates MKK Contract Partner Role in ECC</a:t>
            </a: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800">
                <a:latin typeface="Montserrat"/>
              </a:rPr>
              <a:t>BP Creation from CRM creates BP Grouping 0003 CRM BP’s ID in ECC</a:t>
            </a: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800">
                <a:latin typeface="Montserrat"/>
              </a:rPr>
              <a:t>BP created from CRM creates a customer in KNA1 </a:t>
            </a: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800">
                <a:latin typeface="Montserrat"/>
              </a:rPr>
              <a:t>DQM does not validate Street 3. </a:t>
            </a:r>
          </a:p>
          <a:p>
            <a:pPr marL="742950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r>
              <a:rPr lang="en-US" sz="1800">
                <a:latin typeface="Montserrat"/>
              </a:rPr>
              <a:t>It is utilized as the PO Box details </a:t>
            </a:r>
            <a:endParaRPr lang="en-US">
              <a:latin typeface="Montserra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12FBF-5B23-4CEF-91CF-208E41B8A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Assumptions for Future State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BD78FB-DB3A-E2D9-7FC6-B418636E4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56933"/>
              </p:ext>
            </p:extLst>
          </p:nvPr>
        </p:nvGraphicFramePr>
        <p:xfrm>
          <a:off x="619931" y="1717728"/>
          <a:ext cx="10974078" cy="1220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0922">
                  <a:extLst>
                    <a:ext uri="{9D8B030D-6E8A-4147-A177-3AD203B41FA5}">
                      <a16:colId xmlns:a16="http://schemas.microsoft.com/office/drawing/2014/main" val="1859295381"/>
                    </a:ext>
                  </a:extLst>
                </a:gridCol>
                <a:gridCol w="1402635">
                  <a:extLst>
                    <a:ext uri="{9D8B030D-6E8A-4147-A177-3AD203B41FA5}">
                      <a16:colId xmlns:a16="http://schemas.microsoft.com/office/drawing/2014/main" val="4125018432"/>
                    </a:ext>
                  </a:extLst>
                </a:gridCol>
                <a:gridCol w="1586817">
                  <a:extLst>
                    <a:ext uri="{9D8B030D-6E8A-4147-A177-3AD203B41FA5}">
                      <a16:colId xmlns:a16="http://schemas.microsoft.com/office/drawing/2014/main" val="2752329662"/>
                    </a:ext>
                  </a:extLst>
                </a:gridCol>
                <a:gridCol w="595054">
                  <a:extLst>
                    <a:ext uri="{9D8B030D-6E8A-4147-A177-3AD203B41FA5}">
                      <a16:colId xmlns:a16="http://schemas.microsoft.com/office/drawing/2014/main" val="1372701946"/>
                    </a:ext>
                  </a:extLst>
                </a:gridCol>
                <a:gridCol w="1275121">
                  <a:extLst>
                    <a:ext uri="{9D8B030D-6E8A-4147-A177-3AD203B41FA5}">
                      <a16:colId xmlns:a16="http://schemas.microsoft.com/office/drawing/2014/main" val="1122817577"/>
                    </a:ext>
                  </a:extLst>
                </a:gridCol>
                <a:gridCol w="1416803">
                  <a:extLst>
                    <a:ext uri="{9D8B030D-6E8A-4147-A177-3AD203B41FA5}">
                      <a16:colId xmlns:a16="http://schemas.microsoft.com/office/drawing/2014/main" val="709650641"/>
                    </a:ext>
                  </a:extLst>
                </a:gridCol>
                <a:gridCol w="2626622">
                  <a:extLst>
                    <a:ext uri="{9D8B030D-6E8A-4147-A177-3AD203B41FA5}">
                      <a16:colId xmlns:a16="http://schemas.microsoft.com/office/drawing/2014/main" val="3379084665"/>
                    </a:ext>
                  </a:extLst>
                </a:gridCol>
                <a:gridCol w="1150104">
                  <a:extLst>
                    <a:ext uri="{9D8B030D-6E8A-4147-A177-3AD203B41FA5}">
                      <a16:colId xmlns:a16="http://schemas.microsoft.com/office/drawing/2014/main" val="7774650"/>
                    </a:ext>
                  </a:extLst>
                </a:gridCol>
              </a:tblGrid>
              <a:tr h="498917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From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To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Grouping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Short Name</a:t>
                      </a:r>
                      <a:endParaRPr lang="en-US" sz="14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Number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112939"/>
                  </a:ext>
                </a:extLst>
              </a:tr>
              <a:tr h="35109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1000000000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1029999999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ECC BP's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BP's Created in ECC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654581"/>
                  </a:ext>
                </a:extLst>
              </a:tr>
              <a:tr h="35109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1030000000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1999999999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CRM BP's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BP's Created in 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440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05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DB245-EC17-94AB-69E1-2AB38B903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20D2BA-8354-9701-E92A-0D7E7AC30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03</a:t>
            </a:r>
            <a:r>
              <a:rPr lang="en-US" sz="4250">
                <a:latin typeface="Montserrat"/>
              </a:rPr>
              <a:t> </a:t>
            </a:r>
            <a:r>
              <a:rPr lang="en-US" sz="4400">
                <a:latin typeface="Montserrat"/>
              </a:rPr>
              <a:t>Master Data Design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6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E2AD4-3483-5D08-521E-428B017A4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CAA2AB-DDC8-6554-FC50-C4662E13B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61" y="291436"/>
            <a:ext cx="3057526" cy="2207924"/>
          </a:xfrm>
        </p:spPr>
        <p:txBody>
          <a:bodyPr>
            <a:normAutofit fontScale="90000"/>
          </a:bodyPr>
          <a:lstStyle/>
          <a:p>
            <a:r>
              <a:rPr lang="en-US"/>
              <a:t>Create Person BP in CRM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046A68-1988-91C7-5925-F3741991218D}"/>
              </a:ext>
            </a:extLst>
          </p:cNvPr>
          <p:cNvSpPr txBox="1"/>
          <p:nvPr/>
        </p:nvSpPr>
        <p:spPr>
          <a:xfrm>
            <a:off x="1993692" y="230848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92372-F93A-B205-D330-4C58DCB47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286" y="248996"/>
            <a:ext cx="8826954" cy="2609984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A9825A5-73DC-ABED-C037-EC840B1D2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631442"/>
              </p:ext>
            </p:extLst>
          </p:nvPr>
        </p:nvGraphicFramePr>
        <p:xfrm>
          <a:off x="1485900" y="3182106"/>
          <a:ext cx="9220200" cy="3294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743">
                  <a:extLst>
                    <a:ext uri="{9D8B030D-6E8A-4147-A177-3AD203B41FA5}">
                      <a16:colId xmlns:a16="http://schemas.microsoft.com/office/drawing/2014/main" val="4084044958"/>
                    </a:ext>
                  </a:extLst>
                </a:gridCol>
                <a:gridCol w="948053">
                  <a:extLst>
                    <a:ext uri="{9D8B030D-6E8A-4147-A177-3AD203B41FA5}">
                      <a16:colId xmlns:a16="http://schemas.microsoft.com/office/drawing/2014/main" val="3615934369"/>
                    </a:ext>
                  </a:extLst>
                </a:gridCol>
                <a:gridCol w="806870">
                  <a:extLst>
                    <a:ext uri="{9D8B030D-6E8A-4147-A177-3AD203B41FA5}">
                      <a16:colId xmlns:a16="http://schemas.microsoft.com/office/drawing/2014/main" val="73187036"/>
                    </a:ext>
                  </a:extLst>
                </a:gridCol>
                <a:gridCol w="858926">
                  <a:extLst>
                    <a:ext uri="{9D8B030D-6E8A-4147-A177-3AD203B41FA5}">
                      <a16:colId xmlns:a16="http://schemas.microsoft.com/office/drawing/2014/main" val="3147726669"/>
                    </a:ext>
                  </a:extLst>
                </a:gridCol>
                <a:gridCol w="2142977">
                  <a:extLst>
                    <a:ext uri="{9D8B030D-6E8A-4147-A177-3AD203B41FA5}">
                      <a16:colId xmlns:a16="http://schemas.microsoft.com/office/drawing/2014/main" val="2929055363"/>
                    </a:ext>
                  </a:extLst>
                </a:gridCol>
                <a:gridCol w="913671">
                  <a:extLst>
                    <a:ext uri="{9D8B030D-6E8A-4147-A177-3AD203B41FA5}">
                      <a16:colId xmlns:a16="http://schemas.microsoft.com/office/drawing/2014/main" val="2386789796"/>
                    </a:ext>
                  </a:extLst>
                </a:gridCol>
                <a:gridCol w="890941">
                  <a:extLst>
                    <a:ext uri="{9D8B030D-6E8A-4147-A177-3AD203B41FA5}">
                      <a16:colId xmlns:a16="http://schemas.microsoft.com/office/drawing/2014/main" val="2536028979"/>
                    </a:ext>
                  </a:extLst>
                </a:gridCol>
                <a:gridCol w="1075019">
                  <a:extLst>
                    <a:ext uri="{9D8B030D-6E8A-4147-A177-3AD203B41FA5}">
                      <a16:colId xmlns:a16="http://schemas.microsoft.com/office/drawing/2014/main" val="1126145318"/>
                    </a:ext>
                  </a:extLst>
                </a:gridCol>
              </a:tblGrid>
              <a:tr h="253588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Mandatory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Optional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Defaulted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Mandatory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Optional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Defaulted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288673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Apartment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373528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61940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Middle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1119898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Floor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713161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704308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Drivers License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228727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Drivers License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Zip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6147996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Drivers License Country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349906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Social Security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660839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Tax Jurisdiction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Address Dependent Landline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980212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Address Dependent Mobile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3096985"/>
                  </a:ext>
                </a:extLst>
              </a:tr>
              <a:tr h="171298">
                <a:tc>
                  <a:txBody>
                    <a:bodyPr/>
                    <a:lstStyle/>
                    <a:p>
                      <a:r>
                        <a:rPr lang="en-US" sz="1050"/>
                        <a:t>Street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Address Dependent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324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5158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C1FFA-CEA1-A2E8-C1FB-ACBB36703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1849B2-4F4B-7540-AEC5-641C31D0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60" y="291436"/>
            <a:ext cx="3650143" cy="2207924"/>
          </a:xfrm>
        </p:spPr>
        <p:txBody>
          <a:bodyPr>
            <a:normAutofit fontScale="90000"/>
          </a:bodyPr>
          <a:lstStyle/>
          <a:p>
            <a:r>
              <a:rPr lang="en-US"/>
              <a:t>Create Organization BP in CRM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6BD2E4-1969-5357-C8D7-5DBDCABE965E}"/>
              </a:ext>
            </a:extLst>
          </p:cNvPr>
          <p:cNvSpPr txBox="1"/>
          <p:nvPr/>
        </p:nvSpPr>
        <p:spPr>
          <a:xfrm>
            <a:off x="1993692" y="230848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3E3CA3E-9F2A-C791-22C4-26D269C2D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324267"/>
              </p:ext>
            </p:extLst>
          </p:nvPr>
        </p:nvGraphicFramePr>
        <p:xfrm>
          <a:off x="153761" y="3272048"/>
          <a:ext cx="9220200" cy="3294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743">
                  <a:extLst>
                    <a:ext uri="{9D8B030D-6E8A-4147-A177-3AD203B41FA5}">
                      <a16:colId xmlns:a16="http://schemas.microsoft.com/office/drawing/2014/main" val="4084044958"/>
                    </a:ext>
                  </a:extLst>
                </a:gridCol>
                <a:gridCol w="948053">
                  <a:extLst>
                    <a:ext uri="{9D8B030D-6E8A-4147-A177-3AD203B41FA5}">
                      <a16:colId xmlns:a16="http://schemas.microsoft.com/office/drawing/2014/main" val="3615934369"/>
                    </a:ext>
                  </a:extLst>
                </a:gridCol>
                <a:gridCol w="806870">
                  <a:extLst>
                    <a:ext uri="{9D8B030D-6E8A-4147-A177-3AD203B41FA5}">
                      <a16:colId xmlns:a16="http://schemas.microsoft.com/office/drawing/2014/main" val="73187036"/>
                    </a:ext>
                  </a:extLst>
                </a:gridCol>
                <a:gridCol w="858926">
                  <a:extLst>
                    <a:ext uri="{9D8B030D-6E8A-4147-A177-3AD203B41FA5}">
                      <a16:colId xmlns:a16="http://schemas.microsoft.com/office/drawing/2014/main" val="3147726669"/>
                    </a:ext>
                  </a:extLst>
                </a:gridCol>
                <a:gridCol w="2142977">
                  <a:extLst>
                    <a:ext uri="{9D8B030D-6E8A-4147-A177-3AD203B41FA5}">
                      <a16:colId xmlns:a16="http://schemas.microsoft.com/office/drawing/2014/main" val="2929055363"/>
                    </a:ext>
                  </a:extLst>
                </a:gridCol>
                <a:gridCol w="913671">
                  <a:extLst>
                    <a:ext uri="{9D8B030D-6E8A-4147-A177-3AD203B41FA5}">
                      <a16:colId xmlns:a16="http://schemas.microsoft.com/office/drawing/2014/main" val="2386789796"/>
                    </a:ext>
                  </a:extLst>
                </a:gridCol>
                <a:gridCol w="890941">
                  <a:extLst>
                    <a:ext uri="{9D8B030D-6E8A-4147-A177-3AD203B41FA5}">
                      <a16:colId xmlns:a16="http://schemas.microsoft.com/office/drawing/2014/main" val="2536028979"/>
                    </a:ext>
                  </a:extLst>
                </a:gridCol>
                <a:gridCol w="1075019">
                  <a:extLst>
                    <a:ext uri="{9D8B030D-6E8A-4147-A177-3AD203B41FA5}">
                      <a16:colId xmlns:a16="http://schemas.microsoft.com/office/drawing/2014/main" val="1126145318"/>
                    </a:ext>
                  </a:extLst>
                </a:gridCol>
              </a:tblGrid>
              <a:tr h="253588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Mandatory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Optional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Defaulted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Mandatory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Optional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Defaulted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288673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Name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Zip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373528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Name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61940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Tax Identification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1119898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Tax Jurisdiction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Address Dependent Landline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713161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Address Dependent Mobile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704308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Street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Address Dependent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228727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Apartment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CAM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6147996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349906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660839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Floor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980212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3096985"/>
                  </a:ext>
                </a:extLst>
              </a:tr>
              <a:tr h="171298">
                <a:tc>
                  <a:txBody>
                    <a:bodyPr/>
                    <a:lstStyle/>
                    <a:p>
                      <a:r>
                        <a:rPr lang="en-US" sz="105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32459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664D318-C018-D752-F3DE-8807FC03E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469" y="73152"/>
            <a:ext cx="6591639" cy="319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09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96FEC-D8F9-D4C2-CA18-D5EC593E5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9D9EF7-2836-8111-C917-EFC987C96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61" y="291436"/>
            <a:ext cx="3057526" cy="2207924"/>
          </a:xfrm>
        </p:spPr>
        <p:txBody>
          <a:bodyPr>
            <a:normAutofit fontScale="90000"/>
          </a:bodyPr>
          <a:lstStyle/>
          <a:p>
            <a:r>
              <a:rPr lang="en-US">
                <a:latin typeface="Montserrat"/>
              </a:rPr>
              <a:t>Maintain Person BP in CRM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A8859C-1BFA-1603-9727-E25E7D0A9CDB}"/>
              </a:ext>
            </a:extLst>
          </p:cNvPr>
          <p:cNvSpPr txBox="1"/>
          <p:nvPr/>
        </p:nvSpPr>
        <p:spPr>
          <a:xfrm>
            <a:off x="1993692" y="230848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44E7E0-67DA-C33C-A9C6-3BA68E9D8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286" y="248996"/>
            <a:ext cx="8826954" cy="2609984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6F81D9D-D0BD-3809-D4C3-CEBB28A00FE3}"/>
              </a:ext>
            </a:extLst>
          </p:cNvPr>
          <p:cNvGraphicFramePr>
            <a:graphicFrameLocks noGrp="1"/>
          </p:cNvGraphicFramePr>
          <p:nvPr/>
        </p:nvGraphicFramePr>
        <p:xfrm>
          <a:off x="1485900" y="3182106"/>
          <a:ext cx="9220200" cy="3294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743">
                  <a:extLst>
                    <a:ext uri="{9D8B030D-6E8A-4147-A177-3AD203B41FA5}">
                      <a16:colId xmlns:a16="http://schemas.microsoft.com/office/drawing/2014/main" val="4084044958"/>
                    </a:ext>
                  </a:extLst>
                </a:gridCol>
                <a:gridCol w="948053">
                  <a:extLst>
                    <a:ext uri="{9D8B030D-6E8A-4147-A177-3AD203B41FA5}">
                      <a16:colId xmlns:a16="http://schemas.microsoft.com/office/drawing/2014/main" val="3615934369"/>
                    </a:ext>
                  </a:extLst>
                </a:gridCol>
                <a:gridCol w="806870">
                  <a:extLst>
                    <a:ext uri="{9D8B030D-6E8A-4147-A177-3AD203B41FA5}">
                      <a16:colId xmlns:a16="http://schemas.microsoft.com/office/drawing/2014/main" val="73187036"/>
                    </a:ext>
                  </a:extLst>
                </a:gridCol>
                <a:gridCol w="858926">
                  <a:extLst>
                    <a:ext uri="{9D8B030D-6E8A-4147-A177-3AD203B41FA5}">
                      <a16:colId xmlns:a16="http://schemas.microsoft.com/office/drawing/2014/main" val="3147726669"/>
                    </a:ext>
                  </a:extLst>
                </a:gridCol>
                <a:gridCol w="2142977">
                  <a:extLst>
                    <a:ext uri="{9D8B030D-6E8A-4147-A177-3AD203B41FA5}">
                      <a16:colId xmlns:a16="http://schemas.microsoft.com/office/drawing/2014/main" val="2929055363"/>
                    </a:ext>
                  </a:extLst>
                </a:gridCol>
                <a:gridCol w="913671">
                  <a:extLst>
                    <a:ext uri="{9D8B030D-6E8A-4147-A177-3AD203B41FA5}">
                      <a16:colId xmlns:a16="http://schemas.microsoft.com/office/drawing/2014/main" val="2386789796"/>
                    </a:ext>
                  </a:extLst>
                </a:gridCol>
                <a:gridCol w="890941">
                  <a:extLst>
                    <a:ext uri="{9D8B030D-6E8A-4147-A177-3AD203B41FA5}">
                      <a16:colId xmlns:a16="http://schemas.microsoft.com/office/drawing/2014/main" val="2536028979"/>
                    </a:ext>
                  </a:extLst>
                </a:gridCol>
                <a:gridCol w="1075019">
                  <a:extLst>
                    <a:ext uri="{9D8B030D-6E8A-4147-A177-3AD203B41FA5}">
                      <a16:colId xmlns:a16="http://schemas.microsoft.com/office/drawing/2014/main" val="1126145318"/>
                    </a:ext>
                  </a:extLst>
                </a:gridCol>
              </a:tblGrid>
              <a:tr h="253588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Mandatory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Optional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Defaulted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Mandatory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Optional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Defaulted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288673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Apartment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373528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61940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Middle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1119898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Floor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713161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704308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Drivers License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228727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Drivers License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Zip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6147996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Drivers License Country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349906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Social Security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660839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Tax Jurisdiction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Address Dependent Landline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980212"/>
                  </a:ext>
                </a:extLst>
              </a:tr>
              <a:tr h="253588">
                <a:tc>
                  <a:txBody>
                    <a:bodyPr/>
                    <a:lstStyle/>
                    <a:p>
                      <a:r>
                        <a:rPr lang="en-US" sz="1050"/>
                        <a:t>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Address Dependent Mobile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3096985"/>
                  </a:ext>
                </a:extLst>
              </a:tr>
              <a:tr h="171298">
                <a:tc>
                  <a:txBody>
                    <a:bodyPr/>
                    <a:lstStyle/>
                    <a:p>
                      <a:r>
                        <a:rPr lang="en-US" sz="1050"/>
                        <a:t>Street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Address Dependent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324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744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51D53-481A-185E-D984-FA9598BE3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CD099DD-E19B-BA46-F868-C8F1E2202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492" y="1982083"/>
            <a:ext cx="7135283" cy="259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17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B1263-DC46-66D5-FE69-C0867149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97DA88-73B6-F2C1-F99A-5E407A3C5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60" y="2069"/>
            <a:ext cx="11242333" cy="635446"/>
          </a:xfrm>
        </p:spPr>
        <p:txBody>
          <a:bodyPr>
            <a:normAutofit fontScale="90000"/>
          </a:bodyPr>
          <a:lstStyle/>
          <a:p>
            <a:r>
              <a:rPr lang="en-US">
                <a:latin typeface="Montserrat"/>
              </a:rPr>
              <a:t>Maintain Organization BP in CRM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2E4748-54FC-3853-FA88-36E4B07862F7}"/>
              </a:ext>
            </a:extLst>
          </p:cNvPr>
          <p:cNvSpPr txBox="1"/>
          <p:nvPr/>
        </p:nvSpPr>
        <p:spPr>
          <a:xfrm>
            <a:off x="1993692" y="230848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2BDECAA-1BE8-ED2C-5ECB-85B8668D4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484320"/>
              </p:ext>
            </p:extLst>
          </p:nvPr>
        </p:nvGraphicFramePr>
        <p:xfrm>
          <a:off x="154328" y="636607"/>
          <a:ext cx="11030980" cy="6075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706">
                  <a:extLst>
                    <a:ext uri="{9D8B030D-6E8A-4147-A177-3AD203B41FA5}">
                      <a16:colId xmlns:a16="http://schemas.microsoft.com/office/drawing/2014/main" val="4084044958"/>
                    </a:ext>
                  </a:extLst>
                </a:gridCol>
                <a:gridCol w="1255741">
                  <a:extLst>
                    <a:ext uri="{9D8B030D-6E8A-4147-A177-3AD203B41FA5}">
                      <a16:colId xmlns:a16="http://schemas.microsoft.com/office/drawing/2014/main" val="3615934369"/>
                    </a:ext>
                  </a:extLst>
                </a:gridCol>
                <a:gridCol w="1296306">
                  <a:extLst>
                    <a:ext uri="{9D8B030D-6E8A-4147-A177-3AD203B41FA5}">
                      <a16:colId xmlns:a16="http://schemas.microsoft.com/office/drawing/2014/main" val="73187036"/>
                    </a:ext>
                  </a:extLst>
                </a:gridCol>
                <a:gridCol w="1287862">
                  <a:extLst>
                    <a:ext uri="{9D8B030D-6E8A-4147-A177-3AD203B41FA5}">
                      <a16:colId xmlns:a16="http://schemas.microsoft.com/office/drawing/2014/main" val="228284509"/>
                    </a:ext>
                  </a:extLst>
                </a:gridCol>
                <a:gridCol w="2155783">
                  <a:extLst>
                    <a:ext uri="{9D8B030D-6E8A-4147-A177-3AD203B41FA5}">
                      <a16:colId xmlns:a16="http://schemas.microsoft.com/office/drawing/2014/main" val="2929055363"/>
                    </a:ext>
                  </a:extLst>
                </a:gridCol>
                <a:gridCol w="897036">
                  <a:extLst>
                    <a:ext uri="{9D8B030D-6E8A-4147-A177-3AD203B41FA5}">
                      <a16:colId xmlns:a16="http://schemas.microsoft.com/office/drawing/2014/main" val="238678979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536028979"/>
                    </a:ext>
                  </a:extLst>
                </a:gridCol>
                <a:gridCol w="1216546">
                  <a:extLst>
                    <a:ext uri="{9D8B030D-6E8A-4147-A177-3AD203B41FA5}">
                      <a16:colId xmlns:a16="http://schemas.microsoft.com/office/drawing/2014/main" val="3158734004"/>
                    </a:ext>
                  </a:extLst>
                </a:gridCol>
              </a:tblGrid>
              <a:tr h="486933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Mandatory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Optional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View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Mandatory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Optional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FFFFFF"/>
                          </a:solidFill>
                          <a:latin typeface="Aptos"/>
                        </a:rPr>
                        <a:t>View Only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288673"/>
                  </a:ext>
                </a:extLst>
              </a:tr>
              <a:tr h="294723">
                <a:tc>
                  <a:txBody>
                    <a:bodyPr/>
                    <a:lstStyle/>
                    <a:p>
                      <a:r>
                        <a:rPr lang="en-US" sz="1050"/>
                        <a:t>Full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Info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373528"/>
                  </a:ext>
                </a:extLst>
              </a:tr>
              <a:tr h="358793">
                <a:tc>
                  <a:txBody>
                    <a:bodyPr/>
                    <a:lstStyle/>
                    <a:p>
                      <a:r>
                        <a:rPr lang="en-US" sz="105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No auto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61940"/>
                  </a:ext>
                </a:extLst>
              </a:tr>
              <a:tr h="358793">
                <a:tc>
                  <a:txBody>
                    <a:bodyPr/>
                    <a:lstStyle/>
                    <a:p>
                      <a:r>
                        <a:rPr lang="en-US" sz="1050"/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BCC Dunning 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1119898"/>
                  </a:ext>
                </a:extLst>
              </a:tr>
              <a:tr h="49974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BCC Shut-Off Notice Suppression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713161"/>
                  </a:ext>
                </a:extLst>
              </a:tr>
              <a:tr h="29472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CC Status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704308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Middle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Date/Time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228727"/>
                  </a:ext>
                </a:extLst>
              </a:tr>
              <a:tr h="29472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CC Updated By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6147996"/>
                  </a:ext>
                </a:extLst>
              </a:tr>
              <a:tr h="29472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Driver's License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CC Source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349906"/>
                  </a:ext>
                </a:extLst>
              </a:tr>
              <a:tr h="3459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DP Status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660839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DL State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Date/Time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980212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r>
                        <a:rPr lang="en-US" sz="1050"/>
                        <a:t>DL 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DP Updated By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3096985"/>
                  </a:ext>
                </a:extLst>
              </a:tr>
              <a:tr h="23065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Classification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DP Source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5491678"/>
                  </a:ext>
                </a:extLst>
              </a:tr>
              <a:tr h="35879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Employee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People in Household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4149209"/>
                  </a:ext>
                </a:extLst>
              </a:tr>
              <a:tr h="35879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Date of Birth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Payment Frequency 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7308895"/>
                  </a:ext>
                </a:extLst>
              </a:tr>
              <a:tr h="35879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Job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Household Income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165288"/>
                  </a:ext>
                </a:extLst>
              </a:tr>
              <a:tr h="405113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Do Not Solicit – VAPS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Updated Date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7462625"/>
                  </a:ext>
                </a:extLst>
              </a:tr>
              <a:tr h="358793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No auto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Source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324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69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13798-AF93-A1CD-D2AB-DD0A3E6C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79" y="478600"/>
            <a:ext cx="3869447" cy="1604200"/>
          </a:xfrm>
        </p:spPr>
        <p:txBody>
          <a:bodyPr>
            <a:normAutofit fontScale="90000"/>
          </a:bodyPr>
          <a:lstStyle/>
          <a:p>
            <a:r>
              <a:rPr lang="en-US"/>
              <a:t>Create Person BP in ECC</a:t>
            </a:r>
          </a:p>
        </p:txBody>
      </p:sp>
    </p:spTree>
    <p:extLst>
      <p:ext uri="{BB962C8B-B14F-4D97-AF65-F5344CB8AC3E}">
        <p14:creationId xmlns:p14="http://schemas.microsoft.com/office/powerpoint/2010/main" val="56167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35204-DBC3-A7D2-63EC-AC4CD2F1C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BP Roles </a:t>
            </a:r>
          </a:p>
        </p:txBody>
      </p:sp>
      <p:pic>
        <p:nvPicPr>
          <p:cNvPr id="10" name="Picture 9" descr="A table with text on it&#10;&#10;AI-generated content may be incorrect.">
            <a:extLst>
              <a:ext uri="{FF2B5EF4-FFF2-40B4-BE49-F238E27FC236}">
                <a16:creationId xmlns:a16="http://schemas.microsoft.com/office/drawing/2014/main" id="{8DFF05C7-FEE7-73DB-F8A5-74771635A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207" y="1217271"/>
            <a:ext cx="7378739" cy="520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2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F944C-3E2A-4C54-313C-8F79D1632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BP ID Types </a:t>
            </a:r>
          </a:p>
        </p:txBody>
      </p:sp>
      <p:pic>
        <p:nvPicPr>
          <p:cNvPr id="3" name="Picture 2" descr="A screenshot of a table&#10;&#10;AI-generated content may be incorrect.">
            <a:extLst>
              <a:ext uri="{FF2B5EF4-FFF2-40B4-BE49-F238E27FC236}">
                <a16:creationId xmlns:a16="http://schemas.microsoft.com/office/drawing/2014/main" id="{97E2CEAC-38FE-6F53-5F47-2E162C0CB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375" y="1314237"/>
            <a:ext cx="6755772" cy="4847671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3A59A9-C80A-8B7A-75E8-EF1472416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312771"/>
              </p:ext>
            </p:extLst>
          </p:nvPr>
        </p:nvGraphicFramePr>
        <p:xfrm>
          <a:off x="190797" y="1128116"/>
          <a:ext cx="8168640" cy="5847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2858696557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40837300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3461687577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16072512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610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IBS001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Social Security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ZCVMSS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93948"/>
                  </a:ext>
                </a:extLst>
              </a:tr>
              <a:tr h="448518">
                <a:tc>
                  <a:txBody>
                    <a:bodyPr/>
                    <a:lstStyle/>
                    <a:p>
                      <a:r>
                        <a:rPr lang="en-US" sz="1400"/>
                        <a:t>IBS002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Driver's License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ZCVMVS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521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ZAGENT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CEPASS CASE 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ZDCEAS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853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ZAPNEA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Apnea Monitor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ZDNB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18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ZATN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DO NOT ENROLL ASP TERMINATION Non-pay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ZDPREQ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424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ZATV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DO NOT ENROLL ASP TERMINATION Voluntary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ZDUN$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595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ZBCTR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Business Center 1-800-805-0490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ZDUNCD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51761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ZCARE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ZDUNHQ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65837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ZCVM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ZDUNPT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468981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ZCVMPS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ZDUNST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445438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ZCVMRS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ZDUNUL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411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133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0F39A-1030-DE8A-8852-B14A7DDE7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/>
              <a:t>BP Relationships 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5B38F2-7450-8309-B438-710EE7848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85" y="1117400"/>
            <a:ext cx="9510483" cy="55262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2037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643A0-3C03-D529-32DA-028796E4B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69CC9-0C04-2616-CDB9-0C0B4F775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>
                <a:latin typeface="Montserrat"/>
              </a:rPr>
              <a:t>Titles  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F8289C-E8DE-E564-E6F4-CFDF4DD99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581290"/>
              </p:ext>
            </p:extLst>
          </p:nvPr>
        </p:nvGraphicFramePr>
        <p:xfrm>
          <a:off x="2011680" y="1458545"/>
          <a:ext cx="8168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3488119904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900421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275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457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12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250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038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44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0C593-6044-ABEC-FFEF-DFA1A7782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24BB-9C86-2879-0BE5-DDA17E38F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latin typeface="Montserrat"/>
              </a:rPr>
              <a:t>Name </a:t>
            </a:r>
            <a:r>
              <a:rPr lang="en-US">
                <a:latin typeface="Montserrat"/>
              </a:rPr>
              <a:t>Prefix</a:t>
            </a:r>
            <a:r>
              <a:rPr lang="en-US" dirty="0">
                <a:latin typeface="Montserrat"/>
              </a:rPr>
              <a:t> 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82DCCF-0565-65E7-35B5-F9A70C2FBDB2}"/>
              </a:ext>
            </a:extLst>
          </p:cNvPr>
          <p:cNvGraphicFramePr>
            <a:graphicFrameLocks noGrp="1"/>
          </p:cNvGraphicFramePr>
          <p:nvPr/>
        </p:nvGraphicFramePr>
        <p:xfrm>
          <a:off x="2011680" y="1458545"/>
          <a:ext cx="8168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3488119904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900421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275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457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12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250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038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515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1D28-E381-D82D-4CE8-2AD86600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63667B-981C-A7C5-B405-AF1006A4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04</a:t>
            </a:r>
            <a:r>
              <a:rPr lang="en-US" sz="4250">
                <a:latin typeface="Montserrat"/>
              </a:rPr>
              <a:t> Open Questions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1184650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475B2-63A2-7BB7-EF0D-741DD642E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Key Open Question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FA685-70DD-011B-0D95-7E93B038B65A}"/>
              </a:ext>
            </a:extLst>
          </p:cNvPr>
          <p:cNvSpPr txBox="1"/>
          <p:nvPr/>
        </p:nvSpPr>
        <p:spPr>
          <a:xfrm>
            <a:off x="420623" y="1783080"/>
            <a:ext cx="6949441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AutoNum type="arabicPeriod"/>
            </a:pPr>
            <a:r>
              <a:rPr lang="en-US">
                <a:latin typeface="Montserrat"/>
              </a:rPr>
              <a:t>Moving forward will Consumers continue to utilize Street 3 instead of PO Box fields?</a:t>
            </a:r>
          </a:p>
          <a:p>
            <a:pPr marL="342900" indent="-342900">
              <a:buAutoNum type="arabicPeriod"/>
            </a:pPr>
            <a:r>
              <a:rPr lang="en-US">
                <a:latin typeface="Montserrat"/>
              </a:rPr>
              <a:t>How is the BP Type getting determined ? What is this value being used for? </a:t>
            </a:r>
          </a:p>
          <a:p>
            <a:pPr marL="342900" indent="-342900">
              <a:buAutoNum type="arabicPeriod"/>
            </a:pPr>
            <a:r>
              <a:rPr lang="en-US">
                <a:latin typeface="Montserrat"/>
              </a:rPr>
              <a:t>Custom SSN and Driver's license field. What was the intention of this and not using standard ? </a:t>
            </a:r>
          </a:p>
          <a:p>
            <a:pPr marL="342900" indent="-342900">
              <a:buAutoNum type="arabicPeriod"/>
            </a:pPr>
            <a:endParaRPr lang="en-US">
              <a:latin typeface="Montserrat"/>
            </a:endParaRPr>
          </a:p>
          <a:p>
            <a:pPr marL="342900" indent="-342900">
              <a:buAutoNum type="arabicPeriod"/>
            </a:pPr>
            <a:endParaRPr lang="en-US">
              <a:latin typeface="Montserrat"/>
            </a:endParaRPr>
          </a:p>
          <a:p>
            <a:pPr marL="342900" indent="-342900">
              <a:buAutoNum type="arabicPeriod"/>
            </a:pPr>
            <a:endParaRPr lang="en-US">
              <a:latin typeface="Montserrat"/>
            </a:endParaRPr>
          </a:p>
          <a:p>
            <a:pPr marL="342900" indent="-342900">
              <a:buAutoNum type="arabicPeriod"/>
            </a:pPr>
            <a:endParaRPr lang="en-US">
              <a:latin typeface="Montserrat"/>
            </a:endParaRPr>
          </a:p>
          <a:p>
            <a:pPr marL="342900" indent="-342900">
              <a:buAutoNum type="arabicPeriod"/>
            </a:pPr>
            <a:endParaRPr lang="en-US">
              <a:latin typeface="Montserra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05D91E-CE38-9BA1-FFAB-6E788846A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072" y="437960"/>
            <a:ext cx="3453484" cy="3177012"/>
          </a:xfrm>
          <a:prstGeom prst="rect">
            <a:avLst/>
          </a:prstGeom>
        </p:spPr>
      </p:pic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091CA09B-4521-D61F-9432-FF7D0C8D35CD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7205472" y="2026466"/>
            <a:ext cx="989600" cy="49727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02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EDE2-C629-0ECC-E66B-8A4A13ED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97FD0F-3E1D-D644-5432-29FF22D04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05</a:t>
            </a:r>
            <a:r>
              <a:rPr lang="en-US" sz="4250">
                <a:latin typeface="Montserrat"/>
              </a:rPr>
              <a:t> </a:t>
            </a:r>
            <a:r>
              <a:rPr lang="en-US" sz="4400">
                <a:latin typeface="Montserrat"/>
              </a:rPr>
              <a:t>FRICE-W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2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0B024-5B2C-73D1-0F65-38C1CBB14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pPr marL="342900" indent="-342900">
              <a:spcBef>
                <a:spcPts val="0"/>
              </a:spcBef>
              <a:spcAft>
                <a:spcPts val="300"/>
              </a:spcAft>
              <a:buAutoNum type="arabicPeriod"/>
            </a:pPr>
            <a:r>
              <a:rPr lang="en-US" sz="1800">
                <a:latin typeface="Montserrat"/>
              </a:rPr>
              <a:t>Telephone number format and length validation</a:t>
            </a:r>
            <a:endParaRPr lang="en-US"/>
          </a:p>
          <a:p>
            <a:pPr marL="342900" indent="-342900">
              <a:spcBef>
                <a:spcPts val="0"/>
              </a:spcBef>
              <a:spcAft>
                <a:spcPts val="300"/>
              </a:spcAft>
              <a:buAutoNum type="arabicPeriod"/>
            </a:pPr>
            <a:r>
              <a:rPr lang="en-US" sz="1800">
                <a:latin typeface="Montserrat"/>
              </a:rPr>
              <a:t>ID Masking</a:t>
            </a:r>
          </a:p>
          <a:p>
            <a:pPr marL="342900" indent="-342900">
              <a:spcBef>
                <a:spcPts val="0"/>
              </a:spcBef>
              <a:spcAft>
                <a:spcPts val="300"/>
              </a:spcAft>
              <a:buAutoNum type="arabicPeriod"/>
            </a:pPr>
            <a:r>
              <a:rPr lang="en-US" sz="1800">
                <a:latin typeface="Montserrat"/>
              </a:rPr>
              <a:t>ID types format and length validation</a:t>
            </a:r>
          </a:p>
          <a:p>
            <a:pPr marL="800100" lvl="1" indent="-342900">
              <a:spcBef>
                <a:spcPts val="0"/>
              </a:spcBef>
              <a:spcAft>
                <a:spcPts val="300"/>
              </a:spcAft>
              <a:buAutoNum type="alphaLcPeriod"/>
            </a:pPr>
            <a:r>
              <a:rPr lang="en-US" sz="1800">
                <a:latin typeface="Montserrat"/>
              </a:rPr>
              <a:t>Drivers License format and length</a:t>
            </a:r>
          </a:p>
          <a:p>
            <a:pPr marL="800100" lvl="1" indent="-342900">
              <a:spcBef>
                <a:spcPts val="0"/>
              </a:spcBef>
              <a:spcAft>
                <a:spcPts val="300"/>
              </a:spcAft>
              <a:buAutoNum type="alphaLcPeriod"/>
            </a:pPr>
            <a:r>
              <a:rPr lang="en-US" sz="1800">
                <a:latin typeface="Montserrat"/>
              </a:rPr>
              <a:t>Social Security format and length </a:t>
            </a:r>
          </a:p>
          <a:p>
            <a:pPr marL="342900" indent="-342900">
              <a:spcBef>
                <a:spcPts val="0"/>
              </a:spcBef>
              <a:spcAft>
                <a:spcPts val="300"/>
              </a:spcAft>
              <a:buAutoNum type="arabicPeriod"/>
            </a:pPr>
            <a:r>
              <a:rPr lang="en-US" sz="1800">
                <a:latin typeface="Montserrat"/>
              </a:rPr>
              <a:t>DQM address validation </a:t>
            </a:r>
          </a:p>
          <a:p>
            <a:pPr marL="342900" indent="-342900">
              <a:spcBef>
                <a:spcPts val="0"/>
              </a:spcBef>
              <a:spcAft>
                <a:spcPts val="300"/>
              </a:spcAft>
              <a:buAutoNum type="arabicPeriod"/>
            </a:pPr>
            <a:r>
              <a:rPr lang="en-US" sz="1800">
                <a:latin typeface="Montserrat"/>
              </a:rPr>
              <a:t>Business Partner Field Enhancements (Custom fields)</a:t>
            </a:r>
            <a:endParaRPr lang="en-US">
              <a:latin typeface="Montserra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854201-7694-B80E-BB57-4FB9BB65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FRICEF-W Identified</a:t>
            </a:r>
          </a:p>
        </p:txBody>
      </p:sp>
    </p:spTree>
    <p:extLst>
      <p:ext uri="{BB962C8B-B14F-4D97-AF65-F5344CB8AC3E}">
        <p14:creationId xmlns:p14="http://schemas.microsoft.com/office/powerpoint/2010/main" val="254538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8B1C4-66C6-E4C5-33CB-E873CE8B0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8750B-80A9-3759-00E2-7796EC771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502" y="3148509"/>
            <a:ext cx="6270458" cy="2490996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06</a:t>
            </a:r>
            <a:r>
              <a:rPr lang="en-US" sz="4250">
                <a:latin typeface="Montserrat"/>
              </a:rPr>
              <a:t> Data Migration</a:t>
            </a:r>
            <a:endParaRPr lang="en-US" sz="4250"/>
          </a:p>
        </p:txBody>
      </p:sp>
    </p:spTree>
    <p:extLst>
      <p:ext uri="{BB962C8B-B14F-4D97-AF65-F5344CB8AC3E}">
        <p14:creationId xmlns:p14="http://schemas.microsoft.com/office/powerpoint/2010/main" val="205250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8E552-A664-270D-D320-04C752E55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0EE52-89F9-8837-0A7E-2CEF9D6BF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en-US" sz="1800" b="1">
                <a:latin typeface="Montserrat"/>
              </a:rPr>
              <a:t>CRMD_ACTIVITY_H</a:t>
            </a:r>
            <a:endParaRPr lang="en-US" sz="1800" b="1"/>
          </a:p>
          <a:p>
            <a:pPr>
              <a:spcBef>
                <a:spcPts val="0"/>
              </a:spcBef>
            </a:pPr>
            <a:r>
              <a:rPr lang="en-US" sz="1800" b="1">
                <a:latin typeface="Montserrat"/>
              </a:rPr>
              <a:t>CRM_ORDERADM_H</a:t>
            </a:r>
            <a:endParaRPr lang="en-US" sz="1800" b="1"/>
          </a:p>
          <a:p>
            <a:pPr>
              <a:spcBef>
                <a:spcPts val="0"/>
              </a:spcBef>
            </a:pPr>
            <a:r>
              <a:rPr lang="en-US" sz="1800" b="1">
                <a:latin typeface="Montserrat"/>
              </a:rPr>
              <a:t>CRM_ORDERADM_I</a:t>
            </a:r>
          </a:p>
          <a:p>
            <a:pPr>
              <a:spcBef>
                <a:spcPts val="0"/>
              </a:spcBef>
            </a:pPr>
            <a:r>
              <a:rPr lang="en-US" sz="1800" b="1">
                <a:latin typeface="Montserrat"/>
              </a:rPr>
              <a:t>CRMV_LINKPARTNER</a:t>
            </a:r>
            <a:endParaRPr lang="en-US" sz="1800" b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5DCA3-1176-A063-C84B-C1B74490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Potential Tables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7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C0B4-D3BD-D96A-6EF3-03FF707C8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B0C8A-C0DF-8FCE-6347-DD7B96BEF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502" y="3148509"/>
            <a:ext cx="6270458" cy="2490996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07</a:t>
            </a:r>
            <a:r>
              <a:rPr lang="en-US" sz="4250">
                <a:latin typeface="Montserrat"/>
              </a:rPr>
              <a:t> Security Roles</a:t>
            </a:r>
            <a:endParaRPr lang="en-US" sz="4250"/>
          </a:p>
        </p:txBody>
      </p:sp>
    </p:spTree>
    <p:extLst>
      <p:ext uri="{BB962C8B-B14F-4D97-AF65-F5344CB8AC3E}">
        <p14:creationId xmlns:p14="http://schemas.microsoft.com/office/powerpoint/2010/main" val="2304260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2CF91-DD91-5F09-2619-2041FE9D2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6A1D4-5CE8-3141-60A1-D320E6E55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en-US" sz="1800" b="1">
                <a:latin typeface="Montserrat"/>
              </a:rPr>
              <a:t>Provided by CE Customer Team </a:t>
            </a:r>
            <a:endParaRPr lang="en-US" sz="1800" b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5E0626-2DE7-7D09-C8E7-BC045B324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9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602E-2C3B-4F08-5E75-F752CAE78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502" y="3148509"/>
            <a:ext cx="6270458" cy="2490996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08</a:t>
            </a:r>
            <a:r>
              <a:rPr lang="en-US" sz="4250">
                <a:latin typeface="Montserrat"/>
              </a:rPr>
              <a:t> Key Decisions, </a:t>
            </a:r>
            <a:br>
              <a:rPr lang="en-US" sz="4250">
                <a:latin typeface="Montserrat"/>
              </a:rPr>
            </a:br>
            <a:r>
              <a:rPr lang="en-US" sz="4250">
                <a:latin typeface="Montserrat"/>
              </a:rPr>
              <a:t>Action Items, </a:t>
            </a:r>
            <a:br>
              <a:rPr lang="en-US" sz="4250">
                <a:latin typeface="Montserrat"/>
              </a:rPr>
            </a:br>
            <a:r>
              <a:rPr lang="en-US" sz="4250">
                <a:latin typeface="Montserrat"/>
              </a:rPr>
              <a:t>Change Impacts, Wrap-Up &amp; Next Steps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5619D-0B81-725C-05C0-A444FD63F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AD21A1-7636-1E92-BA74-97C118A0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562" y="6316519"/>
            <a:ext cx="609601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67" b="0" i="0" kern="1200" baseline="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69B7C6-3FEA-7848-A062-37F8F6368D00}" type="slidenum">
              <a:rPr kumimoji="0" lang="en-US" sz="1067" b="0" i="0" u="none" strike="noStrike" kern="1200" cap="none" spc="0" normalizeH="0" baseline="0" noProof="0" smtClean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241765-29E7-B65E-EF47-99994A77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28" y="73152"/>
            <a:ext cx="11375136" cy="609600"/>
          </a:xfrm>
        </p:spPr>
        <p:txBody>
          <a:bodyPr/>
          <a:lstStyle/>
          <a:p>
            <a:r>
              <a:rPr lang="en-US">
                <a:latin typeface="Montserrat"/>
              </a:rPr>
              <a:t>Program Charging	(CE Internal Only)			</a:t>
            </a:r>
            <a:endParaRPr lang="en-US" sz="2400">
              <a:latin typeface="Montserrat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3C419A-8C28-8621-94F2-6BC57951C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328" y="552364"/>
            <a:ext cx="11769344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The Change &amp; Why: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We need to track O&amp;M costs more precisely. OCM and Data Conversion must be charged separately from End User Training and from Design/Build/Deployment work. This change is retroactive from February for Accounting, Rate case discovery, and audit. 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Ask: 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Pls follow the instructions below that apply to you based on your staffing category on the </a:t>
            </a:r>
            <a:r>
              <a:rPr kumimoji="0" lang="en-US" alt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LaunchPad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program. It is critical to track costs in the correct cost buckets.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Business Partner (BP) Core Team (Use SAP*):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Continue 100% allocation as before. (BP&amp;A handles this automatically behind the scenes and no time entry is needed except for the two scenarios below) 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OCM and Data Conversion activities; Use SAP to bill IO 6520973.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End User Training; Use SAP to bill IO 6519532.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IT Core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lvl="2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0000"/>
                </a:solidFill>
                <a:highlight>
                  <a:srgbClr val="FFFF00"/>
                </a:highlight>
                <a:latin typeface="Arial"/>
                <a:cs typeface="Arial"/>
              </a:rPr>
              <a:t>S4- Customer – Design/Development/Testing/Deploy Clarity Task</a:t>
            </a:r>
            <a:endParaRPr lang="en-US" altLang="en-US" sz="1100">
              <a:solidFill>
                <a:srgbClr val="000000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Clarity Timesheets will now be used for time charging, and the allocation mechanism is discontinued. Submit timesheets from February 2nd for a one-time catchup.  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Separate tasks for OCM, End User Training, and Data Conversion are available; Find them using keywords OCM, End User Training, and Data Conversion and charge them as applicable.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Extended BP Team (use SAP*):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6520973 for OCM and Data Conversion.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6519532 for End User Training.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Use new IO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6521411 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for all other tasks.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Extended IT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S4- Customer – Design/Development/Testing/Deploy Clarity Task</a:t>
            </a:r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specific tasks for OCM, End User Training, and Data Conversion; ID the tasks using the keywords OCM, End User Training, and Data Conversion.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other tasks as appropriate.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*SAP Timesheet Submission Instructions (for BPs)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Follow ESS steps (screen shot below): 1. Open ESS timesheet. 2. Enter IO number in work order field. 3. Select WORK code under ATT-ABS. 4. Add OCM, End User Training, or Data Conversion in comments. 5. Enter hours worked.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E62B9E-43CB-BEB2-4EBC-D41DFC90D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40" y="5670487"/>
            <a:ext cx="9777075" cy="55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5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6x9 PowertPoint Template-CE-Jan.2019-AFC">
  <a:themeElements>
    <a:clrScheme name="2024 Color Pallette">
      <a:dk1>
        <a:srgbClr val="000000"/>
      </a:dk1>
      <a:lt1>
        <a:srgbClr val="FFFEFE"/>
      </a:lt1>
      <a:dk2>
        <a:srgbClr val="454947"/>
      </a:dk2>
      <a:lt2>
        <a:srgbClr val="E3E4E3"/>
      </a:lt2>
      <a:accent1>
        <a:srgbClr val="0067A4"/>
      </a:accent1>
      <a:accent2>
        <a:srgbClr val="84BE41"/>
      </a:accent2>
      <a:accent3>
        <a:srgbClr val="E3E4E3"/>
      </a:accent3>
      <a:accent4>
        <a:srgbClr val="23425F"/>
      </a:accent4>
      <a:accent5>
        <a:srgbClr val="F5BB25"/>
      </a:accent5>
      <a:accent6>
        <a:srgbClr val="B4B4B3"/>
      </a:accent6>
      <a:hlink>
        <a:srgbClr val="0067A4"/>
      </a:hlink>
      <a:folHlink>
        <a:srgbClr val="B4B4B3"/>
      </a:folHlink>
    </a:clrScheme>
    <a:fontScheme name="2024 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>
          <a:solidFill>
            <a:schemeClr val="tx2"/>
          </a:solidFill>
        </a:ln>
        <a:effectLst/>
      </a:spPr>
      <a:bodyPr rtlCol="0" anchor="ctr"/>
      <a:lstStyle>
        <a:defPPr algn="ctr">
          <a:defRPr sz="1000" dirty="0">
            <a:latin typeface="Montserrat" pitchFamily="2" charset="77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>
        <a:spAutoFit/>
      </a:bodyPr>
      <a:lstStyle>
        <a:defPPr algn="l">
          <a:defRPr sz="1000" dirty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4 All Purpose PowerPoint Template.potx" id="{84CB3BC2-CE68-044F-9772-13EBC42BCB48}" vid="{4FEEE54B-C9A9-9B47-9C99-2B91212D142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haredContentType xmlns="Microsoft.SharePoint.Taxonomy.ContentTypeSync" SourceId="eeb413d7-29a7-49c8-b3b9-887ddee13f64" ContentTypeId="0x01" PreviousValue="false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5E4EB0480BDD4BA0725FDA835A98E9" ma:contentTypeVersion="12" ma:contentTypeDescription="Create a new document." ma:contentTypeScope="" ma:versionID="a7e85cd843c542c305e66a5ac0a6561c">
  <xsd:schema xmlns:xsd="http://www.w3.org/2001/XMLSchema" xmlns:xs="http://www.w3.org/2001/XMLSchema" xmlns:p="http://schemas.microsoft.com/office/2006/metadata/properties" xmlns:ns2="a433be04-1063-452b-9ab8-ba06373cb7cb" xmlns:ns3="2c7fe448-207e-4aca-804d-051f84c484d7" xmlns:ns4="301e0a56-4899-4cce-a214-5e425f318dcb" targetNamespace="http://schemas.microsoft.com/office/2006/metadata/properties" ma:root="true" ma:fieldsID="30d58687421f0a6c39a35b55d9f36047" ns2:_="" ns3:_="" ns4:_="">
    <xsd:import namespace="a433be04-1063-452b-9ab8-ba06373cb7cb"/>
    <xsd:import namespace="2c7fe448-207e-4aca-804d-051f84c484d7"/>
    <xsd:import namespace="301e0a56-4899-4cce-a214-5e425f318dcb"/>
    <xsd:element name="properties">
      <xsd:complexType>
        <xsd:sequence>
          <xsd:element name="documentManagement">
            <xsd:complexType>
              <xsd:all>
                <xsd:element ref="ns2:RSC_x0020_Event_x0020_Date" minOccurs="0"/>
                <xsd:element ref="ns3:i0f84bba906045b4af568ee102a52dcb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DateTaken" minOccurs="0"/>
                <xsd:element ref="ns4:lcf76f155ced4ddcb4097134ff3c332f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33be04-1063-452b-9ab8-ba06373cb7cb" elementFormDefault="qualified">
    <xsd:import namespace="http://schemas.microsoft.com/office/2006/documentManagement/types"/>
    <xsd:import namespace="http://schemas.microsoft.com/office/infopath/2007/PartnerControls"/>
    <xsd:element name="RSC_x0020_Event_x0020_Date" ma:index="2" nillable="true" ma:displayName="RSC Event Date" ma:default="" ma:description="This is used for retention purpose" ma:format="DateOnly" ma:internalName="RSC_x0020_Event_x0020_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7fe448-207e-4aca-804d-051f84c484d7" elementFormDefault="qualified">
    <xsd:import namespace="http://schemas.microsoft.com/office/2006/documentManagement/types"/>
    <xsd:import namespace="http://schemas.microsoft.com/office/infopath/2007/PartnerControls"/>
    <xsd:element name="i0f84bba906045b4af568ee102a52dcb" ma:index="10" nillable="true" ma:taxonomy="true" ma:internalName="i0f84bba906045b4af568ee102a52dcb" ma:taxonomyFieldName="RevIMBCS" ma:displayName="Record Series Code" ma:indexed="true" ma:default="1;#Default RSC|9a6b99e8-c984-4e1f-adbd-d33c0db777c9" ma:fieldId="{20f84bba-9060-45b4-af56-8ee102a52dcb}" ma:sspId="eeb413d7-29a7-49c8-b3b9-887ddee13f64" ma:termSetId="7f59b463-bd21-44ec-893d-1d24de4ba12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1" nillable="true" ma:displayName="Taxonomy Catch All Column" ma:hidden="true" ma:list="{0ec71dd2-9a89-4594-bd42-1ef39577ba0a}" ma:internalName="TaxCatchAll" ma:showField="CatchAllData" ma:web="2c7fe448-207e-4aca-804d-051f84c484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1e0a56-4899-4cce-a214-5e425f318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eb413d7-29a7-49c8-b3b9-887ddee13f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1e0a56-4899-4cce-a214-5e425f318dcb">
      <Terms xmlns="http://schemas.microsoft.com/office/infopath/2007/PartnerControls"/>
    </lcf76f155ced4ddcb4097134ff3c332f>
    <TaxCatchAll xmlns="2c7fe448-207e-4aca-804d-051f84c484d7">
      <Value>4</Value>
    </TaxCatchAll>
    <i0f84bba906045b4af568ee102a52dcb xmlns="2c7fe448-207e-4aca-804d-051f84c484d7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COR-104 Policies and Procedures</TermName>
          <TermId xmlns="http://schemas.microsoft.com/office/infopath/2007/PartnerControls">23fe8a5f-9220-44d9-ae32-6aebd451fecc</TermId>
        </TermInfo>
      </Terms>
    </i0f84bba906045b4af568ee102a52dcb>
    <RSC_x0020_Event_x0020_Date xmlns="a433be04-1063-452b-9ab8-ba06373cb7cb" xsi:nil="true"/>
  </documentManagement>
</p:properties>
</file>

<file path=customXml/itemProps1.xml><?xml version="1.0" encoding="utf-8"?>
<ds:datastoreItem xmlns:ds="http://schemas.openxmlformats.org/officeDocument/2006/customXml" ds:itemID="{15B71F75-3DA9-4231-BC08-2F7178B49F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3EA00F4-44C7-4EA0-A940-AB5474FAE8BC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4FFB47C3-9893-4467-B717-6D0D198212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33be04-1063-452b-9ab8-ba06373cb7cb"/>
    <ds:schemaRef ds:uri="2c7fe448-207e-4aca-804d-051f84c484d7"/>
    <ds:schemaRef ds:uri="301e0a56-4899-4cce-a214-5e425f318d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75C1E313-540D-4E67-9B11-A6ABEF7C91F2}">
  <ds:schemaRefs>
    <ds:schemaRef ds:uri="http://schemas.microsoft.com/office/2006/metadata/properties"/>
    <ds:schemaRef ds:uri="http://schemas.microsoft.com/office/infopath/2007/PartnerControls"/>
    <ds:schemaRef ds:uri="301e0a56-4899-4cce-a214-5e425f318dcb"/>
    <ds:schemaRef ds:uri="2c7fe448-207e-4aca-804d-051f84c484d7"/>
    <ds:schemaRef ds:uri="a433be04-1063-452b-9ab8-ba06373cb7c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31</Slides>
  <Notes>3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Office Theme</vt:lpstr>
      <vt:lpstr>16x9 PowertPoint Template-CE-Jan.2019-AFC</vt:lpstr>
      <vt:lpstr>Create and Maintain Business Master Data  Workshop A-1  Jose Diaz and Mohanta Das 5/6/26</vt:lpstr>
      <vt:lpstr>Overarching Design Principles</vt:lpstr>
      <vt:lpstr>WORKSHOP OBJECTIVES AND OUTCOMES</vt:lpstr>
      <vt:lpstr>PowerPoint Presentation</vt:lpstr>
      <vt:lpstr>01 Purpose  </vt:lpstr>
      <vt:lpstr>Purpose</vt:lpstr>
      <vt:lpstr>Ownership</vt:lpstr>
      <vt:lpstr>02 Current State Assumptions</vt:lpstr>
      <vt:lpstr>Assumptions for Future State</vt:lpstr>
      <vt:lpstr>03 Master Data Design</vt:lpstr>
      <vt:lpstr>Create Person BP in CRM</vt:lpstr>
      <vt:lpstr>Create Organization BP in CRM</vt:lpstr>
      <vt:lpstr>Maintain Person BP in CRM</vt:lpstr>
      <vt:lpstr>PowerPoint Presentation</vt:lpstr>
      <vt:lpstr>Maintain Organization BP in CRM</vt:lpstr>
      <vt:lpstr>Create Person BP in ECC</vt:lpstr>
      <vt:lpstr>BP Roles </vt:lpstr>
      <vt:lpstr>BP ID Types </vt:lpstr>
      <vt:lpstr>BP Relationships </vt:lpstr>
      <vt:lpstr>Titles   </vt:lpstr>
      <vt:lpstr>Name Prefix </vt:lpstr>
      <vt:lpstr>04 Open Questions</vt:lpstr>
      <vt:lpstr>Key Open Question</vt:lpstr>
      <vt:lpstr>05 FRICE-W</vt:lpstr>
      <vt:lpstr>FRICEF-W Identified</vt:lpstr>
      <vt:lpstr>06 Data Migration</vt:lpstr>
      <vt:lpstr>Potential Tables</vt:lpstr>
      <vt:lpstr>07 Security Roles</vt:lpstr>
      <vt:lpstr>PowerPoint Presentation</vt:lpstr>
      <vt:lpstr>08 Key Decisions,  Action Items,  Change Impacts, Wrap-Up &amp; Next Steps</vt:lpstr>
      <vt:lpstr>Program Charging (CE Internal Only)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Diaz</dc:creator>
  <cp:revision>21</cp:revision>
  <dcterms:created xsi:type="dcterms:W3CDTF">2026-04-30T14:24:24Z</dcterms:created>
  <dcterms:modified xsi:type="dcterms:W3CDTF">2026-05-08T15:26:34Z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0x010100E85E4EB0480BDD4BA0725FDA835A98E9</vt:lpwstr>
  </property>
  <property fmtid="{D5CDD505-2E9C-101B-9397-08002B2CF9AE}" pid="3" name="MediaServiceImageTags">
    <vt:lpwstr/>
  </property>
  <property fmtid="{D5CDD505-2E9C-101B-9397-08002B2CF9AE}" pid="4" name="RevIMBCS">
    <vt:lpwstr>4;#COR-104 Policies and Procedures|23fe8a5f-9220-44d9-ae32-6aebd451fecc</vt:lpwstr>
  </property>
</Properties>
</file>