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60" r:id="rId5"/>
    <p:sldId id="262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732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C4179-2D6D-4E14-87E8-F1817D9D80C5}" type="datetimeFigureOut">
              <a:rPr lang="en-US" smtClean="0"/>
              <a:t>6/24/2015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EC744-DC86-43B8-95A8-698C78056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430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D1DFC-9FAF-45BB-A1BC-C5CB92239AF4}" type="datetimeFigureOut">
              <a:rPr lang="en-US" smtClean="0"/>
              <a:t>6/24/2015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F864-A3A2-47B8-92D5-0E9EDC939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04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D1DFC-9FAF-45BB-A1BC-C5CB92239AF4}" type="datetimeFigureOut">
              <a:rPr lang="en-US" smtClean="0"/>
              <a:t>6/24/2015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F864-A3A2-47B8-92D5-0E9EDC939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15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D1DFC-9FAF-45BB-A1BC-C5CB92239AF4}" type="datetimeFigureOut">
              <a:rPr lang="en-US" smtClean="0"/>
              <a:t>6/24/2015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F864-A3A2-47B8-92D5-0E9EDC939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593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D1DFC-9FAF-45BB-A1BC-C5CB92239AF4}" type="datetimeFigureOut">
              <a:rPr lang="en-US" smtClean="0"/>
              <a:t>6/24/2015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F864-A3A2-47B8-92D5-0E9EDC939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400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D1DFC-9FAF-45BB-A1BC-C5CB92239AF4}" type="datetimeFigureOut">
              <a:rPr lang="en-US" smtClean="0"/>
              <a:t>6/24/2015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F864-A3A2-47B8-92D5-0E9EDC939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019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D1DFC-9FAF-45BB-A1BC-C5CB92239AF4}" type="datetimeFigureOut">
              <a:rPr lang="en-US" smtClean="0"/>
              <a:t>6/24/2015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F864-A3A2-47B8-92D5-0E9EDC939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209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D1DFC-9FAF-45BB-A1BC-C5CB92239AF4}" type="datetimeFigureOut">
              <a:rPr lang="en-US" smtClean="0"/>
              <a:t>6/24/2015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F864-A3A2-47B8-92D5-0E9EDC939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282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D1DFC-9FAF-45BB-A1BC-C5CB92239AF4}" type="datetimeFigureOut">
              <a:rPr lang="en-US" smtClean="0"/>
              <a:t>6/24/2015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F864-A3A2-47B8-92D5-0E9EDC939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424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D1DFC-9FAF-45BB-A1BC-C5CB92239AF4}" type="datetimeFigureOut">
              <a:rPr lang="en-US" smtClean="0"/>
              <a:t>6/24/2015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F864-A3A2-47B8-92D5-0E9EDC939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378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D1DFC-9FAF-45BB-A1BC-C5CB92239AF4}" type="datetimeFigureOut">
              <a:rPr lang="en-US" smtClean="0"/>
              <a:t>6/24/2015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F864-A3A2-47B8-92D5-0E9EDC939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874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D1DFC-9FAF-45BB-A1BC-C5CB92239AF4}" type="datetimeFigureOut">
              <a:rPr lang="en-US" smtClean="0"/>
              <a:t>6/24/2015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F864-A3A2-47B8-92D5-0E9EDC939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798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 Single Corner Rectangle 12"/>
          <p:cNvSpPr/>
          <p:nvPr userDrawn="1"/>
        </p:nvSpPr>
        <p:spPr>
          <a:xfrm flipH="1" flipV="1">
            <a:off x="76200" y="6212467"/>
            <a:ext cx="8991600" cy="569335"/>
          </a:xfrm>
          <a:prstGeom prst="round1Rect">
            <a:avLst/>
          </a:prstGeom>
          <a:solidFill>
            <a:srgbClr val="0065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3" tIns="45716" rIns="91433" bIns="45716" rtlCol="0" anchor="ctr"/>
          <a:lstStyle/>
          <a:p>
            <a:pPr algn="ctr"/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787" y="914406"/>
            <a:ext cx="8968014" cy="5257801"/>
          </a:xfrm>
        </p:spPr>
        <p:txBody>
          <a:bodyPr>
            <a:normAutofit/>
          </a:bodyPr>
          <a:lstStyle>
            <a:lvl1pPr marL="457166" indent="-457166">
              <a:buClr>
                <a:srgbClr val="0065BD"/>
              </a:buClr>
              <a:buSzPct val="130000"/>
              <a:buFont typeface="Arial" pitchFamily="34" charset="0"/>
              <a:buChar char="•"/>
              <a:defRPr sz="2800">
                <a:latin typeface="Franklin Gothic Book" pitchFamily="34" charset="0"/>
              </a:defRPr>
            </a:lvl1pPr>
            <a:lvl2pPr marL="742893" indent="-285728">
              <a:buClr>
                <a:srgbClr val="69BE28"/>
              </a:buClr>
              <a:buFont typeface="Wingdings" pitchFamily="2" charset="2"/>
              <a:buChar char="§"/>
              <a:defRPr sz="2400">
                <a:latin typeface="Franklin Gothic Book" pitchFamily="34" charset="0"/>
              </a:defRPr>
            </a:lvl2pPr>
            <a:lvl3pPr marL="1257204" indent="-342874">
              <a:buClr>
                <a:srgbClr val="0065BD"/>
              </a:buClr>
              <a:buSzPct val="130000"/>
              <a:buFont typeface="Arial" pitchFamily="34" charset="0"/>
              <a:buChar char="•"/>
              <a:defRPr sz="2000">
                <a:latin typeface="Franklin Gothic Book" pitchFamily="34" charset="0"/>
              </a:defRPr>
            </a:lvl3pPr>
            <a:lvl4pPr marL="1600078" indent="-228583">
              <a:buClr>
                <a:srgbClr val="69BE28"/>
              </a:buClr>
              <a:buFont typeface="Arial" pitchFamily="34" charset="0"/>
              <a:buChar char="♦"/>
              <a:defRPr sz="1800">
                <a:latin typeface="Franklin Gothic Book" pitchFamily="34" charset="0"/>
              </a:defRPr>
            </a:lvl4pPr>
            <a:lvl5pPr marL="2114389" indent="-285728">
              <a:buSzPct val="70000"/>
              <a:buFont typeface="Arial" pitchFamily="34" charset="0"/>
              <a:buChar char="»"/>
              <a:defRPr sz="1800">
                <a:latin typeface="Franklin Gothic Book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Round Diagonal Corner Rectangle 6"/>
          <p:cNvSpPr/>
          <p:nvPr userDrawn="1"/>
        </p:nvSpPr>
        <p:spPr>
          <a:xfrm flipH="1">
            <a:off x="76200" y="76200"/>
            <a:ext cx="8991600" cy="762000"/>
          </a:xfrm>
          <a:prstGeom prst="round2DiagRect">
            <a:avLst/>
          </a:prstGeom>
          <a:solidFill>
            <a:srgbClr val="0065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3" tIns="45716" rIns="91433" bIns="45716" rtlCol="0" anchor="ctr"/>
          <a:lstStyle/>
          <a:p>
            <a:pPr algn="ctr"/>
            <a:endParaRPr lang="en-US" sz="3600" b="1" dirty="0"/>
          </a:p>
        </p:txBody>
      </p:sp>
      <p:sp>
        <p:nvSpPr>
          <p:cNvPr id="10" name="Round Diagonal Corner Rectangle 9"/>
          <p:cNvSpPr/>
          <p:nvPr userDrawn="1"/>
        </p:nvSpPr>
        <p:spPr>
          <a:xfrm flipH="1">
            <a:off x="76200" y="914406"/>
            <a:ext cx="8991600" cy="5257801"/>
          </a:xfrm>
          <a:prstGeom prst="round2DiagRect">
            <a:avLst>
              <a:gd name="adj1" fmla="val 9206"/>
              <a:gd name="adj2" fmla="val 0"/>
            </a:avLst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3" tIns="45716" rIns="91433" bIns="45716" rtlCol="0" anchor="ctr"/>
          <a:lstStyle/>
          <a:p>
            <a:pPr algn="ctr"/>
            <a:endParaRPr lang="en-US" dirty="0"/>
          </a:p>
        </p:txBody>
      </p:sp>
      <p:sp>
        <p:nvSpPr>
          <p:cNvPr id="2" name="Rounded Rectangle 1"/>
          <p:cNvSpPr/>
          <p:nvPr userDrawn="1"/>
        </p:nvSpPr>
        <p:spPr>
          <a:xfrm>
            <a:off x="7756358" y="6264443"/>
            <a:ext cx="1371600" cy="47367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3" tIns="45716" rIns="91433" bIns="45716"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9753601" y="1828804"/>
            <a:ext cx="184716" cy="369324"/>
          </a:xfrm>
          <a:prstGeom prst="rect">
            <a:avLst/>
          </a:prstGeom>
          <a:noFill/>
        </p:spPr>
        <p:txBody>
          <a:bodyPr wrap="none" lIns="91433" tIns="45716" rIns="91433" bIns="45716" rtlCol="0">
            <a:spAutoFit/>
          </a:bodyPr>
          <a:lstStyle/>
          <a:p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>
          <a:xfrm>
            <a:off x="712577" y="155747"/>
            <a:ext cx="7136027" cy="571500"/>
          </a:xfrm>
        </p:spPr>
        <p:txBody>
          <a:bodyPr>
            <a:noAutofit/>
          </a:bodyPr>
          <a:lstStyle>
            <a:lvl1pPr algn="l">
              <a:defRPr sz="33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slide title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0"/>
          </p:nvPr>
        </p:nvSpPr>
        <p:spPr>
          <a:xfrm>
            <a:off x="84226" y="6288509"/>
            <a:ext cx="7889751" cy="473675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pic>
        <p:nvPicPr>
          <p:cNvPr id="15" name="Content Placeholder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4" y="6324601"/>
            <a:ext cx="1113739" cy="36616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69" y="170915"/>
            <a:ext cx="514886" cy="514888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8586464" y="233690"/>
            <a:ext cx="3289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869B97B5-30FC-4A1C-A668-54709B7A3747}" type="slidenum">
              <a:rPr lang="en-US" sz="1100" smtClean="0">
                <a:solidFill>
                  <a:schemeClr val="bg1"/>
                </a:solidFill>
                <a:latin typeface="Franklin Gothic Book" pitchFamily="34" charset="0"/>
              </a:rPr>
              <a:pPr/>
              <a:t>‹#›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23178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 Single Corner Rectangle 12"/>
          <p:cNvSpPr/>
          <p:nvPr userDrawn="1"/>
        </p:nvSpPr>
        <p:spPr>
          <a:xfrm flipH="1" flipV="1">
            <a:off x="76200" y="6212467"/>
            <a:ext cx="8991600" cy="569335"/>
          </a:xfrm>
          <a:prstGeom prst="round1Rect">
            <a:avLst/>
          </a:prstGeom>
          <a:solidFill>
            <a:srgbClr val="0065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3" tIns="45716" rIns="91433" bIns="45716" rtlCol="0" anchor="ctr"/>
          <a:lstStyle/>
          <a:p>
            <a:pPr algn="ctr"/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787" y="914406"/>
            <a:ext cx="8968014" cy="5257801"/>
          </a:xfrm>
        </p:spPr>
        <p:txBody>
          <a:bodyPr>
            <a:normAutofit/>
          </a:bodyPr>
          <a:lstStyle>
            <a:lvl1pPr marL="457166" indent="-457166">
              <a:buClr>
                <a:srgbClr val="0065BD"/>
              </a:buClr>
              <a:buSzPct val="130000"/>
              <a:buFont typeface="Arial" pitchFamily="34" charset="0"/>
              <a:buChar char="•"/>
              <a:defRPr sz="2800">
                <a:latin typeface="Franklin Gothic Book" pitchFamily="34" charset="0"/>
              </a:defRPr>
            </a:lvl1pPr>
            <a:lvl2pPr marL="742893" indent="-285728">
              <a:buClr>
                <a:srgbClr val="69BE28"/>
              </a:buClr>
              <a:buFont typeface="Wingdings" pitchFamily="2" charset="2"/>
              <a:buChar char="§"/>
              <a:defRPr sz="2400">
                <a:latin typeface="Franklin Gothic Book" pitchFamily="34" charset="0"/>
              </a:defRPr>
            </a:lvl2pPr>
            <a:lvl3pPr marL="1257204" indent="-342874">
              <a:buClr>
                <a:srgbClr val="0065BD"/>
              </a:buClr>
              <a:buSzPct val="130000"/>
              <a:buFont typeface="Arial" pitchFamily="34" charset="0"/>
              <a:buChar char="•"/>
              <a:defRPr sz="2000">
                <a:latin typeface="Franklin Gothic Book" pitchFamily="34" charset="0"/>
              </a:defRPr>
            </a:lvl3pPr>
            <a:lvl4pPr marL="1600078" indent="-228583">
              <a:buClr>
                <a:srgbClr val="69BE28"/>
              </a:buClr>
              <a:buFont typeface="Arial" pitchFamily="34" charset="0"/>
              <a:buChar char="♦"/>
              <a:defRPr sz="1800">
                <a:latin typeface="Franklin Gothic Book" pitchFamily="34" charset="0"/>
              </a:defRPr>
            </a:lvl4pPr>
            <a:lvl5pPr marL="2114389" indent="-285728">
              <a:buSzPct val="70000"/>
              <a:buFont typeface="Arial" pitchFamily="34" charset="0"/>
              <a:buChar char="»"/>
              <a:defRPr sz="1800">
                <a:latin typeface="Franklin Gothic Book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Round Diagonal Corner Rectangle 6"/>
          <p:cNvSpPr/>
          <p:nvPr userDrawn="1"/>
        </p:nvSpPr>
        <p:spPr>
          <a:xfrm flipH="1">
            <a:off x="76200" y="76200"/>
            <a:ext cx="8991600" cy="762000"/>
          </a:xfrm>
          <a:prstGeom prst="round2DiagRect">
            <a:avLst/>
          </a:prstGeom>
          <a:solidFill>
            <a:srgbClr val="0065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3" tIns="45716" rIns="91433" bIns="45716" rtlCol="0" anchor="ctr"/>
          <a:lstStyle/>
          <a:p>
            <a:pPr algn="ctr"/>
            <a:endParaRPr lang="en-US" sz="3600" b="1" dirty="0"/>
          </a:p>
        </p:txBody>
      </p:sp>
      <p:sp>
        <p:nvSpPr>
          <p:cNvPr id="10" name="Round Diagonal Corner Rectangle 9"/>
          <p:cNvSpPr/>
          <p:nvPr userDrawn="1"/>
        </p:nvSpPr>
        <p:spPr>
          <a:xfrm flipH="1">
            <a:off x="76200" y="914406"/>
            <a:ext cx="8991600" cy="5257801"/>
          </a:xfrm>
          <a:prstGeom prst="round2DiagRect">
            <a:avLst>
              <a:gd name="adj1" fmla="val 9206"/>
              <a:gd name="adj2" fmla="val 0"/>
            </a:avLst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3" tIns="45716" rIns="91433" bIns="45716" rtlCol="0" anchor="ctr"/>
          <a:lstStyle/>
          <a:p>
            <a:pPr algn="ctr"/>
            <a:endParaRPr lang="en-US" dirty="0"/>
          </a:p>
        </p:txBody>
      </p:sp>
      <p:sp>
        <p:nvSpPr>
          <p:cNvPr id="2" name="Rounded Rectangle 1"/>
          <p:cNvSpPr/>
          <p:nvPr userDrawn="1"/>
        </p:nvSpPr>
        <p:spPr>
          <a:xfrm>
            <a:off x="7756358" y="6264443"/>
            <a:ext cx="1371600" cy="47367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3" tIns="45716" rIns="91433" bIns="45716"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9753601" y="1828804"/>
            <a:ext cx="184716" cy="369324"/>
          </a:xfrm>
          <a:prstGeom prst="rect">
            <a:avLst/>
          </a:prstGeom>
          <a:noFill/>
        </p:spPr>
        <p:txBody>
          <a:bodyPr wrap="none" lIns="91433" tIns="45716" rIns="91433" bIns="45716" rtlCol="0">
            <a:spAutoFit/>
          </a:bodyPr>
          <a:lstStyle/>
          <a:p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>
          <a:xfrm>
            <a:off x="712577" y="155747"/>
            <a:ext cx="7136027" cy="571500"/>
          </a:xfrm>
        </p:spPr>
        <p:txBody>
          <a:bodyPr>
            <a:noAutofit/>
          </a:bodyPr>
          <a:lstStyle>
            <a:lvl1pPr algn="l">
              <a:defRPr sz="33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slide title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0"/>
          </p:nvPr>
        </p:nvSpPr>
        <p:spPr>
          <a:xfrm>
            <a:off x="84226" y="6288509"/>
            <a:ext cx="7889751" cy="473675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pic>
        <p:nvPicPr>
          <p:cNvPr id="15" name="Content Placeholder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4" y="6324601"/>
            <a:ext cx="1113739" cy="36616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69" y="170915"/>
            <a:ext cx="514886" cy="514888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8586464" y="233690"/>
            <a:ext cx="3289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869B97B5-30FC-4A1C-A668-54709B7A3747}" type="slidenum">
              <a:rPr lang="en-US" sz="1100" smtClean="0">
                <a:solidFill>
                  <a:schemeClr val="bg1"/>
                </a:solidFill>
                <a:latin typeface="Franklin Gothic Book" pitchFamily="34" charset="0"/>
              </a:rPr>
              <a:pPr/>
              <a:t>‹#›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23178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D1DFC-9FAF-45BB-A1BC-C5CB92239AF4}" type="datetimeFigureOut">
              <a:rPr lang="en-US" smtClean="0"/>
              <a:t>6/24/2015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C6F864-A3A2-47B8-92D5-0E9EDC939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 Historian Timeline for 7/18 Launch</a:t>
            </a:r>
            <a:endParaRPr lang="en-US" dirty="0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06627"/>
              </p:ext>
            </p:extLst>
          </p:nvPr>
        </p:nvGraphicFramePr>
        <p:xfrm>
          <a:off x="304800" y="1325881"/>
          <a:ext cx="8534401" cy="3185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7476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</a:tblGrid>
              <a:tr h="44506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25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26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27</a:t>
                      </a:r>
                      <a:endParaRPr lang="en-US" sz="9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28</a:t>
                      </a:r>
                      <a:endParaRPr lang="en-US" sz="9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29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30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1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2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3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4</a:t>
                      </a:r>
                      <a:endParaRPr lang="en-US" sz="9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5</a:t>
                      </a:r>
                      <a:endParaRPr lang="en-US" sz="9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6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7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8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9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10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11</a:t>
                      </a:r>
                      <a:endParaRPr lang="en-US" sz="9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12</a:t>
                      </a:r>
                      <a:endParaRPr lang="en-US" sz="9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13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14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15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16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17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18</a:t>
                      </a:r>
                      <a:endParaRPr lang="en-US" sz="9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19</a:t>
                      </a:r>
                      <a:endParaRPr lang="en-US" sz="9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393138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R4B</a:t>
                      </a:r>
                      <a:r>
                        <a:rPr lang="en-US" sz="1400" baseline="0" dirty="0" smtClean="0"/>
                        <a:t> Go Live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MODM </a:t>
                      </a:r>
                      <a:r>
                        <a:rPr kumimoji="0" 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Go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Transports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CAB</a:t>
                      </a:r>
                      <a:endParaRPr kumimoji="0" lang="en-US" sz="1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Perf Testing</a:t>
                      </a:r>
                      <a:endParaRPr kumimoji="0" lang="en-US" sz="1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Holiday</a:t>
                      </a:r>
                      <a:endParaRPr kumimoji="0" lang="en-US" sz="1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Stabilize Pre-Prod</a:t>
                      </a:r>
                      <a:endParaRPr kumimoji="0" lang="en-US" sz="1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7-Point Star 9"/>
          <p:cNvSpPr/>
          <p:nvPr/>
        </p:nvSpPr>
        <p:spPr>
          <a:xfrm>
            <a:off x="8305800" y="1905000"/>
            <a:ext cx="228600" cy="228600"/>
          </a:xfrm>
          <a:prstGeom prst="star7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7-Point Star 10"/>
          <p:cNvSpPr/>
          <p:nvPr/>
        </p:nvSpPr>
        <p:spPr>
          <a:xfrm>
            <a:off x="6834250" y="2971800"/>
            <a:ext cx="228600" cy="228600"/>
          </a:xfrm>
          <a:prstGeom prst="star7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utoShape 63"/>
          <p:cNvSpPr>
            <a:spLocks noChangeArrowheads="1"/>
          </p:cNvSpPr>
          <p:nvPr/>
        </p:nvSpPr>
        <p:spPr bwMode="auto">
          <a:xfrm>
            <a:off x="7391400" y="2586035"/>
            <a:ext cx="545275" cy="250189"/>
          </a:xfrm>
          <a:prstGeom prst="homePlate">
            <a:avLst>
              <a:gd name="adj" fmla="val 28906"/>
            </a:avLst>
          </a:prstGeom>
          <a:solidFill>
            <a:srgbClr val="FFC000"/>
          </a:solidFill>
          <a:ln w="9525" cap="flat" cmpd="sng" algn="ctr">
            <a:solidFill>
              <a:srgbClr val="CC6600"/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84855" tIns="0" rIns="16969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9pPr>
          </a:lstStyle>
          <a:p>
            <a:pPr algn="ctr" eaLnBrk="0" hangingPunct="0">
              <a:lnSpc>
                <a:spcPct val="80000"/>
              </a:lnSpc>
              <a:defRPr/>
            </a:pPr>
            <a:endParaRPr lang="en-US" sz="1600" kern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AutoShape 63"/>
          <p:cNvSpPr>
            <a:spLocks noChangeArrowheads="1"/>
          </p:cNvSpPr>
          <p:nvPr/>
        </p:nvSpPr>
        <p:spPr bwMode="auto">
          <a:xfrm>
            <a:off x="4126884" y="3317175"/>
            <a:ext cx="2707365" cy="250189"/>
          </a:xfrm>
          <a:prstGeom prst="homePlate">
            <a:avLst>
              <a:gd name="adj" fmla="val 28906"/>
            </a:avLst>
          </a:prstGeom>
          <a:solidFill>
            <a:srgbClr val="FFC000"/>
          </a:solidFill>
          <a:ln w="9525" cap="flat" cmpd="sng" algn="ctr">
            <a:solidFill>
              <a:srgbClr val="CC6600"/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84855" tIns="0" rIns="16969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9pPr>
          </a:lstStyle>
          <a:p>
            <a:pPr algn="ctr" eaLnBrk="0" hangingPunct="0">
              <a:lnSpc>
                <a:spcPct val="80000"/>
              </a:lnSpc>
              <a:defRPr/>
            </a:pPr>
            <a:r>
              <a:rPr lang="en-US" sz="14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7 Days</a:t>
            </a:r>
            <a:endParaRPr lang="en-US" sz="1400" kern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AutoShape 63"/>
          <p:cNvSpPr>
            <a:spLocks noChangeArrowheads="1"/>
          </p:cNvSpPr>
          <p:nvPr/>
        </p:nvSpPr>
        <p:spPr bwMode="auto">
          <a:xfrm>
            <a:off x="1524000" y="4169411"/>
            <a:ext cx="2209800" cy="250189"/>
          </a:xfrm>
          <a:prstGeom prst="homePlate">
            <a:avLst>
              <a:gd name="adj" fmla="val 28906"/>
            </a:avLst>
          </a:prstGeom>
          <a:solidFill>
            <a:srgbClr val="FFC000"/>
          </a:solidFill>
          <a:ln w="9525" cap="flat" cmpd="sng" algn="ctr">
            <a:solidFill>
              <a:srgbClr val="CC6600"/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84855" tIns="0" rIns="16969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9pPr>
          </a:lstStyle>
          <a:p>
            <a:pPr algn="ctr" eaLnBrk="0" hangingPunct="0">
              <a:lnSpc>
                <a:spcPct val="80000"/>
              </a:lnSpc>
              <a:defRPr/>
            </a:pPr>
            <a:r>
              <a:rPr lang="en-US" sz="14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Resolve Defects</a:t>
            </a:r>
            <a:endParaRPr lang="en-US" sz="1400" kern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3400" y="4572000"/>
            <a:ext cx="77687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Defect 573  - ?</a:t>
            </a:r>
          </a:p>
          <a:p>
            <a:r>
              <a:rPr lang="en-US" dirty="0" smtClean="0"/>
              <a:t>Defect 571 - ?</a:t>
            </a:r>
          </a:p>
          <a:p>
            <a:endParaRPr lang="en-US" dirty="0"/>
          </a:p>
          <a:p>
            <a:r>
              <a:rPr lang="en-US" dirty="0" smtClean="0"/>
              <a:t>Meeting at 9:30 a.m. (6/25) to assess pre-prod readiness for performance testing</a:t>
            </a:r>
            <a:endParaRPr lang="en-US" dirty="0"/>
          </a:p>
        </p:txBody>
      </p:sp>
      <p:sp>
        <p:nvSpPr>
          <p:cNvPr id="13" name="7-Point Star 12"/>
          <p:cNvSpPr/>
          <p:nvPr/>
        </p:nvSpPr>
        <p:spPr>
          <a:xfrm>
            <a:off x="7972300" y="2221675"/>
            <a:ext cx="228600" cy="228600"/>
          </a:xfrm>
          <a:prstGeom prst="star7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7-Point Star 15"/>
          <p:cNvSpPr/>
          <p:nvPr/>
        </p:nvSpPr>
        <p:spPr>
          <a:xfrm>
            <a:off x="3895468" y="3721925"/>
            <a:ext cx="228600" cy="228600"/>
          </a:xfrm>
          <a:prstGeom prst="star7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15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IWP Timeline for 7/18 Launch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476225"/>
              </p:ext>
            </p:extLst>
          </p:nvPr>
        </p:nvGraphicFramePr>
        <p:xfrm>
          <a:off x="304800" y="1325881"/>
          <a:ext cx="8534401" cy="3550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7476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  <a:gridCol w="293077"/>
              </a:tblGrid>
              <a:tr h="44506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25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26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27</a:t>
                      </a:r>
                      <a:endParaRPr lang="en-US" sz="9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28</a:t>
                      </a:r>
                      <a:endParaRPr lang="en-US" sz="9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29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30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1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2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3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4</a:t>
                      </a:r>
                      <a:endParaRPr lang="en-US" sz="9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5</a:t>
                      </a:r>
                      <a:endParaRPr lang="en-US" sz="9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6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7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8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9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10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11</a:t>
                      </a:r>
                      <a:endParaRPr lang="en-US" sz="9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12</a:t>
                      </a:r>
                      <a:endParaRPr lang="en-US" sz="9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13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14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15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16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17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18</a:t>
                      </a:r>
                      <a:endParaRPr lang="en-US" sz="9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19</a:t>
                      </a:r>
                      <a:endParaRPr lang="en-US" sz="9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393138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R4B</a:t>
                      </a:r>
                      <a:r>
                        <a:rPr lang="en-US" sz="1400" baseline="0" dirty="0" smtClean="0"/>
                        <a:t> Go Live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Perf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Holiday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New 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Regression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IWP UAT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7-Point Star 9"/>
          <p:cNvSpPr/>
          <p:nvPr/>
        </p:nvSpPr>
        <p:spPr>
          <a:xfrm>
            <a:off x="8305800" y="1905000"/>
            <a:ext cx="228600" cy="228600"/>
          </a:xfrm>
          <a:prstGeom prst="star7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7-Point Star 10"/>
          <p:cNvSpPr/>
          <p:nvPr/>
        </p:nvSpPr>
        <p:spPr>
          <a:xfrm>
            <a:off x="2995550" y="3657600"/>
            <a:ext cx="228600" cy="228600"/>
          </a:xfrm>
          <a:prstGeom prst="star7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utoShape 63"/>
          <p:cNvSpPr>
            <a:spLocks noChangeArrowheads="1"/>
          </p:cNvSpPr>
          <p:nvPr/>
        </p:nvSpPr>
        <p:spPr bwMode="auto">
          <a:xfrm>
            <a:off x="1524000" y="2590800"/>
            <a:ext cx="5310249" cy="228599"/>
          </a:xfrm>
          <a:prstGeom prst="homePlate">
            <a:avLst>
              <a:gd name="adj" fmla="val 28906"/>
            </a:avLst>
          </a:prstGeom>
          <a:solidFill>
            <a:srgbClr val="FFC000"/>
          </a:solidFill>
          <a:ln w="9525" cap="flat" cmpd="sng" algn="ctr">
            <a:solidFill>
              <a:srgbClr val="CC6600"/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84855" tIns="0" rIns="16969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9pPr>
          </a:lstStyle>
          <a:p>
            <a:pPr algn="ctr" eaLnBrk="0" hangingPunct="0">
              <a:lnSpc>
                <a:spcPct val="80000"/>
              </a:lnSpc>
              <a:defRPr/>
            </a:pPr>
            <a:r>
              <a:rPr lang="en-US" sz="14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BMD and TMD loads done; interval data and billing data to do  </a:t>
            </a:r>
            <a:endParaRPr lang="en-US" sz="1400" kern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AutoShape 63"/>
          <p:cNvSpPr>
            <a:spLocks noChangeArrowheads="1"/>
          </p:cNvSpPr>
          <p:nvPr/>
        </p:nvSpPr>
        <p:spPr bwMode="auto">
          <a:xfrm>
            <a:off x="1524000" y="4548250"/>
            <a:ext cx="1447800" cy="252350"/>
          </a:xfrm>
          <a:prstGeom prst="homePlate">
            <a:avLst>
              <a:gd name="adj" fmla="val 28906"/>
            </a:avLst>
          </a:prstGeom>
          <a:solidFill>
            <a:srgbClr val="FFC000"/>
          </a:solidFill>
          <a:ln w="9525" cap="flat" cmpd="sng" algn="ctr">
            <a:solidFill>
              <a:srgbClr val="CC6600"/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84855" tIns="0" rIns="16969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9pPr>
          </a:lstStyle>
          <a:p>
            <a:pPr algn="ctr" eaLnBrk="0" hangingPunct="0">
              <a:lnSpc>
                <a:spcPct val="80000"/>
              </a:lnSpc>
              <a:defRPr/>
            </a:pPr>
            <a:r>
              <a:rPr lang="en-US" sz="14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6 Test Cases </a:t>
            </a:r>
            <a:r>
              <a:rPr lang="en-US" sz="14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Left</a:t>
            </a:r>
            <a:endParaRPr lang="en-US" sz="1400" kern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3401" y="5065693"/>
            <a:ext cx="78867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E2E Defect – 1 major </a:t>
            </a:r>
            <a:r>
              <a:rPr lang="en-US" sz="1400" dirty="0"/>
              <a:t>Security </a:t>
            </a:r>
            <a:r>
              <a:rPr lang="en-US" sz="1400" dirty="0" smtClean="0"/>
              <a:t>Control  618</a:t>
            </a:r>
            <a:r>
              <a:rPr lang="en-US" sz="1400" dirty="0"/>
              <a:t>: R4b: IWP: Security Controls Test Failure</a:t>
            </a:r>
          </a:p>
          <a:p>
            <a:r>
              <a:rPr lang="en-US" sz="1400" dirty="0" smtClean="0"/>
              <a:t>PEN Test Defect – 1 major </a:t>
            </a:r>
          </a:p>
          <a:p>
            <a:r>
              <a:rPr lang="en-US" sz="1400" dirty="0" smtClean="0"/>
              <a:t>UAT Defects – 6 (5 major, 1 medium) </a:t>
            </a:r>
          </a:p>
          <a:p>
            <a:r>
              <a:rPr lang="en-US" sz="1400" smtClean="0"/>
              <a:t>Perf </a:t>
            </a:r>
            <a:r>
              <a:rPr lang="en-US" sz="1400" dirty="0" smtClean="0"/>
              <a:t>Defect – </a:t>
            </a:r>
            <a:r>
              <a:rPr lang="en-US" sz="1400" dirty="0"/>
              <a:t>1 605: R4B : </a:t>
            </a:r>
            <a:r>
              <a:rPr lang="en-US" sz="1400" dirty="0" smtClean="0"/>
              <a:t>Actually </a:t>
            </a:r>
            <a:r>
              <a:rPr lang="en-US" sz="1400" smtClean="0"/>
              <a:t>closed </a:t>
            </a:r>
            <a:endParaRPr lang="en-US" sz="1400" dirty="0"/>
          </a:p>
        </p:txBody>
      </p:sp>
      <p:sp>
        <p:nvSpPr>
          <p:cNvPr id="13" name="7-Point Star 12"/>
          <p:cNvSpPr/>
          <p:nvPr/>
        </p:nvSpPr>
        <p:spPr>
          <a:xfrm>
            <a:off x="6793675" y="2221675"/>
            <a:ext cx="228600" cy="228600"/>
          </a:xfrm>
          <a:prstGeom prst="star7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7-Point Star 17"/>
          <p:cNvSpPr/>
          <p:nvPr/>
        </p:nvSpPr>
        <p:spPr>
          <a:xfrm>
            <a:off x="3886200" y="2971800"/>
            <a:ext cx="228600" cy="228600"/>
          </a:xfrm>
          <a:prstGeom prst="star7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utoShape 63"/>
          <p:cNvSpPr>
            <a:spLocks noChangeArrowheads="1"/>
          </p:cNvSpPr>
          <p:nvPr/>
        </p:nvSpPr>
        <p:spPr bwMode="auto">
          <a:xfrm>
            <a:off x="1547750" y="4114800"/>
            <a:ext cx="2567050" cy="304800"/>
          </a:xfrm>
          <a:prstGeom prst="homePlate">
            <a:avLst>
              <a:gd name="adj" fmla="val 28906"/>
            </a:avLst>
          </a:prstGeom>
          <a:solidFill>
            <a:srgbClr val="FFC000"/>
          </a:solidFill>
          <a:ln w="9525" cap="flat" cmpd="sng" algn="ctr">
            <a:solidFill>
              <a:srgbClr val="CC6600"/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84855" tIns="0" rIns="16969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9pPr>
          </a:lstStyle>
          <a:p>
            <a:pPr algn="ctr" eaLnBrk="0" hangingPunct="0">
              <a:lnSpc>
                <a:spcPct val="80000"/>
              </a:lnSpc>
              <a:defRPr/>
            </a:pPr>
            <a:r>
              <a:rPr lang="en-US" sz="14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7 Days</a:t>
            </a:r>
            <a:endParaRPr lang="en-US" sz="1400" kern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AutoShape 63"/>
          <p:cNvSpPr>
            <a:spLocks noChangeArrowheads="1"/>
          </p:cNvSpPr>
          <p:nvPr/>
        </p:nvSpPr>
        <p:spPr bwMode="auto">
          <a:xfrm>
            <a:off x="3276600" y="3321384"/>
            <a:ext cx="3517074" cy="249383"/>
          </a:xfrm>
          <a:prstGeom prst="homePlate">
            <a:avLst>
              <a:gd name="adj" fmla="val 28906"/>
            </a:avLst>
          </a:prstGeom>
          <a:solidFill>
            <a:srgbClr val="FFC000"/>
          </a:solidFill>
          <a:ln w="9525" cap="flat" cmpd="sng" algn="ctr">
            <a:solidFill>
              <a:srgbClr val="CC6600"/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84855" tIns="0" rIns="16969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rial"/>
              </a:defRPr>
            </a:lvl9pPr>
          </a:lstStyle>
          <a:p>
            <a:pPr algn="ctr" eaLnBrk="0" hangingPunct="0">
              <a:lnSpc>
                <a:spcPct val="80000"/>
              </a:lnSpc>
              <a:defRPr/>
            </a:pPr>
            <a:r>
              <a:rPr lang="en-US" sz="1400" kern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Cyber Team</a:t>
            </a:r>
            <a:endParaRPr lang="en-US" sz="1400" kern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226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D5CA40FDAB1F4BA36DC367C047D1E0" ma:contentTypeVersion="1" ma:contentTypeDescription="Create a new document." ma:contentTypeScope="" ma:versionID="c6e7589e87563302cfa6633c8d6efbf6">
  <xsd:schema xmlns:xsd="http://www.w3.org/2001/XMLSchema" xmlns:xs="http://www.w3.org/2001/XMLSchema" xmlns:p="http://schemas.microsoft.com/office/2006/metadata/properties" xmlns:ns2="9017bbf9-48b9-4627-98cb-89b09b3b0de7" targetNamespace="http://schemas.microsoft.com/office/2006/metadata/properties" ma:root="true" ma:fieldsID="f428da3759ef7aef4f4269e4dd1d6d9f" ns2:_="">
    <xsd:import namespace="9017bbf9-48b9-4627-98cb-89b09b3b0de7"/>
    <xsd:element name="properties">
      <xsd:complexType>
        <xsd:sequence>
          <xsd:element name="documentManagement">
            <xsd:complexType>
              <xsd:all>
                <xsd:element ref="ns2:Doc_x0020_Typ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17bbf9-48b9-4627-98cb-89b09b3b0de7" elementFormDefault="qualified">
    <xsd:import namespace="http://schemas.microsoft.com/office/2006/documentManagement/types"/>
    <xsd:import namespace="http://schemas.microsoft.com/office/infopath/2007/PartnerControls"/>
    <xsd:element name="Doc_x0020_Type" ma:index="8" nillable="true" ma:displayName="Doc Type" ma:format="Dropdown" ma:internalName="Doc_x0020_Type">
      <xsd:simpleType>
        <xsd:restriction base="dms:Choice">
          <xsd:enumeration value="Diagrams"/>
          <xsd:enumeration value="Gantt Charts"/>
          <xsd:enumeration value="R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_x0020_Type xmlns="9017bbf9-48b9-4627-98cb-89b09b3b0de7">Gantt Charts</Doc_x0020_Type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0B57EA-CD46-42AC-B4A0-C99B93FED88E}"/>
</file>

<file path=customXml/itemProps2.xml><?xml version="1.0" encoding="utf-8"?>
<ds:datastoreItem xmlns:ds="http://schemas.openxmlformats.org/officeDocument/2006/customXml" ds:itemID="{BD6CE7E7-C5FA-4B71-8057-9112FE080F74}"/>
</file>

<file path=customXml/itemProps3.xml><?xml version="1.0" encoding="utf-8"?>
<ds:datastoreItem xmlns:ds="http://schemas.openxmlformats.org/officeDocument/2006/customXml" ds:itemID="{E2D1D4DD-EDD4-47C1-97E8-032FDCA079B4}"/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180</Words>
  <Application>Microsoft Office PowerPoint</Application>
  <PresentationFormat>On-screen Show (4:3)</PresentationFormat>
  <Paragraphs>81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PI Historian Timeline for 7/18 Launch</vt:lpstr>
      <vt:lpstr>IWP Timeline for 7/18 Launch</vt:lpstr>
    </vt:vector>
  </TitlesOfParts>
  <Company>Consumers Energy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 Historian Overview</dc:title>
  <dc:creator>Elizabeth Aubrey 1</dc:creator>
  <cp:lastModifiedBy>Patricia Onelio</cp:lastModifiedBy>
  <cp:revision>27</cp:revision>
  <dcterms:created xsi:type="dcterms:W3CDTF">2015-06-24T20:52:45Z</dcterms:created>
  <dcterms:modified xsi:type="dcterms:W3CDTF">2015-06-25T02:25:26Z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0x0101004DD5CA40FDAB1F4BA36DC367C047D1E0</vt:lpwstr>
  </property>
</Properties>
</file>